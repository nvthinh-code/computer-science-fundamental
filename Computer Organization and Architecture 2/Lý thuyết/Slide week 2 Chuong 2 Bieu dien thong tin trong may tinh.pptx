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314" r:id="rId2"/>
    <p:sldId id="262" r:id="rId3"/>
    <p:sldId id="269" r:id="rId4"/>
    <p:sldId id="261" r:id="rId5"/>
    <p:sldId id="263" r:id="rId6"/>
    <p:sldId id="378" r:id="rId7"/>
    <p:sldId id="380" r:id="rId8"/>
    <p:sldId id="379" r:id="rId9"/>
    <p:sldId id="381" r:id="rId10"/>
    <p:sldId id="382" r:id="rId11"/>
    <p:sldId id="383" r:id="rId12"/>
    <p:sldId id="345" r:id="rId13"/>
    <p:sldId id="347" r:id="rId14"/>
    <p:sldId id="348" r:id="rId15"/>
    <p:sldId id="351" r:id="rId16"/>
    <p:sldId id="295" r:id="rId17"/>
    <p:sldId id="271" r:id="rId18"/>
    <p:sldId id="355" r:id="rId19"/>
    <p:sldId id="352" r:id="rId20"/>
    <p:sldId id="353" r:id="rId21"/>
    <p:sldId id="356" r:id="rId22"/>
    <p:sldId id="296" r:id="rId23"/>
    <p:sldId id="272" r:id="rId24"/>
    <p:sldId id="384" r:id="rId25"/>
    <p:sldId id="385" r:id="rId26"/>
    <p:sldId id="357" r:id="rId27"/>
    <p:sldId id="358" r:id="rId28"/>
    <p:sldId id="386" r:id="rId29"/>
    <p:sldId id="328" r:id="rId30"/>
    <p:sldId id="388" r:id="rId31"/>
    <p:sldId id="387" r:id="rId32"/>
    <p:sldId id="361" r:id="rId33"/>
    <p:sldId id="390" r:id="rId34"/>
    <p:sldId id="301" r:id="rId35"/>
    <p:sldId id="273" r:id="rId36"/>
    <p:sldId id="330" r:id="rId37"/>
    <p:sldId id="365" r:id="rId38"/>
    <p:sldId id="366" r:id="rId39"/>
    <p:sldId id="367" r:id="rId40"/>
    <p:sldId id="398" r:id="rId41"/>
    <p:sldId id="302" r:id="rId42"/>
    <p:sldId id="274" r:id="rId43"/>
    <p:sldId id="368" r:id="rId44"/>
    <p:sldId id="275" r:id="rId45"/>
    <p:sldId id="336" r:id="rId46"/>
    <p:sldId id="337" r:id="rId47"/>
    <p:sldId id="391" r:id="rId48"/>
    <p:sldId id="338" r:id="rId49"/>
    <p:sldId id="399" r:id="rId50"/>
    <p:sldId id="369" r:id="rId51"/>
    <p:sldId id="370" r:id="rId52"/>
    <p:sldId id="395" r:id="rId53"/>
    <p:sldId id="344" r:id="rId54"/>
    <p:sldId id="389" r:id="rId55"/>
    <p:sldId id="276" r:id="rId56"/>
    <p:sldId id="400" r:id="rId57"/>
    <p:sldId id="396" r:id="rId58"/>
    <p:sldId id="372" r:id="rId59"/>
    <p:sldId id="374" r:id="rId60"/>
    <p:sldId id="375" r:id="rId61"/>
    <p:sldId id="393" r:id="rId62"/>
    <p:sldId id="394" r:id="rId63"/>
    <p:sldId id="401" r:id="rId64"/>
    <p:sldId id="397" r:id="rId65"/>
    <p:sldId id="392" r:id="rId66"/>
    <p:sldId id="373" r:id="rId67"/>
    <p:sldId id="377" r:id="rId68"/>
    <p:sldId id="376" r:id="rId69"/>
    <p:sldId id="371" r:id="rId70"/>
    <p:sldId id="268" r:id="rId7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6FF"/>
    <a:srgbClr val="0072FF"/>
    <a:srgbClr val="1CB5E0"/>
    <a:srgbClr val="000046"/>
    <a:srgbClr val="00F7FF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4"/>
    <p:restoredTop sz="94737"/>
  </p:normalViewPr>
  <p:slideViewPr>
    <p:cSldViewPr snapToGrid="0">
      <p:cViewPr varScale="1">
        <p:scale>
          <a:sx n="129" d="100"/>
          <a:sy n="129" d="100"/>
        </p:scale>
        <p:origin x="1063" y="8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6T06:35:30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2759 0 0,'0'0'126'0'0,"1"0"-5"0"0,1 1 90 0 0,-1 0 0 0 0,1 0 0 0 0,0 0 1 0 0,-1 0-1 0 0,1 0 0 0 0,-1 0 0 0 0,1 0 0 0 0,-1 1 0 0 0,2 1 0 0 0,1 0 389 0 0,-3-2-367 0 0,10 11 864 0 0,9 6 231 0 0,-19-18-1286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03/02/2024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1566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63077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www.binaryconvert.com</a:t>
            </a:r>
            <a:r>
              <a:rPr lang="en-US" dirty="0"/>
              <a:t>/</a:t>
            </a:r>
            <a:r>
              <a:rPr lang="en-US" dirty="0" err="1"/>
              <a:t>result_float.html?decimal</a:t>
            </a:r>
            <a:r>
              <a:rPr lang="en-US" dirty="0"/>
              <a:t>=045057050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62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290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gradFill>
                    <a:gsLst>
                      <a:gs pos="0">
                        <a:srgbClr val="000046"/>
                      </a:gs>
                      <a:gs pos="100000">
                        <a:srgbClr val="1CB5E0"/>
                      </a:gs>
                    </a:gsLst>
                    <a:lin ang="5400000" scaled="1"/>
                  </a:gradFill>
                </a:ln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20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6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V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8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A66F8-E091-9C03-CD6B-317D0180ADDD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F01B-1418-7515-A2D9-40BE42BE32BD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161D7-9C70-83EF-EE51-E59464E9FF79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4F566-E8F9-197C-FC4C-0E96F2163AA2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0CF87-B708-06C0-11BA-20052748E49F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E2ADF-9658-9B1B-7EA8-E37B1FC3CB44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1192873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89939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30" y="2095027"/>
            <a:ext cx="6264164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8913813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1.x.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01.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7478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ẫu nội d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0BFBF3-F42E-C38E-AF17-FD619F663C49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2E22F67-0343-EE26-97E1-B065633E3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69246E-D1BA-1A1E-722A-214AD903B1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B20816-E2A4-5501-1802-D77B2C2341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11924323" y="6588855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515600" cy="516052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4348" y="6475620"/>
            <a:ext cx="4903304" cy="263110"/>
          </a:xfrm>
        </p:spPr>
        <p:txBody>
          <a:bodyPr/>
          <a:lstStyle>
            <a:lvl1pPr marL="0" algn="ctr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5481" y="6560013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3CBF57-2F7D-2F8B-E033-48DD98A5DC35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D65719-8246-A233-C1B4-DB819BF7BDF6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304AFD-95A6-09D5-127B-FE511B7DAAFF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0A148C-3EA2-CE72-6D2A-813DD2AE8F6A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847E55-C751-3276-D97D-327FE6F09B70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BC8C50-583B-E3C0-3421-61D6D2869653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EDF99A97-3339-5B0A-DF0C-FBEE526390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58365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Mẫu nộ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5E2B-3264-B7AA-B33F-4F514D44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804"/>
            <a:ext cx="10515600" cy="978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3BF43-5431-28A4-4A9C-84A3FDAFF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835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97936-93F6-FD89-211F-FC49B02B5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2835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F69EC-AF21-6413-B0C6-09E3D280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5017" y="6481647"/>
            <a:ext cx="5121966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3873188-0611-6A2D-B3B7-E844F601E758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400BFBC5-D436-63D0-74FC-6A07673AE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39C28B-61DE-71CF-E56C-5EDD4BA30029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58FC900-2C32-ED18-13F9-130B2DF50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4FACA0-AFAE-D152-410A-170D637D3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C5F4754-527C-AE63-2C13-4F23BF875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Isosceles Triangle 12">
            <a:extLst>
              <a:ext uri="{FF2B5EF4-FFF2-40B4-BE49-F238E27FC236}">
                <a16:creationId xmlns:a16="http://schemas.microsoft.com/office/drawing/2014/main" id="{07F91C74-ED4C-0A16-32E0-004F48F54DEB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5ACEEF-4425-1088-FA6F-A273B4DE887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D3CB0EA-66BA-01B6-70C4-D5330A4D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5A466E-AA55-B549-D160-0442C43CF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68CFF73-AB26-6C8F-FB32-54601A35A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318E1593-E5CD-3AE1-93DE-5F387C82F4F6}"/>
              </a:ext>
            </a:extLst>
          </p:cNvPr>
          <p:cNvSpPr/>
          <p:nvPr userDrawn="1"/>
        </p:nvSpPr>
        <p:spPr>
          <a:xfrm>
            <a:off x="11928288" y="6592262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C202E4-A0E1-2253-7874-62B7B89FFCA9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8EC501-80CF-6C51-5383-56852B541437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F5FA64-88FB-ECEF-001B-760404721A90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08B137-1E4C-27A2-6C24-2EBFE5E125B6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EE92B3-2829-E731-1ABB-AE81C101058A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3D946B-F6D0-FA25-B029-CFF45E1960C8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0CAA0DB2-C26C-AB0D-0115-266290CA10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060A1-174E-8F45-E778-6645800D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9446" y="6563420"/>
            <a:ext cx="291600" cy="291600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DB78F-AE91-A123-68A6-7B8F206075C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97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Mẫu nội d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37E1-287C-992F-926C-6BE13903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12850"/>
            <a:ext cx="10515600" cy="10454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53A4A-EE94-A702-F0E2-603C1150F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48789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8F5AF-E6EF-4CF4-8B05-BF3FDB4C6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72701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CC438-C0ED-1F8F-4BB6-689F30C8C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48789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89F5A-2C2F-0B8F-615C-B41C7F2B1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72701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7DFAC-60B5-9BD1-8D23-4494639C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3429" y="6481647"/>
            <a:ext cx="5125142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75C2D9D-4765-3FD3-75BD-4E4DFF9C7F0D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3AD591D0-42C1-C83D-D97B-315279CAEE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49EA05-357C-0347-C6CD-EE67C566EBD0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3A430E-1EF6-53ED-B258-E65C14BBC4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2BC14D-AC20-6673-4A8D-7DE3FE988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61FFA6F-2FC8-1174-B8D5-60E8BE001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Isosceles Triangle 12">
            <a:extLst>
              <a:ext uri="{FF2B5EF4-FFF2-40B4-BE49-F238E27FC236}">
                <a16:creationId xmlns:a16="http://schemas.microsoft.com/office/drawing/2014/main" id="{39240330-79C3-21F6-446A-3E039AFD3A3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DA796D-C2B0-5287-F4C3-E9C3DEA3FFEF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1CD2C9-117E-7A90-F02C-95AB5B377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3E69259-DC90-479A-D797-34F04F642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7EE3B6-EE34-8496-104E-9B1F8F51B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C6B6596A-8077-EEBC-4221-61CB055E23C4}"/>
              </a:ext>
            </a:extLst>
          </p:cNvPr>
          <p:cNvSpPr/>
          <p:nvPr userDrawn="1"/>
        </p:nvSpPr>
        <p:spPr>
          <a:xfrm>
            <a:off x="11920781" y="6595999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0195D6-5215-7209-4E44-3598DDF6BF73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F9F4C-59B6-44A2-8089-C9632F72F016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39E34E-2D5A-7F18-3D5E-F38434C35041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4D7BA-684B-4CA9-75B2-7C633D5F5824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F9AF2-8C75-A883-C6CC-39115A1F8615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365D23-7485-954D-5E3D-2DB7FDD1011D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9491656A-A1BE-90F8-B747-D9FA28F449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FCA39-DA8E-D2BC-F038-9C53D5D9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1939" y="6567157"/>
            <a:ext cx="291600" cy="291600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1AA4D-B13B-AA0A-E780-09B8CC67066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62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Mẫu nội d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51A8-C849-9E82-96FE-C28448A6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9405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510C4-25DA-E657-8490-3BBA6C9F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32222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D4FDC-90BC-2A18-9D26-88E9016BD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94259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5D253-E1CB-6DD3-1298-626DE84C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481647"/>
            <a:ext cx="5062330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D2646A9-20B2-4E9D-002E-A164C93A765E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12">
            <a:extLst>
              <a:ext uri="{FF2B5EF4-FFF2-40B4-BE49-F238E27FC236}">
                <a16:creationId xmlns:a16="http://schemas.microsoft.com/office/drawing/2014/main" id="{E3DA3820-010F-54E6-12EE-340FD2FE0CB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C01C7F-55E1-F2CB-795D-14ADA6F747EF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EFB461-265B-447E-AE53-F0AB83B50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811A0C-899E-BD2A-2B6B-F76A3CDCA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B5CB31-1B06-6224-B8E2-D0F08CE59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Isosceles Triangle 12">
            <a:extLst>
              <a:ext uri="{FF2B5EF4-FFF2-40B4-BE49-F238E27FC236}">
                <a16:creationId xmlns:a16="http://schemas.microsoft.com/office/drawing/2014/main" id="{EBCAC4CC-6B14-0AD9-B30D-7B94535D4473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BFA2BC-06E9-F841-D06E-DEBB7129CD94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8E81B6-D5AC-F9AA-7729-98A69A809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EFB5E89-FF82-2441-3C96-2E40FFE64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62BEED6-4AFE-006D-2D1B-6B7FF1399D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F3765DC4-E546-6CB3-C32B-5002168C1885}"/>
              </a:ext>
            </a:extLst>
          </p:cNvPr>
          <p:cNvSpPr/>
          <p:nvPr userDrawn="1"/>
        </p:nvSpPr>
        <p:spPr>
          <a:xfrm>
            <a:off x="11928288" y="6594127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4CF68F-86DE-9DE4-02A9-28AFB5A5AAFF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0D253A-5ACF-E7B4-CB94-7CE385706947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12634D-8462-7774-CD62-1BCCD3C66D98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8F499-81C5-DFD9-74F8-F76C0953643C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23D2CF-0CBB-FBC2-6960-BFB0F1C90BFA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ADE3BD-9DA6-DD92-09E2-110656AC1B47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1B5C196E-D0AE-CCC2-7ED7-5FD1F3D44B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365E8-16C7-CA1B-5178-544D2DD7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9446" y="6565285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DD06-FBE3-7873-A44C-AF7E41B4703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2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Mẫu nội dung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29DC-55F0-F47B-3718-A35859CD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E4A4A-E817-C827-E00E-45BE2297F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CBCD9-BF05-A0CA-F591-8757A370E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B012B-14DB-4805-E51C-850F8761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85322" y="6481647"/>
            <a:ext cx="5221356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91CF413-55DD-58D0-694A-0DD1DC5F0CC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12">
            <a:extLst>
              <a:ext uri="{FF2B5EF4-FFF2-40B4-BE49-F238E27FC236}">
                <a16:creationId xmlns:a16="http://schemas.microsoft.com/office/drawing/2014/main" id="{D0838B7F-C9B8-5774-F077-530355943B43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B0766C-1141-EF46-A49F-1355FBAABD0F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BF3C35-2161-E4C8-E673-CCF35A0B48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348080-E29C-4997-A409-76FA41D3C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9E9411-6A6B-5C7F-F0EE-071A0DBF0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Isosceles Triangle 12">
            <a:extLst>
              <a:ext uri="{FF2B5EF4-FFF2-40B4-BE49-F238E27FC236}">
                <a16:creationId xmlns:a16="http://schemas.microsoft.com/office/drawing/2014/main" id="{DC674C23-BC8F-9996-69A1-8E7ABD8C60C2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C409ED-36BC-003F-845E-497279365061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C05C62-5535-F81F-976D-9A335041D1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F420A0D-917B-C624-28A3-C0C824C2B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367E11-6F4E-99ED-4B0B-7522FA43F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3CB33257-2B8E-6873-E8FD-C4F8FF8DCD25}"/>
              </a:ext>
            </a:extLst>
          </p:cNvPr>
          <p:cNvSpPr/>
          <p:nvPr userDrawn="1"/>
        </p:nvSpPr>
        <p:spPr>
          <a:xfrm>
            <a:off x="11929297" y="6593855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AFF6BE-7E65-931F-E1CD-6187FEE7D4EE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94812A-A981-DB3F-4202-2EDAAEB9815A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A980ED-F1D8-2698-18CD-9DC6DEFF348A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7A1BEE-0967-806A-FED8-28BE6225F412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33D227-3B6F-CC84-F43C-7FBDC74D7027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F350F5-BC8F-5B4F-FA94-F5A886F3859E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1159E91D-76B6-E388-6E9A-90AF563278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1E60B-49E0-F1AF-2056-D979BF68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55" y="6565013"/>
            <a:ext cx="291600" cy="291600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2D31F-1378-BD90-39BE-0040CC48E6C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2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g 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F4205-FE69-B110-BFEC-96C243E8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104" y="6481647"/>
            <a:ext cx="4823792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B001B7A-ACFD-E95F-12D9-19AAE5D26050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Isosceles Triangle 12">
            <a:extLst>
              <a:ext uri="{FF2B5EF4-FFF2-40B4-BE49-F238E27FC236}">
                <a16:creationId xmlns:a16="http://schemas.microsoft.com/office/drawing/2014/main" id="{EC54FC6D-4EA2-05B8-622E-978CA44EE451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6BFCC2-A4FC-FD21-E540-274D8A5E86A6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02FF7A-C97B-6315-EE50-502DD7017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8E8B-5D54-0BE8-2B45-A52136DC7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6865F1-6407-106A-3054-46BDFFCAB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F7A0C3F8-4035-744F-55A7-EA06C1D5C7EA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9E4668-1010-687F-A942-6C4D5A705103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8CE8D-69BB-4124-0995-8FFFD3591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7A915F-DF8B-DE38-6935-2EF2855BD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9EE0435-0ACC-2AB8-1B9F-A6029A49F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93E2330-6133-BE87-4D2E-C83A58844D20}"/>
              </a:ext>
            </a:extLst>
          </p:cNvPr>
          <p:cNvSpPr/>
          <p:nvPr userDrawn="1"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7ACE3-8FB7-24F0-3868-FE9125A2AECB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5D02D-0007-4DC9-960D-BEF3BFABF7BF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732A1-B62D-CEEA-BA05-6809BA51F8BD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BF2B8-4151-6AB5-64CB-17CA8871FA1F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AEE115-474E-0C83-1F8A-40C90DC3E1A5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BB15EA-009D-0AD0-1DD5-9E5E43B737E1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0750E473-BE75-9843-7989-024278E0E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543E0-8536-7E05-8D77-79C6CEA0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7699" y="6560242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D0C70-2015-36A0-DCB1-0E2322D0D36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148299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DDB1B-AAE9-1649-A755-11FADEB7E97E}" type="datetime4">
              <a:rPr lang="en-US" smtClean="0"/>
              <a:t>March 2, 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3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55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DCF8-0D88-9852-95C4-4F568F0A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F55CA5-843C-3510-DCA9-291216FC7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TỔ CHỨC VÀ CẤU TRÚC MÁY TÍNH II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113BCF-E52A-540A-4540-2833CA1A0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990" y="3062315"/>
            <a:ext cx="10438019" cy="459447"/>
          </a:xfrm>
        </p:spPr>
        <p:txBody>
          <a:bodyPr/>
          <a:lstStyle/>
          <a:p>
            <a:r>
              <a:rPr lang="en-US"/>
              <a:t>CHƯƠNG 2: BIỂU DIỄN THÔNG TIN TRONG MÁY TÍNH</a:t>
            </a:r>
            <a:endParaRPr lang="en-V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41A4B7-48D3-1CAE-C056-FDAD586D04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PHAN ĐÌNH DUY</a:t>
            </a:r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73612D-1002-64DC-D3C2-F4E546D792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Trình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bày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bên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máy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như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chuyển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đổi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giữa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Tiếp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bày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như</a:t>
            </a:r>
            <a:r>
              <a:rPr lang="en-US" dirty="0">
                <a:solidFill>
                  <a:schemeClr val="tx1"/>
                </a:solidFill>
              </a:rPr>
              <a:t>: BCD, </a:t>
            </a:r>
            <a:r>
              <a:rPr lang="en-US" dirty="0" err="1">
                <a:solidFill>
                  <a:schemeClr val="tx1"/>
                </a:solidFill>
              </a:rPr>
              <a:t>dấu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chấm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động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mã</a:t>
            </a:r>
            <a:r>
              <a:rPr lang="en-US" dirty="0">
                <a:solidFill>
                  <a:schemeClr val="tx1"/>
                </a:solidFill>
              </a:rPr>
              <a:t> ASCII</a:t>
            </a:r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72110C-D077-8C1D-3057-3378C02C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9806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CC069-E19E-B22C-6D85-1188A3E8F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0033CC"/>
                </a:solidFill>
              </a:rPr>
              <a:t>Trình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bày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được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các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hệ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cơ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số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thông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dụng</a:t>
            </a:r>
            <a:endParaRPr lang="en-US" sz="2800" dirty="0">
              <a:solidFill>
                <a:srgbClr val="0033CC"/>
              </a:solidFill>
            </a:endParaRPr>
          </a:p>
          <a:p>
            <a:r>
              <a:rPr lang="en-US" sz="2800" dirty="0" err="1">
                <a:solidFill>
                  <a:srgbClr val="0033CC"/>
                </a:solidFill>
              </a:rPr>
              <a:t>Chuyển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đổi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được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giữa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các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hệ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cơ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số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khác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nhau</a:t>
            </a:r>
            <a:endParaRPr lang="en-US" sz="2800" dirty="0">
              <a:solidFill>
                <a:srgbClr val="0033CC"/>
              </a:solidFill>
            </a:endParaRPr>
          </a:p>
          <a:p>
            <a:r>
              <a:rPr lang="en-US" sz="2800" dirty="0" err="1">
                <a:solidFill>
                  <a:srgbClr val="0033CC"/>
                </a:solidFill>
              </a:rPr>
              <a:t>Thực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hiện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được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các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phép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toán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trong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hệ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nhị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phân</a:t>
            </a:r>
            <a:endParaRPr lang="en-US" sz="2800" dirty="0">
              <a:solidFill>
                <a:srgbClr val="0033CC"/>
              </a:solidFill>
            </a:endParaRPr>
          </a:p>
          <a:p>
            <a:r>
              <a:rPr lang="en-US" sz="2800" dirty="0" err="1">
                <a:solidFill>
                  <a:srgbClr val="0033CC"/>
                </a:solidFill>
              </a:rPr>
              <a:t>Trình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bày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được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một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số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dạng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biểu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diễn</a:t>
            </a:r>
            <a:r>
              <a:rPr lang="en-US" sz="2800" dirty="0">
                <a:solidFill>
                  <a:srgbClr val="0033CC"/>
                </a:solidFill>
              </a:rPr>
              <a:t> </a:t>
            </a:r>
            <a:r>
              <a:rPr lang="en-US" sz="2800" dirty="0" err="1">
                <a:solidFill>
                  <a:srgbClr val="0033CC"/>
                </a:solidFill>
              </a:rPr>
              <a:t>thông</a:t>
            </a:r>
            <a:r>
              <a:rPr lang="en-US" sz="2800" dirty="0">
                <a:solidFill>
                  <a:srgbClr val="0033CC"/>
                </a:solidFill>
              </a:rPr>
              <a:t> tin </a:t>
            </a:r>
            <a:r>
              <a:rPr lang="en-US" sz="2800" dirty="0" err="1">
                <a:solidFill>
                  <a:srgbClr val="0033CC"/>
                </a:solidFill>
              </a:rPr>
              <a:t>khác</a:t>
            </a:r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5992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D77E0-7814-E542-0144-95AEF5C06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3600"/>
              </a:spcAft>
            </a:pP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hệ</a:t>
            </a:r>
            <a:r>
              <a:rPr lang="en-US" sz="2800" b="1" dirty="0"/>
              <a:t> </a:t>
            </a:r>
            <a:r>
              <a:rPr lang="en-US" sz="2800" b="1" dirty="0" err="1"/>
              <a:t>thống</a:t>
            </a:r>
            <a:r>
              <a:rPr lang="en-US" sz="2800" b="1" dirty="0"/>
              <a:t> </a:t>
            </a:r>
            <a:r>
              <a:rPr lang="en-US" sz="2800" b="1" dirty="0" err="1"/>
              <a:t>số</a:t>
            </a:r>
            <a:r>
              <a:rPr lang="en-US" sz="2800" b="1" dirty="0"/>
              <a:t> </a:t>
            </a:r>
            <a:r>
              <a:rPr lang="en-US" sz="2800" b="1" dirty="0" err="1"/>
              <a:t>thông</a:t>
            </a:r>
            <a:r>
              <a:rPr lang="en-US" sz="2800" b="1" dirty="0"/>
              <a:t> </a:t>
            </a:r>
            <a:r>
              <a:rPr lang="en-US" sz="2800" b="1" dirty="0" err="1"/>
              <a:t>dụng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Chuyển</a:t>
            </a:r>
            <a:r>
              <a:rPr lang="en-US" sz="2800" b="1" dirty="0"/>
              <a:t> </a:t>
            </a:r>
            <a:r>
              <a:rPr lang="en-US" sz="2800" b="1" dirty="0" err="1"/>
              <a:t>đổi</a:t>
            </a:r>
            <a:r>
              <a:rPr lang="en-US" sz="2800" b="1" dirty="0"/>
              <a:t> </a:t>
            </a:r>
            <a:r>
              <a:rPr lang="en-US" sz="2800" b="1" dirty="0" err="1"/>
              <a:t>giữa</a:t>
            </a:r>
            <a:r>
              <a:rPr lang="en-US" sz="2800" b="1" dirty="0"/>
              <a:t> </a:t>
            </a: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hệ</a:t>
            </a:r>
            <a:r>
              <a:rPr lang="en-US" sz="2800" b="1" dirty="0"/>
              <a:t> </a:t>
            </a:r>
            <a:r>
              <a:rPr lang="en-US" sz="2800" b="1" dirty="0" err="1"/>
              <a:t>thống</a:t>
            </a:r>
            <a:r>
              <a:rPr lang="en-US" sz="2800" b="1" dirty="0"/>
              <a:t> </a:t>
            </a:r>
            <a:r>
              <a:rPr lang="en-US" sz="2800" b="1" dirty="0" err="1"/>
              <a:t>số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phép</a:t>
            </a:r>
            <a:r>
              <a:rPr lang="en-US" sz="2800" b="1" dirty="0"/>
              <a:t> </a:t>
            </a:r>
            <a:r>
              <a:rPr lang="en-US" sz="2800" b="1" dirty="0" err="1"/>
              <a:t>toán</a:t>
            </a:r>
            <a:r>
              <a:rPr lang="en-US" sz="2800" b="1" dirty="0"/>
              <a:t> </a:t>
            </a:r>
            <a:r>
              <a:rPr lang="en-US" sz="2800" b="1" dirty="0" err="1"/>
              <a:t>trong</a:t>
            </a:r>
            <a:r>
              <a:rPr lang="en-US" sz="2800" b="1" dirty="0"/>
              <a:t> </a:t>
            </a:r>
            <a:r>
              <a:rPr lang="en-US" sz="2800" b="1" dirty="0" err="1"/>
              <a:t>hệ</a:t>
            </a:r>
            <a:r>
              <a:rPr lang="en-US" sz="2800" b="1" dirty="0"/>
              <a:t> </a:t>
            </a:r>
            <a:r>
              <a:rPr lang="en-US" sz="2800" b="1" dirty="0" err="1"/>
              <a:t>nhị</a:t>
            </a:r>
            <a:r>
              <a:rPr lang="en-US" sz="2800" b="1" dirty="0"/>
              <a:t> </a:t>
            </a:r>
            <a:r>
              <a:rPr lang="en-US" sz="2800" b="1" dirty="0" err="1"/>
              <a:t>phân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Biểu</a:t>
            </a:r>
            <a:r>
              <a:rPr lang="en-US" sz="2800" b="1" dirty="0"/>
              <a:t> </a:t>
            </a:r>
            <a:r>
              <a:rPr lang="en-US" sz="2800" b="1" dirty="0" err="1"/>
              <a:t>diễn</a:t>
            </a:r>
            <a:r>
              <a:rPr lang="en-US" sz="2800" b="1" dirty="0"/>
              <a:t> </a:t>
            </a:r>
            <a:r>
              <a:rPr lang="en-US" sz="2800" b="1" dirty="0" err="1"/>
              <a:t>số</a:t>
            </a:r>
            <a:r>
              <a:rPr lang="en-US" sz="2800" b="1" dirty="0"/>
              <a:t> </a:t>
            </a:r>
            <a:r>
              <a:rPr lang="en-US" sz="2800" b="1" dirty="0" err="1"/>
              <a:t>có</a:t>
            </a:r>
            <a:r>
              <a:rPr lang="en-US" sz="2800" b="1" dirty="0"/>
              <a:t> </a:t>
            </a:r>
            <a:r>
              <a:rPr lang="en-US" sz="2800" b="1" dirty="0" err="1"/>
              <a:t>dấu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dạng</a:t>
            </a:r>
            <a:r>
              <a:rPr lang="en-US" sz="2800" b="1" dirty="0"/>
              <a:t> </a:t>
            </a:r>
            <a:r>
              <a:rPr lang="en-US" sz="2800" b="1" dirty="0" err="1"/>
              <a:t>biểu</a:t>
            </a:r>
            <a:r>
              <a:rPr lang="en-US" sz="2800" b="1" dirty="0"/>
              <a:t> </a:t>
            </a:r>
            <a:r>
              <a:rPr lang="en-US" sz="2800" b="1" dirty="0" err="1"/>
              <a:t>diễn</a:t>
            </a:r>
            <a:r>
              <a:rPr lang="en-US" sz="2800" b="1" dirty="0"/>
              <a:t> </a:t>
            </a:r>
            <a:r>
              <a:rPr lang="en-US" sz="2800" b="1" dirty="0" err="1"/>
              <a:t>thông</a:t>
            </a:r>
            <a:r>
              <a:rPr lang="en-US" sz="2800" b="1" dirty="0"/>
              <a:t> tin </a:t>
            </a:r>
            <a:r>
              <a:rPr lang="en-US" sz="2800" b="1" dirty="0" err="1"/>
              <a:t>khác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190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4568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dirty="0"/>
              <a:t>Con người sử dụng hệ thập phân để biểu diễn giá trị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10 ký số: 0, 1, 2, 3, 4, 5, 6, 7, 8, 9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Kết hợp các ký số có thể biểu diễn giá trị lớn hơn 9</a:t>
            </a:r>
          </a:p>
          <a:p>
            <a:pPr lvl="2">
              <a:lnSpc>
                <a:spcPct val="150000"/>
              </a:lnSpc>
            </a:pPr>
            <a:r>
              <a:rPr lang="vi-VN" dirty="0"/>
              <a:t>Gán trọng số (10</a:t>
            </a:r>
            <a:r>
              <a:rPr lang="vi-VN" baseline="30000" dirty="0"/>
              <a:t>i</a:t>
            </a:r>
            <a:r>
              <a:rPr lang="vi-VN" dirty="0"/>
              <a:t>) cho mỗi ký số trong chuỗi ký số</a:t>
            </a:r>
          </a:p>
          <a:p>
            <a:pPr>
              <a:lnSpc>
                <a:spcPct val="150000"/>
              </a:lnSpc>
            </a:pPr>
            <a:r>
              <a:rPr lang="vi-VN" dirty="0"/>
              <a:t>VD: Biểu diễn 269 trong hệ thập phân có giá trị bao nhiêu?</a:t>
            </a:r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vi-VN" dirty="0"/>
              <a:t>2x10</a:t>
            </a:r>
            <a:r>
              <a:rPr lang="vi-VN" baseline="30000" dirty="0"/>
              <a:t>2</a:t>
            </a:r>
            <a:r>
              <a:rPr lang="vi-VN" dirty="0"/>
              <a:t> + 6x10</a:t>
            </a:r>
            <a:r>
              <a:rPr lang="vi-VN" baseline="30000" dirty="0"/>
              <a:t>1</a:t>
            </a:r>
            <a:r>
              <a:rPr lang="vi-VN" dirty="0"/>
              <a:t> + 9x10</a:t>
            </a:r>
            <a:r>
              <a:rPr lang="vi-VN" baseline="30000" dirty="0"/>
              <a:t>0</a:t>
            </a:r>
            <a:r>
              <a:rPr lang="vi-VN" dirty="0"/>
              <a:t> = 200 + 60 + 9 = 269</a:t>
            </a:r>
          </a:p>
          <a:p>
            <a:pPr>
              <a:lnSpc>
                <a:spcPct val="150000"/>
              </a:lnSpc>
            </a:pPr>
            <a:endParaRPr lang="vi-VN" dirty="0"/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9264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0 </a:t>
            </a:r>
            <a:r>
              <a:rPr lang="en-US" dirty="0" err="1"/>
              <a:t>và</a:t>
            </a:r>
            <a:r>
              <a:rPr lang="en-US" dirty="0"/>
              <a:t> 1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: 0, 1</a:t>
            </a:r>
          </a:p>
          <a:p>
            <a:pPr lvl="2"/>
            <a:r>
              <a:rPr lang="en-US" dirty="0" err="1"/>
              <a:t>Đ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là</a:t>
            </a:r>
            <a:r>
              <a:rPr lang="en-US" dirty="0"/>
              <a:t> bit (</a:t>
            </a:r>
            <a:r>
              <a:rPr lang="en-US" u="sng" dirty="0">
                <a:solidFill>
                  <a:srgbClr val="FF0000"/>
                </a:solidFill>
              </a:rPr>
              <a:t>bi</a:t>
            </a:r>
            <a:r>
              <a:rPr lang="en-US" dirty="0"/>
              <a:t>nary digi</a:t>
            </a:r>
            <a:r>
              <a:rPr lang="en-US" u="sng" dirty="0">
                <a:solidFill>
                  <a:srgbClr val="FF0000"/>
                </a:solidFill>
              </a:rPr>
              <a:t>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endParaRPr lang="vi-VN" dirty="0"/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A033D-6F5D-692A-5CFC-9824DA374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254877"/>
            <a:ext cx="5080000" cy="2654300"/>
          </a:xfrm>
          <a:prstGeom prst="rect">
            <a:avLst/>
          </a:prstGeom>
        </p:spPr>
      </p:pic>
      <p:pic>
        <p:nvPicPr>
          <p:cNvPr id="8" name="Picture 7" descr="A black and yellow rectangular table&#10;&#10;Description automatically generated">
            <a:extLst>
              <a:ext uri="{FF2B5EF4-FFF2-40B4-BE49-F238E27FC236}">
                <a16:creationId xmlns:a16="http://schemas.microsoft.com/office/drawing/2014/main" id="{F9EBD4A2-4490-481D-2158-533B7985C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873" y="3127554"/>
            <a:ext cx="5495608" cy="278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61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0EA6-76C7-E521-63CA-C2E66E08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Quiz - Quy đổi trong hệ nhị phân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5D1EB-79AE-D533-5C33-614766352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3D5CF-5EA9-8F83-2A9B-270B8B8D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BC741-9DD9-E3DC-8A2F-7A7D51AC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66AF39-6947-AE57-DC4A-3A7774759E2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80FC98-E447-1BDB-9437-A4F038032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756" y="1634704"/>
            <a:ext cx="9618062" cy="402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46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218B-CBF9-2E78-6286-D9C8DCBA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Tính giá trị thập phân tương ứng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30CA8-CEE9-166C-2466-41AAA9DA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1F7A4-1904-8F07-00F8-8953B7BF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8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5CD092-6BA6-95C2-6CA4-BE965F3F773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FA3B3D3-A704-5D60-2D98-AB634C38C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2797" y="1195820"/>
                <a:ext cx="10515600" cy="51605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dirty="0"/>
                  <a:t>Một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nguyên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chuỗi</a:t>
                </a:r>
                <a:r>
                  <a:rPr lang="en-US" dirty="0"/>
                  <a:t> bit: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1"/>
                        <m:t>v</m:t>
                      </m:r>
                      <m:r>
                        <m:rPr>
                          <m:nor/>
                        </m:rPr>
                        <a:rPr lang="en-US" sz="2400"/>
                        <m:t> 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2400" i="1"/>
                            <m:t>i</m:t>
                          </m:r>
                          <m:r>
                            <m:rPr>
                              <m:nor/>
                            </m:rPr>
                            <a:rPr lang="en-US" sz="2400"/>
                            <m:t>=0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400" i="1"/>
                            <m:t>n</m:t>
                          </m:r>
                          <m:r>
                            <m:rPr>
                              <m:nor/>
                            </m:rPr>
                            <a:rPr lang="en-US" sz="2400" i="1"/>
                            <m:t>−</m:t>
                          </m:r>
                          <m:r>
                            <m:rPr>
                              <m:nor/>
                            </m:rPr>
                            <a:rPr lang="en-US" sz="2400"/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2400"/>
                                <m:t>2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400" i="1"/>
                                <m:t>i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i="1"/>
                            <m:t>b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1"/>
                            <m:t>i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nhất</a:t>
                </a:r>
                <a:r>
                  <a:rPr lang="en-US" sz="2400" dirty="0"/>
                  <a:t>: 0;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lớn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nhất</a:t>
                </a:r>
                <a:r>
                  <a:rPr lang="en-US" sz="2400" dirty="0"/>
                  <a:t>: 2</a:t>
                </a:r>
                <a:r>
                  <a:rPr lang="en-US" sz="2400" i="1" baseline="30000" dirty="0"/>
                  <a:t>n</a:t>
                </a:r>
                <a:r>
                  <a:rPr lang="en-US" sz="2400" dirty="0"/>
                  <a:t> – 1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FA3B3D3-A704-5D60-2D98-AB634C38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797" y="1195820"/>
                <a:ext cx="10515600" cy="5160527"/>
              </a:xfrm>
              <a:prstGeom prst="rect">
                <a:avLst/>
              </a:prstGeom>
              <a:blipFill>
                <a:blip r:embed="rId3"/>
                <a:stretch>
                  <a:fillRect l="-965" r="-121" b="-1105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AC3DF95C-2112-3322-1603-31597256C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35293"/>
              </p:ext>
            </p:extLst>
          </p:nvPr>
        </p:nvGraphicFramePr>
        <p:xfrm>
          <a:off x="2300176" y="2479728"/>
          <a:ext cx="6096000" cy="725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3247634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22663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060977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99838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867655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152022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860093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929864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01033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37035337"/>
                    </a:ext>
                  </a:extLst>
                </a:gridCol>
              </a:tblGrid>
              <a:tr h="362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9293766"/>
                  </a:ext>
                </a:extLst>
              </a:tr>
              <a:tr h="362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5137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C5ED52-D020-F470-3E76-D60EBA4A78ED}"/>
                  </a:ext>
                </a:extLst>
              </p:cNvPr>
              <p:cNvSpPr/>
              <p:nvPr/>
            </p:nvSpPr>
            <p:spPr>
              <a:xfrm>
                <a:off x="2039446" y="3313248"/>
                <a:ext cx="6863867" cy="16830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 sz="21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= 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100" i="1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2100" i="1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</m:sup>
                                </m:sSup>
                              </m:e>
                            </m:nary>
                            <m:sSub>
                              <m:sSub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  <m:e>
                            <m:r>
                              <a:rPr lang="en-US" sz="210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.1 + 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.1 + 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.1 + 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.1 + 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.1 + 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1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.1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sz="210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512 + 128 + 64 + 32 + 8 + 1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sz="210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1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745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C5ED52-D020-F470-3E76-D60EBA4A78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446" y="3313248"/>
                <a:ext cx="6863867" cy="1683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39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23DE-54C2-CA6B-7DBE-4EB7FE7D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Quiz - Tính giá trị thập phân của các số nhị phân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904E4B-18BB-DED5-6325-861FA4FF1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0955" y="1437862"/>
            <a:ext cx="6782807" cy="42105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76439-CD22-E82C-532B-FC66935C9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F9309-C86C-E87A-10FC-1458B3E4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9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838BD9-C431-4AE7-7438-202C8BAF334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3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F5D2-DE1D-E20D-F76F-73702F07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- h</a:t>
            </a:r>
            <a:r>
              <a:rPr lang="en-VN" dirty="0"/>
              <a:t>ệ thập lục phân (16)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4CDE-F92D-EE47-F244-00F93E76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bit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nhàm</a:t>
            </a:r>
            <a:r>
              <a:rPr lang="en-US" dirty="0"/>
              <a:t> </a:t>
            </a:r>
            <a:r>
              <a:rPr lang="en-US" dirty="0" err="1"/>
              <a:t>chán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sót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endParaRPr lang="en-US" dirty="0"/>
          </a:p>
          <a:p>
            <a:pPr lvl="1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c</a:t>
            </a:r>
            <a:r>
              <a:rPr lang="vi-VN" dirty="0"/>
              <a:t>ơ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</a:t>
            </a:r>
          </a:p>
          <a:p>
            <a:pPr lvl="2"/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ng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endParaRPr lang="en-US" dirty="0"/>
          </a:p>
          <a:p>
            <a:pPr lvl="1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c</a:t>
            </a:r>
            <a:r>
              <a:rPr lang="vi-VN" dirty="0"/>
              <a:t>ơ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n, </a:t>
            </a:r>
            <a:r>
              <a:rPr lang="en-US" dirty="0" err="1"/>
              <a:t>thỏa</a:t>
            </a:r>
            <a:r>
              <a:rPr lang="en-US" dirty="0"/>
              <a:t> 2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bit </a:t>
            </a:r>
            <a:r>
              <a:rPr lang="en-US" dirty="0" err="1"/>
              <a:t>chứ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lvl="2"/>
            <a:r>
              <a:rPr lang="en-US" dirty="0" err="1"/>
              <a:t>Đ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bit</a:t>
            </a:r>
          </a:p>
          <a:p>
            <a:r>
              <a:rPr lang="en-US" dirty="0" err="1"/>
              <a:t>Hệ</a:t>
            </a:r>
            <a:r>
              <a:rPr lang="en-US" dirty="0"/>
              <a:t> c</a:t>
            </a:r>
            <a:r>
              <a:rPr lang="vi-VN" dirty="0"/>
              <a:t>ơ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16</a:t>
            </a:r>
          </a:p>
          <a:p>
            <a:pPr lvl="1"/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vi-VN" dirty="0"/>
              <a:t>→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lang="en-US" dirty="0"/>
          </a:p>
          <a:p>
            <a:pPr lvl="1"/>
            <a:r>
              <a:rPr lang="en-US" dirty="0" err="1"/>
              <a:t>Lũy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 </a:t>
            </a:r>
            <a:r>
              <a:rPr lang="vi-VN" dirty="0"/>
              <a:t>→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bit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9BB97-1144-9378-8FAC-44E3E3AE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94150-D697-2D11-513A-4A721B11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10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4A1FFA-1750-E4BB-2695-136603C62C7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9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F5D2-DE1D-E20D-F76F-73702F07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- h</a:t>
            </a:r>
            <a:r>
              <a:rPr lang="en-VN" dirty="0"/>
              <a:t>ệ thập lục phân (tt)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9BB97-1144-9378-8FAC-44E3E3AE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94150-D697-2D11-513A-4A721B11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11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4A1FFA-1750-E4BB-2695-136603C62C7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3C1BF2F3-D1C5-2850-2CA1-03F54D542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69283"/>
              </p:ext>
            </p:extLst>
          </p:nvPr>
        </p:nvGraphicFramePr>
        <p:xfrm>
          <a:off x="1610074" y="1027662"/>
          <a:ext cx="8572500" cy="1165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42721178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92973139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498772638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426288226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391412433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581743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328689244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96923564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395855125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4359728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893478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993788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1A6FE0A-C40D-8282-EB2A-CE006CFBC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613041"/>
              </p:ext>
            </p:extLst>
          </p:nvPr>
        </p:nvGraphicFramePr>
        <p:xfrm>
          <a:off x="1610074" y="2439656"/>
          <a:ext cx="8579359" cy="1165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5871">
                  <a:extLst>
                    <a:ext uri="{9D8B030D-6E8A-4147-A177-3AD203B41FA5}">
                      <a16:colId xmlns:a16="http://schemas.microsoft.com/office/drawing/2014/main" val="103498787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3300195601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2386422772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4041699671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92758926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1986497160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1934638520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3312312952"/>
                    </a:ext>
                  </a:extLst>
                </a:gridCol>
                <a:gridCol w="857936">
                  <a:extLst>
                    <a:ext uri="{9D8B030D-6E8A-4147-A177-3AD203B41FA5}">
                      <a16:colId xmlns:a16="http://schemas.microsoft.com/office/drawing/2014/main" val="387082175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7714628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902782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1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34582595"/>
                  </a:ext>
                </a:extLst>
              </a:tr>
            </a:tbl>
          </a:graphicData>
        </a:graphic>
      </p:graphicFrame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C261FC16-A417-6D7F-179C-DD4C30A6D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250538"/>
              </p:ext>
            </p:extLst>
          </p:nvPr>
        </p:nvGraphicFramePr>
        <p:xfrm>
          <a:off x="3480121" y="3794538"/>
          <a:ext cx="6096000" cy="725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8300744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170674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805873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43352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651087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044390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15554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101278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072914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40907724"/>
                    </a:ext>
                  </a:extLst>
                </a:gridCol>
              </a:tblGrid>
              <a:tr h="362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646311"/>
                  </a:ext>
                </a:extLst>
              </a:tr>
              <a:tr h="362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831188"/>
                  </a:ext>
                </a:extLst>
              </a:tr>
            </a:tbl>
          </a:graphicData>
        </a:graphic>
      </p:graphicFrame>
      <p:sp>
        <p:nvSpPr>
          <p:cNvPr id="12" name="Left Brace 11">
            <a:extLst>
              <a:ext uri="{FF2B5EF4-FFF2-40B4-BE49-F238E27FC236}">
                <a16:creationId xmlns:a16="http://schemas.microsoft.com/office/drawing/2014/main" id="{D71A8F1E-A456-E632-7815-B5C198E8811A}"/>
              </a:ext>
            </a:extLst>
          </p:cNvPr>
          <p:cNvSpPr/>
          <p:nvPr/>
        </p:nvSpPr>
        <p:spPr>
          <a:xfrm rot="16200000">
            <a:off x="8238865" y="3511942"/>
            <a:ext cx="231820" cy="2442694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34381F8-15C9-65A2-4834-EBEC78BAD149}"/>
              </a:ext>
            </a:extLst>
          </p:cNvPr>
          <p:cNvSpPr/>
          <p:nvPr/>
        </p:nvSpPr>
        <p:spPr>
          <a:xfrm rot="16200000">
            <a:off x="5796172" y="3511941"/>
            <a:ext cx="231820" cy="2442694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BC0DE4AB-D811-BA24-5ABD-7ACB3992F172}"/>
              </a:ext>
            </a:extLst>
          </p:cNvPr>
          <p:cNvSpPr/>
          <p:nvPr/>
        </p:nvSpPr>
        <p:spPr>
          <a:xfrm rot="16200000">
            <a:off x="3355156" y="3511941"/>
            <a:ext cx="231820" cy="2442694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902ED76-12E0-4400-9A36-308F2D238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725290"/>
              </p:ext>
            </p:extLst>
          </p:nvPr>
        </p:nvGraphicFramePr>
        <p:xfrm>
          <a:off x="2259397" y="3793586"/>
          <a:ext cx="1220724" cy="7269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362">
                  <a:extLst>
                    <a:ext uri="{9D8B030D-6E8A-4147-A177-3AD203B41FA5}">
                      <a16:colId xmlns:a16="http://schemas.microsoft.com/office/drawing/2014/main" val="1792025222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3640857343"/>
                    </a:ext>
                  </a:extLst>
                </a:gridCol>
              </a:tblGrid>
              <a:tr h="3634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i="1" spc="-2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1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214824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1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20002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A930C5F-86BE-2C16-D847-301EC467953F}"/>
              </a:ext>
            </a:extLst>
          </p:cNvPr>
          <p:cNvSpPr txBox="1"/>
          <p:nvPr/>
        </p:nvSpPr>
        <p:spPr>
          <a:xfrm>
            <a:off x="8218199" y="4924622"/>
            <a:ext cx="2731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A5D055-8740-FDD9-435B-B9269CB9881B}"/>
              </a:ext>
            </a:extLst>
          </p:cNvPr>
          <p:cNvSpPr txBox="1"/>
          <p:nvPr/>
        </p:nvSpPr>
        <p:spPr>
          <a:xfrm>
            <a:off x="5775505" y="4917736"/>
            <a:ext cx="2731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8D1055-138D-2B3D-5EEF-9D05E37FD40A}"/>
              </a:ext>
            </a:extLst>
          </p:cNvPr>
          <p:cNvSpPr txBox="1"/>
          <p:nvPr/>
        </p:nvSpPr>
        <p:spPr>
          <a:xfrm>
            <a:off x="3334490" y="4917736"/>
            <a:ext cx="2731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29A615-FDDF-CD62-6862-040BC3863FAB}"/>
              </a:ext>
            </a:extLst>
          </p:cNvPr>
          <p:cNvSpPr txBox="1"/>
          <p:nvPr/>
        </p:nvSpPr>
        <p:spPr>
          <a:xfrm>
            <a:off x="1622401" y="5239078"/>
            <a:ext cx="85793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16 t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4 bit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001011101001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2E9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0x2E9 </a:t>
            </a:r>
          </a:p>
        </p:txBody>
      </p:sp>
    </p:spTree>
    <p:extLst>
      <p:ext uri="{BB962C8B-B14F-4D97-AF65-F5344CB8AC3E}">
        <p14:creationId xmlns:p14="http://schemas.microsoft.com/office/powerpoint/2010/main" val="56431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hệ thống số thông dụng (tt)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504CFF76-15A9-3B52-5FFA-0D5E43C4D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4676675"/>
              </p:ext>
            </p:extLst>
          </p:nvPr>
        </p:nvGraphicFramePr>
        <p:xfrm>
          <a:off x="2109828" y="1641523"/>
          <a:ext cx="8229600" cy="3017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0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Hệ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thống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số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bg1"/>
                          </a:solidFill>
                          <a:latin typeface="+mn-lt"/>
                          <a:cs typeface="+mn-cs"/>
                        </a:rPr>
                        <a:t>Cơ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bg1"/>
                          </a:solidFill>
                          <a:latin typeface="+mn-lt"/>
                          <a:cs typeface="+mn-cs"/>
                        </a:rPr>
                        <a:t>số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Chữ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số</a:t>
                      </a:r>
                      <a:r>
                        <a:rPr lang="en-US" sz="2800" baseline="0" dirty="0"/>
                        <a:t> (digit)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Thập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Phân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0, 1, 2, 3, 4, 5, 6, 7, 8, 9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Nhị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Phân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0, 1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Thập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Lục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16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0, 1, 2, 3, 4, 5, 6, 7, 8, 9</a:t>
                      </a:r>
                    </a:p>
                    <a:p>
                      <a:pPr algn="ctr"/>
                      <a:r>
                        <a:rPr lang="en-US" sz="2800" dirty="0"/>
                        <a:t>A, B, C, D, E, F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493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Bát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Phân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0, 1, 2,</a:t>
                      </a:r>
                      <a:r>
                        <a:rPr lang="en-US" sz="2800" baseline="0" dirty="0"/>
                        <a:t> 3, 4, 5, 6, 7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21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hệ thống số thông dụng (tt)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13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B757E-40B2-9A3F-8C6B-675B0F0FE6E6}"/>
              </a:ext>
            </a:extLst>
          </p:cNvPr>
          <p:cNvSpPr txBox="1"/>
          <p:nvPr/>
        </p:nvSpPr>
        <p:spPr>
          <a:xfrm>
            <a:off x="6027421" y="1518068"/>
            <a:ext cx="304442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Dấu</a:t>
            </a:r>
            <a:r>
              <a:rPr lang="en-US" sz="2400" dirty="0"/>
              <a:t> </a:t>
            </a:r>
            <a:r>
              <a:rPr lang="en-US" sz="2400" dirty="0" err="1"/>
              <a:t>chấm</a:t>
            </a:r>
            <a:r>
              <a:rPr lang="en-US" sz="2400" dirty="0"/>
              <a:t> </a:t>
            </a:r>
            <a:r>
              <a:rPr lang="en-US" sz="2400" dirty="0" err="1"/>
              <a:t>thập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endParaRPr lang="vi-V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13">
                <a:extLst>
                  <a:ext uri="{FF2B5EF4-FFF2-40B4-BE49-F238E27FC236}">
                    <a16:creationId xmlns:a16="http://schemas.microsoft.com/office/drawing/2014/main" id="{32F91379-1439-DC68-4491-8AE1629EA9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2729971"/>
                  </p:ext>
                </p:extLst>
              </p:nvPr>
            </p:nvGraphicFramePr>
            <p:xfrm>
              <a:off x="2246503" y="2312213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13">
                <a:extLst>
                  <a:ext uri="{FF2B5EF4-FFF2-40B4-BE49-F238E27FC236}">
                    <a16:creationId xmlns:a16="http://schemas.microsoft.com/office/drawing/2014/main" id="{32F91379-1439-DC68-4491-8AE1629EA9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2729971"/>
                  </p:ext>
                </p:extLst>
              </p:nvPr>
            </p:nvGraphicFramePr>
            <p:xfrm>
              <a:off x="2246503" y="2312213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AC682AA-27EB-9350-20A6-43848A30C9CB}"/>
              </a:ext>
            </a:extLst>
          </p:cNvPr>
          <p:cNvCxnSpPr>
            <a:cxnSpLocks/>
            <a:endCxn id="3" idx="1"/>
          </p:cNvCxnSpPr>
          <p:nvPr/>
        </p:nvCxnSpPr>
        <p:spPr>
          <a:xfrm rot="5400000" flipH="1" flipV="1">
            <a:off x="5213063" y="2200289"/>
            <a:ext cx="1265746" cy="362968"/>
          </a:xfrm>
          <a:prstGeom prst="bentConnector2">
            <a:avLst/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4E3882-8973-5BC0-2C34-91CB4BFC3F25}"/>
              </a:ext>
            </a:extLst>
          </p:cNvPr>
          <p:cNvSpPr txBox="1"/>
          <p:nvPr/>
        </p:nvSpPr>
        <p:spPr>
          <a:xfrm>
            <a:off x="4712930" y="4247962"/>
            <a:ext cx="220284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endParaRPr lang="vi-V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E037C-B903-3E91-92A4-63C939FD35A8}"/>
              </a:ext>
            </a:extLst>
          </p:cNvPr>
          <p:cNvSpPr txBox="1"/>
          <p:nvPr/>
        </p:nvSpPr>
        <p:spPr>
          <a:xfrm>
            <a:off x="983529" y="4247961"/>
            <a:ext cx="1770613" cy="43088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, </a:t>
            </a:r>
            <a:r>
              <a:rPr lang="en-US" sz="2200" dirty="0" err="1"/>
              <a:t>cơ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b</a:t>
            </a:r>
            <a:endParaRPr lang="vi-VN" sz="2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E8E924-A19F-5292-0424-928555EC8797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4268157" y="3712245"/>
            <a:ext cx="1546197" cy="53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6A556D-BF3C-CF5C-58AF-7A7D73F2DF75}"/>
              </a:ext>
            </a:extLst>
          </p:cNvPr>
          <p:cNvCxnSpPr>
            <a:stCxn id="9" idx="0"/>
          </p:cNvCxnSpPr>
          <p:nvPr/>
        </p:nvCxnSpPr>
        <p:spPr>
          <a:xfrm flipV="1">
            <a:off x="5814354" y="3695201"/>
            <a:ext cx="1101423" cy="552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21A4D0-0CE5-3AFD-06AD-6BF2D66AB095}"/>
              </a:ext>
            </a:extLst>
          </p:cNvPr>
          <p:cNvSpPr txBox="1"/>
          <p:nvPr/>
        </p:nvSpPr>
        <p:spPr>
          <a:xfrm>
            <a:off x="1491169" y="2848491"/>
            <a:ext cx="755335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MSD</a:t>
            </a:r>
            <a:endParaRPr lang="vi-V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025A5-DEED-608E-D0C9-5837FB87481E}"/>
              </a:ext>
            </a:extLst>
          </p:cNvPr>
          <p:cNvSpPr txBox="1"/>
          <p:nvPr/>
        </p:nvSpPr>
        <p:spPr>
          <a:xfrm>
            <a:off x="9615224" y="2777325"/>
            <a:ext cx="684803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LSD</a:t>
            </a:r>
            <a:endParaRPr lang="vi-V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22F8AC-5214-BB2E-FD2E-948D55F93259}"/>
              </a:ext>
            </a:extLst>
          </p:cNvPr>
          <p:cNvSpPr txBox="1"/>
          <p:nvPr/>
        </p:nvSpPr>
        <p:spPr>
          <a:xfrm>
            <a:off x="2425345" y="4940106"/>
            <a:ext cx="3291286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MSD: Most Significant Digit</a:t>
            </a:r>
          </a:p>
          <a:p>
            <a:r>
              <a:rPr lang="en-US" sz="2000" dirty="0"/>
              <a:t>LSD: Least Significant Digit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509197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hệ thống số thông dụng (tt)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14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51B12-36D5-C6A1-FA3C-80AA7C57E1A8}"/>
              </a:ext>
            </a:extLst>
          </p:cNvPr>
          <p:cNvSpPr txBox="1"/>
          <p:nvPr/>
        </p:nvSpPr>
        <p:spPr>
          <a:xfrm>
            <a:off x="5943929" y="1685708"/>
            <a:ext cx="304442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Dấu</a:t>
            </a:r>
            <a:r>
              <a:rPr lang="en-US" sz="2400" dirty="0"/>
              <a:t> </a:t>
            </a:r>
            <a:r>
              <a:rPr lang="en-US" sz="2400" dirty="0" err="1"/>
              <a:t>chấm</a:t>
            </a:r>
            <a:r>
              <a:rPr lang="en-US" sz="2400" dirty="0"/>
              <a:t> </a:t>
            </a:r>
            <a:r>
              <a:rPr lang="en-US" sz="2400" dirty="0" err="1"/>
              <a:t>thập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endParaRPr lang="vi-V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3">
                <a:extLst>
                  <a:ext uri="{FF2B5EF4-FFF2-40B4-BE49-F238E27FC236}">
                    <a16:creationId xmlns:a16="http://schemas.microsoft.com/office/drawing/2014/main" id="{9A2A6F35-E50C-1CD0-A5F5-D4186B89E7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047037"/>
                  </p:ext>
                </p:extLst>
              </p:nvPr>
            </p:nvGraphicFramePr>
            <p:xfrm>
              <a:off x="2163011" y="2717174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3">
                <a:extLst>
                  <a:ext uri="{FF2B5EF4-FFF2-40B4-BE49-F238E27FC236}">
                    <a16:creationId xmlns:a16="http://schemas.microsoft.com/office/drawing/2014/main" id="{9A2A6F35-E50C-1CD0-A5F5-D4186B89E7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047037"/>
                  </p:ext>
                </p:extLst>
              </p:nvPr>
            </p:nvGraphicFramePr>
            <p:xfrm>
              <a:off x="2163011" y="2717174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475E138-E555-1BCB-8876-E6944CB25BCC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 flipH="1" flipV="1">
            <a:off x="5129571" y="2367929"/>
            <a:ext cx="1265746" cy="362968"/>
          </a:xfrm>
          <a:prstGeom prst="bentConnector2">
            <a:avLst/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898C2AE-12C1-CF8E-2853-17D2AE0E515E}"/>
              </a:ext>
            </a:extLst>
          </p:cNvPr>
          <p:cNvSpPr txBox="1"/>
          <p:nvPr/>
        </p:nvSpPr>
        <p:spPr>
          <a:xfrm>
            <a:off x="4573862" y="4742601"/>
            <a:ext cx="220284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endParaRPr lang="vi-V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57C94-D807-3A4B-026F-2B73C23B01F1}"/>
              </a:ext>
            </a:extLst>
          </p:cNvPr>
          <p:cNvSpPr txBox="1"/>
          <p:nvPr/>
        </p:nvSpPr>
        <p:spPr>
          <a:xfrm>
            <a:off x="1035252" y="4686399"/>
            <a:ext cx="2440092" cy="43088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thập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, b=10</a:t>
            </a:r>
            <a:endParaRPr lang="vi-VN" sz="2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96AE4D-986A-BC1A-21CB-791313BED0EB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4129089" y="4206884"/>
            <a:ext cx="1546197" cy="53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C60B46-5D70-46AF-056D-EB0D108533E1}"/>
              </a:ext>
            </a:extLst>
          </p:cNvPr>
          <p:cNvCxnSpPr>
            <a:stCxn id="18" idx="0"/>
          </p:cNvCxnSpPr>
          <p:nvPr/>
        </p:nvCxnSpPr>
        <p:spPr>
          <a:xfrm flipV="1">
            <a:off x="5675286" y="4189840"/>
            <a:ext cx="1101423" cy="552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8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hệ thống số thông dụng (tt)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13">
                <a:extLst>
                  <a:ext uri="{FF2B5EF4-FFF2-40B4-BE49-F238E27FC236}">
                    <a16:creationId xmlns:a16="http://schemas.microsoft.com/office/drawing/2014/main" id="{3C3AE65F-7266-90EF-D747-D4B247E27B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71613"/>
                  </p:ext>
                </p:extLst>
              </p:nvPr>
            </p:nvGraphicFramePr>
            <p:xfrm>
              <a:off x="1880743" y="2676662"/>
              <a:ext cx="7368720" cy="19771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01790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13">
                <a:extLst>
                  <a:ext uri="{FF2B5EF4-FFF2-40B4-BE49-F238E27FC236}">
                    <a16:creationId xmlns:a16="http://schemas.microsoft.com/office/drawing/2014/main" id="{3C3AE65F-7266-90EF-D747-D4B247E27B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71613"/>
                  </p:ext>
                </p:extLst>
              </p:nvPr>
            </p:nvGraphicFramePr>
            <p:xfrm>
              <a:off x="1880743" y="2676662"/>
              <a:ext cx="7368720" cy="19771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01790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8DEDB13-812F-AE13-6851-AEBF7138328A}"/>
              </a:ext>
            </a:extLst>
          </p:cNvPr>
          <p:cNvSpPr txBox="1"/>
          <p:nvPr/>
        </p:nvSpPr>
        <p:spPr>
          <a:xfrm>
            <a:off x="1880744" y="1688240"/>
            <a:ext cx="2962671" cy="80021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thập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, b=10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Ví</a:t>
            </a:r>
            <a:r>
              <a:rPr lang="en-US" sz="2200" dirty="0"/>
              <a:t> </a:t>
            </a:r>
            <a:r>
              <a:rPr lang="en-US" sz="2200" dirty="0" err="1"/>
              <a:t>dụ</a:t>
            </a:r>
            <a:r>
              <a:rPr lang="en-US" sz="2200" dirty="0"/>
              <a:t>: </a:t>
            </a:r>
            <a:r>
              <a:rPr lang="en-US" sz="2400" dirty="0"/>
              <a:t>2745.214</a:t>
            </a:r>
            <a:r>
              <a:rPr lang="en-US" sz="2400" baseline="-25000" dirty="0">
                <a:solidFill>
                  <a:srgbClr val="FF0000"/>
                </a:solidFill>
              </a:rPr>
              <a:t>10</a:t>
            </a:r>
            <a:endParaRPr lang="vi-V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26CDA-4268-B75A-69AF-4FA26FC889EF}"/>
              </a:ext>
            </a:extLst>
          </p:cNvPr>
          <p:cNvSpPr txBox="1"/>
          <p:nvPr/>
        </p:nvSpPr>
        <p:spPr>
          <a:xfrm>
            <a:off x="2239639" y="4985525"/>
            <a:ext cx="6953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2745.214</a:t>
            </a:r>
            <a:r>
              <a:rPr lang="en-US" sz="2000" baseline="-25000" dirty="0">
                <a:solidFill>
                  <a:srgbClr val="FF0000"/>
                </a:solidFill>
              </a:rPr>
              <a:t>10</a:t>
            </a:r>
            <a:r>
              <a:rPr lang="en-US" sz="2000" dirty="0"/>
              <a:t> =  2 * 10</a:t>
            </a:r>
            <a:r>
              <a:rPr lang="en-US" sz="2000" baseline="30000" dirty="0">
                <a:solidFill>
                  <a:srgbClr val="0000CC"/>
                </a:solidFill>
              </a:rPr>
              <a:t>3</a:t>
            </a:r>
            <a:r>
              <a:rPr lang="en-US" sz="2000" dirty="0"/>
              <a:t> + 7 * 10</a:t>
            </a:r>
            <a:r>
              <a:rPr lang="en-US" sz="2000" baseline="30000" dirty="0">
                <a:solidFill>
                  <a:srgbClr val="0000CC"/>
                </a:solidFill>
              </a:rPr>
              <a:t>2</a:t>
            </a:r>
            <a:r>
              <a:rPr lang="en-US" sz="2000" dirty="0"/>
              <a:t> + 4 * 10</a:t>
            </a:r>
            <a:r>
              <a:rPr lang="en-US" sz="2000" baseline="30000" dirty="0">
                <a:solidFill>
                  <a:srgbClr val="0000CC"/>
                </a:solidFill>
              </a:rPr>
              <a:t>1</a:t>
            </a:r>
            <a:r>
              <a:rPr lang="en-US" sz="2000" dirty="0"/>
              <a:t> + 5 * 10</a:t>
            </a:r>
            <a:r>
              <a:rPr lang="en-US" sz="2000" baseline="30000" dirty="0">
                <a:solidFill>
                  <a:srgbClr val="0000CC"/>
                </a:solidFill>
              </a:rPr>
              <a:t>0</a:t>
            </a:r>
            <a:r>
              <a:rPr lang="en-US" sz="2000" dirty="0"/>
              <a:t> +		          2 * 10</a:t>
            </a:r>
            <a:r>
              <a:rPr lang="en-US" sz="2000" baseline="30000" dirty="0">
                <a:solidFill>
                  <a:srgbClr val="0000CC"/>
                </a:solidFill>
              </a:rPr>
              <a:t>-1</a:t>
            </a:r>
            <a:r>
              <a:rPr lang="en-US" sz="2000" dirty="0"/>
              <a:t> + 1 * 10</a:t>
            </a:r>
            <a:r>
              <a:rPr lang="en-US" sz="2000" baseline="30000" dirty="0">
                <a:solidFill>
                  <a:srgbClr val="0000CC"/>
                </a:solidFill>
              </a:rPr>
              <a:t>-2</a:t>
            </a:r>
            <a:r>
              <a:rPr lang="en-US" sz="2000" dirty="0"/>
              <a:t> + 4 * 10</a:t>
            </a:r>
            <a:r>
              <a:rPr lang="en-US" sz="2000" baseline="30000" dirty="0">
                <a:solidFill>
                  <a:srgbClr val="0000CC"/>
                </a:solidFill>
              </a:rPr>
              <a:t>-3</a:t>
            </a:r>
          </a:p>
        </p:txBody>
      </p:sp>
    </p:spTree>
    <p:extLst>
      <p:ext uri="{BB962C8B-B14F-4D97-AF65-F5344CB8AC3E}">
        <p14:creationId xmlns:p14="http://schemas.microsoft.com/office/powerpoint/2010/main" val="335059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16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Chuyển đổi giữa các hệ thống số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584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Chuyển đổi giữa các hệ thống số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FD3AEA-EDAD-A701-02BA-CAFABB83A31B}"/>
              </a:ext>
            </a:extLst>
          </p:cNvPr>
          <p:cNvSpPr/>
          <p:nvPr/>
        </p:nvSpPr>
        <p:spPr>
          <a:xfrm>
            <a:off x="5146876" y="1619875"/>
            <a:ext cx="1898248" cy="1030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/>
              <a:t>Thập phân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6224F2-0038-157D-A8EB-A269D9BDCD28}"/>
              </a:ext>
            </a:extLst>
          </p:cNvPr>
          <p:cNvSpPr/>
          <p:nvPr/>
        </p:nvSpPr>
        <p:spPr>
          <a:xfrm>
            <a:off x="1746100" y="4254293"/>
            <a:ext cx="1898248" cy="103014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/>
              <a:t>Nhị phân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D365C0-236A-B1D2-EF2B-76CAD8EB0CDF}"/>
              </a:ext>
            </a:extLst>
          </p:cNvPr>
          <p:cNvSpPr/>
          <p:nvPr/>
        </p:nvSpPr>
        <p:spPr>
          <a:xfrm>
            <a:off x="8547652" y="4254294"/>
            <a:ext cx="1898248" cy="10301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/>
              <a:t>Thập lục phân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2331F7-5021-3DB8-1066-473C137BBA11}"/>
              </a:ext>
            </a:extLst>
          </p:cNvPr>
          <p:cNvCxnSpPr>
            <a:stCxn id="6" idx="0"/>
            <a:endCxn id="3" idx="1"/>
          </p:cNvCxnSpPr>
          <p:nvPr/>
        </p:nvCxnSpPr>
        <p:spPr>
          <a:xfrm flipV="1">
            <a:off x="2695224" y="2134949"/>
            <a:ext cx="2451652" cy="2119344"/>
          </a:xfrm>
          <a:prstGeom prst="straightConnector1">
            <a:avLst/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7A74C4-4817-4155-A6B8-817EA750287E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7020297" y="2164474"/>
            <a:ext cx="2476479" cy="208982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4EE015-A337-C998-10B2-DA3F6952B5B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644348" y="4769368"/>
            <a:ext cx="4903304" cy="12088"/>
          </a:xfrm>
          <a:prstGeom prst="straightConnector1">
            <a:avLst/>
          </a:prstGeom>
          <a:ln w="28575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775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sang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B34AF-0F8A-FBD1-25ED-68FC8612216E}"/>
              </a:ext>
            </a:extLst>
          </p:cNvPr>
          <p:cNvSpPr txBox="1"/>
          <p:nvPr/>
        </p:nvSpPr>
        <p:spPr>
          <a:xfrm>
            <a:off x="5981701" y="1624412"/>
            <a:ext cx="304442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Dấu</a:t>
            </a:r>
            <a:r>
              <a:rPr lang="en-US" sz="2400" dirty="0"/>
              <a:t> </a:t>
            </a:r>
            <a:r>
              <a:rPr lang="en-US" sz="2400" dirty="0" err="1"/>
              <a:t>chấm</a:t>
            </a:r>
            <a:r>
              <a:rPr lang="en-US" sz="2400" dirty="0"/>
              <a:t> </a:t>
            </a:r>
            <a:r>
              <a:rPr lang="en-US" sz="2400" dirty="0" err="1"/>
              <a:t>thập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endParaRPr lang="vi-V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13">
                <a:extLst>
                  <a:ext uri="{FF2B5EF4-FFF2-40B4-BE49-F238E27FC236}">
                    <a16:creationId xmlns:a16="http://schemas.microsoft.com/office/drawing/2014/main" id="{AFCD097C-B275-5149-AF3C-6B7148A850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0122923"/>
                  </p:ext>
                </p:extLst>
              </p:nvPr>
            </p:nvGraphicFramePr>
            <p:xfrm>
              <a:off x="2200783" y="2655878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13">
                <a:extLst>
                  <a:ext uri="{FF2B5EF4-FFF2-40B4-BE49-F238E27FC236}">
                    <a16:creationId xmlns:a16="http://schemas.microsoft.com/office/drawing/2014/main" id="{AFCD097C-B275-5149-AF3C-6B7148A850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0122923"/>
                  </p:ext>
                </p:extLst>
              </p:nvPr>
            </p:nvGraphicFramePr>
            <p:xfrm>
              <a:off x="2200783" y="2655878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9D56176-93A2-A5F5-AE81-C27D4301D415}"/>
              </a:ext>
            </a:extLst>
          </p:cNvPr>
          <p:cNvCxnSpPr>
            <a:cxnSpLocks/>
            <a:endCxn id="3" idx="1"/>
          </p:cNvCxnSpPr>
          <p:nvPr/>
        </p:nvCxnSpPr>
        <p:spPr>
          <a:xfrm rot="5400000" flipH="1" flipV="1">
            <a:off x="5167343" y="2306633"/>
            <a:ext cx="1265746" cy="362968"/>
          </a:xfrm>
          <a:prstGeom prst="bentConnector2">
            <a:avLst/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34D7E8-601C-57FE-ADBC-343E0BDDFAB4}"/>
              </a:ext>
            </a:extLst>
          </p:cNvPr>
          <p:cNvSpPr txBox="1"/>
          <p:nvPr/>
        </p:nvSpPr>
        <p:spPr>
          <a:xfrm>
            <a:off x="4611634" y="4681305"/>
            <a:ext cx="220284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endParaRPr lang="vi-V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1D138-D307-8767-BD1C-CCFE3847ED34}"/>
              </a:ext>
            </a:extLst>
          </p:cNvPr>
          <p:cNvSpPr txBox="1"/>
          <p:nvPr/>
        </p:nvSpPr>
        <p:spPr>
          <a:xfrm>
            <a:off x="2200783" y="1596464"/>
            <a:ext cx="2632452" cy="43088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nhị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, b=2</a:t>
            </a:r>
            <a:endParaRPr lang="vi-VN" sz="2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478EFA-EA84-0A8A-1281-529C99CD7E2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4166861" y="4145588"/>
            <a:ext cx="1546197" cy="53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A647C4-DCA2-C520-31BD-8383D980C668}"/>
              </a:ext>
            </a:extLst>
          </p:cNvPr>
          <p:cNvCxnSpPr>
            <a:stCxn id="8" idx="0"/>
          </p:cNvCxnSpPr>
          <p:nvPr/>
        </p:nvCxnSpPr>
        <p:spPr>
          <a:xfrm flipV="1">
            <a:off x="5713058" y="4128544"/>
            <a:ext cx="1101423" cy="552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88EAE7-4F64-9E89-9FA2-FA1EE9633D7F}"/>
              </a:ext>
            </a:extLst>
          </p:cNvPr>
          <p:cNvSpPr txBox="1"/>
          <p:nvPr/>
        </p:nvSpPr>
        <p:spPr>
          <a:xfrm>
            <a:off x="1445448" y="3244434"/>
            <a:ext cx="740908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MSB</a:t>
            </a:r>
            <a:endParaRPr lang="vi-V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969AD-1715-42B2-D740-C6EB1D142337}"/>
              </a:ext>
            </a:extLst>
          </p:cNvPr>
          <p:cNvSpPr txBox="1"/>
          <p:nvPr/>
        </p:nvSpPr>
        <p:spPr>
          <a:xfrm>
            <a:off x="9583930" y="3193732"/>
            <a:ext cx="67037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LSB</a:t>
            </a:r>
            <a:endParaRPr lang="vi-V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B237C-6AE2-83F1-A342-1A3440FCB669}"/>
              </a:ext>
            </a:extLst>
          </p:cNvPr>
          <p:cNvSpPr txBox="1"/>
          <p:nvPr/>
        </p:nvSpPr>
        <p:spPr>
          <a:xfrm>
            <a:off x="2172522" y="5217021"/>
            <a:ext cx="3076483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MSB: Most Significant Bit</a:t>
            </a:r>
          </a:p>
          <a:p>
            <a:r>
              <a:rPr lang="en-US" sz="2000" dirty="0"/>
              <a:t>LSB: Least Significant Bit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933595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sang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45623-5875-C614-A4BA-3C83E0735DA4}"/>
              </a:ext>
            </a:extLst>
          </p:cNvPr>
          <p:cNvSpPr txBox="1"/>
          <p:nvPr/>
        </p:nvSpPr>
        <p:spPr>
          <a:xfrm>
            <a:off x="5814060" y="1518068"/>
            <a:ext cx="285687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Dấu</a:t>
            </a:r>
            <a:r>
              <a:rPr lang="en-US" sz="2400" dirty="0"/>
              <a:t> </a:t>
            </a:r>
            <a:r>
              <a:rPr lang="en-US" sz="2400" dirty="0" err="1"/>
              <a:t>chấm</a:t>
            </a:r>
            <a:r>
              <a:rPr lang="en-US" sz="2400" dirty="0"/>
              <a:t> </a:t>
            </a:r>
            <a:r>
              <a:rPr lang="en-US" sz="2400" dirty="0" err="1"/>
              <a:t>nhị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endParaRPr lang="vi-V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13">
                <a:extLst>
                  <a:ext uri="{FF2B5EF4-FFF2-40B4-BE49-F238E27FC236}">
                    <a16:creationId xmlns:a16="http://schemas.microsoft.com/office/drawing/2014/main" id="{5F45F863-7B44-278C-6482-BB44E761C8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7179216"/>
                  </p:ext>
                </p:extLst>
              </p:nvPr>
            </p:nvGraphicFramePr>
            <p:xfrm>
              <a:off x="2033143" y="2549534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13">
                <a:extLst>
                  <a:ext uri="{FF2B5EF4-FFF2-40B4-BE49-F238E27FC236}">
                    <a16:creationId xmlns:a16="http://schemas.microsoft.com/office/drawing/2014/main" id="{5F45F863-7B44-278C-6482-BB44E761C8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7179216"/>
                  </p:ext>
                </p:extLst>
              </p:nvPr>
            </p:nvGraphicFramePr>
            <p:xfrm>
              <a:off x="2033143" y="2549534"/>
              <a:ext cx="7368720" cy="14726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FF20FF9-2B88-084F-1D60-6026C26BFC29}"/>
              </a:ext>
            </a:extLst>
          </p:cNvPr>
          <p:cNvCxnSpPr>
            <a:cxnSpLocks/>
            <a:endCxn id="3" idx="1"/>
          </p:cNvCxnSpPr>
          <p:nvPr/>
        </p:nvCxnSpPr>
        <p:spPr>
          <a:xfrm rot="5400000" flipH="1" flipV="1">
            <a:off x="4999703" y="2200289"/>
            <a:ext cx="1265746" cy="362968"/>
          </a:xfrm>
          <a:prstGeom prst="bentConnector2">
            <a:avLst/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36F2694-D620-6985-9265-DBEC3A614E44}"/>
              </a:ext>
            </a:extLst>
          </p:cNvPr>
          <p:cNvSpPr txBox="1"/>
          <p:nvPr/>
        </p:nvSpPr>
        <p:spPr>
          <a:xfrm>
            <a:off x="4443994" y="4574961"/>
            <a:ext cx="220284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endParaRPr lang="vi-V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9DDE2-8EC0-AB3C-A5E3-2784767B989B}"/>
              </a:ext>
            </a:extLst>
          </p:cNvPr>
          <p:cNvSpPr txBox="1"/>
          <p:nvPr/>
        </p:nvSpPr>
        <p:spPr>
          <a:xfrm>
            <a:off x="2033144" y="1490120"/>
            <a:ext cx="2970685" cy="76944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nhị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, b=2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Ví</a:t>
            </a:r>
            <a:r>
              <a:rPr lang="en-US" sz="2200" dirty="0"/>
              <a:t> </a:t>
            </a:r>
            <a:r>
              <a:rPr lang="en-US" sz="2200" dirty="0" err="1"/>
              <a:t>dụ</a:t>
            </a:r>
            <a:r>
              <a:rPr lang="en-US" sz="2200" dirty="0"/>
              <a:t>: 1001.11011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endParaRPr lang="vi-VN" sz="2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7D4F25-6F24-47A6-0AAD-3593EC729500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3999221" y="4039244"/>
            <a:ext cx="1546197" cy="53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1B79C3-9B24-4C48-7D75-638BDC81035D}"/>
              </a:ext>
            </a:extLst>
          </p:cNvPr>
          <p:cNvCxnSpPr>
            <a:stCxn id="11" idx="0"/>
          </p:cNvCxnSpPr>
          <p:nvPr/>
        </p:nvCxnSpPr>
        <p:spPr>
          <a:xfrm flipV="1">
            <a:off x="5545418" y="4022200"/>
            <a:ext cx="1101423" cy="552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4609939-AF38-4CDA-5849-62B9E0832139}"/>
              </a:ext>
            </a:extLst>
          </p:cNvPr>
          <p:cNvSpPr txBox="1"/>
          <p:nvPr/>
        </p:nvSpPr>
        <p:spPr>
          <a:xfrm>
            <a:off x="1277808" y="3138090"/>
            <a:ext cx="740908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MSB</a:t>
            </a:r>
            <a:endParaRPr lang="vi-V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8397C-92AE-56B8-DE5B-57530DD53F89}"/>
              </a:ext>
            </a:extLst>
          </p:cNvPr>
          <p:cNvSpPr txBox="1"/>
          <p:nvPr/>
        </p:nvSpPr>
        <p:spPr>
          <a:xfrm>
            <a:off x="9416290" y="3087388"/>
            <a:ext cx="67037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LSB</a:t>
            </a:r>
            <a:endParaRPr lang="vi-V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5EB2A2-79FF-A875-27C9-C2784C36F603}"/>
              </a:ext>
            </a:extLst>
          </p:cNvPr>
          <p:cNvSpPr txBox="1"/>
          <p:nvPr/>
        </p:nvSpPr>
        <p:spPr>
          <a:xfrm>
            <a:off x="2004882" y="5110677"/>
            <a:ext cx="3076483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MSB: Most Significant Bit</a:t>
            </a:r>
          </a:p>
          <a:p>
            <a:r>
              <a:rPr lang="en-US" sz="2000" dirty="0"/>
              <a:t>LSB: Least Significant Bit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2309327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sang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20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13">
                <a:extLst>
                  <a:ext uri="{FF2B5EF4-FFF2-40B4-BE49-F238E27FC236}">
                    <a16:creationId xmlns:a16="http://schemas.microsoft.com/office/drawing/2014/main" id="{790D3EDE-5B21-3944-F5C7-E3A6D95914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9842632"/>
                  </p:ext>
                </p:extLst>
              </p:nvPr>
            </p:nvGraphicFramePr>
            <p:xfrm>
              <a:off x="2253581" y="2686694"/>
              <a:ext cx="7368720" cy="19771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744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13">
                <a:extLst>
                  <a:ext uri="{FF2B5EF4-FFF2-40B4-BE49-F238E27FC236}">
                    <a16:creationId xmlns:a16="http://schemas.microsoft.com/office/drawing/2014/main" id="{790D3EDE-5B21-3944-F5C7-E3A6D95914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9842632"/>
                  </p:ext>
                </p:extLst>
              </p:nvPr>
            </p:nvGraphicFramePr>
            <p:xfrm>
              <a:off x="2253581" y="2686694"/>
              <a:ext cx="7368720" cy="19771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7440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406CAC2-56EC-2F83-6977-6280B2932562}"/>
              </a:ext>
            </a:extLst>
          </p:cNvPr>
          <p:cNvSpPr txBox="1"/>
          <p:nvPr/>
        </p:nvSpPr>
        <p:spPr>
          <a:xfrm>
            <a:off x="2253582" y="1627280"/>
            <a:ext cx="2781531" cy="76944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nhị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, b=2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Ví</a:t>
            </a:r>
            <a:r>
              <a:rPr lang="en-US" sz="2200" dirty="0"/>
              <a:t> </a:t>
            </a:r>
            <a:r>
              <a:rPr lang="en-US" sz="2200" dirty="0" err="1"/>
              <a:t>dụ</a:t>
            </a:r>
            <a:r>
              <a:rPr lang="en-US" sz="2200" dirty="0"/>
              <a:t>: 1001.11011</a:t>
            </a:r>
            <a:endParaRPr lang="vi-V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B1E1D-9282-6BC9-4277-3510A408B3D5}"/>
              </a:ext>
            </a:extLst>
          </p:cNvPr>
          <p:cNvSpPr txBox="1"/>
          <p:nvPr/>
        </p:nvSpPr>
        <p:spPr>
          <a:xfrm>
            <a:off x="1498246" y="3275250"/>
            <a:ext cx="740908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MSB</a:t>
            </a:r>
            <a:endParaRPr lang="vi-V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248C7-EAA3-8B2F-58EC-FFA8E04DF588}"/>
              </a:ext>
            </a:extLst>
          </p:cNvPr>
          <p:cNvSpPr txBox="1"/>
          <p:nvPr/>
        </p:nvSpPr>
        <p:spPr>
          <a:xfrm>
            <a:off x="1839426" y="4953848"/>
            <a:ext cx="7797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1001.11011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/>
              <a:t>  = 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3</a:t>
            </a:r>
            <a:r>
              <a:rPr lang="en-US" sz="2000" dirty="0"/>
              <a:t> + </a:t>
            </a:r>
            <a:r>
              <a:rPr lang="en-US" sz="2000" dirty="0">
                <a:solidFill>
                  <a:srgbClr val="FF0000"/>
                </a:solidFill>
              </a:rPr>
              <a:t>0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2 </a:t>
            </a:r>
            <a:r>
              <a:rPr lang="en-US" sz="2000" dirty="0"/>
              <a:t>+ </a:t>
            </a:r>
            <a:r>
              <a:rPr lang="en-US" sz="2000" dirty="0">
                <a:solidFill>
                  <a:srgbClr val="FF0000"/>
                </a:solidFill>
              </a:rPr>
              <a:t>0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1 </a:t>
            </a:r>
            <a:r>
              <a:rPr lang="en-US" sz="2000" dirty="0"/>
              <a:t>+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0 </a:t>
            </a:r>
          </a:p>
          <a:p>
            <a:r>
              <a:rPr lang="en-US" sz="2000" dirty="0"/>
              <a:t>                          +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-1</a:t>
            </a:r>
            <a:r>
              <a:rPr lang="en-US" sz="2000" dirty="0"/>
              <a:t> +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-2</a:t>
            </a:r>
            <a:r>
              <a:rPr lang="en-US" sz="2000" dirty="0"/>
              <a:t> + </a:t>
            </a:r>
            <a:r>
              <a:rPr lang="en-US" sz="2000" dirty="0">
                <a:solidFill>
                  <a:srgbClr val="FF0000"/>
                </a:solidFill>
              </a:rPr>
              <a:t>0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-3</a:t>
            </a:r>
            <a:r>
              <a:rPr lang="en-US" sz="2000" dirty="0"/>
              <a:t> +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-4</a:t>
            </a:r>
            <a:r>
              <a:rPr lang="en-US" sz="2000" dirty="0"/>
              <a:t> +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*2</a:t>
            </a:r>
            <a:r>
              <a:rPr lang="en-US" sz="2000" baseline="30000" dirty="0">
                <a:solidFill>
                  <a:srgbClr val="0000CC"/>
                </a:solidFill>
              </a:rPr>
              <a:t>-5 </a:t>
            </a:r>
            <a:r>
              <a:rPr lang="en-US" sz="2000" dirty="0"/>
              <a:t> = 9.</a:t>
            </a:r>
            <a:r>
              <a:rPr 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84375 </a:t>
            </a:r>
            <a:r>
              <a:rPr lang="en-US" sz="20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  <a:r>
              <a:rPr lang="en-US" sz="2000" dirty="0"/>
              <a:t> </a:t>
            </a:r>
            <a:endParaRPr lang="en-US" sz="2000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64160-80E0-A2EA-BD28-13C127A6C96C}"/>
              </a:ext>
            </a:extLst>
          </p:cNvPr>
          <p:cNvSpPr txBox="1"/>
          <p:nvPr/>
        </p:nvSpPr>
        <p:spPr>
          <a:xfrm>
            <a:off x="9636728" y="3224548"/>
            <a:ext cx="67037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LSB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5017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lục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sang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21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13">
                <a:extLst>
                  <a:ext uri="{FF2B5EF4-FFF2-40B4-BE49-F238E27FC236}">
                    <a16:creationId xmlns:a16="http://schemas.microsoft.com/office/drawing/2014/main" id="{9A47B270-6DD7-B166-B328-3F03F5C8B0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296355"/>
                  </p:ext>
                </p:extLst>
              </p:nvPr>
            </p:nvGraphicFramePr>
            <p:xfrm>
              <a:off x="2307463" y="2558226"/>
              <a:ext cx="7368720" cy="19771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744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13">
                <a:extLst>
                  <a:ext uri="{FF2B5EF4-FFF2-40B4-BE49-F238E27FC236}">
                    <a16:creationId xmlns:a16="http://schemas.microsoft.com/office/drawing/2014/main" id="{9A47B270-6DD7-B166-B328-3F03F5C8B0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296355"/>
                  </p:ext>
                </p:extLst>
              </p:nvPr>
            </p:nvGraphicFramePr>
            <p:xfrm>
              <a:off x="2307463" y="2558226"/>
              <a:ext cx="7368720" cy="19771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14060">
                      <a:extLst>
                        <a:ext uri="{9D8B030D-6E8A-4147-A177-3AD203B41FA5}">
                          <a16:colId xmlns:a16="http://schemas.microsoft.com/office/drawing/2014/main" val="3892947210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4612300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78612179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383795443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568236485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882376332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457332267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59825088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931271824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21805156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1202533429"/>
                        </a:ext>
                      </a:extLst>
                    </a:gridCol>
                    <a:gridCol w="614060">
                      <a:extLst>
                        <a:ext uri="{9D8B030D-6E8A-4147-A177-3AD203B41FA5}">
                          <a16:colId xmlns:a16="http://schemas.microsoft.com/office/drawing/2014/main" val="2033898632"/>
                        </a:ext>
                      </a:extLst>
                    </a:gridCol>
                  </a:tblGrid>
                  <a:tr h="46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..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-2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-3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-4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-5</a:t>
                          </a:r>
                          <a:endParaRPr lang="vi-VN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130271"/>
                      </a:ext>
                    </a:extLst>
                  </a:tr>
                  <a:tr h="500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240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714759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vi-V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077643"/>
                      </a:ext>
                    </a:extLst>
                  </a:tr>
                  <a:tr h="504514"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.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vi-V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vi-V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7440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60726FE-2735-09EC-C926-326A4CA12F53}"/>
              </a:ext>
            </a:extLst>
          </p:cNvPr>
          <p:cNvSpPr txBox="1"/>
          <p:nvPr/>
        </p:nvSpPr>
        <p:spPr>
          <a:xfrm>
            <a:off x="2307464" y="1498812"/>
            <a:ext cx="3401893" cy="80021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thập</a:t>
            </a:r>
            <a:r>
              <a:rPr lang="en-US" sz="2200" dirty="0"/>
              <a:t> </a:t>
            </a:r>
            <a:r>
              <a:rPr lang="en-US" sz="2200" dirty="0" err="1"/>
              <a:t>lục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, b=16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Ví</a:t>
            </a:r>
            <a:r>
              <a:rPr lang="en-US" sz="2200" dirty="0"/>
              <a:t> </a:t>
            </a:r>
            <a:r>
              <a:rPr lang="en-US" sz="2200" dirty="0" err="1"/>
              <a:t>dụ</a:t>
            </a:r>
            <a:r>
              <a:rPr lang="en-US" sz="2200" dirty="0"/>
              <a:t>: </a:t>
            </a:r>
            <a:r>
              <a:rPr lang="en-US" sz="2400" dirty="0"/>
              <a:t>3BA</a:t>
            </a:r>
            <a:r>
              <a:rPr lang="en-US" sz="2400" baseline="-25000" dirty="0">
                <a:solidFill>
                  <a:srgbClr val="FF0000"/>
                </a:solidFill>
              </a:rPr>
              <a:t>16</a:t>
            </a:r>
            <a:endParaRPr lang="vi-V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01804-E92F-5BC4-780A-E2E59F4D4064}"/>
              </a:ext>
            </a:extLst>
          </p:cNvPr>
          <p:cNvSpPr txBox="1"/>
          <p:nvPr/>
        </p:nvSpPr>
        <p:spPr>
          <a:xfrm>
            <a:off x="1552128" y="3146782"/>
            <a:ext cx="740908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MSB</a:t>
            </a:r>
            <a:endParaRPr lang="vi-V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B6C05-FE68-3F94-FE45-01BFE3ACE5D6}"/>
              </a:ext>
            </a:extLst>
          </p:cNvPr>
          <p:cNvSpPr txBox="1"/>
          <p:nvPr/>
        </p:nvSpPr>
        <p:spPr>
          <a:xfrm>
            <a:off x="9690610" y="3096080"/>
            <a:ext cx="67037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LSB</a:t>
            </a:r>
            <a:endParaRPr lang="vi-V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4F0B93-6DD3-7403-39ED-B32B94AFD7C2}"/>
              </a:ext>
            </a:extLst>
          </p:cNvPr>
          <p:cNvSpPr txBox="1"/>
          <p:nvPr/>
        </p:nvSpPr>
        <p:spPr>
          <a:xfrm>
            <a:off x="3221863" y="4688939"/>
            <a:ext cx="1561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3BA</a:t>
            </a:r>
            <a:r>
              <a:rPr lang="en-US" sz="2800" baseline="-25000" dirty="0">
                <a:solidFill>
                  <a:srgbClr val="FF0000"/>
                </a:solidFill>
              </a:rPr>
              <a:t>16</a:t>
            </a:r>
            <a:r>
              <a:rPr lang="en-US" sz="2800" dirty="0"/>
              <a:t> = </a:t>
            </a:r>
            <a:endParaRPr lang="vi-VN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93E14-51C8-55AE-74DF-6D8B05223D9A}"/>
              </a:ext>
            </a:extLst>
          </p:cNvPr>
          <p:cNvSpPr/>
          <p:nvPr/>
        </p:nvSpPr>
        <p:spPr>
          <a:xfrm>
            <a:off x="4593349" y="4688939"/>
            <a:ext cx="1981200" cy="5334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Hệ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10</a:t>
            </a:r>
            <a:endParaRPr lang="vi-V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02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hệ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0"/>
            <a:ext cx="10843463" cy="5008209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  <a:defRPr/>
            </a:pPr>
            <a:r>
              <a:rPr lang="vi-VN" sz="2800" dirty="0"/>
              <a:t>Với số nguyên dương trong hệ thập phân (cách 1):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Chia số thập phân với 2 và sau đó viết ra phần dư còn lại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Chia cho đến khi có thương số là 0.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Phần số dư đầu tiên gọi là LSB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Phần số dư cuối cùng gọi là MSB</a:t>
            </a:r>
          </a:p>
          <a:p>
            <a:endParaRPr lang="vi-V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384781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/>
              <a:t>Ví dụ: 25</a:t>
            </a:r>
            <a:r>
              <a:rPr lang="en-US" baseline="-25000">
                <a:solidFill>
                  <a:srgbClr val="FF0000"/>
                </a:solidFill>
              </a:rPr>
              <a:t>10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 Số nhị phân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23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13" name="Picture 6" descr="fg02_00000_eq002005">
            <a:extLst>
              <a:ext uri="{FF2B5EF4-FFF2-40B4-BE49-F238E27FC236}">
                <a16:creationId xmlns:a16="http://schemas.microsoft.com/office/drawing/2014/main" id="{29163A8C-5BCF-EF9E-F4A8-4D89DCA0DF0C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1461967"/>
            <a:ext cx="5486400" cy="496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471F-44A7-A4AD-023A-ECC4D7C93423}"/>
              </a:ext>
            </a:extLst>
          </p:cNvPr>
          <p:cNvSpPr/>
          <p:nvPr/>
        </p:nvSpPr>
        <p:spPr>
          <a:xfrm>
            <a:off x="3962400" y="2127837"/>
            <a:ext cx="5105400" cy="441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276790-CF89-24DF-3970-E9F142B85277}"/>
              </a:ext>
            </a:extLst>
          </p:cNvPr>
          <p:cNvSpPr/>
          <p:nvPr/>
        </p:nvSpPr>
        <p:spPr>
          <a:xfrm>
            <a:off x="3962400" y="2985967"/>
            <a:ext cx="4724400" cy="356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2A37F8-4E6A-055C-769E-6B5DA6B56FF1}"/>
              </a:ext>
            </a:extLst>
          </p:cNvPr>
          <p:cNvSpPr/>
          <p:nvPr/>
        </p:nvSpPr>
        <p:spPr>
          <a:xfrm>
            <a:off x="3962400" y="4738568"/>
            <a:ext cx="3810000" cy="1662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hệ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843463" cy="5008209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  <a:defRPr/>
            </a:pPr>
            <a:r>
              <a:rPr lang="vi-VN" sz="2800" dirty="0"/>
              <a:t>Với số nguyên dương trong hệ thập phân (cách 2):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Phân tích số nguyên dương thành tổng của các lũy thừa 2</a:t>
            </a:r>
          </a:p>
          <a:p>
            <a:pPr marL="685800" lvl="2">
              <a:spcBef>
                <a:spcPts val="1000"/>
              </a:spcBef>
              <a:defRPr/>
            </a:pPr>
            <a:r>
              <a:rPr lang="vi-VN" sz="2400" dirty="0"/>
              <a:t>Tìm lũy thừa 2 lớn nhất trước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Số mũ của các lũy thừa 2 chính là vị trí mà bit có trọng số tương ứng bằng 1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vi-VN" sz="2800" dirty="0"/>
              <a:t>Ví dụ</a:t>
            </a:r>
            <a:r>
              <a:rPr lang="vi-VN" sz="2800"/>
              <a:t>: 2</a:t>
            </a:r>
            <a:r>
              <a:rPr lang="en-US" sz="2800"/>
              <a:t>3</a:t>
            </a:r>
            <a:endParaRPr lang="vi-VN" sz="2800" dirty="0"/>
          </a:p>
          <a:p>
            <a:pPr marL="685800" lvl="2">
              <a:spcBef>
                <a:spcPts val="1000"/>
              </a:spcBef>
              <a:defRPr/>
            </a:pPr>
            <a:r>
              <a:rPr lang="vi-VN" sz="2400" dirty="0"/>
              <a:t>23 = 2</a:t>
            </a:r>
            <a:r>
              <a:rPr lang="vi-VN" sz="2400" baseline="30000" dirty="0"/>
              <a:t>4</a:t>
            </a:r>
            <a:r>
              <a:rPr lang="vi-VN" sz="2400" dirty="0"/>
              <a:t> + 2</a:t>
            </a:r>
            <a:r>
              <a:rPr lang="vi-VN" sz="2400" baseline="30000" dirty="0"/>
              <a:t>2</a:t>
            </a:r>
            <a:r>
              <a:rPr lang="vi-VN" sz="2400" dirty="0"/>
              <a:t> + 2</a:t>
            </a:r>
            <a:r>
              <a:rPr lang="vi-VN" sz="2400" baseline="30000" dirty="0"/>
              <a:t>1 </a:t>
            </a:r>
            <a:r>
              <a:rPr lang="vi-VN" sz="2400" dirty="0"/>
              <a:t>+ 2</a:t>
            </a:r>
            <a:r>
              <a:rPr lang="vi-VN" sz="2400" baseline="30000" dirty="0"/>
              <a:t>0</a:t>
            </a:r>
            <a:r>
              <a:rPr lang="vi-VN" sz="2400" dirty="0"/>
              <a:t> </a:t>
            </a:r>
          </a:p>
          <a:p>
            <a:pPr marL="228600" lvl="1">
              <a:spcBef>
                <a:spcPts val="1000"/>
              </a:spcBef>
              <a:defRPr/>
            </a:pPr>
            <a:endParaRPr lang="vi-VN" sz="2800" dirty="0"/>
          </a:p>
          <a:p>
            <a:pPr marL="228600" lvl="1">
              <a:spcBef>
                <a:spcPts val="1000"/>
              </a:spcBef>
              <a:defRPr/>
            </a:pPr>
            <a:endParaRPr lang="vi-VN" sz="2800" dirty="0"/>
          </a:p>
          <a:p>
            <a:pPr marL="228600" lvl="1">
              <a:spcBef>
                <a:spcPts val="1000"/>
              </a:spcBef>
              <a:defRPr/>
            </a:pPr>
            <a:endParaRPr lang="vi-VN" sz="2800" dirty="0"/>
          </a:p>
          <a:p>
            <a:endParaRPr lang="vi-V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24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3EE767-DB24-470C-0E86-5AD7CAE04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769615"/>
              </p:ext>
            </p:extLst>
          </p:nvPr>
        </p:nvGraphicFramePr>
        <p:xfrm>
          <a:off x="5495842" y="4710554"/>
          <a:ext cx="3051810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362">
                  <a:extLst>
                    <a:ext uri="{9D8B030D-6E8A-4147-A177-3AD203B41FA5}">
                      <a16:colId xmlns:a16="http://schemas.microsoft.com/office/drawing/2014/main" val="2829388763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3249014998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717401427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2865899241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253629964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1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31446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754314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B310AA1-1BE6-CF1F-D3DC-F9BB82688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541554"/>
              </p:ext>
            </p:extLst>
          </p:nvPr>
        </p:nvGraphicFramePr>
        <p:xfrm>
          <a:off x="5495842" y="5099174"/>
          <a:ext cx="3051810" cy="388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362">
                  <a:extLst>
                    <a:ext uri="{9D8B030D-6E8A-4147-A177-3AD203B41FA5}">
                      <a16:colId xmlns:a16="http://schemas.microsoft.com/office/drawing/2014/main" val="1869798306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4258838672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2631328241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180597758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3464637439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536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7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24AE-2FE1-B89B-05F7-9498F455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hệ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BD106-1F97-9430-21D8-D5F3BCEC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B5BED-B7B2-5604-0D02-FE153EDA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25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31322F-A976-92C1-F726-27B37106886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E574FEB9-BA38-78F5-F9CA-0A3B478544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0945721"/>
              </p:ext>
            </p:extLst>
          </p:nvPr>
        </p:nvGraphicFramePr>
        <p:xfrm>
          <a:off x="3904890" y="1908810"/>
          <a:ext cx="4382220" cy="3040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1110">
                  <a:extLst>
                    <a:ext uri="{9D8B030D-6E8A-4147-A177-3AD203B41FA5}">
                      <a16:colId xmlns:a16="http://schemas.microsoft.com/office/drawing/2014/main" val="2695011901"/>
                    </a:ext>
                  </a:extLst>
                </a:gridCol>
                <a:gridCol w="2191110">
                  <a:extLst>
                    <a:ext uri="{9D8B030D-6E8A-4147-A177-3AD203B41FA5}">
                      <a16:colId xmlns:a16="http://schemas.microsoft.com/office/drawing/2014/main" val="155321607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Thập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Nhị phân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7842702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1249279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6379309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7953027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79447494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3155429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5690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328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thập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843463" cy="2416059"/>
          </a:xfrm>
        </p:spPr>
        <p:txBody>
          <a:bodyPr>
            <a:normAutofit/>
          </a:bodyPr>
          <a:lstStyle/>
          <a:p>
            <a:r>
              <a:rPr lang="vi-VN" sz="3200" dirty="0"/>
              <a:t>Chia số thập phân cho 16 và viết ra phần dư còn lại.</a:t>
            </a:r>
            <a:endParaRPr lang="en-US" sz="3200" dirty="0"/>
          </a:p>
          <a:p>
            <a:r>
              <a:rPr lang="vi-VN" sz="3200" dirty="0"/>
              <a:t>Chia cho đến khi có thương số là 0.</a:t>
            </a:r>
          </a:p>
          <a:p>
            <a:r>
              <a:rPr lang="vi-VN" sz="3200" dirty="0"/>
              <a:t>Phần số dư đầu tiên gọi là LSD</a:t>
            </a:r>
          </a:p>
          <a:p>
            <a:r>
              <a:rPr lang="vi-VN" sz="3200" dirty="0"/>
              <a:t>Phần số dư cuối cùng gọi là MSD</a:t>
            </a:r>
          </a:p>
          <a:p>
            <a:endParaRPr lang="vi-V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44681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/>
              <a:t>Ví dụ: 423</a:t>
            </a:r>
            <a:r>
              <a:rPr lang="en-US" baseline="-25000">
                <a:solidFill>
                  <a:srgbClr val="FF0000"/>
                </a:solidFill>
              </a:rPr>
              <a:t>10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 Số thập lục phân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3" name="Picture 7" descr="fg02_00000_eq002018">
            <a:extLst>
              <a:ext uri="{FF2B5EF4-FFF2-40B4-BE49-F238E27FC236}">
                <a16:creationId xmlns:a16="http://schemas.microsoft.com/office/drawing/2014/main" id="{2C44F61F-B61E-9186-A54C-85574627D4B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3766" y="1974994"/>
            <a:ext cx="5465312" cy="329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6E2987-BEE7-3089-A58C-AA73B92E1196}"/>
              </a:ext>
            </a:extLst>
          </p:cNvPr>
          <p:cNvSpPr/>
          <p:nvPr/>
        </p:nvSpPr>
        <p:spPr>
          <a:xfrm>
            <a:off x="3543766" y="2717066"/>
            <a:ext cx="4958860" cy="2553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922331-E09C-F654-B300-B62B7E342324}"/>
              </a:ext>
            </a:extLst>
          </p:cNvPr>
          <p:cNvSpPr/>
          <p:nvPr/>
        </p:nvSpPr>
        <p:spPr>
          <a:xfrm>
            <a:off x="3543766" y="3693599"/>
            <a:ext cx="4758396" cy="1577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6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24AE-2FE1-B89B-05F7-9498F455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 -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hệ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BD106-1F97-9430-21D8-D5F3BCEC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B5BED-B7B2-5604-0D02-FE153EDA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28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31322F-A976-92C1-F726-27B37106886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E574FEB9-BA38-78F5-F9CA-0A3B478544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8749508"/>
              </p:ext>
            </p:extLst>
          </p:nvPr>
        </p:nvGraphicFramePr>
        <p:xfrm>
          <a:off x="3904890" y="1908810"/>
          <a:ext cx="4382220" cy="3040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1110">
                  <a:extLst>
                    <a:ext uri="{9D8B030D-6E8A-4147-A177-3AD203B41FA5}">
                      <a16:colId xmlns:a16="http://schemas.microsoft.com/office/drawing/2014/main" val="2695011901"/>
                    </a:ext>
                  </a:extLst>
                </a:gridCol>
                <a:gridCol w="2191110">
                  <a:extLst>
                    <a:ext uri="{9D8B030D-6E8A-4147-A177-3AD203B41FA5}">
                      <a16:colId xmlns:a16="http://schemas.microsoft.com/office/drawing/2014/main" val="155321607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Thập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Thập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lục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7842702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1249279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6379309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7953027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79447494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3155429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5690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536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lục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nhị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170D94-97E5-F2CC-1EF0-6E64D9B7D3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5246793"/>
              </p:ext>
            </p:extLst>
          </p:nvPr>
        </p:nvGraphicFramePr>
        <p:xfrm>
          <a:off x="1748202" y="1691034"/>
          <a:ext cx="8404070" cy="1515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0814">
                  <a:extLst>
                    <a:ext uri="{9D8B030D-6E8A-4147-A177-3AD203B41FA5}">
                      <a16:colId xmlns:a16="http://schemas.microsoft.com/office/drawing/2014/main" val="942721178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2092973139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498772638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426288226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91412433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581743006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28689244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969235644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958551256"/>
                    </a:ext>
                  </a:extLst>
                </a:gridCol>
              </a:tblGrid>
              <a:tr h="5051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597282"/>
                  </a:ext>
                </a:extLst>
              </a:tr>
              <a:tr h="5051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934784"/>
                  </a:ext>
                </a:extLst>
              </a:tr>
              <a:tr h="5051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37888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A9308A3-33DE-D0A2-79DE-41271CC20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244625"/>
              </p:ext>
            </p:extLst>
          </p:nvPr>
        </p:nvGraphicFramePr>
        <p:xfrm>
          <a:off x="1748202" y="3524504"/>
          <a:ext cx="8404070" cy="1717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0814">
                  <a:extLst>
                    <a:ext uri="{9D8B030D-6E8A-4147-A177-3AD203B41FA5}">
                      <a16:colId xmlns:a16="http://schemas.microsoft.com/office/drawing/2014/main" val="103498787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30019560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2386422772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404169967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92758926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1986497160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1934638520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312312952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870821754"/>
                    </a:ext>
                  </a:extLst>
                </a:gridCol>
              </a:tblGrid>
              <a:tr h="5723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46284"/>
                  </a:ext>
                </a:extLst>
              </a:tr>
              <a:tr h="5723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27820"/>
                  </a:ext>
                </a:extLst>
              </a:tr>
              <a:tr h="5723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582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26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/>
              <a:t>Ví dụ: A28</a:t>
            </a:r>
            <a:r>
              <a:rPr lang="en-US" baseline="-25000">
                <a:solidFill>
                  <a:srgbClr val="FF0000"/>
                </a:solidFill>
              </a:rPr>
              <a:t>16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 Nhị phân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30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4714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sang </a:t>
            </a:r>
            <a:r>
              <a:rPr lang="en-US" dirty="0" err="1">
                <a:sym typeface="Wingdings" panose="05000000000000000000" pitchFamily="2" charset="2"/>
              </a:rPr>
              <a:t>thập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31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170D94-97E5-F2CC-1EF0-6E64D9B7D3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9199822"/>
              </p:ext>
            </p:extLst>
          </p:nvPr>
        </p:nvGraphicFramePr>
        <p:xfrm>
          <a:off x="1644030" y="2671252"/>
          <a:ext cx="8404070" cy="1515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0814">
                  <a:extLst>
                    <a:ext uri="{9D8B030D-6E8A-4147-A177-3AD203B41FA5}">
                      <a16:colId xmlns:a16="http://schemas.microsoft.com/office/drawing/2014/main" val="942721178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2092973139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498772638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426288226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91412433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581743006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28689244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969235644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958551256"/>
                    </a:ext>
                  </a:extLst>
                </a:gridCol>
              </a:tblGrid>
              <a:tr h="5051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597282"/>
                  </a:ext>
                </a:extLst>
              </a:tr>
              <a:tr h="5051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934784"/>
                  </a:ext>
                </a:extLst>
              </a:tr>
              <a:tr h="5051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37888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A9308A3-33DE-D0A2-79DE-41271CC20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445069"/>
              </p:ext>
            </p:extLst>
          </p:nvPr>
        </p:nvGraphicFramePr>
        <p:xfrm>
          <a:off x="1644030" y="4504722"/>
          <a:ext cx="8404070" cy="1717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0814">
                  <a:extLst>
                    <a:ext uri="{9D8B030D-6E8A-4147-A177-3AD203B41FA5}">
                      <a16:colId xmlns:a16="http://schemas.microsoft.com/office/drawing/2014/main" val="103498787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30019560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2386422772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4041699671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92758926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1986497160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1934638520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312312952"/>
                    </a:ext>
                  </a:extLst>
                </a:gridCol>
                <a:gridCol w="840407">
                  <a:extLst>
                    <a:ext uri="{9D8B030D-6E8A-4147-A177-3AD203B41FA5}">
                      <a16:colId xmlns:a16="http://schemas.microsoft.com/office/drawing/2014/main" val="3870821754"/>
                    </a:ext>
                  </a:extLst>
                </a:gridCol>
              </a:tblGrid>
              <a:tr h="5723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46284"/>
                  </a:ext>
                </a:extLst>
              </a:tr>
              <a:tr h="5723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27820"/>
                  </a:ext>
                </a:extLst>
              </a:tr>
              <a:tr h="5723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vi-V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58259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82DD75B-B682-60C4-2968-DC84504D9194}"/>
              </a:ext>
            </a:extLst>
          </p:cNvPr>
          <p:cNvSpPr txBox="1"/>
          <p:nvPr/>
        </p:nvSpPr>
        <p:spPr>
          <a:xfrm>
            <a:off x="1142797" y="1127269"/>
            <a:ext cx="96141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VN" sz="2800" dirty="0">
                <a:latin typeface="Arial" panose="020B0604020202020204" pitchFamily="34" charset="0"/>
                <a:cs typeface="Arial" panose="020B0604020202020204" pitchFamily="34" charset="0"/>
              </a:rPr>
              <a:t>Gom số nhị phân từ phải sang trái thành các nhóm 4 bit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VN" sz="2800" dirty="0">
                <a:latin typeface="Arial" panose="020B0604020202020204" pitchFamily="34" charset="0"/>
                <a:cs typeface="Arial" panose="020B0604020202020204" pitchFamily="34" charset="0"/>
              </a:rPr>
              <a:t>Chuyển từ nhóm 4 bit thành các ký tự thập lục phân theo bảng bên dưới</a:t>
            </a:r>
          </a:p>
        </p:txBody>
      </p:sp>
    </p:spTree>
    <p:extLst>
      <p:ext uri="{BB962C8B-B14F-4D97-AF65-F5344CB8AC3E}">
        <p14:creationId xmlns:p14="http://schemas.microsoft.com/office/powerpoint/2010/main" val="3387908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10101101001101011011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Thập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phân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80144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28C0-5312-A2A0-EDF8-15FC5F5A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Quiz - Chuyển đổi các hệ cơ số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F7F6-BE31-2D8B-161B-A4A0DBAF2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marL="0" indent="0">
              <a:buNone/>
            </a:pPr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8D362-916E-3F48-91A9-ECFBCD4E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4A1E9-F0DA-D609-6C33-963E5E75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33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7B0A67-F71E-C5AA-E23A-11BBD370BA0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473934-631F-3E65-34BB-DEF781398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3766"/>
              </p:ext>
            </p:extLst>
          </p:nvPr>
        </p:nvGraphicFramePr>
        <p:xfrm>
          <a:off x="1530349" y="2569360"/>
          <a:ext cx="9131301" cy="2564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3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Decimal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Hexadecimal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n-US" sz="2800" b="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104">
                <a:tc>
                  <a:txBody>
                    <a:bodyPr/>
                    <a:lstStyle/>
                    <a:p>
                      <a:pPr algn="ctr"/>
                      <a:endParaRPr lang="en-US" sz="2800" b="0" cap="none" spc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104">
                <a:tc>
                  <a:txBody>
                    <a:bodyPr/>
                    <a:lstStyle/>
                    <a:p>
                      <a:pPr algn="ctr"/>
                      <a:endParaRPr lang="en-US" sz="2800" b="0" cap="none" spc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1AF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298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34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831311" cy="884656"/>
          </a:xfrm>
        </p:spPr>
        <p:txBody>
          <a:bodyPr>
            <a:normAutofit fontScale="92500"/>
          </a:bodyPr>
          <a:lstStyle/>
          <a:p>
            <a:r>
              <a:rPr lang="en-US" sz="4400" b="1"/>
              <a:t>Các phép toán trong hệ nhị phân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8766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phép toán trong hệ nhị phân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8184083" cy="5160527"/>
          </a:xfrm>
        </p:spPr>
        <p:txBody>
          <a:bodyPr>
            <a:normAutofit/>
          </a:bodyPr>
          <a:lstStyle/>
          <a:p>
            <a:r>
              <a:rPr lang="en-US"/>
              <a:t>Phép cộng</a:t>
            </a:r>
          </a:p>
          <a:p>
            <a:r>
              <a:rPr lang="en-US"/>
              <a:t>Phép trừ</a:t>
            </a:r>
          </a:p>
          <a:p>
            <a:r>
              <a:rPr lang="en-US"/>
              <a:t>Phép nhân</a:t>
            </a:r>
          </a:p>
          <a:p>
            <a:r>
              <a:rPr lang="en-US"/>
              <a:t>Phép chia</a:t>
            </a: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62301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Phép cộng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5AD20-3943-70E0-EE02-1EB1BE77A73B}"/>
              </a:ext>
            </a:extLst>
          </p:cNvPr>
          <p:cNvSpPr txBox="1"/>
          <p:nvPr/>
        </p:nvSpPr>
        <p:spPr>
          <a:xfrm>
            <a:off x="5109443" y="4958518"/>
            <a:ext cx="26580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/>
              <a:t>Nhớ</a:t>
            </a:r>
            <a:r>
              <a:rPr lang="en-US" i="1" baseline="-25000" err="1"/>
              <a:t>in</a:t>
            </a:r>
            <a:r>
              <a:rPr lang="en-US"/>
              <a:t>     	…0  1  1  0  0</a:t>
            </a:r>
          </a:p>
          <a:p>
            <a:r>
              <a:rPr lang="en-US" i="1"/>
              <a:t>A</a:t>
            </a:r>
            <a:r>
              <a:rPr lang="en-US"/>
              <a:t>        	…0  0  1  1  1</a:t>
            </a:r>
          </a:p>
          <a:p>
            <a:r>
              <a:rPr lang="en-US" i="1"/>
              <a:t>B</a:t>
            </a:r>
            <a:r>
              <a:rPr lang="en-US"/>
              <a:t>      	…0  0  1  1  0</a:t>
            </a:r>
          </a:p>
          <a:p>
            <a:r>
              <a:rPr lang="en-US" i="1" err="1"/>
              <a:t>Tổng</a:t>
            </a:r>
            <a:r>
              <a:rPr lang="en-US"/>
              <a:t>       	…0  1  1  0  1</a:t>
            </a:r>
          </a:p>
          <a:p>
            <a:r>
              <a:rPr lang="en-US" i="1" err="1"/>
              <a:t>Nhớ</a:t>
            </a:r>
            <a:r>
              <a:rPr lang="en-US" i="1" baseline="-25000" err="1"/>
              <a:t>out</a:t>
            </a:r>
            <a:r>
              <a:rPr lang="en-US"/>
              <a:t>   	…0  0  1  1  0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4BA5C-2E15-639D-6D2E-D7E1C60D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09" y="1412876"/>
            <a:ext cx="11523133" cy="4824413"/>
          </a:xfrm>
        </p:spPr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cộng</a:t>
            </a:r>
            <a:endParaRPr lang="en-US" dirty="0"/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7 + 6 (5 bit)</a:t>
            </a:r>
          </a:p>
          <a:p>
            <a:pPr marL="0" indent="0">
              <a:buNone/>
            </a:pPr>
            <a:r>
              <a:rPr lang="en-US" dirty="0"/>
              <a:t>				 </a:t>
            </a:r>
            <a:r>
              <a:rPr lang="en-US" sz="1800" dirty="0"/>
              <a:t>0 0 1 1 1</a:t>
            </a:r>
          </a:p>
          <a:p>
            <a:pPr marL="0" indent="0">
              <a:buNone/>
            </a:pPr>
            <a:r>
              <a:rPr lang="en-US" sz="1800" dirty="0"/>
              <a:t>				  0 0 1 1 0</a:t>
            </a:r>
          </a:p>
          <a:p>
            <a:pPr marL="0" indent="0">
              <a:buNone/>
            </a:pPr>
            <a:r>
              <a:rPr lang="en-US" sz="1800" dirty="0"/>
              <a:t>				  0 1 1 0 1</a:t>
            </a:r>
            <a:r>
              <a:rPr lang="en-US" sz="2400" dirty="0"/>
              <a:t> </a:t>
            </a:r>
          </a:p>
          <a:p>
            <a:pPr lvl="1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: a</a:t>
            </a:r>
            <a:r>
              <a:rPr lang="en-US" i="1" baseline="-25000" dirty="0"/>
              <a:t>n</a:t>
            </a:r>
            <a:r>
              <a:rPr lang="en-US" dirty="0"/>
              <a:t>a</a:t>
            </a:r>
            <a:r>
              <a:rPr lang="en-US" i="1" baseline="-25000" dirty="0"/>
              <a:t>n</a:t>
            </a:r>
            <a:r>
              <a:rPr lang="en-US" baseline="-25000" dirty="0"/>
              <a:t>-1</a:t>
            </a:r>
            <a:r>
              <a:rPr lang="en-US" dirty="0"/>
              <a:t>… a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0 </a:t>
            </a:r>
            <a:r>
              <a:rPr lang="en-US" dirty="0"/>
              <a:t>+ b</a:t>
            </a:r>
            <a:r>
              <a:rPr lang="en-US" i="1" baseline="-25000" dirty="0"/>
              <a:t>n</a:t>
            </a:r>
            <a:r>
              <a:rPr lang="en-US" dirty="0"/>
              <a:t>b</a:t>
            </a:r>
            <a:r>
              <a:rPr lang="en-US" i="1" baseline="-25000" dirty="0"/>
              <a:t>n</a:t>
            </a:r>
            <a:r>
              <a:rPr lang="en-US" baseline="-25000" dirty="0"/>
              <a:t>-1</a:t>
            </a:r>
            <a:r>
              <a:rPr lang="en-US" dirty="0"/>
              <a:t>…b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0</a:t>
            </a:r>
          </a:p>
          <a:p>
            <a:pPr lvl="2"/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lvl="2"/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bit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dồn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bit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 </a:t>
            </a:r>
            <a:r>
              <a:rPr lang="en-US" dirty="0" err="1"/>
              <a:t>kề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C4C59E1E-F0EB-3ED8-8886-A02C5223825C}"/>
              </a:ext>
            </a:extLst>
          </p:cNvPr>
          <p:cNvSpPr/>
          <p:nvPr/>
        </p:nvSpPr>
        <p:spPr>
          <a:xfrm>
            <a:off x="3781607" y="2664906"/>
            <a:ext cx="292963" cy="257452"/>
          </a:xfrm>
          <a:prstGeom prst="mathPlus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13872-796F-B064-A263-E6708AD14EC9}"/>
              </a:ext>
            </a:extLst>
          </p:cNvPr>
          <p:cNvCxnSpPr>
            <a:cxnSpLocks/>
          </p:cNvCxnSpPr>
          <p:nvPr/>
        </p:nvCxnSpPr>
        <p:spPr>
          <a:xfrm>
            <a:off x="4172985" y="3272540"/>
            <a:ext cx="1151045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us Sign 12">
            <a:extLst>
              <a:ext uri="{FF2B5EF4-FFF2-40B4-BE49-F238E27FC236}">
                <a16:creationId xmlns:a16="http://schemas.microsoft.com/office/drawing/2014/main" id="{7D8C085C-C623-AEE3-04F8-C0C903396182}"/>
              </a:ext>
            </a:extLst>
          </p:cNvPr>
          <p:cNvSpPr/>
          <p:nvPr/>
        </p:nvSpPr>
        <p:spPr>
          <a:xfrm>
            <a:off x="4834237" y="5171162"/>
            <a:ext cx="292963" cy="257452"/>
          </a:xfrm>
          <a:prstGeom prst="mathPlus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792096-315C-4A0A-276C-B4C2834D13B4}"/>
              </a:ext>
            </a:extLst>
          </p:cNvPr>
          <p:cNvCxnSpPr>
            <a:cxnSpLocks/>
          </p:cNvCxnSpPr>
          <p:nvPr/>
        </p:nvCxnSpPr>
        <p:spPr>
          <a:xfrm>
            <a:off x="5171590" y="5830789"/>
            <a:ext cx="2194121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6C6F87-DE6B-3AF6-28F8-2D021A3B3E7E}"/>
              </a:ext>
            </a:extLst>
          </p:cNvPr>
          <p:cNvCxnSpPr>
            <a:cxnSpLocks/>
          </p:cNvCxnSpPr>
          <p:nvPr/>
        </p:nvCxnSpPr>
        <p:spPr>
          <a:xfrm>
            <a:off x="7095335" y="5200650"/>
            <a:ext cx="197644" cy="96440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4DDBCF-0E6B-F002-A59B-479927E7B3A8}"/>
              </a:ext>
            </a:extLst>
          </p:cNvPr>
          <p:cNvCxnSpPr>
            <a:cxnSpLocks/>
          </p:cNvCxnSpPr>
          <p:nvPr/>
        </p:nvCxnSpPr>
        <p:spPr>
          <a:xfrm>
            <a:off x="6853301" y="5230359"/>
            <a:ext cx="197644" cy="96440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8F4038-41D3-5429-192B-1B4EEE277AEF}"/>
              </a:ext>
            </a:extLst>
          </p:cNvPr>
          <p:cNvCxnSpPr>
            <a:cxnSpLocks/>
          </p:cNvCxnSpPr>
          <p:nvPr/>
        </p:nvCxnSpPr>
        <p:spPr>
          <a:xfrm>
            <a:off x="6633462" y="5214822"/>
            <a:ext cx="197644" cy="96440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494449-F6B8-860D-3329-B76B6FB965D4}"/>
              </a:ext>
            </a:extLst>
          </p:cNvPr>
          <p:cNvCxnSpPr>
            <a:cxnSpLocks/>
          </p:cNvCxnSpPr>
          <p:nvPr/>
        </p:nvCxnSpPr>
        <p:spPr>
          <a:xfrm>
            <a:off x="6404745" y="5204163"/>
            <a:ext cx="197644" cy="96440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lus Sign 18">
            <a:extLst>
              <a:ext uri="{FF2B5EF4-FFF2-40B4-BE49-F238E27FC236}">
                <a16:creationId xmlns:a16="http://schemas.microsoft.com/office/drawing/2014/main" id="{508313B4-25CE-FFDF-014B-73C458270CDE}"/>
              </a:ext>
            </a:extLst>
          </p:cNvPr>
          <p:cNvSpPr/>
          <p:nvPr/>
        </p:nvSpPr>
        <p:spPr>
          <a:xfrm>
            <a:off x="4838857" y="5499051"/>
            <a:ext cx="292963" cy="257452"/>
          </a:xfrm>
          <a:prstGeom prst="mathPlus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5B89182-A4CB-50D2-1344-BB0CCB2CC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593751"/>
              </p:ext>
            </p:extLst>
          </p:nvPr>
        </p:nvGraphicFramePr>
        <p:xfrm>
          <a:off x="8547652" y="1174545"/>
          <a:ext cx="225361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759061695"/>
                    </a:ext>
                  </a:extLst>
                </a:gridCol>
                <a:gridCol w="392430">
                  <a:extLst>
                    <a:ext uri="{9D8B030D-6E8A-4147-A177-3AD203B41FA5}">
                      <a16:colId xmlns:a16="http://schemas.microsoft.com/office/drawing/2014/main" val="40643705"/>
                    </a:ext>
                  </a:extLst>
                </a:gridCol>
                <a:gridCol w="761885">
                  <a:extLst>
                    <a:ext uri="{9D8B030D-6E8A-4147-A177-3AD203B41FA5}">
                      <a16:colId xmlns:a16="http://schemas.microsoft.com/office/drawing/2014/main" val="1969377902"/>
                    </a:ext>
                  </a:extLst>
                </a:gridCol>
                <a:gridCol w="694170">
                  <a:extLst>
                    <a:ext uri="{9D8B030D-6E8A-4147-A177-3AD203B41FA5}">
                      <a16:colId xmlns:a16="http://schemas.microsoft.com/office/drawing/2014/main" val="1283799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Tổng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Nhớ</a:t>
                      </a:r>
                      <a:r>
                        <a:rPr lang="en-US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47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64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57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5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91597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C7C250E-FD58-04BA-8DB7-CEDEB923B5D9}"/>
              </a:ext>
            </a:extLst>
          </p:cNvPr>
          <p:cNvSpPr/>
          <p:nvPr/>
        </p:nvSpPr>
        <p:spPr>
          <a:xfrm>
            <a:off x="7155718" y="4988227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325A1-B9DD-5DE5-F173-BF573A980D7C}"/>
              </a:ext>
            </a:extLst>
          </p:cNvPr>
          <p:cNvSpPr/>
          <p:nvPr/>
        </p:nvSpPr>
        <p:spPr>
          <a:xfrm>
            <a:off x="6936879" y="4977023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6D4B23-C9FA-690C-95DC-D42FB9BE6114}"/>
              </a:ext>
            </a:extLst>
          </p:cNvPr>
          <p:cNvSpPr/>
          <p:nvPr/>
        </p:nvSpPr>
        <p:spPr>
          <a:xfrm>
            <a:off x="6688506" y="4988224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5CEA78-B4A1-F70C-08A9-307B8DD25C07}"/>
              </a:ext>
            </a:extLst>
          </p:cNvPr>
          <p:cNvSpPr/>
          <p:nvPr/>
        </p:nvSpPr>
        <p:spPr>
          <a:xfrm>
            <a:off x="6506389" y="4979596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2988C-F2F1-1E01-DE7B-0CE7A755EF34}"/>
              </a:ext>
            </a:extLst>
          </p:cNvPr>
          <p:cNvSpPr/>
          <p:nvPr/>
        </p:nvSpPr>
        <p:spPr>
          <a:xfrm>
            <a:off x="6274850" y="4977917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7764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Phép </a:t>
            </a:r>
            <a:r>
              <a:rPr lang="en-US"/>
              <a:t>trừ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2C9677-0AAE-355D-C327-6E112B8C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09" y="1355726"/>
            <a:ext cx="11523133" cy="4824413"/>
          </a:xfrm>
        </p:spPr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trừ</a:t>
            </a:r>
            <a:endParaRPr lang="en-US" dirty="0"/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6 - 3 (5 bit)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sz="1800" dirty="0"/>
              <a:t>0 0 1 1 0</a:t>
            </a:r>
          </a:p>
          <a:p>
            <a:pPr marL="0" indent="0">
              <a:buNone/>
            </a:pPr>
            <a:r>
              <a:rPr lang="en-US" sz="1800" dirty="0"/>
              <a:t>				0 0 0 1 1</a:t>
            </a:r>
          </a:p>
          <a:p>
            <a:pPr marL="0" indent="0">
              <a:buNone/>
            </a:pPr>
            <a:r>
              <a:rPr lang="en-US" sz="1800" dirty="0"/>
              <a:t>				0 0 0 1 1</a:t>
            </a:r>
            <a:r>
              <a:rPr lang="en-US" sz="2400" dirty="0"/>
              <a:t> </a:t>
            </a:r>
          </a:p>
          <a:p>
            <a:pPr lvl="1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: a</a:t>
            </a:r>
            <a:r>
              <a:rPr lang="en-US" i="1" baseline="-25000" dirty="0"/>
              <a:t>n</a:t>
            </a:r>
            <a:r>
              <a:rPr lang="en-US" dirty="0"/>
              <a:t>a</a:t>
            </a:r>
            <a:r>
              <a:rPr lang="en-US" i="1" baseline="-25000" dirty="0"/>
              <a:t>n</a:t>
            </a:r>
            <a:r>
              <a:rPr lang="en-US" baseline="-25000" dirty="0"/>
              <a:t>-1</a:t>
            </a:r>
            <a:r>
              <a:rPr lang="en-US" dirty="0"/>
              <a:t>… a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0 </a:t>
            </a:r>
            <a:r>
              <a:rPr lang="en-US" dirty="0"/>
              <a:t> - b</a:t>
            </a:r>
            <a:r>
              <a:rPr lang="en-US" i="1" baseline="-25000" dirty="0"/>
              <a:t>n</a:t>
            </a:r>
            <a:r>
              <a:rPr lang="en-US" dirty="0"/>
              <a:t>b</a:t>
            </a:r>
            <a:r>
              <a:rPr lang="en-US" i="1" baseline="-25000" dirty="0"/>
              <a:t>n</a:t>
            </a:r>
            <a:r>
              <a:rPr lang="en-US" baseline="-25000" dirty="0"/>
              <a:t>-1</a:t>
            </a:r>
            <a:r>
              <a:rPr lang="en-US" dirty="0"/>
              <a:t>…b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0</a:t>
            </a:r>
          </a:p>
          <a:p>
            <a:pPr lvl="2"/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lvl="2"/>
            <a:r>
              <a:rPr lang="en-US" dirty="0" err="1"/>
              <a:t>Các</a:t>
            </a:r>
            <a:r>
              <a:rPr lang="en-US" dirty="0"/>
              <a:t> bit m</a:t>
            </a:r>
            <a:r>
              <a:rPr lang="vi-VN" dirty="0"/>
              <a:t>ư</a:t>
            </a:r>
            <a:r>
              <a:rPr lang="en-US" dirty="0" err="1"/>
              <a:t>ợn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bit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dồn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bit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 </a:t>
            </a:r>
            <a:r>
              <a:rPr lang="en-US" dirty="0" err="1"/>
              <a:t>kề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001946-16DF-10FC-5522-E88BEAA1D894}"/>
              </a:ext>
            </a:extLst>
          </p:cNvPr>
          <p:cNvCxnSpPr>
            <a:cxnSpLocks/>
          </p:cNvCxnSpPr>
          <p:nvPr/>
        </p:nvCxnSpPr>
        <p:spPr>
          <a:xfrm>
            <a:off x="4172985" y="3215390"/>
            <a:ext cx="1125408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FE6718-F506-DF53-5FAD-A02E07FA80F9}"/>
              </a:ext>
            </a:extLst>
          </p:cNvPr>
          <p:cNvSpPr txBox="1"/>
          <p:nvPr/>
        </p:nvSpPr>
        <p:spPr>
          <a:xfrm>
            <a:off x="5109443" y="4938312"/>
            <a:ext cx="26580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A</a:t>
            </a:r>
            <a:r>
              <a:rPr lang="en-US"/>
              <a:t>     	…0  0  1  1  0</a:t>
            </a:r>
          </a:p>
          <a:p>
            <a:r>
              <a:rPr lang="en-US" i="1"/>
              <a:t>B</a:t>
            </a:r>
            <a:r>
              <a:rPr lang="en-US"/>
              <a:t>        	…0  0  0  1  1</a:t>
            </a:r>
          </a:p>
          <a:p>
            <a:r>
              <a:rPr lang="en-US" i="1" err="1"/>
              <a:t>Trả</a:t>
            </a:r>
            <a:r>
              <a:rPr lang="en-US"/>
              <a:t>      	…0  0  1  1  0</a:t>
            </a:r>
          </a:p>
          <a:p>
            <a:r>
              <a:rPr lang="en-US" i="1" err="1"/>
              <a:t>Hiệu</a:t>
            </a:r>
            <a:r>
              <a:rPr lang="en-US"/>
              <a:t>	…0  0  0  1  1</a:t>
            </a:r>
          </a:p>
          <a:p>
            <a:r>
              <a:rPr lang="en-US" i="1" err="1"/>
              <a:t>Mượn</a:t>
            </a:r>
            <a:r>
              <a:rPr lang="en-US"/>
              <a:t>	…0  0  0  1  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911EA7-FE8B-5BD9-E9C4-06C83C583718}"/>
              </a:ext>
            </a:extLst>
          </p:cNvPr>
          <p:cNvCxnSpPr>
            <a:cxnSpLocks/>
          </p:cNvCxnSpPr>
          <p:nvPr/>
        </p:nvCxnSpPr>
        <p:spPr>
          <a:xfrm>
            <a:off x="5171590" y="5824027"/>
            <a:ext cx="2194121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A79E24-43E1-4352-B479-C3AC187DEFDE}"/>
              </a:ext>
            </a:extLst>
          </p:cNvPr>
          <p:cNvCxnSpPr>
            <a:cxnSpLocks/>
          </p:cNvCxnSpPr>
          <p:nvPr/>
        </p:nvCxnSpPr>
        <p:spPr>
          <a:xfrm>
            <a:off x="7116297" y="5748338"/>
            <a:ext cx="193955" cy="39058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F12956-DE19-9929-7801-F760779027A8}"/>
              </a:ext>
            </a:extLst>
          </p:cNvPr>
          <p:cNvCxnSpPr>
            <a:cxnSpLocks/>
          </p:cNvCxnSpPr>
          <p:nvPr/>
        </p:nvCxnSpPr>
        <p:spPr>
          <a:xfrm>
            <a:off x="6878702" y="5748338"/>
            <a:ext cx="197055" cy="402431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EEB787-798D-9CEE-EA9F-D5D7C3FDB7DC}"/>
              </a:ext>
            </a:extLst>
          </p:cNvPr>
          <p:cNvCxnSpPr>
            <a:cxnSpLocks/>
          </p:cNvCxnSpPr>
          <p:nvPr/>
        </p:nvCxnSpPr>
        <p:spPr>
          <a:xfrm>
            <a:off x="6657070" y="5748338"/>
            <a:ext cx="191528" cy="402431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B668895-DD06-31D9-D4F1-76BB3ACD0AA8}"/>
              </a:ext>
            </a:extLst>
          </p:cNvPr>
          <p:cNvCxnSpPr>
            <a:cxnSpLocks/>
          </p:cNvCxnSpPr>
          <p:nvPr/>
        </p:nvCxnSpPr>
        <p:spPr>
          <a:xfrm>
            <a:off x="6421506" y="5748338"/>
            <a:ext cx="195024" cy="39058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inus Sign 31">
            <a:extLst>
              <a:ext uri="{FF2B5EF4-FFF2-40B4-BE49-F238E27FC236}">
                <a16:creationId xmlns:a16="http://schemas.microsoft.com/office/drawing/2014/main" id="{5220C959-4D2E-818D-B6F1-F95C17A38152}"/>
              </a:ext>
            </a:extLst>
          </p:cNvPr>
          <p:cNvSpPr/>
          <p:nvPr/>
        </p:nvSpPr>
        <p:spPr>
          <a:xfrm>
            <a:off x="3644348" y="2681761"/>
            <a:ext cx="267855" cy="101600"/>
          </a:xfrm>
          <a:prstGeom prst="mathMinu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9AEA18A-9D0F-8057-2710-F0C797496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612903"/>
              </p:ext>
            </p:extLst>
          </p:nvPr>
        </p:nvGraphicFramePr>
        <p:xfrm>
          <a:off x="8051513" y="1204154"/>
          <a:ext cx="225361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759061695"/>
                    </a:ext>
                  </a:extLst>
                </a:gridCol>
                <a:gridCol w="392430">
                  <a:extLst>
                    <a:ext uri="{9D8B030D-6E8A-4147-A177-3AD203B41FA5}">
                      <a16:colId xmlns:a16="http://schemas.microsoft.com/office/drawing/2014/main" val="40643705"/>
                    </a:ext>
                  </a:extLst>
                </a:gridCol>
                <a:gridCol w="641139">
                  <a:extLst>
                    <a:ext uri="{9D8B030D-6E8A-4147-A177-3AD203B41FA5}">
                      <a16:colId xmlns:a16="http://schemas.microsoft.com/office/drawing/2014/main" val="1969377902"/>
                    </a:ext>
                  </a:extLst>
                </a:gridCol>
                <a:gridCol w="814916">
                  <a:extLst>
                    <a:ext uri="{9D8B030D-6E8A-4147-A177-3AD203B41FA5}">
                      <a16:colId xmlns:a16="http://schemas.microsoft.com/office/drawing/2014/main" val="1283799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Hiệu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  <a:r>
                        <a:rPr lang="vi-VN"/>
                        <a:t>ư</a:t>
                      </a:r>
                      <a:r>
                        <a:rPr lang="en-US" err="1"/>
                        <a:t>ợn</a:t>
                      </a:r>
                      <a:r>
                        <a:rPr lang="en-US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47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64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57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5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91597"/>
                  </a:ext>
                </a:extLst>
              </a:tr>
            </a:tbl>
          </a:graphicData>
        </a:graphic>
      </p:graphicFrame>
      <p:sp>
        <p:nvSpPr>
          <p:cNvPr id="34" name="Minus Sign 33">
            <a:extLst>
              <a:ext uri="{FF2B5EF4-FFF2-40B4-BE49-F238E27FC236}">
                <a16:creationId xmlns:a16="http://schemas.microsoft.com/office/drawing/2014/main" id="{00A61ADB-4B46-37B8-9021-BD00C51A43AE}"/>
              </a:ext>
            </a:extLst>
          </p:cNvPr>
          <p:cNvSpPr/>
          <p:nvPr/>
        </p:nvSpPr>
        <p:spPr>
          <a:xfrm>
            <a:off x="4863234" y="5226627"/>
            <a:ext cx="267855" cy="101600"/>
          </a:xfrm>
          <a:prstGeom prst="mathMinu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5" name="Minus Sign 34">
            <a:extLst>
              <a:ext uri="{FF2B5EF4-FFF2-40B4-BE49-F238E27FC236}">
                <a16:creationId xmlns:a16="http://schemas.microsoft.com/office/drawing/2014/main" id="{654A2C96-D2E4-ED97-B836-6F57721AD521}"/>
              </a:ext>
            </a:extLst>
          </p:cNvPr>
          <p:cNvSpPr/>
          <p:nvPr/>
        </p:nvSpPr>
        <p:spPr>
          <a:xfrm>
            <a:off x="4872759" y="5512377"/>
            <a:ext cx="267855" cy="101600"/>
          </a:xfrm>
          <a:prstGeom prst="mathMinu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0E3E41-53C3-8E18-46F8-074052E125AC}"/>
              </a:ext>
            </a:extLst>
          </p:cNvPr>
          <p:cNvSpPr/>
          <p:nvPr/>
        </p:nvSpPr>
        <p:spPr>
          <a:xfrm>
            <a:off x="7105005" y="5518128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C66249-0A32-3B02-65D8-6DDA0A40B067}"/>
              </a:ext>
            </a:extLst>
          </p:cNvPr>
          <p:cNvSpPr/>
          <p:nvPr/>
        </p:nvSpPr>
        <p:spPr>
          <a:xfrm>
            <a:off x="6887936" y="5528924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831D91-DE04-560F-8AAC-553AE9BE5288}"/>
              </a:ext>
            </a:extLst>
          </p:cNvPr>
          <p:cNvSpPr/>
          <p:nvPr/>
        </p:nvSpPr>
        <p:spPr>
          <a:xfrm>
            <a:off x="6693606" y="5555221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A9935-1517-EFBC-18EA-74E48E418841}"/>
              </a:ext>
            </a:extLst>
          </p:cNvPr>
          <p:cNvSpPr/>
          <p:nvPr/>
        </p:nvSpPr>
        <p:spPr>
          <a:xfrm>
            <a:off x="6478397" y="5550706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12F36A-80ED-0718-51D7-604EB5CB9D6A}"/>
              </a:ext>
            </a:extLst>
          </p:cNvPr>
          <p:cNvSpPr/>
          <p:nvPr/>
        </p:nvSpPr>
        <p:spPr>
          <a:xfrm>
            <a:off x="6261374" y="5540680"/>
            <a:ext cx="156754" cy="24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27726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Phép nh</a:t>
            </a:r>
            <a:r>
              <a:rPr lang="en-US"/>
              <a:t>ân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2497D4-9FFF-F44C-5FCE-1A29CD9C0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5" y="1279526"/>
            <a:ext cx="5446433" cy="4824413"/>
          </a:xfrm>
        </p:spPr>
        <p:txBody>
          <a:bodyPr/>
          <a:lstStyle/>
          <a:p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: 8 x 9 = 72</a:t>
            </a:r>
          </a:p>
          <a:p>
            <a:pPr marL="0" indent="0">
              <a:buNone/>
            </a:pPr>
            <a:r>
              <a:rPr lang="en-US"/>
              <a:t>				1000   (8)</a:t>
            </a:r>
          </a:p>
          <a:p>
            <a:pPr marL="0" indent="0">
              <a:buNone/>
            </a:pPr>
            <a:r>
              <a:rPr lang="en-US"/>
              <a:t>				1001   (9)</a:t>
            </a:r>
          </a:p>
          <a:p>
            <a:pPr marL="0" indent="0">
              <a:buNone/>
            </a:pPr>
            <a:r>
              <a:rPr lang="en-US"/>
              <a:t>				1000</a:t>
            </a:r>
          </a:p>
          <a:p>
            <a:pPr marL="0" indent="0">
              <a:buNone/>
            </a:pPr>
            <a:r>
              <a:rPr lang="en-US"/>
              <a:t>			        0000</a:t>
            </a:r>
          </a:p>
          <a:p>
            <a:pPr marL="0" indent="0">
              <a:buNone/>
            </a:pPr>
            <a:r>
              <a:rPr lang="en-US"/>
              <a:t>			      0000</a:t>
            </a:r>
          </a:p>
          <a:p>
            <a:pPr marL="0" indent="0">
              <a:buNone/>
            </a:pPr>
            <a:r>
              <a:rPr lang="en-US"/>
              <a:t>			    1000</a:t>
            </a:r>
          </a:p>
          <a:p>
            <a:pPr marL="0" indent="0">
              <a:buNone/>
            </a:pPr>
            <a:r>
              <a:rPr lang="en-US"/>
              <a:t>			    1001000	(72)	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DD8D9FB8-5A6E-63E4-4302-C46E8B868836}"/>
              </a:ext>
            </a:extLst>
          </p:cNvPr>
          <p:cNvSpPr/>
          <p:nvPr/>
        </p:nvSpPr>
        <p:spPr>
          <a:xfrm>
            <a:off x="4015740" y="2067409"/>
            <a:ext cx="287383" cy="400291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F0D427-AC01-21B3-FC0A-B005B3727232}"/>
              </a:ext>
            </a:extLst>
          </p:cNvPr>
          <p:cNvCxnSpPr>
            <a:cxnSpLocks/>
          </p:cNvCxnSpPr>
          <p:nvPr/>
        </p:nvCxnSpPr>
        <p:spPr>
          <a:xfrm>
            <a:off x="3769316" y="2775906"/>
            <a:ext cx="125200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lus Sign 11">
            <a:extLst>
              <a:ext uri="{FF2B5EF4-FFF2-40B4-BE49-F238E27FC236}">
                <a16:creationId xmlns:a16="http://schemas.microsoft.com/office/drawing/2014/main" id="{E901B3B0-2419-F948-6FA4-5463548BCA78}"/>
              </a:ext>
            </a:extLst>
          </p:cNvPr>
          <p:cNvSpPr/>
          <p:nvPr/>
        </p:nvSpPr>
        <p:spPr>
          <a:xfrm>
            <a:off x="3399439" y="3694466"/>
            <a:ext cx="292963" cy="257452"/>
          </a:xfrm>
          <a:prstGeom prst="mathPlus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673412-56C9-BB11-3078-D52B10DDA499}"/>
              </a:ext>
            </a:extLst>
          </p:cNvPr>
          <p:cNvCxnSpPr>
            <a:cxnSpLocks/>
          </p:cNvCxnSpPr>
          <p:nvPr/>
        </p:nvCxnSpPr>
        <p:spPr>
          <a:xfrm>
            <a:off x="3797732" y="4850097"/>
            <a:ext cx="125200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94132D-8656-1C0D-0B44-13C072B678A3}"/>
              </a:ext>
            </a:extLst>
          </p:cNvPr>
          <p:cNvSpPr txBox="1"/>
          <p:nvPr/>
        </p:nvSpPr>
        <p:spPr>
          <a:xfrm>
            <a:off x="1413575" y="1741946"/>
            <a:ext cx="1819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/>
              <a:t>Số</a:t>
            </a:r>
            <a:r>
              <a:rPr lang="en-US" sz="2800"/>
              <a:t> </a:t>
            </a:r>
            <a:r>
              <a:rPr lang="en-US" sz="2800" err="1"/>
              <a:t>bị</a:t>
            </a:r>
            <a:r>
              <a:rPr lang="en-US" sz="2800"/>
              <a:t> </a:t>
            </a:r>
            <a:r>
              <a:rPr lang="en-US" sz="2800" err="1"/>
              <a:t>nhân</a:t>
            </a:r>
            <a:r>
              <a:rPr lang="en-US" sz="280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8D425-53DF-3F9B-8DB7-A6E0E96FCD98}"/>
              </a:ext>
            </a:extLst>
          </p:cNvPr>
          <p:cNvSpPr txBox="1"/>
          <p:nvPr/>
        </p:nvSpPr>
        <p:spPr>
          <a:xfrm>
            <a:off x="1798449" y="2297296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/>
              <a:t>Số</a:t>
            </a:r>
            <a:r>
              <a:rPr lang="en-US" sz="2800"/>
              <a:t> </a:t>
            </a:r>
            <a:r>
              <a:rPr lang="en-US" sz="2800" err="1"/>
              <a:t>nhân</a:t>
            </a:r>
            <a:r>
              <a:rPr lang="en-US" sz="280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6BB47A-4DFE-C3B3-045D-65574E9C729B}"/>
              </a:ext>
            </a:extLst>
          </p:cNvPr>
          <p:cNvSpPr txBox="1"/>
          <p:nvPr/>
        </p:nvSpPr>
        <p:spPr>
          <a:xfrm>
            <a:off x="2291810" y="4867435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/>
              <a:t>Tích</a:t>
            </a:r>
            <a:r>
              <a:rPr lang="en-US" sz="2800"/>
              <a:t>: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814D60-5814-9A81-AD03-24EEADCA8153}"/>
              </a:ext>
            </a:extLst>
          </p:cNvPr>
          <p:cNvSpPr txBox="1">
            <a:spLocks/>
          </p:cNvSpPr>
          <p:nvPr/>
        </p:nvSpPr>
        <p:spPr bwMode="auto">
          <a:xfrm>
            <a:off x="6503405" y="1338938"/>
            <a:ext cx="5446433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4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kern="0"/>
              <a:t>Nhân </a:t>
            </a:r>
            <a:r>
              <a:rPr lang="en-US" kern="0" err="1"/>
              <a:t>số</a:t>
            </a:r>
            <a:r>
              <a:rPr lang="en-US" kern="0"/>
              <a:t> </a:t>
            </a:r>
            <a:r>
              <a:rPr lang="en-US" kern="0" err="1"/>
              <a:t>bị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</a:t>
            </a:r>
            <a:r>
              <a:rPr lang="en-US" kern="0" err="1"/>
              <a:t>với</a:t>
            </a:r>
            <a:r>
              <a:rPr lang="en-US" kern="0"/>
              <a:t> </a:t>
            </a:r>
            <a:r>
              <a:rPr lang="en-US" kern="0" err="1"/>
              <a:t>từng</a:t>
            </a:r>
            <a:r>
              <a:rPr lang="en-US" kern="0"/>
              <a:t> bit </a:t>
            </a:r>
            <a:r>
              <a:rPr lang="en-US" kern="0" err="1"/>
              <a:t>của</a:t>
            </a:r>
            <a:r>
              <a:rPr lang="en-US" kern="0"/>
              <a:t> </a:t>
            </a:r>
            <a:r>
              <a:rPr lang="en-US" kern="0" err="1"/>
              <a:t>số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</a:t>
            </a:r>
            <a:r>
              <a:rPr lang="en-US" kern="0" err="1"/>
              <a:t>từ</a:t>
            </a:r>
            <a:r>
              <a:rPr lang="en-US" kern="0"/>
              <a:t> </a:t>
            </a:r>
            <a:r>
              <a:rPr lang="en-US" kern="0" err="1"/>
              <a:t>phải</a:t>
            </a:r>
            <a:r>
              <a:rPr lang="en-US" kern="0"/>
              <a:t> sang </a:t>
            </a:r>
            <a:r>
              <a:rPr lang="en-US" kern="0" err="1"/>
              <a:t>trái</a:t>
            </a:r>
            <a:endParaRPr lang="en-US" kern="0"/>
          </a:p>
          <a:p>
            <a:pPr lvl="1"/>
            <a:r>
              <a:rPr lang="en-US" kern="0" err="1"/>
              <a:t>Nếu</a:t>
            </a:r>
            <a:r>
              <a:rPr lang="en-US" kern="0"/>
              <a:t> bit </a:t>
            </a:r>
            <a:r>
              <a:rPr lang="en-US" kern="0" err="1"/>
              <a:t>số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</a:t>
            </a:r>
            <a:r>
              <a:rPr lang="en-US" kern="0" err="1"/>
              <a:t>bằng</a:t>
            </a:r>
            <a:r>
              <a:rPr lang="en-US" kern="0"/>
              <a:t> 1 </a:t>
            </a:r>
            <a:r>
              <a:rPr lang="en-US" kern="0" err="1"/>
              <a:t>thì</a:t>
            </a:r>
            <a:r>
              <a:rPr lang="en-US" kern="0"/>
              <a:t> </a:t>
            </a:r>
            <a:r>
              <a:rPr lang="en-US" kern="0" err="1"/>
              <a:t>kết</a:t>
            </a:r>
            <a:r>
              <a:rPr lang="en-US" kern="0"/>
              <a:t> </a:t>
            </a:r>
            <a:r>
              <a:rPr lang="en-US" kern="0" err="1"/>
              <a:t>quả</a:t>
            </a:r>
            <a:r>
              <a:rPr lang="en-US" kern="0"/>
              <a:t> </a:t>
            </a:r>
            <a:r>
              <a:rPr lang="en-US" kern="0" err="1"/>
              <a:t>bằng</a:t>
            </a:r>
            <a:r>
              <a:rPr lang="en-US" kern="0"/>
              <a:t> </a:t>
            </a:r>
            <a:r>
              <a:rPr lang="en-US" kern="0" err="1"/>
              <a:t>chính</a:t>
            </a:r>
            <a:r>
              <a:rPr lang="en-US" kern="0"/>
              <a:t> </a:t>
            </a:r>
            <a:r>
              <a:rPr lang="en-US" kern="0" err="1"/>
              <a:t>số</a:t>
            </a:r>
            <a:r>
              <a:rPr lang="en-US" kern="0"/>
              <a:t> </a:t>
            </a:r>
            <a:r>
              <a:rPr lang="en-US" kern="0" err="1"/>
              <a:t>bị</a:t>
            </a:r>
            <a:r>
              <a:rPr lang="en-US" kern="0"/>
              <a:t> </a:t>
            </a:r>
            <a:r>
              <a:rPr lang="en-US" kern="0" err="1"/>
              <a:t>nhân</a:t>
            </a:r>
            <a:endParaRPr lang="en-US" kern="0"/>
          </a:p>
          <a:p>
            <a:pPr lvl="1"/>
            <a:r>
              <a:rPr lang="en-US" kern="0" err="1"/>
              <a:t>Nếu</a:t>
            </a:r>
            <a:r>
              <a:rPr lang="en-US" kern="0"/>
              <a:t> bit </a:t>
            </a:r>
            <a:r>
              <a:rPr lang="en-US" kern="0" err="1"/>
              <a:t>số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</a:t>
            </a:r>
            <a:r>
              <a:rPr lang="en-US" kern="0" err="1"/>
              <a:t>bằng</a:t>
            </a:r>
            <a:r>
              <a:rPr lang="en-US" kern="0"/>
              <a:t> 0 </a:t>
            </a:r>
            <a:r>
              <a:rPr lang="en-US" kern="0" err="1"/>
              <a:t>thì</a:t>
            </a:r>
            <a:r>
              <a:rPr lang="en-US" kern="0"/>
              <a:t> </a:t>
            </a:r>
            <a:r>
              <a:rPr lang="en-US" kern="0" err="1"/>
              <a:t>kết</a:t>
            </a:r>
            <a:r>
              <a:rPr lang="en-US" kern="0"/>
              <a:t> </a:t>
            </a:r>
            <a:r>
              <a:rPr lang="en-US" kern="0" err="1"/>
              <a:t>quả</a:t>
            </a:r>
            <a:r>
              <a:rPr lang="en-US" kern="0"/>
              <a:t> </a:t>
            </a:r>
            <a:r>
              <a:rPr lang="en-US" kern="0" err="1"/>
              <a:t>bằng</a:t>
            </a:r>
            <a:r>
              <a:rPr lang="en-US" kern="0"/>
              <a:t> 0</a:t>
            </a:r>
          </a:p>
          <a:p>
            <a:pPr lvl="1"/>
            <a:r>
              <a:rPr lang="en-US" kern="0" err="1"/>
              <a:t>Kết</a:t>
            </a:r>
            <a:r>
              <a:rPr lang="en-US" kern="0"/>
              <a:t> </a:t>
            </a:r>
            <a:r>
              <a:rPr lang="en-US" kern="0" err="1"/>
              <a:t>quả</a:t>
            </a:r>
            <a:r>
              <a:rPr lang="en-US" kern="0"/>
              <a:t> </a:t>
            </a:r>
            <a:r>
              <a:rPr lang="en-US" kern="0" err="1"/>
              <a:t>của</a:t>
            </a:r>
            <a:r>
              <a:rPr lang="en-US" kern="0"/>
              <a:t> </a:t>
            </a:r>
            <a:r>
              <a:rPr lang="en-US" kern="0" err="1"/>
              <a:t>phép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bit </a:t>
            </a:r>
            <a:r>
              <a:rPr lang="en-US" kern="0" err="1"/>
              <a:t>sau</a:t>
            </a:r>
            <a:r>
              <a:rPr lang="en-US" kern="0"/>
              <a:t> </a:t>
            </a:r>
            <a:r>
              <a:rPr lang="en-US" kern="0" err="1"/>
              <a:t>sẽ</a:t>
            </a:r>
            <a:r>
              <a:rPr lang="en-US" kern="0"/>
              <a:t> </a:t>
            </a:r>
            <a:r>
              <a:rPr lang="en-US" kern="0" err="1"/>
              <a:t>dịch</a:t>
            </a:r>
            <a:r>
              <a:rPr lang="en-US" kern="0"/>
              <a:t> </a:t>
            </a:r>
            <a:r>
              <a:rPr lang="en-US" kern="0" err="1"/>
              <a:t>trái</a:t>
            </a:r>
            <a:r>
              <a:rPr lang="en-US" kern="0"/>
              <a:t> 1 bit so </a:t>
            </a:r>
            <a:r>
              <a:rPr lang="en-US" kern="0" err="1"/>
              <a:t>với</a:t>
            </a:r>
            <a:r>
              <a:rPr lang="en-US" kern="0"/>
              <a:t> </a:t>
            </a:r>
            <a:r>
              <a:rPr lang="en-US" kern="0" err="1"/>
              <a:t>kết</a:t>
            </a:r>
            <a:r>
              <a:rPr lang="en-US" kern="0"/>
              <a:t> </a:t>
            </a:r>
            <a:r>
              <a:rPr lang="en-US" kern="0" err="1"/>
              <a:t>quả</a:t>
            </a:r>
            <a:r>
              <a:rPr lang="en-US" kern="0"/>
              <a:t> </a:t>
            </a:r>
            <a:r>
              <a:rPr lang="en-US" kern="0" err="1"/>
              <a:t>của</a:t>
            </a:r>
            <a:r>
              <a:rPr lang="en-US" kern="0"/>
              <a:t> </a:t>
            </a:r>
            <a:r>
              <a:rPr lang="en-US" kern="0" err="1"/>
              <a:t>phép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bit tr</a:t>
            </a:r>
            <a:r>
              <a:rPr lang="vi-VN" kern="0"/>
              <a:t>ư</a:t>
            </a:r>
            <a:r>
              <a:rPr lang="en-US" kern="0" err="1"/>
              <a:t>ớc</a:t>
            </a:r>
            <a:r>
              <a:rPr lang="en-US" kern="0"/>
              <a:t> </a:t>
            </a:r>
            <a:r>
              <a:rPr lang="en-US" kern="0" err="1"/>
              <a:t>đó</a:t>
            </a:r>
            <a:endParaRPr lang="en-US" kern="0"/>
          </a:p>
          <a:p>
            <a:pPr lvl="1"/>
            <a:r>
              <a:rPr lang="en-US" kern="0" err="1"/>
              <a:t>Cộng</a:t>
            </a:r>
            <a:r>
              <a:rPr lang="en-US" kern="0"/>
              <a:t> </a:t>
            </a:r>
            <a:r>
              <a:rPr lang="en-US" kern="0" err="1"/>
              <a:t>tất</a:t>
            </a:r>
            <a:r>
              <a:rPr lang="en-US" kern="0"/>
              <a:t> </a:t>
            </a:r>
            <a:r>
              <a:rPr lang="en-US" kern="0" err="1"/>
              <a:t>cả</a:t>
            </a:r>
            <a:r>
              <a:rPr lang="en-US" kern="0"/>
              <a:t> </a:t>
            </a:r>
            <a:r>
              <a:rPr lang="en-US" kern="0" err="1"/>
              <a:t>các</a:t>
            </a:r>
            <a:r>
              <a:rPr lang="en-US" kern="0"/>
              <a:t> </a:t>
            </a:r>
            <a:r>
              <a:rPr lang="en-US" kern="0" err="1"/>
              <a:t>kết</a:t>
            </a:r>
            <a:r>
              <a:rPr lang="en-US" kern="0"/>
              <a:t> </a:t>
            </a:r>
            <a:r>
              <a:rPr lang="en-US" kern="0" err="1"/>
              <a:t>quả</a:t>
            </a:r>
            <a:r>
              <a:rPr lang="en-US" kern="0"/>
              <a:t> </a:t>
            </a:r>
            <a:r>
              <a:rPr lang="en-US" kern="0" err="1"/>
              <a:t>phép</a:t>
            </a:r>
            <a:r>
              <a:rPr lang="en-US" kern="0"/>
              <a:t> </a:t>
            </a:r>
            <a:r>
              <a:rPr lang="en-US" kern="0" err="1"/>
              <a:t>nhân</a:t>
            </a:r>
            <a:r>
              <a:rPr lang="en-US" kern="0"/>
              <a:t> </a:t>
            </a:r>
            <a:r>
              <a:rPr lang="en-US" kern="0" err="1"/>
              <a:t>sẽ</a:t>
            </a:r>
            <a:r>
              <a:rPr lang="en-US" kern="0"/>
              <a:t> đ</a:t>
            </a:r>
            <a:r>
              <a:rPr lang="vi-VN" kern="0"/>
              <a:t>ư</a:t>
            </a:r>
            <a:r>
              <a:rPr lang="en-US" kern="0" err="1"/>
              <a:t>ợc</a:t>
            </a:r>
            <a:r>
              <a:rPr lang="en-US" kern="0"/>
              <a:t> </a:t>
            </a:r>
            <a:r>
              <a:rPr lang="en-US" kern="0" err="1"/>
              <a:t>giá</a:t>
            </a:r>
            <a:r>
              <a:rPr lang="en-US" kern="0"/>
              <a:t> </a:t>
            </a:r>
            <a:r>
              <a:rPr lang="en-US" kern="0" err="1"/>
              <a:t>trị</a:t>
            </a:r>
            <a:r>
              <a:rPr lang="en-US" kern="0"/>
              <a:t> </a:t>
            </a:r>
            <a:r>
              <a:rPr lang="en-US" kern="0" err="1"/>
              <a:t>tích</a:t>
            </a:r>
            <a:r>
              <a:rPr lang="en-US" kern="0"/>
              <a:t> </a:t>
            </a:r>
            <a:r>
              <a:rPr lang="en-US" kern="0" err="1"/>
              <a:t>cuối</a:t>
            </a:r>
            <a:r>
              <a:rPr lang="en-US" kern="0"/>
              <a:t> </a:t>
            </a:r>
            <a:r>
              <a:rPr lang="en-US" kern="0" err="1"/>
              <a:t>cùng</a:t>
            </a:r>
            <a:endParaRPr lang="en-US" kern="0"/>
          </a:p>
          <a:p>
            <a:endParaRPr lang="en-US" kern="0"/>
          </a:p>
          <a:p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128171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Phép chia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8A78FD-7513-5E6B-A7DC-39B9D782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48" y="1190523"/>
            <a:ext cx="11523133" cy="4824413"/>
          </a:xfrm>
        </p:spPr>
        <p:txBody>
          <a:bodyPr/>
          <a:lstStyle/>
          <a:p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: 40:19</a:t>
            </a:r>
          </a:p>
          <a:p>
            <a:pPr lvl="1"/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1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329067-9537-5C01-17E4-6F708ACDC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064" y="1219097"/>
            <a:ext cx="52006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4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90000"/>
              </a:lnSpc>
            </a:pPr>
            <a:r>
              <a:rPr lang="en-US" altLang="en-US" sz="2000" kern="0"/>
              <a:t>Kiểm </a:t>
            </a:r>
            <a:r>
              <a:rPr lang="en-US" altLang="en-US" sz="2000" kern="0" err="1"/>
              <a:t>tra</a:t>
            </a:r>
            <a:r>
              <a:rPr lang="en-US" altLang="en-US" sz="2000" kern="0"/>
              <a:t> </a:t>
            </a:r>
            <a:r>
              <a:rPr lang="en-US" altLang="en-US" sz="2000" kern="0" err="1"/>
              <a:t>Số</a:t>
            </a:r>
            <a:r>
              <a:rPr lang="en-US" altLang="en-US" sz="2000" kern="0"/>
              <a:t> chia </a:t>
            </a:r>
            <a:r>
              <a:rPr lang="en-US" altLang="en-US" sz="2000" kern="0" err="1"/>
              <a:t>có</a:t>
            </a:r>
            <a:r>
              <a:rPr lang="en-US" altLang="en-US" sz="2000" kern="0"/>
              <a:t> </a:t>
            </a:r>
            <a:r>
              <a:rPr lang="en-US" altLang="en-US" sz="2000" kern="0" err="1"/>
              <a:t>bằng</a:t>
            </a:r>
            <a:r>
              <a:rPr lang="en-US" altLang="en-US" sz="2000" kern="0"/>
              <a:t> 0 hay </a:t>
            </a:r>
            <a:r>
              <a:rPr lang="en-US" altLang="en-US" sz="2000" kern="0" err="1"/>
              <a:t>không</a:t>
            </a:r>
            <a:endParaRPr lang="en-AU" altLang="en-US" sz="2000" kern="0"/>
          </a:p>
          <a:p>
            <a:pPr lvl="1">
              <a:lnSpc>
                <a:spcPct val="90000"/>
              </a:lnSpc>
            </a:pPr>
            <a:r>
              <a:rPr lang="en-US" altLang="en-US" sz="2000" kern="0" err="1"/>
              <a:t>Khi</a:t>
            </a:r>
            <a:r>
              <a:rPr lang="en-US" altLang="en-US" sz="2000" kern="0"/>
              <a:t> </a:t>
            </a:r>
            <a:r>
              <a:rPr lang="en-US" altLang="en-US" sz="2000" kern="0" err="1"/>
              <a:t>Số</a:t>
            </a:r>
            <a:r>
              <a:rPr lang="en-US" altLang="en-US" sz="2000" kern="0"/>
              <a:t> chia </a:t>
            </a:r>
            <a:r>
              <a:rPr lang="en-US" altLang="en-US" sz="2000" kern="0" err="1"/>
              <a:t>khác</a:t>
            </a:r>
            <a:r>
              <a:rPr lang="en-US" altLang="en-US" sz="2000" kern="0"/>
              <a:t> 0</a:t>
            </a:r>
          </a:p>
          <a:p>
            <a:pPr lvl="2">
              <a:lnSpc>
                <a:spcPct val="90000"/>
              </a:lnSpc>
            </a:pPr>
            <a:r>
              <a:rPr lang="en-US" altLang="en-US" sz="1600" kern="0" err="1"/>
              <a:t>Nếu</a:t>
            </a:r>
            <a:r>
              <a:rPr lang="en-US" altLang="en-US" sz="1600" kern="0"/>
              <a:t> </a:t>
            </a:r>
            <a:r>
              <a:rPr lang="en-US" altLang="en-US" sz="1600" kern="0" err="1"/>
              <a:t>Số</a:t>
            </a:r>
            <a:r>
              <a:rPr lang="en-US" altLang="en-US" sz="1600" kern="0"/>
              <a:t> chia ≤ </a:t>
            </a:r>
            <a:r>
              <a:rPr lang="en-US" altLang="en-US" sz="1600" kern="0" err="1"/>
              <a:t>Các</a:t>
            </a:r>
            <a:r>
              <a:rPr lang="en-US" altLang="en-US" sz="1600" kern="0"/>
              <a:t> bit </a:t>
            </a:r>
            <a:r>
              <a:rPr lang="en-US" altLang="en-US" sz="1600" kern="0" err="1"/>
              <a:t>của</a:t>
            </a:r>
            <a:r>
              <a:rPr lang="en-US" altLang="en-US" sz="1600" kern="0"/>
              <a:t> </a:t>
            </a:r>
            <a:r>
              <a:rPr lang="en-US" altLang="en-US" sz="1600" kern="0" err="1"/>
              <a:t>Số</a:t>
            </a:r>
            <a:r>
              <a:rPr lang="en-US" altLang="en-US" sz="1600" kern="0"/>
              <a:t> </a:t>
            </a:r>
            <a:r>
              <a:rPr lang="en-US" altLang="en-US" sz="1600" kern="0" err="1"/>
              <a:t>bị</a:t>
            </a:r>
            <a:r>
              <a:rPr lang="en-US" altLang="en-US" sz="1600" kern="0"/>
              <a:t> chia, </a:t>
            </a:r>
            <a:r>
              <a:rPr lang="en-US" altLang="en-US" sz="1800" kern="0" err="1"/>
              <a:t>đặt</a:t>
            </a:r>
            <a:r>
              <a:rPr lang="en-US" altLang="en-US" sz="1800" kern="0"/>
              <a:t> “1” </a:t>
            </a:r>
            <a:r>
              <a:rPr lang="en-US" altLang="en-US" sz="1800" kern="0" err="1"/>
              <a:t>vào</a:t>
            </a:r>
            <a:r>
              <a:rPr lang="en-US" altLang="en-US" sz="1800" kern="0"/>
              <a:t> Th</a:t>
            </a:r>
            <a:r>
              <a:rPr lang="vi-VN" altLang="en-US" sz="1800" kern="0"/>
              <a:t>ư</a:t>
            </a:r>
            <a:r>
              <a:rPr lang="en-US" altLang="en-US" sz="1800" kern="0" err="1"/>
              <a:t>ơng</a:t>
            </a:r>
            <a:r>
              <a:rPr lang="en-US" altLang="en-US" sz="1800" kern="0"/>
              <a:t>, </a:t>
            </a:r>
            <a:r>
              <a:rPr lang="en-US" altLang="en-US" sz="1800" kern="0" err="1"/>
              <a:t>lấy</a:t>
            </a:r>
            <a:r>
              <a:rPr lang="en-US" altLang="en-US" sz="1800" kern="0"/>
              <a:t> </a:t>
            </a:r>
            <a:r>
              <a:rPr lang="en-US" altLang="en-US" sz="1800" kern="0" err="1"/>
              <a:t>Số</a:t>
            </a:r>
            <a:r>
              <a:rPr lang="en-US" altLang="en-US" sz="1800" kern="0"/>
              <a:t> </a:t>
            </a:r>
            <a:r>
              <a:rPr lang="en-US" altLang="en-US" sz="1800" kern="0" err="1"/>
              <a:t>bị</a:t>
            </a:r>
            <a:r>
              <a:rPr lang="en-US" altLang="en-US" sz="1800" kern="0"/>
              <a:t> chia – </a:t>
            </a:r>
            <a:r>
              <a:rPr lang="en-US" altLang="en-US" sz="1800" kern="0" err="1"/>
              <a:t>Số</a:t>
            </a:r>
            <a:r>
              <a:rPr lang="en-US" altLang="en-US" sz="1800" kern="0"/>
              <a:t> chia </a:t>
            </a:r>
          </a:p>
          <a:p>
            <a:pPr lvl="2">
              <a:lnSpc>
                <a:spcPct val="90000"/>
              </a:lnSpc>
            </a:pPr>
            <a:r>
              <a:rPr lang="en-US" altLang="en-US" sz="1600" kern="0"/>
              <a:t>Ng</a:t>
            </a:r>
            <a:r>
              <a:rPr lang="vi-VN" altLang="en-US" sz="1600" kern="0"/>
              <a:t>ư</a:t>
            </a:r>
            <a:r>
              <a:rPr lang="en-US" altLang="en-US" sz="1600" kern="0" err="1"/>
              <a:t>ợc</a:t>
            </a:r>
            <a:r>
              <a:rPr lang="en-US" altLang="en-US" sz="1600" kern="0"/>
              <a:t> </a:t>
            </a:r>
            <a:r>
              <a:rPr lang="en-US" altLang="en-US" sz="1600" kern="0" err="1"/>
              <a:t>lại</a:t>
            </a:r>
            <a:r>
              <a:rPr lang="en-US" altLang="en-US" sz="1600" kern="0"/>
              <a:t>, </a:t>
            </a:r>
            <a:r>
              <a:rPr lang="en-US" altLang="en-US" sz="1800" kern="0" err="1"/>
              <a:t>đặt</a:t>
            </a:r>
            <a:r>
              <a:rPr lang="en-US" altLang="en-US" sz="1800" kern="0"/>
              <a:t> “0” </a:t>
            </a:r>
            <a:r>
              <a:rPr lang="en-US" altLang="en-US" sz="1800" kern="0" err="1"/>
              <a:t>vào</a:t>
            </a:r>
            <a:r>
              <a:rPr lang="en-US" altLang="en-US" sz="1800" kern="0"/>
              <a:t> Th</a:t>
            </a:r>
            <a:r>
              <a:rPr lang="vi-VN" altLang="en-US" sz="1800" kern="0"/>
              <a:t>ư</a:t>
            </a:r>
            <a:r>
              <a:rPr lang="en-US" altLang="en-US" sz="1800" kern="0" err="1"/>
              <a:t>ơng</a:t>
            </a:r>
            <a:r>
              <a:rPr lang="en-US" altLang="en-US" sz="1800" kern="0"/>
              <a:t>, </a:t>
            </a:r>
            <a:r>
              <a:rPr lang="en-US" altLang="en-US" sz="1800" kern="0" err="1"/>
              <a:t>thêm</a:t>
            </a:r>
            <a:r>
              <a:rPr lang="en-US" altLang="en-US" sz="1800" kern="0"/>
              <a:t> bit </a:t>
            </a:r>
            <a:r>
              <a:rPr lang="en-US" altLang="en-US" sz="1800" kern="0" err="1"/>
              <a:t>kế</a:t>
            </a:r>
            <a:r>
              <a:rPr lang="en-US" altLang="en-US" sz="1800" kern="0"/>
              <a:t> </a:t>
            </a:r>
            <a:r>
              <a:rPr lang="en-US" altLang="en-US" sz="1800" kern="0" err="1"/>
              <a:t>tiếp</a:t>
            </a:r>
            <a:r>
              <a:rPr lang="en-US" altLang="en-US" sz="1800" kern="0"/>
              <a:t> </a:t>
            </a:r>
            <a:r>
              <a:rPr lang="en-US" altLang="en-US" sz="1800" kern="0" err="1"/>
              <a:t>của</a:t>
            </a:r>
            <a:r>
              <a:rPr lang="en-US" altLang="en-US" sz="1800" kern="0"/>
              <a:t> </a:t>
            </a:r>
            <a:r>
              <a:rPr lang="en-US" altLang="en-US" sz="1800" kern="0" err="1"/>
              <a:t>Số</a:t>
            </a:r>
            <a:r>
              <a:rPr lang="en-US" altLang="en-US" sz="1800" kern="0"/>
              <a:t> </a:t>
            </a:r>
            <a:r>
              <a:rPr lang="en-US" altLang="en-US" sz="1800" kern="0" err="1"/>
              <a:t>bị</a:t>
            </a:r>
            <a:r>
              <a:rPr lang="en-US" altLang="en-US" sz="1800" kern="0"/>
              <a:t> chia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4910B68-D814-FA67-41A5-68747BDF5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747" y="1835047"/>
            <a:ext cx="280076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Lucida Console" panose="020B0609040504020204" pitchFamily="49" charset="0"/>
              </a:rPr>
              <a:t>        </a:t>
            </a:r>
          </a:p>
          <a:p>
            <a:r>
              <a:rPr lang="en-US" altLang="en-US" sz="2000" dirty="0">
                <a:latin typeface="Lucida Console" panose="020B0609040504020204" pitchFamily="49" charset="0"/>
              </a:rPr>
              <a:t>     101000|10011</a:t>
            </a:r>
          </a:p>
          <a:p>
            <a:r>
              <a:rPr lang="en-US" altLang="en-US" sz="2000" dirty="0">
                <a:latin typeface="Lucida Console" panose="020B0609040504020204" pitchFamily="49" charset="0"/>
              </a:rPr>
              <a:t>    -10011  10</a:t>
            </a:r>
          </a:p>
          <a:p>
            <a:r>
              <a:rPr lang="en-US" altLang="en-US" sz="2000" dirty="0">
                <a:latin typeface="Lucida Console" panose="020B0609040504020204" pitchFamily="49" charset="0"/>
              </a:rPr>
              <a:t>        01</a:t>
            </a:r>
          </a:p>
          <a:p>
            <a:r>
              <a:rPr lang="en-US" altLang="en-US" sz="2000" dirty="0">
                <a:latin typeface="Lucida Console" panose="020B0609040504020204" pitchFamily="49" charset="0"/>
              </a:rPr>
              <a:t>        010 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4CCD36CD-2460-318A-0272-5179EDBEAE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5947" y="2770084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25E12-AA32-703C-E38A-2120D93F3023}"/>
              </a:ext>
            </a:extLst>
          </p:cNvPr>
          <p:cNvCxnSpPr/>
          <p:nvPr/>
        </p:nvCxnSpPr>
        <p:spPr>
          <a:xfrm>
            <a:off x="3847914" y="2484592"/>
            <a:ext cx="762000" cy="0"/>
          </a:xfrm>
          <a:prstGeom prst="line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2164D0-A939-CCFC-44B3-333F08119EAA}"/>
              </a:ext>
            </a:extLst>
          </p:cNvPr>
          <p:cNvSpPr txBox="1"/>
          <p:nvPr/>
        </p:nvSpPr>
        <p:spPr>
          <a:xfrm>
            <a:off x="2803079" y="16477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chia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95A872-C53C-76AE-21A4-68CDFF26CA8A}"/>
              </a:ext>
            </a:extLst>
          </p:cNvPr>
          <p:cNvSpPr txBox="1"/>
          <p:nvPr/>
        </p:nvSpPr>
        <p:spPr>
          <a:xfrm>
            <a:off x="3982019" y="1653499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Số</a:t>
            </a:r>
            <a:r>
              <a:rPr lang="en-US" dirty="0"/>
              <a:t> chia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EFE19-9BB6-4401-2092-34FA647F9D22}"/>
              </a:ext>
            </a:extLst>
          </p:cNvPr>
          <p:cNvSpPr txBox="1"/>
          <p:nvPr/>
        </p:nvSpPr>
        <p:spPr>
          <a:xfrm>
            <a:off x="4134419" y="273755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Thư</a:t>
            </a:r>
            <a:r>
              <a:rPr lang="vi-VN" dirty="0"/>
              <a:t>ơ</a:t>
            </a:r>
            <a:r>
              <a:rPr lang="en-US" dirty="0"/>
              <a:t>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E39B6-E2B0-0BB7-BC90-928145E91E5E}"/>
              </a:ext>
            </a:extLst>
          </p:cNvPr>
          <p:cNvSpPr txBox="1"/>
          <p:nvPr/>
        </p:nvSpPr>
        <p:spPr>
          <a:xfrm>
            <a:off x="3208516" y="348684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Số</a:t>
            </a:r>
            <a:r>
              <a:rPr lang="en-US" dirty="0"/>
              <a:t> d</a:t>
            </a:r>
            <a:r>
              <a:rPr lang="vi-VN" dirty="0"/>
              <a:t>ư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EE7A15-C0EA-34F0-0672-7FE4465B621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357077" y="2017074"/>
            <a:ext cx="0" cy="18920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0BCA43-3EAC-7648-6095-D7A368069D04}"/>
              </a:ext>
            </a:extLst>
          </p:cNvPr>
          <p:cNvCxnSpPr>
            <a:cxnSpLocks/>
          </p:cNvCxnSpPr>
          <p:nvPr/>
        </p:nvCxnSpPr>
        <p:spPr>
          <a:xfrm>
            <a:off x="4344372" y="2004757"/>
            <a:ext cx="0" cy="18920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706FF2-5511-7254-93DA-43F3F7018216}"/>
              </a:ext>
            </a:extLst>
          </p:cNvPr>
          <p:cNvCxnSpPr>
            <a:cxnSpLocks/>
          </p:cNvCxnSpPr>
          <p:nvPr/>
        </p:nvCxnSpPr>
        <p:spPr>
          <a:xfrm>
            <a:off x="4274823" y="2650655"/>
            <a:ext cx="301467" cy="21255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89424A-AEE3-6DF5-F6B7-CA4C229E663E}"/>
              </a:ext>
            </a:extLst>
          </p:cNvPr>
          <p:cNvCxnSpPr>
            <a:cxnSpLocks/>
          </p:cNvCxnSpPr>
          <p:nvPr/>
        </p:nvCxnSpPr>
        <p:spPr>
          <a:xfrm>
            <a:off x="3614659" y="3390283"/>
            <a:ext cx="0" cy="184666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7BD6493-7A4D-EC03-7EF0-CEA8F17137E6}"/>
                  </a:ext>
                </a:extLst>
              </p14:cNvPr>
              <p14:cNvContentPartPr/>
              <p14:nvPr/>
            </p14:nvContentPartPr>
            <p14:xfrm>
              <a:off x="5897634" y="3408511"/>
              <a:ext cx="20160" cy="1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7BD6493-7A4D-EC03-7EF0-CEA8F17137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8634" y="3399511"/>
                <a:ext cx="37800" cy="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7847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916A-982E-BC7F-0297-4C964AC9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- Các phép toán trong hệ nhị phân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A0837-AAC7-6047-0875-005B430F6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eriod"/>
            </a:pPr>
            <a:r>
              <a:rPr lang="en-US"/>
              <a:t>Cho A = 45 và B = 31 (đổi sang hệ nhị phân 6 bit). Hãy thực hiện các phép toán bên dưới trong hệ nhị phân</a:t>
            </a:r>
          </a:p>
          <a:p>
            <a:pPr marL="514350" indent="-514350">
              <a:buAutoNum type="alphaLcPeriod"/>
            </a:pPr>
            <a:r>
              <a:rPr lang="en-US"/>
              <a:t>Tương tự câu a với A = 53 và B = 17.</a:t>
            </a:r>
          </a:p>
          <a:p>
            <a:pPr marL="0" indent="0">
              <a:buNone/>
            </a:pPr>
            <a:endParaRPr lang="en-US"/>
          </a:p>
          <a:p>
            <a:pPr lvl="1"/>
            <a:r>
              <a:rPr lang="en-US"/>
              <a:t>A + B</a:t>
            </a:r>
          </a:p>
          <a:p>
            <a:pPr lvl="1"/>
            <a:r>
              <a:rPr lang="en-US"/>
              <a:t>A – B</a:t>
            </a:r>
          </a:p>
          <a:p>
            <a:pPr lvl="1"/>
            <a:r>
              <a:rPr lang="en-US"/>
              <a:t>A * B</a:t>
            </a:r>
          </a:p>
          <a:p>
            <a:pPr lvl="1"/>
            <a:r>
              <a:rPr lang="en-US"/>
              <a:t>A / 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B95E7-3214-20E4-7FFC-8BB7ABB2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57FA5-3F2F-814C-6684-E90BC303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40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FF46CD-5743-DE39-7D27-6D3357AF6DC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382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41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526511" cy="884656"/>
          </a:xfrm>
        </p:spPr>
        <p:txBody>
          <a:bodyPr>
            <a:normAutofit/>
          </a:bodyPr>
          <a:lstStyle/>
          <a:p>
            <a:r>
              <a:rPr lang="en-US"/>
              <a:t>Biểu diễn số có dấu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97138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có dấu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068128" cy="5160527"/>
          </a:xfrm>
        </p:spPr>
        <p:txBody>
          <a:bodyPr>
            <a:noAutofit/>
          </a:bodyPr>
          <a:lstStyle/>
          <a:p>
            <a:pPr marL="304800" indent="-304800" eaLnBrk="1" hangingPunct="1">
              <a:spcBef>
                <a:spcPct val="0"/>
              </a:spcBef>
            </a:pPr>
            <a:r>
              <a:rPr lang="en-US"/>
              <a:t>Số dương (+) và Số âm (-)</a:t>
            </a:r>
          </a:p>
          <a:p>
            <a:pPr marL="704850" lvl="1" indent="-304800">
              <a:spcBef>
                <a:spcPct val="0"/>
              </a:spcBef>
              <a:buNone/>
            </a:pPr>
            <a:endParaRPr lang="en-US"/>
          </a:p>
          <a:p>
            <a:pPr marL="704850" lvl="1" indent="-304800">
              <a:spcBef>
                <a:spcPct val="0"/>
              </a:spcBef>
              <a:buNone/>
            </a:pPr>
            <a:endParaRPr lang="en-US"/>
          </a:p>
          <a:p>
            <a:pPr marL="304800" indent="-304800" eaLnBrk="1" hangingPunct="1">
              <a:spcBef>
                <a:spcPct val="0"/>
              </a:spcBef>
            </a:pPr>
            <a:r>
              <a:rPr lang="en-US"/>
              <a:t>Sử dụng thêm 1 bit (sign bit) để thể hiện dấu của số:</a:t>
            </a:r>
            <a:endParaRPr lang="en-US" sz="2400" b="1"/>
          </a:p>
          <a:p>
            <a:pPr lvl="1" eaLnBrk="1" hangingPunct="1">
              <a:spcBef>
                <a:spcPts val="800"/>
              </a:spcBef>
            </a:pPr>
            <a:r>
              <a:rPr lang="en-US" b="1"/>
              <a:t>0</a:t>
            </a:r>
            <a:r>
              <a:rPr lang="en-US"/>
              <a:t>: </a:t>
            </a:r>
            <a:r>
              <a:rPr lang="en-US" b="1"/>
              <a:t>dương</a:t>
            </a:r>
          </a:p>
          <a:p>
            <a:pPr lvl="1" eaLnBrk="1" hangingPunct="1">
              <a:spcBef>
                <a:spcPts val="800"/>
              </a:spcBef>
            </a:pPr>
            <a:r>
              <a:rPr lang="en-US" b="1"/>
              <a:t>1</a:t>
            </a:r>
            <a:r>
              <a:rPr lang="en-US"/>
              <a:t>: </a:t>
            </a:r>
            <a:r>
              <a:rPr lang="en-US" b="1"/>
              <a:t>âm</a:t>
            </a:r>
          </a:p>
          <a:p>
            <a:pPr lvl="2">
              <a:spcBef>
                <a:spcPts val="800"/>
              </a:spcBef>
            </a:pPr>
            <a:endParaRPr lang="en-US" sz="2000"/>
          </a:p>
          <a:p>
            <a:pPr eaLnBrk="1" hangingPunct="1">
              <a:spcBef>
                <a:spcPts val="800"/>
              </a:spcBef>
            </a:pPr>
            <a:r>
              <a:rPr lang="en-US"/>
              <a:t>Bit thể hiện dấu nằm ở ngoài cùng bên trái của số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99957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có dấu (tt)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068128" cy="5160527"/>
          </a:xfrm>
        </p:spPr>
        <p:txBody>
          <a:bodyPr>
            <a:noAutofit/>
          </a:bodyPr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/>
              <a:t>Có 3 dạng phổ biến để biểu diễn số có dấu: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marL="228600" lvl="1">
              <a:spcBef>
                <a:spcPct val="0"/>
              </a:spcBef>
            </a:pPr>
            <a:r>
              <a:rPr lang="en-US" sz="2800"/>
              <a:t>Dạng số “dấu và độ lớn”</a:t>
            </a:r>
          </a:p>
          <a:p>
            <a:pPr marL="228600" lvl="1">
              <a:spcBef>
                <a:spcPct val="0"/>
              </a:spcBef>
            </a:pPr>
            <a:endParaRPr lang="en-US" sz="2800"/>
          </a:p>
          <a:p>
            <a:pPr marL="228600" lvl="1">
              <a:spcBef>
                <a:spcPct val="0"/>
              </a:spcBef>
            </a:pPr>
            <a:r>
              <a:rPr lang="en-US" sz="2800"/>
              <a:t>Dạng số “bù 1”</a:t>
            </a:r>
          </a:p>
          <a:p>
            <a:pPr marL="228600" lvl="1">
              <a:spcBef>
                <a:spcPct val="0"/>
              </a:spcBef>
            </a:pPr>
            <a:endParaRPr lang="en-US" sz="2800"/>
          </a:p>
          <a:p>
            <a:pPr marL="228600" lvl="1">
              <a:spcBef>
                <a:spcPct val="0"/>
              </a:spcBef>
            </a:pPr>
            <a:r>
              <a:rPr lang="en-US" sz="2800"/>
              <a:t>Dạng số “bù 2”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43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682761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Aft>
                <a:spcPts val="1000"/>
              </a:spcAft>
              <a:defRPr/>
            </a:pPr>
            <a:r>
              <a:rPr lang="en-US" b="1"/>
              <a:t>Dạng số “dấu và độ lớn”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indent="-304800" eaLnBrk="1" hangingPunct="1">
              <a:spcBef>
                <a:spcPct val="0"/>
              </a:spcBef>
            </a:pPr>
            <a:r>
              <a:rPr lang="en-US" sz="2800"/>
              <a:t>Ví dụ: biểu diễn 1 số 6 bits có dấu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44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E44DB31-B037-E35C-63B8-FE8ADE621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1275" y="1819275"/>
            <a:ext cx="449580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90335B-4CDD-357E-D0A6-26442B4EFBE6}"/>
              </a:ext>
            </a:extLst>
          </p:cNvPr>
          <p:cNvCxnSpPr/>
          <p:nvPr/>
        </p:nvCxnSpPr>
        <p:spPr>
          <a:xfrm>
            <a:off x="7153275" y="2428875"/>
            <a:ext cx="9144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DE24E6-32D7-9AD5-9145-FF81AEC48A79}"/>
              </a:ext>
            </a:extLst>
          </p:cNvPr>
          <p:cNvSpPr txBox="1"/>
          <p:nvPr/>
        </p:nvSpPr>
        <p:spPr>
          <a:xfrm>
            <a:off x="8143875" y="2047875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+52</a:t>
            </a:r>
            <a:endParaRPr lang="vi-VN" sz="3600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DA1FD4-E0A6-5B1D-F101-FFEB2041B8F8}"/>
              </a:ext>
            </a:extLst>
          </p:cNvPr>
          <p:cNvCxnSpPr/>
          <p:nvPr/>
        </p:nvCxnSpPr>
        <p:spPr>
          <a:xfrm>
            <a:off x="7229475" y="4105275"/>
            <a:ext cx="9144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125EEE-6D22-DBF8-08D3-1354B79C66C6}"/>
              </a:ext>
            </a:extLst>
          </p:cNvPr>
          <p:cNvSpPr txBox="1"/>
          <p:nvPr/>
        </p:nvSpPr>
        <p:spPr>
          <a:xfrm>
            <a:off x="8220075" y="3724275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-52</a:t>
            </a:r>
            <a:endParaRPr lang="vi-VN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45D938-445A-DDEB-1B28-C68108B66C28}"/>
                  </a:ext>
                </a:extLst>
              </p:cNvPr>
              <p:cNvSpPr txBox="1"/>
              <p:nvPr/>
            </p:nvSpPr>
            <p:spPr>
              <a:xfrm>
                <a:off x="3343275" y="5400675"/>
                <a:ext cx="3657600" cy="872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Giá </a:t>
                </a:r>
                <a:r>
                  <a:rPr lang="en-US" sz="2400" dirty="0" err="1">
                    <a:latin typeface="+mj-lt"/>
                  </a:rPr>
                  <a:t>trị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số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dấu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và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độ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lớn</a:t>
                </a:r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45D938-445A-DDEB-1B28-C68108B66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75" y="5400675"/>
                <a:ext cx="3657600" cy="872739"/>
              </a:xfrm>
              <a:prstGeom prst="rect">
                <a:avLst/>
              </a:prstGeom>
              <a:blipFill>
                <a:blip r:embed="rId3"/>
                <a:stretch>
                  <a:fillRect l="-2500" t="-5594" b="-13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1DC86B1-D479-CFC5-57C9-EFF50432FF00}"/>
              </a:ext>
            </a:extLst>
          </p:cNvPr>
          <p:cNvSpPr txBox="1"/>
          <p:nvPr/>
        </p:nvSpPr>
        <p:spPr>
          <a:xfrm>
            <a:off x="7145287" y="5476875"/>
            <a:ext cx="2598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n: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số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bit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biểu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diễn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số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bù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2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b: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giá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trị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của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bit (0, 1)</a:t>
            </a:r>
          </a:p>
        </p:txBody>
      </p:sp>
    </p:spTree>
    <p:extLst>
      <p:ext uri="{BB962C8B-B14F-4D97-AF65-F5344CB8AC3E}">
        <p14:creationId xmlns:p14="http://schemas.microsoft.com/office/powerpoint/2010/main" val="2938773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Aft>
                <a:spcPts val="1000"/>
              </a:spcAft>
              <a:defRPr/>
            </a:pPr>
            <a:r>
              <a:rPr lang="en-US"/>
              <a:t>Dạng số “bù 1” và “bù 2”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indent="-304800" eaLnBrk="1" hangingPunct="1">
              <a:spcBef>
                <a:spcPct val="0"/>
              </a:spcBef>
            </a:pPr>
            <a:r>
              <a:rPr lang="en-US"/>
              <a:t>Phương pháp tìm số âm của một số dưới dạng số “bù 1” và dưới dạng số “bù 2”: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3E48D37D-9CCE-C1C5-B609-EB2B3A46576F}"/>
              </a:ext>
            </a:extLst>
          </p:cNvPr>
          <p:cNvGrpSpPr>
            <a:grpSpLocks/>
          </p:cNvGrpSpPr>
          <p:nvPr/>
        </p:nvGrpSpPr>
        <p:grpSpPr bwMode="auto">
          <a:xfrm>
            <a:off x="4724197" y="2419350"/>
            <a:ext cx="2252663" cy="1095375"/>
            <a:chOff x="0" y="0"/>
            <a:chExt cx="1419" cy="690"/>
          </a:xfrm>
        </p:grpSpPr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08AA38BA-7F38-340D-0B7A-E0B3A69D2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19" cy="690"/>
            </a:xfrm>
            <a:prstGeom prst="roundRect">
              <a:avLst>
                <a:gd name="adj" fmla="val 16667"/>
              </a:avLst>
            </a:prstGeom>
            <a:solidFill>
              <a:srgbClr val="4BACC6"/>
            </a:solidFill>
            <a:ln w="25400">
              <a:solidFill>
                <a:srgbClr val="4BACC6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dirty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6E462D-49B2-21EF-F0F6-6BD0898A5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33"/>
              <a:ext cx="1360" cy="624"/>
            </a:xfrm>
            <a:prstGeom prst="rect">
              <a:avLst/>
            </a:prstGeom>
            <a:solidFill>
              <a:srgbClr val="4BACC6"/>
            </a:solidFill>
            <a:ln w="9525">
              <a:solidFill>
                <a:srgbClr val="4BACC6"/>
              </a:solidFill>
              <a:round/>
              <a:headEnd/>
              <a:tailEnd/>
            </a:ln>
          </p:spPr>
          <p:txBody>
            <a:bodyPr lIns="101600" tIns="101600" rIns="101600" bIns="101600" anchor="ctr"/>
            <a:lstStyle/>
            <a:p>
              <a:pPr algn="ctr">
                <a:lnSpc>
                  <a:spcPct val="90000"/>
                </a:lnSpc>
                <a:spcBef>
                  <a:spcPts val="1175"/>
                </a:spcBef>
              </a:pPr>
              <a:r>
                <a:rPr lang="en-US" sz="2800" dirty="0">
                  <a:solidFill>
                    <a:srgbClr val="FFFFFF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Binary</a:t>
              </a:r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95F4D0FD-A1AC-6F3C-B3B7-D7A3D8DA129D}"/>
              </a:ext>
            </a:extLst>
          </p:cNvPr>
          <p:cNvGrpSpPr>
            <a:grpSpLocks/>
          </p:cNvGrpSpPr>
          <p:nvPr/>
        </p:nvGrpSpPr>
        <p:grpSpPr bwMode="auto">
          <a:xfrm>
            <a:off x="4724197" y="3638550"/>
            <a:ext cx="2252663" cy="1095375"/>
            <a:chOff x="0" y="0"/>
            <a:chExt cx="1419" cy="690"/>
          </a:xfrm>
        </p:grpSpPr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7F8498D0-10AC-CC18-62AC-CA6B90015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19" cy="690"/>
            </a:xfrm>
            <a:prstGeom prst="roundRect">
              <a:avLst>
                <a:gd name="adj" fmla="val 16667"/>
              </a:avLst>
            </a:prstGeom>
            <a:solidFill>
              <a:srgbClr val="366092"/>
            </a:solidFill>
            <a:ln w="25400">
              <a:solidFill>
                <a:srgbClr val="366092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C0FE40B7-12A4-20F1-1373-26B7CD085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33"/>
              <a:ext cx="1360" cy="624"/>
            </a:xfrm>
            <a:prstGeom prst="rect">
              <a:avLst/>
            </a:prstGeom>
            <a:solidFill>
              <a:srgbClr val="366092"/>
            </a:solidFill>
            <a:ln w="9525">
              <a:solidFill>
                <a:srgbClr val="366092"/>
              </a:solidFill>
              <a:round/>
              <a:headEnd/>
              <a:tailEnd/>
            </a:ln>
          </p:spPr>
          <p:txBody>
            <a:bodyPr lIns="101600" tIns="101600" rIns="101600" bIns="101600" anchor="ctr"/>
            <a:lstStyle/>
            <a:p>
              <a:pPr>
                <a:lnSpc>
                  <a:spcPct val="90000"/>
                </a:lnSpc>
                <a:spcBef>
                  <a:spcPts val="1175"/>
                </a:spcBef>
              </a:pPr>
              <a:r>
                <a:rPr lang="en-US" sz="2800">
                  <a:solidFill>
                    <a:srgbClr val="FFFFFF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1’s complement</a:t>
              </a:r>
            </a:p>
          </p:txBody>
        </p:sp>
      </p:grpSp>
      <p:grpSp>
        <p:nvGrpSpPr>
          <p:cNvPr id="12" name="Group 16">
            <a:extLst>
              <a:ext uri="{FF2B5EF4-FFF2-40B4-BE49-F238E27FC236}">
                <a16:creationId xmlns:a16="http://schemas.microsoft.com/office/drawing/2014/main" id="{75F0FED2-15F7-E751-AF5A-35F97FD862BE}"/>
              </a:ext>
            </a:extLst>
          </p:cNvPr>
          <p:cNvGrpSpPr>
            <a:grpSpLocks/>
          </p:cNvGrpSpPr>
          <p:nvPr/>
        </p:nvGrpSpPr>
        <p:grpSpPr bwMode="auto">
          <a:xfrm>
            <a:off x="4724197" y="4857750"/>
            <a:ext cx="2252663" cy="1095375"/>
            <a:chOff x="0" y="0"/>
            <a:chExt cx="1419" cy="690"/>
          </a:xfrm>
        </p:grpSpPr>
        <p:sp>
          <p:nvSpPr>
            <p:cNvPr id="13" name="AutoShape 14">
              <a:extLst>
                <a:ext uri="{FF2B5EF4-FFF2-40B4-BE49-F238E27FC236}">
                  <a16:creationId xmlns:a16="http://schemas.microsoft.com/office/drawing/2014/main" id="{97D36B5F-D01D-DFF8-9239-19DCDE106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19" cy="690"/>
            </a:xfrm>
            <a:prstGeom prst="roundRect">
              <a:avLst>
                <a:gd name="adj" fmla="val 16667"/>
              </a:avLst>
            </a:prstGeom>
            <a:solidFill>
              <a:srgbClr val="0F243E"/>
            </a:solidFill>
            <a:ln w="25400">
              <a:solidFill>
                <a:srgbClr val="0F243E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EDA83584-8D5F-D5DA-E39B-D31CA5741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33"/>
              <a:ext cx="1360" cy="624"/>
            </a:xfrm>
            <a:prstGeom prst="rect">
              <a:avLst/>
            </a:prstGeom>
            <a:solidFill>
              <a:srgbClr val="0F243E"/>
            </a:solidFill>
            <a:ln w="9525">
              <a:solidFill>
                <a:srgbClr val="0F243E"/>
              </a:solidFill>
              <a:round/>
              <a:headEnd/>
              <a:tailEnd/>
            </a:ln>
          </p:spPr>
          <p:txBody>
            <a:bodyPr lIns="101600" tIns="101600" rIns="101600" bIns="101600" anchor="ctr"/>
            <a:lstStyle/>
            <a:p>
              <a:pPr>
                <a:lnSpc>
                  <a:spcPct val="90000"/>
                </a:lnSpc>
                <a:spcBef>
                  <a:spcPts val="1175"/>
                </a:spcBef>
              </a:pPr>
              <a:r>
                <a:rPr lang="en-US" sz="2800">
                  <a:solidFill>
                    <a:srgbClr val="FFFFFF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2’s complement</a:t>
              </a:r>
            </a:p>
          </p:txBody>
        </p:sp>
      </p:grpSp>
      <p:sp>
        <p:nvSpPr>
          <p:cNvPr id="15" name="Rectangle 17">
            <a:extLst>
              <a:ext uri="{FF2B5EF4-FFF2-40B4-BE49-F238E27FC236}">
                <a16:creationId xmlns:a16="http://schemas.microsoft.com/office/drawing/2014/main" id="{890FF86D-59DF-5C80-9C3A-99F4B1A4273A}"/>
              </a:ext>
            </a:extLst>
          </p:cNvPr>
          <p:cNvSpPr>
            <a:spLocks/>
          </p:cNvSpPr>
          <p:nvPr/>
        </p:nvSpPr>
        <p:spPr bwMode="auto">
          <a:xfrm>
            <a:off x="7162597" y="2495550"/>
            <a:ext cx="37338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  <a:sym typeface="Times New Roman" charset="0"/>
              </a:rPr>
              <a:t>Ex:</a:t>
            </a:r>
            <a:endParaRPr lang="en-US" sz="1800" dirty="0">
              <a:solidFill>
                <a:schemeClr val="tx1"/>
              </a:solidFill>
              <a:latin typeface="Times New Roman" charset="0"/>
              <a:cs typeface="Times New Roman" charset="0"/>
              <a:sym typeface="Times New Roman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  <a:sym typeface="Times New Roman" charset="0"/>
              </a:rPr>
              <a:t>0 1_ 0 0 1 0 _0 1 0 0 (292</a:t>
            </a:r>
            <a:r>
              <a:rPr lang="en-US" sz="2400" baseline="-25000" dirty="0">
                <a:solidFill>
                  <a:srgbClr val="FF0000"/>
                </a:solidFill>
                <a:latin typeface="Times New Roman" charset="0"/>
                <a:cs typeface="Times New Roman" charset="0"/>
                <a:sym typeface="Times New Roman" charset="0"/>
              </a:rPr>
              <a:t>10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  <a:sym typeface="Times New Roman" charset="0"/>
              </a:rPr>
              <a:t>)</a:t>
            </a:r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4D5C5DBD-692A-ED30-99E7-D68D55A2F1D7}"/>
              </a:ext>
            </a:extLst>
          </p:cNvPr>
          <p:cNvGrpSpPr>
            <a:grpSpLocks/>
          </p:cNvGrpSpPr>
          <p:nvPr/>
        </p:nvGrpSpPr>
        <p:grpSpPr bwMode="auto">
          <a:xfrm>
            <a:off x="1142797" y="2967038"/>
            <a:ext cx="9690100" cy="1446212"/>
            <a:chOff x="-480" y="0"/>
            <a:chExt cx="6104" cy="910"/>
          </a:xfrm>
        </p:grpSpPr>
        <p:sp>
          <p:nvSpPr>
            <p:cNvPr id="17" name="AutoShape 18">
              <a:extLst>
                <a:ext uri="{FF2B5EF4-FFF2-40B4-BE49-F238E27FC236}">
                  <a16:creationId xmlns:a16="http://schemas.microsoft.com/office/drawing/2014/main" id="{5E17E46B-32AD-DAF9-1ABB-1DAB04A76C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305" y="0"/>
              <a:ext cx="472" cy="768"/>
            </a:xfrm>
            <a:custGeom>
              <a:avLst/>
              <a:gdLst>
                <a:gd name="T0" fmla="*/ 0 w 21600"/>
                <a:gd name="T1" fmla="*/ 0 h 21600"/>
                <a:gd name="T2" fmla="*/ 472 w 21600"/>
                <a:gd name="T3" fmla="*/ 384 h 21600"/>
                <a:gd name="T4" fmla="*/ 1 w 21600"/>
                <a:gd name="T5" fmla="*/ 76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cubicBezTo>
                    <a:pt x="10800" y="0"/>
                    <a:pt x="21600" y="5400"/>
                    <a:pt x="21600" y="10800"/>
                  </a:cubicBezTo>
                  <a:cubicBezTo>
                    <a:pt x="21600" y="16200"/>
                    <a:pt x="10823" y="21600"/>
                    <a:pt x="46" y="2160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A37865E2-8222-4516-4A38-BD61447A6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80" y="206"/>
              <a:ext cx="1680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 algn="r"/>
              <a:r>
                <a:rPr lang="en-US" sz="24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Negate each bit</a:t>
              </a:r>
            </a:p>
          </p:txBody>
        </p:sp>
        <p:sp>
          <p:nvSpPr>
            <p:cNvPr id="19" name="AutoShape 20">
              <a:extLst>
                <a:ext uri="{FF2B5EF4-FFF2-40B4-BE49-F238E27FC236}">
                  <a16:creationId xmlns:a16="http://schemas.microsoft.com/office/drawing/2014/main" id="{E1AD0E77-4776-48AE-67F5-F8D099335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04"/>
              <a:ext cx="192" cy="432"/>
            </a:xfrm>
            <a:custGeom>
              <a:avLst/>
              <a:gdLst>
                <a:gd name="T0" fmla="*/ 0 w 21600"/>
                <a:gd name="T1" fmla="*/ 336 h 21600"/>
                <a:gd name="T2" fmla="*/ 48 w 21600"/>
                <a:gd name="T3" fmla="*/ 336 h 21600"/>
                <a:gd name="T4" fmla="*/ 48 w 21600"/>
                <a:gd name="T5" fmla="*/ 0 h 21600"/>
                <a:gd name="T6" fmla="*/ 144 w 21600"/>
                <a:gd name="T7" fmla="*/ 0 h 21600"/>
                <a:gd name="T8" fmla="*/ 144 w 21600"/>
                <a:gd name="T9" fmla="*/ 336 h 21600"/>
                <a:gd name="T10" fmla="*/ 192 w 21600"/>
                <a:gd name="T11" fmla="*/ 336 h 21600"/>
                <a:gd name="T12" fmla="*/ 96 w 21600"/>
                <a:gd name="T13" fmla="*/ 432 h 21600"/>
                <a:gd name="T14" fmla="*/ 0 w 21600"/>
                <a:gd name="T15" fmla="*/ 336 h 21600"/>
                <a:gd name="T16" fmla="*/ 0 w 21600"/>
                <a:gd name="T17" fmla="*/ 336 h 216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600" h="21600">
                  <a:moveTo>
                    <a:pt x="0" y="16800"/>
                  </a:moveTo>
                  <a:lnTo>
                    <a:pt x="5400" y="16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800"/>
                  </a:lnTo>
                  <a:lnTo>
                    <a:pt x="21600" y="16800"/>
                  </a:lnTo>
                  <a:lnTo>
                    <a:pt x="10800" y="21600"/>
                  </a:lnTo>
                  <a:lnTo>
                    <a:pt x="0" y="16800"/>
                  </a:lnTo>
                  <a:close/>
                  <a:moveTo>
                    <a:pt x="0" y="16800"/>
                  </a:moveTo>
                </a:path>
              </a:pathLst>
            </a:custGeom>
            <a:solidFill>
              <a:srgbClr val="000000"/>
            </a:solidFill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" name="Rectangle 21">
              <a:extLst>
                <a:ext uri="{FF2B5EF4-FFF2-40B4-BE49-F238E27FC236}">
                  <a16:creationId xmlns:a16="http://schemas.microsoft.com/office/drawing/2014/main" id="{D71555D4-DDAD-997B-7FA5-39B150276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614"/>
              <a:ext cx="2312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 algn="l"/>
              <a:r>
                <a:rPr lang="en-US" sz="2400" dirty="0">
                  <a:solidFill>
                    <a:schemeClr val="tx1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1 0_ 1 1 0 1_ 1 0 1 1 (-292</a:t>
              </a:r>
              <a:r>
                <a:rPr lang="en-US" sz="24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10</a:t>
              </a:r>
              <a:r>
                <a:rPr lang="en-US" sz="2400" dirty="0">
                  <a:solidFill>
                    <a:schemeClr val="tx1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)</a:t>
              </a: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8846836F-6ECD-A446-AC2D-376E4285DB52}"/>
              </a:ext>
            </a:extLst>
          </p:cNvPr>
          <p:cNvGrpSpPr>
            <a:grpSpLocks/>
          </p:cNvGrpSpPr>
          <p:nvPr/>
        </p:nvGrpSpPr>
        <p:grpSpPr bwMode="auto">
          <a:xfrm>
            <a:off x="1866697" y="4248150"/>
            <a:ext cx="8966200" cy="1384300"/>
            <a:chOff x="0" y="0"/>
            <a:chExt cx="5648" cy="872"/>
          </a:xfrm>
        </p:grpSpPr>
        <p:grpSp>
          <p:nvGrpSpPr>
            <p:cNvPr id="22" name="Group 28">
              <a:extLst>
                <a:ext uri="{FF2B5EF4-FFF2-40B4-BE49-F238E27FC236}">
                  <a16:creationId xmlns:a16="http://schemas.microsoft.com/office/drawing/2014/main" id="{DF11C9D9-3060-9018-A72D-F86132699A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648" cy="872"/>
              <a:chOff x="0" y="0"/>
              <a:chExt cx="5648" cy="872"/>
            </a:xfrm>
          </p:grpSpPr>
          <p:sp>
            <p:nvSpPr>
              <p:cNvPr id="25" name="AutoShape 24">
                <a:extLst>
                  <a:ext uri="{FF2B5EF4-FFF2-40B4-BE49-F238E27FC236}">
                    <a16:creationId xmlns:a16="http://schemas.microsoft.com/office/drawing/2014/main" id="{208C2723-D57D-8F69-FD38-5A75B9F6B00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47" y="0"/>
                <a:ext cx="454" cy="768"/>
              </a:xfrm>
              <a:custGeom>
                <a:avLst/>
                <a:gdLst>
                  <a:gd name="T0" fmla="*/ 0 w 21600"/>
                  <a:gd name="T1" fmla="*/ 0 h 21600"/>
                  <a:gd name="T2" fmla="*/ 454 w 21600"/>
                  <a:gd name="T3" fmla="*/ 384 h 21600"/>
                  <a:gd name="T4" fmla="*/ 1 w 21600"/>
                  <a:gd name="T5" fmla="*/ 768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cubicBezTo>
                      <a:pt x="10800" y="0"/>
                      <a:pt x="21600" y="5400"/>
                      <a:pt x="21600" y="10800"/>
                    </a:cubicBezTo>
                    <a:cubicBezTo>
                      <a:pt x="21600" y="16200"/>
                      <a:pt x="10824" y="21600"/>
                      <a:pt x="48" y="2160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arrow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1D987E3-628C-2BF3-9E15-D301CEE11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85"/>
                <a:ext cx="1232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/>
              <a:p>
                <a:pPr algn="r"/>
                <a:r>
                  <a:rPr lang="en-US" sz="2400" dirty="0">
                    <a:solidFill>
                      <a:srgbClr val="FF0000"/>
                    </a:solidFill>
                    <a:latin typeface="Times New Roman" charset="0"/>
                    <a:cs typeface="Times New Roman" charset="0"/>
                    <a:sym typeface="Times New Roman" charset="0"/>
                  </a:rPr>
                  <a:t>Add 1</a:t>
                </a:r>
              </a:p>
            </p:txBody>
          </p:sp>
          <p:sp>
            <p:nvSpPr>
              <p:cNvPr id="27" name="AutoShape 26">
                <a:extLst>
                  <a:ext uri="{FF2B5EF4-FFF2-40B4-BE49-F238E27FC236}">
                    <a16:creationId xmlns:a16="http://schemas.microsoft.com/office/drawing/2014/main" id="{8634540E-86B7-64A6-AD9C-A3585E05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4" y="144"/>
                <a:ext cx="192" cy="432"/>
              </a:xfrm>
              <a:custGeom>
                <a:avLst/>
                <a:gdLst>
                  <a:gd name="T0" fmla="*/ 0 w 21600"/>
                  <a:gd name="T1" fmla="*/ 336 h 21600"/>
                  <a:gd name="T2" fmla="*/ 48 w 21600"/>
                  <a:gd name="T3" fmla="*/ 336 h 21600"/>
                  <a:gd name="T4" fmla="*/ 48 w 21600"/>
                  <a:gd name="T5" fmla="*/ 0 h 21600"/>
                  <a:gd name="T6" fmla="*/ 144 w 21600"/>
                  <a:gd name="T7" fmla="*/ 0 h 21600"/>
                  <a:gd name="T8" fmla="*/ 144 w 21600"/>
                  <a:gd name="T9" fmla="*/ 336 h 21600"/>
                  <a:gd name="T10" fmla="*/ 192 w 21600"/>
                  <a:gd name="T11" fmla="*/ 336 h 21600"/>
                  <a:gd name="T12" fmla="*/ 96 w 21600"/>
                  <a:gd name="T13" fmla="*/ 432 h 21600"/>
                  <a:gd name="T14" fmla="*/ 0 w 21600"/>
                  <a:gd name="T15" fmla="*/ 336 h 21600"/>
                  <a:gd name="T16" fmla="*/ 0 w 21600"/>
                  <a:gd name="T17" fmla="*/ 336 h 216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600" h="21600">
                    <a:moveTo>
                      <a:pt x="0" y="16800"/>
                    </a:moveTo>
                    <a:lnTo>
                      <a:pt x="5400" y="16800"/>
                    </a:lnTo>
                    <a:lnTo>
                      <a:pt x="5400" y="0"/>
                    </a:lnTo>
                    <a:lnTo>
                      <a:pt x="16200" y="0"/>
                    </a:lnTo>
                    <a:lnTo>
                      <a:pt x="16200" y="16800"/>
                    </a:lnTo>
                    <a:lnTo>
                      <a:pt x="21600" y="16800"/>
                    </a:lnTo>
                    <a:lnTo>
                      <a:pt x="10800" y="21600"/>
                    </a:lnTo>
                    <a:lnTo>
                      <a:pt x="0" y="16800"/>
                    </a:lnTo>
                    <a:close/>
                    <a:moveTo>
                      <a:pt x="0" y="16800"/>
                    </a:moveTo>
                  </a:path>
                </a:pathLst>
              </a:custGeom>
              <a:solidFill>
                <a:srgbClr val="000000"/>
              </a:solidFill>
              <a:ln w="2540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09FB5C0-6DAA-D567-BB62-3080F9259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576"/>
                <a:ext cx="2312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/>
              <a:p>
                <a:pPr algn="l"/>
                <a:r>
                  <a:rPr lang="en-US" sz="2400">
                    <a:solidFill>
                      <a:schemeClr val="tx1"/>
                    </a:solidFill>
                    <a:latin typeface="Times New Roman" charset="0"/>
                    <a:cs typeface="Times New Roman" charset="0"/>
                    <a:sym typeface="Times New Roman" charset="0"/>
                  </a:rPr>
                  <a:t>1 0 1 1 0 1 1 1 0 0   (-292</a:t>
                </a:r>
                <a:r>
                  <a:rPr lang="en-US" sz="2400" baseline="-25000">
                    <a:solidFill>
                      <a:srgbClr val="FF0000"/>
                    </a:solidFill>
                    <a:latin typeface="Times New Roman" charset="0"/>
                    <a:cs typeface="Times New Roman" charset="0"/>
                    <a:sym typeface="Times New Roman" charset="0"/>
                  </a:rPr>
                  <a:t>10</a:t>
                </a:r>
                <a:r>
                  <a:rPr lang="en-US" sz="2400">
                    <a:solidFill>
                      <a:schemeClr val="tx1"/>
                    </a:solidFill>
                    <a:latin typeface="Times New Roman" charset="0"/>
                    <a:cs typeface="Times New Roman" charset="0"/>
                    <a:sym typeface="Times New Roman" charset="0"/>
                  </a:rPr>
                  <a:t>) </a:t>
                </a:r>
              </a:p>
            </p:txBody>
          </p:sp>
        </p:grp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6D8A8336-4BFA-C633-3E27-908EA64C2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44"/>
              <a:ext cx="536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 algn="l"/>
              <a:r>
                <a:rPr lang="en-US" sz="2400">
                  <a:solidFill>
                    <a:schemeClr val="tx1"/>
                  </a:solidFill>
                  <a:latin typeface="Times New Roman" charset="0"/>
                  <a:cs typeface="Times New Roman" charset="0"/>
                  <a:sym typeface="Times New Roman" charset="0"/>
                </a:rPr>
                <a:t>+1</a:t>
              </a:r>
            </a:p>
          </p:txBody>
        </p:sp>
        <p:sp>
          <p:nvSpPr>
            <p:cNvPr id="24" name="Line 30">
              <a:extLst>
                <a:ext uri="{FF2B5EF4-FFF2-40B4-BE49-F238E27FC236}">
                  <a16:creationId xmlns:a16="http://schemas.microsoft.com/office/drawing/2014/main" id="{9A48461B-AFD0-DB8F-4B62-2FB1902D8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479"/>
              <a:ext cx="81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735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Aft>
                <a:spcPts val="1000"/>
              </a:spcAft>
              <a:defRPr/>
            </a:pPr>
            <a:r>
              <a:rPr lang="en-US"/>
              <a:t>Biểu diễn số có dấu dưới dạng số bù 2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0B9F51F-5FB7-BB89-64D2-9A4CCAC59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6902" y="1318897"/>
            <a:ext cx="6000750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5AE9F4-C3BF-5195-31A1-A6A34063150E}"/>
              </a:ext>
            </a:extLst>
          </p:cNvPr>
          <p:cNvCxnSpPr/>
          <p:nvPr/>
        </p:nvCxnSpPr>
        <p:spPr>
          <a:xfrm>
            <a:off x="8719102" y="1852297"/>
            <a:ext cx="9144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56B587-31B6-B797-49D1-E0367C8F5B85}"/>
              </a:ext>
            </a:extLst>
          </p:cNvPr>
          <p:cNvCxnSpPr/>
          <p:nvPr/>
        </p:nvCxnSpPr>
        <p:spPr>
          <a:xfrm>
            <a:off x="8795302" y="4101566"/>
            <a:ext cx="9144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D405BC-0FB0-0F1B-F998-C4E8A7FB27B4}"/>
                  </a:ext>
                </a:extLst>
              </p:cNvPr>
              <p:cNvSpPr txBox="1"/>
              <p:nvPr/>
            </p:nvSpPr>
            <p:spPr>
              <a:xfrm>
                <a:off x="2165902" y="5556142"/>
                <a:ext cx="5707012" cy="483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bù</a:t>
                </a:r>
                <a:r>
                  <a:rPr lang="en-US" sz="2400" dirty="0"/>
                  <a:t> 2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D405BC-0FB0-0F1B-F998-C4E8A7FB2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902" y="5556142"/>
                <a:ext cx="5707012" cy="483979"/>
              </a:xfrm>
              <a:prstGeom prst="rect">
                <a:avLst/>
              </a:prstGeom>
              <a:blipFill>
                <a:blip r:embed="rId3"/>
                <a:stretch>
                  <a:fillRect l="-1603" t="-50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B6EE490-C7A2-B8DE-D923-79447CBB3035}"/>
              </a:ext>
            </a:extLst>
          </p:cNvPr>
          <p:cNvSpPr txBox="1"/>
          <p:nvPr/>
        </p:nvSpPr>
        <p:spPr>
          <a:xfrm>
            <a:off x="7872914" y="5556142"/>
            <a:ext cx="2598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n: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số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bit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biểu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diễn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số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bù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2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b: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giá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trị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của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bit (0,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FCC7C-D046-D8D2-4FCB-D5A5DF67237A}"/>
              </a:ext>
            </a:extLst>
          </p:cNvPr>
          <p:cNvSpPr txBox="1"/>
          <p:nvPr/>
        </p:nvSpPr>
        <p:spPr>
          <a:xfrm>
            <a:off x="9900202" y="1529131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+45</a:t>
            </a:r>
            <a:endParaRPr lang="vi-VN" sz="36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067DD6-88CE-76B9-6819-663960B691C0}"/>
              </a:ext>
            </a:extLst>
          </p:cNvPr>
          <p:cNvSpPr txBox="1"/>
          <p:nvPr/>
        </p:nvSpPr>
        <p:spPr>
          <a:xfrm>
            <a:off x="9976402" y="37784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-45</a:t>
            </a:r>
            <a:endParaRPr lang="vi-V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166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D435-2940-3057-2C21-C8200391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Tầm giá trị biểu diễn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685D5-598B-02A0-8A31-9727D5AB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64CC2-5F20-C58B-84F0-8B540A77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47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74C244-1092-4D11-E73F-BF59D3C12CA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9A1264A-D746-AE1E-DE2D-E1F350B4714A}"/>
              </a:ext>
            </a:extLst>
          </p:cNvPr>
          <p:cNvSpPr txBox="1">
            <a:spLocks noChangeArrowheads="1"/>
          </p:cNvSpPr>
          <p:nvPr/>
        </p:nvSpPr>
        <p:spPr>
          <a:xfrm>
            <a:off x="2082800" y="1045751"/>
            <a:ext cx="8458200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800" indent="-304800">
              <a:spcBef>
                <a:spcPct val="0"/>
              </a:spcBef>
            </a:pPr>
            <a:r>
              <a:rPr lang="en-US">
                <a:latin typeface="Times New Roman" charset="0"/>
                <a:cs typeface="Times New Roman" charset="0"/>
                <a:sym typeface="Times New Roman" charset="0"/>
              </a:rPr>
              <a:t>Cho số có dấu n bit 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0D4C5E-0095-A05D-C511-CE8F70BBE829}"/>
              </a:ext>
            </a:extLst>
          </p:cNvPr>
          <p:cNvGrpSpPr/>
          <p:nvPr/>
        </p:nvGrpSpPr>
        <p:grpSpPr>
          <a:xfrm>
            <a:off x="1682750" y="1426751"/>
            <a:ext cx="9175162" cy="4957465"/>
            <a:chOff x="57150" y="1676400"/>
            <a:chExt cx="9175162" cy="495746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3CDAA2C-B3EA-3FC1-08F3-42C9CAC79A2B}"/>
                </a:ext>
              </a:extLst>
            </p:cNvPr>
            <p:cNvGrpSpPr/>
            <p:nvPr/>
          </p:nvGrpSpPr>
          <p:grpSpPr>
            <a:xfrm>
              <a:off x="57150" y="1676400"/>
              <a:ext cx="7943850" cy="4957465"/>
              <a:chOff x="666750" y="1676400"/>
              <a:chExt cx="7943850" cy="4957465"/>
            </a:xfrm>
          </p:grpSpPr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2969FE3D-D88D-9829-1006-20C524844A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750" y="1676400"/>
                <a:ext cx="7943850" cy="458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BB3D4F-45B7-F300-96E9-0CEE10CD7581}"/>
                  </a:ext>
                </a:extLst>
              </p:cNvPr>
              <p:cNvSpPr txBox="1"/>
              <p:nvPr/>
            </p:nvSpPr>
            <p:spPr>
              <a:xfrm>
                <a:off x="2126681" y="6167734"/>
                <a:ext cx="22669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-(2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-1)</a:t>
                </a:r>
                <a:r>
                  <a:rPr lang="en-US" sz="2400" dirty="0">
                    <a:sym typeface="Wingdings" panose="05000000000000000000" pitchFamily="2" charset="2"/>
                  </a:rPr>
                  <a:t></a:t>
                </a:r>
                <a:r>
                  <a:rPr lang="en-US" sz="2400" dirty="0"/>
                  <a:t> 2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-1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4CDEC0-BC7E-596F-22C3-ED4572F673F9}"/>
                  </a:ext>
                </a:extLst>
              </p:cNvPr>
              <p:cNvSpPr txBox="1"/>
              <p:nvPr/>
            </p:nvSpPr>
            <p:spPr>
              <a:xfrm>
                <a:off x="4210033" y="6167735"/>
                <a:ext cx="22669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-(2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-1)</a:t>
                </a:r>
                <a:r>
                  <a:rPr lang="en-US" sz="2400" dirty="0">
                    <a:sym typeface="Wingdings" panose="05000000000000000000" pitchFamily="2" charset="2"/>
                  </a:rPr>
                  <a:t></a:t>
                </a:r>
                <a:r>
                  <a:rPr lang="en-US" sz="2400" dirty="0"/>
                  <a:t> 2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-1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95CED6-4415-80DA-309D-5E5A03D9A033}"/>
                  </a:ext>
                </a:extLst>
              </p:cNvPr>
              <p:cNvSpPr txBox="1"/>
              <p:nvPr/>
            </p:nvSpPr>
            <p:spPr>
              <a:xfrm>
                <a:off x="6576698" y="6172200"/>
                <a:ext cx="18053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-2</a:t>
                </a:r>
                <a:r>
                  <a:rPr lang="en-US" sz="2400" baseline="30000" dirty="0"/>
                  <a:t>n-1</a:t>
                </a:r>
                <a:r>
                  <a:rPr lang="en-US" sz="2400" dirty="0">
                    <a:sym typeface="Wingdings" panose="05000000000000000000" pitchFamily="2" charset="2"/>
                  </a:rPr>
                  <a:t></a:t>
                </a:r>
                <a:r>
                  <a:rPr lang="en-US" sz="2400" dirty="0"/>
                  <a:t> 2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-1</a:t>
                </a:r>
              </a:p>
            </p:txBody>
          </p:sp>
        </p:grp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167EFAE3-CC78-35FA-6841-A740A743F50D}"/>
                </a:ext>
              </a:extLst>
            </p:cNvPr>
            <p:cNvSpPr/>
            <p:nvPr/>
          </p:nvSpPr>
          <p:spPr>
            <a:xfrm>
              <a:off x="7772400" y="2057400"/>
              <a:ext cx="228600" cy="2057400"/>
            </a:xfrm>
            <a:prstGeom prst="rightBrac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CB33B9-8610-8F91-1424-57F78FB72F9B}"/>
                </a:ext>
              </a:extLst>
            </p:cNvPr>
            <p:cNvSpPr txBox="1"/>
            <p:nvPr/>
          </p:nvSpPr>
          <p:spPr>
            <a:xfrm>
              <a:off x="7848600" y="2329696"/>
              <a:ext cx="1383712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Số</a:t>
              </a:r>
              <a:r>
                <a:rPr lang="en-US" sz="2200" dirty="0"/>
                <a:t> </a:t>
              </a:r>
              <a:r>
                <a:rPr lang="en-US" sz="2200" dirty="0" err="1"/>
                <a:t>dương</a:t>
              </a:r>
              <a:endParaRPr lang="en-US" sz="2200" dirty="0"/>
            </a:p>
            <a:p>
              <a:r>
                <a:rPr lang="en-US" sz="2200" dirty="0" err="1"/>
                <a:t>được</a:t>
              </a:r>
              <a:r>
                <a:rPr lang="en-US" sz="2200" dirty="0"/>
                <a:t> </a:t>
              </a:r>
              <a:r>
                <a:rPr lang="en-US" sz="2200" dirty="0" err="1"/>
                <a:t>biểu</a:t>
              </a:r>
              <a:endParaRPr lang="en-US" sz="2200" dirty="0"/>
            </a:p>
            <a:p>
              <a:r>
                <a:rPr lang="en-US" sz="2200" dirty="0" err="1"/>
                <a:t>diễn</a:t>
              </a:r>
              <a:r>
                <a:rPr lang="en-US" sz="2200" dirty="0"/>
                <a:t> </a:t>
              </a:r>
              <a:r>
                <a:rPr lang="en-US" sz="2200" dirty="0" err="1"/>
                <a:t>giống</a:t>
              </a:r>
              <a:endParaRPr lang="en-US" sz="2200" dirty="0"/>
            </a:p>
            <a:p>
              <a:r>
                <a:rPr lang="en-US" sz="2200" dirty="0" err="1"/>
                <a:t>nhau</a:t>
              </a:r>
              <a:r>
                <a:rPr lang="en-US" sz="2200" dirty="0"/>
                <a:t> ở </a:t>
              </a:r>
              <a:r>
                <a:rPr lang="en-US" sz="2200" dirty="0" err="1"/>
                <a:t>cả</a:t>
              </a:r>
              <a:endParaRPr lang="en-US" sz="2200" dirty="0"/>
            </a:p>
            <a:p>
              <a:r>
                <a:rPr lang="en-US" sz="2200" dirty="0"/>
                <a:t>3 </a:t>
              </a:r>
              <a:r>
                <a:rPr lang="en-US" sz="2200" dirty="0" err="1"/>
                <a:t>dạng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5305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Aft>
                <a:spcPts val="1000"/>
              </a:spcAft>
              <a:defRPr/>
            </a:pPr>
            <a:r>
              <a:rPr lang="en-US"/>
              <a:t>Ví dụ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indent="-304800">
              <a:spcBef>
                <a:spcPct val="0"/>
              </a:spcBef>
            </a:pPr>
            <a:r>
              <a:rPr lang="en-US">
                <a:latin typeface="Times New Roman" charset="0"/>
                <a:cs typeface="Times New Roman" charset="0"/>
                <a:sym typeface="Times New Roman" charset="0"/>
              </a:rPr>
              <a:t>Biểu diễn số có dấu áp dụng phương pháp dạng số bù 2 5-bit</a:t>
            </a:r>
            <a:endParaRPr lang="en-US" sz="24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/>
            </a:pPr>
            <a:r>
              <a:rPr lang="en-US"/>
              <a:t>+13</a:t>
            </a:r>
            <a:endParaRPr lang="en-US" sz="20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2"/>
            </a:pPr>
            <a:r>
              <a:rPr lang="en-US"/>
              <a:t>-9</a:t>
            </a:r>
            <a:endParaRPr lang="en-US" sz="20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2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r>
              <a:rPr lang="en-US"/>
              <a:t>-12</a:t>
            </a:r>
            <a:endParaRPr lang="en-US" sz="20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4"/>
            </a:pPr>
            <a:r>
              <a:rPr lang="en-US"/>
              <a:t>-6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281481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Aft>
                <a:spcPts val="1000"/>
              </a:spcAft>
              <a:defRPr/>
            </a:pPr>
            <a:r>
              <a:rPr lang="en-US"/>
              <a:t>Ví dụ (tt)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indent="-304800">
              <a:spcBef>
                <a:spcPct val="0"/>
              </a:spcBef>
            </a:pPr>
            <a:r>
              <a:rPr lang="en-US">
                <a:latin typeface="Times New Roman" charset="0"/>
                <a:cs typeface="Times New Roman" charset="0"/>
                <a:sym typeface="Times New Roman" charset="0"/>
              </a:rPr>
              <a:t>Tìm số thập phân tương ứng với biểu diễn số có dấu dưới dạng số bù 2 6-bit bên dưới</a:t>
            </a:r>
            <a:endParaRPr lang="en-US" sz="24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/>
            </a:pPr>
            <a:r>
              <a:rPr lang="en-US"/>
              <a:t>101001</a:t>
            </a:r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2"/>
            </a:pPr>
            <a:r>
              <a:rPr lang="en-US"/>
              <a:t>011011</a:t>
            </a:r>
            <a:endParaRPr lang="en-US" sz="20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2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r>
              <a:rPr lang="en-US"/>
              <a:t>111010</a:t>
            </a:r>
            <a:endParaRPr lang="en-US" sz="2000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3"/>
            </a:pPr>
            <a:endParaRPr lang="en-US"/>
          </a:p>
          <a:p>
            <a:pPr marL="876300" lvl="1" indent="-457200" eaLnBrk="1" hangingPunct="1">
              <a:spcBef>
                <a:spcPts val="700"/>
              </a:spcBef>
              <a:buSzPct val="99000"/>
              <a:buFontTx/>
              <a:buAutoNum type="alphaLcParenBoth" startAt="4"/>
            </a:pPr>
            <a:r>
              <a:rPr lang="en-US"/>
              <a:t>110110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723421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50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526511" cy="884656"/>
          </a:xfrm>
        </p:spPr>
        <p:txBody>
          <a:bodyPr>
            <a:normAutofit/>
          </a:bodyPr>
          <a:lstStyle/>
          <a:p>
            <a:r>
              <a:rPr lang="en-US"/>
              <a:t>Biểu diễn các loại số khác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47000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các loại số khác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068128" cy="5160527"/>
          </a:xfrm>
        </p:spPr>
        <p:txBody>
          <a:bodyPr>
            <a:noAutofit/>
          </a:bodyPr>
          <a:lstStyle/>
          <a:p>
            <a:pPr marL="304800" indent="-30480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dirty="0" err="1"/>
              <a:t>Số</a:t>
            </a:r>
            <a:r>
              <a:rPr lang="en-US" dirty="0"/>
              <a:t> BCD</a:t>
            </a:r>
          </a:p>
          <a:p>
            <a:pPr marL="304800" indent="-30480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marL="304800" indent="-30480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dirty="0" err="1"/>
              <a:t>Mã</a:t>
            </a:r>
            <a:r>
              <a:rPr lang="en-US" dirty="0"/>
              <a:t> ASCII</a:t>
            </a:r>
          </a:p>
          <a:p>
            <a:pPr marL="304800" indent="-304800" eaLnBrk="1" hangingPunct="1">
              <a:spcBef>
                <a:spcPct val="0"/>
              </a:spcBef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51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13680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52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526511" cy="884656"/>
          </a:xfrm>
        </p:spPr>
        <p:txBody>
          <a:bodyPr>
            <a:normAutofit/>
          </a:bodyPr>
          <a:lstStyle/>
          <a:p>
            <a:r>
              <a:rPr lang="en-US"/>
              <a:t>Biểu diễn các loại số khác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vi-VN" sz="2800" dirty="0"/>
              <a:t>Số BCD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5.1</a:t>
            </a:r>
          </a:p>
        </p:txBody>
      </p:sp>
    </p:spTree>
    <p:extLst>
      <p:ext uri="{BB962C8B-B14F-4D97-AF65-F5344CB8AC3E}">
        <p14:creationId xmlns:p14="http://schemas.microsoft.com/office/powerpoint/2010/main" val="27244114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(Binary Coded Decimal)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53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F35CAD-E96F-8AFD-A282-1B19922F3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220" y="1045751"/>
            <a:ext cx="9984680" cy="482453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!</a:t>
            </a:r>
          </a:p>
          <a:p>
            <a:pPr lvl="1"/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1"/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endParaRPr lang="en-US" dirty="0"/>
          </a:p>
        </p:txBody>
      </p:sp>
      <p:graphicFrame>
        <p:nvGraphicFramePr>
          <p:cNvPr id="12" name="Google Shape;114;p4">
            <a:extLst>
              <a:ext uri="{FF2B5EF4-FFF2-40B4-BE49-F238E27FC236}">
                <a16:creationId xmlns:a16="http://schemas.microsoft.com/office/drawing/2014/main" id="{3EC7BA28-1F6B-21D9-643A-97721BE0C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980013"/>
              </p:ext>
            </p:extLst>
          </p:nvPr>
        </p:nvGraphicFramePr>
        <p:xfrm>
          <a:off x="1280220" y="1045751"/>
          <a:ext cx="9984680" cy="26517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9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nhị phân</a:t>
                      </a:r>
                      <a:endParaRPr sz="2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thập phân</a:t>
                      </a:r>
                      <a:endParaRPr sz="2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Ưu điểm</a:t>
                      </a:r>
                      <a:endParaRPr sz="2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Tính toán đơn giản</a:t>
                      </a:r>
                      <a:endParaRPr sz="2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Phù hợp với phần cứng máy tính</a:t>
                      </a:r>
                      <a:endParaRPr sz="2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Dễ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hiểu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cho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người</a:t>
                      </a:r>
                      <a:endParaRPr sz="2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Cần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ít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ký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số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để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biểu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diễn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giá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trị</a:t>
                      </a:r>
                      <a:endParaRPr sz="2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Nhược điểm</a:t>
                      </a:r>
                      <a:endParaRPr sz="2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Cần nhiều bit để biểu diễn giá trị</a:t>
                      </a:r>
                      <a:endParaRPr sz="2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Tính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toán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phức</a:t>
                      </a:r>
                      <a:r>
                        <a:rPr lang="en-US" sz="2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tạp</a:t>
                      </a:r>
                      <a:endParaRPr sz="2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Google Shape;115;p4">
            <a:extLst>
              <a:ext uri="{FF2B5EF4-FFF2-40B4-BE49-F238E27FC236}">
                <a16:creationId xmlns:a16="http://schemas.microsoft.com/office/drawing/2014/main" id="{542C9BE1-0BB1-B165-64E4-F2974C34696B}"/>
              </a:ext>
            </a:extLst>
          </p:cNvPr>
          <p:cNvSpPr txBox="1"/>
          <p:nvPr/>
        </p:nvSpPr>
        <p:spPr>
          <a:xfrm>
            <a:off x="5387340" y="5007950"/>
            <a:ext cx="454908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="1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inary </a:t>
            </a:r>
            <a:r>
              <a:rPr lang="en-US" sz="2600" b="1" i="0" u="none" strike="noStrike" cap="none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600" b="1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oded </a:t>
            </a:r>
            <a:r>
              <a:rPr lang="en-US" sz="2600" b="1" i="0" u="none" strike="noStrike" cap="none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600" b="1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ecimal</a:t>
            </a:r>
            <a:endParaRPr sz="260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Nhị phân mã hóa thập phân</a:t>
            </a:r>
            <a:endParaRPr sz="2600" b="1" i="0" u="none" strike="noStrike" cap="none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04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(Binary Coded Decimal)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Mỗi</a:t>
            </a:r>
            <a:r>
              <a:rPr lang="en-GB" dirty="0"/>
              <a:t> </a:t>
            </a:r>
            <a:r>
              <a:rPr lang="en-GB" dirty="0" err="1"/>
              <a:t>chữ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thập</a:t>
            </a:r>
            <a:r>
              <a:rPr lang="en-GB" dirty="0"/>
              <a:t> </a:t>
            </a:r>
            <a:r>
              <a:rPr lang="en-GB" dirty="0" err="1"/>
              <a:t>phân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biểu</a:t>
            </a:r>
            <a:r>
              <a:rPr lang="en-GB" dirty="0"/>
              <a:t> </a:t>
            </a:r>
            <a:r>
              <a:rPr lang="en-GB" dirty="0" err="1"/>
              <a:t>diễn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nhị</a:t>
            </a:r>
            <a:r>
              <a:rPr lang="en-GB" dirty="0"/>
              <a:t> </a:t>
            </a:r>
            <a:r>
              <a:rPr lang="en-GB" dirty="0" err="1"/>
              <a:t>phân</a:t>
            </a:r>
            <a:r>
              <a:rPr lang="en-GB" dirty="0"/>
              <a:t> </a:t>
            </a:r>
            <a:r>
              <a:rPr lang="en-GB" b="1" dirty="0"/>
              <a:t>4 bits </a:t>
            </a:r>
            <a:r>
              <a:rPr lang="en-GB" dirty="0" err="1"/>
              <a:t>tương</a:t>
            </a:r>
            <a:r>
              <a:rPr lang="en-GB" dirty="0"/>
              <a:t> </a:t>
            </a:r>
            <a:r>
              <a:rPr lang="en-GB" dirty="0" err="1"/>
              <a:t>ứng</a:t>
            </a:r>
            <a:endParaRPr lang="en-US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54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7AEA2A2-B476-F1ED-D0D6-4C3A86E6D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9350" y="2066925"/>
            <a:ext cx="798965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822DA-F7FB-52FE-9D1F-361B5394078C}"/>
              </a:ext>
            </a:extLst>
          </p:cNvPr>
          <p:cNvSpPr txBox="1"/>
          <p:nvPr/>
        </p:nvSpPr>
        <p:spPr>
          <a:xfrm>
            <a:off x="6699249" y="4830485"/>
            <a:ext cx="2516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847</a:t>
            </a:r>
            <a:r>
              <a:rPr lang="en-US" sz="28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=&gt; BCD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A5914-8496-1CF2-C043-8F8EABFBC700}"/>
              </a:ext>
            </a:extLst>
          </p:cNvPr>
          <p:cNvSpPr txBox="1"/>
          <p:nvPr/>
        </p:nvSpPr>
        <p:spPr>
          <a:xfrm>
            <a:off x="3125573" y="4830485"/>
            <a:ext cx="2516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=&gt; BCD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DD267-1A7F-A762-ACB6-7BFD7399D677}"/>
              </a:ext>
            </a:extLst>
          </p:cNvPr>
          <p:cNvSpPr txBox="1"/>
          <p:nvPr/>
        </p:nvSpPr>
        <p:spPr>
          <a:xfrm>
            <a:off x="2780970" y="5503775"/>
            <a:ext cx="172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0001 0000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563E0-B44F-F836-535F-F6A9C328F978}"/>
              </a:ext>
            </a:extLst>
          </p:cNvPr>
          <p:cNvSpPr txBox="1"/>
          <p:nvPr/>
        </p:nvSpPr>
        <p:spPr>
          <a:xfrm>
            <a:off x="6145898" y="5503775"/>
            <a:ext cx="2452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1000 0100 0111 </a:t>
            </a:r>
          </a:p>
        </p:txBody>
      </p:sp>
    </p:spTree>
    <p:extLst>
      <p:ext uri="{BB962C8B-B14F-4D97-AF65-F5344CB8AC3E}">
        <p14:creationId xmlns:p14="http://schemas.microsoft.com/office/powerpoint/2010/main" val="35984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Ví dụ số BCD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6C2C1B-E630-18A3-995F-CFC48DF84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0" y="5307515"/>
            <a:ext cx="8229600" cy="914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BCD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/>
              <a:t>bits hơn nhưng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6BB9E-FE72-C41F-B784-26D5A8908D11}"/>
              </a:ext>
            </a:extLst>
          </p:cNvPr>
          <p:cNvSpPr txBox="1"/>
          <p:nvPr/>
        </p:nvSpPr>
        <p:spPr>
          <a:xfrm>
            <a:off x="2190750" y="1299455"/>
            <a:ext cx="80772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137</a:t>
            </a:r>
            <a:r>
              <a:rPr lang="en-US" sz="28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 10001001</a:t>
            </a:r>
            <a:r>
              <a:rPr lang="en-US" sz="28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 	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Symbol"/>
              <a:buChar char="Þ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Symbol"/>
              <a:buChar char="Þ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Decimal: 1 * 2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+ 1 * 2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+ 1 * 2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buFont typeface="Symbol"/>
              <a:buChar char="Þ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Symbol"/>
              <a:buChar char="Þ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137</a:t>
            </a:r>
            <a:r>
              <a:rPr lang="en-US" sz="28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 0001_0011_0111 	(BCD)</a:t>
            </a:r>
          </a:p>
          <a:p>
            <a:pPr>
              <a:buFont typeface="Symbol"/>
              <a:buChar char="Þ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Symbol"/>
              <a:buChar char="Þ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Decimal:       1          3        7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DFE14AB-0123-8EAE-FA2E-C2D410F9B9FD}"/>
              </a:ext>
            </a:extLst>
          </p:cNvPr>
          <p:cNvSpPr/>
          <p:nvPr/>
        </p:nvSpPr>
        <p:spPr>
          <a:xfrm rot="16200000">
            <a:off x="4552950" y="3783517"/>
            <a:ext cx="228600" cy="838200"/>
          </a:xfrm>
          <a:prstGeom prst="leftBrace">
            <a:avLst/>
          </a:prstGeom>
          <a:ln w="254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010DF6A-A310-0369-2E36-92A9727B4248}"/>
              </a:ext>
            </a:extLst>
          </p:cNvPr>
          <p:cNvSpPr/>
          <p:nvPr/>
        </p:nvSpPr>
        <p:spPr>
          <a:xfrm rot="16200000">
            <a:off x="5543550" y="3783516"/>
            <a:ext cx="228600" cy="838200"/>
          </a:xfrm>
          <a:prstGeom prst="leftBrace">
            <a:avLst/>
          </a:prstGeom>
          <a:ln w="254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EC3CC46-BA9C-0368-ED13-96EC69242DBD}"/>
              </a:ext>
            </a:extLst>
          </p:cNvPr>
          <p:cNvSpPr/>
          <p:nvPr/>
        </p:nvSpPr>
        <p:spPr>
          <a:xfrm rot="16200000">
            <a:off x="6457950" y="3783516"/>
            <a:ext cx="228600" cy="838200"/>
          </a:xfrm>
          <a:prstGeom prst="leftBrace">
            <a:avLst/>
          </a:prstGeom>
          <a:ln w="254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774B9F-8517-E849-87DB-5205896FC997}"/>
              </a:ext>
            </a:extLst>
          </p:cNvPr>
          <p:cNvSpPr/>
          <p:nvPr/>
        </p:nvSpPr>
        <p:spPr>
          <a:xfrm>
            <a:off x="1733550" y="1878515"/>
            <a:ext cx="85344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E599D1-15E4-A231-8CA5-E95A839B9824}"/>
              </a:ext>
            </a:extLst>
          </p:cNvPr>
          <p:cNvSpPr/>
          <p:nvPr/>
        </p:nvSpPr>
        <p:spPr>
          <a:xfrm>
            <a:off x="1733550" y="4080109"/>
            <a:ext cx="85344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3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3" grpId="0" animBg="1"/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90EB-8DA7-EE09-7C34-66F11B9D4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- Số BCD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B05FE-2ED8-0391-E996-0747640CB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eriod"/>
            </a:pPr>
            <a:r>
              <a:rPr lang="en-US"/>
              <a:t>Chuyển các số hệ thập phân sau sang dạng số BCD</a:t>
            </a:r>
          </a:p>
          <a:p>
            <a:pPr lvl="1"/>
            <a:r>
              <a:rPr lang="en-US"/>
              <a:t>2348</a:t>
            </a:r>
          </a:p>
          <a:p>
            <a:pPr lvl="1"/>
            <a:r>
              <a:rPr lang="en-US"/>
              <a:t>564</a:t>
            </a:r>
          </a:p>
          <a:p>
            <a:pPr lvl="1"/>
            <a:r>
              <a:rPr lang="en-US"/>
              <a:t>436701</a:t>
            </a:r>
          </a:p>
          <a:p>
            <a:pPr marL="514350" indent="-514350">
              <a:buFont typeface="+mj-lt"/>
              <a:buAutoNum type="alphaLcPeriod"/>
            </a:pPr>
            <a:r>
              <a:rPr lang="en-US"/>
              <a:t>Chuyển các số dạng BCD sang số hệ thập phân tương ứng</a:t>
            </a:r>
          </a:p>
          <a:p>
            <a:pPr lvl="1"/>
            <a:r>
              <a:rPr lang="en-US"/>
              <a:t>01100111100110000101</a:t>
            </a:r>
            <a:r>
              <a:rPr lang="en-US" baseline="-25000"/>
              <a:t>BCD</a:t>
            </a:r>
          </a:p>
          <a:p>
            <a:pPr lvl="1"/>
            <a:r>
              <a:rPr lang="en-US"/>
              <a:t>10000110001101110101</a:t>
            </a:r>
            <a:r>
              <a:rPr lang="en-US" baseline="-25000"/>
              <a:t>BCD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BF3B5-CF08-9D45-09FB-B08CAC1C5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0B08C-27CF-5A23-375B-BD500AB9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56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F513E8-E218-9158-94C7-1E094249B63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8118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57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526511" cy="884656"/>
          </a:xfrm>
        </p:spPr>
        <p:txBody>
          <a:bodyPr>
            <a:normAutofit/>
          </a:bodyPr>
          <a:lstStyle/>
          <a:p>
            <a:r>
              <a:rPr lang="en-US"/>
              <a:t>Biểu diễn các loại số khác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vi-VN" sz="2800" dirty="0"/>
              <a:t>Số dấu chấm động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5.2</a:t>
            </a:r>
          </a:p>
        </p:txBody>
      </p:sp>
    </p:spTree>
    <p:extLst>
      <p:ext uri="{BB962C8B-B14F-4D97-AF65-F5344CB8AC3E}">
        <p14:creationId xmlns:p14="http://schemas.microsoft.com/office/powerpoint/2010/main" val="17056505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Số dấu chấm động (Floating point)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Làm sao biểu diễn những số có giá trị rất lớn hoặc rất nhỏ?</a:t>
            </a:r>
          </a:p>
          <a:p>
            <a:r>
              <a:rPr lang="en-US"/>
              <a:t>Làm sao để biểu diễn các giá trị số thập phân? 5.25?</a:t>
            </a:r>
          </a:p>
          <a:p>
            <a:pPr lvl="1"/>
            <a:r>
              <a:rPr lang="en-US"/>
              <a:t>5.25 = (2</a:t>
            </a:r>
            <a:r>
              <a:rPr lang="en-US" baseline="30000"/>
              <a:t>2</a:t>
            </a:r>
            <a:r>
              <a:rPr lang="en-US"/>
              <a:t> + 2</a:t>
            </a:r>
            <a:r>
              <a:rPr lang="en-US" baseline="30000"/>
              <a:t>0</a:t>
            </a:r>
            <a:r>
              <a:rPr lang="en-US"/>
              <a:t> + 2</a:t>
            </a:r>
            <a:r>
              <a:rPr lang="en-US" baseline="30000"/>
              <a:t>-2</a:t>
            </a:r>
            <a:r>
              <a:rPr lang="en-US"/>
              <a:t>)→ 101</a:t>
            </a:r>
            <a:r>
              <a:rPr lang="en-US">
                <a:solidFill>
                  <a:srgbClr val="FF0000"/>
                </a:solidFill>
              </a:rPr>
              <a:t>.</a:t>
            </a:r>
            <a:r>
              <a:rPr lang="en-US"/>
              <a:t>01</a:t>
            </a:r>
          </a:p>
          <a:p>
            <a:r>
              <a:rPr lang="en-US"/>
              <a:t>Làm sao để biểu diễn dấu chấm (.): 0 hay1?</a:t>
            </a:r>
          </a:p>
          <a:p>
            <a:pPr lvl="1"/>
            <a:r>
              <a:rPr lang="en-US"/>
              <a:t>Ý tưởng chuẩn hóa: Trước dấu chấm (.) chỉ được biểu diễn 1 ký số khác 0</a:t>
            </a:r>
          </a:p>
          <a:p>
            <a:pPr lvl="2"/>
            <a:r>
              <a:rPr lang="en-US"/>
              <a:t>±101</a:t>
            </a:r>
            <a:r>
              <a:rPr lang="en-US">
                <a:solidFill>
                  <a:srgbClr val="FF0000"/>
                </a:solidFill>
              </a:rPr>
              <a:t>.</a:t>
            </a:r>
            <a:r>
              <a:rPr lang="en-US"/>
              <a:t>01 = ±1.0101 x 2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</a:p>
          <a:p>
            <a:pPr lvl="2"/>
            <a:r>
              <a:rPr lang="en-US"/>
              <a:t>Không cần phải biểu diễn bit trước dấu chấm vì chắc chắn là </a:t>
            </a:r>
            <a:r>
              <a:rPr lang="en-US" b="1">
                <a:solidFill>
                  <a:srgbClr val="FF0000"/>
                </a:solidFill>
              </a:rPr>
              <a:t>1</a:t>
            </a:r>
            <a:r>
              <a:rPr lang="en-US"/>
              <a:t>.</a:t>
            </a:r>
          </a:p>
          <a:p>
            <a:pPr lvl="2"/>
            <a:r>
              <a:rPr lang="en-US"/>
              <a:t>Phần sau dấu chấm cần bao nhiêu bit? Biểu diễn như thế nào?</a:t>
            </a:r>
          </a:p>
          <a:p>
            <a:pPr lvl="2"/>
            <a:r>
              <a:rPr lang="en-US"/>
              <a:t>Số mũ nhị phân là số nguyên bao nhiêu bit? Biểu diễn như thế nào?</a:t>
            </a:r>
          </a:p>
          <a:p>
            <a:pPr lvl="2"/>
            <a:r>
              <a:rPr lang="en-US"/>
              <a:t>Dấu: Có thể + hoặc 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6257032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Số dấu chấm động (tt)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683B55-5074-734B-FA61-D0FB1B7E6958}"/>
              </a:ext>
            </a:extLst>
          </p:cNvPr>
          <p:cNvSpPr txBox="1">
            <a:spLocks/>
          </p:cNvSpPr>
          <p:nvPr/>
        </p:nvSpPr>
        <p:spPr>
          <a:xfrm>
            <a:off x="633290" y="1760600"/>
            <a:ext cx="574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/>
              <a:t>Hai phiên bản:</a:t>
            </a:r>
          </a:p>
          <a:p>
            <a:pPr lvl="1">
              <a:buClrTx/>
            </a:pPr>
            <a:r>
              <a:rPr lang="en-US"/>
              <a:t>Chính xác đơn: 32 bit (float)</a:t>
            </a:r>
          </a:p>
          <a:p>
            <a:pPr lvl="1">
              <a:buClrTx/>
            </a:pPr>
            <a:r>
              <a:rPr lang="en-US"/>
              <a:t>Chính xác kép: 64 bit (double)</a:t>
            </a:r>
          </a:p>
          <a:p>
            <a:pPr>
              <a:buClrTx/>
            </a:pPr>
            <a:r>
              <a:rPr lang="en-US"/>
              <a:t>Dấu:</a:t>
            </a:r>
          </a:p>
          <a:p>
            <a:pPr lvl="1">
              <a:buClrTx/>
            </a:pPr>
            <a:r>
              <a:rPr lang="en-US"/>
              <a:t>Âm: S = 1, KHÔNG âm: S = 0</a:t>
            </a:r>
          </a:p>
          <a:p>
            <a:pPr>
              <a:buClrTx/>
            </a:pPr>
            <a:r>
              <a:rPr lang="en-US"/>
              <a:t>Mũ: Biểu diễn quá (excess)</a:t>
            </a:r>
          </a:p>
          <a:p>
            <a:pPr lvl="1">
              <a:buClrTx/>
            </a:pPr>
            <a:r>
              <a:rPr lang="en-US"/>
              <a:t>Đảm bảo E không âm</a:t>
            </a:r>
          </a:p>
          <a:p>
            <a:pPr lvl="1">
              <a:buClrTx/>
            </a:pPr>
            <a:r>
              <a:rPr lang="en-US"/>
              <a:t>Chính xác đơn: bias = 127</a:t>
            </a:r>
          </a:p>
          <a:p>
            <a:pPr lvl="1">
              <a:buClrTx/>
            </a:pPr>
            <a:r>
              <a:rPr lang="en-US"/>
              <a:t>Chính xác kép: bias = 1023</a:t>
            </a:r>
            <a:endParaRPr lang="en-US" dirty="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A0451F41-95D7-8918-9835-A8BFC2898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4085" y="1978025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E36768D1-F7BD-C0BF-7090-3E07C6B8B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860" y="1978025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/>
              <a:t>E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6BAC9C3F-9405-A5E1-7434-A1D9F0B23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773" y="1978025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/>
              <a:t>F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C4795A19-39BE-F56A-57B6-4304C1E63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423" y="1257300"/>
            <a:ext cx="15204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đơn</a:t>
            </a:r>
            <a:r>
              <a:rPr lang="en-US" altLang="en-US" sz="2000" dirty="0">
                <a:latin typeface="Tahoma" panose="020B0604030504040204" pitchFamily="34" charset="0"/>
              </a:rPr>
              <a:t>: 8 bits</a:t>
            </a:r>
            <a:br>
              <a:rPr lang="en-US" altLang="en-US" sz="2000" dirty="0">
                <a:latin typeface="Tahoma" panose="020B0604030504040204" pitchFamily="34" charset="0"/>
              </a:rPr>
            </a:br>
            <a:r>
              <a:rPr lang="en-US" altLang="en-US" sz="2000" dirty="0" err="1">
                <a:latin typeface="Tahoma" panose="020B0604030504040204" pitchFamily="34" charset="0"/>
              </a:rPr>
              <a:t>kép</a:t>
            </a:r>
            <a:r>
              <a:rPr lang="en-US" altLang="en-US" sz="2000" dirty="0">
                <a:latin typeface="Tahoma" panose="020B0604030504040204" pitchFamily="34" charset="0"/>
              </a:rPr>
              <a:t>: 11 bits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E846546E-F20C-146C-7C4B-29C3D08D5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2223" y="1257300"/>
            <a:ext cx="15509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đơn</a:t>
            </a:r>
            <a:r>
              <a:rPr lang="en-US" altLang="en-US" sz="2000" dirty="0">
                <a:latin typeface="Tahoma" panose="020B0604030504040204" pitchFamily="34" charset="0"/>
              </a:rPr>
              <a:t>: 23 bits</a:t>
            </a:r>
            <a:br>
              <a:rPr lang="en-US" altLang="en-US" sz="2000" dirty="0">
                <a:latin typeface="Tahoma" panose="020B0604030504040204" pitchFamily="34" charset="0"/>
              </a:rPr>
            </a:br>
            <a:r>
              <a:rPr lang="en-US" altLang="en-US" sz="2000" dirty="0" err="1">
                <a:latin typeface="Tahoma" panose="020B0604030504040204" pitchFamily="34" charset="0"/>
              </a:rPr>
              <a:t>kép</a:t>
            </a:r>
            <a:r>
              <a:rPr lang="en-US" altLang="en-US" sz="2000" dirty="0">
                <a:latin typeface="Tahoma" panose="020B0604030504040204" pitchFamily="34" charset="0"/>
              </a:rPr>
              <a:t>: 52 bits</a:t>
            </a: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F42F0F30-CF60-66DA-D169-2F7F96D26E23}"/>
              </a:ext>
            </a:extLst>
          </p:cNvPr>
          <p:cNvSpPr txBox="1"/>
          <p:nvPr/>
        </p:nvSpPr>
        <p:spPr bwMode="auto">
          <a:xfrm>
            <a:off x="6294560" y="2727325"/>
            <a:ext cx="5626100" cy="5461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(-1)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(1.F) x 2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 – bias)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FBE83B-3F2E-324A-1988-E34E68D45311}"/>
              </a:ext>
            </a:extLst>
          </p:cNvPr>
          <p:cNvSpPr txBox="1">
            <a:spLocks/>
          </p:cNvSpPr>
          <p:nvPr/>
        </p:nvSpPr>
        <p:spPr>
          <a:xfrm>
            <a:off x="6235016" y="3429000"/>
            <a:ext cx="5740400" cy="217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CCC91C0-2A1F-6196-F43C-49B56AE286A6}"/>
              </a:ext>
            </a:extLst>
          </p:cNvPr>
          <p:cNvSpPr txBox="1">
            <a:spLocks/>
          </p:cNvSpPr>
          <p:nvPr/>
        </p:nvSpPr>
        <p:spPr>
          <a:xfrm>
            <a:off x="6312023" y="3505305"/>
            <a:ext cx="5740400" cy="1836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bit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r>
              <a:rPr lang="en-US" dirty="0"/>
              <a:t> (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1)</a:t>
            </a:r>
          </a:p>
          <a:p>
            <a:pPr lvl="1"/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“1.F”</a:t>
            </a:r>
          </a:p>
        </p:txBody>
      </p:sp>
    </p:spTree>
    <p:extLst>
      <p:ext uri="{BB962C8B-B14F-4D97-AF65-F5344CB8AC3E}">
        <p14:creationId xmlns:p14="http://schemas.microsoft.com/office/powerpoint/2010/main" val="388542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Chuyển</a:t>
            </a:r>
            <a:r>
              <a:rPr lang="en-US" altLang="ja-JP" dirty="0"/>
              <a:t> sang </a:t>
            </a:r>
            <a:r>
              <a:rPr lang="en-US" altLang="ja-JP" dirty="0" err="1"/>
              <a:t>số</a:t>
            </a:r>
            <a:r>
              <a:rPr lang="en-US" altLang="ja-JP" dirty="0"/>
              <a:t> </a:t>
            </a:r>
            <a:r>
              <a:rPr lang="en-US" altLang="ja-JP" dirty="0" err="1"/>
              <a:t>dấu</a:t>
            </a:r>
            <a:r>
              <a:rPr lang="en-US" altLang="ja-JP" dirty="0"/>
              <a:t> </a:t>
            </a:r>
            <a:r>
              <a:rPr lang="en-US" altLang="ja-JP" dirty="0" err="1"/>
              <a:t>chấm</a:t>
            </a:r>
            <a:r>
              <a:rPr lang="en-US" altLang="ja-JP" dirty="0"/>
              <a:t> </a:t>
            </a:r>
            <a:r>
              <a:rPr lang="en-US" altLang="ja-JP" dirty="0" err="1"/>
              <a:t>động</a:t>
            </a:r>
            <a:r>
              <a:rPr lang="en-US" altLang="ja-JP" dirty="0"/>
              <a:t> (</a:t>
            </a:r>
            <a:r>
              <a:rPr lang="en-US" altLang="ja-JP" dirty="0" err="1"/>
              <a:t>tt</a:t>
            </a:r>
            <a:r>
              <a:rPr lang="en-US" altLang="ja-JP" dirty="0"/>
              <a:t>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sang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bit </a:t>
            </a:r>
            <a:r>
              <a:rPr lang="en-US" dirty="0" err="1"/>
              <a:t>dạng</a:t>
            </a:r>
            <a:r>
              <a:rPr lang="en-US" dirty="0"/>
              <a:t> 1.F</a:t>
            </a:r>
          </a:p>
          <a:p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(S),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(1.F)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mũ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127 (E)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(E =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mũ</a:t>
            </a:r>
            <a:r>
              <a:rPr lang="en-US" dirty="0"/>
              <a:t> + 127)</a:t>
            </a:r>
          </a:p>
          <a:p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S|E|F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3.75 sang floating point 32 bit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60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3651450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FFEC-D1F1-29D1-61F0-9D7B0385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Số</a:t>
            </a:r>
            <a:r>
              <a:rPr lang="en-US" altLang="ja-JP" dirty="0"/>
              <a:t> </a:t>
            </a:r>
            <a:r>
              <a:rPr lang="en-US" altLang="ja-JP" dirty="0" err="1"/>
              <a:t>dấu</a:t>
            </a:r>
            <a:r>
              <a:rPr lang="en-US" altLang="ja-JP" dirty="0"/>
              <a:t> </a:t>
            </a:r>
            <a:r>
              <a:rPr lang="en-US" altLang="ja-JP" dirty="0" err="1"/>
              <a:t>chấm</a:t>
            </a:r>
            <a:r>
              <a:rPr lang="en-US" altLang="ja-JP" dirty="0"/>
              <a:t> </a:t>
            </a:r>
            <a:r>
              <a:rPr lang="en-US" altLang="ja-JP" dirty="0" err="1"/>
              <a:t>động</a:t>
            </a:r>
            <a:r>
              <a:rPr lang="en-US" altLang="ja-JP" dirty="0"/>
              <a:t> (</a:t>
            </a:r>
            <a:r>
              <a:rPr lang="en-US" altLang="ja-JP" dirty="0" err="1"/>
              <a:t>tt</a:t>
            </a:r>
            <a:r>
              <a:rPr lang="en-US" altLang="ja-JP" dirty="0"/>
              <a:t>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163A-1123-C77D-CFFE-D649CD5A2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sang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3.75 = 11.11</a:t>
            </a:r>
          </a:p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bit </a:t>
            </a:r>
            <a:r>
              <a:rPr lang="en-US" dirty="0" err="1"/>
              <a:t>dạng</a:t>
            </a:r>
            <a:r>
              <a:rPr lang="en-US" dirty="0"/>
              <a:t> 1.F*2</a:t>
            </a:r>
            <a:r>
              <a:rPr lang="en-US" baseline="30000" dirty="0"/>
              <a:t>x</a:t>
            </a:r>
          </a:p>
          <a:p>
            <a:pPr marL="0" indent="0" algn="ctr">
              <a:buNone/>
            </a:pPr>
            <a:r>
              <a:rPr lang="en-US" dirty="0"/>
              <a:t>1.111*2</a:t>
            </a:r>
            <a:r>
              <a:rPr lang="en-US" baseline="30000" dirty="0"/>
              <a:t>1</a:t>
            </a:r>
          </a:p>
          <a:p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(S),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(1.F)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mũ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127 (E)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(E =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mũ</a:t>
            </a:r>
            <a:r>
              <a:rPr lang="en-US" dirty="0"/>
              <a:t> (x) + 127)</a:t>
            </a:r>
          </a:p>
          <a:p>
            <a:pPr marL="0" indent="0" algn="ctr">
              <a:buNone/>
            </a:pPr>
            <a:r>
              <a:rPr lang="en-US" dirty="0"/>
              <a:t>E = 1 + 127 = 128 = 1000000</a:t>
            </a:r>
          </a:p>
          <a:p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S|E|F</a:t>
            </a:r>
          </a:p>
          <a:p>
            <a:pPr marL="0" indent="0" algn="ctr">
              <a:buNone/>
            </a:pPr>
            <a:r>
              <a:rPr lang="en-VN" dirty="0"/>
              <a:t>0 1000000 11100000000000000000000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39D1D-D4D7-85F4-0302-CBD9B3A4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9FD14-0E06-BCB9-19F8-3E50C065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61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6DA9E9-CB02-C082-082F-1B4B3A803C0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5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C094-50D1-1C28-CBD9-3113D155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Tính giá trị số dấu chấm động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FD4A5-E3F3-D51E-275A-D8D363F2F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(-1)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(1.F) x 2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 – 127)</a:t>
            </a:r>
          </a:p>
          <a:p>
            <a:endParaRPr lang="en-VN" dirty="0"/>
          </a:p>
          <a:p>
            <a:r>
              <a:rPr lang="en-VN" dirty="0"/>
              <a:t>Ví dụ: </a:t>
            </a:r>
            <a:r>
              <a:rPr lang="en-US" altLang="ja-JP" sz="2800" dirty="0" err="1"/>
              <a:t>Số</a:t>
            </a:r>
            <a:r>
              <a:rPr lang="en-US" altLang="ja-JP" sz="2800" dirty="0"/>
              <a:t> </a:t>
            </a:r>
            <a:r>
              <a:rPr lang="en-US" altLang="ja-JP" sz="2800" dirty="0" err="1"/>
              <a:t>dấu</a:t>
            </a:r>
            <a:r>
              <a:rPr lang="en-US" altLang="ja-JP" sz="2800" dirty="0"/>
              <a:t> </a:t>
            </a:r>
            <a:r>
              <a:rPr lang="en-US" altLang="ja-JP" sz="2800" dirty="0" err="1"/>
              <a:t>chấm</a:t>
            </a:r>
            <a:r>
              <a:rPr lang="en-US" altLang="ja-JP" sz="2800" dirty="0"/>
              <a:t> </a:t>
            </a:r>
            <a:r>
              <a:rPr lang="en-US" altLang="ja-JP" sz="2800" dirty="0" err="1"/>
              <a:t>động</a:t>
            </a:r>
            <a:r>
              <a:rPr lang="en-US" altLang="ja-JP" sz="2800" dirty="0"/>
              <a:t> 32 bit:</a:t>
            </a:r>
          </a:p>
          <a:p>
            <a:pPr marL="0" indent="0" algn="ctr">
              <a:buNone/>
            </a:pPr>
            <a:r>
              <a:rPr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0</a:t>
            </a:r>
            <a:r>
              <a:rPr lang="en-US" altLang="ja-JP" sz="2800" dirty="0">
                <a:solidFill>
                  <a:srgbClr val="7030A0"/>
                </a:solidFill>
              </a:rPr>
              <a:t>10000101</a:t>
            </a:r>
            <a:r>
              <a:rPr lang="en-US" altLang="ja-JP" sz="2800" dirty="0">
                <a:solidFill>
                  <a:schemeClr val="accent6">
                    <a:lumMod val="75000"/>
                  </a:schemeClr>
                </a:solidFill>
              </a:rPr>
              <a:t>01110000000000000000000</a:t>
            </a:r>
          </a:p>
          <a:p>
            <a:pPr marL="0" indent="0" algn="ctr">
              <a:buNone/>
            </a:pP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1.</a:t>
            </a:r>
            <a:r>
              <a:rPr lang="en-US" altLang="ja-JP" sz="2800" dirty="0">
                <a:solidFill>
                  <a:schemeClr val="accent6">
                    <a:lumMod val="75000"/>
                  </a:schemeClr>
                </a:solidFill>
              </a:rPr>
              <a:t>01110000000000000000000</a:t>
            </a:r>
          </a:p>
          <a:p>
            <a:pPr marL="0" indent="0" algn="ctr">
              <a:buNone/>
            </a:pPr>
            <a:r>
              <a:rPr lang="en-US" altLang="ja-JP" dirty="0">
                <a:solidFill>
                  <a:schemeClr val="accent6">
                    <a:lumMod val="75000"/>
                  </a:schemeClr>
                </a:solidFill>
              </a:rPr>
              <a:t>E = 133 -&gt; </a:t>
            </a:r>
            <a:r>
              <a:rPr lang="en-US" altLang="ja-JP" dirty="0" err="1">
                <a:solidFill>
                  <a:schemeClr val="accent6">
                    <a:lumMod val="75000"/>
                  </a:schemeClr>
                </a:solidFill>
              </a:rPr>
              <a:t>số</a:t>
            </a:r>
            <a:r>
              <a:rPr lang="en-US" altLang="ja-JP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ja-JP" dirty="0" err="1">
                <a:solidFill>
                  <a:schemeClr val="accent6">
                    <a:lumMod val="75000"/>
                  </a:schemeClr>
                </a:solidFill>
              </a:rPr>
              <a:t>mũ</a:t>
            </a:r>
            <a:r>
              <a:rPr lang="en-US" altLang="ja-JP" dirty="0">
                <a:solidFill>
                  <a:schemeClr val="accent6">
                    <a:lumMod val="75000"/>
                  </a:schemeClr>
                </a:solidFill>
              </a:rPr>
              <a:t> = 133 - 127 = 6</a:t>
            </a:r>
            <a:endParaRPr lang="en-US" altLang="ja-JP"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-&gt; 1.0111*2</a:t>
            </a:r>
            <a:r>
              <a:rPr kumimoji="1" lang="en-US" altLang="ja-JP" baseline="300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 = 10111.0*2</a:t>
            </a:r>
            <a:r>
              <a:rPr kumimoji="1" lang="en-US" altLang="ja-JP" baseline="30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endParaRPr kumimoji="1" lang="en-US" altLang="ja-JP" sz="2800" baseline="30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VN" dirty="0"/>
              <a:t>-&gt; - 23*2</a:t>
            </a:r>
            <a:r>
              <a:rPr lang="en-VN" baseline="30000" dirty="0"/>
              <a:t>2 </a:t>
            </a:r>
            <a:r>
              <a:rPr lang="en-VN" dirty="0"/>
              <a:t>= - 92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D17F9-0D32-9D59-915D-2919DA6F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27BB1-FB16-EF1E-C841-74298881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62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FE0809-FAA0-342A-BFDD-2CC81247C80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49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F894-B35C-7A71-E5FF-124C5F8D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Quiz - Số dấu chấm động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605A-ECA7-DE17-0932-2CAC7D62C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Chuyển đổi số thập phân sau sang dạng dấu chấp động</a:t>
            </a:r>
          </a:p>
          <a:p>
            <a:pPr lvl="1"/>
            <a:r>
              <a:rPr lang="en-US"/>
              <a:t>- 3.25</a:t>
            </a:r>
          </a:p>
          <a:p>
            <a:pPr lvl="1"/>
            <a:endParaRPr lang="en-US"/>
          </a:p>
          <a:p>
            <a:pPr lvl="1"/>
            <a:r>
              <a:rPr lang="en-US"/>
              <a:t>123.125</a:t>
            </a:r>
          </a:p>
          <a:p>
            <a:r>
              <a:rPr lang="en-US"/>
              <a:t>Tính giá trị của các số dấu chấm động sau</a:t>
            </a:r>
          </a:p>
          <a:p>
            <a:pPr lvl="1"/>
            <a:r>
              <a:rPr lang="en-US"/>
              <a:t>11000010 10101010 00000000 00000000</a:t>
            </a:r>
          </a:p>
          <a:p>
            <a:pPr lvl="1"/>
            <a:endParaRPr lang="en-US"/>
          </a:p>
          <a:p>
            <a:pPr lvl="1"/>
            <a:r>
              <a:rPr lang="en-US"/>
              <a:t>01000010 10001000 00000000 00000000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CFE38-C4B4-04B1-80FA-70522D8C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90287-091F-684C-30B9-D75E714D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63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51822C-1CC8-B634-544B-9850285CF03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9B1CB-36E5-7758-E4A0-EBFDBC978BCC}"/>
              </a:ext>
            </a:extLst>
          </p:cNvPr>
          <p:cNvSpPr txBox="1"/>
          <p:nvPr/>
        </p:nvSpPr>
        <p:spPr>
          <a:xfrm>
            <a:off x="5433772" y="1651183"/>
            <a:ext cx="4940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1 10000000 10100000000000000000000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2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64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526511" cy="884656"/>
          </a:xfrm>
        </p:spPr>
        <p:txBody>
          <a:bodyPr>
            <a:normAutofit/>
          </a:bodyPr>
          <a:lstStyle/>
          <a:p>
            <a:r>
              <a:rPr lang="en-US"/>
              <a:t>Biểu diễn các loại số khác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04800" indent="-30480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dirty="0" err="1"/>
              <a:t>Mã</a:t>
            </a:r>
            <a:r>
              <a:rPr lang="en-US" dirty="0"/>
              <a:t> ASCII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5.3</a:t>
            </a:r>
          </a:p>
        </p:txBody>
      </p:sp>
    </p:spTree>
    <p:extLst>
      <p:ext uri="{BB962C8B-B14F-4D97-AF65-F5344CB8AC3E}">
        <p14:creationId xmlns:p14="http://schemas.microsoft.com/office/powerpoint/2010/main" val="16601306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EC63-3B97-D9CB-FAE7-7409BFD8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ASCII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61D4-4812-33F1-6F85-1187E0F67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ASCII-7 (American Standard Codes for Information Interchange) (7 bit): dùng để biểu diễn 128 ký tự (character) dưới dạng số nhị phân 7 bit</a:t>
            </a:r>
          </a:p>
          <a:p>
            <a:endParaRPr lang="vi-VN" dirty="0"/>
          </a:p>
          <a:p>
            <a:r>
              <a:rPr lang="vi-VN" dirty="0"/>
              <a:t>Ví dụ: Mã ASCII-7 được dùng thể hiện các ký tự từ bàn phím</a:t>
            </a:r>
          </a:p>
          <a:p>
            <a:endParaRPr lang="vi-VN" dirty="0"/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1BBDD-5E9D-FA39-6001-DBBE816E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1839D0-7832-3490-90EC-FA3DB443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65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6EE82B-ADEE-91F6-1B9A-51925563AC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March 2, 2024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D2D22B6-E879-50C6-E810-37B8691B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397" y="3536612"/>
            <a:ext cx="3962400" cy="296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56751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ASCII (</a:t>
            </a:r>
            <a:r>
              <a:rPr lang="en-US" altLang="ja-JP" dirty="0" err="1"/>
              <a:t>tt</a:t>
            </a:r>
            <a:r>
              <a:rPr lang="en-US" altLang="ja-JP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44E38B-4D64-B50F-AD4F-1C898E0F8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045751"/>
            <a:ext cx="76200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0066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ASCII (</a:t>
            </a:r>
            <a:r>
              <a:rPr lang="en-US" altLang="ja-JP" dirty="0" err="1"/>
              <a:t>tt</a:t>
            </a:r>
            <a:r>
              <a:rPr lang="en-US" altLang="ja-JP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21CED-037C-5517-9D03-DF23621FB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052" y="1668165"/>
            <a:ext cx="6843895" cy="43299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6145FD-84E2-FFA1-F681-6C283F86FE86}"/>
              </a:ext>
            </a:extLst>
          </p:cNvPr>
          <p:cNvSpPr txBox="1"/>
          <p:nvPr/>
        </p:nvSpPr>
        <p:spPr>
          <a:xfrm>
            <a:off x="1625600" y="1206500"/>
            <a:ext cx="7083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7-bit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2764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ASCII (</a:t>
            </a:r>
            <a:r>
              <a:rPr lang="en-US" altLang="ja-JP" dirty="0" err="1"/>
              <a:t>tt</a:t>
            </a:r>
            <a:r>
              <a:rPr lang="en-US" altLang="ja-JP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Ví dụ: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00B050"/>
                </a:solidFill>
              </a:rPr>
              <a:t>T</a:t>
            </a:r>
            <a:r>
              <a:rPr lang="en-US">
                <a:solidFill>
                  <a:srgbClr val="7030A0"/>
                </a:solidFill>
              </a:rPr>
              <a:t>0</a:t>
            </a:r>
            <a:r>
              <a:rPr lang="en-US">
                <a:solidFill>
                  <a:srgbClr val="00B0F0"/>
                </a:solidFill>
              </a:rPr>
              <a:t>1</a:t>
            </a:r>
            <a:r>
              <a:rPr lang="en-US">
                <a:solidFill>
                  <a:srgbClr val="FFC000"/>
                </a:solidFill>
              </a:rPr>
              <a:t>2</a:t>
            </a:r>
            <a:r>
              <a:rPr lang="en-US"/>
              <a:t> có biểu diễn ASCII là:</a:t>
            </a:r>
          </a:p>
          <a:p>
            <a:pPr marL="457200" lvl="1" indent="0" algn="ctr">
              <a:buNone/>
            </a:pPr>
            <a:r>
              <a:rPr lang="en-US">
                <a:solidFill>
                  <a:srgbClr val="FF0000"/>
                </a:solidFill>
              </a:rPr>
              <a:t>1001001</a:t>
            </a:r>
            <a:r>
              <a:rPr lang="en-US">
                <a:solidFill>
                  <a:srgbClr val="00B050"/>
                </a:solidFill>
              </a:rPr>
              <a:t>1010100</a:t>
            </a:r>
            <a:r>
              <a:rPr lang="en-US">
                <a:solidFill>
                  <a:srgbClr val="7030A0"/>
                </a:solidFill>
              </a:rPr>
              <a:t>0110000</a:t>
            </a:r>
            <a:r>
              <a:rPr lang="en-US">
                <a:solidFill>
                  <a:srgbClr val="00B0F0"/>
                </a:solidFill>
              </a:rPr>
              <a:t>0110001</a:t>
            </a:r>
            <a:r>
              <a:rPr lang="en-US">
                <a:solidFill>
                  <a:srgbClr val="FFC000"/>
                </a:solidFill>
              </a:rPr>
              <a:t>0110010</a:t>
            </a:r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00B050"/>
                </a:solidFill>
              </a:rPr>
              <a:t>t</a:t>
            </a:r>
            <a:r>
              <a:rPr lang="en-US">
                <a:solidFill>
                  <a:srgbClr val="7030A0"/>
                </a:solidFill>
              </a:rPr>
              <a:t>0</a:t>
            </a:r>
            <a:r>
              <a:rPr lang="en-US">
                <a:solidFill>
                  <a:srgbClr val="00B0F0"/>
                </a:solidFill>
              </a:rPr>
              <a:t>0</a:t>
            </a:r>
            <a:r>
              <a:rPr lang="en-US">
                <a:solidFill>
                  <a:srgbClr val="FFC000"/>
                </a:solidFill>
              </a:rPr>
              <a:t>6</a:t>
            </a:r>
            <a:r>
              <a:rPr lang="en-US"/>
              <a:t> có biểu diễn ASCII là:</a:t>
            </a:r>
          </a:p>
          <a:p>
            <a:pPr marL="457200" lvl="1" indent="0" algn="ctr">
              <a:buNone/>
            </a:pPr>
            <a:r>
              <a:rPr lang="en-US">
                <a:solidFill>
                  <a:srgbClr val="FF0000"/>
                </a:solidFill>
              </a:rPr>
              <a:t>1101001</a:t>
            </a:r>
            <a:r>
              <a:rPr lang="en-US">
                <a:solidFill>
                  <a:srgbClr val="00B050"/>
                </a:solidFill>
              </a:rPr>
              <a:t>1110100</a:t>
            </a:r>
            <a:r>
              <a:rPr lang="en-US">
                <a:solidFill>
                  <a:srgbClr val="7030A0"/>
                </a:solidFill>
              </a:rPr>
              <a:t>0110000</a:t>
            </a:r>
            <a:r>
              <a:rPr lang="en-US">
                <a:solidFill>
                  <a:srgbClr val="00B0F0"/>
                </a:solidFill>
              </a:rPr>
              <a:t>0110000</a:t>
            </a:r>
            <a:r>
              <a:rPr lang="en-US">
                <a:solidFill>
                  <a:srgbClr val="FFC000"/>
                </a:solidFill>
              </a:rPr>
              <a:t>0110110</a:t>
            </a:r>
            <a:endParaRPr lang="en-US">
              <a:solidFill>
                <a:srgbClr val="FF0000"/>
              </a:solidFill>
            </a:endParaRPr>
          </a:p>
          <a:p>
            <a:pPr lvl="1"/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>
                <a:solidFill>
                  <a:srgbClr val="FF0000"/>
                </a:solidFill>
              </a:rPr>
              <a:t>1001100</a:t>
            </a:r>
            <a:r>
              <a:rPr lang="en-US">
                <a:solidFill>
                  <a:srgbClr val="00B050"/>
                </a:solidFill>
              </a:rPr>
              <a:t>1001111</a:t>
            </a:r>
            <a:r>
              <a:rPr lang="en-US">
                <a:solidFill>
                  <a:srgbClr val="7030A0"/>
                </a:solidFill>
              </a:rPr>
              <a:t>1010110</a:t>
            </a:r>
            <a:r>
              <a:rPr lang="en-US">
                <a:solidFill>
                  <a:srgbClr val="00B0F0"/>
                </a:solidFill>
              </a:rPr>
              <a:t>1000101 </a:t>
            </a:r>
            <a:r>
              <a:rPr lang="en-US"/>
              <a:t>biểu diễn </a:t>
            </a:r>
            <a:r>
              <a:rPr lang="en-US">
                <a:solidFill>
                  <a:srgbClr val="FF0000"/>
                </a:solidFill>
              </a:rPr>
              <a:t>L</a:t>
            </a:r>
            <a:r>
              <a:rPr lang="en-US">
                <a:solidFill>
                  <a:srgbClr val="00B050"/>
                </a:solidFill>
              </a:rPr>
              <a:t>O</a:t>
            </a:r>
            <a:r>
              <a:rPr lang="en-US">
                <a:solidFill>
                  <a:srgbClr val="7030A0"/>
                </a:solidFill>
              </a:rPr>
              <a:t>V</a:t>
            </a:r>
            <a:r>
              <a:rPr lang="en-US">
                <a:solidFill>
                  <a:srgbClr val="00B0F0"/>
                </a:solidFill>
              </a:rPr>
              <a:t>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657842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Tóm</a:t>
            </a:r>
            <a:r>
              <a:rPr lang="en-US" altLang="ja-JP" dirty="0"/>
              <a:t> </a:t>
            </a:r>
            <a:r>
              <a:rPr lang="en-US" altLang="ja-JP" dirty="0" err="1"/>
              <a:t>tắt</a:t>
            </a:r>
            <a:r>
              <a:rPr lang="en-US" altLang="ja-JP" dirty="0"/>
              <a:t> </a:t>
            </a:r>
            <a:r>
              <a:rPr lang="en-US" altLang="ja-JP" dirty="0" err="1"/>
              <a:t>lại</a:t>
            </a:r>
            <a:r>
              <a:rPr lang="en-US" altLang="ja-JP" dirty="0"/>
              <a:t> </a:t>
            </a:r>
            <a:r>
              <a:rPr lang="en-US" altLang="ja-JP" dirty="0" err="1"/>
              <a:t>nội</a:t>
            </a:r>
            <a:r>
              <a:rPr lang="en-US" altLang="ja-JP" dirty="0"/>
              <a:t> dung </a:t>
            </a:r>
            <a:r>
              <a:rPr lang="en-US" altLang="ja-JP" dirty="0" err="1"/>
              <a:t>buổi</a:t>
            </a:r>
            <a:r>
              <a:rPr lang="en-US" altLang="ja-JP" dirty="0"/>
              <a:t> </a:t>
            </a:r>
            <a:r>
              <a:rPr lang="en-US" altLang="ja-JP" dirty="0" err="1"/>
              <a:t>học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600"/>
              </a:spcAft>
            </a:pPr>
            <a:r>
              <a:rPr lang="en-US" sz="2800" b="1"/>
              <a:t>Các hệ thống số</a:t>
            </a:r>
          </a:p>
          <a:p>
            <a:pPr>
              <a:spcAft>
                <a:spcPts val="3600"/>
              </a:spcAft>
            </a:pPr>
            <a:r>
              <a:rPr lang="en-US" sz="2800" b="1"/>
              <a:t>Chuyển đổi giữa các hệ thống số</a:t>
            </a:r>
          </a:p>
          <a:p>
            <a:pPr>
              <a:spcAft>
                <a:spcPts val="3600"/>
              </a:spcAft>
            </a:pPr>
            <a:r>
              <a:rPr lang="en-US" sz="2800" b="1"/>
              <a:t>Các phép toán trong hệ nhị phân</a:t>
            </a:r>
          </a:p>
          <a:p>
            <a:pPr>
              <a:spcAft>
                <a:spcPts val="3600"/>
              </a:spcAft>
            </a:pPr>
            <a:r>
              <a:rPr lang="en-US" sz="2800" b="1"/>
              <a:t>Biểu diễn số có dấu</a:t>
            </a:r>
          </a:p>
          <a:p>
            <a:pPr>
              <a:spcAft>
                <a:spcPts val="3600"/>
              </a:spcAft>
            </a:pPr>
            <a:r>
              <a:rPr lang="en-US" sz="2800" b="1"/>
              <a:t>Các dạng biểu diễn thông tin khác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0647904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756CC-FF80-6915-444D-795BAF1C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70</a:t>
            </a:fld>
            <a:endParaRPr lang="en-V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000C4-9A2E-05A2-1818-684E7F99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14E97F-0DB8-D467-8B0C-A879824FD45F}"/>
              </a:ext>
            </a:extLst>
          </p:cNvPr>
          <p:cNvSpPr txBox="1">
            <a:spLocks/>
          </p:cNvSpPr>
          <p:nvPr/>
        </p:nvSpPr>
        <p:spPr>
          <a:xfrm>
            <a:off x="4684910" y="1918010"/>
            <a:ext cx="4012558" cy="1100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lin ang="2700000" scaled="1"/>
                  <a:tileRect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THẢO LUẬN</a:t>
            </a:r>
          </a:p>
        </p:txBody>
      </p:sp>
      <p:pic>
        <p:nvPicPr>
          <p:cNvPr id="5" name="Picture 4" descr="http://data.sinhvienit.net/2013/T09/img/SinhVienIT.Net---suy-nghi.jpg">
            <a:extLst>
              <a:ext uri="{FF2B5EF4-FFF2-40B4-BE49-F238E27FC236}">
                <a16:creationId xmlns:a16="http://schemas.microsoft.com/office/drawing/2014/main" id="{91D62A03-02AF-AB7F-80A0-89E3D2490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42" y="3018931"/>
            <a:ext cx="3211551" cy="24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5609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4725</Words>
  <Application>Microsoft Office PowerPoint</Application>
  <PresentationFormat>Widescreen</PresentationFormat>
  <Paragraphs>1155</Paragraphs>
  <Slides>70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1" baseType="lpstr">
      <vt:lpstr>Arial</vt:lpstr>
      <vt:lpstr>Arial</vt:lpstr>
      <vt:lpstr>Calibri</vt:lpstr>
      <vt:lpstr>Cambria Math</vt:lpstr>
      <vt:lpstr>Lucida Console</vt:lpstr>
      <vt:lpstr>Symbol</vt:lpstr>
      <vt:lpstr>Tahoma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Các hệ thống số thông dụng - hệ thập phân</vt:lpstr>
      <vt:lpstr>Các hệ thống số thông dụng - hệ nhị phân</vt:lpstr>
      <vt:lpstr>Quiz - Quy đổi trong hệ nhị phân</vt:lpstr>
      <vt:lpstr>Tính giá trị thập phân tương ứng</vt:lpstr>
      <vt:lpstr>Quiz - Tính giá trị thập phân của các số nhị phân</vt:lpstr>
      <vt:lpstr>Các hệ thống số thông dụng - hệ thập lục phân (16)</vt:lpstr>
      <vt:lpstr>Các hệ thống số thông dụng - hệ thập lục phân (tt)</vt:lpstr>
      <vt:lpstr>Các hệ thống số thông dụng (tt)</vt:lpstr>
      <vt:lpstr>Các hệ thống số thông dụng (tt)</vt:lpstr>
      <vt:lpstr>Các hệ thống số thông dụng (tt)</vt:lpstr>
      <vt:lpstr>Các hệ thống số thông dụng (tt)</vt:lpstr>
      <vt:lpstr>PowerPoint Presentation</vt:lpstr>
      <vt:lpstr>Chuyển đổi giữa các hệ thống số</vt:lpstr>
      <vt:lpstr>Chuyển hệ nhị phân sang hệ thập phân</vt:lpstr>
      <vt:lpstr>Chuyển hệ nhị phân sang hệ thập phân (tt)</vt:lpstr>
      <vt:lpstr>Chuyển hệ nhị phân sang hệ thập phân(tt)</vt:lpstr>
      <vt:lpstr>Chuyển hệ thập lục phân sang hệ thập phân</vt:lpstr>
      <vt:lpstr>Chuyển hệ thập phân sang hệ nhị phân</vt:lpstr>
      <vt:lpstr>Ví dụ: 2510  Số nhị phân</vt:lpstr>
      <vt:lpstr>Chuyển hệ thập phân sang hệ nhị phân</vt:lpstr>
      <vt:lpstr>Quiz - chuyển hệ thập phân sang hệ nhị phân</vt:lpstr>
      <vt:lpstr>Chuyển hệ thập phân sang thập lục phân</vt:lpstr>
      <vt:lpstr>Ví dụ: 42310  Số thập lục phân</vt:lpstr>
      <vt:lpstr>Quiz - chuyển hệ thập phân sang hệ thập lục phân</vt:lpstr>
      <vt:lpstr>Chuyển hệ thập lục phân sang nhị phân</vt:lpstr>
      <vt:lpstr>Ví dụ: A2816  Nhị phân</vt:lpstr>
      <vt:lpstr>Chuyển hệ nhị phân sang thập lục phân</vt:lpstr>
      <vt:lpstr>Ví dụ: 101011010011010110112  Thập lục phân</vt:lpstr>
      <vt:lpstr>Quiz - Chuyển đổi các hệ cơ số</vt:lpstr>
      <vt:lpstr>PowerPoint Presentation</vt:lpstr>
      <vt:lpstr>Các phép toán trong hệ nhị phân</vt:lpstr>
      <vt:lpstr>Phép cộng</vt:lpstr>
      <vt:lpstr>Phép trừ</vt:lpstr>
      <vt:lpstr>Phép nhân</vt:lpstr>
      <vt:lpstr>Phép chia</vt:lpstr>
      <vt:lpstr>Quiz - Các phép toán trong hệ nhị phân</vt:lpstr>
      <vt:lpstr>PowerPoint Presentation</vt:lpstr>
      <vt:lpstr>Biểu diễn số có dấu</vt:lpstr>
      <vt:lpstr>Biểu diễn số có dấu (tt)</vt:lpstr>
      <vt:lpstr>Dạng số “dấu và độ lớn”</vt:lpstr>
      <vt:lpstr>Dạng số “bù 1” và “bù 2”</vt:lpstr>
      <vt:lpstr>Biểu diễn số có dấu dưới dạng số bù 2</vt:lpstr>
      <vt:lpstr>Tầm giá trị biểu diễn</vt:lpstr>
      <vt:lpstr>Ví dụ</vt:lpstr>
      <vt:lpstr>Ví dụ (tt)</vt:lpstr>
      <vt:lpstr>PowerPoint Presentation</vt:lpstr>
      <vt:lpstr>Biểu diễn các loại số khác</vt:lpstr>
      <vt:lpstr>PowerPoint Presentation</vt:lpstr>
      <vt:lpstr>BCD (Binary Coded Decimal)</vt:lpstr>
      <vt:lpstr>BCD (Binary Coded Decimal)</vt:lpstr>
      <vt:lpstr>Ví dụ số BCD</vt:lpstr>
      <vt:lpstr>Quiz - Số BCD</vt:lpstr>
      <vt:lpstr>PowerPoint Presentation</vt:lpstr>
      <vt:lpstr>Số dấu chấm động (Floating point)</vt:lpstr>
      <vt:lpstr>Số dấu chấm động (tt)</vt:lpstr>
      <vt:lpstr>Chuyển sang số dấu chấm động (tt)</vt:lpstr>
      <vt:lpstr>Số dấu chấm động (tt)</vt:lpstr>
      <vt:lpstr>Tính giá trị số dấu chấm động</vt:lpstr>
      <vt:lpstr>Quiz - Số dấu chấm động</vt:lpstr>
      <vt:lpstr>PowerPoint Presentation</vt:lpstr>
      <vt:lpstr>ASCII</vt:lpstr>
      <vt:lpstr>ASCII (tt)</vt:lpstr>
      <vt:lpstr>ASCII (tt)</vt:lpstr>
      <vt:lpstr>ASCII (tt)</vt:lpstr>
      <vt:lpstr>Tóm tắt lại nội dung buổi học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Phan Đình Duy</cp:lastModifiedBy>
  <cp:revision>128</cp:revision>
  <dcterms:created xsi:type="dcterms:W3CDTF">2023-03-03T01:55:04Z</dcterms:created>
  <dcterms:modified xsi:type="dcterms:W3CDTF">2024-03-02T03:32:05Z</dcterms:modified>
</cp:coreProperties>
</file>