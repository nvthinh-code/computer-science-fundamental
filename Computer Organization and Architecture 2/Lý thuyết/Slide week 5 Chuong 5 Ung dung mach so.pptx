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1"/>
  </p:sldMasterIdLst>
  <p:notesMasterIdLst>
    <p:notesMasterId r:id="rId40"/>
  </p:notesMasterIdLst>
  <p:sldIdLst>
    <p:sldId id="314" r:id="rId2"/>
    <p:sldId id="262" r:id="rId3"/>
    <p:sldId id="269" r:id="rId4"/>
    <p:sldId id="261" r:id="rId5"/>
    <p:sldId id="263" r:id="rId6"/>
    <p:sldId id="378" r:id="rId7"/>
    <p:sldId id="389" r:id="rId8"/>
    <p:sldId id="382" r:id="rId9"/>
    <p:sldId id="345" r:id="rId10"/>
    <p:sldId id="390" r:id="rId11"/>
    <p:sldId id="383" r:id="rId12"/>
    <p:sldId id="347" r:id="rId13"/>
    <p:sldId id="379" r:id="rId14"/>
    <p:sldId id="380" r:id="rId15"/>
    <p:sldId id="381" r:id="rId16"/>
    <p:sldId id="295" r:id="rId17"/>
    <p:sldId id="260" r:id="rId18"/>
    <p:sldId id="387" r:id="rId19"/>
    <p:sldId id="388" r:id="rId20"/>
    <p:sldId id="298" r:id="rId21"/>
    <p:sldId id="292" r:id="rId22"/>
    <p:sldId id="294" r:id="rId23"/>
    <p:sldId id="384" r:id="rId24"/>
    <p:sldId id="357" r:id="rId25"/>
    <p:sldId id="301" r:id="rId26"/>
    <p:sldId id="391" r:id="rId27"/>
    <p:sldId id="330" r:id="rId28"/>
    <p:sldId id="273" r:id="rId29"/>
    <p:sldId id="369" r:id="rId30"/>
    <p:sldId id="392" r:id="rId31"/>
    <p:sldId id="370" r:id="rId32"/>
    <p:sldId id="393" r:id="rId33"/>
    <p:sldId id="394" r:id="rId34"/>
    <p:sldId id="302" r:id="rId35"/>
    <p:sldId id="274" r:id="rId36"/>
    <p:sldId id="368" r:id="rId37"/>
    <p:sldId id="371" r:id="rId38"/>
    <p:sldId id="268" r:id="rId39"/>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6FF"/>
    <a:srgbClr val="0072FF"/>
    <a:srgbClr val="1CB5E0"/>
    <a:srgbClr val="000046"/>
    <a:srgbClr val="00F7FF"/>
    <a:srgbClr val="0A4671"/>
    <a:srgbClr val="114F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720"/>
    <p:restoredTop sz="84668" autoAdjust="0"/>
  </p:normalViewPr>
  <p:slideViewPr>
    <p:cSldViewPr snapToGrid="0">
      <p:cViewPr varScale="1">
        <p:scale>
          <a:sx n="97" d="100"/>
          <a:sy n="97" d="100"/>
        </p:scale>
        <p:origin x="232" y="10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01B713-64C2-0949-8ADC-A04FFD1F6467}" type="datetimeFigureOut">
              <a:rPr lang="en-VN" smtClean="0"/>
              <a:t>04/09/2023</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19F204-C7F4-F140-967F-D2FA889DA617}" type="slidenum">
              <a:rPr lang="en-VN" smtClean="0"/>
              <a:t>‹#›</a:t>
            </a:fld>
            <a:endParaRPr lang="en-VN"/>
          </a:p>
        </p:txBody>
      </p:sp>
    </p:spTree>
    <p:extLst>
      <p:ext uri="{BB962C8B-B14F-4D97-AF65-F5344CB8AC3E}">
        <p14:creationId xmlns:p14="http://schemas.microsoft.com/office/powerpoint/2010/main" val="2989964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Nhắc lại về Mô hình Von-neumann, để giới thiệu về datapath đơn giản bao gồm bộ nhớ dữ liệu, tập thanh ghi và ALU ở slide sau</a:t>
            </a:r>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5</a:t>
            </a:fld>
            <a:endParaRPr lang="en-VN"/>
          </a:p>
        </p:txBody>
      </p:sp>
    </p:spTree>
    <p:extLst>
      <p:ext uri="{BB962C8B-B14F-4D97-AF65-F5344CB8AC3E}">
        <p14:creationId xmlns:p14="http://schemas.microsoft.com/office/powerpoint/2010/main" val="3097139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Giải thích tại sao datapath cần có tập thanh ghi</a:t>
            </a:r>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6</a:t>
            </a:fld>
            <a:endParaRPr lang="en-VN"/>
          </a:p>
        </p:txBody>
      </p:sp>
    </p:spTree>
    <p:extLst>
      <p:ext uri="{BB962C8B-B14F-4D97-AF65-F5344CB8AC3E}">
        <p14:creationId xmlns:p14="http://schemas.microsoft.com/office/powerpoint/2010/main" val="3850244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Giải thích tại sao datapath cần có tập thanh ghi</a:t>
            </a:r>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7</a:t>
            </a:fld>
            <a:endParaRPr lang="en-VN"/>
          </a:p>
        </p:txBody>
      </p:sp>
    </p:spTree>
    <p:extLst>
      <p:ext uri="{BB962C8B-B14F-4D97-AF65-F5344CB8AC3E}">
        <p14:creationId xmlns:p14="http://schemas.microsoft.com/office/powerpoint/2010/main" val="3508119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vi-VN" dirty="0"/>
              <a:t>Như tên gọi của nó, ALU  là một mạch tổ hợp có chức năng thực hiện các phép toán số học và luận lý</a:t>
            </a:r>
          </a:p>
          <a:p>
            <a:pPr marL="228600" indent="-228600">
              <a:buAutoNum type="arabicPeriod"/>
            </a:pPr>
            <a:r>
              <a:rPr lang="vi-VN" dirty="0"/>
              <a:t>Bên trái là ký hiệu của ALU với 3 ngõ vào và 1 ngõ ra</a:t>
            </a:r>
          </a:p>
          <a:p>
            <a:pPr marL="228600" indent="-228600">
              <a:buAutoNum type="arabicPeriod"/>
            </a:pPr>
            <a:r>
              <a:rPr lang="vi-VN" dirty="0"/>
              <a:t>Dựa theo tín hiệu điều khiển Opcode mà ALU sẽ thực hiện thao tác tương tứng theo như bảng hoạt động ở giữa</a:t>
            </a:r>
          </a:p>
          <a:p>
            <a:pPr marL="228600" indent="-228600">
              <a:buAutoNum type="arabicPeriod"/>
            </a:pPr>
            <a:r>
              <a:rPr lang="vi-VN" dirty="0"/>
              <a:t>4 thao tác đầu là số học và 4 thao tác sau là luận lý, nên có thể chia ALU thành 2 mạch con là AU và LU như hình bên phải</a:t>
            </a:r>
          </a:p>
          <a:p>
            <a:pPr marL="228600" indent="-228600">
              <a:buAutoNum type="arabicPeriod"/>
            </a:pPr>
            <a:r>
              <a:rPr lang="vi-VN" dirty="0"/>
              <a:t>Việc lựa chọn giữa kết quả số học (AU) hay luận lý (LU) sẽ được quyết định bởi bộ chọn (sẽ tìm hiểu trong slide sau).</a:t>
            </a:r>
          </a:p>
          <a:p>
            <a:pPr marL="228600" indent="-228600">
              <a:buAutoNum type="arabicPeriod"/>
            </a:pPr>
            <a:r>
              <a:rPr lang="vi-VN" dirty="0"/>
              <a:t>Hiện tại chỉ cần quan tâm đến chức năng của ALU là làm gì</a:t>
            </a:r>
            <a:endParaRPr lang="en-US" dirty="0"/>
          </a:p>
        </p:txBody>
      </p:sp>
      <p:sp>
        <p:nvSpPr>
          <p:cNvPr id="4" name="Slide Number Placeholder 3"/>
          <p:cNvSpPr>
            <a:spLocks noGrp="1"/>
          </p:cNvSpPr>
          <p:nvPr>
            <p:ph type="sldNum" sz="quarter" idx="5"/>
          </p:nvPr>
        </p:nvSpPr>
        <p:spPr/>
        <p:txBody>
          <a:bodyPr/>
          <a:lstStyle/>
          <a:p>
            <a:fld id="{DC19F204-C7F4-F140-967F-D2FA889DA617}" type="slidenum">
              <a:rPr lang="en-VN" smtClean="0"/>
              <a:t>9</a:t>
            </a:fld>
            <a:endParaRPr lang="en-VN"/>
          </a:p>
        </p:txBody>
      </p:sp>
    </p:spTree>
    <p:extLst>
      <p:ext uri="{BB962C8B-B14F-4D97-AF65-F5344CB8AC3E}">
        <p14:creationId xmlns:p14="http://schemas.microsoft.com/office/powerpoint/2010/main" val="3139774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ALU (Arithmetic-logical unit)</a:t>
            </a:r>
          </a:p>
          <a:p>
            <a:pPr lvl="1"/>
            <a:r>
              <a:rPr lang="vi-VN" dirty="0"/>
              <a:t>Khối dùng để thực hiện các phép tính logic và số học</a:t>
            </a:r>
          </a:p>
          <a:p>
            <a:r>
              <a:rPr lang="vi-VN" dirty="0"/>
              <a:t>Inputs: </a:t>
            </a:r>
          </a:p>
          <a:p>
            <a:pPr lvl="1"/>
            <a:r>
              <a:rPr lang="vi-VN" dirty="0"/>
              <a:t>2 số 32-bit</a:t>
            </a:r>
          </a:p>
          <a:p>
            <a:r>
              <a:rPr lang="vi-VN" dirty="0"/>
              <a:t>Điều khiển khối ALU: </a:t>
            </a:r>
          </a:p>
          <a:p>
            <a:pPr lvl="1"/>
            <a:r>
              <a:rPr lang="vi-VN" dirty="0"/>
              <a:t>Do ALU có thể thực hiện nhiều chức năng -&gt; dùng 4-bit để quyết định chức năng/phép toán cụ thể nào cho ALU</a:t>
            </a:r>
          </a:p>
          <a:p>
            <a:r>
              <a:rPr lang="vi-VN" dirty="0"/>
              <a:t>Outputs: </a:t>
            </a:r>
          </a:p>
          <a:p>
            <a:pPr lvl="1"/>
            <a:r>
              <a:rPr lang="vi-VN" dirty="0"/>
              <a:t>Kết quả của phép toán số học hoặc logic</a:t>
            </a:r>
          </a:p>
          <a:p>
            <a:pPr lvl="1"/>
            <a:r>
              <a:rPr lang="vi-VN" dirty="0"/>
              <a:t>Một bit tín hiệu để chỉ ra rằng kết quả có bằng 0 hay không</a:t>
            </a:r>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DC19F204-C7F4-F140-967F-D2FA889DA617}" type="slidenum">
              <a:rPr lang="en-VN" smtClean="0"/>
              <a:t>10</a:t>
            </a:fld>
            <a:endParaRPr lang="en-VN"/>
          </a:p>
        </p:txBody>
      </p:sp>
    </p:spTree>
    <p:extLst>
      <p:ext uri="{BB962C8B-B14F-4D97-AF65-F5344CB8AC3E}">
        <p14:creationId xmlns:p14="http://schemas.microsoft.com/office/powerpoint/2010/main" val="766343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Bộ chọn vừa tìm hiểu có chức năng chọn 1 trong 2 nên còn gọi là mux2.</a:t>
            </a:r>
          </a:p>
          <a:p>
            <a:r>
              <a:rPr lang="vi-VN" dirty="0"/>
              <a:t>Để có khả năng chọn 1 trong 4 thì chúng ta có thể kết nối các mux2 lại để có được mux4</a:t>
            </a:r>
          </a:p>
          <a:p>
            <a:r>
              <a:rPr lang="vi-VN" dirty="0"/>
              <a:t>Theo bảng chân trị ở giữa thì có thể chia thành 2 phần, phần trên cố định s1 = 0 thì s0 và Y hoạt động như 1 mux2. phần dưới cố định s1 = 1 thì s0 và Y cũng hoạt động như 1 mux2. Tổng thể lại thì s1 và kết quả của 2 mux2 trước cũng tạo thành 1 mux2 mới, nên chúng ta có thể kết nối 3 mux2 như bên phải để có được mux4</a:t>
            </a:r>
            <a:endParaRPr lang="en-US" dirty="0"/>
          </a:p>
          <a:p>
            <a:endParaRPr lang="en-US" dirty="0"/>
          </a:p>
        </p:txBody>
      </p:sp>
      <p:sp>
        <p:nvSpPr>
          <p:cNvPr id="4" name="Slide Number Placeholder 3"/>
          <p:cNvSpPr>
            <a:spLocks noGrp="1"/>
          </p:cNvSpPr>
          <p:nvPr>
            <p:ph type="sldNum" sz="quarter" idx="5"/>
          </p:nvPr>
        </p:nvSpPr>
        <p:spPr/>
        <p:txBody>
          <a:bodyPr/>
          <a:lstStyle/>
          <a:p>
            <a:fld id="{DC19F204-C7F4-F140-967F-D2FA889DA617}" type="slidenum">
              <a:rPr lang="en-VN" smtClean="0"/>
              <a:t>13</a:t>
            </a:fld>
            <a:endParaRPr lang="en-VN"/>
          </a:p>
        </p:txBody>
      </p:sp>
    </p:spTree>
    <p:extLst>
      <p:ext uri="{BB962C8B-B14F-4D97-AF65-F5344CB8AC3E}">
        <p14:creationId xmlns:p14="http://schemas.microsoft.com/office/powerpoint/2010/main" val="11622927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DC19F204-C7F4-F140-967F-D2FA889DA617}" type="slidenum">
              <a:rPr lang="en-VN" smtClean="0"/>
              <a:t>14</a:t>
            </a:fld>
            <a:endParaRPr lang="en-VN"/>
          </a:p>
        </p:txBody>
      </p:sp>
    </p:spTree>
    <p:extLst>
      <p:ext uri="{BB962C8B-B14F-4D97-AF65-F5344CB8AC3E}">
        <p14:creationId xmlns:p14="http://schemas.microsoft.com/office/powerpoint/2010/main" val="384845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a:t>
            </a:r>
            <a:endParaRPr lang="vi-VN" dirty="0"/>
          </a:p>
        </p:txBody>
      </p:sp>
      <p:sp>
        <p:nvSpPr>
          <p:cNvPr id="4" name="Slide Number Placeholder 3"/>
          <p:cNvSpPr>
            <a:spLocks noGrp="1"/>
          </p:cNvSpPr>
          <p:nvPr>
            <p:ph type="sldNum" sz="quarter" idx="10"/>
          </p:nvPr>
        </p:nvSpPr>
        <p:spPr/>
        <p:txBody>
          <a:bodyPr/>
          <a:lstStyle/>
          <a:p>
            <a:fld id="{D4F08593-9999-46B0-AA2F-E39338DD28D8}" type="slidenum">
              <a:rPr lang="en-US" smtClean="0"/>
              <a:pPr/>
              <a:t>17</a:t>
            </a:fld>
            <a:endParaRPr lang="en-US"/>
          </a:p>
        </p:txBody>
      </p:sp>
    </p:spTree>
    <p:extLst>
      <p:ext uri="{BB962C8B-B14F-4D97-AF65-F5344CB8AC3E}">
        <p14:creationId xmlns:p14="http://schemas.microsoft.com/office/powerpoint/2010/main" val="2764330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a:t>
            </a:r>
            <a:endParaRPr lang="vi-VN" b="1" dirty="0"/>
          </a:p>
        </p:txBody>
      </p:sp>
      <p:sp>
        <p:nvSpPr>
          <p:cNvPr id="4" name="Slide Number Placeholder 3"/>
          <p:cNvSpPr>
            <a:spLocks noGrp="1"/>
          </p:cNvSpPr>
          <p:nvPr>
            <p:ph type="sldNum" sz="quarter" idx="10"/>
          </p:nvPr>
        </p:nvSpPr>
        <p:spPr/>
        <p:txBody>
          <a:bodyPr/>
          <a:lstStyle/>
          <a:p>
            <a:fld id="{D4F08593-9999-46B0-AA2F-E39338DD28D8}" type="slidenum">
              <a:rPr lang="en-US" smtClean="0"/>
              <a:pPr/>
              <a:t>19</a:t>
            </a:fld>
            <a:endParaRPr lang="en-US"/>
          </a:p>
        </p:txBody>
      </p:sp>
    </p:spTree>
    <p:extLst>
      <p:ext uri="{BB962C8B-B14F-4D97-AF65-F5344CB8AC3E}">
        <p14:creationId xmlns:p14="http://schemas.microsoft.com/office/powerpoint/2010/main" val="1262361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a:t>
            </a:r>
            <a:endParaRPr lang="vi-VN" b="1" dirty="0"/>
          </a:p>
        </p:txBody>
      </p:sp>
      <p:sp>
        <p:nvSpPr>
          <p:cNvPr id="4" name="Slide Number Placeholder 3"/>
          <p:cNvSpPr>
            <a:spLocks noGrp="1"/>
          </p:cNvSpPr>
          <p:nvPr>
            <p:ph type="sldNum" sz="quarter" idx="10"/>
          </p:nvPr>
        </p:nvSpPr>
        <p:spPr/>
        <p:txBody>
          <a:bodyPr/>
          <a:lstStyle/>
          <a:p>
            <a:fld id="{D4F08593-9999-46B0-AA2F-E39338DD28D8}" type="slidenum">
              <a:rPr lang="en-US" smtClean="0"/>
              <a:pPr/>
              <a:t>20</a:t>
            </a:fld>
            <a:endParaRPr lang="en-US"/>
          </a:p>
        </p:txBody>
      </p:sp>
    </p:spTree>
    <p:extLst>
      <p:ext uri="{BB962C8B-B14F-4D97-AF65-F5344CB8AC3E}">
        <p14:creationId xmlns:p14="http://schemas.microsoft.com/office/powerpoint/2010/main" val="26594763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a:t>
            </a:r>
            <a:endParaRPr lang="vi-VN" dirty="0"/>
          </a:p>
        </p:txBody>
      </p:sp>
      <p:sp>
        <p:nvSpPr>
          <p:cNvPr id="4" name="Slide Number Placeholder 3"/>
          <p:cNvSpPr>
            <a:spLocks noGrp="1"/>
          </p:cNvSpPr>
          <p:nvPr>
            <p:ph type="sldNum" sz="quarter" idx="10"/>
          </p:nvPr>
        </p:nvSpPr>
        <p:spPr/>
        <p:txBody>
          <a:bodyPr/>
          <a:lstStyle/>
          <a:p>
            <a:fld id="{D4F08593-9999-46B0-AA2F-E39338DD28D8}" type="slidenum">
              <a:rPr lang="en-US" smtClean="0"/>
              <a:pPr/>
              <a:t>21</a:t>
            </a:fld>
            <a:endParaRPr lang="en-US"/>
          </a:p>
        </p:txBody>
      </p:sp>
    </p:spTree>
    <p:extLst>
      <p:ext uri="{BB962C8B-B14F-4D97-AF65-F5344CB8AC3E}">
        <p14:creationId xmlns:p14="http://schemas.microsoft.com/office/powerpoint/2010/main" val="24622886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a:t>
            </a:r>
            <a:endParaRPr lang="vi-VN" dirty="0"/>
          </a:p>
        </p:txBody>
      </p:sp>
      <p:sp>
        <p:nvSpPr>
          <p:cNvPr id="4" name="Slide Number Placeholder 3"/>
          <p:cNvSpPr>
            <a:spLocks noGrp="1"/>
          </p:cNvSpPr>
          <p:nvPr>
            <p:ph type="sldNum" sz="quarter" idx="10"/>
          </p:nvPr>
        </p:nvSpPr>
        <p:spPr/>
        <p:txBody>
          <a:bodyPr/>
          <a:lstStyle/>
          <a:p>
            <a:fld id="{D4F08593-9999-46B0-AA2F-E39338DD28D8}" type="slidenum">
              <a:rPr lang="en-US" smtClean="0"/>
              <a:pPr/>
              <a:t>22</a:t>
            </a:fld>
            <a:endParaRPr lang="en-US"/>
          </a:p>
        </p:txBody>
      </p:sp>
    </p:spTree>
    <p:extLst>
      <p:ext uri="{BB962C8B-B14F-4D97-AF65-F5344CB8AC3E}">
        <p14:creationId xmlns:p14="http://schemas.microsoft.com/office/powerpoint/2010/main" val="24573398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Về chi tiết, bộ cộng sẽ thực hiện cộng từng bit với nhau (giảng viên nhắc lại cách cộng 2 chuỗi bit nhị phân đã học trong chương 2)</a:t>
            </a:r>
          </a:p>
          <a:p>
            <a:r>
              <a:rPr lang="vi-VN"/>
              <a:t>Mỗi bộ FA (FULL ADDER) trên hình sẽ có chức năng cộng từng cặp bit có cùng trọng số với nhau</a:t>
            </a:r>
            <a:endParaRPr lang="en-US" dirty="0"/>
          </a:p>
        </p:txBody>
      </p:sp>
      <p:sp>
        <p:nvSpPr>
          <p:cNvPr id="4" name="Slide Number Placeholder 3"/>
          <p:cNvSpPr>
            <a:spLocks noGrp="1"/>
          </p:cNvSpPr>
          <p:nvPr>
            <p:ph type="sldNum" sz="quarter" idx="5"/>
          </p:nvPr>
        </p:nvSpPr>
        <p:spPr/>
        <p:txBody>
          <a:bodyPr/>
          <a:lstStyle/>
          <a:p>
            <a:fld id="{DC19F204-C7F4-F140-967F-D2FA889DA617}" type="slidenum">
              <a:rPr lang="en-VN" smtClean="0"/>
              <a:t>23</a:t>
            </a:fld>
            <a:endParaRPr lang="en-VN"/>
          </a:p>
        </p:txBody>
      </p:sp>
    </p:spTree>
    <p:extLst>
      <p:ext uri="{BB962C8B-B14F-4D97-AF65-F5344CB8AC3E}">
        <p14:creationId xmlns:p14="http://schemas.microsoft.com/office/powerpoint/2010/main" val="33589727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vi-VN"/>
              <a:t>ALU gồm khối số học (AU) và khối luận lý (LU).</a:t>
            </a:r>
          </a:p>
          <a:p>
            <a:pPr marL="228600" indent="-228600">
              <a:buAutoNum type="arabicPeriod"/>
            </a:pPr>
            <a:r>
              <a:rPr lang="vi-VN"/>
              <a:t>Về chi tiết thì khối AU gồm phép toán cộng và trừ. Trong slide này chúng ta tìm hiểu về bộ cộng có chức năng thực hiện phép toán cộng.</a:t>
            </a:r>
          </a:p>
          <a:p>
            <a:pPr marL="228600" indent="-228600">
              <a:buAutoNum type="arabicPeriod"/>
            </a:pPr>
            <a:r>
              <a:rPr lang="vi-VN"/>
              <a:t>Các khối mạch có chức năng thực hiện phép trừ hay các phép toán luận lý khác đều được xây dựng tương tự</a:t>
            </a:r>
            <a:endParaRPr lang="en-US"/>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24</a:t>
            </a:fld>
            <a:endParaRPr lang="en-VN"/>
          </a:p>
        </p:txBody>
      </p:sp>
    </p:spTree>
    <p:extLst>
      <p:ext uri="{BB962C8B-B14F-4D97-AF65-F5344CB8AC3E}">
        <p14:creationId xmlns:p14="http://schemas.microsoft.com/office/powerpoint/2010/main" val="17326932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vi-VN"/>
              <a:t>Việc thiết kế bộ so sánh 2 số bất kỳ tốn rất nhiều tài nguyên vì bảng chân trị cần tới 2^{2n} hàng, với n là độ rộng bit của toán hạng</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vi-VN"/>
              <a:t>Giải pháp được đề xuất là tận dụng ALU  và  bộ so sánh có sẵn!</a:t>
            </a:r>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27</a:t>
            </a:fld>
            <a:endParaRPr lang="en-VN"/>
          </a:p>
        </p:txBody>
      </p:sp>
    </p:spTree>
    <p:extLst>
      <p:ext uri="{BB962C8B-B14F-4D97-AF65-F5344CB8AC3E}">
        <p14:creationId xmlns:p14="http://schemas.microsoft.com/office/powerpoint/2010/main" val="35057132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DC19F204-C7F4-F140-967F-D2FA889DA617}" type="slidenum">
              <a:rPr lang="en-VN" smtClean="0"/>
              <a:t>29</a:t>
            </a:fld>
            <a:endParaRPr lang="en-VN"/>
          </a:p>
        </p:txBody>
      </p:sp>
    </p:spTree>
    <p:extLst>
      <p:ext uri="{BB962C8B-B14F-4D97-AF65-F5344CB8AC3E}">
        <p14:creationId xmlns:p14="http://schemas.microsoft.com/office/powerpoint/2010/main" val="10000320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vi-VN"/>
              <a:t>Bên trái là ký hiệu của một bộ giải mã 2:4, với 2 ngõ vào thì sẽ có tối đa 4 tổ hợp nên có thể dùng để quản lý địa chỉ của 4 thiết bị</a:t>
            </a:r>
          </a:p>
          <a:p>
            <a:pPr marL="228600" indent="-228600">
              <a:buAutoNum type="arabicPeriod"/>
            </a:pPr>
            <a:r>
              <a:rPr lang="vi-VN"/>
              <a:t>Tại 1 thời điểm chỉ có 1 ngõ ra được tích cực (1) nên chỉ có 1 thiết bị được lựa chọn để hoạt động (thiết bị ở đây là thiết bị có địa chỉ được quản lý bởi ngõ ra của bộ giải mã)</a:t>
            </a:r>
          </a:p>
          <a:p>
            <a:pPr marL="228600" indent="-228600">
              <a:buAutoNum type="arabicPeriod"/>
            </a:pPr>
            <a:r>
              <a:rPr lang="vi-VN"/>
              <a:t>Nếu muốn không ngõ ra nào tích cực thì có thể bổ sung thêm ngõ vào điều khiển EN (enable)</a:t>
            </a:r>
          </a:p>
          <a:p>
            <a:pPr marL="685800" lvl="1" indent="-228600">
              <a:buAutoNum type="arabicPeriod"/>
            </a:pPr>
            <a:r>
              <a:rPr lang="vi-VN"/>
              <a:t>Khi tín hiệu này bằng 0 thì tất cả ngõ ra sẽ không tích cực</a:t>
            </a:r>
          </a:p>
          <a:p>
            <a:pPr marL="685800" lvl="1" indent="-228600">
              <a:buAutoNum type="arabicPeriod"/>
            </a:pPr>
            <a:r>
              <a:rPr lang="vi-VN"/>
              <a:t>Khi tín hiệu này bằng 1 thì bộ giải mã hoạt động bình thường</a:t>
            </a:r>
            <a:endParaRPr lang="en-US"/>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31</a:t>
            </a:fld>
            <a:endParaRPr lang="en-VN"/>
          </a:p>
        </p:txBody>
      </p:sp>
    </p:spTree>
    <p:extLst>
      <p:ext uri="{BB962C8B-B14F-4D97-AF65-F5344CB8AC3E}">
        <p14:creationId xmlns:p14="http://schemas.microsoft.com/office/powerpoint/2010/main" val="12249120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AutoNum type="arabicPeriod"/>
            </a:pPr>
            <a:r>
              <a:rPr lang="vi-VN" sz="1200">
                <a:effectLst/>
                <a:latin typeface="Times New Roman" panose="02020603050405020304" pitchFamily="18" charset="0"/>
                <a:ea typeface="Times New Roman" panose="02020603050405020304" pitchFamily="18" charset="0"/>
              </a:rPr>
              <a:t>I và O lần lượt là ngõ vào và ngõ ra dữ liệu của thanh ghi</a:t>
            </a:r>
          </a:p>
          <a:p>
            <a:pPr marL="342900" indent="-342900">
              <a:buAutoNum type="arabicPeriod"/>
            </a:pPr>
            <a:r>
              <a:rPr lang="vi-VN" sz="1200">
                <a:effectLst/>
                <a:latin typeface="Times New Roman" panose="02020603050405020304" pitchFamily="18" charset="0"/>
                <a:ea typeface="Times New Roman" panose="02020603050405020304" pitchFamily="18" charset="0"/>
              </a:rPr>
              <a:t>Nạp là ngõ vào cho phép việc ghi dữ liệu vào thanh ghi hay không, chi tiết về thanh ghi có khả năng nạp sẽ được trình bày trong slide sau</a:t>
            </a:r>
          </a:p>
          <a:p>
            <a:pPr marL="342900" indent="-342900">
              <a:buAutoNum type="arabicPeriod"/>
            </a:pPr>
            <a:r>
              <a:rPr lang="vi-VN" sz="1200">
                <a:effectLst/>
                <a:latin typeface="Times New Roman" panose="02020603050405020304" pitchFamily="18" charset="0"/>
                <a:ea typeface="Times New Roman" panose="02020603050405020304" pitchFamily="18" charset="0"/>
              </a:rPr>
              <a:t>MUX4 có chức năng chọn dữ liệu của thanh ghi nào sẽ được xuất ra bên ngoài</a:t>
            </a:r>
          </a:p>
          <a:p>
            <a:pPr marL="342900" indent="-342900">
              <a:buAutoNum type="arabicPeriod"/>
            </a:pPr>
            <a:r>
              <a:rPr lang="vi-VN" sz="1200">
                <a:effectLst/>
                <a:latin typeface="Times New Roman" panose="02020603050405020304" pitchFamily="18" charset="0"/>
                <a:ea typeface="Times New Roman" panose="02020603050405020304" pitchFamily="18" charset="0"/>
              </a:rPr>
              <a:t>Bộ giải mã có chức năng chọn địa chỉ của thanh nào sẽ được thao tác, chi tiết về bộ giải mã sẽ được trình bày trong các slide sau</a:t>
            </a:r>
          </a:p>
          <a:p>
            <a:pPr marL="342900" indent="-342900">
              <a:buAutoNum type="arabicPeriod"/>
            </a:pPr>
            <a:r>
              <a:rPr lang="en-US" sz="1200">
                <a:effectLst/>
                <a:latin typeface="Times New Roman" panose="02020603050405020304" pitchFamily="18" charset="0"/>
                <a:ea typeface="Times New Roman" panose="02020603050405020304" pitchFamily="18" charset="0"/>
              </a:rPr>
              <a:t>Để đọc dữ liệu từ một thanh ghi bất kỳ, chúng ta thiết lập địa chỉ của thanh ghi cần đọc tới ADDR và thiết lập WE = 0 (đọc), ngay lập tức dữ liệu sẽ xuất hiện tại DATA_OUT, việc thiết lập WE = 0 nhằm tránh không ghi dữ liệu tới thanh ghi muốn đọc khi CLK tích cực.</a:t>
            </a:r>
            <a:endParaRPr lang="vi-VN" sz="1200">
              <a:effectLst/>
              <a:latin typeface="Times New Roman" panose="02020603050405020304" pitchFamily="18" charset="0"/>
              <a:ea typeface="Times New Roman" panose="02020603050405020304" pitchFamily="18" charset="0"/>
            </a:endParaRPr>
          </a:p>
          <a:p>
            <a:pPr marL="342900" indent="-342900">
              <a:buAutoNum type="arabicPeriod"/>
            </a:pPr>
            <a:r>
              <a:rPr lang="en-US" sz="1200">
                <a:effectLst/>
                <a:latin typeface="Times New Roman" panose="02020603050405020304" pitchFamily="18" charset="0"/>
                <a:ea typeface="Times New Roman" panose="02020603050405020304" pitchFamily="18" charset="0"/>
              </a:rPr>
              <a:t>Để ghi dữ liệu tới một thanh ghi thì phức tạp hơn một chút, đầu tiên chúng ta thiết lập địa chỉ của thanh ghi cần ghi tới ADDR, đặt dữ liệu vào DATA_IN và thiết lập WE = 1 (ghi), khi CLK tích cực thì dữ liệu sẽ được cập nhật vào thanh ghi mong muốn.</a:t>
            </a:r>
            <a:endParaRPr lang="en-US"/>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35</a:t>
            </a:fld>
            <a:endParaRPr lang="en-VN"/>
          </a:p>
        </p:txBody>
      </p:sp>
    </p:spTree>
    <p:extLst>
      <p:ext uri="{BB962C8B-B14F-4D97-AF65-F5344CB8AC3E}">
        <p14:creationId xmlns:p14="http://schemas.microsoft.com/office/powerpoint/2010/main" val="34948053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t>Trong chương trước chúng ta đã biết “</a:t>
            </a:r>
            <a:r>
              <a:rPr lang="en-US"/>
              <a:t>Thanh ghi là một thiết bị l</a:t>
            </a:r>
            <a:r>
              <a:rPr lang="vi-VN"/>
              <a:t>ư</a:t>
            </a:r>
            <a:r>
              <a:rPr lang="en-US"/>
              <a:t>u trữ đ</a:t>
            </a:r>
            <a:r>
              <a:rPr lang="vi-VN"/>
              <a:t>ư</a:t>
            </a:r>
            <a:r>
              <a:rPr lang="en-US"/>
              <a:t>ợc cấu tạo bởi các flipflop nối chung ngõ vào CLK</a:t>
            </a:r>
            <a:r>
              <a:rPr lang="vi-VN"/>
              <a:t>”</a:t>
            </a:r>
          </a:p>
          <a:p>
            <a:pPr marL="0" marR="0" lvl="0" indent="0" algn="l" defTabSz="914400" rtl="0" eaLnBrk="1" fontAlgn="auto" latinLnBrk="0" hangingPunct="1">
              <a:lnSpc>
                <a:spcPct val="100000"/>
              </a:lnSpc>
              <a:spcBef>
                <a:spcPts val="0"/>
              </a:spcBef>
              <a:spcAft>
                <a:spcPts val="0"/>
              </a:spcAft>
              <a:buClrTx/>
              <a:buSzTx/>
              <a:buFontTx/>
              <a:buNone/>
              <a:tabLst/>
              <a:defRPr/>
            </a:pPr>
            <a:r>
              <a:rPr lang="vi-VN"/>
              <a:t>Bằng cách bổ sung thêm một bộ chọn với kết nối như trên hình thì chúng ta có thể cải tiến thanh ghi thêm chức năng nạp</a:t>
            </a:r>
          </a:p>
          <a:p>
            <a:pPr marL="0" marR="0" lvl="0" indent="0" algn="l" defTabSz="914400" rtl="0" eaLnBrk="1" fontAlgn="auto" latinLnBrk="0" hangingPunct="1">
              <a:lnSpc>
                <a:spcPct val="100000"/>
              </a:lnSpc>
              <a:spcBef>
                <a:spcPts val="0"/>
              </a:spcBef>
              <a:spcAft>
                <a:spcPts val="0"/>
              </a:spcAft>
              <a:buClrTx/>
              <a:buSzTx/>
              <a:buFontTx/>
              <a:buNone/>
              <a:tabLst/>
              <a:defRPr/>
            </a:pPr>
            <a:r>
              <a:rPr lang="vi-VN"/>
              <a:t>Nếu nạp = 0 thì thanh ghi giữ nguyên giá trị, nếu nạp = 1 thì thanh ghi sẽ nhận giá trị mới khi clk tích cực</a:t>
            </a:r>
            <a:endParaRPr lang="en-US"/>
          </a:p>
          <a:p>
            <a:endParaRPr lang="en-US"/>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36</a:t>
            </a:fld>
            <a:endParaRPr lang="en-VN"/>
          </a:p>
        </p:txBody>
      </p:sp>
    </p:spTree>
    <p:extLst>
      <p:ext uri="{BB962C8B-B14F-4D97-AF65-F5344CB8AC3E}">
        <p14:creationId xmlns:p14="http://schemas.microsoft.com/office/powerpoint/2010/main" val="3686850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êu đề">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54F319A-62FB-D9AB-91DD-E1478E7A521A}"/>
              </a:ext>
            </a:extLst>
          </p:cNvPr>
          <p:cNvSpPr>
            <a:spLocks noGrp="1"/>
          </p:cNvSpPr>
          <p:nvPr>
            <p:ph type="ftr" sz="quarter" idx="11"/>
          </p:nvPr>
        </p:nvSpPr>
        <p:spPr>
          <a:xfrm>
            <a:off x="2353680" y="6480629"/>
            <a:ext cx="4288103" cy="236770"/>
          </a:xfrm>
        </p:spPr>
        <p:txBody>
          <a:bodyPr/>
          <a:lstStyle>
            <a:lvl1pPr algn="l">
              <a:defRPr sz="1100">
                <a:latin typeface="Arial" panose="020B0604020202020204" pitchFamily="34" charset="0"/>
                <a:cs typeface="Arial" panose="020B0604020202020204" pitchFamily="34" charset="0"/>
              </a:defRPr>
            </a:lvl1pPr>
          </a:lstStyle>
          <a:p>
            <a:r>
              <a:rPr lang="vi-VN"/>
              <a:t>Thực hiện bởi Trường Đại học Công nghệ Thông tin, ĐHQG-HCM</a:t>
            </a:r>
            <a:endParaRPr lang="en-VN" dirty="0"/>
          </a:p>
        </p:txBody>
      </p:sp>
      <p:sp>
        <p:nvSpPr>
          <p:cNvPr id="7" name="Freeform 6">
            <a:extLst>
              <a:ext uri="{FF2B5EF4-FFF2-40B4-BE49-F238E27FC236}">
                <a16:creationId xmlns:a16="http://schemas.microsoft.com/office/drawing/2014/main" id="{88E55FBA-E532-BB1F-9AD4-40205F001925}"/>
              </a:ext>
            </a:extLst>
          </p:cNvPr>
          <p:cNvSpPr/>
          <p:nvPr/>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12">
            <a:extLst>
              <a:ext uri="{FF2B5EF4-FFF2-40B4-BE49-F238E27FC236}">
                <a16:creationId xmlns:a16="http://schemas.microsoft.com/office/drawing/2014/main" id="{BF14C68C-3577-C657-9E87-056612AF8E42}"/>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B88E437-A7E4-9E4B-E374-2DBE3AB8DADD}"/>
              </a:ext>
            </a:extLst>
          </p:cNvPr>
          <p:cNvGrpSpPr/>
          <p:nvPr/>
        </p:nvGrpSpPr>
        <p:grpSpPr>
          <a:xfrm>
            <a:off x="58527" y="40944"/>
            <a:ext cx="2869771" cy="1563379"/>
            <a:chOff x="44879" y="27296"/>
            <a:chExt cx="2869771" cy="1563379"/>
          </a:xfrm>
          <a:solidFill>
            <a:srgbClr val="0072FF"/>
          </a:solidFill>
        </p:grpSpPr>
        <p:cxnSp>
          <p:nvCxnSpPr>
            <p:cNvPr id="10" name="Straight Connector 9">
              <a:extLst>
                <a:ext uri="{FF2B5EF4-FFF2-40B4-BE49-F238E27FC236}">
                  <a16:creationId xmlns:a16="http://schemas.microsoft.com/office/drawing/2014/main" id="{F4A3AA59-2194-A31F-AA96-7C291846580A}"/>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C352A7-0B18-D7E9-465D-F3B1274BB055}"/>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1A6BB9-0E9C-8F74-60DB-2DA463D47FDB}"/>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a:extLst>
              <a:ext uri="{FF2B5EF4-FFF2-40B4-BE49-F238E27FC236}">
                <a16:creationId xmlns:a16="http://schemas.microsoft.com/office/drawing/2014/main" id="{1DA43496-358A-E9F0-8CFC-6A952BD4F3E7}"/>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593DC9D-C96B-54B0-5413-508E29245B5C}"/>
              </a:ext>
            </a:extLst>
          </p:cNvPr>
          <p:cNvGrpSpPr/>
          <p:nvPr/>
        </p:nvGrpSpPr>
        <p:grpSpPr>
          <a:xfrm flipH="1" flipV="1">
            <a:off x="9263702" y="5253677"/>
            <a:ext cx="2869771" cy="1563379"/>
            <a:chOff x="44879" y="27296"/>
            <a:chExt cx="2869771" cy="1563379"/>
          </a:xfrm>
          <a:solidFill>
            <a:srgbClr val="0072FF"/>
          </a:solidFill>
        </p:grpSpPr>
        <p:cxnSp>
          <p:nvCxnSpPr>
            <p:cNvPr id="15" name="Straight Connector 14">
              <a:extLst>
                <a:ext uri="{FF2B5EF4-FFF2-40B4-BE49-F238E27FC236}">
                  <a16:creationId xmlns:a16="http://schemas.microsoft.com/office/drawing/2014/main" id="{81C856C5-8D5F-4945-AAA3-959D25DF2A5E}"/>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FA7FF3-8245-17A0-DB3A-F0257D516679}"/>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1A1CF5-6C4E-34E9-65C0-4B4D78575756}"/>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8" name="Freeform 17">
            <a:extLst>
              <a:ext uri="{FF2B5EF4-FFF2-40B4-BE49-F238E27FC236}">
                <a16:creationId xmlns:a16="http://schemas.microsoft.com/office/drawing/2014/main" id="{3366D05A-8A62-ADE1-F4B2-73F9CA085276}"/>
              </a:ext>
            </a:extLst>
          </p:cNvPr>
          <p:cNvSpPr/>
          <p:nvPr/>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19" name="Freeform 18">
            <a:extLst>
              <a:ext uri="{FF2B5EF4-FFF2-40B4-BE49-F238E27FC236}">
                <a16:creationId xmlns:a16="http://schemas.microsoft.com/office/drawing/2014/main" id="{E7E6E6A9-35CE-D953-F678-DB52C8ED6EC1}"/>
              </a:ext>
            </a:extLst>
          </p:cNvPr>
          <p:cNvSpPr/>
          <p:nvPr/>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23" name="Picture 22" descr="A picture containing clipart, vector graphics&#10;&#10;Description automatically generated">
            <a:extLst>
              <a:ext uri="{FF2B5EF4-FFF2-40B4-BE49-F238E27FC236}">
                <a16:creationId xmlns:a16="http://schemas.microsoft.com/office/drawing/2014/main" id="{314FA3D3-A61E-753A-BCC3-7785EC3F2C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4" name="TextBox 23">
            <a:extLst>
              <a:ext uri="{FF2B5EF4-FFF2-40B4-BE49-F238E27FC236}">
                <a16:creationId xmlns:a16="http://schemas.microsoft.com/office/drawing/2014/main" id="{3272C38A-5DF7-B873-F169-2EA590FF1122}"/>
              </a:ext>
            </a:extLst>
          </p:cNvPr>
          <p:cNvSpPr txBox="1"/>
          <p:nvPr/>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
        <p:nvSpPr>
          <p:cNvPr id="26" name="Oval 25">
            <a:extLst>
              <a:ext uri="{FF2B5EF4-FFF2-40B4-BE49-F238E27FC236}">
                <a16:creationId xmlns:a16="http://schemas.microsoft.com/office/drawing/2014/main" id="{390A5A10-F9AF-733C-8C7D-94D87B311EF5}"/>
              </a:ext>
            </a:extLst>
          </p:cNvPr>
          <p:cNvSpPr/>
          <p:nvPr/>
        </p:nvSpPr>
        <p:spPr>
          <a:xfrm>
            <a:off x="105836" y="6604291"/>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2E21DEB9-E93C-A8E4-074F-F195EB1D8ABF}"/>
              </a:ext>
            </a:extLst>
          </p:cNvPr>
          <p:cNvSpPr>
            <a:spLocks noGrp="1" noChangeAspect="1"/>
          </p:cNvSpPr>
          <p:nvPr>
            <p:ph type="sldNum" sz="quarter" idx="12"/>
          </p:nvPr>
        </p:nvSpPr>
        <p:spPr>
          <a:xfrm>
            <a:off x="75604" y="6587552"/>
            <a:ext cx="291600" cy="291600"/>
          </a:xfrm>
          <a:prstGeom prst="rect">
            <a:avLst/>
          </a:prstGeom>
        </p:spPr>
        <p:txBody>
          <a:bodyPr vert="horz" lIns="91440" tIns="45720" rIns="91440" bIns="45720" rtlCol="0" anchor="ctr"/>
          <a:lstStyle>
            <a:lvl1pPr>
              <a:defRPr lang="en-VN" sz="700" smtClean="0">
                <a:solidFill>
                  <a:schemeClr val="tx1"/>
                </a:solidFill>
                <a:latin typeface="Arial" panose="020B0604020202020204" pitchFamily="34" charset="0"/>
                <a:cs typeface="Arial" panose="020B0604020202020204" pitchFamily="34" charset="0"/>
              </a:defRPr>
            </a:lvl1pPr>
          </a:lstStyle>
          <a:p>
            <a:pPr algn="ctr"/>
            <a:fld id="{D8B0B3AC-44A8-D142-AAF6-9A453466E1A4}" type="slidenum">
              <a:rPr lang="en-VN" smtClean="0"/>
              <a:pPr algn="ctr"/>
              <a:t>‹#›</a:t>
            </a:fld>
            <a:endParaRPr lang="en-VN" dirty="0"/>
          </a:p>
        </p:txBody>
      </p:sp>
      <p:sp>
        <p:nvSpPr>
          <p:cNvPr id="34" name="Text Placeholder 33">
            <a:extLst>
              <a:ext uri="{FF2B5EF4-FFF2-40B4-BE49-F238E27FC236}">
                <a16:creationId xmlns:a16="http://schemas.microsoft.com/office/drawing/2014/main" id="{C4981174-E1E5-D0CF-F74E-4BBA287A5C73}"/>
              </a:ext>
            </a:extLst>
          </p:cNvPr>
          <p:cNvSpPr>
            <a:spLocks noGrp="1"/>
          </p:cNvSpPr>
          <p:nvPr>
            <p:ph type="body" sz="quarter" idx="13" hasCustomPrompt="1"/>
          </p:nvPr>
        </p:nvSpPr>
        <p:spPr>
          <a:xfrm>
            <a:off x="1850807" y="2208158"/>
            <a:ext cx="8490387" cy="696165"/>
          </a:xfrm>
        </p:spPr>
        <p:txBody>
          <a:bodyPr anchor="ctr">
            <a:normAutofit/>
          </a:bodyPr>
          <a:lstStyle>
            <a:lvl1pPr marL="0" indent="0" algn="ctr" defTabSz="914400" rtl="0" eaLnBrk="1" latinLnBrk="0" hangingPunct="1">
              <a:buNone/>
              <a:defRPr lang="en-VN" sz="4400" b="1" kern="1200" dirty="0">
                <a:ln>
                  <a:noFill/>
                </a:ln>
                <a:gradFill>
                  <a:gsLst>
                    <a:gs pos="0">
                      <a:srgbClr val="000046"/>
                    </a:gs>
                    <a:gs pos="100000">
                      <a:srgbClr val="1CB5E0"/>
                    </a:gs>
                  </a:gsLst>
                  <a:lin ang="5400000" scaled="1"/>
                </a:gradFill>
                <a:latin typeface="Arial" panose="020B0604020202020204" pitchFamily="34" charset="0"/>
                <a:ea typeface="+mn-ea"/>
                <a:cs typeface="Arial" panose="020B0604020202020204" pitchFamily="34" charset="0"/>
              </a:defRPr>
            </a:lvl1pPr>
          </a:lstStyle>
          <a:p>
            <a:pPr lvl="0"/>
            <a:r>
              <a:rPr lang="en-VN" dirty="0"/>
              <a:t>TÊN MÔN HỌC</a:t>
            </a:r>
          </a:p>
        </p:txBody>
      </p:sp>
      <p:sp>
        <p:nvSpPr>
          <p:cNvPr id="36" name="Text Placeholder 35">
            <a:extLst>
              <a:ext uri="{FF2B5EF4-FFF2-40B4-BE49-F238E27FC236}">
                <a16:creationId xmlns:a16="http://schemas.microsoft.com/office/drawing/2014/main" id="{F1F814F0-EAC8-84E1-83C4-B5C359387C5C}"/>
              </a:ext>
            </a:extLst>
          </p:cNvPr>
          <p:cNvSpPr>
            <a:spLocks noGrp="1"/>
          </p:cNvSpPr>
          <p:nvPr>
            <p:ph type="body" sz="quarter" idx="14" hasCustomPrompt="1"/>
          </p:nvPr>
        </p:nvSpPr>
        <p:spPr>
          <a:xfrm>
            <a:off x="876991" y="3039455"/>
            <a:ext cx="10438019" cy="459447"/>
          </a:xfrm>
        </p:spPr>
        <p:txBody>
          <a:bodyPr anchor="ctr">
            <a:noAutofit/>
          </a:bodyPr>
          <a:lstStyle>
            <a:lvl1pPr marL="0" indent="0" algn="ctr" defTabSz="914400" rtl="0" eaLnBrk="1" latinLnBrk="0" hangingPunct="1">
              <a:buNone/>
              <a:defRPr lang="en-VN" sz="2800" b="1" kern="1200" dirty="0">
                <a:gradFill>
                  <a:gsLst>
                    <a:gs pos="0">
                      <a:srgbClr val="000046"/>
                    </a:gs>
                    <a:gs pos="100000">
                      <a:srgbClr val="1CB5E0"/>
                    </a:gs>
                  </a:gsLst>
                  <a:lin ang="2700000" scaled="1"/>
                </a:gradFill>
                <a:effectLst>
                  <a:innerShdw blurRad="114300">
                    <a:schemeClr val="bg1"/>
                  </a:innerShdw>
                </a:effectLst>
                <a:latin typeface="Times New Roman" panose="02020603050405020304" pitchFamily="18" charset="0"/>
                <a:ea typeface="+mn-ea"/>
                <a:cs typeface="Times New Roman" panose="02020603050405020304" pitchFamily="18" charset="0"/>
              </a:defRPr>
            </a:lvl1pPr>
          </a:lstStyle>
          <a:p>
            <a:pPr lvl="0"/>
            <a:r>
              <a:rPr lang="en-VN" dirty="0"/>
              <a:t>CHƯƠNG X: TÊN CHƯƠNG</a:t>
            </a:r>
          </a:p>
        </p:txBody>
      </p:sp>
      <p:sp>
        <p:nvSpPr>
          <p:cNvPr id="42" name="Text Placeholder 41">
            <a:extLst>
              <a:ext uri="{FF2B5EF4-FFF2-40B4-BE49-F238E27FC236}">
                <a16:creationId xmlns:a16="http://schemas.microsoft.com/office/drawing/2014/main" id="{2B8543E7-0085-7DF3-5351-E097219BEE40}"/>
              </a:ext>
            </a:extLst>
          </p:cNvPr>
          <p:cNvSpPr>
            <a:spLocks noGrp="1"/>
          </p:cNvSpPr>
          <p:nvPr>
            <p:ph type="body" sz="quarter" idx="15" hasCustomPrompt="1"/>
          </p:nvPr>
        </p:nvSpPr>
        <p:spPr>
          <a:xfrm>
            <a:off x="4680970" y="4963048"/>
            <a:ext cx="2830058" cy="345005"/>
          </a:xfrm>
          <a:gradFill>
            <a:gsLst>
              <a:gs pos="0">
                <a:srgbClr val="0072FF"/>
              </a:gs>
              <a:gs pos="100000">
                <a:srgbClr val="00C6FF"/>
              </a:gs>
            </a:gsLst>
            <a:lin ang="2700000" scaled="1"/>
          </a:gradFill>
        </p:spPr>
        <p:txBody>
          <a:bodyPr anchor="ctr">
            <a:normAutofit/>
          </a:bodyPr>
          <a:lstStyle>
            <a:lvl1pPr marL="0" indent="0" algn="ctr">
              <a:buNone/>
              <a:defRPr sz="1400" b="1" i="0">
                <a:solidFill>
                  <a:schemeClr val="bg1"/>
                </a:solidFill>
                <a:latin typeface="Times New Roman" panose="02020603050405020304" pitchFamily="18" charset="0"/>
                <a:cs typeface="Times New Roman" panose="02020603050405020304" pitchFamily="18" charset="0"/>
              </a:defRPr>
            </a:lvl1pPr>
          </a:lstStyle>
          <a:p>
            <a:pPr lvl="0"/>
            <a:r>
              <a:rPr lang="en-VN" dirty="0"/>
              <a:t>Trình bày: Tên Giảng viên</a:t>
            </a:r>
          </a:p>
        </p:txBody>
      </p:sp>
      <p:sp>
        <p:nvSpPr>
          <p:cNvPr id="46" name="Text Placeholder 45">
            <a:extLst>
              <a:ext uri="{FF2B5EF4-FFF2-40B4-BE49-F238E27FC236}">
                <a16:creationId xmlns:a16="http://schemas.microsoft.com/office/drawing/2014/main" id="{18BC0B81-9708-34C0-3CBB-EA50270B9105}"/>
              </a:ext>
            </a:extLst>
          </p:cNvPr>
          <p:cNvSpPr>
            <a:spLocks noGrp="1"/>
          </p:cNvSpPr>
          <p:nvPr>
            <p:ph type="body" sz="quarter" idx="16" hasCustomPrompt="1"/>
          </p:nvPr>
        </p:nvSpPr>
        <p:spPr>
          <a:xfrm>
            <a:off x="1850807" y="3630811"/>
            <a:ext cx="8490387" cy="644210"/>
          </a:xfrm>
        </p:spPr>
        <p:txBody>
          <a:bodyPr anchor="ctr">
            <a:normAutofit/>
          </a:bodyPr>
          <a:lstStyle>
            <a:lvl1pPr marL="0" indent="0" algn="ctr">
              <a:buNone/>
              <a:defRPr sz="1200" spc="150" baseline="0">
                <a:solidFill>
                  <a:schemeClr val="bg1">
                    <a:lumMod val="65000"/>
                  </a:schemeClr>
                </a:solidFill>
                <a:latin typeface="Times New Roman" panose="02020603050405020304" pitchFamily="18" charset="0"/>
                <a:cs typeface="Times New Roman" panose="02020603050405020304" pitchFamily="18" charset="0"/>
              </a:defRPr>
            </a:lvl1pPr>
          </a:lstStyle>
          <a:p>
            <a:pPr lvl="0"/>
            <a:r>
              <a:rPr lang="en-US" dirty="0"/>
              <a:t>(</a:t>
            </a:r>
            <a:r>
              <a:rPr lang="en-US" dirty="0" err="1"/>
              <a:t>Tóm</a:t>
            </a:r>
            <a:r>
              <a:rPr lang="en-US" dirty="0"/>
              <a:t> </a:t>
            </a:r>
            <a:r>
              <a:rPr lang="en-US" dirty="0" err="1"/>
              <a:t>tắt</a:t>
            </a:r>
            <a:r>
              <a:rPr lang="en-US" dirty="0"/>
              <a:t> </a:t>
            </a:r>
            <a:r>
              <a:rPr lang="en-US" dirty="0" err="1"/>
              <a:t>nếu</a:t>
            </a:r>
            <a:r>
              <a:rPr lang="en-US" dirty="0"/>
              <a:t> </a:t>
            </a:r>
            <a:r>
              <a:rPr lang="en-US" dirty="0" err="1"/>
              <a:t>có</a:t>
            </a:r>
            <a:r>
              <a:rPr lang="en-US" dirty="0"/>
              <a:t>): Lorem ipsum dolor sit amet, consectetuer adipiscing elit. Maecenas porttitor congue massa. Fusce posuere, magna sed pulvinar ultricies, purus lectus malesuada libero, sit amet commodo magna eros quis </a:t>
            </a:r>
            <a:r>
              <a:rPr lang="en-US" dirty="0" err="1"/>
              <a:t>urna</a:t>
            </a:r>
            <a:r>
              <a:rPr lang="en-US" dirty="0"/>
              <a:t>.</a:t>
            </a:r>
            <a:endParaRPr lang="en-VN" dirty="0"/>
          </a:p>
        </p:txBody>
      </p:sp>
      <p:sp>
        <p:nvSpPr>
          <p:cNvPr id="2" name="Date Placeholder 1">
            <a:extLst>
              <a:ext uri="{FF2B5EF4-FFF2-40B4-BE49-F238E27FC236}">
                <a16:creationId xmlns:a16="http://schemas.microsoft.com/office/drawing/2014/main" id="{98B28119-6BAB-C115-873B-3333E0D709F1}"/>
              </a:ext>
            </a:extLst>
          </p:cNvPr>
          <p:cNvSpPr>
            <a:spLocks noGrp="1"/>
          </p:cNvSpPr>
          <p:nvPr>
            <p:ph type="dt" sz="half" idx="17"/>
          </p:nvPr>
        </p:nvSpPr>
        <p:spPr>
          <a:xfrm>
            <a:off x="6767806" y="6476999"/>
            <a:ext cx="2495896" cy="236763"/>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September 4, 2023</a:t>
            </a:fld>
            <a:endParaRPr lang="en-US" dirty="0"/>
          </a:p>
        </p:txBody>
      </p:sp>
      <p:sp>
        <p:nvSpPr>
          <p:cNvPr id="3" name="Freeform 6">
            <a:extLst>
              <a:ext uri="{FF2B5EF4-FFF2-40B4-BE49-F238E27FC236}">
                <a16:creationId xmlns:a16="http://schemas.microsoft.com/office/drawing/2014/main" id="{018D92F0-5805-D179-3AE0-FF11CD5790EF}"/>
              </a:ext>
            </a:extLst>
          </p:cNvPr>
          <p:cNvSpPr/>
          <p:nvPr userDrawn="1"/>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Isosceles Triangle 12">
            <a:extLst>
              <a:ext uri="{FF2B5EF4-FFF2-40B4-BE49-F238E27FC236}">
                <a16:creationId xmlns:a16="http://schemas.microsoft.com/office/drawing/2014/main" id="{DC8EFDC1-DED7-76FD-16E9-D21F24F17263}"/>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BAF65FF9-718F-4133-0C30-DA061E89F350}"/>
              </a:ext>
            </a:extLst>
          </p:cNvPr>
          <p:cNvGrpSpPr/>
          <p:nvPr userDrawn="1"/>
        </p:nvGrpSpPr>
        <p:grpSpPr>
          <a:xfrm>
            <a:off x="58527" y="40944"/>
            <a:ext cx="2869771" cy="1563379"/>
            <a:chOff x="44879" y="27296"/>
            <a:chExt cx="2869771" cy="1563379"/>
          </a:xfrm>
          <a:solidFill>
            <a:srgbClr val="0072FF"/>
          </a:solidFill>
        </p:grpSpPr>
        <p:cxnSp>
          <p:nvCxnSpPr>
            <p:cNvPr id="21" name="Straight Connector 20">
              <a:extLst>
                <a:ext uri="{FF2B5EF4-FFF2-40B4-BE49-F238E27FC236}">
                  <a16:creationId xmlns:a16="http://schemas.microsoft.com/office/drawing/2014/main" id="{C3073190-1831-78A4-6921-4F5EA136766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9ED01E-B63F-4029-68B6-67475060A36E}"/>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151BAE7-A3AF-CE92-D936-3B435D83965C}"/>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27" name="Isosceles Triangle 26">
            <a:extLst>
              <a:ext uri="{FF2B5EF4-FFF2-40B4-BE49-F238E27FC236}">
                <a16:creationId xmlns:a16="http://schemas.microsoft.com/office/drawing/2014/main" id="{60B948D8-7906-EC36-DE01-F9236AAA7EA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E4A50388-F1D6-6C01-8E4F-4419181A5407}"/>
              </a:ext>
            </a:extLst>
          </p:cNvPr>
          <p:cNvGrpSpPr/>
          <p:nvPr userDrawn="1"/>
        </p:nvGrpSpPr>
        <p:grpSpPr>
          <a:xfrm flipH="1" flipV="1">
            <a:off x="9263702" y="5253677"/>
            <a:ext cx="2869771" cy="1563379"/>
            <a:chOff x="44879" y="27296"/>
            <a:chExt cx="2869771" cy="1563379"/>
          </a:xfrm>
          <a:solidFill>
            <a:srgbClr val="0072FF"/>
          </a:solidFill>
        </p:grpSpPr>
        <p:cxnSp>
          <p:nvCxnSpPr>
            <p:cNvPr id="29" name="Straight Connector 28">
              <a:extLst>
                <a:ext uri="{FF2B5EF4-FFF2-40B4-BE49-F238E27FC236}">
                  <a16:creationId xmlns:a16="http://schemas.microsoft.com/office/drawing/2014/main" id="{BDE99B20-66DF-2067-DC25-5293BF530A99}"/>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B8A46B7-85D4-B287-9781-DC01BA95871C}"/>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D1BE793-E666-AFEB-696B-18F45970E4FF}"/>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32" name="Freeform 17">
            <a:extLst>
              <a:ext uri="{FF2B5EF4-FFF2-40B4-BE49-F238E27FC236}">
                <a16:creationId xmlns:a16="http://schemas.microsoft.com/office/drawing/2014/main" id="{E6FC1923-B1DC-B393-1962-B46AF6E05601}"/>
              </a:ext>
            </a:extLst>
          </p:cNvPr>
          <p:cNvSpPr/>
          <p:nvPr userDrawn="1"/>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33" name="Freeform 18">
            <a:extLst>
              <a:ext uri="{FF2B5EF4-FFF2-40B4-BE49-F238E27FC236}">
                <a16:creationId xmlns:a16="http://schemas.microsoft.com/office/drawing/2014/main" id="{5A39105C-D2EC-94BB-F41C-77C6C56269A0}"/>
              </a:ext>
            </a:extLst>
          </p:cNvPr>
          <p:cNvSpPr/>
          <p:nvPr userDrawn="1"/>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35" name="Picture 34" descr="A picture containing clipart, vector graphics&#10;&#10;Description automatically generated">
            <a:extLst>
              <a:ext uri="{FF2B5EF4-FFF2-40B4-BE49-F238E27FC236}">
                <a16:creationId xmlns:a16="http://schemas.microsoft.com/office/drawing/2014/main" id="{28DCAC03-6653-EE4F-7A7B-6674BD04AFE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37" name="TextBox 36">
            <a:extLst>
              <a:ext uri="{FF2B5EF4-FFF2-40B4-BE49-F238E27FC236}">
                <a16:creationId xmlns:a16="http://schemas.microsoft.com/office/drawing/2014/main" id="{279DD1A7-D077-F33B-769A-29C41EC67091}"/>
              </a:ext>
            </a:extLst>
          </p:cNvPr>
          <p:cNvSpPr txBox="1"/>
          <p:nvPr userDrawn="1"/>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Tree>
    <p:extLst>
      <p:ext uri="{BB962C8B-B14F-4D97-AF65-F5344CB8AC3E}">
        <p14:creationId xmlns:p14="http://schemas.microsoft.com/office/powerpoint/2010/main" val="4130101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3_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p:nvSpPr>
        <p:spPr>
          <a:xfrm>
            <a:off x="-1" y="-3113"/>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Isosceles Triangle 12">
            <a:extLst>
              <a:ext uri="{FF2B5EF4-FFF2-40B4-BE49-F238E27FC236}">
                <a16:creationId xmlns:a16="http://schemas.microsoft.com/office/drawing/2014/main" id="{A49F0DD3-DC56-8398-42AE-9819F17BDE3D}"/>
              </a:ext>
            </a:extLst>
          </p:cNvPr>
          <p:cNvSpPr/>
          <p:nvPr/>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31" name="Freeform 30">
            <a:extLst>
              <a:ext uri="{FF2B5EF4-FFF2-40B4-BE49-F238E27FC236}">
                <a16:creationId xmlns:a16="http://schemas.microsoft.com/office/drawing/2014/main" id="{F5D728B6-8658-2A5A-4406-097B8D68238B}"/>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60603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September 4, 2023</a:t>
            </a:fld>
            <a:endParaRPr lang="en-VN"/>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838200"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sp>
        <p:nvSpPr>
          <p:cNvPr id="29" name="Oval 28">
            <a:extLst>
              <a:ext uri="{FF2B5EF4-FFF2-40B4-BE49-F238E27FC236}">
                <a16:creationId xmlns:a16="http://schemas.microsoft.com/office/drawing/2014/main" id="{D48BE0DC-C12B-7B32-5521-E1BCC5CB89B7}"/>
              </a:ext>
            </a:extLst>
          </p:cNvPr>
          <p:cNvSpPr/>
          <p:nvPr/>
        </p:nvSpPr>
        <p:spPr>
          <a:xfrm>
            <a:off x="9520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p:ph type="sldNum" sz="quarter" idx="12"/>
          </p:nvPr>
        </p:nvSpPr>
        <p:spPr>
          <a:xfrm>
            <a:off x="6586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sp>
        <p:nvSpPr>
          <p:cNvPr id="8" name="Text Placeholder 21">
            <a:extLst>
              <a:ext uri="{FF2B5EF4-FFF2-40B4-BE49-F238E27FC236}">
                <a16:creationId xmlns:a16="http://schemas.microsoft.com/office/drawing/2014/main" id="{C6B2679F-C18F-09A3-96AB-5F2B6ACB82CA}"/>
              </a:ext>
            </a:extLst>
          </p:cNvPr>
          <p:cNvSpPr>
            <a:spLocks noGrp="1"/>
          </p:cNvSpPr>
          <p:nvPr>
            <p:ph type="body" sz="quarter" idx="19" hasCustomPrompt="1"/>
          </p:nvPr>
        </p:nvSpPr>
        <p:spPr>
          <a:xfrm>
            <a:off x="1704109" y="3019167"/>
            <a:ext cx="4583866" cy="1439258"/>
          </a:xfrm>
          <a:prstGeom prst="roundRect">
            <a:avLst>
              <a:gd name="adj" fmla="val 2631"/>
            </a:avLst>
          </a:prstGeom>
          <a:solidFill>
            <a:schemeClr val="bg1">
              <a:lumMod val="95000"/>
            </a:schemeClr>
          </a:solidFill>
          <a:ln w="19050" cap="rnd">
            <a:gradFill flip="none" rotWithShape="1">
              <a:gsLst>
                <a:gs pos="0">
                  <a:srgbClr val="00C6FF"/>
                </a:gs>
                <a:gs pos="99000">
                  <a:srgbClr val="00F7FF"/>
                </a:gs>
              </a:gsLst>
              <a:lin ang="2700000" scaled="1"/>
              <a:tileRect/>
            </a:gradFill>
          </a:ln>
        </p:spPr>
        <p:txBody>
          <a:bodyPr anchor="ctr">
            <a:normAutofit/>
          </a:bodyPr>
          <a:lstStyle>
            <a:lvl1pPr marL="1333500" indent="0">
              <a:buNone/>
              <a:tabLst/>
              <a:defRPr sz="2000" b="1" i="0">
                <a:gradFill flip="none" rotWithShape="1">
                  <a:gsLst>
                    <a:gs pos="100000">
                      <a:srgbClr val="0072FF"/>
                    </a:gs>
                    <a:gs pos="0">
                      <a:srgbClr val="00F7FF"/>
                    </a:gs>
                  </a:gsLst>
                  <a:lin ang="2700000" scaled="1"/>
                  <a:tileRect/>
                </a:gradFill>
                <a:latin typeface="Times New Roman" panose="02020603050405020304" pitchFamily="18" charset="0"/>
                <a:cs typeface="Times New Roman" panose="02020603050405020304" pitchFamily="18" charset="0"/>
              </a:defRPr>
            </a:lvl1pPr>
          </a:lstStyle>
          <a:p>
            <a:pPr lvl="0"/>
            <a:r>
              <a:rPr lang="en-VN" dirty="0"/>
              <a:t>Họ và tên</a:t>
            </a:r>
            <a:br>
              <a:rPr lang="en-VN" dirty="0"/>
            </a:br>
            <a:r>
              <a:rPr lang="en-VN" dirty="0"/>
              <a:t>Email</a:t>
            </a:r>
            <a:br>
              <a:rPr lang="en-VN" dirty="0"/>
            </a:br>
            <a:r>
              <a:rPr lang="en-VN" dirty="0"/>
              <a:t>Khoa</a:t>
            </a:r>
          </a:p>
        </p:txBody>
      </p:sp>
      <p:grpSp>
        <p:nvGrpSpPr>
          <p:cNvPr id="34" name="Group 33">
            <a:extLst>
              <a:ext uri="{FF2B5EF4-FFF2-40B4-BE49-F238E27FC236}">
                <a16:creationId xmlns:a16="http://schemas.microsoft.com/office/drawing/2014/main" id="{AF7094EB-B733-82D9-0C1A-47F50ED8DF48}"/>
              </a:ext>
            </a:extLst>
          </p:cNvPr>
          <p:cNvGrpSpPr/>
          <p:nvPr/>
        </p:nvGrpSpPr>
        <p:grpSpPr>
          <a:xfrm>
            <a:off x="-1" y="4458425"/>
            <a:ext cx="8647103" cy="664514"/>
            <a:chOff x="-349411" y="1322122"/>
            <a:chExt cx="8647103" cy="664514"/>
          </a:xfrm>
        </p:grpSpPr>
        <p:cxnSp>
          <p:nvCxnSpPr>
            <p:cNvPr id="36" name="Straight Connector 35">
              <a:extLst>
                <a:ext uri="{FF2B5EF4-FFF2-40B4-BE49-F238E27FC236}">
                  <a16:creationId xmlns:a16="http://schemas.microsoft.com/office/drawing/2014/main" id="{A42951CF-9EB0-47B4-697B-3EC7AC808EA9}"/>
                </a:ext>
              </a:extLst>
            </p:cNvPr>
            <p:cNvCxnSpPr>
              <a:cxnSpLocks/>
            </p:cNvCxnSpPr>
            <p:nvPr userDrawn="1"/>
          </p:nvCxnSpPr>
          <p:spPr>
            <a:xfrm>
              <a:off x="-349411" y="1986636"/>
              <a:ext cx="6360520" cy="0"/>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BFAF29A-75A4-8EF7-11D9-AB3F5C16B253}"/>
                </a:ext>
              </a:extLst>
            </p:cNvPr>
            <p:cNvCxnSpPr>
              <a:cxnSpLocks/>
            </p:cNvCxnSpPr>
            <p:nvPr userDrawn="1"/>
          </p:nvCxnSpPr>
          <p:spPr>
            <a:xfrm flipV="1">
              <a:off x="6011109" y="1480500"/>
              <a:ext cx="591405" cy="506136"/>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D2D0A89-881E-F365-FCB8-0CCF88B4F092}"/>
                </a:ext>
              </a:extLst>
            </p:cNvPr>
            <p:cNvCxnSpPr>
              <a:cxnSpLocks/>
            </p:cNvCxnSpPr>
            <p:nvPr userDrawn="1"/>
          </p:nvCxnSpPr>
          <p:spPr>
            <a:xfrm>
              <a:off x="6602514" y="1480500"/>
              <a:ext cx="1378423" cy="0"/>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D8ED5AC8-396E-82A3-EA13-53B0DC1B1744}"/>
                </a:ext>
              </a:extLst>
            </p:cNvPr>
            <p:cNvSpPr/>
            <p:nvPr userDrawn="1"/>
          </p:nvSpPr>
          <p:spPr>
            <a:xfrm>
              <a:off x="7980937" y="1322122"/>
              <a:ext cx="316755" cy="316755"/>
            </a:xfrm>
            <a:prstGeom prst="ellipse">
              <a:avLst/>
            </a:prstGeom>
            <a:gradFill flip="none" rotWithShape="1">
              <a:gsLst>
                <a:gs pos="0">
                  <a:srgbClr val="00F7FF"/>
                </a:gs>
                <a:gs pos="100000">
                  <a:srgbClr val="00C6FF"/>
                </a:gs>
              </a:gsLst>
              <a:lin ang="2700000" scaled="1"/>
              <a:tileRect/>
            </a:gra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Oval 3">
            <a:extLst>
              <a:ext uri="{FF2B5EF4-FFF2-40B4-BE49-F238E27FC236}">
                <a16:creationId xmlns:a16="http://schemas.microsoft.com/office/drawing/2014/main" id="{CD5DF290-BB09-CD5D-D16C-F337A2AE1710}"/>
              </a:ext>
            </a:extLst>
          </p:cNvPr>
          <p:cNvSpPr>
            <a:spLocks noChangeAspect="1"/>
          </p:cNvSpPr>
          <p:nvPr/>
        </p:nvSpPr>
        <p:spPr>
          <a:xfrm>
            <a:off x="796022" y="2736380"/>
            <a:ext cx="2019600" cy="2019600"/>
          </a:xfrm>
          <a:prstGeom prst="ellipse">
            <a:avLst/>
          </a:prstGeom>
          <a:gradFill>
            <a:gsLst>
              <a:gs pos="0">
                <a:srgbClr val="00C6FF"/>
              </a:gs>
              <a:gs pos="100000">
                <a:srgbClr val="0072FF"/>
              </a:gs>
            </a:gsLst>
            <a:lin ang="5400000" scaled="1"/>
          </a:gradFill>
          <a:ln>
            <a:gradFill>
              <a:gsLst>
                <a:gs pos="0">
                  <a:srgbClr val="00C6FF"/>
                </a:gs>
                <a:gs pos="100000">
                  <a:srgbClr val="0072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9" name="Picture Placeholder 3">
            <a:extLst>
              <a:ext uri="{FF2B5EF4-FFF2-40B4-BE49-F238E27FC236}">
                <a16:creationId xmlns:a16="http://schemas.microsoft.com/office/drawing/2014/main" id="{E6519316-5BE7-6687-FE60-23F1FB913498}"/>
              </a:ext>
            </a:extLst>
          </p:cNvPr>
          <p:cNvSpPr>
            <a:spLocks noGrp="1" noChangeAspect="1"/>
          </p:cNvSpPr>
          <p:nvPr>
            <p:ph type="pic" sz="quarter" idx="20" hasCustomPrompt="1"/>
          </p:nvPr>
        </p:nvSpPr>
        <p:spPr>
          <a:xfrm>
            <a:off x="690326" y="2728996"/>
            <a:ext cx="2020888" cy="2019600"/>
          </a:xfrm>
          <a:prstGeom prst="ellipse">
            <a:avLst/>
          </a:prstGeom>
          <a:solidFill>
            <a:schemeClr val="bg1"/>
          </a:solidFill>
          <a:ln w="19050">
            <a:solidFill>
              <a:srgbClr val="00F7FF"/>
            </a:solidFill>
          </a:ln>
          <a:effectLst>
            <a:outerShdw blurRad="63500" sx="102000" sy="102000" algn="ctr" rotWithShape="0">
              <a:prstClr val="black">
                <a:alpha val="40000"/>
              </a:prstClr>
            </a:outerShdw>
          </a:effectLst>
        </p:spPr>
        <p:txBody>
          <a:bodyPr anchor="ctr"/>
          <a:lstStyle>
            <a:lvl1pPr marL="0" indent="0" algn="ctr">
              <a:buNone/>
              <a:defRPr>
                <a:solidFill>
                  <a:schemeClr val="tx1"/>
                </a:solidFill>
              </a:defRPr>
            </a:lvl1pPr>
          </a:lstStyle>
          <a:p>
            <a:r>
              <a:rPr lang="en-VN" dirty="0"/>
              <a:t>Profile picture</a:t>
            </a:r>
          </a:p>
        </p:txBody>
      </p:sp>
      <p:sp>
        <p:nvSpPr>
          <p:cNvPr id="39" name="Text Placeholder 38">
            <a:extLst>
              <a:ext uri="{FF2B5EF4-FFF2-40B4-BE49-F238E27FC236}">
                <a16:creationId xmlns:a16="http://schemas.microsoft.com/office/drawing/2014/main" id="{08F295F7-595F-E903-E034-0D8FEC5E07C6}"/>
              </a:ext>
            </a:extLst>
          </p:cNvPr>
          <p:cNvSpPr>
            <a:spLocks noGrp="1"/>
          </p:cNvSpPr>
          <p:nvPr>
            <p:ph type="body" sz="quarter" idx="21" hasCustomPrompt="1"/>
          </p:nvPr>
        </p:nvSpPr>
        <p:spPr>
          <a:xfrm>
            <a:off x="2711214" y="2263753"/>
            <a:ext cx="3576761" cy="622002"/>
          </a:xfrm>
          <a:effectLst>
            <a:innerShdw blurRad="114300">
              <a:srgbClr val="00F7FF"/>
            </a:innerShdw>
          </a:effectLst>
        </p:spPr>
        <p:txBody>
          <a:bodyPr anchor="ctr">
            <a:noAutofit/>
          </a:bodyPr>
          <a:lstStyle>
            <a:lvl1pPr marL="0" indent="0" algn="r">
              <a:buNone/>
              <a:defRPr lang="en-VN" sz="36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GIẢNG VIÊN</a:t>
            </a:r>
            <a:endParaRPr lang="en-VN" dirty="0"/>
          </a:p>
        </p:txBody>
      </p:sp>
    </p:spTree>
    <p:extLst>
      <p:ext uri="{BB962C8B-B14F-4D97-AF65-F5344CB8AC3E}">
        <p14:creationId xmlns:p14="http://schemas.microsoft.com/office/powerpoint/2010/main" val="704747462"/>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a:t>Thực hiện bởi Trường Đại học Công nghệ Thông tin, ĐHQG-HCM</a:t>
            </a:r>
            <a:endParaRPr lang="en-VN"/>
          </a:p>
        </p:txBody>
      </p:sp>
      <p:grpSp>
        <p:nvGrpSpPr>
          <p:cNvPr id="36" name="Group 35">
            <a:extLst>
              <a:ext uri="{FF2B5EF4-FFF2-40B4-BE49-F238E27FC236}">
                <a16:creationId xmlns:a16="http://schemas.microsoft.com/office/drawing/2014/main" id="{11E5AAB4-F14E-4F9C-E123-7635A7EF6275}"/>
              </a:ext>
            </a:extLst>
          </p:cNvPr>
          <p:cNvGrpSpPr/>
          <p:nvPr/>
        </p:nvGrpSpPr>
        <p:grpSpPr>
          <a:xfrm>
            <a:off x="-2323526"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p:nvGrpSpPr>
        <p:grpSpPr>
          <a:xfrm flipH="1">
            <a:off x="9674240"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p:nvSpPr>
        <p:spPr>
          <a:xfrm>
            <a:off x="82718"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58527"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sp>
        <p:nvSpPr>
          <p:cNvPr id="70" name="TextBox 69">
            <a:extLst>
              <a:ext uri="{FF2B5EF4-FFF2-40B4-BE49-F238E27FC236}">
                <a16:creationId xmlns:a16="http://schemas.microsoft.com/office/drawing/2014/main" id="{03E32705-3D72-A324-09E4-62DB4F73E8B8}"/>
              </a:ext>
            </a:extLst>
          </p:cNvPr>
          <p:cNvSpPr txBox="1"/>
          <p:nvPr/>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endParaRPr lang="en-VN" sz="3600" b="1" dirty="0">
              <a:solidFill>
                <a:schemeClr val="bg1"/>
              </a:solidFill>
              <a:latin typeface="Times New Roman" panose="02020603050405020304" pitchFamily="18" charset="0"/>
              <a:cs typeface="Times New Roman" panose="02020603050405020304" pitchFamily="18" charset="0"/>
            </a:endParaRP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033899" y="1559014"/>
            <a:ext cx="8124204" cy="4153664"/>
          </a:xfrm>
        </p:spPr>
        <p:txBody>
          <a:bodyPr anchor="ctr">
            <a:normAutofit/>
          </a:bodyPr>
          <a:lstStyle>
            <a:lvl1pPr marL="514350" indent="-514350" algn="just">
              <a:lnSpc>
                <a:spcPct val="130000"/>
              </a:lnSpc>
              <a:spcBef>
                <a:spcPts val="300"/>
              </a:spcBef>
              <a:spcAft>
                <a:spcPts val="300"/>
              </a:spcAft>
              <a:buFont typeface="+mj-lt"/>
              <a:buAutoNum type="arabicPeriod"/>
              <a:defRPr sz="28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September 4, 2023</a:t>
            </a:fld>
            <a:endParaRPr lang="en-VN"/>
          </a:p>
        </p:txBody>
      </p:sp>
      <p:sp>
        <p:nvSpPr>
          <p:cNvPr id="68" name="Text Placeholder 67">
            <a:extLst>
              <a:ext uri="{FF2B5EF4-FFF2-40B4-BE49-F238E27FC236}">
                <a16:creationId xmlns:a16="http://schemas.microsoft.com/office/drawing/2014/main" id="{F56C1099-1EF4-24C1-B5E1-A484342C74DE}"/>
              </a:ext>
            </a:extLst>
          </p:cNvPr>
          <p:cNvSpPr>
            <a:spLocks noGrp="1"/>
          </p:cNvSpPr>
          <p:nvPr>
            <p:ph type="body" sz="quarter" idx="15" hasCustomPrompt="1"/>
          </p:nvPr>
        </p:nvSpPr>
        <p:spPr>
          <a:xfrm>
            <a:off x="4859729" y="734646"/>
            <a:ext cx="2714625" cy="457200"/>
          </a:xfrm>
        </p:spPr>
        <p:txBody>
          <a:bodyPr anchor="ctr">
            <a:noAutofit/>
          </a:bodyPr>
          <a:lstStyle>
            <a:lvl1pPr marL="0" indent="0" algn="ctr">
              <a:buNone/>
              <a:defRPr sz="3600" b="1">
                <a:solidFill>
                  <a:schemeClr val="bg1"/>
                </a:solidFill>
                <a:latin typeface="Times New Roman" panose="02020603050405020304" pitchFamily="18" charset="0"/>
                <a:cs typeface="Times New Roman" panose="02020603050405020304" pitchFamily="18" charset="0"/>
              </a:defRPr>
            </a:lvl1pPr>
          </a:lstStyle>
          <a:p>
            <a:pPr lvl="0"/>
            <a:r>
              <a:rPr lang="en-VN" dirty="0"/>
              <a:t>NỘI DUNG</a:t>
            </a:r>
          </a:p>
        </p:txBody>
      </p:sp>
      <p:sp>
        <p:nvSpPr>
          <p:cNvPr id="3" name="Freeform 2">
            <a:extLst>
              <a:ext uri="{FF2B5EF4-FFF2-40B4-BE49-F238E27FC236}">
                <a16:creationId xmlns:a16="http://schemas.microsoft.com/office/drawing/2014/main" id="{B50720F1-D33A-570A-ED4C-A35648E701D3}"/>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Tree>
    <p:extLst>
      <p:ext uri="{BB962C8B-B14F-4D97-AF65-F5344CB8AC3E}">
        <p14:creationId xmlns:p14="http://schemas.microsoft.com/office/powerpoint/2010/main" val="1133693179"/>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p:nvSpPr>
        <p:spPr>
          <a:xfrm>
            <a:off x="-1" y="-3113"/>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Isosceles Triangle 12">
            <a:extLst>
              <a:ext uri="{FF2B5EF4-FFF2-40B4-BE49-F238E27FC236}">
                <a16:creationId xmlns:a16="http://schemas.microsoft.com/office/drawing/2014/main" id="{A49F0DD3-DC56-8398-42AE-9819F17BDE3D}"/>
              </a:ext>
            </a:extLst>
          </p:cNvPr>
          <p:cNvSpPr/>
          <p:nvPr/>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31" name="Freeform 30">
            <a:extLst>
              <a:ext uri="{FF2B5EF4-FFF2-40B4-BE49-F238E27FC236}">
                <a16:creationId xmlns:a16="http://schemas.microsoft.com/office/drawing/2014/main" id="{F5D728B6-8658-2A5A-4406-097B8D68238B}"/>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33" name="Text Placeholder 32">
            <a:extLst>
              <a:ext uri="{FF2B5EF4-FFF2-40B4-BE49-F238E27FC236}">
                <a16:creationId xmlns:a16="http://schemas.microsoft.com/office/drawing/2014/main" id="{16FB8E2A-4378-29FE-41E3-42BAD72ADA63}"/>
              </a:ext>
            </a:extLst>
          </p:cNvPr>
          <p:cNvSpPr>
            <a:spLocks noGrp="1"/>
          </p:cNvSpPr>
          <p:nvPr>
            <p:ph type="body" sz="quarter" idx="13" hasCustomPrompt="1"/>
          </p:nvPr>
        </p:nvSpPr>
        <p:spPr>
          <a:xfrm>
            <a:off x="1470929" y="2095027"/>
            <a:ext cx="9941071"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35" name="Text Placeholder 34">
            <a:extLst>
              <a:ext uri="{FF2B5EF4-FFF2-40B4-BE49-F238E27FC236}">
                <a16:creationId xmlns:a16="http://schemas.microsoft.com/office/drawing/2014/main" id="{5224296A-39BF-05BD-6DFB-8046C021F7C6}"/>
              </a:ext>
            </a:extLst>
          </p:cNvPr>
          <p:cNvSpPr>
            <a:spLocks noGrp="1"/>
          </p:cNvSpPr>
          <p:nvPr>
            <p:ph type="body" sz="quarter" idx="14" hasCustomPrompt="1"/>
          </p:nvPr>
        </p:nvSpPr>
        <p:spPr>
          <a:xfrm>
            <a:off x="1470930" y="3169159"/>
            <a:ext cx="9941070"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x.x. TÊN MỤC CON (NẾU CÓ)</a:t>
            </a:r>
          </a:p>
        </p:txBody>
      </p:sp>
      <p:sp>
        <p:nvSpPr>
          <p:cNvPr id="37" name="Text Placeholder 36">
            <a:extLst>
              <a:ext uri="{FF2B5EF4-FFF2-40B4-BE49-F238E27FC236}">
                <a16:creationId xmlns:a16="http://schemas.microsoft.com/office/drawing/2014/main" id="{BE1131F0-02AD-0F75-0384-22C665D9450D}"/>
              </a:ext>
            </a:extLst>
          </p:cNvPr>
          <p:cNvSpPr>
            <a:spLocks noGrp="1"/>
          </p:cNvSpPr>
          <p:nvPr>
            <p:ph type="body" sz="quarter" idx="15" hasCustomPrompt="1"/>
          </p:nvPr>
        </p:nvSpPr>
        <p:spPr>
          <a:xfrm>
            <a:off x="1470930" y="4137397"/>
            <a:ext cx="7147030" cy="916698"/>
          </a:xfrm>
        </p:spPr>
        <p:txBody>
          <a:bodyPr anchor="t">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sp>
        <p:nvSpPr>
          <p:cNvPr id="39" name="Text Placeholder 38">
            <a:extLst>
              <a:ext uri="{FF2B5EF4-FFF2-40B4-BE49-F238E27FC236}">
                <a16:creationId xmlns:a16="http://schemas.microsoft.com/office/drawing/2014/main" id="{9E2EB23E-8F15-CEEB-55D8-12309376C6F8}"/>
              </a:ext>
            </a:extLst>
          </p:cNvPr>
          <p:cNvSpPr>
            <a:spLocks noGrp="1"/>
          </p:cNvSpPr>
          <p:nvPr>
            <p:ph type="body" sz="quarter" idx="16" hasCustomPrompt="1"/>
          </p:nvPr>
        </p:nvSpPr>
        <p:spPr>
          <a:xfrm>
            <a:off x="8896576" y="5231902"/>
            <a:ext cx="2521280" cy="1577819"/>
          </a:xfrm>
        </p:spPr>
        <p:txBody>
          <a:bodyPr>
            <a:normAutofit/>
          </a:bodyPr>
          <a:lstStyle>
            <a:lvl1pPr marL="0" indent="0" algn="r" defTabSz="914400" rtl="0" eaLnBrk="1" latinLnBrk="0" hangingPunct="1">
              <a:buNone/>
              <a:defRPr lang="en-VN" sz="120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0x.</a:t>
            </a:r>
          </a:p>
        </p:txBody>
      </p:sp>
      <p:cxnSp>
        <p:nvCxnSpPr>
          <p:cNvPr id="41" name="Straight Connector 40">
            <a:extLst>
              <a:ext uri="{FF2B5EF4-FFF2-40B4-BE49-F238E27FC236}">
                <a16:creationId xmlns:a16="http://schemas.microsoft.com/office/drawing/2014/main" id="{88382EF5-131E-F7DD-C939-044C31C113C7}"/>
              </a:ext>
            </a:extLst>
          </p:cNvPr>
          <p:cNvCxnSpPr/>
          <p:nvPr/>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60603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September 4, 2023</a:t>
            </a:fld>
            <a:endParaRPr lang="en-US" dirty="0"/>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838200"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grpSp>
        <p:nvGrpSpPr>
          <p:cNvPr id="4" name="Group 3">
            <a:extLst>
              <a:ext uri="{FF2B5EF4-FFF2-40B4-BE49-F238E27FC236}">
                <a16:creationId xmlns:a16="http://schemas.microsoft.com/office/drawing/2014/main" id="{B1AA7010-A78E-2DCB-8D89-28F704E05138}"/>
              </a:ext>
            </a:extLst>
          </p:cNvPr>
          <p:cNvGrpSpPr/>
          <p:nvPr/>
        </p:nvGrpSpPr>
        <p:grpSpPr>
          <a:xfrm>
            <a:off x="16026" y="4629289"/>
            <a:ext cx="434350" cy="2228711"/>
            <a:chOff x="16026" y="4629289"/>
            <a:chExt cx="434350" cy="2228711"/>
          </a:xfrm>
          <a:gradFill flip="none" rotWithShape="1">
            <a:gsLst>
              <a:gs pos="0">
                <a:srgbClr val="00F7FF"/>
              </a:gs>
              <a:gs pos="100000">
                <a:srgbClr val="00F7FF">
                  <a:alpha val="0"/>
                </a:srgbClr>
              </a:gs>
            </a:gsLst>
            <a:lin ang="16200000" scaled="1"/>
            <a:tileRect/>
          </a:gradFill>
        </p:grpSpPr>
        <p:sp>
          <p:nvSpPr>
            <p:cNvPr id="14" name="Rectangle 13">
              <a:extLst>
                <a:ext uri="{FF2B5EF4-FFF2-40B4-BE49-F238E27FC236}">
                  <a16:creationId xmlns:a16="http://schemas.microsoft.com/office/drawing/2014/main" id="{B96A6D30-76D9-ADFA-439D-D8ACD753FA68}"/>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A54932-7153-1124-6FAB-6B0BCE7F15CF}"/>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F11FFE3-7A74-DE46-A817-485EEBD35CE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7" name="Rectangle 16">
              <a:extLst>
                <a:ext uri="{FF2B5EF4-FFF2-40B4-BE49-F238E27FC236}">
                  <a16:creationId xmlns:a16="http://schemas.microsoft.com/office/drawing/2014/main" id="{37189745-CA80-BAF4-D0A4-5251C5A38265}"/>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64A45EE-E6B0-E916-950B-83B5D9C719DA}"/>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05BCF47-41EA-DC9C-B39C-19996485644F}"/>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29" name="Oval 28">
            <a:extLst>
              <a:ext uri="{FF2B5EF4-FFF2-40B4-BE49-F238E27FC236}">
                <a16:creationId xmlns:a16="http://schemas.microsoft.com/office/drawing/2014/main" id="{D48BE0DC-C12B-7B32-5521-E1BCC5CB89B7}"/>
              </a:ext>
            </a:extLst>
          </p:cNvPr>
          <p:cNvSpPr/>
          <p:nvPr/>
        </p:nvSpPr>
        <p:spPr>
          <a:xfrm>
            <a:off x="9520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p:ph type="sldNum" sz="quarter" idx="12"/>
          </p:nvPr>
        </p:nvSpPr>
        <p:spPr>
          <a:xfrm>
            <a:off x="6586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pic>
        <p:nvPicPr>
          <p:cNvPr id="8" name="Picture 7" descr="Background pattern&#10;&#10;Description automatically generated">
            <a:extLst>
              <a:ext uri="{FF2B5EF4-FFF2-40B4-BE49-F238E27FC236}">
                <a16:creationId xmlns:a16="http://schemas.microsoft.com/office/drawing/2014/main" id="{0F72A43D-AECD-EB4C-146A-5BB9A5EC3B8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9" name="Rectangle 8">
            <a:extLst>
              <a:ext uri="{FF2B5EF4-FFF2-40B4-BE49-F238E27FC236}">
                <a16:creationId xmlns:a16="http://schemas.microsoft.com/office/drawing/2014/main" id="{15FA0CDD-C83D-0435-657C-259FFA5721A9}"/>
              </a:ext>
            </a:extLst>
          </p:cNvPr>
          <p:cNvSpPr/>
          <p:nvPr userDrawn="1"/>
        </p:nvSpPr>
        <p:spPr>
          <a:xfrm>
            <a:off x="0" y="0"/>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Rectangle 9">
            <a:extLst>
              <a:ext uri="{FF2B5EF4-FFF2-40B4-BE49-F238E27FC236}">
                <a16:creationId xmlns:a16="http://schemas.microsoft.com/office/drawing/2014/main" id="{ECF4AA2A-C833-C9F1-26C3-EEC9893DC0DF}"/>
              </a:ext>
            </a:extLst>
          </p:cNvPr>
          <p:cNvSpPr/>
          <p:nvPr userDrawn="1"/>
        </p:nvSpPr>
        <p:spPr>
          <a:xfrm>
            <a:off x="16026" y="4629289"/>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EC04DD1-D8A5-B21A-E7BD-72DB7976E3FA}"/>
              </a:ext>
            </a:extLst>
          </p:cNvPr>
          <p:cNvSpPr/>
          <p:nvPr userDrawn="1"/>
        </p:nvSpPr>
        <p:spPr>
          <a:xfrm>
            <a:off x="16026" y="5005641"/>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4DEE4A0-1160-E701-D644-07DC06DF86D6}"/>
              </a:ext>
            </a:extLst>
          </p:cNvPr>
          <p:cNvSpPr/>
          <p:nvPr userDrawn="1"/>
        </p:nvSpPr>
        <p:spPr>
          <a:xfrm>
            <a:off x="16026" y="5381993"/>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136835B-B48C-561C-FDF0-A50DBBFDD1C6}"/>
              </a:ext>
            </a:extLst>
          </p:cNvPr>
          <p:cNvSpPr/>
          <p:nvPr userDrawn="1"/>
        </p:nvSpPr>
        <p:spPr>
          <a:xfrm>
            <a:off x="16026" y="5758345"/>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C382704A-2531-BCEB-D1A1-BF1AC2FAD6BA}"/>
              </a:ext>
            </a:extLst>
          </p:cNvPr>
          <p:cNvSpPr/>
          <p:nvPr userDrawn="1"/>
        </p:nvSpPr>
        <p:spPr>
          <a:xfrm>
            <a:off x="16026" y="6134697"/>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EA726C09-641B-2445-374C-E87617C06B11}"/>
              </a:ext>
            </a:extLst>
          </p:cNvPr>
          <p:cNvSpPr/>
          <p:nvPr userDrawn="1"/>
        </p:nvSpPr>
        <p:spPr>
          <a:xfrm>
            <a:off x="16026" y="6511050"/>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12">
            <a:extLst>
              <a:ext uri="{FF2B5EF4-FFF2-40B4-BE49-F238E27FC236}">
                <a16:creationId xmlns:a16="http://schemas.microsoft.com/office/drawing/2014/main" id="{4651FAC4-BB20-25B9-A189-F8C20F57F1FB}"/>
              </a:ext>
            </a:extLst>
          </p:cNvPr>
          <p:cNvSpPr/>
          <p:nvPr userDrawn="1"/>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408005A5-5A45-6152-6C80-E4DB096F7573}"/>
              </a:ext>
            </a:extLst>
          </p:cNvPr>
          <p:cNvGrpSpPr/>
          <p:nvPr userDrawn="1"/>
        </p:nvGrpSpPr>
        <p:grpSpPr>
          <a:xfrm>
            <a:off x="58527" y="40944"/>
            <a:ext cx="2869771" cy="1563379"/>
            <a:chOff x="44879" y="27296"/>
            <a:chExt cx="2869771" cy="1563379"/>
          </a:xfrm>
          <a:solidFill>
            <a:srgbClr val="0072FF"/>
          </a:solidFill>
        </p:grpSpPr>
        <p:cxnSp>
          <p:nvCxnSpPr>
            <p:cNvPr id="40" name="Straight Connector 39">
              <a:extLst>
                <a:ext uri="{FF2B5EF4-FFF2-40B4-BE49-F238E27FC236}">
                  <a16:creationId xmlns:a16="http://schemas.microsoft.com/office/drawing/2014/main" id="{069CD9B6-386F-E70A-43EF-EEDF4B9CC10F}"/>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85DAEC3-65DB-14DF-8763-12D5C0EE6B97}"/>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B4EFD83-6712-526B-63A8-6497A66B0D59}"/>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44" name="Isosceles Triangle 12">
            <a:extLst>
              <a:ext uri="{FF2B5EF4-FFF2-40B4-BE49-F238E27FC236}">
                <a16:creationId xmlns:a16="http://schemas.microsoft.com/office/drawing/2014/main" id="{CD2B7970-4F1D-FF77-F85E-5980EBD69702}"/>
              </a:ext>
            </a:extLst>
          </p:cNvPr>
          <p:cNvSpPr/>
          <p:nvPr userDrawn="1"/>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F943A698-B735-9F77-8AC6-2070F5E4F429}"/>
              </a:ext>
            </a:extLst>
          </p:cNvPr>
          <p:cNvGrpSpPr/>
          <p:nvPr userDrawn="1"/>
        </p:nvGrpSpPr>
        <p:grpSpPr>
          <a:xfrm flipH="1" flipV="1">
            <a:off x="9263702" y="5253677"/>
            <a:ext cx="2869771" cy="1563379"/>
            <a:chOff x="44879" y="27296"/>
            <a:chExt cx="2869771" cy="1563379"/>
          </a:xfrm>
          <a:solidFill>
            <a:srgbClr val="0072FF"/>
          </a:solidFill>
        </p:grpSpPr>
        <p:cxnSp>
          <p:nvCxnSpPr>
            <p:cNvPr id="46" name="Straight Connector 45">
              <a:extLst>
                <a:ext uri="{FF2B5EF4-FFF2-40B4-BE49-F238E27FC236}">
                  <a16:creationId xmlns:a16="http://schemas.microsoft.com/office/drawing/2014/main" id="{4DBD40F7-8D89-369C-826B-63836193C8F5}"/>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BF88988-DB79-4501-92BD-677831C82C01}"/>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E736EA7-5417-AB74-04DB-EB7310CDB74E}"/>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49" name="Freeform 30">
            <a:extLst>
              <a:ext uri="{FF2B5EF4-FFF2-40B4-BE49-F238E27FC236}">
                <a16:creationId xmlns:a16="http://schemas.microsoft.com/office/drawing/2014/main" id="{2894D349-AA2A-F3CF-E5BD-1932F6E85644}"/>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50" name="Slide Number Placeholder 4">
            <a:extLst>
              <a:ext uri="{FF2B5EF4-FFF2-40B4-BE49-F238E27FC236}">
                <a16:creationId xmlns:a16="http://schemas.microsoft.com/office/drawing/2014/main" id="{C715F4C9-62B0-FA49-B9EA-38E8863239C0}"/>
              </a:ext>
            </a:extLst>
          </p:cNvPr>
          <p:cNvSpPr>
            <a:spLocks noGrp="1"/>
          </p:cNvSpPr>
          <p:nvPr>
            <p:ph type="sldNum" sz="quarter" idx="12"/>
          </p:nvPr>
        </p:nvSpPr>
        <p:spPr>
          <a:xfrm>
            <a:off x="1189939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51" name="Text Placeholder 32">
            <a:extLst>
              <a:ext uri="{FF2B5EF4-FFF2-40B4-BE49-F238E27FC236}">
                <a16:creationId xmlns:a16="http://schemas.microsoft.com/office/drawing/2014/main" id="{E83B2C48-7F94-97F0-E843-2F101594BAB1}"/>
              </a:ext>
            </a:extLst>
          </p:cNvPr>
          <p:cNvSpPr>
            <a:spLocks noGrp="1"/>
          </p:cNvSpPr>
          <p:nvPr>
            <p:ph type="body" sz="quarter" idx="13" hasCustomPrompt="1"/>
          </p:nvPr>
        </p:nvSpPr>
        <p:spPr>
          <a:xfrm>
            <a:off x="1470930" y="2095027"/>
            <a:ext cx="6264164"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52" name="Text Placeholder 34">
            <a:extLst>
              <a:ext uri="{FF2B5EF4-FFF2-40B4-BE49-F238E27FC236}">
                <a16:creationId xmlns:a16="http://schemas.microsoft.com/office/drawing/2014/main" id="{BFAA7D49-810A-C6CA-4A44-00B6CB96C634}"/>
              </a:ext>
            </a:extLst>
          </p:cNvPr>
          <p:cNvSpPr>
            <a:spLocks noGrp="1"/>
          </p:cNvSpPr>
          <p:nvPr>
            <p:ph type="body" sz="quarter" idx="14" hasCustomPrompt="1"/>
          </p:nvPr>
        </p:nvSpPr>
        <p:spPr>
          <a:xfrm>
            <a:off x="1470930" y="3169159"/>
            <a:ext cx="8913813"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1.x. TÊN MỤC CON (NẾU CÓ)</a:t>
            </a:r>
          </a:p>
        </p:txBody>
      </p:sp>
      <p:sp>
        <p:nvSpPr>
          <p:cNvPr id="53" name="Text Placeholder 36">
            <a:extLst>
              <a:ext uri="{FF2B5EF4-FFF2-40B4-BE49-F238E27FC236}">
                <a16:creationId xmlns:a16="http://schemas.microsoft.com/office/drawing/2014/main" id="{211F43C9-8F0A-644E-C5B8-D1E366826897}"/>
              </a:ext>
            </a:extLst>
          </p:cNvPr>
          <p:cNvSpPr>
            <a:spLocks noGrp="1"/>
          </p:cNvSpPr>
          <p:nvPr>
            <p:ph type="body" sz="quarter" idx="15" hasCustomPrompt="1"/>
          </p:nvPr>
        </p:nvSpPr>
        <p:spPr>
          <a:xfrm>
            <a:off x="1470930" y="4137397"/>
            <a:ext cx="7147030" cy="916698"/>
          </a:xfrm>
        </p:spPr>
        <p:txBody>
          <a:bodyPr anchor="ctr">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cxnSp>
        <p:nvCxnSpPr>
          <p:cNvPr id="54" name="Straight Connector 53">
            <a:extLst>
              <a:ext uri="{FF2B5EF4-FFF2-40B4-BE49-F238E27FC236}">
                <a16:creationId xmlns:a16="http://schemas.microsoft.com/office/drawing/2014/main" id="{15B9BA74-AC3E-D197-AD96-DA1864D7A378}"/>
              </a:ext>
            </a:extLst>
          </p:cNvPr>
          <p:cNvCxnSpPr/>
          <p:nvPr userDrawn="1"/>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848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Noi dung">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5" y="1233824"/>
            <a:ext cx="10579654"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September 4, 2023</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29431274"/>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 sanh 1">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1233825"/>
            <a:ext cx="5202000"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1</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September 4, 2023</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6151800" y="1228490"/>
            <a:ext cx="5202000"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2</a:t>
            </a:r>
            <a:endParaRPr lang="en-VN" dirty="0"/>
          </a:p>
        </p:txBody>
      </p:sp>
      <p:sp>
        <p:nvSpPr>
          <p:cNvPr id="15" name="Title 1">
            <a:extLst>
              <a:ext uri="{FF2B5EF4-FFF2-40B4-BE49-F238E27FC236}">
                <a16:creationId xmlns:a16="http://schemas.microsoft.com/office/drawing/2014/main" id="{187D36B1-517A-D556-9184-ED466900A8D4}"/>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Tree>
    <p:extLst>
      <p:ext uri="{BB962C8B-B14F-4D97-AF65-F5344CB8AC3E}">
        <p14:creationId xmlns:p14="http://schemas.microsoft.com/office/powerpoint/2010/main" val="212776858"/>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o sanh 2">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1962615"/>
            <a:ext cx="5202000" cy="421434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1</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September 4, 2023</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6151800" y="1957280"/>
            <a:ext cx="5202000" cy="421434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2</a:t>
            </a:r>
            <a:endParaRPr lang="en-VN" dirty="0"/>
          </a:p>
        </p:txBody>
      </p:sp>
      <p:sp>
        <p:nvSpPr>
          <p:cNvPr id="15" name="Text Placeholder 14">
            <a:extLst>
              <a:ext uri="{FF2B5EF4-FFF2-40B4-BE49-F238E27FC236}">
                <a16:creationId xmlns:a16="http://schemas.microsoft.com/office/drawing/2014/main" id="{EDF1C539-8AC9-C464-0C2F-4D728615840B}"/>
              </a:ext>
            </a:extLst>
          </p:cNvPr>
          <p:cNvSpPr>
            <a:spLocks noGrp="1"/>
          </p:cNvSpPr>
          <p:nvPr>
            <p:ph type="body" sz="quarter" idx="16" hasCustomPrompt="1"/>
          </p:nvPr>
        </p:nvSpPr>
        <p:spPr>
          <a:xfrm>
            <a:off x="774144" y="1233825"/>
            <a:ext cx="5202794" cy="504825"/>
          </a:xfrm>
          <a:gradFill flip="none" rotWithShape="1">
            <a:gsLst>
              <a:gs pos="0">
                <a:srgbClr val="0072FF"/>
              </a:gs>
              <a:gs pos="99000">
                <a:srgbClr val="00C6FF"/>
              </a:gs>
            </a:gsLst>
            <a:lin ang="2700000" scaled="1"/>
            <a:tileRect/>
          </a:gradFill>
        </p:spPr>
        <p:txBody>
          <a:bodyPr>
            <a:normAutofit/>
          </a:bodyPr>
          <a:lstStyle>
            <a:lvl1pPr marL="0" indent="0" algn="ctr">
              <a:lnSpc>
                <a:spcPct val="120000"/>
              </a:lnSpc>
              <a:spcBef>
                <a:spcPts val="200"/>
              </a:spcBef>
              <a:spcAft>
                <a:spcPts val="200"/>
              </a:spcAft>
              <a:buNone/>
              <a:defRPr sz="2400" b="1" i="0">
                <a:solidFill>
                  <a:schemeClr val="bg1"/>
                </a:solidFill>
                <a:latin typeface="Arial" panose="020B0604020202020204" pitchFamily="34" charset="0"/>
                <a:cs typeface="Arial" panose="020B0604020202020204" pitchFamily="34" charset="0"/>
              </a:defRPr>
            </a:lvl1pPr>
          </a:lstStyle>
          <a:p>
            <a:pPr lvl="0"/>
            <a:r>
              <a:rPr lang="en-VN" dirty="0"/>
              <a:t>Tiêu đề cột 1</a:t>
            </a:r>
          </a:p>
        </p:txBody>
      </p:sp>
      <p:sp>
        <p:nvSpPr>
          <p:cNvPr id="19" name="Text Placeholder 14">
            <a:extLst>
              <a:ext uri="{FF2B5EF4-FFF2-40B4-BE49-F238E27FC236}">
                <a16:creationId xmlns:a16="http://schemas.microsoft.com/office/drawing/2014/main" id="{F0714139-C59C-330B-707A-90AA2C2D1C7D}"/>
              </a:ext>
            </a:extLst>
          </p:cNvPr>
          <p:cNvSpPr>
            <a:spLocks noGrp="1"/>
          </p:cNvSpPr>
          <p:nvPr>
            <p:ph type="body" sz="quarter" idx="17" hasCustomPrompt="1"/>
          </p:nvPr>
        </p:nvSpPr>
        <p:spPr>
          <a:xfrm>
            <a:off x="6151006" y="1233825"/>
            <a:ext cx="5202794" cy="504825"/>
          </a:xfrm>
          <a:gradFill flip="none" rotWithShape="1">
            <a:gsLst>
              <a:gs pos="0">
                <a:srgbClr val="0072FF"/>
              </a:gs>
              <a:gs pos="99000">
                <a:srgbClr val="00C6FF"/>
              </a:gs>
            </a:gsLst>
            <a:lin ang="2700000" scaled="1"/>
            <a:tileRect/>
          </a:gradFill>
        </p:spPr>
        <p:txBody>
          <a:bodyPr>
            <a:normAutofit/>
          </a:bodyPr>
          <a:lstStyle>
            <a:lvl1pPr marL="0" indent="0" algn="ctr">
              <a:lnSpc>
                <a:spcPct val="120000"/>
              </a:lnSpc>
              <a:spcBef>
                <a:spcPts val="200"/>
              </a:spcBef>
              <a:spcAft>
                <a:spcPts val="200"/>
              </a:spcAft>
              <a:buNone/>
              <a:defRPr sz="2400" b="1" i="0">
                <a:solidFill>
                  <a:schemeClr val="bg1"/>
                </a:solidFill>
                <a:latin typeface="Arial" panose="020B0604020202020204" pitchFamily="34" charset="0"/>
                <a:cs typeface="Arial" panose="020B0604020202020204" pitchFamily="34" charset="0"/>
              </a:defRPr>
            </a:lvl1pPr>
          </a:lstStyle>
          <a:p>
            <a:pPr lvl="0"/>
            <a:r>
              <a:rPr lang="en-VN" dirty="0"/>
              <a:t>Tiêu đề cột 2</a:t>
            </a:r>
          </a:p>
        </p:txBody>
      </p:sp>
      <p:sp>
        <p:nvSpPr>
          <p:cNvPr id="29" name="Title 1">
            <a:extLst>
              <a:ext uri="{FF2B5EF4-FFF2-40B4-BE49-F238E27FC236}">
                <a16:creationId xmlns:a16="http://schemas.microsoft.com/office/drawing/2014/main" id="{6AE4A723-09B9-08FA-D05B-D53CF4EB2CA4}"/>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Tree>
    <p:extLst>
      <p:ext uri="{BB962C8B-B14F-4D97-AF65-F5344CB8AC3E}">
        <p14:creationId xmlns:p14="http://schemas.microsoft.com/office/powerpoint/2010/main" val="4217583956"/>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Noi dung 2">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6" y="202009"/>
            <a:ext cx="3932227" cy="1698043"/>
          </a:xfrm>
        </p:spPr>
        <p:txBody>
          <a:bodyPr>
            <a:noAutofit/>
          </a:bodyPr>
          <a:lstStyle>
            <a:lvl1pPr>
              <a:lnSpc>
                <a:spcPct val="120000"/>
              </a:lnSpc>
              <a:spcBef>
                <a:spcPts val="200"/>
              </a:spcBef>
              <a:spcAft>
                <a:spcPts val="200"/>
              </a:spcAft>
              <a:defRPr sz="40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2113808"/>
            <a:ext cx="3932227" cy="4063156"/>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September 4, 2023</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5085934" y="202009"/>
            <a:ext cx="6267866" cy="5969620"/>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Tree>
    <p:extLst>
      <p:ext uri="{BB962C8B-B14F-4D97-AF65-F5344CB8AC3E}">
        <p14:creationId xmlns:p14="http://schemas.microsoft.com/office/powerpoint/2010/main" val="1322146933"/>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ình ảnh">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6" y="202009"/>
            <a:ext cx="3932227" cy="1698043"/>
          </a:xfrm>
        </p:spPr>
        <p:txBody>
          <a:bodyPr>
            <a:noAutofit/>
          </a:bodyPr>
          <a:lstStyle>
            <a:lvl1pPr>
              <a:lnSpc>
                <a:spcPct val="120000"/>
              </a:lnSpc>
              <a:spcBef>
                <a:spcPts val="200"/>
              </a:spcBef>
              <a:spcAft>
                <a:spcPts val="200"/>
              </a:spcAft>
              <a:defRPr sz="40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2113808"/>
            <a:ext cx="3932227" cy="4063156"/>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September 4, 2023</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5" name="Picture Placeholder 14">
            <a:extLst>
              <a:ext uri="{FF2B5EF4-FFF2-40B4-BE49-F238E27FC236}">
                <a16:creationId xmlns:a16="http://schemas.microsoft.com/office/drawing/2014/main" id="{9AE9790B-4A7F-B016-57E9-8F5F385CF84E}"/>
              </a:ext>
            </a:extLst>
          </p:cNvPr>
          <p:cNvSpPr>
            <a:spLocks noGrp="1"/>
          </p:cNvSpPr>
          <p:nvPr>
            <p:ph type="pic" sz="quarter" idx="14" hasCustomPrompt="1"/>
          </p:nvPr>
        </p:nvSpPr>
        <p:spPr>
          <a:xfrm>
            <a:off x="5160373" y="202009"/>
            <a:ext cx="6237261" cy="5976999"/>
          </a:xfrm>
          <a:prstGeom prst="roundRect">
            <a:avLst>
              <a:gd name="adj" fmla="val 574"/>
            </a:avLst>
          </a:prstGeom>
        </p:spPr>
        <p:txBody>
          <a:bodyPr/>
          <a:lstStyle>
            <a:lvl1pPr>
              <a:lnSpc>
                <a:spcPct val="130000"/>
              </a:lnSpc>
              <a:spcBef>
                <a:spcPts val="300"/>
              </a:spcBef>
              <a:spcAft>
                <a:spcPts val="300"/>
              </a:spcAft>
              <a:defRPr>
                <a:latin typeface="Arial" panose="020B0604020202020204" pitchFamily="34" charset="0"/>
                <a:cs typeface="Arial" panose="020B0604020202020204" pitchFamily="34" charset="0"/>
              </a:defRPr>
            </a:lvl1pPr>
          </a:lstStyle>
          <a:p>
            <a:r>
              <a:rPr lang="en-VN" dirty="0"/>
              <a:t>Hình ảnh</a:t>
            </a:r>
          </a:p>
        </p:txBody>
      </p:sp>
    </p:spTree>
    <p:extLst>
      <p:ext uri="{BB962C8B-B14F-4D97-AF65-F5344CB8AC3E}">
        <p14:creationId xmlns:p14="http://schemas.microsoft.com/office/powerpoint/2010/main" val="3652400161"/>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rang trong 1">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69" name="Oval 68">
            <a:extLst>
              <a:ext uri="{FF2B5EF4-FFF2-40B4-BE49-F238E27FC236}">
                <a16:creationId xmlns:a16="http://schemas.microsoft.com/office/drawing/2014/main" id="{18EDBFE5-F6A7-D377-B524-2A5E293A8580}"/>
              </a:ext>
            </a:extLst>
          </p:cNvPr>
          <p:cNvSpPr/>
          <p:nvPr/>
        </p:nvSpPr>
        <p:spPr>
          <a:xfrm>
            <a:off x="22186"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2005"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sp>
        <p:nvSpPr>
          <p:cNvPr id="75" name="Isosceles Triangle 12">
            <a:extLst>
              <a:ext uri="{FF2B5EF4-FFF2-40B4-BE49-F238E27FC236}">
                <a16:creationId xmlns:a16="http://schemas.microsoft.com/office/drawing/2014/main" id="{A388E1C1-619D-B3DE-405E-FEBD285E8A4D}"/>
              </a:ext>
            </a:extLst>
          </p:cNvPr>
          <p:cNvSpPr/>
          <p:nvPr/>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3" name="Freeform 2">
            <a:extLst>
              <a:ext uri="{FF2B5EF4-FFF2-40B4-BE49-F238E27FC236}">
                <a16:creationId xmlns:a16="http://schemas.microsoft.com/office/drawing/2014/main" id="{B50720F1-D33A-570A-ED4C-A35648E701D3}"/>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71" name="Footer Placeholder 4">
            <a:extLst>
              <a:ext uri="{FF2B5EF4-FFF2-40B4-BE49-F238E27FC236}">
                <a16:creationId xmlns:a16="http://schemas.microsoft.com/office/drawing/2014/main" id="{AAAD69AF-EC8B-72EE-4E78-98A3BACFC70B}"/>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sp>
        <p:nvSpPr>
          <p:cNvPr id="72" name="Date Placeholder 3">
            <a:extLst>
              <a:ext uri="{FF2B5EF4-FFF2-40B4-BE49-F238E27FC236}">
                <a16:creationId xmlns:a16="http://schemas.microsoft.com/office/drawing/2014/main" id="{E08B9789-E935-79BF-7612-287E195CA82E}"/>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September 4, 2023</a:t>
            </a:fld>
            <a:endParaRPr lang="en-VN"/>
          </a:p>
        </p:txBody>
      </p:sp>
    </p:spTree>
    <p:extLst>
      <p:ext uri="{BB962C8B-B14F-4D97-AF65-F5344CB8AC3E}">
        <p14:creationId xmlns:p14="http://schemas.microsoft.com/office/powerpoint/2010/main" val="2735695021"/>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rang trong 2">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E1CB305D-8829-8A5C-C77A-F06CC22D3171}"/>
              </a:ext>
            </a:extLst>
          </p:cNvPr>
          <p:cNvSpPr/>
          <p:nvPr/>
        </p:nvSpPr>
        <p:spPr>
          <a:xfrm>
            <a:off x="22186"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9B213357-208D-5A7C-6EC3-620968ABB590}"/>
              </a:ext>
            </a:extLst>
          </p:cNvPr>
          <p:cNvSpPr>
            <a:spLocks noGrp="1"/>
          </p:cNvSpPr>
          <p:nvPr>
            <p:ph type="sldNum" sz="quarter" idx="12"/>
          </p:nvPr>
        </p:nvSpPr>
        <p:spPr>
          <a:xfrm>
            <a:off x="-2005"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spTree>
    <p:extLst>
      <p:ext uri="{BB962C8B-B14F-4D97-AF65-F5344CB8AC3E}">
        <p14:creationId xmlns:p14="http://schemas.microsoft.com/office/powerpoint/2010/main" val="2225505154"/>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userDrawn="1"/>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grpSp>
        <p:nvGrpSpPr>
          <p:cNvPr id="36" name="Group 35">
            <a:extLst>
              <a:ext uri="{FF2B5EF4-FFF2-40B4-BE49-F238E27FC236}">
                <a16:creationId xmlns:a16="http://schemas.microsoft.com/office/drawing/2014/main" id="{11E5AAB4-F14E-4F9C-E123-7635A7EF6275}"/>
              </a:ext>
            </a:extLst>
          </p:cNvPr>
          <p:cNvGrpSpPr/>
          <p:nvPr userDrawn="1"/>
        </p:nvGrpSpPr>
        <p:grpSpPr>
          <a:xfrm>
            <a:off x="-1259888"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userDrawn="1"/>
        </p:nvGrpSpPr>
        <p:grpSpPr>
          <a:xfrm flipH="1">
            <a:off x="8607643"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userDrawn="1"/>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11900400" y="6566400"/>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0" name="TextBox 69">
            <a:extLst>
              <a:ext uri="{FF2B5EF4-FFF2-40B4-BE49-F238E27FC236}">
                <a16:creationId xmlns:a16="http://schemas.microsoft.com/office/drawing/2014/main" id="{03E32705-3D72-A324-09E4-62DB4F73E8B8}"/>
              </a:ext>
            </a:extLst>
          </p:cNvPr>
          <p:cNvSpPr txBox="1"/>
          <p:nvPr userDrawn="1"/>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r>
              <a:rPr lang="en-US" sz="3600" b="1">
                <a:solidFill>
                  <a:schemeClr val="bg1"/>
                </a:solidFill>
                <a:latin typeface="Times New Roman" panose="02020603050405020304" pitchFamily="18" charset="0"/>
                <a:cs typeface="Times New Roman" panose="02020603050405020304" pitchFamily="18" charset="0"/>
              </a:rPr>
              <a:t>MỤC TIÊU</a:t>
            </a:r>
            <a:endParaRPr lang="en-VN" sz="3600" b="1" dirty="0">
              <a:solidFill>
                <a:schemeClr val="bg1"/>
              </a:solidFill>
              <a:latin typeface="Times New Roman" panose="02020603050405020304" pitchFamily="18" charset="0"/>
              <a:cs typeface="Times New Roman" panose="02020603050405020304" pitchFamily="18" charset="0"/>
            </a:endParaRP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735144" y="1286346"/>
            <a:ext cx="6721714" cy="4699000"/>
          </a:xfrm>
        </p:spPr>
        <p:txBody>
          <a:bodyPr anchor="ctr">
            <a:normAutofit/>
          </a:bodyPr>
          <a:lstStyle>
            <a:lvl1pPr marL="514350" indent="-514350" algn="just">
              <a:buFont typeface="+mj-lt"/>
              <a:buAutoNum type="arabicPeriod"/>
              <a:defRPr sz="22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userDrawn="1"/>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userDrawn="1"/>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pic>
        <p:nvPicPr>
          <p:cNvPr id="86" name="Picture 85" descr="A picture containing clipart, vector graphics&#10;&#10;Description automatically generated">
            <a:extLst>
              <a:ext uri="{FF2B5EF4-FFF2-40B4-BE49-F238E27FC236}">
                <a16:creationId xmlns:a16="http://schemas.microsoft.com/office/drawing/2014/main" id="{59A81B3C-3C09-2267-567B-AD3F47296CD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September 4, 2023</a:t>
            </a:fld>
            <a:endParaRPr lang="en-US" dirty="0"/>
          </a:p>
        </p:txBody>
      </p:sp>
    </p:spTree>
    <p:extLst>
      <p:ext uri="{BB962C8B-B14F-4D97-AF65-F5344CB8AC3E}">
        <p14:creationId xmlns:p14="http://schemas.microsoft.com/office/powerpoint/2010/main" val="6389869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userDrawn="1"/>
        </p:nvSpPr>
        <p:spPr>
          <a:xfrm>
            <a:off x="0" y="0"/>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050A66F8-E091-9C03-CD6B-317D0180ADDD}"/>
              </a:ext>
            </a:extLst>
          </p:cNvPr>
          <p:cNvSpPr/>
          <p:nvPr userDrawn="1"/>
        </p:nvSpPr>
        <p:spPr>
          <a:xfrm>
            <a:off x="16026" y="4629289"/>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6A5F01B-1418-7515-A2D9-40BE42BE32BD}"/>
              </a:ext>
            </a:extLst>
          </p:cNvPr>
          <p:cNvSpPr/>
          <p:nvPr userDrawn="1"/>
        </p:nvSpPr>
        <p:spPr>
          <a:xfrm>
            <a:off x="16026" y="5005641"/>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A161D7-9C70-83EF-EE51-E59464E9FF79}"/>
              </a:ext>
            </a:extLst>
          </p:cNvPr>
          <p:cNvSpPr/>
          <p:nvPr userDrawn="1"/>
        </p:nvSpPr>
        <p:spPr>
          <a:xfrm>
            <a:off x="16026" y="5381993"/>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794F566-E8F9-197C-FC4C-0E96F2163AA2}"/>
              </a:ext>
            </a:extLst>
          </p:cNvPr>
          <p:cNvSpPr/>
          <p:nvPr userDrawn="1"/>
        </p:nvSpPr>
        <p:spPr>
          <a:xfrm>
            <a:off x="16026" y="5758345"/>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E20CF87-B708-06C0-11BA-20052748E49F}"/>
              </a:ext>
            </a:extLst>
          </p:cNvPr>
          <p:cNvSpPr/>
          <p:nvPr userDrawn="1"/>
        </p:nvSpPr>
        <p:spPr>
          <a:xfrm>
            <a:off x="16026" y="6134697"/>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2E2ADF-9658-9B1B-7EA8-E37B1FC3CB44}"/>
              </a:ext>
            </a:extLst>
          </p:cNvPr>
          <p:cNvSpPr/>
          <p:nvPr userDrawn="1"/>
        </p:nvSpPr>
        <p:spPr>
          <a:xfrm>
            <a:off x="16026" y="6511050"/>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2">
            <a:extLst>
              <a:ext uri="{FF2B5EF4-FFF2-40B4-BE49-F238E27FC236}">
                <a16:creationId xmlns:a16="http://schemas.microsoft.com/office/drawing/2014/main" id="{A49F0DD3-DC56-8398-42AE-9819F17BDE3D}"/>
              </a:ext>
            </a:extLst>
          </p:cNvPr>
          <p:cNvSpPr/>
          <p:nvPr userDrawn="1"/>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userDrawn="1"/>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userDrawn="1"/>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userDrawn="1"/>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29" name="Oval 28">
            <a:extLst>
              <a:ext uri="{FF2B5EF4-FFF2-40B4-BE49-F238E27FC236}">
                <a16:creationId xmlns:a16="http://schemas.microsoft.com/office/drawing/2014/main" id="{D48BE0DC-C12B-7B32-5521-E1BCC5CB89B7}"/>
              </a:ext>
            </a:extLst>
          </p:cNvPr>
          <p:cNvSpPr/>
          <p:nvPr/>
        </p:nvSpPr>
        <p:spPr>
          <a:xfrm>
            <a:off x="1192873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31" name="Freeform 30">
            <a:extLst>
              <a:ext uri="{FF2B5EF4-FFF2-40B4-BE49-F238E27FC236}">
                <a16:creationId xmlns:a16="http://schemas.microsoft.com/office/drawing/2014/main" id="{F5D728B6-8658-2A5A-4406-097B8D68238B}"/>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userDrawn="1">
            <p:ph type="sldNum" sz="quarter" idx="12"/>
          </p:nvPr>
        </p:nvSpPr>
        <p:spPr>
          <a:xfrm>
            <a:off x="1189939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33" name="Text Placeholder 32">
            <a:extLst>
              <a:ext uri="{FF2B5EF4-FFF2-40B4-BE49-F238E27FC236}">
                <a16:creationId xmlns:a16="http://schemas.microsoft.com/office/drawing/2014/main" id="{16FB8E2A-4378-29FE-41E3-42BAD72ADA63}"/>
              </a:ext>
            </a:extLst>
          </p:cNvPr>
          <p:cNvSpPr>
            <a:spLocks noGrp="1"/>
          </p:cNvSpPr>
          <p:nvPr userDrawn="1">
            <p:ph type="body" sz="quarter" idx="13" hasCustomPrompt="1"/>
          </p:nvPr>
        </p:nvSpPr>
        <p:spPr>
          <a:xfrm>
            <a:off x="1470930" y="2095027"/>
            <a:ext cx="6264164"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35" name="Text Placeholder 34">
            <a:extLst>
              <a:ext uri="{FF2B5EF4-FFF2-40B4-BE49-F238E27FC236}">
                <a16:creationId xmlns:a16="http://schemas.microsoft.com/office/drawing/2014/main" id="{5224296A-39BF-05BD-6DFB-8046C021F7C6}"/>
              </a:ext>
            </a:extLst>
          </p:cNvPr>
          <p:cNvSpPr>
            <a:spLocks noGrp="1"/>
          </p:cNvSpPr>
          <p:nvPr userDrawn="1">
            <p:ph type="body" sz="quarter" idx="14" hasCustomPrompt="1"/>
          </p:nvPr>
        </p:nvSpPr>
        <p:spPr>
          <a:xfrm>
            <a:off x="1470930" y="3169159"/>
            <a:ext cx="8913813"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1.x. TÊN MỤC CON (NẾU CÓ)</a:t>
            </a:r>
          </a:p>
        </p:txBody>
      </p:sp>
      <p:sp>
        <p:nvSpPr>
          <p:cNvPr id="37" name="Text Placeholder 36">
            <a:extLst>
              <a:ext uri="{FF2B5EF4-FFF2-40B4-BE49-F238E27FC236}">
                <a16:creationId xmlns:a16="http://schemas.microsoft.com/office/drawing/2014/main" id="{BE1131F0-02AD-0F75-0384-22C665D9450D}"/>
              </a:ext>
            </a:extLst>
          </p:cNvPr>
          <p:cNvSpPr>
            <a:spLocks noGrp="1"/>
          </p:cNvSpPr>
          <p:nvPr userDrawn="1">
            <p:ph type="body" sz="quarter" idx="15" hasCustomPrompt="1"/>
          </p:nvPr>
        </p:nvSpPr>
        <p:spPr>
          <a:xfrm>
            <a:off x="1470930" y="4137397"/>
            <a:ext cx="7147030" cy="916698"/>
          </a:xfrm>
        </p:spPr>
        <p:txBody>
          <a:bodyPr anchor="ctr">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sp>
        <p:nvSpPr>
          <p:cNvPr id="39" name="Text Placeholder 38">
            <a:extLst>
              <a:ext uri="{FF2B5EF4-FFF2-40B4-BE49-F238E27FC236}">
                <a16:creationId xmlns:a16="http://schemas.microsoft.com/office/drawing/2014/main" id="{9E2EB23E-8F15-CEEB-55D8-12309376C6F8}"/>
              </a:ext>
            </a:extLst>
          </p:cNvPr>
          <p:cNvSpPr>
            <a:spLocks noGrp="1"/>
          </p:cNvSpPr>
          <p:nvPr>
            <p:ph type="body" sz="quarter" idx="16" hasCustomPrompt="1"/>
          </p:nvPr>
        </p:nvSpPr>
        <p:spPr>
          <a:xfrm>
            <a:off x="8896576" y="5231902"/>
            <a:ext cx="2521280" cy="1577819"/>
          </a:xfrm>
        </p:spPr>
        <p:txBody>
          <a:bodyPr>
            <a:normAutofit/>
          </a:bodyPr>
          <a:lstStyle>
            <a:lvl1pPr marL="0" indent="0" algn="r" defTabSz="914400" rtl="0" eaLnBrk="1" latinLnBrk="0" hangingPunct="1">
              <a:buNone/>
              <a:defRPr lang="en-VN" sz="120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01.</a:t>
            </a:r>
          </a:p>
        </p:txBody>
      </p:sp>
      <p:cxnSp>
        <p:nvCxnSpPr>
          <p:cNvPr id="41" name="Straight Connector 40">
            <a:extLst>
              <a:ext uri="{FF2B5EF4-FFF2-40B4-BE49-F238E27FC236}">
                <a16:creationId xmlns:a16="http://schemas.microsoft.com/office/drawing/2014/main" id="{88382EF5-131E-F7DD-C939-044C31C113C7}"/>
              </a:ext>
            </a:extLst>
          </p:cNvPr>
          <p:cNvCxnSpPr/>
          <p:nvPr userDrawn="1"/>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8382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September 4, 2023</a:t>
            </a:fld>
            <a:endParaRPr lang="en-US" dirty="0"/>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3677478"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3759342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Trang trốn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FCF4205-FE69-B110-BFEC-96C243E846C8}"/>
              </a:ext>
            </a:extLst>
          </p:cNvPr>
          <p:cNvSpPr>
            <a:spLocks noGrp="1"/>
          </p:cNvSpPr>
          <p:nvPr>
            <p:ph type="ftr" sz="quarter" idx="11"/>
          </p:nvPr>
        </p:nvSpPr>
        <p:spPr>
          <a:xfrm>
            <a:off x="3684104" y="6481647"/>
            <a:ext cx="4823792"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5" name="Freeform 4">
            <a:extLst>
              <a:ext uri="{FF2B5EF4-FFF2-40B4-BE49-F238E27FC236}">
                <a16:creationId xmlns:a16="http://schemas.microsoft.com/office/drawing/2014/main" id="{7B001B7A-ACFD-E95F-12D9-19AAE5D26050}"/>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Isosceles Triangle 12">
            <a:extLst>
              <a:ext uri="{FF2B5EF4-FFF2-40B4-BE49-F238E27FC236}">
                <a16:creationId xmlns:a16="http://schemas.microsoft.com/office/drawing/2014/main" id="{EC54FC6D-4EA2-05B8-622E-978CA44EE451}"/>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686BFCC2-A4FC-FD21-E540-274D8A5E86A6}"/>
              </a:ext>
            </a:extLst>
          </p:cNvPr>
          <p:cNvGrpSpPr/>
          <p:nvPr userDrawn="1"/>
        </p:nvGrpSpPr>
        <p:grpSpPr>
          <a:xfrm>
            <a:off x="58527" y="40944"/>
            <a:ext cx="2869771" cy="1563379"/>
            <a:chOff x="44879" y="27296"/>
            <a:chExt cx="2869771" cy="1563379"/>
          </a:xfrm>
          <a:solidFill>
            <a:srgbClr val="0072FF"/>
          </a:solidFill>
        </p:grpSpPr>
        <p:cxnSp>
          <p:nvCxnSpPr>
            <p:cNvPr id="8" name="Straight Connector 7">
              <a:extLst>
                <a:ext uri="{FF2B5EF4-FFF2-40B4-BE49-F238E27FC236}">
                  <a16:creationId xmlns:a16="http://schemas.microsoft.com/office/drawing/2014/main" id="{FE02FF7A-C97B-6315-EE50-502DD70172C7}"/>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FBB8E8B-5D54-0BE8-2B45-A52136DC7C1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26865F1-6407-106A-3054-46BDFFCABBCE}"/>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1" name="Isosceles Triangle 12">
            <a:extLst>
              <a:ext uri="{FF2B5EF4-FFF2-40B4-BE49-F238E27FC236}">
                <a16:creationId xmlns:a16="http://schemas.microsoft.com/office/drawing/2014/main" id="{F7A0C3F8-4035-744F-55A7-EA06C1D5C7EA}"/>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CC9E4668-1010-687F-A942-6C4D5A705103}"/>
              </a:ext>
            </a:extLst>
          </p:cNvPr>
          <p:cNvGrpSpPr/>
          <p:nvPr userDrawn="1"/>
        </p:nvGrpSpPr>
        <p:grpSpPr>
          <a:xfrm flipH="1" flipV="1">
            <a:off x="9263702" y="5253677"/>
            <a:ext cx="2869771" cy="1563379"/>
            <a:chOff x="44879" y="27296"/>
            <a:chExt cx="2869771" cy="1563379"/>
          </a:xfrm>
          <a:solidFill>
            <a:srgbClr val="0072FF"/>
          </a:solidFill>
        </p:grpSpPr>
        <p:cxnSp>
          <p:nvCxnSpPr>
            <p:cNvPr id="13" name="Straight Connector 12">
              <a:extLst>
                <a:ext uri="{FF2B5EF4-FFF2-40B4-BE49-F238E27FC236}">
                  <a16:creationId xmlns:a16="http://schemas.microsoft.com/office/drawing/2014/main" id="{5C38CE8D-69BB-4124-0995-8FFFD3591CF4}"/>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67A915F-DF8B-DE38-6935-2EF2855BD441}"/>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9EE0435-0ACC-2AB8-1B9F-A6029A49FCEA}"/>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6" name="Oval 15">
            <a:extLst>
              <a:ext uri="{FF2B5EF4-FFF2-40B4-BE49-F238E27FC236}">
                <a16:creationId xmlns:a16="http://schemas.microsoft.com/office/drawing/2014/main" id="{193E2330-6133-BE87-4D2E-C83A58844D20}"/>
              </a:ext>
            </a:extLst>
          </p:cNvPr>
          <p:cNvSpPr/>
          <p:nvPr userDrawn="1"/>
        </p:nvSpPr>
        <p:spPr>
          <a:xfrm>
            <a:off x="11926541" y="6589084"/>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A037ACE3-8FB7-24F0-3868-FE9125A2AECB}"/>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CA5D02D-0007-4DC9-960D-BEF3BFABF7BF}"/>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0C732A1-B62D-CEEA-BA05-6809BA51F8BD}"/>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F4BF2B8-4151-6AB5-64CB-17CA8871FA1F}"/>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EAEE115-474E-0C83-1F8A-40C90DC3E1A5}"/>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8BB15EA-009D-0AD0-1DD5-9E5E43B737E1}"/>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A picture containing clipart, vector graphics&#10;&#10;Description automatically generated">
            <a:extLst>
              <a:ext uri="{FF2B5EF4-FFF2-40B4-BE49-F238E27FC236}">
                <a16:creationId xmlns:a16="http://schemas.microsoft.com/office/drawing/2014/main" id="{0750E473-BE75-9843-7989-024278E0E26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4" name="Slide Number Placeholder 3">
            <a:extLst>
              <a:ext uri="{FF2B5EF4-FFF2-40B4-BE49-F238E27FC236}">
                <a16:creationId xmlns:a16="http://schemas.microsoft.com/office/drawing/2014/main" id="{807543E0-8536-7E05-8D77-79C6CEA07DB9}"/>
              </a:ext>
            </a:extLst>
          </p:cNvPr>
          <p:cNvSpPr>
            <a:spLocks noGrp="1"/>
          </p:cNvSpPr>
          <p:nvPr>
            <p:ph type="sldNum" sz="quarter" idx="12"/>
          </p:nvPr>
        </p:nvSpPr>
        <p:spPr>
          <a:xfrm>
            <a:off x="11897699" y="6560242"/>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2" name="Date Placeholder 1">
            <a:extLst>
              <a:ext uri="{FF2B5EF4-FFF2-40B4-BE49-F238E27FC236}">
                <a16:creationId xmlns:a16="http://schemas.microsoft.com/office/drawing/2014/main" id="{90AD0C70-2015-36A0-DCB1-0E2322D0D364}"/>
              </a:ext>
            </a:extLst>
          </p:cNvPr>
          <p:cNvSpPr>
            <a:spLocks noGrp="1"/>
          </p:cNvSpPr>
          <p:nvPr>
            <p:ph type="dt" sz="half" idx="13"/>
          </p:nvPr>
        </p:nvSpPr>
        <p:spPr>
          <a:xfrm>
            <a:off x="838200" y="6481647"/>
            <a:ext cx="2148299"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September 4, 2023</a:t>
            </a:fld>
            <a:endParaRPr lang="en-US" dirty="0"/>
          </a:p>
        </p:txBody>
      </p:sp>
    </p:spTree>
    <p:extLst>
      <p:ext uri="{BB962C8B-B14F-4D97-AF65-F5344CB8AC3E}">
        <p14:creationId xmlns:p14="http://schemas.microsoft.com/office/powerpoint/2010/main" val="13948537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êu đề">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54F319A-62FB-D9AB-91DD-E1478E7A521A}"/>
              </a:ext>
            </a:extLst>
          </p:cNvPr>
          <p:cNvSpPr>
            <a:spLocks noGrp="1"/>
          </p:cNvSpPr>
          <p:nvPr>
            <p:ph type="ftr" sz="quarter" idx="11"/>
          </p:nvPr>
        </p:nvSpPr>
        <p:spPr>
          <a:xfrm>
            <a:off x="2353680" y="6480629"/>
            <a:ext cx="4288103" cy="236770"/>
          </a:xfrm>
        </p:spPr>
        <p:txBody>
          <a:bodyPr/>
          <a:lstStyle>
            <a:lvl1pPr algn="l">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sp>
        <p:nvSpPr>
          <p:cNvPr id="7" name="Freeform 6">
            <a:extLst>
              <a:ext uri="{FF2B5EF4-FFF2-40B4-BE49-F238E27FC236}">
                <a16:creationId xmlns:a16="http://schemas.microsoft.com/office/drawing/2014/main" id="{88E55FBA-E532-BB1F-9AD4-40205F001925}"/>
              </a:ext>
            </a:extLst>
          </p:cNvPr>
          <p:cNvSpPr/>
          <p:nvPr userDrawn="1"/>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12">
            <a:extLst>
              <a:ext uri="{FF2B5EF4-FFF2-40B4-BE49-F238E27FC236}">
                <a16:creationId xmlns:a16="http://schemas.microsoft.com/office/drawing/2014/main" id="{BF14C68C-3577-C657-9E87-056612AF8E42}"/>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B88E437-A7E4-9E4B-E374-2DBE3AB8DADD}"/>
              </a:ext>
            </a:extLst>
          </p:cNvPr>
          <p:cNvGrpSpPr/>
          <p:nvPr userDrawn="1"/>
        </p:nvGrpSpPr>
        <p:grpSpPr>
          <a:xfrm>
            <a:off x="58527" y="40944"/>
            <a:ext cx="2869771" cy="1563379"/>
            <a:chOff x="44879" y="27296"/>
            <a:chExt cx="2869771" cy="1563379"/>
          </a:xfrm>
          <a:solidFill>
            <a:srgbClr val="0072FF"/>
          </a:solidFill>
        </p:grpSpPr>
        <p:cxnSp>
          <p:nvCxnSpPr>
            <p:cNvPr id="10" name="Straight Connector 9">
              <a:extLst>
                <a:ext uri="{FF2B5EF4-FFF2-40B4-BE49-F238E27FC236}">
                  <a16:creationId xmlns:a16="http://schemas.microsoft.com/office/drawing/2014/main" id="{F4A3AA59-2194-A31F-AA96-7C291846580A}"/>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C352A7-0B18-D7E9-465D-F3B1274BB055}"/>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1A6BB9-0E9C-8F74-60DB-2DA463D47FDB}"/>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a:extLst>
              <a:ext uri="{FF2B5EF4-FFF2-40B4-BE49-F238E27FC236}">
                <a16:creationId xmlns:a16="http://schemas.microsoft.com/office/drawing/2014/main" id="{1DA43496-358A-E9F0-8CFC-6A952BD4F3E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593DC9D-C96B-54B0-5413-508E29245B5C}"/>
              </a:ext>
            </a:extLst>
          </p:cNvPr>
          <p:cNvGrpSpPr/>
          <p:nvPr userDrawn="1"/>
        </p:nvGrpSpPr>
        <p:grpSpPr>
          <a:xfrm flipH="1" flipV="1">
            <a:off x="9263702" y="5253677"/>
            <a:ext cx="2869771" cy="1563379"/>
            <a:chOff x="44879" y="27296"/>
            <a:chExt cx="2869771" cy="1563379"/>
          </a:xfrm>
          <a:solidFill>
            <a:srgbClr val="0072FF"/>
          </a:solidFill>
        </p:grpSpPr>
        <p:cxnSp>
          <p:nvCxnSpPr>
            <p:cNvPr id="15" name="Straight Connector 14">
              <a:extLst>
                <a:ext uri="{FF2B5EF4-FFF2-40B4-BE49-F238E27FC236}">
                  <a16:creationId xmlns:a16="http://schemas.microsoft.com/office/drawing/2014/main" id="{81C856C5-8D5F-4945-AAA3-959D25DF2A5E}"/>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FA7FF3-8245-17A0-DB3A-F0257D516679}"/>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1A1CF5-6C4E-34E9-65C0-4B4D78575756}"/>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8" name="Freeform 17">
            <a:extLst>
              <a:ext uri="{FF2B5EF4-FFF2-40B4-BE49-F238E27FC236}">
                <a16:creationId xmlns:a16="http://schemas.microsoft.com/office/drawing/2014/main" id="{3366D05A-8A62-ADE1-F4B2-73F9CA085276}"/>
              </a:ext>
            </a:extLst>
          </p:cNvPr>
          <p:cNvSpPr/>
          <p:nvPr userDrawn="1"/>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19" name="Freeform 18">
            <a:extLst>
              <a:ext uri="{FF2B5EF4-FFF2-40B4-BE49-F238E27FC236}">
                <a16:creationId xmlns:a16="http://schemas.microsoft.com/office/drawing/2014/main" id="{E7E6E6A9-35CE-D953-F678-DB52C8ED6EC1}"/>
              </a:ext>
            </a:extLst>
          </p:cNvPr>
          <p:cNvSpPr/>
          <p:nvPr userDrawn="1"/>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23" name="Picture 22" descr="A picture containing clipart, vector graphics&#10;&#10;Description automatically generated">
            <a:extLst>
              <a:ext uri="{FF2B5EF4-FFF2-40B4-BE49-F238E27FC236}">
                <a16:creationId xmlns:a16="http://schemas.microsoft.com/office/drawing/2014/main" id="{314FA3D3-A61E-753A-BCC3-7785EC3F2C1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4" name="TextBox 23">
            <a:extLst>
              <a:ext uri="{FF2B5EF4-FFF2-40B4-BE49-F238E27FC236}">
                <a16:creationId xmlns:a16="http://schemas.microsoft.com/office/drawing/2014/main" id="{3272C38A-5DF7-B873-F169-2EA590FF1122}"/>
              </a:ext>
            </a:extLst>
          </p:cNvPr>
          <p:cNvSpPr txBox="1"/>
          <p:nvPr userDrawn="1"/>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
        <p:nvSpPr>
          <p:cNvPr id="26" name="Oval 25">
            <a:extLst>
              <a:ext uri="{FF2B5EF4-FFF2-40B4-BE49-F238E27FC236}">
                <a16:creationId xmlns:a16="http://schemas.microsoft.com/office/drawing/2014/main" id="{390A5A10-F9AF-733C-8C7D-94D87B311EF5}"/>
              </a:ext>
            </a:extLst>
          </p:cNvPr>
          <p:cNvSpPr/>
          <p:nvPr/>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2E21DEB9-E93C-A8E4-074F-F195EB1D8ABF}"/>
              </a:ext>
            </a:extLst>
          </p:cNvPr>
          <p:cNvSpPr>
            <a:spLocks noGrp="1" noChangeAspect="1"/>
          </p:cNvSpPr>
          <p:nvPr>
            <p:ph type="sldNum" sz="quarter" idx="12"/>
          </p:nvPr>
        </p:nvSpPr>
        <p:spPr>
          <a:xfrm>
            <a:off x="11894359" y="6566401"/>
            <a:ext cx="291600" cy="291600"/>
          </a:xfrm>
          <a:prstGeom prst="rect">
            <a:avLst/>
          </a:prstGeom>
        </p:spPr>
        <p:txBody>
          <a:bodyPr vert="horz" lIns="91440" tIns="45720" rIns="91440" bIns="45720" rtlCol="0" anchor="ctr"/>
          <a:lstStyle>
            <a:lvl1pPr>
              <a:defRPr lang="en-VN" sz="700" smtClean="0">
                <a:solidFill>
                  <a:schemeClr val="tx1"/>
                </a:solidFill>
                <a:latin typeface="Arial" panose="020B0604020202020204" pitchFamily="34" charset="0"/>
                <a:cs typeface="Arial" panose="020B0604020202020204" pitchFamily="34" charset="0"/>
              </a:defRPr>
            </a:lvl1pPr>
          </a:lstStyle>
          <a:p>
            <a:pPr algn="ctr"/>
            <a:fld id="{D8B0B3AC-44A8-D142-AAF6-9A453466E1A4}" type="slidenum">
              <a:rPr lang="en-VN" smtClean="0"/>
              <a:pPr algn="ctr"/>
              <a:t>‹#›</a:t>
            </a:fld>
            <a:endParaRPr lang="en-VN" dirty="0"/>
          </a:p>
        </p:txBody>
      </p:sp>
      <p:sp>
        <p:nvSpPr>
          <p:cNvPr id="34" name="Text Placeholder 33">
            <a:extLst>
              <a:ext uri="{FF2B5EF4-FFF2-40B4-BE49-F238E27FC236}">
                <a16:creationId xmlns:a16="http://schemas.microsoft.com/office/drawing/2014/main" id="{C4981174-E1E5-D0CF-F74E-4BBA287A5C73}"/>
              </a:ext>
            </a:extLst>
          </p:cNvPr>
          <p:cNvSpPr>
            <a:spLocks noGrp="1"/>
          </p:cNvSpPr>
          <p:nvPr>
            <p:ph type="body" sz="quarter" idx="13" hasCustomPrompt="1"/>
          </p:nvPr>
        </p:nvSpPr>
        <p:spPr>
          <a:xfrm>
            <a:off x="1850807" y="2208158"/>
            <a:ext cx="8490387" cy="696165"/>
          </a:xfrm>
        </p:spPr>
        <p:txBody>
          <a:bodyPr anchor="ctr">
            <a:normAutofit/>
          </a:bodyPr>
          <a:lstStyle>
            <a:lvl1pPr marL="0" indent="0" algn="ctr" defTabSz="914400" rtl="0" eaLnBrk="1" latinLnBrk="0" hangingPunct="1">
              <a:buNone/>
              <a:defRPr lang="en-VN" sz="4400" b="1" kern="1200" dirty="0">
                <a:ln>
                  <a:gradFill>
                    <a:gsLst>
                      <a:gs pos="0">
                        <a:srgbClr val="000046"/>
                      </a:gs>
                      <a:gs pos="100000">
                        <a:srgbClr val="1CB5E0"/>
                      </a:gs>
                    </a:gsLst>
                    <a:lin ang="5400000" scaled="1"/>
                  </a:gradFill>
                </a:ln>
                <a:noFill/>
                <a:latin typeface="Arial" panose="020B0604020202020204" pitchFamily="34" charset="0"/>
                <a:ea typeface="+mn-ea"/>
                <a:cs typeface="Arial" panose="020B0604020202020204" pitchFamily="34" charset="0"/>
              </a:defRPr>
            </a:lvl1pPr>
          </a:lstStyle>
          <a:p>
            <a:pPr lvl="0"/>
            <a:r>
              <a:rPr lang="en-VN" dirty="0"/>
              <a:t>TÊN MÔN HỌC</a:t>
            </a:r>
          </a:p>
        </p:txBody>
      </p:sp>
      <p:sp>
        <p:nvSpPr>
          <p:cNvPr id="36" name="Text Placeholder 35">
            <a:extLst>
              <a:ext uri="{FF2B5EF4-FFF2-40B4-BE49-F238E27FC236}">
                <a16:creationId xmlns:a16="http://schemas.microsoft.com/office/drawing/2014/main" id="{F1F814F0-EAC8-84E1-83C4-B5C359387C5C}"/>
              </a:ext>
            </a:extLst>
          </p:cNvPr>
          <p:cNvSpPr>
            <a:spLocks noGrp="1"/>
          </p:cNvSpPr>
          <p:nvPr>
            <p:ph type="body" sz="quarter" idx="14" hasCustomPrompt="1"/>
          </p:nvPr>
        </p:nvSpPr>
        <p:spPr>
          <a:xfrm>
            <a:off x="876991" y="3039455"/>
            <a:ext cx="10438019" cy="459447"/>
          </a:xfrm>
        </p:spPr>
        <p:txBody>
          <a:bodyPr anchor="ctr">
            <a:normAutofit/>
          </a:bodyPr>
          <a:lstStyle>
            <a:lvl1pPr marL="0" indent="0" algn="ctr" defTabSz="914400" rtl="0" eaLnBrk="1" latinLnBrk="0" hangingPunct="1">
              <a:buNone/>
              <a:defRPr lang="en-VN" sz="2000" b="1" kern="1200" dirty="0">
                <a:gradFill>
                  <a:gsLst>
                    <a:gs pos="0">
                      <a:srgbClr val="000046"/>
                    </a:gs>
                    <a:gs pos="100000">
                      <a:srgbClr val="1CB5E0"/>
                    </a:gs>
                  </a:gsLst>
                  <a:lin ang="2700000" scaled="1"/>
                </a:gradFill>
                <a:effectLst>
                  <a:innerShdw blurRad="114300">
                    <a:schemeClr val="bg1"/>
                  </a:innerShdw>
                </a:effectLst>
                <a:latin typeface="Times New Roman" panose="02020603050405020304" pitchFamily="18" charset="0"/>
                <a:ea typeface="+mn-ea"/>
                <a:cs typeface="Times New Roman" panose="02020603050405020304" pitchFamily="18" charset="0"/>
              </a:defRPr>
            </a:lvl1pPr>
          </a:lstStyle>
          <a:p>
            <a:pPr lvl="0"/>
            <a:r>
              <a:rPr lang="en-VN" dirty="0"/>
              <a:t>CHƯƠNG X: TÊN CHƯƠNG</a:t>
            </a:r>
          </a:p>
        </p:txBody>
      </p:sp>
      <p:sp>
        <p:nvSpPr>
          <p:cNvPr id="42" name="Text Placeholder 41">
            <a:extLst>
              <a:ext uri="{FF2B5EF4-FFF2-40B4-BE49-F238E27FC236}">
                <a16:creationId xmlns:a16="http://schemas.microsoft.com/office/drawing/2014/main" id="{2B8543E7-0085-7DF3-5351-E097219BEE40}"/>
              </a:ext>
            </a:extLst>
          </p:cNvPr>
          <p:cNvSpPr>
            <a:spLocks noGrp="1"/>
          </p:cNvSpPr>
          <p:nvPr>
            <p:ph type="body" sz="quarter" idx="15" hasCustomPrompt="1"/>
          </p:nvPr>
        </p:nvSpPr>
        <p:spPr>
          <a:xfrm>
            <a:off x="4680970" y="4963048"/>
            <a:ext cx="2830058" cy="345005"/>
          </a:xfrm>
          <a:gradFill>
            <a:gsLst>
              <a:gs pos="0">
                <a:srgbClr val="0072FF"/>
              </a:gs>
              <a:gs pos="100000">
                <a:srgbClr val="00C6FF"/>
              </a:gs>
            </a:gsLst>
            <a:lin ang="2700000" scaled="1"/>
          </a:gradFill>
        </p:spPr>
        <p:txBody>
          <a:bodyPr anchor="ctr">
            <a:normAutofit/>
          </a:bodyPr>
          <a:lstStyle>
            <a:lvl1pPr marL="0" indent="0" algn="ctr">
              <a:buNone/>
              <a:defRPr sz="1400" b="1" i="0">
                <a:solidFill>
                  <a:schemeClr val="bg1"/>
                </a:solidFill>
                <a:latin typeface="Times New Roman" panose="02020603050405020304" pitchFamily="18" charset="0"/>
                <a:cs typeface="Times New Roman" panose="02020603050405020304" pitchFamily="18" charset="0"/>
              </a:defRPr>
            </a:lvl1pPr>
          </a:lstStyle>
          <a:p>
            <a:pPr lvl="0"/>
            <a:r>
              <a:rPr lang="en-VN" dirty="0"/>
              <a:t>Trình bày: Tên Giảng viên</a:t>
            </a:r>
          </a:p>
        </p:txBody>
      </p:sp>
      <p:sp>
        <p:nvSpPr>
          <p:cNvPr id="46" name="Text Placeholder 45">
            <a:extLst>
              <a:ext uri="{FF2B5EF4-FFF2-40B4-BE49-F238E27FC236}">
                <a16:creationId xmlns:a16="http://schemas.microsoft.com/office/drawing/2014/main" id="{18BC0B81-9708-34C0-3CBB-EA50270B9105}"/>
              </a:ext>
            </a:extLst>
          </p:cNvPr>
          <p:cNvSpPr>
            <a:spLocks noGrp="1"/>
          </p:cNvSpPr>
          <p:nvPr>
            <p:ph type="body" sz="quarter" idx="16" hasCustomPrompt="1"/>
          </p:nvPr>
        </p:nvSpPr>
        <p:spPr>
          <a:xfrm>
            <a:off x="1850807" y="3630811"/>
            <a:ext cx="8490387" cy="644210"/>
          </a:xfrm>
        </p:spPr>
        <p:txBody>
          <a:bodyPr anchor="ctr">
            <a:normAutofit/>
          </a:bodyPr>
          <a:lstStyle>
            <a:lvl1pPr marL="0" indent="0" algn="ctr">
              <a:buNone/>
              <a:defRPr sz="1200" spc="150" baseline="0">
                <a:solidFill>
                  <a:schemeClr val="bg1">
                    <a:lumMod val="75000"/>
                  </a:schemeClr>
                </a:solidFill>
                <a:latin typeface="Times New Roman" panose="02020603050405020304" pitchFamily="18" charset="0"/>
                <a:cs typeface="Times New Roman" panose="02020603050405020304" pitchFamily="18" charset="0"/>
              </a:defRPr>
            </a:lvl1pPr>
          </a:lstStyle>
          <a:p>
            <a:pPr lvl="0"/>
            <a:r>
              <a:rPr lang="en-US" dirty="0"/>
              <a:t>(</a:t>
            </a:r>
            <a:r>
              <a:rPr lang="en-US" dirty="0" err="1"/>
              <a:t>Tóm</a:t>
            </a:r>
            <a:r>
              <a:rPr lang="en-US" dirty="0"/>
              <a:t> </a:t>
            </a:r>
            <a:r>
              <a:rPr lang="en-US" dirty="0" err="1"/>
              <a:t>tắt</a:t>
            </a:r>
            <a:r>
              <a:rPr lang="en-US" dirty="0"/>
              <a:t> </a:t>
            </a:r>
            <a:r>
              <a:rPr lang="en-US" dirty="0" err="1"/>
              <a:t>nếu</a:t>
            </a:r>
            <a:r>
              <a:rPr lang="en-US" dirty="0"/>
              <a:t> </a:t>
            </a:r>
            <a:r>
              <a:rPr lang="en-US" dirty="0" err="1"/>
              <a:t>có</a:t>
            </a:r>
            <a:r>
              <a:rPr lang="en-US" dirty="0"/>
              <a:t>): Lorem ipsum dolor sit amet, consectetuer adipiscing elit. Maecenas porttitor congue massa. Fusce posuere, magna sed pulvinar ultricies, purus lectus malesuada libero, sit amet commodo magna eros quis </a:t>
            </a:r>
            <a:r>
              <a:rPr lang="en-US" dirty="0" err="1"/>
              <a:t>urna</a:t>
            </a:r>
            <a:r>
              <a:rPr lang="en-US" dirty="0"/>
              <a:t>.</a:t>
            </a:r>
            <a:endParaRPr lang="en-VN" dirty="0"/>
          </a:p>
        </p:txBody>
      </p:sp>
      <p:sp>
        <p:nvSpPr>
          <p:cNvPr id="2" name="Date Placeholder 1">
            <a:extLst>
              <a:ext uri="{FF2B5EF4-FFF2-40B4-BE49-F238E27FC236}">
                <a16:creationId xmlns:a16="http://schemas.microsoft.com/office/drawing/2014/main" id="{98B28119-6BAB-C115-873B-3333E0D709F1}"/>
              </a:ext>
            </a:extLst>
          </p:cNvPr>
          <p:cNvSpPr>
            <a:spLocks noGrp="1"/>
          </p:cNvSpPr>
          <p:nvPr>
            <p:ph type="dt" sz="half" idx="17"/>
          </p:nvPr>
        </p:nvSpPr>
        <p:spPr>
          <a:xfrm>
            <a:off x="6767806" y="6476999"/>
            <a:ext cx="2495896" cy="236763"/>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September 4, 2023</a:t>
            </a:fld>
            <a:endParaRPr lang="en-US" dirty="0"/>
          </a:p>
        </p:txBody>
      </p:sp>
    </p:spTree>
    <p:extLst>
      <p:ext uri="{BB962C8B-B14F-4D97-AF65-F5344CB8AC3E}">
        <p14:creationId xmlns:p14="http://schemas.microsoft.com/office/powerpoint/2010/main" val="36952346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userDrawn="1"/>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grpSp>
        <p:nvGrpSpPr>
          <p:cNvPr id="36" name="Group 35">
            <a:extLst>
              <a:ext uri="{FF2B5EF4-FFF2-40B4-BE49-F238E27FC236}">
                <a16:creationId xmlns:a16="http://schemas.microsoft.com/office/drawing/2014/main" id="{11E5AAB4-F14E-4F9C-E123-7635A7EF6275}"/>
              </a:ext>
            </a:extLst>
          </p:cNvPr>
          <p:cNvGrpSpPr/>
          <p:nvPr userDrawn="1"/>
        </p:nvGrpSpPr>
        <p:grpSpPr>
          <a:xfrm>
            <a:off x="-1259888"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userDrawn="1"/>
        </p:nvGrpSpPr>
        <p:grpSpPr>
          <a:xfrm flipH="1">
            <a:off x="8607643"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userDrawn="1"/>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11900400" y="6566400"/>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0" name="TextBox 69">
            <a:extLst>
              <a:ext uri="{FF2B5EF4-FFF2-40B4-BE49-F238E27FC236}">
                <a16:creationId xmlns:a16="http://schemas.microsoft.com/office/drawing/2014/main" id="{03E32705-3D72-A324-09E4-62DB4F73E8B8}"/>
              </a:ext>
            </a:extLst>
          </p:cNvPr>
          <p:cNvSpPr txBox="1"/>
          <p:nvPr userDrawn="1"/>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r>
              <a:rPr lang="en-VN" sz="3600" b="1" dirty="0">
                <a:solidFill>
                  <a:schemeClr val="bg1"/>
                </a:solidFill>
                <a:latin typeface="Times New Roman" panose="02020603050405020304" pitchFamily="18" charset="0"/>
                <a:cs typeface="Times New Roman" panose="02020603050405020304" pitchFamily="18" charset="0"/>
              </a:rPr>
              <a:t>NỘI DUNG</a:t>
            </a: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735144" y="1286346"/>
            <a:ext cx="6721714" cy="4699000"/>
          </a:xfrm>
        </p:spPr>
        <p:txBody>
          <a:bodyPr anchor="ctr">
            <a:normAutofit/>
          </a:bodyPr>
          <a:lstStyle>
            <a:lvl1pPr marL="514350" indent="-514350" algn="just">
              <a:buFont typeface="+mj-lt"/>
              <a:buAutoNum type="arabicPeriod"/>
              <a:defRPr sz="22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userDrawn="1"/>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userDrawn="1"/>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pic>
        <p:nvPicPr>
          <p:cNvPr id="86" name="Picture 85" descr="A picture containing clipart, vector graphics&#10;&#10;Description automatically generated">
            <a:extLst>
              <a:ext uri="{FF2B5EF4-FFF2-40B4-BE49-F238E27FC236}">
                <a16:creationId xmlns:a16="http://schemas.microsoft.com/office/drawing/2014/main" id="{59A81B3C-3C09-2267-567B-AD3F47296CD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September 4, 2023</a:t>
            </a:fld>
            <a:endParaRPr lang="en-US" dirty="0"/>
          </a:p>
        </p:txBody>
      </p:sp>
    </p:spTree>
    <p:extLst>
      <p:ext uri="{BB962C8B-B14F-4D97-AF65-F5344CB8AC3E}">
        <p14:creationId xmlns:p14="http://schemas.microsoft.com/office/powerpoint/2010/main" val="1027483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BCB126-07C1-993D-D40F-CC928946B4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1. TÊN MỤC</a:t>
            </a:r>
            <a:endParaRPr lang="en-VN" dirty="0"/>
          </a:p>
        </p:txBody>
      </p:sp>
      <p:sp>
        <p:nvSpPr>
          <p:cNvPr id="3" name="Text Placeholder 2">
            <a:extLst>
              <a:ext uri="{FF2B5EF4-FFF2-40B4-BE49-F238E27FC236}">
                <a16:creationId xmlns:a16="http://schemas.microsoft.com/office/drawing/2014/main" id="{B5BBBD58-B33F-3C47-5551-9A2A2CE277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83F5A01D-3EDB-1F54-F4EE-AFD1EF9962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CDDB1B-AAE9-1649-A755-11FADEB7E97E}" type="datetime4">
              <a:rPr lang="en-US" smtClean="0"/>
              <a:t>September 4, 2023</a:t>
            </a:fld>
            <a:endParaRPr lang="en-VN"/>
          </a:p>
        </p:txBody>
      </p:sp>
      <p:sp>
        <p:nvSpPr>
          <p:cNvPr id="5" name="Footer Placeholder 4">
            <a:extLst>
              <a:ext uri="{FF2B5EF4-FFF2-40B4-BE49-F238E27FC236}">
                <a16:creationId xmlns:a16="http://schemas.microsoft.com/office/drawing/2014/main" id="{F95D1C7E-53C3-CE2D-B996-7F97021382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Thực hiện bởi Trường Đại học Công nghệ Thông tin, ĐHQG-HCM</a:t>
            </a:r>
            <a:endParaRPr lang="en-VN"/>
          </a:p>
        </p:txBody>
      </p:sp>
      <p:sp>
        <p:nvSpPr>
          <p:cNvPr id="6" name="Slide Number Placeholder 5">
            <a:extLst>
              <a:ext uri="{FF2B5EF4-FFF2-40B4-BE49-F238E27FC236}">
                <a16:creationId xmlns:a16="http://schemas.microsoft.com/office/drawing/2014/main" id="{1A91A76A-6303-F16B-A578-8E129753AC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0B3AC-44A8-D142-AAF6-9A453466E1A4}" type="slidenum">
              <a:rPr lang="en-VN" smtClean="0"/>
              <a:t>‹#›</a:t>
            </a:fld>
            <a:endParaRPr lang="en-VN"/>
          </a:p>
        </p:txBody>
      </p:sp>
    </p:spTree>
    <p:extLst>
      <p:ext uri="{BB962C8B-B14F-4D97-AF65-F5344CB8AC3E}">
        <p14:creationId xmlns:p14="http://schemas.microsoft.com/office/powerpoint/2010/main" val="5029843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49" r:id="rId15"/>
    <p:sldLayoutId id="2147483664" r:id="rId16"/>
  </p:sldLayoutIdLst>
  <p:hf hdr="0"/>
  <p:txStyles>
    <p:titleStyle>
      <a:lvl1pPr algn="l" defTabSz="914400" rtl="0" eaLnBrk="1" latinLnBrk="0" hangingPunct="1">
        <a:lnSpc>
          <a:spcPct val="90000"/>
        </a:lnSpc>
        <a:spcBef>
          <a:spcPct val="0"/>
        </a:spcBef>
        <a:buNone/>
        <a:defRPr sz="40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Visio_Drawing1.vsdx"/><Relationship Id="rId7"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package" Target="../embeddings/Microsoft_Visio_Drawing2.vsdx"/><Relationship Id="rId5" Type="http://schemas.openxmlformats.org/officeDocument/2006/relationships/image" Target="../media/image7.png"/><Relationship Id="rId4" Type="http://schemas.openxmlformats.org/officeDocument/2006/relationships/image" Target="../media/image7.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Visio_Drawing3.vsdx"/><Relationship Id="rId2" Type="http://schemas.openxmlformats.org/officeDocument/2006/relationships/slideLayout" Target="../slideLayouts/slideLayout5.xml"/><Relationship Id="rId1" Type="http://schemas.openxmlformats.org/officeDocument/2006/relationships/tags" Target="../tags/tag1.xml"/><Relationship Id="rId6" Type="http://schemas.openxmlformats.org/officeDocument/2006/relationships/image" Target="../media/image10.jpeg"/><Relationship Id="rId5" Type="http://schemas.openxmlformats.org/officeDocument/2006/relationships/image" Target="../media/image10.png"/><Relationship Id="rId4" Type="http://schemas.openxmlformats.org/officeDocument/2006/relationships/image" Target="../media/image9.emf"/></Relationships>
</file>

<file path=ppt/slides/_rels/slide13.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package" Target="../embeddings/Microsoft_Visio_Drawing5.vsdx"/><Relationship Id="rId7" Type="http://schemas.openxmlformats.org/officeDocument/2006/relationships/package" Target="../embeddings/Microsoft_Visio_Drawing4.vsdx"/><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12.emf"/><Relationship Id="rId5" Type="http://schemas.openxmlformats.org/officeDocument/2006/relationships/package" Target="../embeddings/Microsoft_Visio_Drawing6.vsdx"/><Relationship Id="rId4" Type="http://schemas.openxmlformats.org/officeDocument/2006/relationships/image" Target="../media/image11.emf"/></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Visio_Drawing41.vsdx"/><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11.emf"/><Relationship Id="rId5" Type="http://schemas.openxmlformats.org/officeDocument/2006/relationships/package" Target="../embeddings/Microsoft_Visio_Drawing5.vsdx"/><Relationship Id="rId4" Type="http://schemas.openxmlformats.org/officeDocument/2006/relationships/image" Target="../media/image9.emf"/></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Visio_Drawing7.vsdx"/><Relationship Id="rId2" Type="http://schemas.openxmlformats.org/officeDocument/2006/relationships/image" Target="../media/image13.png"/><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jpeg"/></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Visio_Drawing9.vsdx"/><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20.emf"/></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20.emf"/><Relationship Id="rId4" Type="http://schemas.openxmlformats.org/officeDocument/2006/relationships/package" Target="../embeddings/Microsoft_Visio_Drawing9.vsdx"/></Relationships>
</file>

<file path=ppt/slides/_rels/slide2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wmf"/><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23.wmf"/><Relationship Id="rId9" Type="http://schemas.openxmlformats.org/officeDocument/2006/relationships/image" Target="../media/image21.png"/></Relationships>
</file>

<file path=ppt/slides/_rels/slide22.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image" Target="../media/image28.png"/><Relationship Id="rId7" Type="http://schemas.openxmlformats.org/officeDocument/2006/relationships/image" Target="../media/image24.wmf"/><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23.wmf"/><Relationship Id="rId5" Type="http://schemas.openxmlformats.org/officeDocument/2006/relationships/image" Target="../media/image22.wmf"/><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package" Target="../embeddings/Microsoft_Visio_Drawing8.vsdx"/><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30.emf"/></Relationships>
</file>

<file path=ppt/slides/_rels/slide24.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emf"/><Relationship Id="rId1" Type="http://schemas.openxmlformats.org/officeDocument/2006/relationships/slideLayout" Target="../slideLayouts/slideLayout5.xml"/><Relationship Id="rId6" Type="http://schemas.openxmlformats.org/officeDocument/2006/relationships/image" Target="../media/image35.png"/><Relationship Id="rId5" Type="http://schemas.openxmlformats.org/officeDocument/2006/relationships/image" Target="../media/image34.emf"/><Relationship Id="rId4" Type="http://schemas.openxmlformats.org/officeDocument/2006/relationships/oleObject" Target="../embeddings/oleObject1.bin"/></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oleObject" Target="../embeddings/oleObject2.bin"/><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oleObject" Target="../embeddings/oleObject3.bin"/><Relationship Id="rId1" Type="http://schemas.openxmlformats.org/officeDocument/2006/relationships/slideLayout" Target="../slideLayouts/slideLayout5.xml"/><Relationship Id="rId5" Type="http://schemas.openxmlformats.org/officeDocument/2006/relationships/image" Target="../media/image42.png"/><Relationship Id="rId4" Type="http://schemas.openxmlformats.org/officeDocument/2006/relationships/oleObject" Target="../embeddings/oleObject4.bin"/></Relationships>
</file>

<file path=ppt/slides/_rels/slide3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package" Target="../embeddings/Microsoft_Visio_Drawing10.vsdx"/><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44.emf"/></Relationships>
</file>

<file path=ppt/slides/_rels/slide36.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D72110C-D077-8C1D-3057-3378C02C490F}"/>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6" name="Slide Number Placeholder 5">
            <a:extLst>
              <a:ext uri="{FF2B5EF4-FFF2-40B4-BE49-F238E27FC236}">
                <a16:creationId xmlns:a16="http://schemas.microsoft.com/office/drawing/2014/main" id="{1B88DCF8-0D88-9852-95C4-4F568F0A7200}"/>
              </a:ext>
            </a:extLst>
          </p:cNvPr>
          <p:cNvSpPr>
            <a:spLocks noGrp="1"/>
          </p:cNvSpPr>
          <p:nvPr>
            <p:ph type="sldNum" sz="quarter" idx="12"/>
          </p:nvPr>
        </p:nvSpPr>
        <p:spPr/>
        <p:txBody>
          <a:bodyPr/>
          <a:lstStyle/>
          <a:p>
            <a:fld id="{D8B0B3AC-44A8-D142-AAF6-9A453466E1A4}" type="slidenum">
              <a:rPr lang="en-VN" smtClean="0"/>
              <a:pPr/>
              <a:t>1</a:t>
            </a:fld>
            <a:endParaRPr lang="en-VN" dirty="0"/>
          </a:p>
        </p:txBody>
      </p:sp>
      <p:sp>
        <p:nvSpPr>
          <p:cNvPr id="7" name="Text Placeholder 6">
            <a:extLst>
              <a:ext uri="{FF2B5EF4-FFF2-40B4-BE49-F238E27FC236}">
                <a16:creationId xmlns:a16="http://schemas.microsoft.com/office/drawing/2014/main" id="{11F55CA5-843C-3510-DCA9-291216FC7646}"/>
              </a:ext>
            </a:extLst>
          </p:cNvPr>
          <p:cNvSpPr>
            <a:spLocks noGrp="1"/>
          </p:cNvSpPr>
          <p:nvPr>
            <p:ph type="body" sz="quarter" idx="13"/>
          </p:nvPr>
        </p:nvSpPr>
        <p:spPr/>
        <p:txBody>
          <a:bodyPr>
            <a:normAutofit fontScale="77500" lnSpcReduction="20000"/>
          </a:bodyPr>
          <a:lstStyle/>
          <a:p>
            <a:r>
              <a:rPr lang="en-US"/>
              <a:t>TỔ CHỨC VÀ CẤU TRÚC MÁY TÍNH II</a:t>
            </a:r>
            <a:endParaRPr lang="en-VN" dirty="0"/>
          </a:p>
        </p:txBody>
      </p:sp>
      <p:sp>
        <p:nvSpPr>
          <p:cNvPr id="8" name="Text Placeholder 7">
            <a:extLst>
              <a:ext uri="{FF2B5EF4-FFF2-40B4-BE49-F238E27FC236}">
                <a16:creationId xmlns:a16="http://schemas.microsoft.com/office/drawing/2014/main" id="{A2113BCF-E52A-540A-4540-2833CA1A0E44}"/>
              </a:ext>
            </a:extLst>
          </p:cNvPr>
          <p:cNvSpPr>
            <a:spLocks noGrp="1"/>
          </p:cNvSpPr>
          <p:nvPr>
            <p:ph type="body" sz="quarter" idx="14"/>
          </p:nvPr>
        </p:nvSpPr>
        <p:spPr>
          <a:xfrm>
            <a:off x="876990" y="3062315"/>
            <a:ext cx="10438019" cy="459447"/>
          </a:xfrm>
        </p:spPr>
        <p:txBody>
          <a:bodyPr/>
          <a:lstStyle/>
          <a:p>
            <a:r>
              <a:rPr lang="en-US"/>
              <a:t>CHƯƠNG 5: MẠCH SỐ TRONG MÁY TÍNH</a:t>
            </a:r>
            <a:endParaRPr lang="en-VN"/>
          </a:p>
        </p:txBody>
      </p:sp>
      <p:sp>
        <p:nvSpPr>
          <p:cNvPr id="9" name="Text Placeholder 8">
            <a:extLst>
              <a:ext uri="{FF2B5EF4-FFF2-40B4-BE49-F238E27FC236}">
                <a16:creationId xmlns:a16="http://schemas.microsoft.com/office/drawing/2014/main" id="{4F41A4B7-48D3-1CAE-C056-FDAD586D0469}"/>
              </a:ext>
            </a:extLst>
          </p:cNvPr>
          <p:cNvSpPr>
            <a:spLocks noGrp="1"/>
          </p:cNvSpPr>
          <p:nvPr>
            <p:ph type="body" sz="quarter" idx="15"/>
          </p:nvPr>
        </p:nvSpPr>
        <p:spPr/>
        <p:txBody>
          <a:bodyPr/>
          <a:lstStyle/>
          <a:p>
            <a:r>
              <a:rPr lang="en-US"/>
              <a:t>PHAN ĐÌNH DUY</a:t>
            </a:r>
            <a:endParaRPr lang="en-VN"/>
          </a:p>
        </p:txBody>
      </p:sp>
      <p:sp>
        <p:nvSpPr>
          <p:cNvPr id="10" name="Text Placeholder 9">
            <a:extLst>
              <a:ext uri="{FF2B5EF4-FFF2-40B4-BE49-F238E27FC236}">
                <a16:creationId xmlns:a16="http://schemas.microsoft.com/office/drawing/2014/main" id="{A673612D-1002-64DC-D3C2-F4E546D79283}"/>
              </a:ext>
            </a:extLst>
          </p:cNvPr>
          <p:cNvSpPr>
            <a:spLocks noGrp="1"/>
          </p:cNvSpPr>
          <p:nvPr>
            <p:ph type="body" sz="quarter" idx="16"/>
          </p:nvPr>
        </p:nvSpPr>
        <p:spPr/>
        <p:txBody>
          <a:bodyPr/>
          <a:lstStyle/>
          <a:p>
            <a:r>
              <a:rPr lang="en-US"/>
              <a:t>Trình bày các thông tin về ứng dụng của các mạch số vào các thành phần bên trong máy tính</a:t>
            </a:r>
            <a:endParaRPr lang="en-VN"/>
          </a:p>
        </p:txBody>
      </p:sp>
    </p:spTree>
    <p:extLst>
      <p:ext uri="{BB962C8B-B14F-4D97-AF65-F5344CB8AC3E}">
        <p14:creationId xmlns:p14="http://schemas.microsoft.com/office/powerpoint/2010/main" val="2980657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EB6FCBF-4D71-BDAD-8392-99213DE0C5A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2" name="Slide Number Placeholder 1">
            <a:extLst>
              <a:ext uri="{FF2B5EF4-FFF2-40B4-BE49-F238E27FC236}">
                <a16:creationId xmlns:a16="http://schemas.microsoft.com/office/drawing/2014/main" id="{9A9BD337-3CBD-0719-2FDF-03E1A46887FD}"/>
              </a:ext>
            </a:extLst>
          </p:cNvPr>
          <p:cNvSpPr>
            <a:spLocks noGrp="1"/>
          </p:cNvSpPr>
          <p:nvPr>
            <p:ph type="sldNum" sz="quarter" idx="12"/>
          </p:nvPr>
        </p:nvSpPr>
        <p:spPr/>
        <p:txBody>
          <a:bodyPr/>
          <a:lstStyle/>
          <a:p>
            <a:fld id="{D8B0B3AC-44A8-D142-AAF6-9A453466E1A4}" type="slidenum">
              <a:rPr lang="en-VN" smtClean="0"/>
              <a:pPr/>
              <a:t>2</a:t>
            </a:fld>
            <a:endParaRPr lang="en-VN" dirty="0"/>
          </a:p>
        </p:txBody>
      </p:sp>
      <p:sp>
        <p:nvSpPr>
          <p:cNvPr id="3" name="Text Placeholder 2">
            <a:extLst>
              <a:ext uri="{FF2B5EF4-FFF2-40B4-BE49-F238E27FC236}">
                <a16:creationId xmlns:a16="http://schemas.microsoft.com/office/drawing/2014/main" id="{2B4CC069-E19E-B22C-6D85-1188A3E8F06F}"/>
              </a:ext>
            </a:extLst>
          </p:cNvPr>
          <p:cNvSpPr>
            <a:spLocks noGrp="1"/>
          </p:cNvSpPr>
          <p:nvPr>
            <p:ph type="body" sz="quarter" idx="13"/>
          </p:nvPr>
        </p:nvSpPr>
        <p:spPr/>
        <p:txBody>
          <a:bodyPr/>
          <a:lstStyle/>
          <a:p>
            <a:r>
              <a:rPr lang="en-US" sz="2800" dirty="0" err="1"/>
              <a:t>Trình</a:t>
            </a:r>
            <a:r>
              <a:rPr lang="en-US" sz="2800" dirty="0"/>
              <a:t> </a:t>
            </a:r>
            <a:r>
              <a:rPr lang="en-US" sz="2800" dirty="0" err="1"/>
              <a:t>bày</a:t>
            </a:r>
            <a:r>
              <a:rPr lang="en-US" sz="2800" dirty="0"/>
              <a:t> </a:t>
            </a:r>
            <a:r>
              <a:rPr lang="en-US" sz="2800" dirty="0" err="1"/>
              <a:t>lại</a:t>
            </a:r>
            <a:r>
              <a:rPr lang="en-US" sz="2800" dirty="0"/>
              <a:t> </a:t>
            </a:r>
            <a:r>
              <a:rPr lang="en-US" sz="2800" dirty="0" err="1"/>
              <a:t>được</a:t>
            </a:r>
            <a:r>
              <a:rPr lang="en-US" sz="2800" dirty="0"/>
              <a:t> </a:t>
            </a:r>
            <a:r>
              <a:rPr lang="en-US" sz="2800" dirty="0" err="1"/>
              <a:t>các</a:t>
            </a:r>
            <a:r>
              <a:rPr lang="en-US" sz="2800" dirty="0"/>
              <a:t> </a:t>
            </a:r>
            <a:r>
              <a:rPr lang="en-US" sz="2800" dirty="0" err="1"/>
              <a:t>mạch</a:t>
            </a:r>
            <a:r>
              <a:rPr lang="en-US" sz="2800" dirty="0"/>
              <a:t> </a:t>
            </a:r>
            <a:r>
              <a:rPr lang="en-US" sz="2800" dirty="0" err="1"/>
              <a:t>số</a:t>
            </a:r>
            <a:r>
              <a:rPr lang="en-US" sz="2800" dirty="0"/>
              <a:t> </a:t>
            </a:r>
            <a:r>
              <a:rPr lang="en-US" sz="2800" dirty="0" err="1"/>
              <a:t>cơ</a:t>
            </a:r>
            <a:r>
              <a:rPr lang="en-US" sz="2800" dirty="0"/>
              <a:t> </a:t>
            </a:r>
            <a:r>
              <a:rPr lang="en-US" sz="2800" dirty="0" err="1"/>
              <a:t>bản</a:t>
            </a:r>
            <a:r>
              <a:rPr lang="en-US" sz="2800" dirty="0"/>
              <a:t> </a:t>
            </a:r>
            <a:r>
              <a:rPr lang="en-US" sz="2800" dirty="0" err="1"/>
              <a:t>trong</a:t>
            </a:r>
            <a:r>
              <a:rPr lang="en-US" sz="2800" dirty="0"/>
              <a:t> </a:t>
            </a:r>
            <a:r>
              <a:rPr lang="en-US" sz="2800" dirty="0" err="1"/>
              <a:t>máy</a:t>
            </a:r>
            <a:r>
              <a:rPr lang="en-US" sz="2800" dirty="0"/>
              <a:t> </a:t>
            </a:r>
            <a:r>
              <a:rPr lang="en-US" sz="2800" dirty="0" err="1"/>
              <a:t>tính</a:t>
            </a:r>
            <a:endParaRPr lang="en-US" sz="2800" dirty="0"/>
          </a:p>
          <a:p>
            <a:r>
              <a:rPr lang="en-US" sz="2800" dirty="0" err="1"/>
              <a:t>Trình</a:t>
            </a:r>
            <a:r>
              <a:rPr lang="en-US" sz="2800" dirty="0"/>
              <a:t> </a:t>
            </a:r>
            <a:r>
              <a:rPr lang="en-US" sz="2800" dirty="0" err="1"/>
              <a:t>bày</a:t>
            </a:r>
            <a:r>
              <a:rPr lang="en-US" sz="2800" dirty="0"/>
              <a:t> </a:t>
            </a:r>
            <a:r>
              <a:rPr lang="en-US" sz="2800" dirty="0" err="1"/>
              <a:t>lại</a:t>
            </a:r>
            <a:r>
              <a:rPr lang="en-US" sz="2800" dirty="0"/>
              <a:t> </a:t>
            </a:r>
            <a:r>
              <a:rPr lang="en-US" sz="2800" dirty="0" err="1"/>
              <a:t>được</a:t>
            </a:r>
            <a:r>
              <a:rPr lang="en-US" sz="2800" dirty="0"/>
              <a:t> </a:t>
            </a:r>
            <a:r>
              <a:rPr lang="en-US" sz="2800" dirty="0" err="1"/>
              <a:t>hoạt</a:t>
            </a:r>
            <a:r>
              <a:rPr lang="en-US" sz="2800" dirty="0"/>
              <a:t> </a:t>
            </a:r>
            <a:r>
              <a:rPr lang="en-US" sz="2800" dirty="0" err="1"/>
              <a:t>động</a:t>
            </a:r>
            <a:r>
              <a:rPr lang="en-US" sz="2800" dirty="0"/>
              <a:t> </a:t>
            </a:r>
            <a:r>
              <a:rPr lang="en-US" sz="2800" dirty="0" err="1"/>
              <a:t>của</a:t>
            </a:r>
            <a:r>
              <a:rPr lang="en-US" sz="2800" dirty="0"/>
              <a:t> ALU, MUX, Bộ </a:t>
            </a:r>
            <a:r>
              <a:rPr lang="en-US" sz="2800" dirty="0" err="1"/>
              <a:t>cộng</a:t>
            </a:r>
            <a:r>
              <a:rPr lang="en-US" sz="2800" dirty="0"/>
              <a:t>, Bộ so </a:t>
            </a:r>
            <a:r>
              <a:rPr lang="en-US" sz="2800" dirty="0" err="1"/>
              <a:t>sánh</a:t>
            </a:r>
            <a:r>
              <a:rPr lang="en-US" sz="2800" dirty="0"/>
              <a:t>, Bộ </a:t>
            </a:r>
            <a:r>
              <a:rPr lang="en-US" sz="2800" dirty="0" err="1"/>
              <a:t>giải</a:t>
            </a:r>
            <a:r>
              <a:rPr lang="en-US" sz="2800" dirty="0"/>
              <a:t> </a:t>
            </a:r>
            <a:r>
              <a:rPr lang="en-US" sz="2800" dirty="0" err="1"/>
              <a:t>mã</a:t>
            </a:r>
            <a:endParaRPr lang="en-US" sz="2800" dirty="0"/>
          </a:p>
          <a:p>
            <a:r>
              <a:rPr lang="en-US" sz="2800" dirty="0" err="1"/>
              <a:t>Trình</a:t>
            </a:r>
            <a:r>
              <a:rPr lang="en-US" sz="2800" dirty="0"/>
              <a:t> </a:t>
            </a:r>
            <a:r>
              <a:rPr lang="en-US" sz="2800" dirty="0" err="1"/>
              <a:t>bày</a:t>
            </a:r>
            <a:r>
              <a:rPr lang="en-US" sz="2800" dirty="0"/>
              <a:t> </a:t>
            </a:r>
            <a:r>
              <a:rPr lang="en-US" sz="2800" dirty="0" err="1"/>
              <a:t>lại</a:t>
            </a:r>
            <a:r>
              <a:rPr lang="en-US" sz="2800" dirty="0"/>
              <a:t> </a:t>
            </a:r>
            <a:r>
              <a:rPr lang="en-US" sz="2800" dirty="0" err="1"/>
              <a:t>được</a:t>
            </a:r>
            <a:r>
              <a:rPr lang="en-US" sz="2800" dirty="0"/>
              <a:t> </a:t>
            </a:r>
            <a:r>
              <a:rPr lang="en-US" sz="2800" dirty="0" err="1"/>
              <a:t>hoạt</a:t>
            </a:r>
            <a:r>
              <a:rPr lang="en-US" sz="2800" dirty="0"/>
              <a:t> </a:t>
            </a:r>
            <a:r>
              <a:rPr lang="en-US" sz="2800" dirty="0" err="1"/>
              <a:t>động</a:t>
            </a:r>
            <a:r>
              <a:rPr lang="en-US" sz="2800" dirty="0"/>
              <a:t> </a:t>
            </a:r>
            <a:r>
              <a:rPr lang="en-US" sz="2800" dirty="0" err="1"/>
              <a:t>của</a:t>
            </a:r>
            <a:r>
              <a:rPr lang="en-US" sz="2800" dirty="0"/>
              <a:t> Thanh </a:t>
            </a:r>
            <a:r>
              <a:rPr lang="en-US" sz="2800" dirty="0" err="1"/>
              <a:t>ghi</a:t>
            </a:r>
            <a:r>
              <a:rPr lang="en-US" sz="2800" dirty="0"/>
              <a:t>, </a:t>
            </a:r>
            <a:r>
              <a:rPr lang="en-US" sz="2800" dirty="0" err="1"/>
              <a:t>Tập</a:t>
            </a:r>
            <a:r>
              <a:rPr lang="en-US" sz="2800" dirty="0"/>
              <a:t> </a:t>
            </a:r>
            <a:r>
              <a:rPr lang="en-US" sz="2800" dirty="0" err="1"/>
              <a:t>thanh</a:t>
            </a:r>
            <a:r>
              <a:rPr lang="en-US" sz="2800" dirty="0"/>
              <a:t> </a:t>
            </a:r>
            <a:r>
              <a:rPr lang="en-US" sz="2800" dirty="0" err="1"/>
              <a:t>ghi</a:t>
            </a:r>
            <a:endParaRPr lang="en-US" sz="2800" dirty="0"/>
          </a:p>
        </p:txBody>
      </p:sp>
    </p:spTree>
    <p:extLst>
      <p:ext uri="{BB962C8B-B14F-4D97-AF65-F5344CB8AC3E}">
        <p14:creationId xmlns:p14="http://schemas.microsoft.com/office/powerpoint/2010/main" val="2759920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EB6FCBF-4D71-BDAD-8392-99213DE0C5A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2" name="Slide Number Placeholder 1">
            <a:extLst>
              <a:ext uri="{FF2B5EF4-FFF2-40B4-BE49-F238E27FC236}">
                <a16:creationId xmlns:a16="http://schemas.microsoft.com/office/drawing/2014/main" id="{9A9BD337-3CBD-0719-2FDF-03E1A46887FD}"/>
              </a:ext>
            </a:extLst>
          </p:cNvPr>
          <p:cNvSpPr>
            <a:spLocks noGrp="1"/>
          </p:cNvSpPr>
          <p:nvPr>
            <p:ph type="sldNum" sz="quarter" idx="12"/>
          </p:nvPr>
        </p:nvSpPr>
        <p:spPr/>
        <p:txBody>
          <a:bodyPr/>
          <a:lstStyle/>
          <a:p>
            <a:fld id="{D8B0B3AC-44A8-D142-AAF6-9A453466E1A4}" type="slidenum">
              <a:rPr lang="en-VN" smtClean="0"/>
              <a:pPr/>
              <a:t>3</a:t>
            </a:fld>
            <a:endParaRPr lang="en-VN" dirty="0"/>
          </a:p>
        </p:txBody>
      </p:sp>
      <p:sp>
        <p:nvSpPr>
          <p:cNvPr id="5" name="Text Placeholder 4">
            <a:extLst>
              <a:ext uri="{FF2B5EF4-FFF2-40B4-BE49-F238E27FC236}">
                <a16:creationId xmlns:a16="http://schemas.microsoft.com/office/drawing/2014/main" id="{CFBD77E0-7814-E542-0144-95AEF5C06AD5}"/>
              </a:ext>
            </a:extLst>
          </p:cNvPr>
          <p:cNvSpPr>
            <a:spLocks noGrp="1"/>
          </p:cNvSpPr>
          <p:nvPr>
            <p:ph type="body" sz="quarter" idx="13"/>
          </p:nvPr>
        </p:nvSpPr>
        <p:spPr/>
        <p:txBody>
          <a:bodyPr/>
          <a:lstStyle/>
          <a:p>
            <a:pPr>
              <a:lnSpc>
                <a:spcPct val="100000"/>
              </a:lnSpc>
            </a:pPr>
            <a:r>
              <a:rPr lang="vi-VN" sz="2800" b="1" dirty="0"/>
              <a:t>Hiện thực chức năng máy tính</a:t>
            </a:r>
            <a:endParaRPr lang="en-US" sz="2800" b="1" dirty="0"/>
          </a:p>
          <a:p>
            <a:pPr>
              <a:lnSpc>
                <a:spcPct val="100000"/>
              </a:lnSpc>
            </a:pPr>
            <a:r>
              <a:rPr lang="vi-VN" sz="2800" b="1" dirty="0"/>
              <a:t>ALU (Arithmetic &amp; Logic Unit)</a:t>
            </a:r>
          </a:p>
          <a:p>
            <a:pPr>
              <a:lnSpc>
                <a:spcPct val="100000"/>
              </a:lnSpc>
            </a:pPr>
            <a:r>
              <a:rPr lang="en-US" sz="2800" b="1" dirty="0"/>
              <a:t>Bộ </a:t>
            </a:r>
            <a:r>
              <a:rPr lang="en-US" sz="2800" b="1" dirty="0" err="1"/>
              <a:t>chọn</a:t>
            </a:r>
            <a:r>
              <a:rPr lang="en-US" sz="2800" b="1" dirty="0"/>
              <a:t> (Mux)</a:t>
            </a:r>
            <a:endParaRPr lang="vi-VN" sz="2800" b="1" dirty="0"/>
          </a:p>
          <a:p>
            <a:pPr>
              <a:lnSpc>
                <a:spcPct val="100000"/>
              </a:lnSpc>
            </a:pPr>
            <a:r>
              <a:rPr lang="vi-VN" sz="2800" b="1" dirty="0"/>
              <a:t>Bộ cộng</a:t>
            </a:r>
            <a:endParaRPr lang="en-US" sz="2800" b="1" dirty="0"/>
          </a:p>
          <a:p>
            <a:pPr>
              <a:lnSpc>
                <a:spcPct val="100000"/>
              </a:lnSpc>
            </a:pPr>
            <a:r>
              <a:rPr lang="en-US" sz="2800" b="1" dirty="0"/>
              <a:t>Bộ so </a:t>
            </a:r>
            <a:r>
              <a:rPr lang="en-US" sz="2800" b="1" dirty="0" err="1"/>
              <a:t>sánh</a:t>
            </a:r>
            <a:endParaRPr lang="vi-VN" sz="2800" b="1" dirty="0"/>
          </a:p>
          <a:p>
            <a:pPr>
              <a:lnSpc>
                <a:spcPct val="100000"/>
              </a:lnSpc>
            </a:pPr>
            <a:r>
              <a:rPr lang="vi-VN" sz="2800" b="1" dirty="0"/>
              <a:t>Bộ giải mã</a:t>
            </a:r>
          </a:p>
          <a:p>
            <a:pPr>
              <a:lnSpc>
                <a:spcPct val="100000"/>
              </a:lnSpc>
            </a:pPr>
            <a:r>
              <a:rPr lang="vi-VN" sz="2800" b="1" dirty="0"/>
              <a:t>Tập thanh ghi</a:t>
            </a:r>
          </a:p>
        </p:txBody>
      </p:sp>
    </p:spTree>
    <p:extLst>
      <p:ext uri="{BB962C8B-B14F-4D97-AF65-F5344CB8AC3E}">
        <p14:creationId xmlns:p14="http://schemas.microsoft.com/office/powerpoint/2010/main" val="2219057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4</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fontScale="85000" lnSpcReduction="10000"/>
          </a:bodyPr>
          <a:lstStyle/>
          <a:p>
            <a:r>
              <a:rPr lang="vi-VN" dirty="0"/>
              <a:t>1. Hiện thực chức năng máy tính</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endParaRPr lang="en-VN" dirty="0"/>
          </a:p>
        </p:txBody>
      </p:sp>
    </p:spTree>
    <p:extLst>
      <p:ext uri="{BB962C8B-B14F-4D97-AF65-F5344CB8AC3E}">
        <p14:creationId xmlns:p14="http://schemas.microsoft.com/office/powerpoint/2010/main" val="1704568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vi-VN"/>
              <a:t>Hiện thực chức năng máy tính</a:t>
            </a:r>
            <a:endParaRPr lang="en-US"/>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4903304" cy="5160527"/>
          </a:xfrm>
        </p:spPr>
        <p:txBody>
          <a:bodyPr/>
          <a:lstStyle/>
          <a:p>
            <a:r>
              <a:rPr lang="vi-VN" dirty="0"/>
              <a:t>Hiện thực chức năng:</a:t>
            </a:r>
          </a:p>
          <a:p>
            <a:pPr lvl="1"/>
            <a:r>
              <a:rPr lang="vi-VN" dirty="0"/>
              <a:t>Xử lý dữ liệu</a:t>
            </a:r>
          </a:p>
          <a:p>
            <a:pPr lvl="2"/>
            <a:r>
              <a:rPr lang="vi-VN" dirty="0"/>
              <a:t>Số học và luận lý</a:t>
            </a:r>
          </a:p>
          <a:p>
            <a:pPr lvl="2"/>
            <a:r>
              <a:rPr lang="vi-VN" dirty="0"/>
              <a:t>So sánh</a:t>
            </a:r>
          </a:p>
          <a:p>
            <a:pPr lvl="1"/>
            <a:r>
              <a:rPr lang="vi-VN" dirty="0"/>
              <a:t>Lưu trữ dữ liệu</a:t>
            </a:r>
          </a:p>
          <a:p>
            <a:pPr lvl="2"/>
            <a:r>
              <a:rPr lang="vi-VN" dirty="0"/>
              <a:t>Bộ nhớ</a:t>
            </a:r>
          </a:p>
          <a:p>
            <a:pPr lvl="1"/>
            <a:r>
              <a:rPr lang="vi-VN" dirty="0"/>
              <a:t>Truyền/Nhận dữ liệu</a:t>
            </a:r>
          </a:p>
          <a:p>
            <a:pPr lvl="2"/>
            <a:r>
              <a:rPr lang="vi-VN" dirty="0"/>
              <a:t>Địa chỉ</a:t>
            </a:r>
          </a:p>
          <a:p>
            <a:pPr lvl="2"/>
            <a:r>
              <a:rPr lang="vi-VN" dirty="0"/>
              <a:t>Dữ liệu</a:t>
            </a:r>
          </a:p>
          <a:p>
            <a:pPr lvl="2"/>
            <a:r>
              <a:rPr lang="vi-VN" dirty="0"/>
              <a:t>Điều khiển</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5</a:t>
            </a:fld>
            <a:endParaRPr lang="en-VN" dirty="0"/>
          </a:p>
        </p:txBody>
      </p:sp>
      <p:pic>
        <p:nvPicPr>
          <p:cNvPr id="6" name="Picture 2">
            <a:extLst>
              <a:ext uri="{FF2B5EF4-FFF2-40B4-BE49-F238E27FC236}">
                <a16:creationId xmlns:a16="http://schemas.microsoft.com/office/drawing/2014/main" id="{D2663BDC-94F7-39CE-6663-BEEBC431E200}"/>
              </a:ext>
            </a:extLst>
          </p:cNvPr>
          <p:cNvPicPr>
            <a:picLocks noChangeAspect="1" noChangeArrowheads="1"/>
          </p:cNvPicPr>
          <p:nvPr/>
        </p:nvPicPr>
        <p:blipFill>
          <a:blip r:embed="rId3" cstate="print"/>
          <a:srcRect/>
          <a:stretch>
            <a:fillRect/>
          </a:stretch>
        </p:blipFill>
        <p:spPr bwMode="auto">
          <a:xfrm>
            <a:off x="6096000" y="1195821"/>
            <a:ext cx="5705475" cy="4486275"/>
          </a:xfrm>
          <a:prstGeom prst="rect">
            <a:avLst/>
          </a:prstGeom>
          <a:noFill/>
          <a:ln w="9525">
            <a:noFill/>
            <a:miter lim="800000"/>
            <a:headEnd/>
            <a:tailEnd/>
          </a:ln>
        </p:spPr>
      </p:pic>
      <p:sp>
        <p:nvSpPr>
          <p:cNvPr id="7" name="Rounded Rectangle 6">
            <a:extLst>
              <a:ext uri="{FF2B5EF4-FFF2-40B4-BE49-F238E27FC236}">
                <a16:creationId xmlns:a16="http://schemas.microsoft.com/office/drawing/2014/main" id="{C9815CD2-F91D-F882-8390-39AB58DD867B}"/>
              </a:ext>
            </a:extLst>
          </p:cNvPr>
          <p:cNvSpPr/>
          <p:nvPr/>
        </p:nvSpPr>
        <p:spPr>
          <a:xfrm>
            <a:off x="7961447" y="3001618"/>
            <a:ext cx="1281945" cy="2445026"/>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8" name="Rounded Rectangle 7">
            <a:extLst>
              <a:ext uri="{FF2B5EF4-FFF2-40B4-BE49-F238E27FC236}">
                <a16:creationId xmlns:a16="http://schemas.microsoft.com/office/drawing/2014/main" id="{BF8C24D7-9F56-642E-0A99-9B7543299F96}"/>
              </a:ext>
            </a:extLst>
          </p:cNvPr>
          <p:cNvSpPr/>
          <p:nvPr/>
        </p:nvSpPr>
        <p:spPr>
          <a:xfrm>
            <a:off x="9319795" y="3001618"/>
            <a:ext cx="1281945" cy="2445026"/>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9" name="Rounded Rectangle 8">
            <a:extLst>
              <a:ext uri="{FF2B5EF4-FFF2-40B4-BE49-F238E27FC236}">
                <a16:creationId xmlns:a16="http://schemas.microsoft.com/office/drawing/2014/main" id="{BB128872-61D1-6B60-FF07-705352FB7AC2}"/>
              </a:ext>
            </a:extLst>
          </p:cNvPr>
          <p:cNvSpPr/>
          <p:nvPr/>
        </p:nvSpPr>
        <p:spPr>
          <a:xfrm>
            <a:off x="10704647" y="3101010"/>
            <a:ext cx="831371" cy="2020957"/>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2640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vi-VN"/>
              <a:t>Hiện thực chức năng máy tính</a:t>
            </a:r>
            <a:r>
              <a:rPr lang="en-US"/>
              <a:t> (tt)</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6</a:t>
            </a:fld>
            <a:endParaRPr lang="en-VN" dirty="0"/>
          </a:p>
        </p:txBody>
      </p:sp>
      <p:graphicFrame>
        <p:nvGraphicFramePr>
          <p:cNvPr id="9" name="Object 8">
            <a:extLst>
              <a:ext uri="{FF2B5EF4-FFF2-40B4-BE49-F238E27FC236}">
                <a16:creationId xmlns:a16="http://schemas.microsoft.com/office/drawing/2014/main" id="{B511F03B-025D-F07D-0B80-F0D20FE5FB65}"/>
              </a:ext>
            </a:extLst>
          </p:cNvPr>
          <p:cNvGraphicFramePr>
            <a:graphicFrameLocks noChangeAspect="1"/>
          </p:cNvGraphicFramePr>
          <p:nvPr>
            <p:extLst>
              <p:ext uri="{D42A27DB-BD31-4B8C-83A1-F6EECF244321}">
                <p14:modId xmlns:p14="http://schemas.microsoft.com/office/powerpoint/2010/main" val="2089966181"/>
              </p:ext>
            </p:extLst>
          </p:nvPr>
        </p:nvGraphicFramePr>
        <p:xfrm>
          <a:off x="800533" y="1236251"/>
          <a:ext cx="10590934" cy="4554949"/>
        </p:xfrm>
        <a:graphic>
          <a:graphicData uri="http://schemas.openxmlformats.org/presentationml/2006/ole">
            <mc:AlternateContent xmlns:mc="http://schemas.openxmlformats.org/markup-compatibility/2006">
              <mc:Choice xmlns:v="urn:schemas-microsoft-com:vml" Requires="v">
                <p:oleObj name="Visio" r:id="rId3" imgW="5562600" imgH="2390775" progId="Visio.Drawing.15">
                  <p:embed/>
                </p:oleObj>
              </mc:Choice>
              <mc:Fallback>
                <p:oleObj name="Visio" r:id="rId3" imgW="5562600" imgH="2390775" progId="Visio.Drawing.15">
                  <p:embed/>
                  <p:pic>
                    <p:nvPicPr>
                      <p:cNvPr id="7" name="Object 6">
                        <a:extLst>
                          <a:ext uri="{FF2B5EF4-FFF2-40B4-BE49-F238E27FC236}">
                            <a16:creationId xmlns:a16="http://schemas.microsoft.com/office/drawing/2014/main" id="{4FCEFA7B-EF93-C43F-7B21-B78A04D428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533" y="1236251"/>
                        <a:ext cx="10590934" cy="4554949"/>
                      </a:xfrm>
                      <a:prstGeom prst="rect">
                        <a:avLst/>
                      </a:prstGeom>
                      <a:noFill/>
                    </p:spPr>
                  </p:pic>
                </p:oleObj>
              </mc:Fallback>
            </mc:AlternateContent>
          </a:graphicData>
        </a:graphic>
      </p:graphicFrame>
      <p:sp>
        <p:nvSpPr>
          <p:cNvPr id="3" name="Rounded Rectangle 2">
            <a:extLst>
              <a:ext uri="{FF2B5EF4-FFF2-40B4-BE49-F238E27FC236}">
                <a16:creationId xmlns:a16="http://schemas.microsoft.com/office/drawing/2014/main" id="{B10772EA-531F-1CAD-68DC-D79A66144B57}"/>
              </a:ext>
            </a:extLst>
          </p:cNvPr>
          <p:cNvSpPr/>
          <p:nvPr/>
        </p:nvSpPr>
        <p:spPr>
          <a:xfrm>
            <a:off x="6347793" y="1009860"/>
            <a:ext cx="5082209" cy="5046383"/>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6" name="Rounded Rectangle 5">
            <a:extLst>
              <a:ext uri="{FF2B5EF4-FFF2-40B4-BE49-F238E27FC236}">
                <a16:creationId xmlns:a16="http://schemas.microsoft.com/office/drawing/2014/main" id="{62DC0655-5945-15B6-E5C3-E3B0BE205AC2}"/>
              </a:ext>
            </a:extLst>
          </p:cNvPr>
          <p:cNvSpPr/>
          <p:nvPr/>
        </p:nvSpPr>
        <p:spPr>
          <a:xfrm>
            <a:off x="800533" y="1236251"/>
            <a:ext cx="5189450" cy="4819992"/>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D644363D-2F73-6528-8871-15D6DA3B559E}"/>
              </a:ext>
            </a:extLst>
          </p:cNvPr>
          <p:cNvSpPr txBox="1"/>
          <p:nvPr/>
        </p:nvSpPr>
        <p:spPr>
          <a:xfrm>
            <a:off x="3063622" y="6114211"/>
            <a:ext cx="697627" cy="394147"/>
          </a:xfrm>
          <a:prstGeom prst="rect">
            <a:avLst/>
          </a:prstGeom>
          <a:noFill/>
        </p:spPr>
        <p:txBody>
          <a:bodyPr wrap="none" rtlCol="0">
            <a:spAutoFit/>
          </a:bodyPr>
          <a:lstStyle/>
          <a:p>
            <a:pPr algn="just">
              <a:lnSpc>
                <a:spcPct val="120000"/>
              </a:lnSpc>
              <a:spcBef>
                <a:spcPts val="200"/>
              </a:spcBef>
              <a:spcAft>
                <a:spcPts val="200"/>
              </a:spcAft>
            </a:pPr>
            <a:r>
              <a:rPr lang="en-VN" dirty="0">
                <a:latin typeface="Arial" panose="020B0604020202020204" pitchFamily="34" charset="0"/>
                <a:cs typeface="Arial" panose="020B0604020202020204" pitchFamily="34" charset="0"/>
              </a:rPr>
              <a:t>RAM</a:t>
            </a:r>
          </a:p>
        </p:txBody>
      </p:sp>
      <p:sp>
        <p:nvSpPr>
          <p:cNvPr id="8" name="TextBox 7">
            <a:extLst>
              <a:ext uri="{FF2B5EF4-FFF2-40B4-BE49-F238E27FC236}">
                <a16:creationId xmlns:a16="http://schemas.microsoft.com/office/drawing/2014/main" id="{5515DFC5-B2A7-7F5F-A2E9-ABAFF11C13BF}"/>
              </a:ext>
            </a:extLst>
          </p:cNvPr>
          <p:cNvSpPr txBox="1"/>
          <p:nvPr/>
        </p:nvSpPr>
        <p:spPr>
          <a:xfrm>
            <a:off x="8552907" y="6095829"/>
            <a:ext cx="671979" cy="394147"/>
          </a:xfrm>
          <a:prstGeom prst="rect">
            <a:avLst/>
          </a:prstGeom>
          <a:noFill/>
        </p:spPr>
        <p:txBody>
          <a:bodyPr wrap="none" rtlCol="0">
            <a:spAutoFit/>
          </a:bodyPr>
          <a:lstStyle/>
          <a:p>
            <a:pPr algn="just">
              <a:lnSpc>
                <a:spcPct val="120000"/>
              </a:lnSpc>
              <a:spcBef>
                <a:spcPts val="200"/>
              </a:spcBef>
              <a:spcAft>
                <a:spcPts val="200"/>
              </a:spcAft>
            </a:pPr>
            <a:r>
              <a:rPr lang="en-VN" dirty="0">
                <a:latin typeface="Arial" panose="020B0604020202020204" pitchFamily="34" charset="0"/>
                <a:cs typeface="Arial" panose="020B0604020202020204" pitchFamily="34" charset="0"/>
              </a:rPr>
              <a:t>CPU</a:t>
            </a:r>
          </a:p>
        </p:txBody>
      </p:sp>
      <p:sp>
        <p:nvSpPr>
          <p:cNvPr id="10" name="TextBox 9">
            <a:extLst>
              <a:ext uri="{FF2B5EF4-FFF2-40B4-BE49-F238E27FC236}">
                <a16:creationId xmlns:a16="http://schemas.microsoft.com/office/drawing/2014/main" id="{D8025E93-D2FB-1787-64BF-7E2CB82FC0F1}"/>
              </a:ext>
            </a:extLst>
          </p:cNvPr>
          <p:cNvSpPr txBox="1"/>
          <p:nvPr/>
        </p:nvSpPr>
        <p:spPr>
          <a:xfrm>
            <a:off x="1378417" y="1429237"/>
            <a:ext cx="1685205" cy="394147"/>
          </a:xfrm>
          <a:prstGeom prst="rect">
            <a:avLst/>
          </a:prstGeom>
          <a:noFill/>
        </p:spPr>
        <p:txBody>
          <a:bodyPr wrap="none" rtlCol="0">
            <a:spAutoFit/>
          </a:bodyPr>
          <a:lstStyle/>
          <a:p>
            <a:pPr algn="just">
              <a:lnSpc>
                <a:spcPct val="120000"/>
              </a:lnSpc>
              <a:spcBef>
                <a:spcPts val="200"/>
              </a:spcBef>
              <a:spcAft>
                <a:spcPts val="200"/>
              </a:spcAft>
            </a:pPr>
            <a:r>
              <a:rPr lang="en-VN" dirty="0">
                <a:latin typeface="Arial" panose="020B0604020202020204" pitchFamily="34" charset="0"/>
                <a:cs typeface="Arial" panose="020B0604020202020204" pitchFamily="34" charset="0"/>
              </a:rPr>
              <a:t>Tính C = A + B</a:t>
            </a:r>
          </a:p>
        </p:txBody>
      </p:sp>
      <p:sp>
        <p:nvSpPr>
          <p:cNvPr id="11" name="TextBox 10">
            <a:extLst>
              <a:ext uri="{FF2B5EF4-FFF2-40B4-BE49-F238E27FC236}">
                <a16:creationId xmlns:a16="http://schemas.microsoft.com/office/drawing/2014/main" id="{18A82E18-1FC4-7C3F-68E9-D321EB80DE15}"/>
              </a:ext>
            </a:extLst>
          </p:cNvPr>
          <p:cNvSpPr txBox="1"/>
          <p:nvPr/>
        </p:nvSpPr>
        <p:spPr>
          <a:xfrm>
            <a:off x="1189027" y="3452191"/>
            <a:ext cx="1236122" cy="1407300"/>
          </a:xfrm>
          <a:prstGeom prst="rect">
            <a:avLst/>
          </a:prstGeom>
          <a:noFill/>
        </p:spPr>
        <p:txBody>
          <a:bodyPr wrap="square" rtlCol="0">
            <a:spAutoFit/>
          </a:bodyPr>
          <a:lstStyle/>
          <a:p>
            <a:pPr algn="just">
              <a:lnSpc>
                <a:spcPct val="120000"/>
              </a:lnSpc>
              <a:spcBef>
                <a:spcPts val="200"/>
              </a:spcBef>
              <a:spcAft>
                <a:spcPts val="200"/>
              </a:spcAft>
            </a:pPr>
            <a:r>
              <a:rPr lang="en-VN" dirty="0">
                <a:latin typeface="Arial" panose="020B0604020202020204" pitchFamily="34" charset="0"/>
                <a:cs typeface="Arial" panose="020B0604020202020204" pitchFamily="34" charset="0"/>
              </a:rPr>
              <a:t>A, B, C là các biến lưu trong bộ nhớ</a:t>
            </a:r>
          </a:p>
        </p:txBody>
      </p:sp>
    </p:spTree>
    <p:extLst>
      <p:ext uri="{BB962C8B-B14F-4D97-AF65-F5344CB8AC3E}">
        <p14:creationId xmlns:p14="http://schemas.microsoft.com/office/powerpoint/2010/main" val="249322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p:bldP spid="8" grpId="0"/>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vi-VN"/>
              <a:t>Hiện thực chức năng máy tính</a:t>
            </a:r>
            <a:r>
              <a:rPr lang="en-US"/>
              <a:t> (tt)</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7</a:t>
            </a:fld>
            <a:endParaRPr lang="en-VN" dirty="0"/>
          </a:p>
        </p:txBody>
      </p:sp>
      <p:pic>
        <p:nvPicPr>
          <p:cNvPr id="3" name="Picture 2" descr="f04-17-P374493">
            <a:extLst>
              <a:ext uri="{FF2B5EF4-FFF2-40B4-BE49-F238E27FC236}">
                <a16:creationId xmlns:a16="http://schemas.microsoft.com/office/drawing/2014/main" id="{80AB13CF-39B4-C501-BBFD-BBD51F0966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1686" y="1009860"/>
            <a:ext cx="6819900" cy="5299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2290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8</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fontScale="85000" lnSpcReduction="10000"/>
          </a:bodyPr>
          <a:lstStyle/>
          <a:p>
            <a:r>
              <a:rPr lang="en-US" dirty="0"/>
              <a:t>2. ALU (Arithmetic Logic Unit)</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endParaRPr lang="en-VN" dirty="0"/>
          </a:p>
        </p:txBody>
      </p:sp>
    </p:spTree>
    <p:extLst>
      <p:ext uri="{BB962C8B-B14F-4D97-AF65-F5344CB8AC3E}">
        <p14:creationId xmlns:p14="http://schemas.microsoft.com/office/powerpoint/2010/main" val="2636955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t>ALU (Arithmetic Logic Unit)</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9</a:t>
            </a:fld>
            <a:endParaRPr lang="en-VN" dirty="0"/>
          </a:p>
        </p:txBody>
      </p:sp>
      <p:graphicFrame>
        <p:nvGraphicFramePr>
          <p:cNvPr id="3" name="Object 2">
            <a:extLst>
              <a:ext uri="{FF2B5EF4-FFF2-40B4-BE49-F238E27FC236}">
                <a16:creationId xmlns:a16="http://schemas.microsoft.com/office/drawing/2014/main" id="{ED897698-3376-C231-E842-56227C06BE60}"/>
              </a:ext>
            </a:extLst>
          </p:cNvPr>
          <p:cNvGraphicFramePr>
            <a:graphicFrameLocks noChangeAspect="1"/>
          </p:cNvGraphicFramePr>
          <p:nvPr>
            <p:extLst>
              <p:ext uri="{D42A27DB-BD31-4B8C-83A1-F6EECF244321}">
                <p14:modId xmlns:p14="http://schemas.microsoft.com/office/powerpoint/2010/main" val="677012368"/>
              </p:ext>
            </p:extLst>
          </p:nvPr>
        </p:nvGraphicFramePr>
        <p:xfrm>
          <a:off x="452120" y="1988916"/>
          <a:ext cx="2748459" cy="3885752"/>
        </p:xfrm>
        <a:graphic>
          <a:graphicData uri="http://schemas.openxmlformats.org/presentationml/2006/ole">
            <mc:AlternateContent xmlns:mc="http://schemas.openxmlformats.org/markup-compatibility/2006">
              <mc:Choice xmlns:v="urn:schemas-microsoft-com:vml" Requires="v">
                <p:oleObj name="Visio" r:id="rId3" imgW="2657391" imgH="3724409" progId="Visio.Drawing.15">
                  <p:embed/>
                </p:oleObj>
              </mc:Choice>
              <mc:Fallback>
                <p:oleObj name="Visio" r:id="rId3" imgW="2657391" imgH="3724409" progId="Visio.Drawing.15">
                  <p:embed/>
                  <p:pic>
                    <p:nvPicPr>
                      <p:cNvPr id="6" name="Object 5">
                        <a:extLst>
                          <a:ext uri="{FF2B5EF4-FFF2-40B4-BE49-F238E27FC236}">
                            <a16:creationId xmlns:a16="http://schemas.microsoft.com/office/drawing/2014/main" id="{E84FC755-56B3-4869-A224-576D436C48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120" y="1988916"/>
                        <a:ext cx="2748459" cy="3885752"/>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BB3ED5B9-BCEF-2440-0B6A-EE9F3BF51781}"/>
                  </a:ext>
                </a:extLst>
              </p:cNvPr>
              <p:cNvGraphicFramePr>
                <a:graphicFrameLocks noGrp="1"/>
              </p:cNvGraphicFramePr>
              <p:nvPr>
                <p:extLst>
                  <p:ext uri="{D42A27DB-BD31-4B8C-83A1-F6EECF244321}">
                    <p14:modId xmlns:p14="http://schemas.microsoft.com/office/powerpoint/2010/main" val="2805167265"/>
                  </p:ext>
                </p:extLst>
              </p:nvPr>
            </p:nvGraphicFramePr>
            <p:xfrm>
              <a:off x="3330414" y="1748154"/>
              <a:ext cx="3089906" cy="4106866"/>
            </p:xfrm>
            <a:graphic>
              <a:graphicData uri="http://schemas.openxmlformats.org/drawingml/2006/table">
                <a:tbl>
                  <a:tblPr firstRow="1" firstCol="1" bandRow="1">
                    <a:tableStyleId>{5940675A-B579-460E-94D1-54222C63F5DA}</a:tableStyleId>
                  </a:tblPr>
                  <a:tblGrid>
                    <a:gridCol w="1697296">
                      <a:extLst>
                        <a:ext uri="{9D8B030D-6E8A-4147-A177-3AD203B41FA5}">
                          <a16:colId xmlns:a16="http://schemas.microsoft.com/office/drawing/2014/main" val="607817226"/>
                        </a:ext>
                      </a:extLst>
                    </a:gridCol>
                    <a:gridCol w="1392610">
                      <a:extLst>
                        <a:ext uri="{9D8B030D-6E8A-4147-A177-3AD203B41FA5}">
                          <a16:colId xmlns:a16="http://schemas.microsoft.com/office/drawing/2014/main" val="3686584232"/>
                        </a:ext>
                      </a:extLst>
                    </a:gridCol>
                  </a:tblGrid>
                  <a:tr h="0">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Opcode[2:0]</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Phép toán</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36855745"/>
                      </a:ext>
                    </a:extLst>
                  </a:tr>
                  <a:tr h="0">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000</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A + B</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5004734"/>
                      </a:ext>
                    </a:extLst>
                  </a:tr>
                  <a:tr h="0">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001</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A + 1</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04292781"/>
                      </a:ext>
                    </a:extLst>
                  </a:tr>
                  <a:tr h="0">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010</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A – B</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6900401"/>
                      </a:ext>
                    </a:extLst>
                  </a:tr>
                  <a:tr h="0">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011</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A – 1</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43400289"/>
                      </a:ext>
                    </a:extLst>
                  </a:tr>
                  <a:tr h="0">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100</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A &amp; B</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94320862"/>
                      </a:ext>
                    </a:extLst>
                  </a:tr>
                  <a:tr h="0">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101</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A | B</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98144536"/>
                      </a:ext>
                    </a:extLst>
                  </a:tr>
                  <a:tr h="0">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110</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rPr>
                                    </m:ctrlPr>
                                  </m:accPr>
                                  <m:e>
                                    <m:r>
                                      <m:rPr>
                                        <m:nor/>
                                      </m:rPr>
                                      <a:rPr lang="en-US" sz="2200">
                                        <a:effectLst/>
                                        <a:latin typeface="Times New Roman" panose="02020603050405020304" pitchFamily="18" charset="0"/>
                                        <a:cs typeface="Times New Roman" panose="02020603050405020304" pitchFamily="18" charset="0"/>
                                      </a:rPr>
                                      <m:t>A</m:t>
                                    </m:r>
                                  </m:e>
                                </m:acc>
                              </m:oMath>
                            </m:oMathPara>
                          </a14:m>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20212432"/>
                      </a:ext>
                    </a:extLst>
                  </a:tr>
                  <a:tr h="0">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111</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m:rPr>
                                    <m:nor/>
                                  </m:rPr>
                                  <a:rPr lang="en-US" sz="2200">
                                    <a:effectLst/>
                                    <a:latin typeface="Times New Roman" panose="02020603050405020304" pitchFamily="18" charset="0"/>
                                    <a:cs typeface="Times New Roman" panose="02020603050405020304" pitchFamily="18" charset="0"/>
                                  </a:rPr>
                                  <m:t>A</m:t>
                                </m:r>
                                <m:r>
                                  <m:rPr>
                                    <m:nor/>
                                  </m:rPr>
                                  <a:rPr lang="en-US" sz="2200">
                                    <a:effectLst/>
                                    <a:latin typeface="Times New Roman" panose="02020603050405020304" pitchFamily="18" charset="0"/>
                                    <a:cs typeface="Times New Roman" panose="02020603050405020304" pitchFamily="18" charset="0"/>
                                  </a:rPr>
                                  <m:t> ⊕ </m:t>
                                </m:r>
                                <m:r>
                                  <m:rPr>
                                    <m:nor/>
                                  </m:rPr>
                                  <a:rPr lang="en-US" sz="2200">
                                    <a:effectLst/>
                                    <a:latin typeface="Times New Roman" panose="02020603050405020304" pitchFamily="18" charset="0"/>
                                    <a:cs typeface="Times New Roman" panose="02020603050405020304" pitchFamily="18" charset="0"/>
                                  </a:rPr>
                                  <m:t>B</m:t>
                                </m:r>
                              </m:oMath>
                            </m:oMathPara>
                          </a14:m>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68819946"/>
                      </a:ext>
                    </a:extLst>
                  </a:tr>
                </a:tbl>
              </a:graphicData>
            </a:graphic>
          </p:graphicFrame>
        </mc:Choice>
        <mc:Fallback xmlns="">
          <p:graphicFrame>
            <p:nvGraphicFramePr>
              <p:cNvPr id="6" name="Table 5">
                <a:extLst>
                  <a:ext uri="{FF2B5EF4-FFF2-40B4-BE49-F238E27FC236}">
                    <a16:creationId xmlns:a16="http://schemas.microsoft.com/office/drawing/2014/main" id="{BB3ED5B9-BCEF-2440-0B6A-EE9F3BF51781}"/>
                  </a:ext>
                </a:extLst>
              </p:cNvPr>
              <p:cNvGraphicFramePr>
                <a:graphicFrameLocks noGrp="1"/>
              </p:cNvGraphicFramePr>
              <p:nvPr>
                <p:extLst>
                  <p:ext uri="{D42A27DB-BD31-4B8C-83A1-F6EECF244321}">
                    <p14:modId xmlns:p14="http://schemas.microsoft.com/office/powerpoint/2010/main" val="2805167265"/>
                  </p:ext>
                </p:extLst>
              </p:nvPr>
            </p:nvGraphicFramePr>
            <p:xfrm>
              <a:off x="3330414" y="1748154"/>
              <a:ext cx="3089906" cy="4107307"/>
            </p:xfrm>
            <a:graphic>
              <a:graphicData uri="http://schemas.openxmlformats.org/drawingml/2006/table">
                <a:tbl>
                  <a:tblPr firstRow="1" firstCol="1" bandRow="1">
                    <a:tableStyleId>{5940675A-B579-460E-94D1-54222C63F5DA}</a:tableStyleId>
                  </a:tblPr>
                  <a:tblGrid>
                    <a:gridCol w="1697296">
                      <a:extLst>
                        <a:ext uri="{9D8B030D-6E8A-4147-A177-3AD203B41FA5}">
                          <a16:colId xmlns:a16="http://schemas.microsoft.com/office/drawing/2014/main" val="607817226"/>
                        </a:ext>
                      </a:extLst>
                    </a:gridCol>
                    <a:gridCol w="1392610">
                      <a:extLst>
                        <a:ext uri="{9D8B030D-6E8A-4147-A177-3AD203B41FA5}">
                          <a16:colId xmlns:a16="http://schemas.microsoft.com/office/drawing/2014/main" val="3686584232"/>
                        </a:ext>
                      </a:extLst>
                    </a:gridCol>
                  </a:tblGrid>
                  <a:tr h="442722">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Opcode[2:0]</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Phép toán</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36855745"/>
                      </a:ext>
                    </a:extLst>
                  </a:tr>
                  <a:tr h="442722">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000</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A + B</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5004734"/>
                      </a:ext>
                    </a:extLst>
                  </a:tr>
                  <a:tr h="442722">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001</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A + 1</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04292781"/>
                      </a:ext>
                    </a:extLst>
                  </a:tr>
                  <a:tr h="442722">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010</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A – B</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6900401"/>
                      </a:ext>
                    </a:extLst>
                  </a:tr>
                  <a:tr h="442722">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011</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A – 1</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43400289"/>
                      </a:ext>
                    </a:extLst>
                  </a:tr>
                  <a:tr h="442722">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100</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A &amp; B</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94320862"/>
                      </a:ext>
                    </a:extLst>
                  </a:tr>
                  <a:tr h="442722">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101</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A | B</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98144536"/>
                      </a:ext>
                    </a:extLst>
                  </a:tr>
                  <a:tr h="505333">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110</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5"/>
                          <a:stretch>
                            <a:fillRect l="-122271" t="-614458" r="-873" b="-121687"/>
                          </a:stretch>
                        </a:blipFill>
                      </a:tcPr>
                    </a:tc>
                    <a:extLst>
                      <a:ext uri="{0D108BD9-81ED-4DB2-BD59-A6C34878D82A}">
                        <a16:rowId xmlns:a16="http://schemas.microsoft.com/office/drawing/2014/main" val="1020212432"/>
                      </a:ext>
                    </a:extLst>
                  </a:tr>
                  <a:tr h="502920">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111</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5"/>
                          <a:stretch>
                            <a:fillRect l="-122271" t="-714458" r="-873" b="-21687"/>
                          </a:stretch>
                        </a:blipFill>
                      </a:tcPr>
                    </a:tc>
                    <a:extLst>
                      <a:ext uri="{0D108BD9-81ED-4DB2-BD59-A6C34878D82A}">
                        <a16:rowId xmlns:a16="http://schemas.microsoft.com/office/drawing/2014/main" val="568819946"/>
                      </a:ext>
                    </a:extLst>
                  </a:tr>
                </a:tbl>
              </a:graphicData>
            </a:graphic>
          </p:graphicFrame>
        </mc:Fallback>
      </mc:AlternateContent>
      <p:graphicFrame>
        <p:nvGraphicFramePr>
          <p:cNvPr id="7" name="Object 6">
            <a:extLst>
              <a:ext uri="{FF2B5EF4-FFF2-40B4-BE49-F238E27FC236}">
                <a16:creationId xmlns:a16="http://schemas.microsoft.com/office/drawing/2014/main" id="{E5F7B7E6-7614-3F14-BFC9-BFFE10334F25}"/>
              </a:ext>
            </a:extLst>
          </p:cNvPr>
          <p:cNvGraphicFramePr>
            <a:graphicFrameLocks noChangeAspect="1"/>
          </p:cNvGraphicFramePr>
          <p:nvPr>
            <p:extLst>
              <p:ext uri="{D42A27DB-BD31-4B8C-83A1-F6EECF244321}">
                <p14:modId xmlns:p14="http://schemas.microsoft.com/office/powerpoint/2010/main" val="542634690"/>
              </p:ext>
            </p:extLst>
          </p:nvPr>
        </p:nvGraphicFramePr>
        <p:xfrm>
          <a:off x="6420320" y="1754695"/>
          <a:ext cx="5692359" cy="4293806"/>
        </p:xfrm>
        <a:graphic>
          <a:graphicData uri="http://schemas.openxmlformats.org/presentationml/2006/ole">
            <mc:AlternateContent xmlns:mc="http://schemas.openxmlformats.org/markup-compatibility/2006">
              <mc:Choice xmlns:v="urn:schemas-microsoft-com:vml" Requires="v">
                <p:oleObj name="Visio" r:id="rId6" imgW="4734122" imgH="3562460" progId="Visio.Drawing.15">
                  <p:embed/>
                </p:oleObj>
              </mc:Choice>
              <mc:Fallback>
                <p:oleObj name="Visio" r:id="rId6" imgW="4734122" imgH="3562460" progId="Visio.Drawing.15">
                  <p:embed/>
                  <p:pic>
                    <p:nvPicPr>
                      <p:cNvPr id="9" name="Object 8">
                        <a:extLst>
                          <a:ext uri="{FF2B5EF4-FFF2-40B4-BE49-F238E27FC236}">
                            <a16:creationId xmlns:a16="http://schemas.microsoft.com/office/drawing/2014/main" id="{9292E2C7-A0F8-4B17-A1C9-4145359786D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20320" y="1754695"/>
                        <a:ext cx="5692359" cy="4293806"/>
                      </a:xfrm>
                      <a:prstGeom prst="rect">
                        <a:avLst/>
                      </a:prstGeom>
                      <a:noFill/>
                    </p:spPr>
                  </p:pic>
                </p:oleObj>
              </mc:Fallback>
            </mc:AlternateContent>
          </a:graphicData>
        </a:graphic>
      </p:graphicFrame>
      <p:sp>
        <p:nvSpPr>
          <p:cNvPr id="8" name="Rounded Rectangle 7">
            <a:extLst>
              <a:ext uri="{FF2B5EF4-FFF2-40B4-BE49-F238E27FC236}">
                <a16:creationId xmlns:a16="http://schemas.microsoft.com/office/drawing/2014/main" id="{0FF55CB8-32B3-5658-9B30-6A42E2F97D6C}"/>
              </a:ext>
            </a:extLst>
          </p:cNvPr>
          <p:cNvSpPr/>
          <p:nvPr/>
        </p:nvSpPr>
        <p:spPr>
          <a:xfrm>
            <a:off x="3330413" y="2183218"/>
            <a:ext cx="3089905" cy="1765930"/>
          </a:xfrm>
          <a:prstGeom prst="roundRect">
            <a:avLst>
              <a:gd name="adj" fmla="val 0"/>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9" name="Rounded Rectangle 8">
            <a:extLst>
              <a:ext uri="{FF2B5EF4-FFF2-40B4-BE49-F238E27FC236}">
                <a16:creationId xmlns:a16="http://schemas.microsoft.com/office/drawing/2014/main" id="{D1BFD921-2998-E37E-4699-DF6669EA1E4A}"/>
              </a:ext>
            </a:extLst>
          </p:cNvPr>
          <p:cNvSpPr/>
          <p:nvPr/>
        </p:nvSpPr>
        <p:spPr>
          <a:xfrm>
            <a:off x="3330413" y="3962314"/>
            <a:ext cx="3089905" cy="1892705"/>
          </a:xfrm>
          <a:prstGeom prst="roundRect">
            <a:avLst>
              <a:gd name="adj" fmla="val 0"/>
            </a:avLst>
          </a:prstGeom>
          <a:noFill/>
          <a:ln w="28575"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10" name="Rounded Rectangle 9">
            <a:extLst>
              <a:ext uri="{FF2B5EF4-FFF2-40B4-BE49-F238E27FC236}">
                <a16:creationId xmlns:a16="http://schemas.microsoft.com/office/drawing/2014/main" id="{B2ECB89C-417F-D4F3-9AB2-202EA9EDC9F4}"/>
              </a:ext>
            </a:extLst>
          </p:cNvPr>
          <p:cNvSpPr/>
          <p:nvPr/>
        </p:nvSpPr>
        <p:spPr>
          <a:xfrm>
            <a:off x="8481391" y="4982817"/>
            <a:ext cx="1028833" cy="1072225"/>
          </a:xfrm>
          <a:prstGeom prst="roundRect">
            <a:avLst>
              <a:gd name="adj" fmla="val 0"/>
            </a:avLst>
          </a:prstGeom>
          <a:noFill/>
          <a:ln w="28575"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11" name="Rounded Rectangle 10">
            <a:extLst>
              <a:ext uri="{FF2B5EF4-FFF2-40B4-BE49-F238E27FC236}">
                <a16:creationId xmlns:a16="http://schemas.microsoft.com/office/drawing/2014/main" id="{0E46FF7D-264C-54BB-C42D-40E1249702B1}"/>
              </a:ext>
            </a:extLst>
          </p:cNvPr>
          <p:cNvSpPr/>
          <p:nvPr/>
        </p:nvSpPr>
        <p:spPr>
          <a:xfrm>
            <a:off x="8516310" y="2779636"/>
            <a:ext cx="1028833" cy="1072225"/>
          </a:xfrm>
          <a:prstGeom prst="roundRect">
            <a:avLst>
              <a:gd name="adj" fmla="val 0"/>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221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t>ALU (Arithmetic Logic Unit)</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10</a:t>
            </a:fld>
            <a:endParaRPr lang="en-VN" dirty="0"/>
          </a:p>
        </p:txBody>
      </p:sp>
      <p:grpSp>
        <p:nvGrpSpPr>
          <p:cNvPr id="8" name="Group 4">
            <a:extLst>
              <a:ext uri="{FF2B5EF4-FFF2-40B4-BE49-F238E27FC236}">
                <a16:creationId xmlns:a16="http://schemas.microsoft.com/office/drawing/2014/main" id="{482F2575-E623-4024-8A16-2A89595777D3}"/>
              </a:ext>
            </a:extLst>
          </p:cNvPr>
          <p:cNvGrpSpPr/>
          <p:nvPr/>
        </p:nvGrpSpPr>
        <p:grpSpPr>
          <a:xfrm>
            <a:off x="1247917" y="2453330"/>
            <a:ext cx="4311788" cy="2398440"/>
            <a:chOff x="6215760" y="1007640"/>
            <a:chExt cx="3443760" cy="1618200"/>
          </a:xfrm>
        </p:grpSpPr>
        <p:grpSp>
          <p:nvGrpSpPr>
            <p:cNvPr id="9" name="Group 5">
              <a:extLst>
                <a:ext uri="{FF2B5EF4-FFF2-40B4-BE49-F238E27FC236}">
                  <a16:creationId xmlns:a16="http://schemas.microsoft.com/office/drawing/2014/main" id="{23B98006-5118-A805-CFC7-B9CF58D763B7}"/>
                </a:ext>
              </a:extLst>
            </p:cNvPr>
            <p:cNvGrpSpPr/>
            <p:nvPr/>
          </p:nvGrpSpPr>
          <p:grpSpPr>
            <a:xfrm>
              <a:off x="6215760" y="1007640"/>
              <a:ext cx="3132360" cy="1618200"/>
              <a:chOff x="6215760" y="1007640"/>
              <a:chExt cx="3132360" cy="1618200"/>
            </a:xfrm>
          </p:grpSpPr>
          <p:sp>
            <p:nvSpPr>
              <p:cNvPr id="14" name="Line 6">
                <a:extLst>
                  <a:ext uri="{FF2B5EF4-FFF2-40B4-BE49-F238E27FC236}">
                    <a16:creationId xmlns:a16="http://schemas.microsoft.com/office/drawing/2014/main" id="{4006818F-DFC7-7547-0C0F-95B40221EB90}"/>
                  </a:ext>
                </a:extLst>
              </p:cNvPr>
              <p:cNvSpPr/>
              <p:nvPr/>
            </p:nvSpPr>
            <p:spPr>
              <a:xfrm>
                <a:off x="7062480" y="1292400"/>
                <a:ext cx="1270800" cy="349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15" name="Line 7">
                <a:extLst>
                  <a:ext uri="{FF2B5EF4-FFF2-40B4-BE49-F238E27FC236}">
                    <a16:creationId xmlns:a16="http://schemas.microsoft.com/office/drawing/2014/main" id="{3079244D-4355-97A5-59B8-A33BEF746FA2}"/>
                  </a:ext>
                </a:extLst>
              </p:cNvPr>
              <p:cNvSpPr/>
              <p:nvPr/>
            </p:nvSpPr>
            <p:spPr>
              <a:xfrm>
                <a:off x="8333280" y="1641600"/>
                <a:ext cx="360" cy="6040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16" name="Line 8">
                <a:extLst>
                  <a:ext uri="{FF2B5EF4-FFF2-40B4-BE49-F238E27FC236}">
                    <a16:creationId xmlns:a16="http://schemas.microsoft.com/office/drawing/2014/main" id="{01F3F38D-D747-D7DC-EDF0-6E814DCC07DA}"/>
                  </a:ext>
                </a:extLst>
              </p:cNvPr>
              <p:cNvSpPr/>
              <p:nvPr/>
            </p:nvSpPr>
            <p:spPr>
              <a:xfrm flipH="1">
                <a:off x="7062480" y="2245680"/>
                <a:ext cx="1270800" cy="38016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17" name="Line 9">
                <a:extLst>
                  <a:ext uri="{FF2B5EF4-FFF2-40B4-BE49-F238E27FC236}">
                    <a16:creationId xmlns:a16="http://schemas.microsoft.com/office/drawing/2014/main" id="{3CA7EA1B-0B28-BA0E-18C8-D10AA0F4D9B2}"/>
                  </a:ext>
                </a:extLst>
              </p:cNvPr>
              <p:cNvSpPr/>
              <p:nvPr/>
            </p:nvSpPr>
            <p:spPr>
              <a:xfrm flipV="1">
                <a:off x="7062480" y="2086560"/>
                <a:ext cx="360" cy="5392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18" name="Line 10">
                <a:extLst>
                  <a:ext uri="{FF2B5EF4-FFF2-40B4-BE49-F238E27FC236}">
                    <a16:creationId xmlns:a16="http://schemas.microsoft.com/office/drawing/2014/main" id="{4E3016B6-1FA9-94A7-4A66-71C65A2E7749}"/>
                  </a:ext>
                </a:extLst>
              </p:cNvPr>
              <p:cNvSpPr/>
              <p:nvPr/>
            </p:nvSpPr>
            <p:spPr>
              <a:xfrm flipV="1">
                <a:off x="7062480" y="1927800"/>
                <a:ext cx="169920" cy="15876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19" name="Line 11">
                <a:extLst>
                  <a:ext uri="{FF2B5EF4-FFF2-40B4-BE49-F238E27FC236}">
                    <a16:creationId xmlns:a16="http://schemas.microsoft.com/office/drawing/2014/main" id="{3D4650A5-FB4E-9949-3C13-57AE0D33B81A}"/>
                  </a:ext>
                </a:extLst>
              </p:cNvPr>
              <p:cNvSpPr/>
              <p:nvPr/>
            </p:nvSpPr>
            <p:spPr>
              <a:xfrm>
                <a:off x="7062480" y="1737360"/>
                <a:ext cx="169920" cy="1904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0" name="Line 12">
                <a:extLst>
                  <a:ext uri="{FF2B5EF4-FFF2-40B4-BE49-F238E27FC236}">
                    <a16:creationId xmlns:a16="http://schemas.microsoft.com/office/drawing/2014/main" id="{C40EE9F3-E12B-F3D0-8D56-EF6420FAFEF2}"/>
                  </a:ext>
                </a:extLst>
              </p:cNvPr>
              <p:cNvSpPr/>
              <p:nvPr/>
            </p:nvSpPr>
            <p:spPr>
              <a:xfrm flipV="1">
                <a:off x="7062480" y="1292400"/>
                <a:ext cx="360" cy="44496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1" name="Line 13">
                <a:extLst>
                  <a:ext uri="{FF2B5EF4-FFF2-40B4-BE49-F238E27FC236}">
                    <a16:creationId xmlns:a16="http://schemas.microsoft.com/office/drawing/2014/main" id="{CB86103E-8A21-7469-D08F-4E8CBFF24EB0}"/>
                  </a:ext>
                </a:extLst>
              </p:cNvPr>
              <p:cNvSpPr/>
              <p:nvPr/>
            </p:nvSpPr>
            <p:spPr>
              <a:xfrm>
                <a:off x="6215760" y="1484280"/>
                <a:ext cx="84672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sp>
          <p:sp>
            <p:nvSpPr>
              <p:cNvPr id="22" name="Line 14">
                <a:extLst>
                  <a:ext uri="{FF2B5EF4-FFF2-40B4-BE49-F238E27FC236}">
                    <a16:creationId xmlns:a16="http://schemas.microsoft.com/office/drawing/2014/main" id="{FBEF1FD6-412E-A810-9467-6756AC661994}"/>
                  </a:ext>
                </a:extLst>
              </p:cNvPr>
              <p:cNvSpPr/>
              <p:nvPr/>
            </p:nvSpPr>
            <p:spPr>
              <a:xfrm>
                <a:off x="6215760" y="2372760"/>
                <a:ext cx="84672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sp>
          <p:sp>
            <p:nvSpPr>
              <p:cNvPr id="23" name="Line 15">
                <a:extLst>
                  <a:ext uri="{FF2B5EF4-FFF2-40B4-BE49-F238E27FC236}">
                    <a16:creationId xmlns:a16="http://schemas.microsoft.com/office/drawing/2014/main" id="{A4740927-58FB-67FB-A30F-9992DC4F1BEE}"/>
                  </a:ext>
                </a:extLst>
              </p:cNvPr>
              <p:cNvSpPr/>
              <p:nvPr/>
            </p:nvSpPr>
            <p:spPr>
              <a:xfrm>
                <a:off x="7697880" y="1007640"/>
                <a:ext cx="360" cy="443880"/>
              </a:xfrm>
              <a:prstGeom prst="line">
                <a:avLst/>
              </a:prstGeom>
              <a:ln w="15840">
                <a:solidFill>
                  <a:srgbClr val="3333FF"/>
                </a:solidFill>
                <a:round/>
              </a:ln>
            </p:spPr>
            <p:style>
              <a:lnRef idx="0">
                <a:scrgbClr r="0" g="0" b="0"/>
              </a:lnRef>
              <a:fillRef idx="0">
                <a:scrgbClr r="0" g="0" b="0"/>
              </a:fillRef>
              <a:effectRef idx="0">
                <a:scrgbClr r="0" g="0" b="0"/>
              </a:effectRef>
              <a:fontRef idx="minor"/>
            </p:style>
          </p:sp>
          <p:sp>
            <p:nvSpPr>
              <p:cNvPr id="24" name="Line 16">
                <a:extLst>
                  <a:ext uri="{FF2B5EF4-FFF2-40B4-BE49-F238E27FC236}">
                    <a16:creationId xmlns:a16="http://schemas.microsoft.com/office/drawing/2014/main" id="{DEE360B9-2F3B-F46C-04F8-4D6FBEF50681}"/>
                  </a:ext>
                </a:extLst>
              </p:cNvPr>
              <p:cNvSpPr/>
              <p:nvPr/>
            </p:nvSpPr>
            <p:spPr>
              <a:xfrm>
                <a:off x="8315640" y="1765080"/>
                <a:ext cx="100800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sp>
          <p:sp>
            <p:nvSpPr>
              <p:cNvPr id="25" name="Line 17">
                <a:extLst>
                  <a:ext uri="{FF2B5EF4-FFF2-40B4-BE49-F238E27FC236}">
                    <a16:creationId xmlns:a16="http://schemas.microsoft.com/office/drawing/2014/main" id="{B9454DD8-CB49-3B6C-6165-CBB23DCAE8C0}"/>
                  </a:ext>
                </a:extLst>
              </p:cNvPr>
              <p:cNvSpPr/>
              <p:nvPr/>
            </p:nvSpPr>
            <p:spPr>
              <a:xfrm>
                <a:off x="8333280" y="2086560"/>
                <a:ext cx="101484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sp>
          <p:sp>
            <p:nvSpPr>
              <p:cNvPr id="26" name="CustomShape 18">
                <a:extLst>
                  <a:ext uri="{FF2B5EF4-FFF2-40B4-BE49-F238E27FC236}">
                    <a16:creationId xmlns:a16="http://schemas.microsoft.com/office/drawing/2014/main" id="{818C26B6-C663-1378-DF7E-033C6E260199}"/>
                  </a:ext>
                </a:extLst>
              </p:cNvPr>
              <p:cNvSpPr/>
              <p:nvPr/>
            </p:nvSpPr>
            <p:spPr>
              <a:xfrm>
                <a:off x="7652880" y="1906920"/>
                <a:ext cx="5972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dirty="0">
                    <a:solidFill>
                      <a:srgbClr val="000000"/>
                    </a:solidFill>
                    <a:latin typeface="Verdana"/>
                    <a:ea typeface="ＭＳ Ｐゴシック"/>
                  </a:rPr>
                  <a:t>ALU</a:t>
                </a:r>
                <a:endParaRPr lang="en-US" sz="1000" b="0" strike="noStrike" spc="-1" dirty="0">
                  <a:latin typeface="Arial"/>
                </a:endParaRPr>
              </a:p>
              <a:p>
                <a:pPr algn="ctr">
                  <a:lnSpc>
                    <a:spcPct val="100000"/>
                  </a:lnSpc>
                </a:pPr>
                <a:r>
                  <a:rPr lang="en-US" sz="1000" b="1" strike="noStrike" spc="-1" dirty="0">
                    <a:solidFill>
                      <a:srgbClr val="000000"/>
                    </a:solidFill>
                    <a:latin typeface="Verdana"/>
                    <a:ea typeface="ＭＳ Ｐゴシック"/>
                  </a:rPr>
                  <a:t>result</a:t>
                </a:r>
                <a:endParaRPr lang="en-US" sz="1000" b="0" strike="noStrike" spc="-1" dirty="0">
                  <a:latin typeface="Arial"/>
                </a:endParaRPr>
              </a:p>
            </p:txBody>
          </p:sp>
          <p:sp>
            <p:nvSpPr>
              <p:cNvPr id="27" name="CustomShape 19">
                <a:extLst>
                  <a:ext uri="{FF2B5EF4-FFF2-40B4-BE49-F238E27FC236}">
                    <a16:creationId xmlns:a16="http://schemas.microsoft.com/office/drawing/2014/main" id="{1988DE80-EC7B-92C1-8938-F9A5BE80E9E9}"/>
                  </a:ext>
                </a:extLst>
              </p:cNvPr>
              <p:cNvSpPr/>
              <p:nvPr/>
            </p:nvSpPr>
            <p:spPr>
              <a:xfrm>
                <a:off x="7208280" y="1823040"/>
                <a:ext cx="513360" cy="2721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ALU</a:t>
                </a:r>
                <a:endParaRPr lang="en-US" sz="1200" b="0" strike="noStrike" spc="-1">
                  <a:latin typeface="Arial"/>
                </a:endParaRPr>
              </a:p>
            </p:txBody>
          </p:sp>
          <p:sp>
            <p:nvSpPr>
              <p:cNvPr id="28" name="CustomShape 20">
                <a:extLst>
                  <a:ext uri="{FF2B5EF4-FFF2-40B4-BE49-F238E27FC236}">
                    <a16:creationId xmlns:a16="http://schemas.microsoft.com/office/drawing/2014/main" id="{36B56663-C852-DA9A-14DD-FCA67C6B1E54}"/>
                  </a:ext>
                </a:extLst>
              </p:cNvPr>
              <p:cNvSpPr/>
              <p:nvPr/>
            </p:nvSpPr>
            <p:spPr>
              <a:xfrm>
                <a:off x="7783560" y="1060560"/>
                <a:ext cx="124776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1" strike="noStrike" spc="-1">
                    <a:solidFill>
                      <a:srgbClr val="660066"/>
                    </a:solidFill>
                    <a:latin typeface="Courier New"/>
                    <a:ea typeface="ＭＳ Ｐゴシック"/>
                  </a:rPr>
                  <a:t>ALUcontrol</a:t>
                </a:r>
                <a:endParaRPr lang="en-US" sz="1400" b="0" strike="noStrike" spc="-1">
                  <a:latin typeface="Arial"/>
                </a:endParaRPr>
              </a:p>
            </p:txBody>
          </p:sp>
          <p:sp>
            <p:nvSpPr>
              <p:cNvPr id="29" name="Line 21">
                <a:extLst>
                  <a:ext uri="{FF2B5EF4-FFF2-40B4-BE49-F238E27FC236}">
                    <a16:creationId xmlns:a16="http://schemas.microsoft.com/office/drawing/2014/main" id="{24838EEC-4026-E6AF-B00E-33258FBF8CF2}"/>
                  </a:ext>
                </a:extLst>
              </p:cNvPr>
              <p:cNvSpPr/>
              <p:nvPr/>
            </p:nvSpPr>
            <p:spPr>
              <a:xfrm>
                <a:off x="7570080" y="1325160"/>
                <a:ext cx="253800" cy="64440"/>
              </a:xfrm>
              <a:prstGeom prst="line">
                <a:avLst/>
              </a:prstGeom>
              <a:ln w="15840">
                <a:solidFill>
                  <a:srgbClr val="3333FF"/>
                </a:solidFill>
                <a:round/>
              </a:ln>
            </p:spPr>
            <p:style>
              <a:lnRef idx="0">
                <a:scrgbClr r="0" g="0" b="0"/>
              </a:lnRef>
              <a:fillRef idx="0">
                <a:scrgbClr r="0" g="0" b="0"/>
              </a:fillRef>
              <a:effectRef idx="0">
                <a:scrgbClr r="0" g="0" b="0"/>
              </a:effectRef>
              <a:fontRef idx="minor"/>
            </p:style>
          </p:sp>
          <p:sp>
            <p:nvSpPr>
              <p:cNvPr id="30" name="CustomShape 22">
                <a:extLst>
                  <a:ext uri="{FF2B5EF4-FFF2-40B4-BE49-F238E27FC236}">
                    <a16:creationId xmlns:a16="http://schemas.microsoft.com/office/drawing/2014/main" id="{65FA9BFF-226B-D939-A84A-0A0267F393F1}"/>
                  </a:ext>
                </a:extLst>
              </p:cNvPr>
              <p:cNvSpPr/>
              <p:nvPr/>
            </p:nvSpPr>
            <p:spPr>
              <a:xfrm>
                <a:off x="7386840" y="114444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660066"/>
                    </a:solidFill>
                    <a:latin typeface="Verdana"/>
                    <a:ea typeface="ＭＳ Ｐゴシック"/>
                  </a:rPr>
                  <a:t>4</a:t>
                </a:r>
                <a:endParaRPr lang="en-US" sz="1000" b="0" strike="noStrike" spc="-1">
                  <a:latin typeface="Arial"/>
                </a:endParaRPr>
              </a:p>
            </p:txBody>
          </p:sp>
          <p:sp>
            <p:nvSpPr>
              <p:cNvPr id="31" name="CustomShape 23">
                <a:extLst>
                  <a:ext uri="{FF2B5EF4-FFF2-40B4-BE49-F238E27FC236}">
                    <a16:creationId xmlns:a16="http://schemas.microsoft.com/office/drawing/2014/main" id="{A020DB74-BC7D-5A62-CB58-0DE26514A516}"/>
                  </a:ext>
                </a:extLst>
              </p:cNvPr>
              <p:cNvSpPr/>
              <p:nvPr/>
            </p:nvSpPr>
            <p:spPr>
              <a:xfrm>
                <a:off x="7559640" y="1637640"/>
                <a:ext cx="883440" cy="2419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1" strike="noStrike" spc="-1">
                    <a:solidFill>
                      <a:srgbClr val="C00000"/>
                    </a:solidFill>
                    <a:latin typeface="Verdana"/>
                    <a:ea typeface="ＭＳ Ｐゴシック"/>
                  </a:rPr>
                  <a:t>isZero?</a:t>
                </a:r>
                <a:endParaRPr lang="en-US" sz="1000" b="0" strike="noStrike" spc="-1">
                  <a:latin typeface="Arial"/>
                </a:endParaRPr>
              </a:p>
            </p:txBody>
          </p:sp>
        </p:grpSp>
        <p:sp>
          <p:nvSpPr>
            <p:cNvPr id="10" name="CustomShape 24">
              <a:extLst>
                <a:ext uri="{FF2B5EF4-FFF2-40B4-BE49-F238E27FC236}">
                  <a16:creationId xmlns:a16="http://schemas.microsoft.com/office/drawing/2014/main" id="{2458096D-524B-4604-C8B0-016F2D81FEED}"/>
                </a:ext>
              </a:extLst>
            </p:cNvPr>
            <p:cNvSpPr/>
            <p:nvPr/>
          </p:nvSpPr>
          <p:spPr>
            <a:xfrm>
              <a:off x="6383880" y="1259640"/>
              <a:ext cx="419400" cy="25200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2000" b="1" strike="noStrike" spc="-1">
                  <a:solidFill>
                    <a:srgbClr val="000000"/>
                  </a:solidFill>
                  <a:latin typeface="Times New Roman"/>
                  <a:ea typeface="ＭＳ Ｐゴシック"/>
                </a:rPr>
                <a:t>A</a:t>
              </a:r>
              <a:endParaRPr lang="en-US" sz="2000" b="0" strike="noStrike" spc="-1">
                <a:latin typeface="Arial"/>
              </a:endParaRPr>
            </a:p>
          </p:txBody>
        </p:sp>
        <p:sp>
          <p:nvSpPr>
            <p:cNvPr id="11" name="CustomShape 25">
              <a:extLst>
                <a:ext uri="{FF2B5EF4-FFF2-40B4-BE49-F238E27FC236}">
                  <a16:creationId xmlns:a16="http://schemas.microsoft.com/office/drawing/2014/main" id="{C8156FE5-90CC-DDD2-CD1F-C658F7CECEF3}"/>
                </a:ext>
              </a:extLst>
            </p:cNvPr>
            <p:cNvSpPr/>
            <p:nvPr/>
          </p:nvSpPr>
          <p:spPr>
            <a:xfrm>
              <a:off x="6383880" y="2142000"/>
              <a:ext cx="419400" cy="251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2000" b="1" strike="noStrike" spc="-1">
                  <a:solidFill>
                    <a:srgbClr val="000000"/>
                  </a:solidFill>
                  <a:latin typeface="Times New Roman"/>
                  <a:ea typeface="ＭＳ Ｐゴシック"/>
                </a:rPr>
                <a:t>B</a:t>
              </a:r>
              <a:endParaRPr lang="en-US" sz="2000" b="0" strike="noStrike" spc="-1">
                <a:latin typeface="Arial"/>
              </a:endParaRPr>
            </a:p>
          </p:txBody>
        </p:sp>
        <p:sp>
          <p:nvSpPr>
            <p:cNvPr id="12" name="CustomShape 26">
              <a:extLst>
                <a:ext uri="{FF2B5EF4-FFF2-40B4-BE49-F238E27FC236}">
                  <a16:creationId xmlns:a16="http://schemas.microsoft.com/office/drawing/2014/main" id="{A2DA331C-60C7-15C7-A2BE-A31B4DB9E413}"/>
                </a:ext>
              </a:extLst>
            </p:cNvPr>
            <p:cNvSpPr/>
            <p:nvPr/>
          </p:nvSpPr>
          <p:spPr>
            <a:xfrm>
              <a:off x="8315640" y="2079000"/>
              <a:ext cx="1007640" cy="251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1" strike="noStrike" spc="-1">
                  <a:solidFill>
                    <a:srgbClr val="000000"/>
                  </a:solidFill>
                  <a:latin typeface="Times New Roman"/>
                  <a:ea typeface="ＭＳ Ｐゴシック"/>
                </a:rPr>
                <a:t>A op B</a:t>
              </a:r>
              <a:endParaRPr lang="en-US" sz="1800" b="0" strike="noStrike" spc="-1">
                <a:latin typeface="Arial"/>
              </a:endParaRPr>
            </a:p>
          </p:txBody>
        </p:sp>
        <p:sp>
          <p:nvSpPr>
            <p:cNvPr id="13" name="CustomShape 27">
              <a:extLst>
                <a:ext uri="{FF2B5EF4-FFF2-40B4-BE49-F238E27FC236}">
                  <a16:creationId xmlns:a16="http://schemas.microsoft.com/office/drawing/2014/main" id="{DCAEFDA0-CD1F-69DD-099F-A02BF9E43737}"/>
                </a:ext>
              </a:extLst>
            </p:cNvPr>
            <p:cNvSpPr/>
            <p:nvPr/>
          </p:nvSpPr>
          <p:spPr>
            <a:xfrm>
              <a:off x="8315640" y="1448640"/>
              <a:ext cx="1343880" cy="25200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0000"/>
                  </a:solidFill>
                  <a:latin typeface="Times New Roman"/>
                  <a:ea typeface="ＭＳ Ｐゴシック"/>
                </a:rPr>
                <a:t>(A op B) == 0?</a:t>
              </a:r>
              <a:endParaRPr lang="en-US" sz="1200" b="0" strike="noStrike" spc="-1">
                <a:latin typeface="Arial"/>
              </a:endParaRPr>
            </a:p>
          </p:txBody>
        </p:sp>
      </p:grpSp>
      <p:graphicFrame>
        <p:nvGraphicFramePr>
          <p:cNvPr id="32" name="Table 31">
            <a:extLst>
              <a:ext uri="{FF2B5EF4-FFF2-40B4-BE49-F238E27FC236}">
                <a16:creationId xmlns:a16="http://schemas.microsoft.com/office/drawing/2014/main" id="{EF1F4F66-E409-B06A-1888-194787F2AD52}"/>
              </a:ext>
            </a:extLst>
          </p:cNvPr>
          <p:cNvGraphicFramePr/>
          <p:nvPr>
            <p:extLst>
              <p:ext uri="{D42A27DB-BD31-4B8C-83A1-F6EECF244321}">
                <p14:modId xmlns:p14="http://schemas.microsoft.com/office/powerpoint/2010/main" val="986251838"/>
              </p:ext>
            </p:extLst>
          </p:nvPr>
        </p:nvGraphicFramePr>
        <p:xfrm>
          <a:off x="6448560" y="1839660"/>
          <a:ext cx="4702424" cy="3625781"/>
        </p:xfrm>
        <a:graphic>
          <a:graphicData uri="http://schemas.openxmlformats.org/drawingml/2006/table">
            <a:tbl>
              <a:tblPr/>
              <a:tblGrid>
                <a:gridCol w="2350947">
                  <a:extLst>
                    <a:ext uri="{9D8B030D-6E8A-4147-A177-3AD203B41FA5}">
                      <a16:colId xmlns:a16="http://schemas.microsoft.com/office/drawing/2014/main" val="20000"/>
                    </a:ext>
                  </a:extLst>
                </a:gridCol>
                <a:gridCol w="2351477">
                  <a:extLst>
                    <a:ext uri="{9D8B030D-6E8A-4147-A177-3AD203B41FA5}">
                      <a16:colId xmlns:a16="http://schemas.microsoft.com/office/drawing/2014/main" val="20001"/>
                    </a:ext>
                  </a:extLst>
                </a:gridCol>
              </a:tblGrid>
              <a:tr h="477077">
                <a:tc>
                  <a:txBody>
                    <a:bodyPr/>
                    <a:lstStyle/>
                    <a:p>
                      <a:pPr algn="ctr">
                        <a:lnSpc>
                          <a:spcPct val="100000"/>
                        </a:lnSpc>
                        <a:spcBef>
                          <a:spcPts val="281"/>
                        </a:spcBef>
                      </a:pPr>
                      <a:r>
                        <a:rPr lang="en-US" sz="2000" b="1" strike="noStrike" spc="-1" dirty="0" err="1">
                          <a:solidFill>
                            <a:srgbClr val="000000"/>
                          </a:solidFill>
                          <a:latin typeface="Arial"/>
                          <a:ea typeface="ＭＳ Ｐゴシック"/>
                        </a:rPr>
                        <a:t>ALUcontrol</a:t>
                      </a:r>
                      <a:endParaRPr lang="en-US" sz="2000" b="0" strike="noStrike" spc="-1" dirty="0">
                        <a:latin typeface="Arial"/>
                      </a:endParaRPr>
                    </a:p>
                  </a:txBody>
                  <a:tcPr>
                    <a:lnL w="28080">
                      <a:solidFill>
                        <a:srgbClr val="000000"/>
                      </a:solidFill>
                    </a:lnL>
                    <a:lnR w="12240">
                      <a:solidFill>
                        <a:srgbClr val="000000"/>
                      </a:solidFill>
                    </a:lnR>
                    <a:lnT w="28080">
                      <a:solidFill>
                        <a:srgbClr val="000000"/>
                      </a:solidFill>
                    </a:lnT>
                    <a:lnB w="12240">
                      <a:solidFill>
                        <a:srgbClr val="000000"/>
                      </a:solidFill>
                    </a:lnB>
                    <a:solidFill>
                      <a:srgbClr val="EEE8E0"/>
                    </a:solidFill>
                  </a:tcPr>
                </a:tc>
                <a:tc>
                  <a:txBody>
                    <a:bodyPr/>
                    <a:lstStyle/>
                    <a:p>
                      <a:pPr algn="ctr">
                        <a:lnSpc>
                          <a:spcPct val="100000"/>
                        </a:lnSpc>
                        <a:spcBef>
                          <a:spcPts val="281"/>
                        </a:spcBef>
                      </a:pPr>
                      <a:r>
                        <a:rPr lang="en-US" sz="2000" b="1" strike="noStrike" spc="-1">
                          <a:solidFill>
                            <a:srgbClr val="000000"/>
                          </a:solidFill>
                          <a:latin typeface="Arial"/>
                          <a:ea typeface="ＭＳ Ｐゴシック"/>
                        </a:rPr>
                        <a:t>Function</a:t>
                      </a:r>
                      <a:endParaRPr lang="en-US" sz="2000" b="0" strike="noStrike" spc="-1">
                        <a:latin typeface="Arial"/>
                      </a:endParaRPr>
                    </a:p>
                  </a:txBody>
                  <a:tcPr>
                    <a:lnL w="12240">
                      <a:solidFill>
                        <a:srgbClr val="000000"/>
                      </a:solidFill>
                    </a:lnL>
                    <a:lnR w="28080">
                      <a:solidFill>
                        <a:srgbClr val="000000"/>
                      </a:solidFill>
                    </a:lnR>
                    <a:lnT w="28080">
                      <a:solidFill>
                        <a:srgbClr val="000000"/>
                      </a:solidFill>
                    </a:lnT>
                    <a:lnB w="12240">
                      <a:solidFill>
                        <a:srgbClr val="000000"/>
                      </a:solidFill>
                    </a:lnB>
                    <a:solidFill>
                      <a:srgbClr val="EEE8E0"/>
                    </a:solidFill>
                  </a:tcPr>
                </a:tc>
                <a:extLst>
                  <a:ext uri="{0D108BD9-81ED-4DB2-BD59-A6C34878D82A}">
                    <a16:rowId xmlns:a16="http://schemas.microsoft.com/office/drawing/2014/main" val="10000"/>
                  </a:ext>
                </a:extLst>
              </a:tr>
              <a:tr h="524784">
                <a:tc>
                  <a:txBody>
                    <a:bodyPr/>
                    <a:lstStyle/>
                    <a:p>
                      <a:pPr algn="ctr">
                        <a:lnSpc>
                          <a:spcPct val="100000"/>
                        </a:lnSpc>
                        <a:spcBef>
                          <a:spcPts val="320"/>
                        </a:spcBef>
                      </a:pPr>
                      <a:r>
                        <a:rPr lang="en-US" sz="2400" b="1" strike="noStrike" spc="-1" dirty="0">
                          <a:solidFill>
                            <a:srgbClr val="000000"/>
                          </a:solidFill>
                          <a:latin typeface="Courier New"/>
                          <a:ea typeface="ＭＳ Ｐゴシック"/>
                        </a:rPr>
                        <a:t>0000</a:t>
                      </a:r>
                      <a:endParaRPr lang="en-US" sz="2400" b="1" strike="noStrike" spc="-1" dirty="0">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spcBef>
                          <a:spcPts val="281"/>
                        </a:spcBef>
                      </a:pPr>
                      <a:r>
                        <a:rPr lang="en-US" sz="2000" b="1" strike="noStrike" spc="-1">
                          <a:solidFill>
                            <a:srgbClr val="000000"/>
                          </a:solidFill>
                          <a:latin typeface="Arial"/>
                          <a:ea typeface="ＭＳ Ｐゴシック"/>
                        </a:rPr>
                        <a:t>AND</a:t>
                      </a:r>
                      <a:endParaRPr lang="en-US" sz="2000" b="0" strike="noStrike" spc="-1">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solidFill>
                      <a:srgbClr val="FFFFFF"/>
                    </a:solidFill>
                  </a:tcPr>
                </a:tc>
                <a:extLst>
                  <a:ext uri="{0D108BD9-81ED-4DB2-BD59-A6C34878D82A}">
                    <a16:rowId xmlns:a16="http://schemas.microsoft.com/office/drawing/2014/main" val="10001"/>
                  </a:ext>
                </a:extLst>
              </a:tr>
              <a:tr h="524784">
                <a:tc>
                  <a:txBody>
                    <a:bodyPr/>
                    <a:lstStyle/>
                    <a:p>
                      <a:pPr algn="ctr">
                        <a:lnSpc>
                          <a:spcPct val="100000"/>
                        </a:lnSpc>
                        <a:spcBef>
                          <a:spcPts val="320"/>
                        </a:spcBef>
                      </a:pPr>
                      <a:r>
                        <a:rPr lang="en-US" sz="2400" b="1" strike="noStrike" spc="-1" dirty="0">
                          <a:solidFill>
                            <a:srgbClr val="000000"/>
                          </a:solidFill>
                          <a:latin typeface="Courier New"/>
                          <a:ea typeface="ＭＳ Ｐゴシック"/>
                        </a:rPr>
                        <a:t>0001</a:t>
                      </a:r>
                      <a:endParaRPr lang="en-US" sz="2400" b="1" strike="noStrike" spc="-1" dirty="0">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spcBef>
                          <a:spcPts val="281"/>
                        </a:spcBef>
                      </a:pPr>
                      <a:r>
                        <a:rPr lang="en-US" sz="2000" b="1" strike="noStrike" spc="-1" dirty="0">
                          <a:solidFill>
                            <a:srgbClr val="000000"/>
                          </a:solidFill>
                          <a:latin typeface="Arial"/>
                          <a:ea typeface="ＭＳ Ｐゴシック"/>
                        </a:rPr>
                        <a:t>OR</a:t>
                      </a:r>
                      <a:endParaRPr lang="en-US" sz="2000" b="0" strike="noStrike" spc="-1" dirty="0">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solidFill>
                      <a:srgbClr val="FFFFFF"/>
                    </a:solidFill>
                  </a:tcPr>
                </a:tc>
                <a:extLst>
                  <a:ext uri="{0D108BD9-81ED-4DB2-BD59-A6C34878D82A}">
                    <a16:rowId xmlns:a16="http://schemas.microsoft.com/office/drawing/2014/main" val="10002"/>
                  </a:ext>
                </a:extLst>
              </a:tr>
              <a:tr h="524784">
                <a:tc>
                  <a:txBody>
                    <a:bodyPr/>
                    <a:lstStyle/>
                    <a:p>
                      <a:pPr algn="ctr">
                        <a:lnSpc>
                          <a:spcPct val="100000"/>
                        </a:lnSpc>
                        <a:spcBef>
                          <a:spcPts val="320"/>
                        </a:spcBef>
                      </a:pPr>
                      <a:r>
                        <a:rPr lang="en-US" sz="2400" b="1" strike="noStrike" spc="-1">
                          <a:solidFill>
                            <a:srgbClr val="000000"/>
                          </a:solidFill>
                          <a:latin typeface="Courier New"/>
                          <a:ea typeface="ＭＳ Ｐゴシック"/>
                        </a:rPr>
                        <a:t>0010</a:t>
                      </a:r>
                      <a:endParaRPr lang="en-US" sz="2400" b="1" strike="noStrike" spc="-1">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spcBef>
                          <a:spcPts val="281"/>
                        </a:spcBef>
                      </a:pPr>
                      <a:r>
                        <a:rPr lang="en-US" sz="2000" b="1" strike="noStrike" spc="-1" dirty="0">
                          <a:solidFill>
                            <a:srgbClr val="000000"/>
                          </a:solidFill>
                          <a:latin typeface="Arial"/>
                          <a:ea typeface="ＭＳ Ｐゴシック"/>
                        </a:rPr>
                        <a:t>add</a:t>
                      </a:r>
                      <a:endParaRPr lang="en-US" sz="2000" b="0" strike="noStrike" spc="-1" dirty="0">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solidFill>
                      <a:srgbClr val="FFFFFF"/>
                    </a:solidFill>
                  </a:tcPr>
                </a:tc>
                <a:extLst>
                  <a:ext uri="{0D108BD9-81ED-4DB2-BD59-A6C34878D82A}">
                    <a16:rowId xmlns:a16="http://schemas.microsoft.com/office/drawing/2014/main" val="10003"/>
                  </a:ext>
                </a:extLst>
              </a:tr>
              <a:tr h="524784">
                <a:tc>
                  <a:txBody>
                    <a:bodyPr/>
                    <a:lstStyle/>
                    <a:p>
                      <a:pPr algn="ctr">
                        <a:lnSpc>
                          <a:spcPct val="100000"/>
                        </a:lnSpc>
                        <a:spcBef>
                          <a:spcPts val="320"/>
                        </a:spcBef>
                      </a:pPr>
                      <a:r>
                        <a:rPr lang="en-US" sz="2400" b="1" strike="noStrike" spc="-1">
                          <a:solidFill>
                            <a:srgbClr val="000000"/>
                          </a:solidFill>
                          <a:latin typeface="Courier New"/>
                          <a:ea typeface="ＭＳ Ｐゴシック"/>
                        </a:rPr>
                        <a:t>0110</a:t>
                      </a:r>
                      <a:endParaRPr lang="en-US" sz="2400" b="1" strike="noStrike" spc="-1">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spcBef>
                          <a:spcPts val="281"/>
                        </a:spcBef>
                      </a:pPr>
                      <a:r>
                        <a:rPr lang="en-US" sz="2000" b="1" strike="noStrike" spc="-1" dirty="0">
                          <a:solidFill>
                            <a:srgbClr val="000000"/>
                          </a:solidFill>
                          <a:latin typeface="Arial"/>
                          <a:ea typeface="ＭＳ Ｐゴシック"/>
                        </a:rPr>
                        <a:t>subtract</a:t>
                      </a:r>
                      <a:endParaRPr lang="en-US" sz="2000" b="0" strike="noStrike" spc="-1" dirty="0">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solidFill>
                      <a:srgbClr val="FFFFFF"/>
                    </a:solidFill>
                  </a:tcPr>
                </a:tc>
                <a:extLst>
                  <a:ext uri="{0D108BD9-81ED-4DB2-BD59-A6C34878D82A}">
                    <a16:rowId xmlns:a16="http://schemas.microsoft.com/office/drawing/2014/main" val="10004"/>
                  </a:ext>
                </a:extLst>
              </a:tr>
              <a:tr h="524784">
                <a:tc>
                  <a:txBody>
                    <a:bodyPr/>
                    <a:lstStyle/>
                    <a:p>
                      <a:pPr algn="ctr">
                        <a:lnSpc>
                          <a:spcPct val="100000"/>
                        </a:lnSpc>
                        <a:spcBef>
                          <a:spcPts val="320"/>
                        </a:spcBef>
                      </a:pPr>
                      <a:r>
                        <a:rPr lang="en-US" sz="2400" b="1" strike="noStrike" spc="-1">
                          <a:solidFill>
                            <a:srgbClr val="000000"/>
                          </a:solidFill>
                          <a:latin typeface="Courier New"/>
                          <a:ea typeface="ＭＳ Ｐゴシック"/>
                        </a:rPr>
                        <a:t>0111</a:t>
                      </a:r>
                      <a:endParaRPr lang="en-US" sz="2400" b="1" strike="noStrike" spc="-1">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spcBef>
                          <a:spcPts val="281"/>
                        </a:spcBef>
                      </a:pPr>
                      <a:r>
                        <a:rPr lang="en-US" sz="2000" b="1" strike="noStrike" spc="-1" dirty="0" err="1">
                          <a:solidFill>
                            <a:srgbClr val="000000"/>
                          </a:solidFill>
                          <a:latin typeface="Arial"/>
                          <a:ea typeface="ＭＳ Ｐゴシック"/>
                        </a:rPr>
                        <a:t>slt</a:t>
                      </a:r>
                      <a:endParaRPr lang="en-US" sz="2000" b="0" strike="noStrike" spc="-1" dirty="0">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solidFill>
                      <a:srgbClr val="FFFFFF"/>
                    </a:solidFill>
                  </a:tcPr>
                </a:tc>
                <a:extLst>
                  <a:ext uri="{0D108BD9-81ED-4DB2-BD59-A6C34878D82A}">
                    <a16:rowId xmlns:a16="http://schemas.microsoft.com/office/drawing/2014/main" val="10005"/>
                  </a:ext>
                </a:extLst>
              </a:tr>
              <a:tr h="524784">
                <a:tc>
                  <a:txBody>
                    <a:bodyPr/>
                    <a:lstStyle/>
                    <a:p>
                      <a:pPr algn="ctr">
                        <a:lnSpc>
                          <a:spcPct val="100000"/>
                        </a:lnSpc>
                        <a:spcBef>
                          <a:spcPts val="320"/>
                        </a:spcBef>
                      </a:pPr>
                      <a:r>
                        <a:rPr lang="en-US" sz="2400" b="1" strike="noStrike" spc="-1" dirty="0">
                          <a:solidFill>
                            <a:srgbClr val="000000"/>
                          </a:solidFill>
                          <a:latin typeface="Courier New"/>
                          <a:ea typeface="ＭＳ Ｐゴシック"/>
                        </a:rPr>
                        <a:t>1100</a:t>
                      </a:r>
                      <a:endParaRPr lang="en-US" sz="2400" b="1" strike="noStrike" spc="-1" dirty="0">
                        <a:latin typeface="Arial"/>
                      </a:endParaRPr>
                    </a:p>
                  </a:txBody>
                  <a:tcPr>
                    <a:lnL w="28080">
                      <a:solidFill>
                        <a:srgbClr val="000000"/>
                      </a:solidFill>
                    </a:lnL>
                    <a:lnR w="12240">
                      <a:solidFill>
                        <a:srgbClr val="000000"/>
                      </a:solidFill>
                    </a:lnR>
                    <a:lnT w="12240">
                      <a:solidFill>
                        <a:srgbClr val="000000"/>
                      </a:solidFill>
                    </a:lnT>
                    <a:lnB w="28080">
                      <a:solidFill>
                        <a:srgbClr val="000000"/>
                      </a:solidFill>
                    </a:lnB>
                    <a:solidFill>
                      <a:srgbClr val="FFFFFF"/>
                    </a:solidFill>
                  </a:tcPr>
                </a:tc>
                <a:tc>
                  <a:txBody>
                    <a:bodyPr/>
                    <a:lstStyle/>
                    <a:p>
                      <a:pPr algn="ctr">
                        <a:lnSpc>
                          <a:spcPct val="100000"/>
                        </a:lnSpc>
                        <a:spcBef>
                          <a:spcPts val="281"/>
                        </a:spcBef>
                      </a:pPr>
                      <a:r>
                        <a:rPr lang="en-US" sz="2000" b="1" strike="noStrike" spc="-1" dirty="0">
                          <a:solidFill>
                            <a:srgbClr val="000000"/>
                          </a:solidFill>
                          <a:latin typeface="Arial"/>
                          <a:ea typeface="ＭＳ Ｐゴシック"/>
                        </a:rPr>
                        <a:t>NOR</a:t>
                      </a:r>
                      <a:endParaRPr lang="en-US" sz="2000" b="0" strike="noStrike" spc="-1" dirty="0">
                        <a:latin typeface="Arial"/>
                      </a:endParaRPr>
                    </a:p>
                  </a:txBody>
                  <a:tcPr>
                    <a:lnL w="12240">
                      <a:solidFill>
                        <a:srgbClr val="000000"/>
                      </a:solidFill>
                    </a:lnL>
                    <a:lnR w="28080">
                      <a:solidFill>
                        <a:srgbClr val="000000"/>
                      </a:solidFill>
                    </a:lnR>
                    <a:lnT w="12240">
                      <a:solidFill>
                        <a:srgbClr val="000000"/>
                      </a:solidFill>
                    </a:lnT>
                    <a:lnB w="28080">
                      <a:solidFill>
                        <a:srgbClr val="000000"/>
                      </a:solidFill>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144175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11</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a:bodyPr>
          <a:lstStyle/>
          <a:p>
            <a:r>
              <a:rPr lang="en-US" dirty="0"/>
              <a:t>3. Mux (Bộ </a:t>
            </a:r>
            <a:r>
              <a:rPr lang="en-US" dirty="0" err="1"/>
              <a:t>chọn</a:t>
            </a:r>
            <a:r>
              <a:rPr lang="en-US" dirty="0"/>
              <a:t>)</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endParaRPr lang="en-VN" dirty="0"/>
          </a:p>
        </p:txBody>
      </p:sp>
    </p:spTree>
    <p:extLst>
      <p:ext uri="{BB962C8B-B14F-4D97-AF65-F5344CB8AC3E}">
        <p14:creationId xmlns:p14="http://schemas.microsoft.com/office/powerpoint/2010/main" val="1185704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t>Mux (Multiplexer – Bộ đồn kênh (bộ chọn)</a:t>
            </a:r>
          </a:p>
        </p:txBody>
      </p:sp>
      <p:sp>
        <p:nvSpPr>
          <p:cNvPr id="8" name="Content Placeholder 2">
            <a:extLst>
              <a:ext uri="{FF2B5EF4-FFF2-40B4-BE49-F238E27FC236}">
                <a16:creationId xmlns:a16="http://schemas.microsoft.com/office/drawing/2014/main" id="{DD0974DD-D693-9E17-9DAC-F783EE142C8B}"/>
              </a:ext>
            </a:extLst>
          </p:cNvPr>
          <p:cNvSpPr>
            <a:spLocks noGrp="1"/>
          </p:cNvSpPr>
          <p:nvPr>
            <p:ph idx="1"/>
          </p:nvPr>
        </p:nvSpPr>
        <p:spPr>
          <a:xfrm>
            <a:off x="689771" y="1089318"/>
            <a:ext cx="10515600" cy="3845737"/>
          </a:xfrm>
        </p:spPr>
        <p:txBody>
          <a:bodyPr/>
          <a:lstStyle/>
          <a:p>
            <a:pPr marL="0" indent="0" algn="just">
              <a:buNone/>
            </a:pPr>
            <a:r>
              <a:rPr lang="vi-VN" dirty="0"/>
              <a:t>Bộ chọn là một mạch tổ hợp có chức năng lựa chọn một trong những ngõ vào dữ liệu để gửi tới một ngõ ra duy nhất dựa trên các ngõ vào điều khiển</a:t>
            </a:r>
            <a:r>
              <a:rPr lang="en-US" dirty="0"/>
              <a:t>.</a:t>
            </a:r>
          </a:p>
          <a:p>
            <a:pPr marL="0" indent="0">
              <a:buNone/>
            </a:pPr>
            <a:endParaRPr lang="en-US"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12</a:t>
            </a:fld>
            <a:endParaRPr lang="en-VN" dirty="0"/>
          </a:p>
        </p:txBody>
      </p:sp>
      <p:graphicFrame>
        <p:nvGraphicFramePr>
          <p:cNvPr id="16" name="Object 15">
            <a:extLst>
              <a:ext uri="{FF2B5EF4-FFF2-40B4-BE49-F238E27FC236}">
                <a16:creationId xmlns:a16="http://schemas.microsoft.com/office/drawing/2014/main" id="{D36ED1FF-D78C-B6EE-2F33-8D01B8A7474A}"/>
              </a:ext>
            </a:extLst>
          </p:cNvPr>
          <p:cNvGraphicFramePr>
            <a:graphicFrameLocks noChangeAspect="1"/>
          </p:cNvGraphicFramePr>
          <p:nvPr>
            <p:extLst>
              <p:ext uri="{D42A27DB-BD31-4B8C-83A1-F6EECF244321}">
                <p14:modId xmlns:p14="http://schemas.microsoft.com/office/powerpoint/2010/main" val="1666930080"/>
              </p:ext>
            </p:extLst>
          </p:nvPr>
        </p:nvGraphicFramePr>
        <p:xfrm>
          <a:off x="774145" y="3020719"/>
          <a:ext cx="3288546" cy="2747963"/>
        </p:xfrm>
        <a:graphic>
          <a:graphicData uri="http://schemas.openxmlformats.org/presentationml/2006/ole">
            <mc:AlternateContent xmlns:mc="http://schemas.openxmlformats.org/markup-compatibility/2006">
              <mc:Choice xmlns:v="urn:schemas-microsoft-com:vml" Requires="v">
                <p:oleObj name="Visio" r:id="rId3" imgW="2257437" imgH="1895418" progId="Visio.Drawing.15">
                  <p:embed/>
                </p:oleObj>
              </mc:Choice>
              <mc:Fallback>
                <p:oleObj name="Visio" r:id="rId3" imgW="2257437" imgH="1895418" progId="Visio.Drawing.15">
                  <p:embed/>
                  <p:pic>
                    <p:nvPicPr>
                      <p:cNvPr id="6" name="Object 5">
                        <a:extLst>
                          <a:ext uri="{FF2B5EF4-FFF2-40B4-BE49-F238E27FC236}">
                            <a16:creationId xmlns:a16="http://schemas.microsoft.com/office/drawing/2014/main" id="{0E4F56A3-8A34-4784-AD22-7B82AB4042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4145" y="3020719"/>
                        <a:ext cx="3288546" cy="2747963"/>
                      </a:xfrm>
                      <a:prstGeom prst="rect">
                        <a:avLst/>
                      </a:prstGeom>
                      <a:noFill/>
                    </p:spPr>
                  </p:pic>
                </p:oleObj>
              </mc:Fallback>
            </mc:AlternateContent>
          </a:graphicData>
        </a:graphic>
      </p:graphicFrame>
      <p:graphicFrame>
        <p:nvGraphicFramePr>
          <p:cNvPr id="17" name="Table 16">
            <a:extLst>
              <a:ext uri="{FF2B5EF4-FFF2-40B4-BE49-F238E27FC236}">
                <a16:creationId xmlns:a16="http://schemas.microsoft.com/office/drawing/2014/main" id="{3ADD0FC5-9A6B-D2C5-4227-53368BF4AADB}"/>
              </a:ext>
            </a:extLst>
          </p:cNvPr>
          <p:cNvGraphicFramePr>
            <a:graphicFrameLocks noGrp="1"/>
          </p:cNvGraphicFramePr>
          <p:nvPr>
            <p:extLst>
              <p:ext uri="{D42A27DB-BD31-4B8C-83A1-F6EECF244321}">
                <p14:modId xmlns:p14="http://schemas.microsoft.com/office/powerpoint/2010/main" val="2759912175"/>
              </p:ext>
            </p:extLst>
          </p:nvPr>
        </p:nvGraphicFramePr>
        <p:xfrm>
          <a:off x="4267200" y="3020719"/>
          <a:ext cx="1828800" cy="3291840"/>
        </p:xfrm>
        <a:graphic>
          <a:graphicData uri="http://schemas.openxmlformats.org/drawingml/2006/table">
            <a:tbl>
              <a:tblPr firstRow="1" firstCol="1" bandRow="1">
                <a:tableStyleId>{5940675A-B579-460E-94D1-54222C63F5DA}</a:tableStyleId>
              </a:tblPr>
              <a:tblGrid>
                <a:gridCol w="457200">
                  <a:extLst>
                    <a:ext uri="{9D8B030D-6E8A-4147-A177-3AD203B41FA5}">
                      <a16:colId xmlns:a16="http://schemas.microsoft.com/office/drawing/2014/main" val="3239405882"/>
                    </a:ext>
                  </a:extLst>
                </a:gridCol>
                <a:gridCol w="457200">
                  <a:extLst>
                    <a:ext uri="{9D8B030D-6E8A-4147-A177-3AD203B41FA5}">
                      <a16:colId xmlns:a16="http://schemas.microsoft.com/office/drawing/2014/main" val="985057582"/>
                    </a:ext>
                  </a:extLst>
                </a:gridCol>
                <a:gridCol w="457200">
                  <a:extLst>
                    <a:ext uri="{9D8B030D-6E8A-4147-A177-3AD203B41FA5}">
                      <a16:colId xmlns:a16="http://schemas.microsoft.com/office/drawing/2014/main" val="2658266245"/>
                    </a:ext>
                  </a:extLst>
                </a:gridCol>
                <a:gridCol w="457200">
                  <a:extLst>
                    <a:ext uri="{9D8B030D-6E8A-4147-A177-3AD203B41FA5}">
                      <a16:colId xmlns:a16="http://schemas.microsoft.com/office/drawing/2014/main" val="3571042262"/>
                    </a:ext>
                  </a:extLst>
                </a:gridCol>
              </a:tblGrid>
              <a:tr h="365760">
                <a:tc>
                  <a:txBody>
                    <a:bodyPr/>
                    <a:lstStyle/>
                    <a:p>
                      <a:pPr marL="0" marR="0" algn="ctr">
                        <a:lnSpc>
                          <a:spcPct val="125000"/>
                        </a:lnSpc>
                        <a:spcBef>
                          <a:spcPts val="600"/>
                        </a:spcBef>
                        <a:spcAft>
                          <a:spcPts val="0"/>
                        </a:spcAft>
                      </a:pPr>
                      <a:r>
                        <a:rPr lang="vi-VN" sz="2000" spc="-20" dirty="0">
                          <a:effectLst/>
                          <a:latin typeface="+mj-lt"/>
                        </a:rPr>
                        <a:t>S</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D1</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D0</a:t>
                      </a:r>
                      <a:endParaRPr lang="en-US" sz="2000" dirty="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Y</a:t>
                      </a:r>
                      <a:endParaRPr lang="en-US" sz="20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88292650"/>
                  </a:ext>
                </a:extLst>
              </a:tr>
              <a:tr h="365760">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a:effectLst/>
                          <a:latin typeface="+mj-lt"/>
                        </a:rPr>
                        <a:t>0</a:t>
                      </a:r>
                      <a:endParaRPr lang="en-US" sz="200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22296289"/>
                  </a:ext>
                </a:extLst>
              </a:tr>
              <a:tr h="365760">
                <a:tc>
                  <a:txBody>
                    <a:bodyPr/>
                    <a:lstStyle/>
                    <a:p>
                      <a:pPr marL="0" marR="0" algn="ctr">
                        <a:lnSpc>
                          <a:spcPct val="125000"/>
                        </a:lnSpc>
                        <a:spcBef>
                          <a:spcPts val="600"/>
                        </a:spcBef>
                        <a:spcAft>
                          <a:spcPts val="0"/>
                        </a:spcAft>
                      </a:pPr>
                      <a:r>
                        <a:rPr lang="vi-VN" sz="2000" spc="-20">
                          <a:effectLst/>
                          <a:latin typeface="+mj-lt"/>
                        </a:rPr>
                        <a:t>0</a:t>
                      </a:r>
                      <a:endParaRPr lang="en-US" sz="200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a:effectLst/>
                          <a:latin typeface="+mj-lt"/>
                        </a:rPr>
                        <a:t>1</a:t>
                      </a:r>
                      <a:endParaRPr lang="en-US" sz="200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25099112"/>
                  </a:ext>
                </a:extLst>
              </a:tr>
              <a:tr h="365760">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a:effectLst/>
                          <a:latin typeface="+mj-lt"/>
                        </a:rPr>
                        <a:t>0</a:t>
                      </a:r>
                      <a:endParaRPr lang="en-US" sz="200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15669720"/>
                  </a:ext>
                </a:extLst>
              </a:tr>
              <a:tr h="365760">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05036667"/>
                  </a:ext>
                </a:extLst>
              </a:tr>
              <a:tr h="365760">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54748194"/>
                  </a:ext>
                </a:extLst>
              </a:tr>
              <a:tr h="365760">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1982187"/>
                  </a:ext>
                </a:extLst>
              </a:tr>
              <a:tr h="365760">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31066820"/>
                  </a:ext>
                </a:extLst>
              </a:tr>
              <a:tr h="365760">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a:effectLst/>
                          <a:latin typeface="+mj-lt"/>
                        </a:rPr>
                        <a:t>1</a:t>
                      </a:r>
                      <a:endParaRPr lang="en-US" sz="200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28578358"/>
                  </a:ext>
                </a:extLst>
              </a:tr>
            </a:tbl>
          </a:graphicData>
        </a:graphic>
      </p:graphicFrame>
      <p:graphicFrame>
        <p:nvGraphicFramePr>
          <p:cNvPr id="18" name="Table 17">
            <a:extLst>
              <a:ext uri="{FF2B5EF4-FFF2-40B4-BE49-F238E27FC236}">
                <a16:creationId xmlns:a16="http://schemas.microsoft.com/office/drawing/2014/main" id="{DCCD9BB7-08A9-A067-C9B6-287039387733}"/>
              </a:ext>
            </a:extLst>
          </p:cNvPr>
          <p:cNvGraphicFramePr>
            <a:graphicFrameLocks noGrp="1"/>
          </p:cNvGraphicFramePr>
          <p:nvPr>
            <p:extLst>
              <p:ext uri="{D42A27DB-BD31-4B8C-83A1-F6EECF244321}">
                <p14:modId xmlns:p14="http://schemas.microsoft.com/office/powerpoint/2010/main" val="353840479"/>
              </p:ext>
            </p:extLst>
          </p:nvPr>
        </p:nvGraphicFramePr>
        <p:xfrm>
          <a:off x="6824379" y="3020719"/>
          <a:ext cx="914400" cy="1224915"/>
        </p:xfrm>
        <a:graphic>
          <a:graphicData uri="http://schemas.openxmlformats.org/drawingml/2006/table">
            <a:tbl>
              <a:tblPr firstRow="1" firstCol="1" bandRow="1">
                <a:tableStyleId>{5940675A-B579-460E-94D1-54222C63F5DA}</a:tableStyleId>
              </a:tblPr>
              <a:tblGrid>
                <a:gridCol w="457200">
                  <a:extLst>
                    <a:ext uri="{9D8B030D-6E8A-4147-A177-3AD203B41FA5}">
                      <a16:colId xmlns:a16="http://schemas.microsoft.com/office/drawing/2014/main" val="1700845312"/>
                    </a:ext>
                  </a:extLst>
                </a:gridCol>
                <a:gridCol w="457200">
                  <a:extLst>
                    <a:ext uri="{9D8B030D-6E8A-4147-A177-3AD203B41FA5}">
                      <a16:colId xmlns:a16="http://schemas.microsoft.com/office/drawing/2014/main" val="3989985981"/>
                    </a:ext>
                  </a:extLst>
                </a:gridCol>
              </a:tblGrid>
              <a:tr h="0">
                <a:tc>
                  <a:txBody>
                    <a:bodyPr/>
                    <a:lstStyle/>
                    <a:p>
                      <a:pPr marL="0" marR="0" algn="ctr">
                        <a:lnSpc>
                          <a:spcPct val="150000"/>
                        </a:lnSpc>
                        <a:spcBef>
                          <a:spcPts val="600"/>
                        </a:spcBef>
                        <a:spcAft>
                          <a:spcPts val="0"/>
                        </a:spcAft>
                      </a:pPr>
                      <a:r>
                        <a:rPr lang="vi-VN" sz="2000" spc="-20" dirty="0">
                          <a:effectLst/>
                          <a:latin typeface="+mj-lt"/>
                        </a:rPr>
                        <a:t>S</a:t>
                      </a:r>
                      <a:endParaRPr lang="en-US" sz="2000" dirty="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dirty="0">
                          <a:effectLst/>
                          <a:latin typeface="+mj-lt"/>
                        </a:rPr>
                        <a:t>Y</a:t>
                      </a:r>
                      <a:endParaRPr lang="en-US" sz="20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30771463"/>
                  </a:ext>
                </a:extLst>
              </a:tr>
              <a:tr h="0">
                <a:tc>
                  <a:txBody>
                    <a:bodyPr/>
                    <a:lstStyle/>
                    <a:p>
                      <a:pPr marL="0" marR="0" algn="ctr">
                        <a:lnSpc>
                          <a:spcPct val="150000"/>
                        </a:lnSpc>
                        <a:spcBef>
                          <a:spcPts val="600"/>
                        </a:spcBef>
                        <a:spcAft>
                          <a:spcPts val="0"/>
                        </a:spcAft>
                      </a:pPr>
                      <a:r>
                        <a:rPr lang="vi-VN" sz="2000" spc="-20">
                          <a:effectLst/>
                          <a:latin typeface="+mj-lt"/>
                        </a:rPr>
                        <a:t>0</a:t>
                      </a:r>
                      <a:endParaRPr lang="en-US" sz="200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dirty="0">
                          <a:effectLst/>
                          <a:latin typeface="+mj-lt"/>
                        </a:rPr>
                        <a:t>D0</a:t>
                      </a:r>
                      <a:endParaRPr lang="en-US" sz="20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7369146"/>
                  </a:ext>
                </a:extLst>
              </a:tr>
              <a:tr h="0">
                <a:tc>
                  <a:txBody>
                    <a:bodyPr/>
                    <a:lstStyle/>
                    <a:p>
                      <a:pPr marL="0" marR="0" algn="ctr">
                        <a:lnSpc>
                          <a:spcPct val="150000"/>
                        </a:lnSpc>
                        <a:spcBef>
                          <a:spcPts val="600"/>
                        </a:spcBef>
                        <a:spcAft>
                          <a:spcPts val="0"/>
                        </a:spcAft>
                      </a:pPr>
                      <a:r>
                        <a:rPr lang="vi-VN" sz="2000" spc="-20">
                          <a:effectLst/>
                          <a:latin typeface="+mj-lt"/>
                        </a:rPr>
                        <a:t>1</a:t>
                      </a:r>
                      <a:endParaRPr lang="en-US" sz="200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dirty="0">
                          <a:effectLst/>
                          <a:latin typeface="+mj-lt"/>
                        </a:rPr>
                        <a:t>D1</a:t>
                      </a:r>
                      <a:endParaRPr lang="en-US" sz="20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686173"/>
                  </a:ext>
                </a:extLst>
              </a:tr>
            </a:tbl>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A70D6FB-0F88-C0E0-54FA-2DF3B7484169}"/>
                  </a:ext>
                </a:extLst>
              </p:cNvPr>
              <p:cNvSpPr txBox="1"/>
              <p:nvPr/>
            </p:nvSpPr>
            <p:spPr>
              <a:xfrm>
                <a:off x="6300509" y="5546666"/>
                <a:ext cx="3200400" cy="512704"/>
              </a:xfrm>
              <a:prstGeom prst="rect">
                <a:avLst/>
              </a:prstGeom>
              <a:noFill/>
            </p:spPr>
            <p:txBody>
              <a:bodyPr wrap="square" rtlCol="0">
                <a:spAutoFit/>
              </a:bodyPr>
              <a:lstStyle/>
              <a:p>
                <a:pPr algn="ctr"/>
                <a:r>
                  <a:rPr lang="en-US" sz="2400" dirty="0">
                    <a:latin typeface="Times New Roman" pitchFamily="18" charset="0"/>
                    <a:cs typeface="Times New Roman" pitchFamily="18" charset="0"/>
                  </a:rPr>
                  <a:t>Y =</a:t>
                </a:r>
                <a14:m>
                  <m:oMath xmlns:m="http://schemas.openxmlformats.org/officeDocument/2006/math">
                    <m:bar>
                      <m:barPr>
                        <m:pos m:val="top"/>
                        <m:ctrlPr>
                          <a:rPr lang="en-US" sz="2400" i="1" dirty="0" smtClean="0">
                            <a:latin typeface="Cambria Math" panose="02040503050406030204" pitchFamily="18" charset="0"/>
                          </a:rPr>
                        </m:ctrlPr>
                      </m:barPr>
                      <m:e>
                        <m:r>
                          <m:rPr>
                            <m:sty m:val="p"/>
                          </m:rPr>
                          <a:rPr lang="en-US" sz="2400" i="0" dirty="0">
                            <a:latin typeface="Cambria Math"/>
                          </a:rPr>
                          <m:t>S</m:t>
                        </m:r>
                      </m:e>
                    </m:bar>
                  </m:oMath>
                </a14:m>
                <a:r>
                  <a:rPr lang="en-US" sz="2400" dirty="0">
                    <a:latin typeface="Times New Roman" pitchFamily="18" charset="0"/>
                    <a:cs typeface="Times New Roman" pitchFamily="18" charset="0"/>
                  </a:rPr>
                  <a:t> * D</a:t>
                </a:r>
                <a:r>
                  <a:rPr lang="en-US" sz="2400" baseline="-25000" dirty="0">
                    <a:latin typeface="Times New Roman" pitchFamily="18" charset="0"/>
                    <a:cs typeface="Times New Roman" pitchFamily="18" charset="0"/>
                  </a:rPr>
                  <a:t>0</a:t>
                </a:r>
                <a:r>
                  <a:rPr lang="en-US" sz="2400" dirty="0">
                    <a:latin typeface="Times New Roman" pitchFamily="18" charset="0"/>
                    <a:cs typeface="Times New Roman" pitchFamily="18" charset="0"/>
                  </a:rPr>
                  <a:t> + S * D</a:t>
                </a:r>
                <a:r>
                  <a:rPr lang="en-US" sz="2400" baseline="-25000" dirty="0">
                    <a:latin typeface="Times New Roman" pitchFamily="18" charset="0"/>
                    <a:cs typeface="Times New Roman" pitchFamily="18" charset="0"/>
                  </a:rPr>
                  <a:t>1</a:t>
                </a:r>
                <a:endParaRPr lang="en-US" sz="2400" dirty="0">
                  <a:latin typeface="Times New Roman" pitchFamily="18" charset="0"/>
                  <a:cs typeface="Times New Roman" pitchFamily="18" charset="0"/>
                </a:endParaRPr>
              </a:p>
            </p:txBody>
          </p:sp>
        </mc:Choice>
        <mc:Fallback xmlns="">
          <p:sp>
            <p:nvSpPr>
              <p:cNvPr id="3" name="TextBox 2">
                <a:extLst>
                  <a:ext uri="{FF2B5EF4-FFF2-40B4-BE49-F238E27FC236}">
                    <a16:creationId xmlns:a16="http://schemas.microsoft.com/office/drawing/2014/main" id="{6A70D6FB-0F88-C0E0-54FA-2DF3B7484169}"/>
                  </a:ext>
                </a:extLst>
              </p:cNvPr>
              <p:cNvSpPr txBox="1">
                <a:spLocks noRot="1" noChangeAspect="1" noMove="1" noResize="1" noEditPoints="1" noAdjustHandles="1" noChangeArrowheads="1" noChangeShapeType="1" noTextEdit="1"/>
              </p:cNvSpPr>
              <p:nvPr/>
            </p:nvSpPr>
            <p:spPr>
              <a:xfrm>
                <a:off x="6300509" y="5546666"/>
                <a:ext cx="3200400" cy="512704"/>
              </a:xfrm>
              <a:prstGeom prst="rect">
                <a:avLst/>
              </a:prstGeom>
              <a:blipFill>
                <a:blip r:embed="rId5"/>
                <a:stretch>
                  <a:fillRect b="-26190"/>
                </a:stretch>
              </a:blipFill>
            </p:spPr>
            <p:txBody>
              <a:bodyPr/>
              <a:lstStyle/>
              <a:p>
                <a:r>
                  <a:rPr lang="en-VN">
                    <a:noFill/>
                  </a:rPr>
                  <a:t> </a:t>
                </a:r>
              </a:p>
            </p:txBody>
          </p:sp>
        </mc:Fallback>
      </mc:AlternateContent>
      <p:pic>
        <p:nvPicPr>
          <p:cNvPr id="5" name="Picture 4" descr="fg09_00000_AAGTOBT0">
            <a:extLst>
              <a:ext uri="{FF2B5EF4-FFF2-40B4-BE49-F238E27FC236}">
                <a16:creationId xmlns:a16="http://schemas.microsoft.com/office/drawing/2014/main" id="{21D6765D-7C99-EB22-F47C-E41D84BA5C95}"/>
              </a:ext>
            </a:extLst>
          </p:cNvPr>
          <p:cNvPicPr>
            <a:picLocks noChangeAspect="1" noChangeArrowheads="1"/>
          </p:cNvPicPr>
          <p:nvPr>
            <p:custDataLst>
              <p:tags r:id="rId1"/>
            </p:custDataLst>
          </p:nvPr>
        </p:nvPicPr>
        <p:blipFill rotWithShape="1">
          <a:blip r:embed="rId6">
            <a:extLst>
              <a:ext uri="{28A0092B-C50C-407E-A947-70E740481C1C}">
                <a14:useLocalDpi xmlns:a14="http://schemas.microsoft.com/office/drawing/2010/main" val="0"/>
              </a:ext>
            </a:extLst>
          </a:blip>
          <a:srcRect r="25171"/>
          <a:stretch/>
        </p:blipFill>
        <p:spPr bwMode="auto">
          <a:xfrm>
            <a:off x="8045056" y="2993750"/>
            <a:ext cx="3810000" cy="250376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69C34BC8-F318-4F07-7257-A2120F498D9F}"/>
              </a:ext>
            </a:extLst>
          </p:cNvPr>
          <p:cNvSpPr txBox="1"/>
          <p:nvPr/>
        </p:nvSpPr>
        <p:spPr>
          <a:xfrm>
            <a:off x="8235737" y="3161451"/>
            <a:ext cx="436338" cy="394147"/>
          </a:xfrm>
          <a:prstGeom prst="rect">
            <a:avLst/>
          </a:prstGeom>
          <a:noFill/>
        </p:spPr>
        <p:txBody>
          <a:bodyPr wrap="none" rtlCol="0">
            <a:spAutoFit/>
          </a:bodyPr>
          <a:lstStyle/>
          <a:p>
            <a:pPr algn="just">
              <a:lnSpc>
                <a:spcPct val="120000"/>
              </a:lnSpc>
              <a:spcBef>
                <a:spcPts val="200"/>
              </a:spcBef>
              <a:spcAft>
                <a:spcPts val="200"/>
              </a:spcAft>
            </a:pPr>
            <a:r>
              <a:rPr lang="en-VN" dirty="0">
                <a:latin typeface="Arial" panose="020B0604020202020204" pitchFamily="34" charset="0"/>
                <a:cs typeface="Arial" panose="020B0604020202020204" pitchFamily="34" charset="0"/>
              </a:rPr>
              <a:t>D</a:t>
            </a:r>
            <a:r>
              <a:rPr lang="en-VN" baseline="-25000" dirty="0">
                <a:latin typeface="Arial" panose="020B0604020202020204" pitchFamily="34" charset="0"/>
                <a:cs typeface="Arial" panose="020B0604020202020204" pitchFamily="34" charset="0"/>
              </a:rPr>
              <a:t>1</a:t>
            </a:r>
          </a:p>
        </p:txBody>
      </p:sp>
      <p:sp>
        <p:nvSpPr>
          <p:cNvPr id="7" name="TextBox 6">
            <a:extLst>
              <a:ext uri="{FF2B5EF4-FFF2-40B4-BE49-F238E27FC236}">
                <a16:creationId xmlns:a16="http://schemas.microsoft.com/office/drawing/2014/main" id="{41927B2F-E85F-9AF4-1880-29DBD7B30C23}"/>
              </a:ext>
            </a:extLst>
          </p:cNvPr>
          <p:cNvSpPr txBox="1"/>
          <p:nvPr/>
        </p:nvSpPr>
        <p:spPr>
          <a:xfrm>
            <a:off x="8255617" y="3834900"/>
            <a:ext cx="436338" cy="394147"/>
          </a:xfrm>
          <a:prstGeom prst="rect">
            <a:avLst/>
          </a:prstGeom>
          <a:noFill/>
        </p:spPr>
        <p:txBody>
          <a:bodyPr wrap="none" rtlCol="0">
            <a:spAutoFit/>
          </a:bodyPr>
          <a:lstStyle/>
          <a:p>
            <a:pPr algn="just">
              <a:lnSpc>
                <a:spcPct val="120000"/>
              </a:lnSpc>
              <a:spcBef>
                <a:spcPts val="200"/>
              </a:spcBef>
              <a:spcAft>
                <a:spcPts val="200"/>
              </a:spcAft>
            </a:pPr>
            <a:r>
              <a:rPr lang="en-VN" dirty="0">
                <a:latin typeface="Arial" panose="020B0604020202020204" pitchFamily="34" charset="0"/>
                <a:cs typeface="Arial" panose="020B0604020202020204" pitchFamily="34" charset="0"/>
              </a:rPr>
              <a:t>D</a:t>
            </a:r>
            <a:r>
              <a:rPr lang="en-VN" baseline="-25000" dirty="0">
                <a:latin typeface="Arial" panose="020B0604020202020204" pitchFamily="34" charset="0"/>
                <a:cs typeface="Arial" panose="020B0604020202020204" pitchFamily="34" charset="0"/>
              </a:rPr>
              <a:t>0</a:t>
            </a:r>
          </a:p>
        </p:txBody>
      </p:sp>
      <p:cxnSp>
        <p:nvCxnSpPr>
          <p:cNvPr id="10" name="Straight Arrow Connector 9">
            <a:extLst>
              <a:ext uri="{FF2B5EF4-FFF2-40B4-BE49-F238E27FC236}">
                <a16:creationId xmlns:a16="http://schemas.microsoft.com/office/drawing/2014/main" id="{4C535605-29E3-3F5A-D1D6-797B7483AA09}"/>
              </a:ext>
            </a:extLst>
          </p:cNvPr>
          <p:cNvCxnSpPr>
            <a:cxnSpLocks/>
          </p:cNvCxnSpPr>
          <p:nvPr/>
        </p:nvCxnSpPr>
        <p:spPr>
          <a:xfrm>
            <a:off x="2124000" y="4452730"/>
            <a:ext cx="630195" cy="37876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24239D8-2510-4A25-618C-1EE98B0C8BD9}"/>
              </a:ext>
            </a:extLst>
          </p:cNvPr>
          <p:cNvCxnSpPr>
            <a:cxnSpLocks/>
          </p:cNvCxnSpPr>
          <p:nvPr/>
        </p:nvCxnSpPr>
        <p:spPr>
          <a:xfrm flipV="1">
            <a:off x="2162432" y="4831492"/>
            <a:ext cx="630195" cy="42013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Rounded Rectangle 23">
            <a:extLst>
              <a:ext uri="{FF2B5EF4-FFF2-40B4-BE49-F238E27FC236}">
                <a16:creationId xmlns:a16="http://schemas.microsoft.com/office/drawing/2014/main" id="{1E6D9CD6-9FEB-1242-16BE-F39AD3B37DB5}"/>
              </a:ext>
            </a:extLst>
          </p:cNvPr>
          <p:cNvSpPr/>
          <p:nvPr/>
        </p:nvSpPr>
        <p:spPr>
          <a:xfrm>
            <a:off x="4329213" y="3458234"/>
            <a:ext cx="1727032" cy="1373258"/>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25" name="Rounded Rectangle 24">
            <a:extLst>
              <a:ext uri="{FF2B5EF4-FFF2-40B4-BE49-F238E27FC236}">
                <a16:creationId xmlns:a16="http://schemas.microsoft.com/office/drawing/2014/main" id="{EE911A2C-E459-4806-7803-E715399123A0}"/>
              </a:ext>
            </a:extLst>
          </p:cNvPr>
          <p:cNvSpPr/>
          <p:nvPr/>
        </p:nvSpPr>
        <p:spPr>
          <a:xfrm>
            <a:off x="4345115" y="4883890"/>
            <a:ext cx="1727032" cy="1373258"/>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26" name="Rounded Rectangle 25">
            <a:extLst>
              <a:ext uri="{FF2B5EF4-FFF2-40B4-BE49-F238E27FC236}">
                <a16:creationId xmlns:a16="http://schemas.microsoft.com/office/drawing/2014/main" id="{80063305-8804-92EF-FDDC-AFB0A87B245B}"/>
              </a:ext>
            </a:extLst>
          </p:cNvPr>
          <p:cNvSpPr/>
          <p:nvPr/>
        </p:nvSpPr>
        <p:spPr>
          <a:xfrm>
            <a:off x="6837634" y="3458234"/>
            <a:ext cx="914401" cy="473686"/>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27" name="Rounded Rectangle 26">
            <a:extLst>
              <a:ext uri="{FF2B5EF4-FFF2-40B4-BE49-F238E27FC236}">
                <a16:creationId xmlns:a16="http://schemas.microsoft.com/office/drawing/2014/main" id="{A07550D4-4C80-B47F-8258-73D086D0D24A}"/>
              </a:ext>
            </a:extLst>
          </p:cNvPr>
          <p:cNvSpPr/>
          <p:nvPr/>
        </p:nvSpPr>
        <p:spPr>
          <a:xfrm>
            <a:off x="6850889" y="3931920"/>
            <a:ext cx="914401" cy="473686"/>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9197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10"/>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grpId="0" nodeType="clickEffect">
                                  <p:stCondLst>
                                    <p:cond delay="0"/>
                                  </p:stCondLst>
                                  <p:childTnLst>
                                    <p:set>
                                      <p:cBhvr>
                                        <p:cTn id="52" dur="1" fill="hold">
                                          <p:stCondLst>
                                            <p:cond delay="0"/>
                                          </p:stCondLst>
                                        </p:cTn>
                                        <p:tgtEl>
                                          <p:spTgt spid="3"/>
                                        </p:tgtEl>
                                        <p:attrNameLst>
                                          <p:attrName>style.visibility</p:attrName>
                                        </p:attrNameLst>
                                      </p:cBhvr>
                                      <p:to>
                                        <p:strVal val="visible"/>
                                      </p:to>
                                    </p:set>
                                    <p:animEffect transition="in" filter="barn(inVertical)">
                                      <p:cBhvr>
                                        <p:cTn id="53" dur="500"/>
                                        <p:tgtEl>
                                          <p:spTgt spid="3"/>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5"/>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6"/>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P spid="24" grpId="0" animBg="1"/>
      <p:bldP spid="25" grpId="0" animBg="1"/>
      <p:bldP spid="26" grpId="0" animBg="1"/>
      <p:bldP spid="2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t>Mux 4-1</a:t>
            </a:r>
          </a:p>
        </p:txBody>
      </p:sp>
      <p:graphicFrame>
        <p:nvGraphicFramePr>
          <p:cNvPr id="6" name="Content Placeholder 6">
            <a:extLst>
              <a:ext uri="{FF2B5EF4-FFF2-40B4-BE49-F238E27FC236}">
                <a16:creationId xmlns:a16="http://schemas.microsoft.com/office/drawing/2014/main" id="{CE40A6E0-4A7C-C767-014C-CF71CE373009}"/>
              </a:ext>
            </a:extLst>
          </p:cNvPr>
          <p:cNvGraphicFramePr>
            <a:graphicFrameLocks noGrp="1"/>
          </p:cNvGraphicFramePr>
          <p:nvPr>
            <p:ph idx="1"/>
            <p:extLst>
              <p:ext uri="{D42A27DB-BD31-4B8C-83A1-F6EECF244321}">
                <p14:modId xmlns:p14="http://schemas.microsoft.com/office/powerpoint/2010/main" val="798935767"/>
              </p:ext>
            </p:extLst>
          </p:nvPr>
        </p:nvGraphicFramePr>
        <p:xfrm>
          <a:off x="4430397" y="2575691"/>
          <a:ext cx="2743200" cy="2213610"/>
        </p:xfrm>
        <a:graphic>
          <a:graphicData uri="http://schemas.openxmlformats.org/drawingml/2006/table">
            <a:tbl>
              <a:tblPr firstRow="1" firstCol="1" bandRow="1">
                <a:tableStyleId>{5940675A-B579-460E-94D1-54222C63F5DA}</a:tableStyleId>
              </a:tblPr>
              <a:tblGrid>
                <a:gridCol w="914400">
                  <a:extLst>
                    <a:ext uri="{9D8B030D-6E8A-4147-A177-3AD203B41FA5}">
                      <a16:colId xmlns:a16="http://schemas.microsoft.com/office/drawing/2014/main" val="1718164202"/>
                    </a:ext>
                  </a:extLst>
                </a:gridCol>
                <a:gridCol w="914400">
                  <a:extLst>
                    <a:ext uri="{9D8B030D-6E8A-4147-A177-3AD203B41FA5}">
                      <a16:colId xmlns:a16="http://schemas.microsoft.com/office/drawing/2014/main" val="4119822078"/>
                    </a:ext>
                  </a:extLst>
                </a:gridCol>
                <a:gridCol w="914400">
                  <a:extLst>
                    <a:ext uri="{9D8B030D-6E8A-4147-A177-3AD203B41FA5}">
                      <a16:colId xmlns:a16="http://schemas.microsoft.com/office/drawing/2014/main" val="4198973465"/>
                    </a:ext>
                  </a:extLst>
                </a:gridCol>
              </a:tblGrid>
              <a:tr h="0">
                <a:tc>
                  <a:txBody>
                    <a:bodyPr/>
                    <a:lstStyle/>
                    <a:p>
                      <a:pPr marL="0" marR="0" indent="0" algn="ctr">
                        <a:lnSpc>
                          <a:spcPct val="150000"/>
                        </a:lnSpc>
                        <a:spcBef>
                          <a:spcPts val="0"/>
                        </a:spcBef>
                        <a:spcAft>
                          <a:spcPts val="0"/>
                        </a:spcAft>
                      </a:pPr>
                      <a:r>
                        <a:rPr lang="en-US" sz="2200" dirty="0">
                          <a:effectLst/>
                          <a:latin typeface="Times New Roman (Headings)"/>
                        </a:rPr>
                        <a:t>S1</a:t>
                      </a:r>
                      <a:endParaRPr lang="en-US" sz="2200" dirty="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a:lnSpc>
                          <a:spcPct val="150000"/>
                        </a:lnSpc>
                        <a:spcBef>
                          <a:spcPts val="0"/>
                        </a:spcBef>
                        <a:spcAft>
                          <a:spcPts val="0"/>
                        </a:spcAft>
                      </a:pPr>
                      <a:r>
                        <a:rPr lang="en-US" sz="2200" dirty="0">
                          <a:effectLst/>
                          <a:latin typeface="Times New Roman (Headings)"/>
                        </a:rPr>
                        <a:t>S0</a:t>
                      </a:r>
                      <a:endParaRPr lang="en-US" sz="2200" dirty="0">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a:lnSpc>
                          <a:spcPct val="150000"/>
                        </a:lnSpc>
                        <a:spcBef>
                          <a:spcPts val="0"/>
                        </a:spcBef>
                        <a:spcAft>
                          <a:spcPts val="0"/>
                        </a:spcAft>
                      </a:pPr>
                      <a:r>
                        <a:rPr lang="en-US" sz="2200" dirty="0">
                          <a:effectLst/>
                          <a:latin typeface="Times New Roman (Headings)"/>
                        </a:rPr>
                        <a:t>Y</a:t>
                      </a:r>
                      <a:endParaRPr lang="en-US" sz="2200" dirty="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92359110"/>
                  </a:ext>
                </a:extLst>
              </a:tr>
              <a:tr h="0">
                <a:tc>
                  <a:txBody>
                    <a:bodyPr/>
                    <a:lstStyle/>
                    <a:p>
                      <a:pPr marL="0" marR="0" indent="0" algn="ctr">
                        <a:lnSpc>
                          <a:spcPct val="150000"/>
                        </a:lnSpc>
                        <a:spcBef>
                          <a:spcPts val="0"/>
                        </a:spcBef>
                        <a:spcAft>
                          <a:spcPts val="0"/>
                        </a:spcAft>
                      </a:pPr>
                      <a:r>
                        <a:rPr lang="en-US" sz="2200">
                          <a:effectLst/>
                          <a:latin typeface="Times New Roman (Headings)"/>
                        </a:rPr>
                        <a:t>0</a:t>
                      </a:r>
                      <a:endParaRPr lang="en-US" sz="2200">
                        <a:effectLst/>
                        <a:latin typeface="Times New Roman (Headings)"/>
                        <a:ea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indent="0" algn="ctr">
                        <a:lnSpc>
                          <a:spcPct val="150000"/>
                        </a:lnSpc>
                        <a:spcBef>
                          <a:spcPts val="0"/>
                        </a:spcBef>
                        <a:spcAft>
                          <a:spcPts val="0"/>
                        </a:spcAft>
                      </a:pPr>
                      <a:r>
                        <a:rPr lang="en-US" sz="2200" dirty="0">
                          <a:effectLst/>
                          <a:latin typeface="Times New Roman (Headings)"/>
                        </a:rPr>
                        <a:t>0</a:t>
                      </a:r>
                      <a:endParaRPr lang="en-US" sz="2200" dirty="0">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indent="0" algn="ctr">
                        <a:lnSpc>
                          <a:spcPct val="150000"/>
                        </a:lnSpc>
                        <a:spcBef>
                          <a:spcPts val="0"/>
                        </a:spcBef>
                        <a:spcAft>
                          <a:spcPts val="0"/>
                        </a:spcAft>
                      </a:pPr>
                      <a:r>
                        <a:rPr lang="en-US" sz="2200" dirty="0">
                          <a:effectLst/>
                          <a:latin typeface="Times New Roman (Headings)"/>
                        </a:rPr>
                        <a:t>D0</a:t>
                      </a:r>
                      <a:endParaRPr lang="en-US" sz="2200" dirty="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7132490"/>
                  </a:ext>
                </a:extLst>
              </a:tr>
              <a:tr h="0">
                <a:tc>
                  <a:txBody>
                    <a:bodyPr/>
                    <a:lstStyle/>
                    <a:p>
                      <a:pPr marL="0" marR="0" indent="0" algn="ctr">
                        <a:lnSpc>
                          <a:spcPct val="150000"/>
                        </a:lnSpc>
                        <a:spcBef>
                          <a:spcPts val="0"/>
                        </a:spcBef>
                        <a:spcAft>
                          <a:spcPts val="0"/>
                        </a:spcAft>
                      </a:pPr>
                      <a:r>
                        <a:rPr lang="en-US" sz="2200">
                          <a:effectLst/>
                          <a:latin typeface="Times New Roman (Headings)"/>
                        </a:rPr>
                        <a:t>0</a:t>
                      </a:r>
                      <a:endParaRPr lang="en-US" sz="22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ctr">
                        <a:lnSpc>
                          <a:spcPct val="150000"/>
                        </a:lnSpc>
                        <a:spcBef>
                          <a:spcPts val="0"/>
                        </a:spcBef>
                        <a:spcAft>
                          <a:spcPts val="0"/>
                        </a:spcAft>
                      </a:pPr>
                      <a:r>
                        <a:rPr lang="en-US" sz="2200" dirty="0">
                          <a:effectLst/>
                          <a:latin typeface="Times New Roman (Headings)"/>
                        </a:rPr>
                        <a:t>1</a:t>
                      </a:r>
                      <a:endParaRPr lang="en-US" sz="2200" dirty="0">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indent="0" algn="ctr">
                        <a:lnSpc>
                          <a:spcPct val="150000"/>
                        </a:lnSpc>
                        <a:spcBef>
                          <a:spcPts val="0"/>
                        </a:spcBef>
                        <a:spcAft>
                          <a:spcPts val="0"/>
                        </a:spcAft>
                      </a:pPr>
                      <a:r>
                        <a:rPr lang="en-US" sz="2200" dirty="0">
                          <a:effectLst/>
                          <a:latin typeface="Times New Roman (Headings)"/>
                        </a:rPr>
                        <a:t>D1</a:t>
                      </a:r>
                      <a:endParaRPr lang="en-US" sz="2200" dirty="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49474948"/>
                  </a:ext>
                </a:extLst>
              </a:tr>
              <a:tr h="0">
                <a:tc>
                  <a:txBody>
                    <a:bodyPr/>
                    <a:lstStyle/>
                    <a:p>
                      <a:pPr marL="0" marR="0" indent="0" algn="ctr">
                        <a:lnSpc>
                          <a:spcPct val="150000"/>
                        </a:lnSpc>
                        <a:spcBef>
                          <a:spcPts val="0"/>
                        </a:spcBef>
                        <a:spcAft>
                          <a:spcPts val="0"/>
                        </a:spcAft>
                      </a:pPr>
                      <a:r>
                        <a:rPr lang="en-US" sz="2200">
                          <a:effectLst/>
                          <a:latin typeface="Times New Roman (Headings)"/>
                        </a:rPr>
                        <a:t>1</a:t>
                      </a:r>
                      <a:endParaRPr lang="en-US" sz="22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ctr">
                        <a:lnSpc>
                          <a:spcPct val="150000"/>
                        </a:lnSpc>
                        <a:spcBef>
                          <a:spcPts val="0"/>
                        </a:spcBef>
                        <a:spcAft>
                          <a:spcPts val="0"/>
                        </a:spcAft>
                      </a:pPr>
                      <a:r>
                        <a:rPr lang="en-US" sz="2200" dirty="0">
                          <a:effectLst/>
                          <a:latin typeface="Times New Roman (Headings)"/>
                        </a:rPr>
                        <a:t>0</a:t>
                      </a:r>
                      <a:endParaRPr lang="en-US" sz="2200" dirty="0">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indent="0" algn="ctr">
                        <a:lnSpc>
                          <a:spcPct val="150000"/>
                        </a:lnSpc>
                        <a:spcBef>
                          <a:spcPts val="0"/>
                        </a:spcBef>
                        <a:spcAft>
                          <a:spcPts val="0"/>
                        </a:spcAft>
                      </a:pPr>
                      <a:r>
                        <a:rPr lang="en-US" sz="2200" dirty="0">
                          <a:effectLst/>
                          <a:latin typeface="Times New Roman (Headings)"/>
                        </a:rPr>
                        <a:t>D2</a:t>
                      </a:r>
                      <a:endParaRPr lang="en-US" sz="2200" dirty="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1650302"/>
                  </a:ext>
                </a:extLst>
              </a:tr>
              <a:tr h="0">
                <a:tc>
                  <a:txBody>
                    <a:bodyPr/>
                    <a:lstStyle/>
                    <a:p>
                      <a:pPr marL="0" marR="0" indent="0" algn="ctr">
                        <a:lnSpc>
                          <a:spcPct val="150000"/>
                        </a:lnSpc>
                        <a:spcBef>
                          <a:spcPts val="0"/>
                        </a:spcBef>
                        <a:spcAft>
                          <a:spcPts val="0"/>
                        </a:spcAft>
                      </a:pPr>
                      <a:r>
                        <a:rPr lang="en-US" sz="2200">
                          <a:effectLst/>
                          <a:latin typeface="Times New Roman (Headings)"/>
                        </a:rPr>
                        <a:t>1</a:t>
                      </a:r>
                      <a:endParaRPr lang="en-US" sz="22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ctr">
                        <a:lnSpc>
                          <a:spcPct val="150000"/>
                        </a:lnSpc>
                        <a:spcBef>
                          <a:spcPts val="0"/>
                        </a:spcBef>
                        <a:spcAft>
                          <a:spcPts val="0"/>
                        </a:spcAft>
                      </a:pPr>
                      <a:r>
                        <a:rPr lang="en-US" sz="2200">
                          <a:effectLst/>
                          <a:latin typeface="Times New Roman (Headings)"/>
                        </a:rPr>
                        <a:t>1</a:t>
                      </a:r>
                      <a:endParaRPr lang="en-US" sz="2200">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indent="0" algn="ctr">
                        <a:lnSpc>
                          <a:spcPct val="150000"/>
                        </a:lnSpc>
                        <a:spcBef>
                          <a:spcPts val="0"/>
                        </a:spcBef>
                        <a:spcAft>
                          <a:spcPts val="0"/>
                        </a:spcAft>
                      </a:pPr>
                      <a:r>
                        <a:rPr lang="en-US" sz="2200" dirty="0">
                          <a:effectLst/>
                          <a:latin typeface="Times New Roman (Headings)"/>
                        </a:rPr>
                        <a:t>D3</a:t>
                      </a:r>
                      <a:endParaRPr lang="en-US" sz="2200" dirty="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2386685"/>
                  </a:ext>
                </a:extLst>
              </a:tr>
            </a:tbl>
          </a:graphicData>
        </a:graphic>
      </p:graphicFrame>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13</a:t>
            </a:fld>
            <a:endParaRPr lang="en-VN" dirty="0"/>
          </a:p>
        </p:txBody>
      </p:sp>
      <p:graphicFrame>
        <p:nvGraphicFramePr>
          <p:cNvPr id="7" name="Object 6">
            <a:extLst>
              <a:ext uri="{FF2B5EF4-FFF2-40B4-BE49-F238E27FC236}">
                <a16:creationId xmlns:a16="http://schemas.microsoft.com/office/drawing/2014/main" id="{02CDC81D-DEF8-CE7F-9FE4-F0B3227FB498}"/>
              </a:ext>
            </a:extLst>
          </p:cNvPr>
          <p:cNvGraphicFramePr>
            <a:graphicFrameLocks noChangeAspect="1"/>
          </p:cNvGraphicFramePr>
          <p:nvPr>
            <p:extLst>
              <p:ext uri="{D42A27DB-BD31-4B8C-83A1-F6EECF244321}">
                <p14:modId xmlns:p14="http://schemas.microsoft.com/office/powerpoint/2010/main" val="4029146873"/>
              </p:ext>
            </p:extLst>
          </p:nvPr>
        </p:nvGraphicFramePr>
        <p:xfrm>
          <a:off x="553720" y="1695599"/>
          <a:ext cx="3492500" cy="3093702"/>
        </p:xfrm>
        <a:graphic>
          <a:graphicData uri="http://schemas.openxmlformats.org/presentationml/2006/ole">
            <mc:AlternateContent xmlns:mc="http://schemas.openxmlformats.org/markup-compatibility/2006">
              <mc:Choice xmlns:v="urn:schemas-microsoft-com:vml" Requires="v">
                <p:oleObj name="Visio" r:id="rId3" imgW="2771922" imgH="2447844" progId="Visio.Drawing.15">
                  <p:embed/>
                </p:oleObj>
              </mc:Choice>
              <mc:Fallback>
                <p:oleObj name="Visio" r:id="rId3" imgW="2771922" imgH="2447844" progId="Visio.Drawing.15">
                  <p:embed/>
                  <p:pic>
                    <p:nvPicPr>
                      <p:cNvPr id="6" name="Object 5">
                        <a:extLst>
                          <a:ext uri="{FF2B5EF4-FFF2-40B4-BE49-F238E27FC236}">
                            <a16:creationId xmlns:a16="http://schemas.microsoft.com/office/drawing/2014/main" id="{4EF5593F-E19A-4501-882A-85732994B2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720" y="1695599"/>
                        <a:ext cx="3492500" cy="3093702"/>
                      </a:xfrm>
                      <a:prstGeom prst="rect">
                        <a:avLst/>
                      </a:prstGeom>
                      <a:noFill/>
                    </p:spPr>
                  </p:pic>
                </p:oleObj>
              </mc:Fallback>
            </mc:AlternateContent>
          </a:graphicData>
        </a:graphic>
      </p:graphicFrame>
      <p:graphicFrame>
        <p:nvGraphicFramePr>
          <p:cNvPr id="9" name="Object 8">
            <a:extLst>
              <a:ext uri="{FF2B5EF4-FFF2-40B4-BE49-F238E27FC236}">
                <a16:creationId xmlns:a16="http://schemas.microsoft.com/office/drawing/2014/main" id="{8DB2C7F6-9461-6BB4-F266-AA5BD3F0D877}"/>
              </a:ext>
            </a:extLst>
          </p:cNvPr>
          <p:cNvGraphicFramePr>
            <a:graphicFrameLocks noChangeAspect="1"/>
          </p:cNvGraphicFramePr>
          <p:nvPr>
            <p:extLst>
              <p:ext uri="{D42A27DB-BD31-4B8C-83A1-F6EECF244321}">
                <p14:modId xmlns:p14="http://schemas.microsoft.com/office/powerpoint/2010/main" val="1648284315"/>
              </p:ext>
            </p:extLst>
          </p:nvPr>
        </p:nvGraphicFramePr>
        <p:xfrm>
          <a:off x="7557774" y="1638696"/>
          <a:ext cx="4400546" cy="3781939"/>
        </p:xfrm>
        <a:graphic>
          <a:graphicData uri="http://schemas.openxmlformats.org/presentationml/2006/ole">
            <mc:AlternateContent xmlns:mc="http://schemas.openxmlformats.org/markup-compatibility/2006">
              <mc:Choice xmlns:v="urn:schemas-microsoft-com:vml" Requires="v">
                <p:oleObj name="Visio" r:id="rId5" imgW="3000565" imgH="2562434" progId="Visio.Drawing.15">
                  <p:embed/>
                </p:oleObj>
              </mc:Choice>
              <mc:Fallback>
                <p:oleObj name="Visio" r:id="rId5" imgW="3000565" imgH="2562434" progId="Visio.Drawing.15">
                  <p:embed/>
                  <p:pic>
                    <p:nvPicPr>
                      <p:cNvPr id="7" name="Object 6">
                        <a:extLst>
                          <a:ext uri="{FF2B5EF4-FFF2-40B4-BE49-F238E27FC236}">
                            <a16:creationId xmlns:a16="http://schemas.microsoft.com/office/drawing/2014/main" id="{19C489CA-2237-4267-A88C-0FF60E2491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7774" y="1638696"/>
                        <a:ext cx="4400546" cy="3781939"/>
                      </a:xfrm>
                      <a:prstGeom prst="rect">
                        <a:avLst/>
                      </a:prstGeom>
                      <a:noFill/>
                    </p:spPr>
                  </p:pic>
                </p:oleObj>
              </mc:Fallback>
            </mc:AlternateContent>
          </a:graphicData>
        </a:graphic>
      </p:graphicFrame>
      <p:graphicFrame>
        <p:nvGraphicFramePr>
          <p:cNvPr id="3" name="Object 2">
            <a:extLst>
              <a:ext uri="{FF2B5EF4-FFF2-40B4-BE49-F238E27FC236}">
                <a16:creationId xmlns:a16="http://schemas.microsoft.com/office/drawing/2014/main" id="{ADC70DAF-9E7F-2F2F-11CE-CDB04FDA9498}"/>
              </a:ext>
            </a:extLst>
          </p:cNvPr>
          <p:cNvGraphicFramePr>
            <a:graphicFrameLocks noChangeAspect="1"/>
          </p:cNvGraphicFramePr>
          <p:nvPr>
            <p:extLst>
              <p:ext uri="{D42A27DB-BD31-4B8C-83A1-F6EECF244321}">
                <p14:modId xmlns:p14="http://schemas.microsoft.com/office/powerpoint/2010/main" val="3320578656"/>
              </p:ext>
            </p:extLst>
          </p:nvPr>
        </p:nvGraphicFramePr>
        <p:xfrm>
          <a:off x="3939121" y="174351"/>
          <a:ext cx="2265680" cy="1893239"/>
        </p:xfrm>
        <a:graphic>
          <a:graphicData uri="http://schemas.openxmlformats.org/presentationml/2006/ole">
            <mc:AlternateContent xmlns:mc="http://schemas.openxmlformats.org/markup-compatibility/2006">
              <mc:Choice xmlns:v="urn:schemas-microsoft-com:vml" Requires="v">
                <p:oleObj name="Visio" r:id="rId7" imgW="2257437" imgH="1895418" progId="Visio.Drawing.15">
                  <p:embed/>
                </p:oleObj>
              </mc:Choice>
              <mc:Fallback>
                <p:oleObj name="Visio" r:id="rId7" imgW="2257437" imgH="1895418" progId="Visio.Drawing.15">
                  <p:embed/>
                  <p:pic>
                    <p:nvPicPr>
                      <p:cNvPr id="6" name="Object 5">
                        <a:extLst>
                          <a:ext uri="{FF2B5EF4-FFF2-40B4-BE49-F238E27FC236}">
                            <a16:creationId xmlns:a16="http://schemas.microsoft.com/office/drawing/2014/main" id="{80C70739-4792-A6F6-E3F7-8C09B67ECC6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39121" y="174351"/>
                        <a:ext cx="2265680" cy="1893239"/>
                      </a:xfrm>
                      <a:prstGeom prst="rect">
                        <a:avLst/>
                      </a:prstGeom>
                      <a:noFill/>
                    </p:spPr>
                  </p:pic>
                </p:oleObj>
              </mc:Fallback>
            </mc:AlternateContent>
          </a:graphicData>
        </a:graphic>
      </p:graphicFrame>
      <p:sp>
        <p:nvSpPr>
          <p:cNvPr id="5" name="Rounded Rectangle 4">
            <a:extLst>
              <a:ext uri="{FF2B5EF4-FFF2-40B4-BE49-F238E27FC236}">
                <a16:creationId xmlns:a16="http://schemas.microsoft.com/office/drawing/2014/main" id="{CA74CE1B-E966-8089-3856-9BD75EA9E2ED}"/>
              </a:ext>
            </a:extLst>
          </p:cNvPr>
          <p:cNvSpPr/>
          <p:nvPr/>
        </p:nvSpPr>
        <p:spPr>
          <a:xfrm>
            <a:off x="5600700" y="3111500"/>
            <a:ext cx="1460500" cy="787400"/>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8" name="Rounded Rectangle 7">
            <a:extLst>
              <a:ext uri="{FF2B5EF4-FFF2-40B4-BE49-F238E27FC236}">
                <a16:creationId xmlns:a16="http://schemas.microsoft.com/office/drawing/2014/main" id="{C0023FFB-1B25-5441-C58B-33E74D7A12F4}"/>
              </a:ext>
            </a:extLst>
          </p:cNvPr>
          <p:cNvSpPr/>
          <p:nvPr/>
        </p:nvSpPr>
        <p:spPr>
          <a:xfrm>
            <a:off x="5600700" y="3994850"/>
            <a:ext cx="1460500" cy="787400"/>
          </a:xfrm>
          <a:prstGeom prst="round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10" name="Rounded Rectangle 9">
            <a:extLst>
              <a:ext uri="{FF2B5EF4-FFF2-40B4-BE49-F238E27FC236}">
                <a16:creationId xmlns:a16="http://schemas.microsoft.com/office/drawing/2014/main" id="{5F82B120-AB0B-2217-23CA-109B8FC73A90}"/>
              </a:ext>
            </a:extLst>
          </p:cNvPr>
          <p:cNvSpPr/>
          <p:nvPr/>
        </p:nvSpPr>
        <p:spPr>
          <a:xfrm>
            <a:off x="4635499" y="3035300"/>
            <a:ext cx="2538097" cy="1830201"/>
          </a:xfrm>
          <a:prstGeom prst="roundRect">
            <a:avLst/>
          </a:prstGeom>
          <a:noFill/>
          <a:ln w="28575" cap="flat" cmpd="sng" algn="ctr">
            <a:solidFill>
              <a:srgbClr val="FFFF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graphicFrame>
        <p:nvGraphicFramePr>
          <p:cNvPr id="11" name="Table 10">
            <a:extLst>
              <a:ext uri="{FF2B5EF4-FFF2-40B4-BE49-F238E27FC236}">
                <a16:creationId xmlns:a16="http://schemas.microsoft.com/office/drawing/2014/main" id="{D89A1269-8965-6B7D-8A1C-8253DE61E9F6}"/>
              </a:ext>
            </a:extLst>
          </p:cNvPr>
          <p:cNvGraphicFramePr>
            <a:graphicFrameLocks noGrp="1"/>
          </p:cNvGraphicFramePr>
          <p:nvPr>
            <p:extLst>
              <p:ext uri="{D42A27DB-BD31-4B8C-83A1-F6EECF244321}">
                <p14:modId xmlns:p14="http://schemas.microsoft.com/office/powerpoint/2010/main" val="523795218"/>
              </p:ext>
            </p:extLst>
          </p:nvPr>
        </p:nvGraphicFramePr>
        <p:xfrm>
          <a:off x="6588978" y="700219"/>
          <a:ext cx="914400" cy="1224915"/>
        </p:xfrm>
        <a:graphic>
          <a:graphicData uri="http://schemas.openxmlformats.org/drawingml/2006/table">
            <a:tbl>
              <a:tblPr firstRow="1" firstCol="1" bandRow="1">
                <a:tableStyleId>{5940675A-B579-460E-94D1-54222C63F5DA}</a:tableStyleId>
              </a:tblPr>
              <a:tblGrid>
                <a:gridCol w="457200">
                  <a:extLst>
                    <a:ext uri="{9D8B030D-6E8A-4147-A177-3AD203B41FA5}">
                      <a16:colId xmlns:a16="http://schemas.microsoft.com/office/drawing/2014/main" val="1700845312"/>
                    </a:ext>
                  </a:extLst>
                </a:gridCol>
                <a:gridCol w="457200">
                  <a:extLst>
                    <a:ext uri="{9D8B030D-6E8A-4147-A177-3AD203B41FA5}">
                      <a16:colId xmlns:a16="http://schemas.microsoft.com/office/drawing/2014/main" val="3989985981"/>
                    </a:ext>
                  </a:extLst>
                </a:gridCol>
              </a:tblGrid>
              <a:tr h="206767">
                <a:tc>
                  <a:txBody>
                    <a:bodyPr/>
                    <a:lstStyle/>
                    <a:p>
                      <a:pPr marL="0" marR="0" algn="ctr">
                        <a:lnSpc>
                          <a:spcPct val="150000"/>
                        </a:lnSpc>
                        <a:spcBef>
                          <a:spcPts val="600"/>
                        </a:spcBef>
                        <a:spcAft>
                          <a:spcPts val="0"/>
                        </a:spcAft>
                      </a:pPr>
                      <a:r>
                        <a:rPr lang="vi-VN" sz="2000" spc="-20" dirty="0">
                          <a:effectLst/>
                          <a:latin typeface="+mj-lt"/>
                        </a:rPr>
                        <a:t>S</a:t>
                      </a:r>
                      <a:endParaRPr lang="en-US" sz="2000" dirty="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dirty="0">
                          <a:effectLst/>
                          <a:latin typeface="+mj-lt"/>
                        </a:rPr>
                        <a:t>Y</a:t>
                      </a:r>
                      <a:endParaRPr lang="en-US" sz="20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30771463"/>
                  </a:ext>
                </a:extLst>
              </a:tr>
              <a:tr h="242962">
                <a:tc>
                  <a:txBody>
                    <a:bodyPr/>
                    <a:lstStyle/>
                    <a:p>
                      <a:pPr marL="0" marR="0" algn="ctr">
                        <a:lnSpc>
                          <a:spcPct val="150000"/>
                        </a:lnSpc>
                        <a:spcBef>
                          <a:spcPts val="600"/>
                        </a:spcBef>
                        <a:spcAft>
                          <a:spcPts val="0"/>
                        </a:spcAft>
                      </a:pPr>
                      <a:r>
                        <a:rPr lang="vi-VN" sz="2000" spc="-20">
                          <a:effectLst/>
                          <a:latin typeface="+mj-lt"/>
                        </a:rPr>
                        <a:t>0</a:t>
                      </a:r>
                      <a:endParaRPr lang="en-US" sz="200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dirty="0">
                          <a:effectLst/>
                          <a:latin typeface="+mj-lt"/>
                        </a:rPr>
                        <a:t>D0</a:t>
                      </a:r>
                      <a:endParaRPr lang="en-US" sz="20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7369146"/>
                  </a:ext>
                </a:extLst>
              </a:tr>
              <a:tr h="0">
                <a:tc>
                  <a:txBody>
                    <a:bodyPr/>
                    <a:lstStyle/>
                    <a:p>
                      <a:pPr marL="0" marR="0" algn="ctr">
                        <a:lnSpc>
                          <a:spcPct val="150000"/>
                        </a:lnSpc>
                        <a:spcBef>
                          <a:spcPts val="600"/>
                        </a:spcBef>
                        <a:spcAft>
                          <a:spcPts val="0"/>
                        </a:spcAft>
                      </a:pPr>
                      <a:r>
                        <a:rPr lang="vi-VN" sz="2000" spc="-20">
                          <a:effectLst/>
                          <a:latin typeface="+mj-lt"/>
                        </a:rPr>
                        <a:t>1</a:t>
                      </a:r>
                      <a:endParaRPr lang="en-US" sz="200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dirty="0">
                          <a:effectLst/>
                          <a:latin typeface="+mj-lt"/>
                        </a:rPr>
                        <a:t>D1</a:t>
                      </a:r>
                      <a:endParaRPr lang="en-US" sz="20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686173"/>
                  </a:ext>
                </a:extLst>
              </a:tr>
            </a:tbl>
          </a:graphicData>
        </a:graphic>
      </p:graphicFrame>
      <p:cxnSp>
        <p:nvCxnSpPr>
          <p:cNvPr id="13" name="Straight Arrow Connector 12">
            <a:extLst>
              <a:ext uri="{FF2B5EF4-FFF2-40B4-BE49-F238E27FC236}">
                <a16:creationId xmlns:a16="http://schemas.microsoft.com/office/drawing/2014/main" id="{3EADEB98-0A2A-270E-B28B-8A9D6CAAEF4D}"/>
              </a:ext>
            </a:extLst>
          </p:cNvPr>
          <p:cNvCxnSpPr>
            <a:cxnSpLocks/>
          </p:cNvCxnSpPr>
          <p:nvPr/>
        </p:nvCxnSpPr>
        <p:spPr>
          <a:xfrm>
            <a:off x="1854200" y="3035300"/>
            <a:ext cx="850900" cy="49436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CA80E52-FE9E-7F9B-08EC-8D4981223ECA}"/>
              </a:ext>
            </a:extLst>
          </p:cNvPr>
          <p:cNvCxnSpPr>
            <a:cxnSpLocks/>
          </p:cNvCxnSpPr>
          <p:nvPr/>
        </p:nvCxnSpPr>
        <p:spPr>
          <a:xfrm>
            <a:off x="1881397" y="3480735"/>
            <a:ext cx="823703" cy="11289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5158850-8439-BD38-19A7-FCEE7C2B6BAB}"/>
              </a:ext>
            </a:extLst>
          </p:cNvPr>
          <p:cNvCxnSpPr>
            <a:cxnSpLocks/>
          </p:cNvCxnSpPr>
          <p:nvPr/>
        </p:nvCxnSpPr>
        <p:spPr>
          <a:xfrm flipV="1">
            <a:off x="1854198" y="3634323"/>
            <a:ext cx="850902" cy="26457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32E20C3-ECB0-05BA-D4CC-0C68F8D6C054}"/>
              </a:ext>
            </a:extLst>
          </p:cNvPr>
          <p:cNvCxnSpPr>
            <a:cxnSpLocks/>
          </p:cNvCxnSpPr>
          <p:nvPr/>
        </p:nvCxnSpPr>
        <p:spPr>
          <a:xfrm flipV="1">
            <a:off x="1854197" y="3698290"/>
            <a:ext cx="850903" cy="66486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Rounded Rectangle 24">
            <a:extLst>
              <a:ext uri="{FF2B5EF4-FFF2-40B4-BE49-F238E27FC236}">
                <a16:creationId xmlns:a16="http://schemas.microsoft.com/office/drawing/2014/main" id="{2DE87AA2-B610-A7A3-D626-32A65ED8B552}"/>
              </a:ext>
            </a:extLst>
          </p:cNvPr>
          <p:cNvSpPr/>
          <p:nvPr/>
        </p:nvSpPr>
        <p:spPr>
          <a:xfrm>
            <a:off x="7557773" y="1695598"/>
            <a:ext cx="2158581" cy="2203301"/>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26" name="Rounded Rectangle 25">
            <a:extLst>
              <a:ext uri="{FF2B5EF4-FFF2-40B4-BE49-F238E27FC236}">
                <a16:creationId xmlns:a16="http://schemas.microsoft.com/office/drawing/2014/main" id="{CD044CC0-7585-E40C-B361-1293C82BE7AF}"/>
              </a:ext>
            </a:extLst>
          </p:cNvPr>
          <p:cNvSpPr/>
          <p:nvPr/>
        </p:nvSpPr>
        <p:spPr>
          <a:xfrm>
            <a:off x="7557773" y="4022606"/>
            <a:ext cx="2158580" cy="1641593"/>
          </a:xfrm>
          <a:prstGeom prst="round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27" name="Rounded Rectangle 26">
            <a:extLst>
              <a:ext uri="{FF2B5EF4-FFF2-40B4-BE49-F238E27FC236}">
                <a16:creationId xmlns:a16="http://schemas.microsoft.com/office/drawing/2014/main" id="{9C59C392-B07A-A230-16B4-88487BAD01E6}"/>
              </a:ext>
            </a:extLst>
          </p:cNvPr>
          <p:cNvSpPr/>
          <p:nvPr/>
        </p:nvSpPr>
        <p:spPr>
          <a:xfrm>
            <a:off x="9861760" y="3111500"/>
            <a:ext cx="2150956" cy="1500001"/>
          </a:xfrm>
          <a:prstGeom prst="roundRect">
            <a:avLst/>
          </a:prstGeom>
          <a:noFill/>
          <a:ln w="28575" cap="flat" cmpd="sng" algn="ctr">
            <a:solidFill>
              <a:srgbClr val="FFFF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cxnSp>
        <p:nvCxnSpPr>
          <p:cNvPr id="29" name="Straight Connector 28">
            <a:extLst>
              <a:ext uri="{FF2B5EF4-FFF2-40B4-BE49-F238E27FC236}">
                <a16:creationId xmlns:a16="http://schemas.microsoft.com/office/drawing/2014/main" id="{F6FB4C6B-C094-3605-C237-F06088873662}"/>
              </a:ext>
            </a:extLst>
          </p:cNvPr>
          <p:cNvCxnSpPr>
            <a:stCxn id="10" idx="1"/>
          </p:cNvCxnSpPr>
          <p:nvPr/>
        </p:nvCxnSpPr>
        <p:spPr>
          <a:xfrm flipV="1">
            <a:off x="4635499" y="3950400"/>
            <a:ext cx="2571107" cy="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0448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9"/>
                                        </p:tgtEl>
                                        <p:attrNameLst>
                                          <p:attrName>style.visibility</p:attrName>
                                        </p:attrNameLst>
                                      </p:cBhvr>
                                      <p:to>
                                        <p:strVal val="visible"/>
                                      </p:to>
                                    </p:set>
                                    <p:anim calcmode="lin" valueType="num">
                                      <p:cBhvr additive="base">
                                        <p:cTn id="55" dur="500" fill="hold"/>
                                        <p:tgtEl>
                                          <p:spTgt spid="9"/>
                                        </p:tgtEl>
                                        <p:attrNameLst>
                                          <p:attrName>ppt_x</p:attrName>
                                        </p:attrNameLst>
                                      </p:cBhvr>
                                      <p:tavLst>
                                        <p:tav tm="0">
                                          <p:val>
                                            <p:strVal val="#ppt_x"/>
                                          </p:val>
                                        </p:tav>
                                        <p:tav tm="100000">
                                          <p:val>
                                            <p:strVal val="#ppt_x"/>
                                          </p:val>
                                        </p:tav>
                                      </p:tavLst>
                                    </p:anim>
                                    <p:anim calcmode="lin" valueType="num">
                                      <p:cBhvr additive="base">
                                        <p:cTn id="5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2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0" grpId="0" animBg="1"/>
      <p:bldP spid="25" grpId="0" animBg="1"/>
      <p:bldP spid="26" grpId="0" animBg="1"/>
      <p:bldP spid="2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dirty="0"/>
              <a:t>Quiz 2</a:t>
            </a:r>
            <a:endParaRPr lang="en-US" b="1"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10843463" cy="2416059"/>
          </a:xfrm>
        </p:spPr>
        <p:txBody>
          <a:bodyPr>
            <a:normAutofit/>
          </a:bodyPr>
          <a:lstStyle/>
          <a:p>
            <a:pPr marL="0" indent="0">
              <a:buNone/>
            </a:pPr>
            <a:r>
              <a:rPr lang="vi-VN" sz="3200" dirty="0"/>
              <a:t>Thiết kế Mux8</a:t>
            </a:r>
            <a:r>
              <a:rPr lang="en-US" sz="3200" dirty="0"/>
              <a:t>-1</a:t>
            </a:r>
            <a:r>
              <a:rPr lang="vi-VN" sz="3200" dirty="0"/>
              <a:t> từ 2 Mux4</a:t>
            </a:r>
            <a:r>
              <a:rPr lang="en-US" sz="3200" dirty="0"/>
              <a:t>-1</a:t>
            </a:r>
            <a:r>
              <a:rPr lang="vi-VN" sz="3200" dirty="0"/>
              <a:t> và Mux2</a:t>
            </a:r>
            <a:r>
              <a:rPr lang="en-US" sz="3200" dirty="0"/>
              <a:t>-1</a:t>
            </a:r>
          </a:p>
          <a:p>
            <a:endParaRPr lang="vi-VN" sz="2000"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14</a:t>
            </a:fld>
            <a:endParaRPr lang="en-VN" dirty="0"/>
          </a:p>
        </p:txBody>
      </p:sp>
      <p:graphicFrame>
        <p:nvGraphicFramePr>
          <p:cNvPr id="6" name="Object 5">
            <a:extLst>
              <a:ext uri="{FF2B5EF4-FFF2-40B4-BE49-F238E27FC236}">
                <a16:creationId xmlns:a16="http://schemas.microsoft.com/office/drawing/2014/main" id="{80C70739-4792-A6F6-E3F7-8C09B67ECC61}"/>
              </a:ext>
            </a:extLst>
          </p:cNvPr>
          <p:cNvGraphicFramePr>
            <a:graphicFrameLocks noChangeAspect="1"/>
          </p:cNvGraphicFramePr>
          <p:nvPr>
            <p:extLst>
              <p:ext uri="{D42A27DB-BD31-4B8C-83A1-F6EECF244321}">
                <p14:modId xmlns:p14="http://schemas.microsoft.com/office/powerpoint/2010/main" val="2475535640"/>
              </p:ext>
            </p:extLst>
          </p:nvPr>
        </p:nvGraphicFramePr>
        <p:xfrm>
          <a:off x="7035100" y="2191597"/>
          <a:ext cx="2466410" cy="2060972"/>
        </p:xfrm>
        <a:graphic>
          <a:graphicData uri="http://schemas.openxmlformats.org/presentationml/2006/ole">
            <mc:AlternateContent xmlns:mc="http://schemas.openxmlformats.org/markup-compatibility/2006">
              <mc:Choice xmlns:v="urn:schemas-microsoft-com:vml" Requires="v">
                <p:oleObj name="Visio" r:id="rId3" imgW="2257437" imgH="1895418" progId="Visio.Drawing.15">
                  <p:embed/>
                </p:oleObj>
              </mc:Choice>
              <mc:Fallback>
                <p:oleObj name="Visio" r:id="rId3" imgW="2257437" imgH="1895418" progId="Visio.Drawing.15">
                  <p:embed/>
                  <p:pic>
                    <p:nvPicPr>
                      <p:cNvPr id="6" name="Object 5">
                        <a:extLst>
                          <a:ext uri="{FF2B5EF4-FFF2-40B4-BE49-F238E27FC236}">
                            <a16:creationId xmlns:a16="http://schemas.microsoft.com/office/drawing/2014/main" id="{80C70739-4792-A6F6-E3F7-8C09B67ECC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35100" y="2191597"/>
                        <a:ext cx="2466410" cy="2060972"/>
                      </a:xfrm>
                      <a:prstGeom prst="rect">
                        <a:avLst/>
                      </a:prstGeom>
                      <a:noFill/>
                    </p:spPr>
                  </p:pic>
                </p:oleObj>
              </mc:Fallback>
            </mc:AlternateContent>
          </a:graphicData>
        </a:graphic>
      </p:graphicFrame>
      <p:graphicFrame>
        <p:nvGraphicFramePr>
          <p:cNvPr id="8" name="Object 7">
            <a:extLst>
              <a:ext uri="{FF2B5EF4-FFF2-40B4-BE49-F238E27FC236}">
                <a16:creationId xmlns:a16="http://schemas.microsoft.com/office/drawing/2014/main" id="{E3BE87AE-8556-D3FC-4737-051C9C2BC426}"/>
              </a:ext>
            </a:extLst>
          </p:cNvPr>
          <p:cNvGraphicFramePr>
            <a:graphicFrameLocks noChangeAspect="1"/>
          </p:cNvGraphicFramePr>
          <p:nvPr>
            <p:extLst>
              <p:ext uri="{D42A27DB-BD31-4B8C-83A1-F6EECF244321}">
                <p14:modId xmlns:p14="http://schemas.microsoft.com/office/powerpoint/2010/main" val="541909399"/>
              </p:ext>
            </p:extLst>
          </p:nvPr>
        </p:nvGraphicFramePr>
        <p:xfrm>
          <a:off x="774145" y="2065029"/>
          <a:ext cx="2860306" cy="2533696"/>
        </p:xfrm>
        <a:graphic>
          <a:graphicData uri="http://schemas.openxmlformats.org/presentationml/2006/ole">
            <mc:AlternateContent xmlns:mc="http://schemas.openxmlformats.org/markup-compatibility/2006">
              <mc:Choice xmlns:v="urn:schemas-microsoft-com:vml" Requires="v">
                <p:oleObj name="Visio" r:id="rId5" imgW="2771922" imgH="2447844" progId="Visio.Drawing.15">
                  <p:embed/>
                </p:oleObj>
              </mc:Choice>
              <mc:Fallback>
                <p:oleObj name="Visio" r:id="rId5" imgW="2771922" imgH="2447844" progId="Visio.Drawing.15">
                  <p:embed/>
                  <p:pic>
                    <p:nvPicPr>
                      <p:cNvPr id="7" name="Object 6">
                        <a:extLst>
                          <a:ext uri="{FF2B5EF4-FFF2-40B4-BE49-F238E27FC236}">
                            <a16:creationId xmlns:a16="http://schemas.microsoft.com/office/drawing/2014/main" id="{02CDC81D-DEF8-CE7F-9FE4-F0B3227FB49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4145" y="2065029"/>
                        <a:ext cx="2860306" cy="2533696"/>
                      </a:xfrm>
                      <a:prstGeom prst="rect">
                        <a:avLst/>
                      </a:prstGeom>
                      <a:noFill/>
                    </p:spPr>
                  </p:pic>
                </p:oleObj>
              </mc:Fallback>
            </mc:AlternateContent>
          </a:graphicData>
        </a:graphic>
      </p:graphicFrame>
      <p:graphicFrame>
        <p:nvGraphicFramePr>
          <p:cNvPr id="7" name="Object 6">
            <a:extLst>
              <a:ext uri="{FF2B5EF4-FFF2-40B4-BE49-F238E27FC236}">
                <a16:creationId xmlns:a16="http://schemas.microsoft.com/office/drawing/2014/main" id="{13FF3012-3F12-8E10-C98A-71440F7DC243}"/>
              </a:ext>
            </a:extLst>
          </p:cNvPr>
          <p:cNvGraphicFramePr>
            <a:graphicFrameLocks noChangeAspect="1"/>
          </p:cNvGraphicFramePr>
          <p:nvPr>
            <p:extLst>
              <p:ext uri="{D42A27DB-BD31-4B8C-83A1-F6EECF244321}">
                <p14:modId xmlns:p14="http://schemas.microsoft.com/office/powerpoint/2010/main" val="2357420153"/>
              </p:ext>
            </p:extLst>
          </p:nvPr>
        </p:nvGraphicFramePr>
        <p:xfrm>
          <a:off x="3519896" y="3819098"/>
          <a:ext cx="2860306" cy="2533696"/>
        </p:xfrm>
        <a:graphic>
          <a:graphicData uri="http://schemas.openxmlformats.org/presentationml/2006/ole">
            <mc:AlternateContent xmlns:mc="http://schemas.openxmlformats.org/markup-compatibility/2006">
              <mc:Choice xmlns:v="urn:schemas-microsoft-com:vml" Requires="v">
                <p:oleObj name="Visio" r:id="rId5" imgW="2771922" imgH="2447844" progId="Visio.Drawing.15">
                  <p:embed/>
                </p:oleObj>
              </mc:Choice>
              <mc:Fallback>
                <p:oleObj name="Visio" r:id="rId5" imgW="2771922" imgH="2447844" progId="Visio.Drawing.15">
                  <p:embed/>
                  <p:pic>
                    <p:nvPicPr>
                      <p:cNvPr id="8" name="Object 7">
                        <a:extLst>
                          <a:ext uri="{FF2B5EF4-FFF2-40B4-BE49-F238E27FC236}">
                            <a16:creationId xmlns:a16="http://schemas.microsoft.com/office/drawing/2014/main" id="{E3BE87AE-8556-D3FC-4737-051C9C2BC42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19896" y="3819098"/>
                        <a:ext cx="2860306" cy="2533696"/>
                      </a:xfrm>
                      <a:prstGeom prst="rect">
                        <a:avLst/>
                      </a:prstGeom>
                      <a:noFill/>
                    </p:spPr>
                  </p:pic>
                </p:oleObj>
              </mc:Fallback>
            </mc:AlternateContent>
          </a:graphicData>
        </a:graphic>
      </p:graphicFrame>
    </p:spTree>
    <p:extLst>
      <p:ext uri="{BB962C8B-B14F-4D97-AF65-F5344CB8AC3E}">
        <p14:creationId xmlns:p14="http://schemas.microsoft.com/office/powerpoint/2010/main" val="822063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t>Mux nhiều bit</a:t>
            </a:r>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15</a:t>
            </a:fld>
            <a:endParaRPr lang="en-VN" dirty="0"/>
          </a:p>
        </p:txBody>
      </p:sp>
      <p:graphicFrame>
        <p:nvGraphicFramePr>
          <p:cNvPr id="6" name="Content Placeholder 4">
            <a:extLst>
              <a:ext uri="{FF2B5EF4-FFF2-40B4-BE49-F238E27FC236}">
                <a16:creationId xmlns:a16="http://schemas.microsoft.com/office/drawing/2014/main" id="{EA100C72-6534-3DD3-07B4-B4115AF33652}"/>
              </a:ext>
            </a:extLst>
          </p:cNvPr>
          <p:cNvGraphicFramePr>
            <a:graphicFrameLocks/>
          </p:cNvGraphicFramePr>
          <p:nvPr>
            <p:extLst>
              <p:ext uri="{D42A27DB-BD31-4B8C-83A1-F6EECF244321}">
                <p14:modId xmlns:p14="http://schemas.microsoft.com/office/powerpoint/2010/main" val="2120637206"/>
              </p:ext>
            </p:extLst>
          </p:nvPr>
        </p:nvGraphicFramePr>
        <p:xfrm>
          <a:off x="1105516" y="5075491"/>
          <a:ext cx="7406640" cy="1139571"/>
        </p:xfrm>
        <a:graphic>
          <a:graphicData uri="http://schemas.openxmlformats.org/drawingml/2006/table">
            <a:tbl>
              <a:tblPr firstRow="1" firstCol="1" bandRow="1">
                <a:tableStyleId>{5940675A-B579-460E-94D1-54222C63F5DA}</a:tableStyleId>
              </a:tblPr>
              <a:tblGrid>
                <a:gridCol w="822960">
                  <a:extLst>
                    <a:ext uri="{9D8B030D-6E8A-4147-A177-3AD203B41FA5}">
                      <a16:colId xmlns:a16="http://schemas.microsoft.com/office/drawing/2014/main" val="693040012"/>
                    </a:ext>
                  </a:extLst>
                </a:gridCol>
                <a:gridCol w="822960">
                  <a:extLst>
                    <a:ext uri="{9D8B030D-6E8A-4147-A177-3AD203B41FA5}">
                      <a16:colId xmlns:a16="http://schemas.microsoft.com/office/drawing/2014/main" val="2138504217"/>
                    </a:ext>
                  </a:extLst>
                </a:gridCol>
                <a:gridCol w="822960">
                  <a:extLst>
                    <a:ext uri="{9D8B030D-6E8A-4147-A177-3AD203B41FA5}">
                      <a16:colId xmlns:a16="http://schemas.microsoft.com/office/drawing/2014/main" val="1743317767"/>
                    </a:ext>
                  </a:extLst>
                </a:gridCol>
                <a:gridCol w="822960">
                  <a:extLst>
                    <a:ext uri="{9D8B030D-6E8A-4147-A177-3AD203B41FA5}">
                      <a16:colId xmlns:a16="http://schemas.microsoft.com/office/drawing/2014/main" val="2292396990"/>
                    </a:ext>
                  </a:extLst>
                </a:gridCol>
                <a:gridCol w="822960">
                  <a:extLst>
                    <a:ext uri="{9D8B030D-6E8A-4147-A177-3AD203B41FA5}">
                      <a16:colId xmlns:a16="http://schemas.microsoft.com/office/drawing/2014/main" val="3160970443"/>
                    </a:ext>
                  </a:extLst>
                </a:gridCol>
                <a:gridCol w="822960">
                  <a:extLst>
                    <a:ext uri="{9D8B030D-6E8A-4147-A177-3AD203B41FA5}">
                      <a16:colId xmlns:a16="http://schemas.microsoft.com/office/drawing/2014/main" val="1339225177"/>
                    </a:ext>
                  </a:extLst>
                </a:gridCol>
                <a:gridCol w="822960">
                  <a:extLst>
                    <a:ext uri="{9D8B030D-6E8A-4147-A177-3AD203B41FA5}">
                      <a16:colId xmlns:a16="http://schemas.microsoft.com/office/drawing/2014/main" val="3286414081"/>
                    </a:ext>
                  </a:extLst>
                </a:gridCol>
                <a:gridCol w="822960">
                  <a:extLst>
                    <a:ext uri="{9D8B030D-6E8A-4147-A177-3AD203B41FA5}">
                      <a16:colId xmlns:a16="http://schemas.microsoft.com/office/drawing/2014/main" val="2658242716"/>
                    </a:ext>
                  </a:extLst>
                </a:gridCol>
                <a:gridCol w="822960">
                  <a:extLst>
                    <a:ext uri="{9D8B030D-6E8A-4147-A177-3AD203B41FA5}">
                      <a16:colId xmlns:a16="http://schemas.microsoft.com/office/drawing/2014/main" val="1850006866"/>
                    </a:ext>
                  </a:extLst>
                </a:gridCol>
              </a:tblGrid>
              <a:tr h="0">
                <a:tc>
                  <a:txBody>
                    <a:bodyPr/>
                    <a:lstStyle/>
                    <a:p>
                      <a:pPr marL="0" marR="0" algn="ctr">
                        <a:lnSpc>
                          <a:spcPct val="125000"/>
                        </a:lnSpc>
                        <a:spcBef>
                          <a:spcPts val="600"/>
                        </a:spcBef>
                        <a:spcAft>
                          <a:spcPts val="0"/>
                        </a:spcAft>
                      </a:pPr>
                      <a:r>
                        <a:rPr lang="vi-VN" sz="2200" spc="-20" dirty="0">
                          <a:effectLst/>
                          <a:latin typeface="Times New Roman (Headings)"/>
                        </a:rPr>
                        <a:t>S</a:t>
                      </a:r>
                      <a:endParaRPr lang="en-US" sz="2200" dirty="0">
                        <a:effectLst/>
                        <a:latin typeface="Times New Roman (Headings)"/>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Y</a:t>
                      </a:r>
                      <a:r>
                        <a:rPr lang="en-US" sz="2200" spc="-20" dirty="0">
                          <a:effectLst/>
                          <a:latin typeface="Times New Roman (Headings)"/>
                        </a:rPr>
                        <a:t>[7]</a:t>
                      </a:r>
                      <a:endParaRPr lang="en-US" sz="2200" dirty="0">
                        <a:effectLst/>
                        <a:latin typeface="Times New Roman (Headings)"/>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Y</a:t>
                      </a:r>
                      <a:r>
                        <a:rPr lang="en-US" sz="2200" spc="-20" dirty="0">
                          <a:effectLst/>
                          <a:latin typeface="Times New Roman (Headings)"/>
                        </a:rPr>
                        <a:t>[6]</a:t>
                      </a:r>
                      <a:endParaRPr lang="en-US" sz="2200" dirty="0">
                        <a:effectLst/>
                        <a:latin typeface="Times New Roman (Headings)"/>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Y</a:t>
                      </a:r>
                      <a:r>
                        <a:rPr lang="en-US" sz="2200" spc="-20" dirty="0">
                          <a:effectLst/>
                          <a:latin typeface="Times New Roman (Headings)"/>
                        </a:rPr>
                        <a:t>[5]</a:t>
                      </a:r>
                      <a:endParaRPr lang="en-US" sz="2200" dirty="0">
                        <a:effectLst/>
                        <a:latin typeface="Times New Roman (Headings)"/>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Y[4]</a:t>
                      </a:r>
                      <a:endParaRPr lang="en-US" sz="2200" dirty="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Y[3]</a:t>
                      </a:r>
                      <a:endParaRPr lang="en-US" sz="2200" dirty="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Y[2]</a:t>
                      </a:r>
                      <a:endParaRPr lang="en-US" sz="2200" dirty="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Y[1]</a:t>
                      </a:r>
                      <a:endParaRPr lang="en-US" sz="2200" dirty="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Y[0]</a:t>
                      </a:r>
                      <a:endParaRPr lang="en-US" sz="2200" dirty="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84783565"/>
                  </a:ext>
                </a:extLst>
              </a:tr>
              <a:tr h="0">
                <a:tc>
                  <a:txBody>
                    <a:bodyPr/>
                    <a:lstStyle/>
                    <a:p>
                      <a:pPr marL="0" marR="0" algn="ctr">
                        <a:lnSpc>
                          <a:spcPct val="125000"/>
                        </a:lnSpc>
                        <a:spcBef>
                          <a:spcPts val="600"/>
                        </a:spcBef>
                        <a:spcAft>
                          <a:spcPts val="0"/>
                        </a:spcAft>
                      </a:pPr>
                      <a:r>
                        <a:rPr lang="vi-VN" sz="2200" spc="-20" dirty="0">
                          <a:effectLst/>
                          <a:latin typeface="Times New Roman (Headings)"/>
                        </a:rPr>
                        <a:t>0</a:t>
                      </a:r>
                      <a:endParaRPr lang="en-US" sz="2200" dirty="0">
                        <a:effectLst/>
                        <a:latin typeface="Times New Roman (Headings)"/>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D0</a:t>
                      </a:r>
                      <a:r>
                        <a:rPr lang="en-US" sz="2200" spc="-20" dirty="0">
                          <a:effectLst/>
                          <a:latin typeface="Times New Roman (Headings)"/>
                        </a:rPr>
                        <a:t>[7]</a:t>
                      </a:r>
                      <a:endParaRPr lang="en-US" sz="2200" dirty="0">
                        <a:effectLst/>
                        <a:latin typeface="Times New Roman (Headings)"/>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D0</a:t>
                      </a:r>
                      <a:r>
                        <a:rPr lang="en-US" sz="2200" spc="-20" dirty="0">
                          <a:effectLst/>
                          <a:latin typeface="Times New Roman (Headings)"/>
                        </a:rPr>
                        <a:t>[6]</a:t>
                      </a:r>
                      <a:endParaRPr lang="en-US" sz="2200" dirty="0">
                        <a:effectLst/>
                        <a:latin typeface="Times New Roman (Headings)"/>
                        <a:ea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D0</a:t>
                      </a:r>
                      <a:r>
                        <a:rPr lang="en-US" sz="2200" spc="-20" dirty="0">
                          <a:effectLst/>
                          <a:latin typeface="Times New Roman (Headings)"/>
                        </a:rPr>
                        <a:t>[5]</a:t>
                      </a:r>
                      <a:endParaRPr lang="en-US" sz="2200" dirty="0">
                        <a:effectLst/>
                        <a:latin typeface="Times New Roman (Headings)"/>
                        <a:ea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D0</a:t>
                      </a:r>
                      <a:r>
                        <a:rPr lang="en-US" sz="2200" spc="-20" dirty="0">
                          <a:effectLst/>
                          <a:latin typeface="Times New Roman (Headings)"/>
                        </a:rPr>
                        <a:t>[4]</a:t>
                      </a:r>
                      <a:endParaRPr lang="en-US" sz="2200" dirty="0">
                        <a:effectLst/>
                        <a:latin typeface="Times New Roman (Headings)"/>
                        <a:ea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D0</a:t>
                      </a:r>
                      <a:r>
                        <a:rPr lang="en-US" sz="2200" spc="-20" dirty="0">
                          <a:effectLst/>
                          <a:latin typeface="Times New Roman (Headings)"/>
                        </a:rPr>
                        <a:t>[3]</a:t>
                      </a:r>
                      <a:endParaRPr lang="en-US" sz="2200" dirty="0">
                        <a:effectLst/>
                        <a:latin typeface="Times New Roman (Headings)"/>
                        <a:ea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D0</a:t>
                      </a:r>
                      <a:r>
                        <a:rPr lang="en-US" sz="2200" spc="-20" dirty="0">
                          <a:effectLst/>
                          <a:latin typeface="Times New Roman (Headings)"/>
                        </a:rPr>
                        <a:t>[2]</a:t>
                      </a:r>
                      <a:endParaRPr lang="en-US" sz="2200" dirty="0">
                        <a:effectLst/>
                        <a:latin typeface="Times New Roman (Headings)"/>
                        <a:ea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D0</a:t>
                      </a:r>
                      <a:r>
                        <a:rPr lang="en-US" sz="2200" spc="-20" dirty="0">
                          <a:effectLst/>
                          <a:latin typeface="Times New Roman (Headings)"/>
                        </a:rPr>
                        <a:t>[1]</a:t>
                      </a:r>
                      <a:endParaRPr lang="en-US" sz="2200" dirty="0">
                        <a:effectLst/>
                        <a:latin typeface="Times New Roman (Headings)"/>
                        <a:ea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D0</a:t>
                      </a:r>
                      <a:r>
                        <a:rPr lang="en-US" sz="2200" spc="-20" dirty="0">
                          <a:effectLst/>
                          <a:latin typeface="Times New Roman (Headings)"/>
                        </a:rPr>
                        <a:t>[0]</a:t>
                      </a:r>
                      <a:endParaRPr lang="en-US" sz="2200" dirty="0">
                        <a:effectLst/>
                        <a:latin typeface="Times New Roman (Headings)"/>
                        <a:ea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50047409"/>
                  </a:ext>
                </a:extLst>
              </a:tr>
              <a:tr h="0">
                <a:tc>
                  <a:txBody>
                    <a:bodyPr/>
                    <a:lstStyle/>
                    <a:p>
                      <a:pPr marL="0" marR="0" algn="ctr">
                        <a:lnSpc>
                          <a:spcPct val="125000"/>
                        </a:lnSpc>
                        <a:spcBef>
                          <a:spcPts val="600"/>
                        </a:spcBef>
                        <a:spcAft>
                          <a:spcPts val="0"/>
                        </a:spcAft>
                      </a:pPr>
                      <a:r>
                        <a:rPr lang="vi-VN" sz="2200" spc="-20" dirty="0">
                          <a:effectLst/>
                          <a:latin typeface="Times New Roman (Headings)"/>
                        </a:rPr>
                        <a:t>1</a:t>
                      </a:r>
                      <a:endParaRPr lang="en-US" sz="2200" dirty="0">
                        <a:effectLst/>
                        <a:latin typeface="Times New Roman (Headings)"/>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D1</a:t>
                      </a:r>
                      <a:r>
                        <a:rPr lang="en-US" sz="2200" spc="-20">
                          <a:effectLst/>
                          <a:latin typeface="Times New Roman (Headings)"/>
                        </a:rPr>
                        <a:t>[7]</a:t>
                      </a:r>
                      <a:endParaRPr lang="en-US" sz="2200">
                        <a:effectLst/>
                        <a:latin typeface="Times New Roman (Headings)"/>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D1</a:t>
                      </a:r>
                      <a:r>
                        <a:rPr lang="en-US" sz="2200" spc="-20">
                          <a:effectLst/>
                          <a:latin typeface="Times New Roman (Headings)"/>
                        </a:rPr>
                        <a:t>[6]</a:t>
                      </a:r>
                      <a:endParaRPr lang="en-US" sz="2200">
                        <a:effectLst/>
                        <a:latin typeface="Times New Roman (Headings)"/>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D1</a:t>
                      </a:r>
                      <a:r>
                        <a:rPr lang="en-US" sz="2200" spc="-20">
                          <a:effectLst/>
                          <a:latin typeface="Times New Roman (Headings)"/>
                        </a:rPr>
                        <a:t>[5]</a:t>
                      </a:r>
                      <a:endParaRPr lang="en-US" sz="2200">
                        <a:effectLst/>
                        <a:latin typeface="Times New Roman (Headings)"/>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D1</a:t>
                      </a:r>
                      <a:r>
                        <a:rPr lang="en-US" sz="2200" spc="-20">
                          <a:effectLst/>
                          <a:latin typeface="Times New Roman (Headings)"/>
                        </a:rPr>
                        <a:t>[4]</a:t>
                      </a:r>
                      <a:endParaRPr lang="en-US" sz="2200">
                        <a:effectLst/>
                        <a:latin typeface="Times New Roman (Headings)"/>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D1</a:t>
                      </a:r>
                      <a:r>
                        <a:rPr lang="en-US" sz="2200" spc="-20">
                          <a:effectLst/>
                          <a:latin typeface="Times New Roman (Headings)"/>
                        </a:rPr>
                        <a:t>[3]</a:t>
                      </a:r>
                      <a:endParaRPr lang="en-US" sz="2200">
                        <a:effectLst/>
                        <a:latin typeface="Times New Roman (Headings)"/>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D1</a:t>
                      </a:r>
                      <a:r>
                        <a:rPr lang="en-US" sz="2200" spc="-20" dirty="0">
                          <a:effectLst/>
                          <a:latin typeface="Times New Roman (Headings)"/>
                        </a:rPr>
                        <a:t>[2]</a:t>
                      </a:r>
                      <a:endParaRPr lang="en-US" sz="2200" dirty="0">
                        <a:effectLst/>
                        <a:latin typeface="Times New Roman (Headings)"/>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D1</a:t>
                      </a:r>
                      <a:r>
                        <a:rPr lang="en-US" sz="2200" spc="-20" dirty="0">
                          <a:effectLst/>
                          <a:latin typeface="Times New Roman (Headings)"/>
                        </a:rPr>
                        <a:t>[1]</a:t>
                      </a:r>
                      <a:endParaRPr lang="en-US" sz="2200" dirty="0">
                        <a:effectLst/>
                        <a:latin typeface="Times New Roman (Headings)"/>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D1</a:t>
                      </a:r>
                      <a:r>
                        <a:rPr lang="en-US" sz="2200" spc="-20" dirty="0">
                          <a:effectLst/>
                          <a:latin typeface="Times New Roman (Headings)"/>
                        </a:rPr>
                        <a:t>[0]</a:t>
                      </a:r>
                      <a:endParaRPr lang="en-US" sz="2200" dirty="0">
                        <a:effectLst/>
                        <a:latin typeface="Times New Roman (Headings)"/>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55337272"/>
                  </a:ext>
                </a:extLst>
              </a:tr>
            </a:tbl>
          </a:graphicData>
        </a:graphic>
      </p:graphicFrame>
      <p:pic>
        <p:nvPicPr>
          <p:cNvPr id="7" name="Picture 6">
            <a:extLst>
              <a:ext uri="{FF2B5EF4-FFF2-40B4-BE49-F238E27FC236}">
                <a16:creationId xmlns:a16="http://schemas.microsoft.com/office/drawing/2014/main" id="{B9EA0514-5FCD-5E34-199C-088ADF2A4382}"/>
              </a:ext>
            </a:extLst>
          </p:cNvPr>
          <p:cNvPicPr>
            <a:picLocks noChangeAspect="1"/>
          </p:cNvPicPr>
          <p:nvPr/>
        </p:nvPicPr>
        <p:blipFill>
          <a:blip r:embed="rId2"/>
          <a:stretch>
            <a:fillRect/>
          </a:stretch>
        </p:blipFill>
        <p:spPr>
          <a:xfrm>
            <a:off x="2827582" y="1556402"/>
            <a:ext cx="3473596" cy="3076957"/>
          </a:xfrm>
          <a:prstGeom prst="rect">
            <a:avLst/>
          </a:prstGeom>
        </p:spPr>
      </p:pic>
      <p:graphicFrame>
        <p:nvGraphicFramePr>
          <p:cNvPr id="9" name="Object 8">
            <a:extLst>
              <a:ext uri="{FF2B5EF4-FFF2-40B4-BE49-F238E27FC236}">
                <a16:creationId xmlns:a16="http://schemas.microsoft.com/office/drawing/2014/main" id="{3F5372DA-3785-7BF6-991F-B8FC2B538354}"/>
              </a:ext>
            </a:extLst>
          </p:cNvPr>
          <p:cNvGraphicFramePr>
            <a:graphicFrameLocks noChangeAspect="1"/>
          </p:cNvGraphicFramePr>
          <p:nvPr>
            <p:extLst>
              <p:ext uri="{D42A27DB-BD31-4B8C-83A1-F6EECF244321}">
                <p14:modId xmlns:p14="http://schemas.microsoft.com/office/powerpoint/2010/main" val="3627941555"/>
              </p:ext>
            </p:extLst>
          </p:nvPr>
        </p:nvGraphicFramePr>
        <p:xfrm>
          <a:off x="8961404" y="83820"/>
          <a:ext cx="2125080" cy="6599555"/>
        </p:xfrm>
        <a:graphic>
          <a:graphicData uri="http://schemas.openxmlformats.org/presentationml/2006/ole">
            <mc:AlternateContent xmlns:mc="http://schemas.openxmlformats.org/markup-compatibility/2006">
              <mc:Choice xmlns:v="urn:schemas-microsoft-com:vml" Requires="v">
                <p:oleObj name="Visio" r:id="rId3" imgW="2486014" imgH="7829378" progId="Visio.Drawing.15">
                  <p:embed/>
                </p:oleObj>
              </mc:Choice>
              <mc:Fallback>
                <p:oleObj name="Visio" r:id="rId3" imgW="2486014" imgH="7829378" progId="Visio.Drawing.15">
                  <p:embed/>
                  <p:pic>
                    <p:nvPicPr>
                      <p:cNvPr id="8" name="Object 7">
                        <a:extLst>
                          <a:ext uri="{FF2B5EF4-FFF2-40B4-BE49-F238E27FC236}">
                            <a16:creationId xmlns:a16="http://schemas.microsoft.com/office/drawing/2014/main" id="{AA9A5436-019B-7B94-A0FE-6156A5CED3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61404" y="83820"/>
                        <a:ext cx="2125080" cy="6599555"/>
                      </a:xfrm>
                      <a:prstGeom prst="rect">
                        <a:avLst/>
                      </a:prstGeom>
                      <a:noFill/>
                    </p:spPr>
                  </p:pic>
                </p:oleObj>
              </mc:Fallback>
            </mc:AlternateContent>
          </a:graphicData>
        </a:graphic>
      </p:graphicFrame>
      <p:pic>
        <p:nvPicPr>
          <p:cNvPr id="3" name="Picture 2">
            <a:extLst>
              <a:ext uri="{FF2B5EF4-FFF2-40B4-BE49-F238E27FC236}">
                <a16:creationId xmlns:a16="http://schemas.microsoft.com/office/drawing/2014/main" id="{12217432-C0E6-A9EF-B78A-995A9B2068A8}"/>
              </a:ext>
            </a:extLst>
          </p:cNvPr>
          <p:cNvPicPr>
            <a:picLocks noChangeAspect="1"/>
          </p:cNvPicPr>
          <p:nvPr/>
        </p:nvPicPr>
        <p:blipFill>
          <a:blip r:embed="rId5"/>
          <a:stretch>
            <a:fillRect/>
          </a:stretch>
        </p:blipFill>
        <p:spPr>
          <a:xfrm>
            <a:off x="6660330" y="1122467"/>
            <a:ext cx="1384300" cy="1816100"/>
          </a:xfrm>
          <a:prstGeom prst="rect">
            <a:avLst/>
          </a:prstGeom>
        </p:spPr>
      </p:pic>
    </p:spTree>
    <p:extLst>
      <p:ext uri="{BB962C8B-B14F-4D97-AF65-F5344CB8AC3E}">
        <p14:creationId xmlns:p14="http://schemas.microsoft.com/office/powerpoint/2010/main" val="1441864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16</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a:bodyPr>
          <a:lstStyle/>
          <a:p>
            <a:r>
              <a:rPr lang="en-US" dirty="0"/>
              <a:t>4. Bộ </a:t>
            </a:r>
            <a:r>
              <a:rPr lang="en-US" dirty="0" err="1"/>
              <a:t>cộng</a:t>
            </a:r>
            <a:endParaRPr lang="en-US"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4" name="Text Placeholder 3">
            <a:extLst>
              <a:ext uri="{FF2B5EF4-FFF2-40B4-BE49-F238E27FC236}">
                <a16:creationId xmlns:a16="http://schemas.microsoft.com/office/drawing/2014/main" id="{7365F387-D2BA-EE1B-BB0E-4CFE2D7EB4BD}"/>
              </a:ext>
            </a:extLst>
          </p:cNvPr>
          <p:cNvSpPr>
            <a:spLocks noGrp="1"/>
          </p:cNvSpPr>
          <p:nvPr>
            <p:ph type="body" sz="quarter" idx="16"/>
          </p:nvPr>
        </p:nvSpPr>
        <p:spPr/>
        <p:txBody>
          <a:bodyPr>
            <a:normAutofit lnSpcReduction="10000"/>
          </a:bodyPr>
          <a:lstStyle/>
          <a:p>
            <a:endParaRPr lang="en-VN"/>
          </a:p>
        </p:txBody>
      </p:sp>
    </p:spTree>
    <p:extLst>
      <p:ext uri="{BB962C8B-B14F-4D97-AF65-F5344CB8AC3E}">
        <p14:creationId xmlns:p14="http://schemas.microsoft.com/office/powerpoint/2010/main" val="3705844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9" name="Rectangle 7"/>
          <p:cNvSpPr>
            <a:spLocks noGrp="1" noChangeArrowheads="1"/>
          </p:cNvSpPr>
          <p:nvPr>
            <p:ph idx="1"/>
          </p:nvPr>
        </p:nvSpPr>
        <p:spPr>
          <a:xfrm>
            <a:off x="1981200" y="1295400"/>
            <a:ext cx="8229600" cy="901700"/>
          </a:xfrm>
        </p:spPr>
        <p:txBody>
          <a:bodyPr>
            <a:normAutofit/>
          </a:bodyPr>
          <a:lstStyle/>
          <a:p>
            <a:pPr marL="0" indent="0">
              <a:buNone/>
            </a:pPr>
            <a:r>
              <a:rPr lang="en-US" sz="2400" dirty="0" err="1"/>
              <a:t>Cộng</a:t>
            </a:r>
            <a:r>
              <a:rPr lang="en-US" sz="2400" dirty="0"/>
              <a:t> 2 </a:t>
            </a:r>
            <a:r>
              <a:rPr lang="en-US" sz="2400" dirty="0" err="1"/>
              <a:t>số</a:t>
            </a:r>
            <a:r>
              <a:rPr lang="en-US" sz="2400" dirty="0"/>
              <a:t> 1-bit x </a:t>
            </a:r>
            <a:r>
              <a:rPr lang="en-US" sz="2400" dirty="0" err="1"/>
              <a:t>và</a:t>
            </a:r>
            <a:r>
              <a:rPr lang="en-US" sz="2400" dirty="0"/>
              <a:t> y </a:t>
            </a:r>
            <a:r>
              <a:rPr lang="en-US" sz="2400" dirty="0" err="1"/>
              <a:t>có</a:t>
            </a:r>
            <a:r>
              <a:rPr lang="en-US" sz="2400" dirty="0"/>
              <a:t> 4 </a:t>
            </a:r>
            <a:r>
              <a:rPr lang="en-US" sz="2400" dirty="0" err="1"/>
              <a:t>trường</a:t>
            </a:r>
            <a:r>
              <a:rPr lang="en-US" sz="2400" dirty="0"/>
              <a:t> </a:t>
            </a:r>
            <a:r>
              <a:rPr lang="en-US" sz="2400" dirty="0" err="1"/>
              <a:t>hợp</a:t>
            </a:r>
            <a:endParaRPr lang="en-US" sz="2400" dirty="0"/>
          </a:p>
        </p:txBody>
      </p:sp>
      <p:pic>
        <p:nvPicPr>
          <p:cNvPr id="3"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83600" y="1676400"/>
            <a:ext cx="1752600" cy="23034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30730" name="Rectangle 10"/>
          <p:cNvSpPr>
            <a:spLocks/>
          </p:cNvSpPr>
          <p:nvPr/>
        </p:nvSpPr>
        <p:spPr bwMode="auto">
          <a:xfrm>
            <a:off x="774145" y="4953000"/>
            <a:ext cx="4775241" cy="1676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rnd">
                <a:solidFill>
                  <a:schemeClr val="tx1"/>
                </a:solidFill>
                <a:round/>
                <a:headEnd/>
                <a:tailEnd/>
              </a14:hiddenLine>
            </a:ext>
          </a:extLst>
        </p:spPr>
        <p:txBody>
          <a:bodyPr lIns="0" tIns="0" rIns="0" bIns="0"/>
          <a:lstStyle/>
          <a:p>
            <a:pPr algn="just">
              <a:spcBef>
                <a:spcPts val="663"/>
              </a:spcBef>
              <a:buSzPct val="100000"/>
            </a:pPr>
            <a:r>
              <a:rPr lang="en-US" sz="2400" dirty="0" err="1">
                <a:latin typeface="Arial" panose="020B0604020202020204" pitchFamily="34" charset="0"/>
                <a:cs typeface="Arial" panose="020B0604020202020204" pitchFamily="34" charset="0"/>
                <a:sym typeface="Times New Roman" charset="0"/>
              </a:rPr>
              <a:t>Mạch</a:t>
            </a:r>
            <a:r>
              <a:rPr lang="en-US" sz="2400" dirty="0">
                <a:latin typeface="Arial" panose="020B0604020202020204" pitchFamily="34" charset="0"/>
                <a:cs typeface="Arial" panose="020B0604020202020204" pitchFamily="34" charset="0"/>
                <a:sym typeface="Times New Roman" charset="0"/>
              </a:rPr>
              <a:t> </a:t>
            </a:r>
            <a:r>
              <a:rPr lang="en-US" sz="2400" dirty="0" err="1">
                <a:latin typeface="Arial" panose="020B0604020202020204" pitchFamily="34" charset="0"/>
                <a:cs typeface="Arial" panose="020B0604020202020204" pitchFamily="34" charset="0"/>
                <a:sym typeface="Times New Roman" charset="0"/>
              </a:rPr>
              <a:t>cộng</a:t>
            </a:r>
            <a:r>
              <a:rPr lang="en-US" sz="2400" dirty="0">
                <a:latin typeface="Arial" panose="020B0604020202020204" pitchFamily="34" charset="0"/>
                <a:cs typeface="Arial" panose="020B0604020202020204" pitchFamily="34" charset="0"/>
                <a:sym typeface="Times New Roman" charset="0"/>
              </a:rPr>
              <a:t> 1-bit </a:t>
            </a:r>
            <a:r>
              <a:rPr lang="en-US" sz="2400" dirty="0" err="1">
                <a:latin typeface="Arial" panose="020B0604020202020204" pitchFamily="34" charset="0"/>
                <a:cs typeface="Arial" panose="020B0604020202020204" pitchFamily="34" charset="0"/>
                <a:sym typeface="Times New Roman" charset="0"/>
              </a:rPr>
              <a:t>có</a:t>
            </a:r>
            <a:r>
              <a:rPr lang="en-US" sz="2400" dirty="0">
                <a:latin typeface="Arial" panose="020B0604020202020204" pitchFamily="34" charset="0"/>
                <a:cs typeface="Arial" panose="020B0604020202020204" pitchFamily="34" charset="0"/>
                <a:sym typeface="Times New Roman" charset="0"/>
              </a:rPr>
              <a:t> </a:t>
            </a:r>
            <a:r>
              <a:rPr lang="en-US" sz="2400" dirty="0" err="1">
                <a:latin typeface="Arial" panose="020B0604020202020204" pitchFamily="34" charset="0"/>
                <a:cs typeface="Arial" panose="020B0604020202020204" pitchFamily="34" charset="0"/>
                <a:sym typeface="Times New Roman" charset="0"/>
              </a:rPr>
              <a:t>tổng</a:t>
            </a:r>
            <a:r>
              <a:rPr lang="en-US" sz="2400" dirty="0">
                <a:latin typeface="Arial" panose="020B0604020202020204" pitchFamily="34" charset="0"/>
                <a:cs typeface="Arial" panose="020B0604020202020204" pitchFamily="34" charset="0"/>
                <a:sym typeface="Times New Roman" charset="0"/>
              </a:rPr>
              <a:t> </a:t>
            </a:r>
            <a:r>
              <a:rPr lang="en-US" sz="2400" dirty="0" err="1">
                <a:latin typeface="Arial" panose="020B0604020202020204" pitchFamily="34" charset="0"/>
                <a:cs typeface="Arial" panose="020B0604020202020204" pitchFamily="34" charset="0"/>
                <a:sym typeface="Times New Roman" charset="0"/>
              </a:rPr>
              <a:t>và</a:t>
            </a:r>
            <a:r>
              <a:rPr lang="en-US" sz="2400" dirty="0">
                <a:latin typeface="Arial" panose="020B0604020202020204" pitchFamily="34" charset="0"/>
                <a:cs typeface="Arial" panose="020B0604020202020204" pitchFamily="34" charset="0"/>
                <a:sym typeface="Times New Roman" charset="0"/>
              </a:rPr>
              <a:t> </a:t>
            </a:r>
            <a:r>
              <a:rPr lang="en-US" sz="2400" dirty="0" err="1">
                <a:latin typeface="Arial" panose="020B0604020202020204" pitchFamily="34" charset="0"/>
                <a:cs typeface="Arial" panose="020B0604020202020204" pitchFamily="34" charset="0"/>
                <a:sym typeface="Times New Roman" charset="0"/>
              </a:rPr>
              <a:t>số</a:t>
            </a:r>
            <a:r>
              <a:rPr lang="en-US" sz="2400" dirty="0">
                <a:latin typeface="Arial" panose="020B0604020202020204" pitchFamily="34" charset="0"/>
                <a:cs typeface="Arial" panose="020B0604020202020204" pitchFamily="34" charset="0"/>
                <a:sym typeface="Times New Roman" charset="0"/>
              </a:rPr>
              <a:t> </a:t>
            </a:r>
            <a:r>
              <a:rPr lang="en-US" sz="2400" dirty="0" err="1">
                <a:latin typeface="Arial" panose="020B0604020202020204" pitchFamily="34" charset="0"/>
                <a:cs typeface="Arial" panose="020B0604020202020204" pitchFamily="34" charset="0"/>
                <a:sym typeface="Times New Roman" charset="0"/>
              </a:rPr>
              <a:t>nhớ</a:t>
            </a:r>
            <a:r>
              <a:rPr lang="en-US" sz="2400" dirty="0">
                <a:latin typeface="Arial" panose="020B0604020202020204" pitchFamily="34" charset="0"/>
                <a:cs typeface="Arial" panose="020B0604020202020204" pitchFamily="34" charset="0"/>
                <a:sym typeface="Times New Roman" charset="0"/>
              </a:rPr>
              <a:t> </a:t>
            </a:r>
            <a:r>
              <a:rPr lang="en-US" sz="2400" dirty="0" err="1">
                <a:latin typeface="Arial" panose="020B0604020202020204" pitchFamily="34" charset="0"/>
                <a:cs typeface="Arial" panose="020B0604020202020204" pitchFamily="34" charset="0"/>
                <a:sym typeface="Times New Roman" charset="0"/>
              </a:rPr>
              <a:t>như</a:t>
            </a:r>
            <a:r>
              <a:rPr lang="en-US" sz="2400" dirty="0">
                <a:latin typeface="Arial" panose="020B0604020202020204" pitchFamily="34" charset="0"/>
                <a:cs typeface="Arial" panose="020B0604020202020204" pitchFamily="34" charset="0"/>
                <a:sym typeface="Times New Roman" charset="0"/>
              </a:rPr>
              <a:t> </a:t>
            </a:r>
            <a:r>
              <a:rPr lang="en-US" sz="2400" dirty="0" err="1">
                <a:latin typeface="Arial" panose="020B0604020202020204" pitchFamily="34" charset="0"/>
                <a:cs typeface="Arial" panose="020B0604020202020204" pitchFamily="34" charset="0"/>
                <a:sym typeface="Times New Roman" charset="0"/>
              </a:rPr>
              <a:t>thế</a:t>
            </a:r>
            <a:r>
              <a:rPr lang="en-US" sz="2400" dirty="0">
                <a:latin typeface="Arial" panose="020B0604020202020204" pitchFamily="34" charset="0"/>
                <a:cs typeface="Arial" panose="020B0604020202020204" pitchFamily="34" charset="0"/>
                <a:sym typeface="Times New Roman" charset="0"/>
              </a:rPr>
              <a:t> </a:t>
            </a:r>
            <a:r>
              <a:rPr lang="en-US" sz="2400" dirty="0" err="1">
                <a:latin typeface="Arial" panose="020B0604020202020204" pitchFamily="34" charset="0"/>
                <a:cs typeface="Arial" panose="020B0604020202020204" pitchFamily="34" charset="0"/>
                <a:sym typeface="Times New Roman" charset="0"/>
              </a:rPr>
              <a:t>này</a:t>
            </a:r>
            <a:r>
              <a:rPr lang="en-US" sz="2400" dirty="0">
                <a:latin typeface="Arial" panose="020B0604020202020204" pitchFamily="34" charset="0"/>
                <a:cs typeface="Arial" panose="020B0604020202020204" pitchFamily="34" charset="0"/>
                <a:sym typeface="Times New Roman" charset="0"/>
              </a:rPr>
              <a:t> </a:t>
            </a:r>
            <a:r>
              <a:rPr lang="en-US" sz="2400" dirty="0" err="1">
                <a:latin typeface="Arial" panose="020B0604020202020204" pitchFamily="34" charset="0"/>
                <a:cs typeface="Arial" panose="020B0604020202020204" pitchFamily="34" charset="0"/>
                <a:sym typeface="Times New Roman" charset="0"/>
              </a:rPr>
              <a:t>được</a:t>
            </a:r>
            <a:r>
              <a:rPr lang="en-US" sz="2400" dirty="0">
                <a:latin typeface="Arial" panose="020B0604020202020204" pitchFamily="34" charset="0"/>
                <a:cs typeface="Arial" panose="020B0604020202020204" pitchFamily="34" charset="0"/>
                <a:sym typeface="Times New Roman" charset="0"/>
              </a:rPr>
              <a:t> </a:t>
            </a:r>
            <a:r>
              <a:rPr lang="en-US" sz="2400" dirty="0" err="1">
                <a:latin typeface="Arial" panose="020B0604020202020204" pitchFamily="34" charset="0"/>
                <a:cs typeface="Arial" panose="020B0604020202020204" pitchFamily="34" charset="0"/>
                <a:sym typeface="Times New Roman" charset="0"/>
              </a:rPr>
              <a:t>gọi</a:t>
            </a:r>
            <a:r>
              <a:rPr lang="en-US" sz="2400" dirty="0">
                <a:latin typeface="Arial" panose="020B0604020202020204" pitchFamily="34" charset="0"/>
                <a:cs typeface="Arial" panose="020B0604020202020204" pitchFamily="34" charset="0"/>
                <a:sym typeface="Times New Roman" charset="0"/>
              </a:rPr>
              <a:t> </a:t>
            </a:r>
            <a:r>
              <a:rPr lang="en-US" sz="2400" dirty="0" err="1">
                <a:latin typeface="Arial" panose="020B0604020202020204" pitchFamily="34" charset="0"/>
                <a:cs typeface="Arial" panose="020B0604020202020204" pitchFamily="34" charset="0"/>
                <a:sym typeface="Times New Roman" charset="0"/>
              </a:rPr>
              <a:t>là</a:t>
            </a:r>
            <a:r>
              <a:rPr lang="en-US" sz="2400" dirty="0">
                <a:latin typeface="Arial" panose="020B0604020202020204" pitchFamily="34" charset="0"/>
                <a:cs typeface="Arial" panose="020B0604020202020204" pitchFamily="34" charset="0"/>
                <a:sym typeface="Times New Roman" charset="0"/>
              </a:rPr>
              <a:t> </a:t>
            </a:r>
            <a:r>
              <a:rPr lang="en-US" sz="2400" dirty="0" err="1">
                <a:latin typeface="Arial" panose="020B0604020202020204" pitchFamily="34" charset="0"/>
                <a:cs typeface="Arial" panose="020B0604020202020204" pitchFamily="34" charset="0"/>
                <a:sym typeface="Times New Roman" charset="0"/>
              </a:rPr>
              <a:t>mạch</a:t>
            </a:r>
            <a:r>
              <a:rPr lang="en-US" sz="2400" dirty="0">
                <a:latin typeface="Arial" panose="020B0604020202020204" pitchFamily="34" charset="0"/>
                <a:cs typeface="Arial" panose="020B0604020202020204" pitchFamily="34" charset="0"/>
                <a:sym typeface="Times New Roman" charset="0"/>
              </a:rPr>
              <a:t> </a:t>
            </a:r>
            <a:r>
              <a:rPr lang="en-US" sz="2400" dirty="0" err="1">
                <a:latin typeface="Arial" panose="020B0604020202020204" pitchFamily="34" charset="0"/>
                <a:cs typeface="Arial" panose="020B0604020202020204" pitchFamily="34" charset="0"/>
                <a:sym typeface="Times New Roman" charset="0"/>
              </a:rPr>
              <a:t>cộng</a:t>
            </a:r>
            <a:r>
              <a:rPr lang="en-US" sz="2400" dirty="0">
                <a:latin typeface="Arial" panose="020B0604020202020204" pitchFamily="34" charset="0"/>
                <a:cs typeface="Arial" panose="020B0604020202020204" pitchFamily="34" charset="0"/>
                <a:sym typeface="Times New Roman" charset="0"/>
              </a:rPr>
              <a:t> </a:t>
            </a:r>
            <a:r>
              <a:rPr lang="en-US" sz="2400" dirty="0" err="1">
                <a:latin typeface="Arial" panose="020B0604020202020204" pitchFamily="34" charset="0"/>
                <a:cs typeface="Arial" panose="020B0604020202020204" pitchFamily="34" charset="0"/>
                <a:sym typeface="Times New Roman" charset="0"/>
              </a:rPr>
              <a:t>bán</a:t>
            </a:r>
            <a:r>
              <a:rPr lang="en-US" sz="2400" dirty="0">
                <a:latin typeface="Arial" panose="020B0604020202020204" pitchFamily="34" charset="0"/>
                <a:cs typeface="Arial" panose="020B0604020202020204" pitchFamily="34" charset="0"/>
                <a:sym typeface="Times New Roman" charset="0"/>
              </a:rPr>
              <a:t> </a:t>
            </a:r>
            <a:r>
              <a:rPr lang="en-US" sz="2400" dirty="0" err="1">
                <a:latin typeface="Arial" panose="020B0604020202020204" pitchFamily="34" charset="0"/>
                <a:cs typeface="Arial" panose="020B0604020202020204" pitchFamily="34" charset="0"/>
                <a:sym typeface="Times New Roman" charset="0"/>
              </a:rPr>
              <a:t>phần</a:t>
            </a:r>
            <a:r>
              <a:rPr lang="en-US" sz="2400" dirty="0">
                <a:latin typeface="Arial" panose="020B0604020202020204" pitchFamily="34" charset="0"/>
                <a:cs typeface="Arial" panose="020B0604020202020204" pitchFamily="34" charset="0"/>
                <a:sym typeface="Times New Roman" charset="0"/>
              </a:rPr>
              <a:t> (Half Adder - </a:t>
            </a:r>
            <a:r>
              <a:rPr lang="en-US" sz="2400" b="1" dirty="0">
                <a:latin typeface="Arial" panose="020B0604020202020204" pitchFamily="34" charset="0"/>
                <a:cs typeface="Arial" panose="020B0604020202020204" pitchFamily="34" charset="0"/>
                <a:sym typeface="Times New Roman" charset="0"/>
              </a:rPr>
              <a:t>HA</a:t>
            </a:r>
            <a:r>
              <a:rPr lang="en-US" sz="2400" dirty="0">
                <a:latin typeface="Arial" panose="020B0604020202020204" pitchFamily="34" charset="0"/>
                <a:cs typeface="Arial" panose="020B0604020202020204" pitchFamily="34" charset="0"/>
                <a:sym typeface="Times New Roman" charset="0"/>
              </a:rPr>
              <a:t>)</a:t>
            </a:r>
          </a:p>
        </p:txBody>
      </p:sp>
      <p:grpSp>
        <p:nvGrpSpPr>
          <p:cNvPr id="13" name="Group 12"/>
          <p:cNvGrpSpPr/>
          <p:nvPr/>
        </p:nvGrpSpPr>
        <p:grpSpPr>
          <a:xfrm>
            <a:off x="6477000" y="4254500"/>
            <a:ext cx="2971800" cy="2305110"/>
            <a:chOff x="4953000" y="4495800"/>
            <a:chExt cx="2971800" cy="2305110"/>
          </a:xfrm>
        </p:grpSpPr>
        <p:pic>
          <p:nvPicPr>
            <p:cNvPr id="9" name="Picture 2" descr="C:\Users\quado\Desktop\download.jp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52749" y="4572000"/>
              <a:ext cx="2872051" cy="1855787"/>
            </a:xfrm>
            <a:prstGeom prst="rect">
              <a:avLst/>
            </a:prstGeom>
            <a:noFill/>
            <a:extLst>
              <a:ext uri="{909E8E84-426E-40dd-AFC4-6F175D3DCCD1}">
                <a14:hiddenFill xmlns="" xmlns:a14="http://schemas.microsoft.com/office/drawing/2010/main">
                  <a:solidFill>
                    <a:srgbClr val="FFFFFF"/>
                  </a:solidFill>
                </a14:hiddenFill>
              </a:ext>
            </a:extLst>
          </p:spPr>
        </p:pic>
        <p:sp>
          <p:nvSpPr>
            <p:cNvPr id="10" name="Rectangle 9"/>
            <p:cNvSpPr/>
            <p:nvPr/>
          </p:nvSpPr>
          <p:spPr>
            <a:xfrm>
              <a:off x="5594113" y="6400800"/>
              <a:ext cx="1577676" cy="400110"/>
            </a:xfrm>
            <a:prstGeom prst="rect">
              <a:avLst/>
            </a:prstGeom>
          </p:spPr>
          <p:txBody>
            <a:bodyPr wrap="none">
              <a:spAutoFit/>
            </a:bodyPr>
            <a:lstStyle/>
            <a:p>
              <a:r>
                <a:rPr lang="en-US" sz="2000" dirty="0" err="1">
                  <a:latin typeface="Arial" panose="020B0604020202020204" pitchFamily="34" charset="0"/>
                  <a:cs typeface="Arial" panose="020B0604020202020204" pitchFamily="34" charset="0"/>
                </a:rPr>
                <a:t>Sơ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đồ</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mạch</a:t>
              </a:r>
              <a:endParaRPr lang="en-US" sz="2000" dirty="0">
                <a:latin typeface="Arial" panose="020B0604020202020204" pitchFamily="34" charset="0"/>
                <a:cs typeface="Arial" panose="020B0604020202020204" pitchFamily="34" charset="0"/>
              </a:endParaRPr>
            </a:p>
          </p:txBody>
        </p:sp>
        <p:sp>
          <p:nvSpPr>
            <p:cNvPr id="11" name="TextBox 10"/>
            <p:cNvSpPr txBox="1"/>
            <p:nvPr/>
          </p:nvSpPr>
          <p:spPr>
            <a:xfrm>
              <a:off x="4953000" y="4495800"/>
              <a:ext cx="381000" cy="523220"/>
            </a:xfrm>
            <a:prstGeom prst="rect">
              <a:avLst/>
            </a:prstGeom>
            <a:solidFill>
              <a:schemeClr val="bg1"/>
            </a:solidFill>
            <a:ln>
              <a:solidFill>
                <a:schemeClr val="bg1"/>
              </a:solidFill>
            </a:ln>
          </p:spPr>
          <p:txBody>
            <a:bodyPr wrap="square" rtlCol="0">
              <a:spAutoFit/>
            </a:bodyPr>
            <a:lstStyle/>
            <a:p>
              <a:r>
                <a:rPr lang="en-US" sz="2800" i="1" dirty="0"/>
                <a:t>x</a:t>
              </a:r>
              <a:endParaRPr lang="vi-VN" sz="2800" i="1" dirty="0"/>
            </a:p>
          </p:txBody>
        </p:sp>
        <p:sp>
          <p:nvSpPr>
            <p:cNvPr id="12" name="TextBox 11"/>
            <p:cNvSpPr txBox="1"/>
            <p:nvPr/>
          </p:nvSpPr>
          <p:spPr>
            <a:xfrm>
              <a:off x="4953000" y="4953000"/>
              <a:ext cx="381000" cy="523220"/>
            </a:xfrm>
            <a:prstGeom prst="rect">
              <a:avLst/>
            </a:prstGeom>
            <a:solidFill>
              <a:schemeClr val="bg1"/>
            </a:solidFill>
            <a:ln>
              <a:solidFill>
                <a:schemeClr val="bg1"/>
              </a:solidFill>
            </a:ln>
          </p:spPr>
          <p:txBody>
            <a:bodyPr wrap="square" rtlCol="0">
              <a:spAutoFit/>
            </a:bodyPr>
            <a:lstStyle/>
            <a:p>
              <a:r>
                <a:rPr lang="en-US" sz="2800" i="1" dirty="0"/>
                <a:t>y</a:t>
              </a:r>
              <a:endParaRPr lang="vi-VN" sz="2800" i="1" dirty="0"/>
            </a:p>
          </p:txBody>
        </p:sp>
      </p:grpSp>
      <p:grpSp>
        <p:nvGrpSpPr>
          <p:cNvPr id="5" name="Group 4"/>
          <p:cNvGrpSpPr/>
          <p:nvPr/>
        </p:nvGrpSpPr>
        <p:grpSpPr>
          <a:xfrm>
            <a:off x="1752600" y="2425701"/>
            <a:ext cx="6223000" cy="1895475"/>
            <a:chOff x="228600" y="2425700"/>
            <a:chExt cx="6223000" cy="1895475"/>
          </a:xfrm>
        </p:grpSpPr>
        <p:pic>
          <p:nvPicPr>
            <p:cNvPr id="2"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1000" y="2425700"/>
              <a:ext cx="6070600" cy="1895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4" name="TextBox 3"/>
            <p:cNvSpPr txBox="1"/>
            <p:nvPr/>
          </p:nvSpPr>
          <p:spPr>
            <a:xfrm>
              <a:off x="1600200" y="3886200"/>
              <a:ext cx="762000" cy="369332"/>
            </a:xfrm>
            <a:prstGeom prst="rect">
              <a:avLst/>
            </a:prstGeom>
            <a:solidFill>
              <a:schemeClr val="bg1"/>
            </a:solidFill>
          </p:spPr>
          <p:txBody>
            <a:bodyPr wrap="square" rtlCol="0">
              <a:spAutoFit/>
            </a:bodyPr>
            <a:lstStyle/>
            <a:p>
              <a:pPr algn="ctr"/>
              <a:r>
                <a:rPr lang="en-US" dirty="0" err="1">
                  <a:latin typeface="Tahoma"/>
                  <a:cs typeface="Tahoma"/>
                </a:rPr>
                <a:t>Tổng</a:t>
              </a:r>
              <a:endParaRPr lang="en-US" dirty="0">
                <a:latin typeface="Tahoma"/>
                <a:cs typeface="Tahoma"/>
              </a:endParaRPr>
            </a:p>
          </p:txBody>
        </p:sp>
        <p:sp>
          <p:nvSpPr>
            <p:cNvPr id="14" name="TextBox 13"/>
            <p:cNvSpPr txBox="1"/>
            <p:nvPr/>
          </p:nvSpPr>
          <p:spPr>
            <a:xfrm>
              <a:off x="228600" y="3886200"/>
              <a:ext cx="990600" cy="381000"/>
            </a:xfrm>
            <a:prstGeom prst="rect">
              <a:avLst/>
            </a:prstGeom>
            <a:solidFill>
              <a:schemeClr val="bg1"/>
            </a:solidFill>
          </p:spPr>
          <p:txBody>
            <a:bodyPr wrap="square" rtlCol="0">
              <a:spAutoFit/>
            </a:bodyPr>
            <a:lstStyle/>
            <a:p>
              <a:pPr algn="ctr"/>
              <a:r>
                <a:rPr lang="en-US" dirty="0" err="1">
                  <a:latin typeface="Tahoma"/>
                  <a:cs typeface="Tahoma"/>
                </a:rPr>
                <a:t>Số</a:t>
              </a:r>
              <a:r>
                <a:rPr lang="en-US" dirty="0">
                  <a:latin typeface="Tahoma"/>
                  <a:cs typeface="Tahoma"/>
                </a:rPr>
                <a:t> </a:t>
              </a:r>
              <a:r>
                <a:rPr lang="en-US" dirty="0" err="1">
                  <a:latin typeface="Tahoma"/>
                  <a:cs typeface="Tahoma"/>
                </a:rPr>
                <a:t>nhớ</a:t>
              </a:r>
              <a:endParaRPr lang="en-US" dirty="0">
                <a:latin typeface="Tahoma"/>
                <a:cs typeface="Tahoma"/>
              </a:endParaRPr>
            </a:p>
          </p:txBody>
        </p:sp>
      </p:grpSp>
      <p:sp>
        <p:nvSpPr>
          <p:cNvPr id="15" name="Slide Number Placeholder 14"/>
          <p:cNvSpPr>
            <a:spLocks noGrp="1"/>
          </p:cNvSpPr>
          <p:nvPr>
            <p:ph type="sldNum" sz="quarter" idx="12"/>
          </p:nvPr>
        </p:nvSpPr>
        <p:spPr/>
        <p:txBody>
          <a:bodyPr/>
          <a:lstStyle/>
          <a:p>
            <a:fld id="{800C8475-47C1-49C9-BEE5-594F8CF4D71F}" type="slidenum">
              <a:rPr kumimoji="1" lang="ja-JP" altLang="en-US" smtClean="0"/>
              <a:pPr/>
              <a:t>17</a:t>
            </a:fld>
            <a:endParaRPr kumimoji="1" lang="ja-JP" altLang="en-US"/>
          </a:p>
        </p:txBody>
      </p:sp>
      <p:sp>
        <p:nvSpPr>
          <p:cNvPr id="19" name="Title 18">
            <a:extLst>
              <a:ext uri="{FF2B5EF4-FFF2-40B4-BE49-F238E27FC236}">
                <a16:creationId xmlns:a16="http://schemas.microsoft.com/office/drawing/2014/main" id="{17C9E8E8-2A24-FF92-C5E5-07340AE3CDDA}"/>
              </a:ext>
            </a:extLst>
          </p:cNvPr>
          <p:cNvSpPr>
            <a:spLocks noGrp="1"/>
          </p:cNvSpPr>
          <p:nvPr>
            <p:ph type="title"/>
          </p:nvPr>
        </p:nvSpPr>
        <p:spPr/>
        <p:txBody>
          <a:bodyPr>
            <a:normAutofit fontScale="90000"/>
          </a:bodyPr>
          <a:lstStyle/>
          <a:p>
            <a:r>
              <a:rPr lang="en-US" sz="4400" dirty="0" err="1"/>
              <a:t>Mạch</a:t>
            </a:r>
            <a:r>
              <a:rPr lang="en-US" sz="4400" dirty="0"/>
              <a:t> </a:t>
            </a:r>
            <a:r>
              <a:rPr lang="en-US" sz="4400" dirty="0" err="1"/>
              <a:t>cộng</a:t>
            </a:r>
            <a:r>
              <a:rPr lang="en-US" sz="4400" dirty="0"/>
              <a:t> </a:t>
            </a:r>
            <a:r>
              <a:rPr lang="en-US" sz="4400" dirty="0" err="1"/>
              <a:t>bán</a:t>
            </a:r>
            <a:r>
              <a:rPr lang="en-US" sz="4400" dirty="0"/>
              <a:t> </a:t>
            </a:r>
            <a:r>
              <a:rPr lang="en-US" sz="4400" dirty="0" err="1"/>
              <a:t>phần</a:t>
            </a:r>
            <a:r>
              <a:rPr lang="en-US" sz="4400" dirty="0"/>
              <a:t> (Half Adder)</a:t>
            </a:r>
            <a:endParaRPr lang="en-VN" dirty="0"/>
          </a:p>
        </p:txBody>
      </p:sp>
      <p:sp>
        <p:nvSpPr>
          <p:cNvPr id="20" name="Footer Placeholder 4">
            <a:extLst>
              <a:ext uri="{FF2B5EF4-FFF2-40B4-BE49-F238E27FC236}">
                <a16:creationId xmlns:a16="http://schemas.microsoft.com/office/drawing/2014/main" id="{35F33D98-0C8A-53B3-175E-15C1C4D1CB40}"/>
              </a:ext>
            </a:extLst>
          </p:cNvPr>
          <p:cNvSpPr>
            <a:spLocks noGrp="1"/>
          </p:cNvSpPr>
          <p:nvPr>
            <p:ph type="ftr" sz="quarter" idx="11"/>
          </p:nvPr>
        </p:nvSpPr>
        <p:spPr>
          <a:xfrm>
            <a:off x="774146" y="6475620"/>
            <a:ext cx="4311788" cy="263110"/>
          </a:xfrm>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37178767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5"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vertical)">
                                      <p:cBhvr>
                                        <p:cTn id="11" dur="500"/>
                                        <p:tgtEl>
                                          <p:spTgt spid="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5" fill="hold" grpId="0" nodeType="clickEffect">
                                  <p:stCondLst>
                                    <p:cond delay="0"/>
                                  </p:stCondLst>
                                  <p:childTnLst>
                                    <p:set>
                                      <p:cBhvr>
                                        <p:cTn id="15" dur="1" fill="hold">
                                          <p:stCondLst>
                                            <p:cond delay="0"/>
                                          </p:stCondLst>
                                        </p:cTn>
                                        <p:tgtEl>
                                          <p:spTgt spid="30730"/>
                                        </p:tgtEl>
                                        <p:attrNameLst>
                                          <p:attrName>style.visibility</p:attrName>
                                        </p:attrNameLst>
                                      </p:cBhvr>
                                      <p:to>
                                        <p:strVal val="visible"/>
                                      </p:to>
                                    </p:set>
                                    <p:animEffect transition="in" filter="blinds(vertical)">
                                      <p:cBhvr>
                                        <p:cTn id="16" dur="500"/>
                                        <p:tgtEl>
                                          <p:spTgt spid="30730"/>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p:cTn id="21" dur="1000" fill="hold"/>
                                        <p:tgtEl>
                                          <p:spTgt spid="13"/>
                                        </p:tgtEl>
                                        <p:attrNameLst>
                                          <p:attrName>ppt_w</p:attrName>
                                        </p:attrNameLst>
                                      </p:cBhvr>
                                      <p:tavLst>
                                        <p:tav tm="0">
                                          <p:val>
                                            <p:strVal val="#ppt_w*0.70"/>
                                          </p:val>
                                        </p:tav>
                                        <p:tav tm="100000">
                                          <p:val>
                                            <p:strVal val="#ppt_w"/>
                                          </p:val>
                                        </p:tav>
                                      </p:tavLst>
                                    </p:anim>
                                    <p:anim calcmode="lin" valueType="num">
                                      <p:cBhvr>
                                        <p:cTn id="22" dur="1000" fill="hold"/>
                                        <p:tgtEl>
                                          <p:spTgt spid="13"/>
                                        </p:tgtEl>
                                        <p:attrNameLst>
                                          <p:attrName>ppt_h</p:attrName>
                                        </p:attrNameLst>
                                      </p:cBhvr>
                                      <p:tavLst>
                                        <p:tav tm="0">
                                          <p:val>
                                            <p:strVal val="#ppt_h"/>
                                          </p:val>
                                        </p:tav>
                                        <p:tav tm="100000">
                                          <p:val>
                                            <p:strVal val="#ppt_h"/>
                                          </p:val>
                                        </p:tav>
                                      </p:tavLst>
                                    </p:anim>
                                    <p:animEffect transition="in" filter="fade">
                                      <p:cBhvr>
                                        <p:cTn id="23"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0"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Rectangle 7"/>
          <p:cNvSpPr>
            <a:spLocks noGrp="1" noChangeArrowheads="1"/>
          </p:cNvSpPr>
          <p:nvPr>
            <p:ph idx="1"/>
          </p:nvPr>
        </p:nvSpPr>
        <p:spPr>
          <a:xfrm>
            <a:off x="1981200" y="1146176"/>
            <a:ext cx="8077200" cy="3159125"/>
          </a:xfrm>
        </p:spPr>
        <p:txBody>
          <a:bodyPr>
            <a:normAutofit/>
          </a:bodyPr>
          <a:lstStyle/>
          <a:p>
            <a:pPr marL="0" indent="0">
              <a:spcBef>
                <a:spcPct val="0"/>
              </a:spcBef>
              <a:buNone/>
            </a:pPr>
            <a:r>
              <a:rPr lang="en-US" dirty="0" err="1"/>
              <a:t>Cộng</a:t>
            </a:r>
            <a:r>
              <a:rPr lang="en-US" dirty="0"/>
              <a:t> </a:t>
            </a:r>
            <a:r>
              <a:rPr lang="en-US" dirty="0" err="1"/>
              <a:t>những</a:t>
            </a:r>
            <a:r>
              <a:rPr lang="en-US" dirty="0"/>
              <a:t> </a:t>
            </a:r>
            <a:r>
              <a:rPr lang="en-US" dirty="0" err="1"/>
              <a:t>số</a:t>
            </a:r>
            <a:r>
              <a:rPr lang="en-US" dirty="0"/>
              <a:t> </a:t>
            </a:r>
            <a:r>
              <a:rPr lang="en-US" dirty="0" err="1"/>
              <a:t>có</a:t>
            </a:r>
            <a:r>
              <a:rPr lang="en-US" dirty="0"/>
              <a:t> 2 </a:t>
            </a:r>
            <a:r>
              <a:rPr lang="en-US" dirty="0" err="1"/>
              <a:t>hoặc</a:t>
            </a:r>
            <a:r>
              <a:rPr lang="en-US" dirty="0"/>
              <a:t> </a:t>
            </a:r>
            <a:r>
              <a:rPr lang="en-US" dirty="0" err="1"/>
              <a:t>nhiều</a:t>
            </a:r>
            <a:r>
              <a:rPr lang="en-US" dirty="0"/>
              <a:t> bit</a:t>
            </a:r>
          </a:p>
          <a:p>
            <a:pPr lvl="1">
              <a:spcBef>
                <a:spcPts val="800"/>
              </a:spcBef>
            </a:pPr>
            <a:r>
              <a:rPr lang="en-US" dirty="0" err="1"/>
              <a:t>Cộng</a:t>
            </a:r>
            <a:r>
              <a:rPr lang="en-US" dirty="0"/>
              <a:t> </a:t>
            </a:r>
            <a:r>
              <a:rPr lang="en-US" dirty="0" err="1"/>
              <a:t>từng</a:t>
            </a:r>
            <a:r>
              <a:rPr lang="en-US" dirty="0"/>
              <a:t> </a:t>
            </a:r>
            <a:r>
              <a:rPr lang="en-US" dirty="0" err="1"/>
              <a:t>cặp</a:t>
            </a:r>
            <a:r>
              <a:rPr lang="en-US" dirty="0"/>
              <a:t> bit </a:t>
            </a:r>
            <a:r>
              <a:rPr lang="en-US" dirty="0" err="1"/>
              <a:t>bình</a:t>
            </a:r>
            <a:r>
              <a:rPr lang="en-US" dirty="0"/>
              <a:t> </a:t>
            </a:r>
            <a:r>
              <a:rPr lang="en-US" dirty="0" err="1"/>
              <a:t>thường</a:t>
            </a:r>
            <a:endParaRPr lang="en-US" dirty="0"/>
          </a:p>
          <a:p>
            <a:pPr lvl="1">
              <a:spcBef>
                <a:spcPts val="800"/>
              </a:spcBef>
            </a:pPr>
            <a:r>
              <a:rPr lang="en-US" dirty="0" err="1"/>
              <a:t>Nhưng</a:t>
            </a:r>
            <a:r>
              <a:rPr lang="en-US" dirty="0"/>
              <a:t> </a:t>
            </a:r>
            <a:r>
              <a:rPr lang="en-US" dirty="0" err="1"/>
              <a:t>ở</a:t>
            </a:r>
            <a:r>
              <a:rPr lang="en-US" dirty="0"/>
              <a:t> </a:t>
            </a:r>
            <a:r>
              <a:rPr lang="en-US" dirty="0" err="1"/>
              <a:t>vị</a:t>
            </a:r>
            <a:r>
              <a:rPr lang="en-US" dirty="0"/>
              <a:t> </a:t>
            </a:r>
            <a:r>
              <a:rPr lang="en-US" dirty="0" err="1"/>
              <a:t>trí</a:t>
            </a:r>
            <a:r>
              <a:rPr lang="en-US" dirty="0"/>
              <a:t> </a:t>
            </a:r>
            <a:r>
              <a:rPr lang="en-US" dirty="0" err="1"/>
              <a:t>cặp</a:t>
            </a:r>
            <a:r>
              <a:rPr lang="en-US" dirty="0"/>
              <a:t> bit </a:t>
            </a:r>
            <a:r>
              <a:rPr lang="en-US" dirty="0" err="1"/>
              <a:t>i</a:t>
            </a:r>
            <a:r>
              <a:rPr lang="en-US" dirty="0"/>
              <a:t>, </a:t>
            </a:r>
            <a:r>
              <a:rPr lang="en-US" dirty="0" err="1"/>
              <a:t>có</a:t>
            </a:r>
            <a:r>
              <a:rPr lang="en-US" dirty="0"/>
              <a:t> </a:t>
            </a:r>
            <a:r>
              <a:rPr lang="en-US" dirty="0" err="1"/>
              <a:t>thể</a:t>
            </a:r>
            <a:r>
              <a:rPr lang="en-US" dirty="0"/>
              <a:t> </a:t>
            </a:r>
            <a:r>
              <a:rPr lang="en-US" dirty="0" err="1"/>
              <a:t>có</a:t>
            </a:r>
            <a:r>
              <a:rPr lang="en-US" dirty="0"/>
              <a:t> carry-in </a:t>
            </a:r>
            <a:r>
              <a:rPr lang="en-US" dirty="0" err="1"/>
              <a:t>từ</a:t>
            </a:r>
            <a:r>
              <a:rPr lang="en-US" dirty="0"/>
              <a:t> bit i-1 </a:t>
            </a:r>
          </a:p>
        </p:txBody>
      </p:sp>
      <p:pic>
        <p:nvPicPr>
          <p:cNvPr id="1157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971800"/>
            <a:ext cx="5524500" cy="35528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5" name="TextBox 14"/>
          <p:cNvSpPr txBox="1"/>
          <p:nvPr/>
        </p:nvSpPr>
        <p:spPr>
          <a:xfrm>
            <a:off x="7315200" y="5867400"/>
            <a:ext cx="3048000" cy="369332"/>
          </a:xfrm>
          <a:prstGeom prst="rect">
            <a:avLst/>
          </a:prstGeom>
          <a:solidFill>
            <a:schemeClr val="bg1"/>
          </a:solidFill>
        </p:spPr>
        <p:txBody>
          <a:bodyPr wrap="square" rtlCol="0">
            <a:spAutoFit/>
          </a:bodyPr>
          <a:lstStyle/>
          <a:p>
            <a:pPr algn="ct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Sẽ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cộng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tiếp</a:t>
            </a:r>
            <a:r>
              <a:rPr lang="en-US" dirty="0">
                <a:latin typeface="Arial" panose="020B0604020202020204" pitchFamily="34" charset="0"/>
                <a:cs typeface="Arial" panose="020B0604020202020204" pitchFamily="34" charset="0"/>
              </a:rPr>
              <a:t>)</a:t>
            </a:r>
          </a:p>
        </p:txBody>
      </p:sp>
      <p:sp>
        <p:nvSpPr>
          <p:cNvPr id="5" name="Slide Number Placeholder 4"/>
          <p:cNvSpPr>
            <a:spLocks noGrp="1"/>
          </p:cNvSpPr>
          <p:nvPr>
            <p:ph type="sldNum" sz="quarter" idx="12"/>
          </p:nvPr>
        </p:nvSpPr>
        <p:spPr/>
        <p:txBody>
          <a:bodyPr/>
          <a:lstStyle/>
          <a:p>
            <a:fld id="{800C8475-47C1-49C9-BEE5-594F8CF4D71F}" type="slidenum">
              <a:rPr kumimoji="1" lang="ja-JP" altLang="en-US" smtClean="0"/>
              <a:pPr/>
              <a:t>18</a:t>
            </a:fld>
            <a:endParaRPr kumimoji="1" lang="ja-JP" altLang="en-US"/>
          </a:p>
        </p:txBody>
      </p:sp>
      <p:sp>
        <p:nvSpPr>
          <p:cNvPr id="6" name="Title 5"/>
          <p:cNvSpPr>
            <a:spLocks noGrp="1"/>
          </p:cNvSpPr>
          <p:nvPr>
            <p:ph type="title"/>
          </p:nvPr>
        </p:nvSpPr>
        <p:spPr/>
        <p:txBody>
          <a:bodyPr>
            <a:normAutofit fontScale="90000"/>
          </a:bodyPr>
          <a:lstStyle/>
          <a:p>
            <a:r>
              <a:rPr lang="en-US" dirty="0" err="1"/>
              <a:t>Mạch</a:t>
            </a:r>
            <a:r>
              <a:rPr lang="en-US" dirty="0"/>
              <a:t> </a:t>
            </a:r>
            <a:r>
              <a:rPr lang="en-US" dirty="0" err="1"/>
              <a:t>cộng</a:t>
            </a:r>
            <a:r>
              <a:rPr lang="en-US" dirty="0"/>
              <a:t> </a:t>
            </a:r>
            <a:r>
              <a:rPr lang="en-US" dirty="0" err="1"/>
              <a:t>toàn</a:t>
            </a:r>
            <a:r>
              <a:rPr lang="en-US" dirty="0"/>
              <a:t> </a:t>
            </a:r>
            <a:r>
              <a:rPr lang="en-US" dirty="0" err="1"/>
              <a:t>phần</a:t>
            </a:r>
            <a:r>
              <a:rPr lang="en-US" dirty="0"/>
              <a:t> (Full Adder)</a:t>
            </a:r>
          </a:p>
        </p:txBody>
      </p:sp>
      <p:sp>
        <p:nvSpPr>
          <p:cNvPr id="7" name="Footer Placeholder 4">
            <a:extLst>
              <a:ext uri="{FF2B5EF4-FFF2-40B4-BE49-F238E27FC236}">
                <a16:creationId xmlns:a16="http://schemas.microsoft.com/office/drawing/2014/main" id="{CFCC8049-698A-9884-2B48-DC84C26B1CF1}"/>
              </a:ext>
            </a:extLst>
          </p:cNvPr>
          <p:cNvSpPr>
            <a:spLocks noGrp="1"/>
          </p:cNvSpPr>
          <p:nvPr>
            <p:ph type="ftr" sz="quarter" idx="11"/>
          </p:nvPr>
        </p:nvSpPr>
        <p:spPr>
          <a:xfrm>
            <a:off x="774146" y="6475620"/>
            <a:ext cx="4311788" cy="263110"/>
          </a:xfrm>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3695716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5714"/>
                                        </p:tgtEl>
                                        <p:attrNameLst>
                                          <p:attrName>style.visibility</p:attrName>
                                        </p:attrNameLst>
                                      </p:cBhvr>
                                      <p:to>
                                        <p:strVal val="visible"/>
                                      </p:to>
                                    </p:set>
                                    <p:anim calcmode="lin" valueType="num">
                                      <p:cBhvr additive="base">
                                        <p:cTn id="7" dur="500" fill="hold"/>
                                        <p:tgtEl>
                                          <p:spTgt spid="115714"/>
                                        </p:tgtEl>
                                        <p:attrNameLst>
                                          <p:attrName>ppt_x</p:attrName>
                                        </p:attrNameLst>
                                      </p:cBhvr>
                                      <p:tavLst>
                                        <p:tav tm="0">
                                          <p:val>
                                            <p:strVal val="#ppt_x"/>
                                          </p:val>
                                        </p:tav>
                                        <p:tav tm="100000">
                                          <p:val>
                                            <p:strVal val="#ppt_x"/>
                                          </p:val>
                                        </p:tav>
                                      </p:tavLst>
                                    </p:anim>
                                    <p:anim calcmode="lin" valueType="num">
                                      <p:cBhvr additive="base">
                                        <p:cTn id="8" dur="500" fill="hold"/>
                                        <p:tgtEl>
                                          <p:spTgt spid="115714"/>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1000"/>
                                        <p:tgtEl>
                                          <p:spTgt spid="15"/>
                                        </p:tgtEl>
                                      </p:cBhvr>
                                    </p:animEffect>
                                    <p:anim calcmode="lin" valueType="num">
                                      <p:cBhvr>
                                        <p:cTn id="12" dur="1000" fill="hold"/>
                                        <p:tgtEl>
                                          <p:spTgt spid="15"/>
                                        </p:tgtEl>
                                        <p:attrNameLst>
                                          <p:attrName>ppt_x</p:attrName>
                                        </p:attrNameLst>
                                      </p:cBhvr>
                                      <p:tavLst>
                                        <p:tav tm="0">
                                          <p:val>
                                            <p:strVal val="#ppt_x"/>
                                          </p:val>
                                        </p:tav>
                                        <p:tav tm="100000">
                                          <p:val>
                                            <p:strVal val="#ppt_x"/>
                                          </p:val>
                                        </p:tav>
                                      </p:tavLst>
                                    </p:anim>
                                    <p:anim calcmode="lin" valueType="num">
                                      <p:cBhvr>
                                        <p:cTn id="1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800C8475-47C1-49C9-BEE5-594F8CF4D71F}" type="slidenum">
              <a:rPr kumimoji="1" lang="ja-JP" altLang="en-US" smtClean="0"/>
              <a:pPr/>
              <a:t>19</a:t>
            </a:fld>
            <a:endParaRPr kumimoji="1" lang="ja-JP" altLang="en-US"/>
          </a:p>
        </p:txBody>
      </p:sp>
      <p:sp>
        <p:nvSpPr>
          <p:cNvPr id="6" name="Title 5"/>
          <p:cNvSpPr>
            <a:spLocks noGrp="1"/>
          </p:cNvSpPr>
          <p:nvPr>
            <p:ph type="title"/>
          </p:nvPr>
        </p:nvSpPr>
        <p:spPr/>
        <p:txBody>
          <a:bodyPr>
            <a:normAutofit fontScale="90000"/>
          </a:bodyPr>
          <a:lstStyle/>
          <a:p>
            <a:r>
              <a:rPr lang="en-US" dirty="0" err="1"/>
              <a:t>Mạch</a:t>
            </a:r>
            <a:r>
              <a:rPr lang="en-US" dirty="0"/>
              <a:t> </a:t>
            </a:r>
            <a:r>
              <a:rPr lang="en-US" dirty="0" err="1"/>
              <a:t>cộng</a:t>
            </a:r>
            <a:r>
              <a:rPr lang="en-US" dirty="0"/>
              <a:t> </a:t>
            </a:r>
            <a:r>
              <a:rPr lang="en-US" dirty="0" err="1"/>
              <a:t>toàn</a:t>
            </a:r>
            <a:r>
              <a:rPr lang="en-US" dirty="0"/>
              <a:t> </a:t>
            </a:r>
            <a:r>
              <a:rPr lang="en-US" dirty="0" err="1"/>
              <a:t>phần</a:t>
            </a:r>
            <a:r>
              <a:rPr lang="en-US" dirty="0"/>
              <a:t> (Full Adder)</a:t>
            </a:r>
          </a:p>
        </p:txBody>
      </p:sp>
      <p:graphicFrame>
        <p:nvGraphicFramePr>
          <p:cNvPr id="2" name="Object 1">
            <a:extLst>
              <a:ext uri="{FF2B5EF4-FFF2-40B4-BE49-F238E27FC236}">
                <a16:creationId xmlns:a16="http://schemas.microsoft.com/office/drawing/2014/main" id="{BA446833-9C06-2C27-7328-01EE6C8B28AE}"/>
              </a:ext>
            </a:extLst>
          </p:cNvPr>
          <p:cNvGraphicFramePr>
            <a:graphicFrameLocks noChangeAspect="1"/>
          </p:cNvGraphicFramePr>
          <p:nvPr>
            <p:extLst>
              <p:ext uri="{D42A27DB-BD31-4B8C-83A1-F6EECF244321}">
                <p14:modId xmlns:p14="http://schemas.microsoft.com/office/powerpoint/2010/main" val="1312753273"/>
              </p:ext>
            </p:extLst>
          </p:nvPr>
        </p:nvGraphicFramePr>
        <p:xfrm>
          <a:off x="4654844" y="3676551"/>
          <a:ext cx="2882311" cy="2724376"/>
        </p:xfrm>
        <a:graphic>
          <a:graphicData uri="http://schemas.openxmlformats.org/presentationml/2006/ole">
            <mc:AlternateContent xmlns:mc="http://schemas.openxmlformats.org/markup-compatibility/2006">
              <mc:Choice xmlns:v="urn:schemas-microsoft-com:vml" Requires="v">
                <p:oleObj name="Visio" r:id="rId3" imgW="2076310" imgH="1961996" progId="Visio.Drawing.15">
                  <p:embed/>
                </p:oleObj>
              </mc:Choice>
              <mc:Fallback>
                <p:oleObj name="Visio" r:id="rId3" imgW="2076310" imgH="1961996" progId="Visio.Drawing.15">
                  <p:embed/>
                  <p:pic>
                    <p:nvPicPr>
                      <p:cNvPr id="10" name="Object 9">
                        <a:extLst>
                          <a:ext uri="{FF2B5EF4-FFF2-40B4-BE49-F238E27FC236}">
                            <a16:creationId xmlns:a16="http://schemas.microsoft.com/office/drawing/2014/main" id="{7ED450AB-3B53-1AF9-49AA-C967CECE18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4844" y="3676551"/>
                        <a:ext cx="2882311" cy="2724376"/>
                      </a:xfrm>
                      <a:prstGeom prst="rect">
                        <a:avLst/>
                      </a:prstGeom>
                      <a:noFill/>
                    </p:spPr>
                  </p:pic>
                </p:oleObj>
              </mc:Fallback>
            </mc:AlternateContent>
          </a:graphicData>
        </a:graphic>
      </p:graphicFrame>
      <p:sp>
        <p:nvSpPr>
          <p:cNvPr id="9" name="Content Placeholder 8">
            <a:extLst>
              <a:ext uri="{FF2B5EF4-FFF2-40B4-BE49-F238E27FC236}">
                <a16:creationId xmlns:a16="http://schemas.microsoft.com/office/drawing/2014/main" id="{D3B9FEB9-321E-77D8-5AE7-FFC7EA9CFF0B}"/>
              </a:ext>
            </a:extLst>
          </p:cNvPr>
          <p:cNvSpPr>
            <a:spLocks noGrp="1"/>
          </p:cNvSpPr>
          <p:nvPr>
            <p:ph idx="1"/>
          </p:nvPr>
        </p:nvSpPr>
        <p:spPr/>
        <p:txBody>
          <a:bodyPr/>
          <a:lstStyle/>
          <a:p>
            <a:r>
              <a:rPr lang="en-US" dirty="0"/>
              <a:t>Bộ </a:t>
            </a:r>
            <a:r>
              <a:rPr lang="en-US" dirty="0" err="1"/>
              <a:t>cộng</a:t>
            </a:r>
            <a:r>
              <a:rPr lang="en-US" dirty="0"/>
              <a:t> </a:t>
            </a:r>
            <a:r>
              <a:rPr lang="en-US" dirty="0" err="1"/>
              <a:t>toàn</a:t>
            </a:r>
            <a:r>
              <a:rPr lang="en-US" dirty="0"/>
              <a:t> </a:t>
            </a:r>
            <a:r>
              <a:rPr lang="en-US" dirty="0" err="1"/>
              <a:t>phần</a:t>
            </a:r>
            <a:r>
              <a:rPr lang="en-US" dirty="0"/>
              <a:t> (FA):</a:t>
            </a:r>
          </a:p>
          <a:p>
            <a:pPr lvl="1"/>
            <a:r>
              <a:rPr lang="en-US" dirty="0"/>
              <a:t>3 </a:t>
            </a:r>
            <a:r>
              <a:rPr lang="en-US" dirty="0" err="1"/>
              <a:t>ngõ</a:t>
            </a:r>
            <a:r>
              <a:rPr lang="en-US" dirty="0"/>
              <a:t> </a:t>
            </a:r>
            <a:r>
              <a:rPr lang="en-US" dirty="0" err="1"/>
              <a:t>vào</a:t>
            </a:r>
            <a:r>
              <a:rPr lang="en-US" dirty="0"/>
              <a:t> (2 </a:t>
            </a:r>
            <a:r>
              <a:rPr lang="en-US" dirty="0" err="1"/>
              <a:t>ngõ</a:t>
            </a:r>
            <a:r>
              <a:rPr lang="en-US" dirty="0"/>
              <a:t> </a:t>
            </a:r>
            <a:r>
              <a:rPr lang="en-US" dirty="0" err="1"/>
              <a:t>vào</a:t>
            </a:r>
            <a:r>
              <a:rPr lang="en-US" dirty="0"/>
              <a:t> </a:t>
            </a:r>
            <a:r>
              <a:rPr lang="en-US" dirty="0" err="1"/>
              <a:t>cho</a:t>
            </a:r>
            <a:r>
              <a:rPr lang="en-US" dirty="0"/>
              <a:t> 2 </a:t>
            </a:r>
            <a:r>
              <a:rPr lang="en-US" dirty="0" err="1"/>
              <a:t>số</a:t>
            </a:r>
            <a:r>
              <a:rPr lang="en-US" dirty="0"/>
              <a:t> 1-bit </a:t>
            </a:r>
            <a:r>
              <a:rPr lang="en-US" dirty="0" err="1"/>
              <a:t>cần</a:t>
            </a:r>
            <a:r>
              <a:rPr lang="en-US" dirty="0"/>
              <a:t> </a:t>
            </a:r>
            <a:r>
              <a:rPr lang="en-US" dirty="0" err="1"/>
              <a:t>tính</a:t>
            </a:r>
            <a:r>
              <a:rPr lang="en-US" dirty="0"/>
              <a:t> </a:t>
            </a:r>
            <a:r>
              <a:rPr lang="en-US" dirty="0" err="1"/>
              <a:t>tổng</a:t>
            </a:r>
            <a:r>
              <a:rPr lang="en-US" dirty="0"/>
              <a:t>, </a:t>
            </a:r>
            <a:r>
              <a:rPr lang="en-US" dirty="0" err="1"/>
              <a:t>và</a:t>
            </a:r>
            <a:r>
              <a:rPr lang="en-US" dirty="0"/>
              <a:t> 1 </a:t>
            </a:r>
            <a:r>
              <a:rPr lang="en-US" dirty="0" err="1"/>
              <a:t>ngõ</a:t>
            </a:r>
            <a:r>
              <a:rPr lang="en-US" dirty="0"/>
              <a:t> </a:t>
            </a:r>
            <a:r>
              <a:rPr lang="en-US" dirty="0" err="1"/>
              <a:t>vào</a:t>
            </a:r>
            <a:r>
              <a:rPr lang="en-US" dirty="0"/>
              <a:t> </a:t>
            </a:r>
            <a:r>
              <a:rPr lang="en-US" dirty="0" err="1"/>
              <a:t>cho</a:t>
            </a:r>
            <a:r>
              <a:rPr lang="en-US" dirty="0"/>
              <a:t> </a:t>
            </a:r>
            <a:r>
              <a:rPr lang="en-US" dirty="0" err="1"/>
              <a:t>số</a:t>
            </a:r>
            <a:r>
              <a:rPr lang="en-US" dirty="0"/>
              <a:t> </a:t>
            </a:r>
            <a:r>
              <a:rPr lang="en-US" dirty="0" err="1"/>
              <a:t>nhớ</a:t>
            </a:r>
            <a:r>
              <a:rPr lang="en-US" dirty="0"/>
              <a:t> </a:t>
            </a:r>
            <a:r>
              <a:rPr lang="en-US" dirty="0" err="1"/>
              <a:t>đầu</a:t>
            </a:r>
            <a:r>
              <a:rPr lang="en-US" dirty="0"/>
              <a:t> </a:t>
            </a:r>
            <a:r>
              <a:rPr lang="en-US" dirty="0" err="1"/>
              <a:t>vào</a:t>
            </a:r>
            <a:r>
              <a:rPr lang="en-US" dirty="0"/>
              <a:t> (carry-in))</a:t>
            </a:r>
          </a:p>
          <a:p>
            <a:pPr lvl="1"/>
            <a:r>
              <a:rPr lang="en-US" dirty="0"/>
              <a:t>2 </a:t>
            </a:r>
            <a:r>
              <a:rPr lang="en-US" dirty="0" err="1"/>
              <a:t>ngõ</a:t>
            </a:r>
            <a:r>
              <a:rPr lang="en-US" dirty="0"/>
              <a:t> </a:t>
            </a:r>
            <a:r>
              <a:rPr lang="en-US" dirty="0" err="1"/>
              <a:t>ra</a:t>
            </a:r>
            <a:r>
              <a:rPr lang="en-US" dirty="0"/>
              <a:t>  (1 </a:t>
            </a:r>
            <a:r>
              <a:rPr lang="en-US" dirty="0" err="1"/>
              <a:t>ngõ</a:t>
            </a:r>
            <a:r>
              <a:rPr lang="en-US" dirty="0"/>
              <a:t> </a:t>
            </a:r>
            <a:r>
              <a:rPr lang="en-US" dirty="0" err="1"/>
              <a:t>ra</a:t>
            </a:r>
            <a:r>
              <a:rPr lang="en-US" dirty="0"/>
              <a:t> </a:t>
            </a:r>
            <a:r>
              <a:rPr lang="en-US" dirty="0" err="1"/>
              <a:t>cho</a:t>
            </a:r>
            <a:r>
              <a:rPr lang="en-US" dirty="0"/>
              <a:t> </a:t>
            </a:r>
            <a:r>
              <a:rPr lang="en-US" dirty="0" err="1"/>
              <a:t>tổng</a:t>
            </a:r>
            <a:r>
              <a:rPr lang="en-US" dirty="0"/>
              <a:t> </a:t>
            </a:r>
            <a:r>
              <a:rPr lang="en-US" dirty="0" err="1"/>
              <a:t>và</a:t>
            </a:r>
            <a:r>
              <a:rPr lang="en-US" dirty="0"/>
              <a:t> 1 </a:t>
            </a:r>
            <a:r>
              <a:rPr lang="en-US" dirty="0" err="1"/>
              <a:t>cho</a:t>
            </a:r>
            <a:r>
              <a:rPr lang="en-US" dirty="0"/>
              <a:t> </a:t>
            </a:r>
            <a:r>
              <a:rPr lang="en-US" dirty="0" err="1"/>
              <a:t>số</a:t>
            </a:r>
            <a:r>
              <a:rPr lang="en-US" dirty="0"/>
              <a:t> </a:t>
            </a:r>
            <a:r>
              <a:rPr lang="en-US" dirty="0" err="1"/>
              <a:t>nhớ</a:t>
            </a:r>
            <a:r>
              <a:rPr lang="en-US" dirty="0"/>
              <a:t> </a:t>
            </a:r>
            <a:r>
              <a:rPr lang="en-US" dirty="0" err="1"/>
              <a:t>đầu</a:t>
            </a:r>
            <a:r>
              <a:rPr lang="en-US" dirty="0"/>
              <a:t> </a:t>
            </a:r>
            <a:r>
              <a:rPr lang="en-US" dirty="0" err="1"/>
              <a:t>ra</a:t>
            </a:r>
            <a:r>
              <a:rPr lang="en-US" dirty="0"/>
              <a:t> (carry-out))</a:t>
            </a:r>
          </a:p>
          <a:p>
            <a:endParaRPr lang="en-US" dirty="0"/>
          </a:p>
          <a:p>
            <a:endParaRPr lang="en-VN" dirty="0"/>
          </a:p>
        </p:txBody>
      </p:sp>
      <p:sp>
        <p:nvSpPr>
          <p:cNvPr id="10" name="Footer Placeholder 4">
            <a:extLst>
              <a:ext uri="{FF2B5EF4-FFF2-40B4-BE49-F238E27FC236}">
                <a16:creationId xmlns:a16="http://schemas.microsoft.com/office/drawing/2014/main" id="{BF0F6111-E09B-F2F5-BA54-BA0ADF0DD4A9}"/>
              </a:ext>
            </a:extLst>
          </p:cNvPr>
          <p:cNvSpPr>
            <a:spLocks noGrp="1"/>
          </p:cNvSpPr>
          <p:nvPr>
            <p:ph type="ftr" sz="quarter" idx="11"/>
          </p:nvPr>
        </p:nvSpPr>
        <p:spPr>
          <a:xfrm>
            <a:off x="774146" y="6475620"/>
            <a:ext cx="4311788" cy="263110"/>
          </a:xfrm>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551896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4"/>
          <p:cNvSpPr/>
          <p:nvPr/>
        </p:nvSpPr>
        <p:spPr>
          <a:xfrm>
            <a:off x="5410201" y="1371600"/>
            <a:ext cx="1947969" cy="467051"/>
          </a:xfrm>
          <a:prstGeom prst="rect">
            <a:avLst/>
          </a:prstGeom>
        </p:spPr>
        <p:txBody>
          <a:bodyPr wrap="none">
            <a:spAutoFit/>
          </a:bodyPr>
          <a:lstStyle/>
          <a:p>
            <a:pPr marL="304800" indent="-304800">
              <a:lnSpc>
                <a:spcPct val="110000"/>
              </a:lnSpc>
              <a:spcBef>
                <a:spcPct val="0"/>
              </a:spcBef>
            </a:pPr>
            <a:r>
              <a:rPr lang="en-US" sz="2400" dirty="0" err="1">
                <a:latin typeface="Arial" panose="020B0604020202020204" pitchFamily="34" charset="0"/>
                <a:cs typeface="Arial" panose="020B0604020202020204" pitchFamily="34" charset="0"/>
              </a:rPr>
              <a:t>Bảng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thật</a:t>
            </a:r>
            <a:endParaRPr lang="en-US" sz="2400" dirty="0">
              <a:latin typeface="Arial" panose="020B0604020202020204" pitchFamily="34" charset="0"/>
              <a:cs typeface="Arial" panose="020B0604020202020204" pitchFamily="34" charset="0"/>
            </a:endParaRPr>
          </a:p>
        </p:txBody>
      </p:sp>
      <p:pic>
        <p:nvPicPr>
          <p:cNvPr id="9" name="Picture 1"/>
          <p:cNvPicPr>
            <a:picLocks noChangeAspect="1" noChangeArrowheads="1"/>
          </p:cNvPicPr>
          <p:nvPr/>
        </p:nvPicPr>
        <p:blipFill>
          <a:blip r:embed="rId3" cstate="print"/>
          <a:srcRect/>
          <a:stretch>
            <a:fillRect/>
          </a:stretch>
        </p:blipFill>
        <p:spPr bwMode="auto">
          <a:xfrm>
            <a:off x="5404656" y="1981201"/>
            <a:ext cx="5187144" cy="4114801"/>
          </a:xfrm>
          <a:prstGeom prst="rect">
            <a:avLst/>
          </a:prstGeom>
          <a:noFill/>
          <a:ln w="9525">
            <a:noFill/>
            <a:miter lim="800000"/>
            <a:headEnd/>
            <a:tailEnd/>
          </a:ln>
        </p:spPr>
      </p:pic>
      <p:sp>
        <p:nvSpPr>
          <p:cNvPr id="2" name="Rectangle 1"/>
          <p:cNvSpPr/>
          <p:nvPr/>
        </p:nvSpPr>
        <p:spPr>
          <a:xfrm>
            <a:off x="8839200" y="3609801"/>
            <a:ext cx="1371600" cy="3144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839200" y="3924300"/>
            <a:ext cx="1371600" cy="2667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8839200" y="4191001"/>
            <a:ext cx="1371600" cy="2666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8839200" y="4457700"/>
            <a:ext cx="1371600" cy="3048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8839200" y="4762500"/>
            <a:ext cx="1371600" cy="3048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8839200" y="5067302"/>
            <a:ext cx="1371600" cy="3428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8839200" y="5410200"/>
            <a:ext cx="13716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8839200" y="5715000"/>
            <a:ext cx="1371600" cy="3810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p>
            <a:fld id="{800C8475-47C1-49C9-BEE5-594F8CF4D71F}" type="slidenum">
              <a:rPr kumimoji="1" lang="ja-JP" altLang="en-US" smtClean="0"/>
              <a:pPr/>
              <a:t>20</a:t>
            </a:fld>
            <a:endParaRPr kumimoji="1" lang="ja-JP" altLang="en-US"/>
          </a:p>
        </p:txBody>
      </p:sp>
      <p:sp>
        <p:nvSpPr>
          <p:cNvPr id="10" name="Title 9"/>
          <p:cNvSpPr>
            <a:spLocks noGrp="1"/>
          </p:cNvSpPr>
          <p:nvPr>
            <p:ph type="title"/>
          </p:nvPr>
        </p:nvSpPr>
        <p:spPr/>
        <p:txBody>
          <a:bodyPr>
            <a:normAutofit fontScale="90000"/>
          </a:bodyPr>
          <a:lstStyle/>
          <a:p>
            <a:r>
              <a:rPr lang="en-US" dirty="0" err="1"/>
              <a:t>Mạch</a:t>
            </a:r>
            <a:r>
              <a:rPr lang="en-US" dirty="0"/>
              <a:t> </a:t>
            </a:r>
            <a:r>
              <a:rPr lang="en-US" dirty="0" err="1"/>
              <a:t>cộng</a:t>
            </a:r>
            <a:r>
              <a:rPr lang="en-US" dirty="0"/>
              <a:t> </a:t>
            </a:r>
            <a:r>
              <a:rPr lang="en-US" dirty="0" err="1"/>
              <a:t>toàn</a:t>
            </a:r>
            <a:r>
              <a:rPr lang="en-US" dirty="0"/>
              <a:t> </a:t>
            </a:r>
            <a:r>
              <a:rPr lang="en-US" dirty="0" err="1"/>
              <a:t>phần</a:t>
            </a:r>
            <a:r>
              <a:rPr lang="en-US" dirty="0"/>
              <a:t> (Full Adder)</a:t>
            </a:r>
          </a:p>
        </p:txBody>
      </p:sp>
      <p:graphicFrame>
        <p:nvGraphicFramePr>
          <p:cNvPr id="13" name="Object 12">
            <a:extLst>
              <a:ext uri="{FF2B5EF4-FFF2-40B4-BE49-F238E27FC236}">
                <a16:creationId xmlns:a16="http://schemas.microsoft.com/office/drawing/2014/main" id="{EE27A54D-1976-E83B-1AE1-ACAFEBC8C303}"/>
              </a:ext>
            </a:extLst>
          </p:cNvPr>
          <p:cNvGraphicFramePr>
            <a:graphicFrameLocks noChangeAspect="1"/>
          </p:cNvGraphicFramePr>
          <p:nvPr>
            <p:extLst>
              <p:ext uri="{D42A27DB-BD31-4B8C-83A1-F6EECF244321}">
                <p14:modId xmlns:p14="http://schemas.microsoft.com/office/powerpoint/2010/main" val="506837296"/>
              </p:ext>
            </p:extLst>
          </p:nvPr>
        </p:nvGraphicFramePr>
        <p:xfrm>
          <a:off x="1318320" y="2190524"/>
          <a:ext cx="2882311" cy="2724376"/>
        </p:xfrm>
        <a:graphic>
          <a:graphicData uri="http://schemas.openxmlformats.org/presentationml/2006/ole">
            <mc:AlternateContent xmlns:mc="http://schemas.openxmlformats.org/markup-compatibility/2006">
              <mc:Choice xmlns:v="urn:schemas-microsoft-com:vml" Requires="v">
                <p:oleObj name="Visio" r:id="rId4" imgW="2076310" imgH="1961996" progId="Visio.Drawing.15">
                  <p:embed/>
                </p:oleObj>
              </mc:Choice>
              <mc:Fallback>
                <p:oleObj name="Visio" r:id="rId4" imgW="2076310" imgH="1961996" progId="Visio.Drawing.15">
                  <p:embed/>
                  <p:pic>
                    <p:nvPicPr>
                      <p:cNvPr id="2" name="Object 1">
                        <a:extLst>
                          <a:ext uri="{FF2B5EF4-FFF2-40B4-BE49-F238E27FC236}">
                            <a16:creationId xmlns:a16="http://schemas.microsoft.com/office/drawing/2014/main" id="{BA446833-9C06-2C27-7328-01EE6C8B28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8320" y="2190524"/>
                        <a:ext cx="2882311" cy="2724376"/>
                      </a:xfrm>
                      <a:prstGeom prst="rect">
                        <a:avLst/>
                      </a:prstGeom>
                      <a:noFill/>
                    </p:spPr>
                  </p:pic>
                </p:oleObj>
              </mc:Fallback>
            </mc:AlternateContent>
          </a:graphicData>
        </a:graphic>
      </p:graphicFrame>
      <p:sp>
        <p:nvSpPr>
          <p:cNvPr id="14" name="Footer Placeholder 4">
            <a:extLst>
              <a:ext uri="{FF2B5EF4-FFF2-40B4-BE49-F238E27FC236}">
                <a16:creationId xmlns:a16="http://schemas.microsoft.com/office/drawing/2014/main" id="{D9C84ACD-1A55-51CF-5020-D7B7C8D80DCC}"/>
              </a:ext>
            </a:extLst>
          </p:cNvPr>
          <p:cNvSpPr>
            <a:spLocks noGrp="1"/>
          </p:cNvSpPr>
          <p:nvPr>
            <p:ph type="ftr" sz="quarter" idx="11"/>
          </p:nvPr>
        </p:nvSpPr>
        <p:spPr>
          <a:xfrm>
            <a:off x="774146" y="6475620"/>
            <a:ext cx="4311788" cy="263110"/>
          </a:xfrm>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4226006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ox(in)">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0" nodeType="clickEffect">
                                  <p:stCondLst>
                                    <p:cond delay="0"/>
                                  </p:stCondLst>
                                  <p:childTnLst>
                                    <p:set>
                                      <p:cBhvr>
                                        <p:cTn id="23" dur="1" fill="hold">
                                          <p:stCondLst>
                                            <p:cond delay="0"/>
                                          </p:stCondLst>
                                        </p:cTn>
                                        <p:tgtEl>
                                          <p:spTgt spid="18"/>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grpId="0" nodeType="clickEffect">
                                  <p:stCondLst>
                                    <p:cond delay="0"/>
                                  </p:stCondLst>
                                  <p:childTnLst>
                                    <p:set>
                                      <p:cBhvr>
                                        <p:cTn id="35" dur="1" fill="hold">
                                          <p:stCondLst>
                                            <p:cond delay="0"/>
                                          </p:stCondLst>
                                        </p:cTn>
                                        <p:tgtEl>
                                          <p:spTgt spid="21"/>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0" nodeType="clickEffect">
                                  <p:stCondLst>
                                    <p:cond delay="0"/>
                                  </p:stCondLst>
                                  <p:childTnLst>
                                    <p:set>
                                      <p:cBhvr>
                                        <p:cTn id="39" dur="1" fill="hold">
                                          <p:stCondLst>
                                            <p:cond delay="0"/>
                                          </p:stCondLst>
                                        </p:cTn>
                                        <p:tgtEl>
                                          <p:spTgt spid="22"/>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animBg="1"/>
      <p:bldP spid="8" grpId="0" animBg="1"/>
      <p:bldP spid="18" grpId="0" animBg="1"/>
      <p:bldP spid="19" grpId="0" animBg="1"/>
      <p:bldP spid="20" grpId="0" animBg="1"/>
      <p:bldP spid="21" grpId="0" animBg="1"/>
      <p:bldP spid="22" grpId="0" animBg="1"/>
      <p:bldP spid="2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p:cNvPicPr>
            <a:picLocks noChangeAspect="1" noChangeArrowheads="1"/>
          </p:cNvPicPr>
          <p:nvPr/>
        </p:nvPicPr>
        <p:blipFill>
          <a:blip r:embed="rId3" cstate="print"/>
          <a:srcRect/>
          <a:stretch>
            <a:fillRect/>
          </a:stretch>
        </p:blipFill>
        <p:spPr bwMode="auto">
          <a:xfrm>
            <a:off x="7162800" y="3041650"/>
            <a:ext cx="2667000" cy="615950"/>
          </a:xfrm>
          <a:prstGeom prst="rect">
            <a:avLst/>
          </a:prstGeom>
          <a:noFill/>
        </p:spPr>
      </p:pic>
      <p:pic>
        <p:nvPicPr>
          <p:cNvPr id="87043" name="Picture 3"/>
          <p:cNvPicPr>
            <a:picLocks noChangeAspect="1" noChangeArrowheads="1"/>
          </p:cNvPicPr>
          <p:nvPr/>
        </p:nvPicPr>
        <p:blipFill>
          <a:blip r:embed="rId4" cstate="print"/>
          <a:srcRect/>
          <a:stretch>
            <a:fillRect/>
          </a:stretch>
        </p:blipFill>
        <p:spPr bwMode="auto">
          <a:xfrm>
            <a:off x="7143750" y="5562601"/>
            <a:ext cx="3067050" cy="530225"/>
          </a:xfrm>
          <a:prstGeom prst="rect">
            <a:avLst/>
          </a:prstGeom>
          <a:noFill/>
        </p:spPr>
      </p:pic>
      <p:pic>
        <p:nvPicPr>
          <p:cNvPr id="87044" name="Picture 4"/>
          <p:cNvPicPr>
            <a:picLocks noChangeAspect="1" noChangeArrowheads="1"/>
          </p:cNvPicPr>
          <p:nvPr/>
        </p:nvPicPr>
        <p:blipFill>
          <a:blip r:embed="rId5" cstate="print"/>
          <a:srcRect/>
          <a:stretch>
            <a:fillRect/>
          </a:stretch>
        </p:blipFill>
        <p:spPr bwMode="auto">
          <a:xfrm>
            <a:off x="8543926" y="6172200"/>
            <a:ext cx="1209675" cy="425450"/>
          </a:xfrm>
          <a:prstGeom prst="rect">
            <a:avLst/>
          </a:prstGeom>
          <a:noFill/>
        </p:spPr>
      </p:pic>
      <p:pic>
        <p:nvPicPr>
          <p:cNvPr id="87045" name="Picture 5"/>
          <p:cNvPicPr>
            <a:picLocks noChangeAspect="1" noChangeArrowheads="1"/>
          </p:cNvPicPr>
          <p:nvPr/>
        </p:nvPicPr>
        <p:blipFill>
          <a:blip r:embed="rId6" cstate="print"/>
          <a:srcRect/>
          <a:stretch>
            <a:fillRect/>
          </a:stretch>
        </p:blipFill>
        <p:spPr bwMode="auto">
          <a:xfrm>
            <a:off x="7278688" y="6203950"/>
            <a:ext cx="874713" cy="425450"/>
          </a:xfrm>
          <a:prstGeom prst="rect">
            <a:avLst/>
          </a:prstGeom>
          <a:noFill/>
        </p:spPr>
      </p:pic>
      <p:pic>
        <p:nvPicPr>
          <p:cNvPr id="87046" name="Picture 6"/>
          <p:cNvPicPr>
            <a:picLocks noChangeAspect="1" noChangeArrowheads="1"/>
          </p:cNvPicPr>
          <p:nvPr/>
        </p:nvPicPr>
        <p:blipFill>
          <a:blip r:embed="rId7" cstate="print"/>
          <a:srcRect/>
          <a:stretch>
            <a:fillRect/>
          </a:stretch>
        </p:blipFill>
        <p:spPr bwMode="auto">
          <a:xfrm>
            <a:off x="6934200" y="1412630"/>
            <a:ext cx="2743201" cy="1559170"/>
          </a:xfrm>
          <a:prstGeom prst="rect">
            <a:avLst/>
          </a:prstGeom>
          <a:noFill/>
          <a:ln w="9525">
            <a:noFill/>
            <a:miter lim="800000"/>
            <a:headEnd/>
            <a:tailEnd/>
          </a:ln>
        </p:spPr>
      </p:pic>
      <p:pic>
        <p:nvPicPr>
          <p:cNvPr id="87047" name="Picture 7"/>
          <p:cNvPicPr>
            <a:picLocks noChangeAspect="1" noChangeArrowheads="1"/>
          </p:cNvPicPr>
          <p:nvPr/>
        </p:nvPicPr>
        <p:blipFill>
          <a:blip r:embed="rId8" cstate="print"/>
          <a:srcRect/>
          <a:stretch>
            <a:fillRect/>
          </a:stretch>
        </p:blipFill>
        <p:spPr bwMode="auto">
          <a:xfrm>
            <a:off x="7010400" y="3810000"/>
            <a:ext cx="2949456" cy="1676400"/>
          </a:xfrm>
          <a:prstGeom prst="rect">
            <a:avLst/>
          </a:prstGeom>
          <a:noFill/>
          <a:ln w="9525">
            <a:noFill/>
            <a:miter lim="800000"/>
            <a:headEnd/>
            <a:tailEnd/>
          </a:ln>
        </p:spPr>
      </p:pic>
      <p:pic>
        <p:nvPicPr>
          <p:cNvPr id="12" name="Picture 1"/>
          <p:cNvPicPr>
            <a:picLocks noChangeAspect="1" noChangeArrowheads="1"/>
          </p:cNvPicPr>
          <p:nvPr/>
        </p:nvPicPr>
        <p:blipFill>
          <a:blip r:embed="rId9" cstate="print"/>
          <a:srcRect/>
          <a:stretch>
            <a:fillRect/>
          </a:stretch>
        </p:blipFill>
        <p:spPr bwMode="auto">
          <a:xfrm>
            <a:off x="1676401" y="1905000"/>
            <a:ext cx="4418677" cy="35052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800C8475-47C1-49C9-BEE5-594F8CF4D71F}" type="slidenum">
              <a:rPr kumimoji="1" lang="ja-JP" altLang="en-US" smtClean="0"/>
              <a:pPr/>
              <a:t>21</a:t>
            </a:fld>
            <a:endParaRPr kumimoji="1" lang="ja-JP" altLang="en-US"/>
          </a:p>
        </p:txBody>
      </p:sp>
      <p:sp>
        <p:nvSpPr>
          <p:cNvPr id="5" name="Title 4"/>
          <p:cNvSpPr>
            <a:spLocks noGrp="1"/>
          </p:cNvSpPr>
          <p:nvPr>
            <p:ph type="title"/>
          </p:nvPr>
        </p:nvSpPr>
        <p:spPr/>
        <p:txBody>
          <a:bodyPr>
            <a:normAutofit fontScale="90000"/>
          </a:bodyPr>
          <a:lstStyle/>
          <a:p>
            <a:r>
              <a:rPr lang="en-US" dirty="0" err="1"/>
              <a:t>Mạch</a:t>
            </a:r>
            <a:r>
              <a:rPr lang="en-US" dirty="0"/>
              <a:t> </a:t>
            </a:r>
            <a:r>
              <a:rPr lang="en-US" dirty="0" err="1"/>
              <a:t>cộng</a:t>
            </a:r>
            <a:r>
              <a:rPr lang="en-US" dirty="0"/>
              <a:t> </a:t>
            </a:r>
            <a:r>
              <a:rPr lang="en-US" dirty="0" err="1"/>
              <a:t>toàn</a:t>
            </a:r>
            <a:r>
              <a:rPr lang="en-US" dirty="0"/>
              <a:t> </a:t>
            </a:r>
            <a:r>
              <a:rPr lang="en-US" dirty="0" err="1"/>
              <a:t>phần</a:t>
            </a:r>
            <a:r>
              <a:rPr lang="en-US" dirty="0"/>
              <a:t> (Full Adder)</a:t>
            </a:r>
          </a:p>
        </p:txBody>
      </p:sp>
      <p:sp>
        <p:nvSpPr>
          <p:cNvPr id="6" name="Rectangle 5">
            <a:extLst>
              <a:ext uri="{FF2B5EF4-FFF2-40B4-BE49-F238E27FC236}">
                <a16:creationId xmlns:a16="http://schemas.microsoft.com/office/drawing/2014/main" id="{17DFA7D6-0D60-3CC2-A2C9-937BE96F2AA3}"/>
              </a:ext>
            </a:extLst>
          </p:cNvPr>
          <p:cNvSpPr/>
          <p:nvPr/>
        </p:nvSpPr>
        <p:spPr>
          <a:xfrm>
            <a:off x="1676401" y="1232507"/>
            <a:ext cx="1947969" cy="467051"/>
          </a:xfrm>
          <a:prstGeom prst="rect">
            <a:avLst/>
          </a:prstGeom>
        </p:spPr>
        <p:txBody>
          <a:bodyPr wrap="none">
            <a:spAutoFit/>
          </a:bodyPr>
          <a:lstStyle/>
          <a:p>
            <a:pPr marL="304800" indent="-304800">
              <a:lnSpc>
                <a:spcPct val="110000"/>
              </a:lnSpc>
              <a:spcBef>
                <a:spcPct val="0"/>
              </a:spcBef>
            </a:pPr>
            <a:r>
              <a:rPr lang="en-US" sz="2400" dirty="0" err="1">
                <a:latin typeface="Arial" panose="020B0604020202020204" pitchFamily="34" charset="0"/>
                <a:cs typeface="Arial" panose="020B0604020202020204" pitchFamily="34" charset="0"/>
              </a:rPr>
              <a:t>Bảng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thật</a:t>
            </a:r>
            <a:endParaRPr lang="en-US" sz="2400" dirty="0">
              <a:latin typeface="Arial" panose="020B0604020202020204" pitchFamily="34" charset="0"/>
              <a:cs typeface="Arial" panose="020B0604020202020204" pitchFamily="34" charset="0"/>
            </a:endParaRPr>
          </a:p>
        </p:txBody>
      </p:sp>
      <p:sp>
        <p:nvSpPr>
          <p:cNvPr id="7" name="Footer Placeholder 4">
            <a:extLst>
              <a:ext uri="{FF2B5EF4-FFF2-40B4-BE49-F238E27FC236}">
                <a16:creationId xmlns:a16="http://schemas.microsoft.com/office/drawing/2014/main" id="{0372C5D5-BE93-857F-73E7-7FD0867620FA}"/>
              </a:ext>
            </a:extLst>
          </p:cNvPr>
          <p:cNvSpPr>
            <a:spLocks noGrp="1"/>
          </p:cNvSpPr>
          <p:nvPr>
            <p:ph type="ftr" sz="quarter" idx="11"/>
          </p:nvPr>
        </p:nvSpPr>
        <p:spPr>
          <a:xfrm>
            <a:off x="774146" y="6475620"/>
            <a:ext cx="4311788" cy="263110"/>
          </a:xfrm>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3414372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87046"/>
                                        </p:tgtEl>
                                        <p:attrNameLst>
                                          <p:attrName>style.visibility</p:attrName>
                                        </p:attrNameLst>
                                      </p:cBhvr>
                                      <p:to>
                                        <p:strVal val="visible"/>
                                      </p:to>
                                    </p:set>
                                    <p:anim calcmode="lin" valueType="num">
                                      <p:cBhvr>
                                        <p:cTn id="7" dur="1000" fill="hold"/>
                                        <p:tgtEl>
                                          <p:spTgt spid="87046"/>
                                        </p:tgtEl>
                                        <p:attrNameLst>
                                          <p:attrName>ppt_w</p:attrName>
                                        </p:attrNameLst>
                                      </p:cBhvr>
                                      <p:tavLst>
                                        <p:tav tm="0">
                                          <p:val>
                                            <p:strVal val="#ppt_w*0.70"/>
                                          </p:val>
                                        </p:tav>
                                        <p:tav tm="100000">
                                          <p:val>
                                            <p:strVal val="#ppt_w"/>
                                          </p:val>
                                        </p:tav>
                                      </p:tavLst>
                                    </p:anim>
                                    <p:anim calcmode="lin" valueType="num">
                                      <p:cBhvr>
                                        <p:cTn id="8" dur="1000" fill="hold"/>
                                        <p:tgtEl>
                                          <p:spTgt spid="87046"/>
                                        </p:tgtEl>
                                        <p:attrNameLst>
                                          <p:attrName>ppt_h</p:attrName>
                                        </p:attrNameLst>
                                      </p:cBhvr>
                                      <p:tavLst>
                                        <p:tav tm="0">
                                          <p:val>
                                            <p:strVal val="#ppt_h"/>
                                          </p:val>
                                        </p:tav>
                                        <p:tav tm="100000">
                                          <p:val>
                                            <p:strVal val="#ppt_h"/>
                                          </p:val>
                                        </p:tav>
                                      </p:tavLst>
                                    </p:anim>
                                    <p:animEffect transition="in" filter="fade">
                                      <p:cBhvr>
                                        <p:cTn id="9" dur="1000"/>
                                        <p:tgtEl>
                                          <p:spTgt spid="87046"/>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87042"/>
                                        </p:tgtEl>
                                        <p:attrNameLst>
                                          <p:attrName>style.visibility</p:attrName>
                                        </p:attrNameLst>
                                      </p:cBhvr>
                                      <p:to>
                                        <p:strVal val="visible"/>
                                      </p:to>
                                    </p:set>
                                    <p:anim calcmode="lin" valueType="num">
                                      <p:cBhvr>
                                        <p:cTn id="14" dur="1000" fill="hold"/>
                                        <p:tgtEl>
                                          <p:spTgt spid="87042"/>
                                        </p:tgtEl>
                                        <p:attrNameLst>
                                          <p:attrName>ppt_w</p:attrName>
                                        </p:attrNameLst>
                                      </p:cBhvr>
                                      <p:tavLst>
                                        <p:tav tm="0">
                                          <p:val>
                                            <p:strVal val="#ppt_w*0.70"/>
                                          </p:val>
                                        </p:tav>
                                        <p:tav tm="100000">
                                          <p:val>
                                            <p:strVal val="#ppt_w"/>
                                          </p:val>
                                        </p:tav>
                                      </p:tavLst>
                                    </p:anim>
                                    <p:anim calcmode="lin" valueType="num">
                                      <p:cBhvr>
                                        <p:cTn id="15" dur="1000" fill="hold"/>
                                        <p:tgtEl>
                                          <p:spTgt spid="87042"/>
                                        </p:tgtEl>
                                        <p:attrNameLst>
                                          <p:attrName>ppt_h</p:attrName>
                                        </p:attrNameLst>
                                      </p:cBhvr>
                                      <p:tavLst>
                                        <p:tav tm="0">
                                          <p:val>
                                            <p:strVal val="#ppt_h"/>
                                          </p:val>
                                        </p:tav>
                                        <p:tav tm="100000">
                                          <p:val>
                                            <p:strVal val="#ppt_h"/>
                                          </p:val>
                                        </p:tav>
                                      </p:tavLst>
                                    </p:anim>
                                    <p:animEffect transition="in" filter="fade">
                                      <p:cBhvr>
                                        <p:cTn id="16" dur="1000"/>
                                        <p:tgtEl>
                                          <p:spTgt spid="87042"/>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87047"/>
                                        </p:tgtEl>
                                        <p:attrNameLst>
                                          <p:attrName>style.visibility</p:attrName>
                                        </p:attrNameLst>
                                      </p:cBhvr>
                                      <p:to>
                                        <p:strVal val="visible"/>
                                      </p:to>
                                    </p:set>
                                    <p:anim calcmode="lin" valueType="num">
                                      <p:cBhvr>
                                        <p:cTn id="21" dur="1000" fill="hold"/>
                                        <p:tgtEl>
                                          <p:spTgt spid="87047"/>
                                        </p:tgtEl>
                                        <p:attrNameLst>
                                          <p:attrName>ppt_w</p:attrName>
                                        </p:attrNameLst>
                                      </p:cBhvr>
                                      <p:tavLst>
                                        <p:tav tm="0">
                                          <p:val>
                                            <p:strVal val="#ppt_w*0.70"/>
                                          </p:val>
                                        </p:tav>
                                        <p:tav tm="100000">
                                          <p:val>
                                            <p:strVal val="#ppt_w"/>
                                          </p:val>
                                        </p:tav>
                                      </p:tavLst>
                                    </p:anim>
                                    <p:anim calcmode="lin" valueType="num">
                                      <p:cBhvr>
                                        <p:cTn id="22" dur="1000" fill="hold"/>
                                        <p:tgtEl>
                                          <p:spTgt spid="87047"/>
                                        </p:tgtEl>
                                        <p:attrNameLst>
                                          <p:attrName>ppt_h</p:attrName>
                                        </p:attrNameLst>
                                      </p:cBhvr>
                                      <p:tavLst>
                                        <p:tav tm="0">
                                          <p:val>
                                            <p:strVal val="#ppt_h"/>
                                          </p:val>
                                        </p:tav>
                                        <p:tav tm="100000">
                                          <p:val>
                                            <p:strVal val="#ppt_h"/>
                                          </p:val>
                                        </p:tav>
                                      </p:tavLst>
                                    </p:anim>
                                    <p:animEffect transition="in" filter="fade">
                                      <p:cBhvr>
                                        <p:cTn id="23" dur="1000"/>
                                        <p:tgtEl>
                                          <p:spTgt spid="87047"/>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87043"/>
                                        </p:tgtEl>
                                        <p:attrNameLst>
                                          <p:attrName>style.visibility</p:attrName>
                                        </p:attrNameLst>
                                      </p:cBhvr>
                                      <p:to>
                                        <p:strVal val="visible"/>
                                      </p:to>
                                    </p:set>
                                    <p:anim calcmode="lin" valueType="num">
                                      <p:cBhvr>
                                        <p:cTn id="28" dur="1000" fill="hold"/>
                                        <p:tgtEl>
                                          <p:spTgt spid="87043"/>
                                        </p:tgtEl>
                                        <p:attrNameLst>
                                          <p:attrName>ppt_w</p:attrName>
                                        </p:attrNameLst>
                                      </p:cBhvr>
                                      <p:tavLst>
                                        <p:tav tm="0">
                                          <p:val>
                                            <p:strVal val="#ppt_w*0.70"/>
                                          </p:val>
                                        </p:tav>
                                        <p:tav tm="100000">
                                          <p:val>
                                            <p:strVal val="#ppt_w"/>
                                          </p:val>
                                        </p:tav>
                                      </p:tavLst>
                                    </p:anim>
                                    <p:anim calcmode="lin" valueType="num">
                                      <p:cBhvr>
                                        <p:cTn id="29" dur="1000" fill="hold"/>
                                        <p:tgtEl>
                                          <p:spTgt spid="87043"/>
                                        </p:tgtEl>
                                        <p:attrNameLst>
                                          <p:attrName>ppt_h</p:attrName>
                                        </p:attrNameLst>
                                      </p:cBhvr>
                                      <p:tavLst>
                                        <p:tav tm="0">
                                          <p:val>
                                            <p:strVal val="#ppt_h"/>
                                          </p:val>
                                        </p:tav>
                                        <p:tav tm="100000">
                                          <p:val>
                                            <p:strVal val="#ppt_h"/>
                                          </p:val>
                                        </p:tav>
                                      </p:tavLst>
                                    </p:anim>
                                    <p:animEffect transition="in" filter="fade">
                                      <p:cBhvr>
                                        <p:cTn id="30" dur="1000"/>
                                        <p:tgtEl>
                                          <p:spTgt spid="87043"/>
                                        </p:tgtEl>
                                      </p:cBhvr>
                                    </p:animEffect>
                                  </p:childTnLst>
                                </p:cTn>
                              </p:par>
                              <p:par>
                                <p:cTn id="31" presetID="55" presetClass="entr" presetSubtype="0" fill="hold" nodeType="withEffect">
                                  <p:stCondLst>
                                    <p:cond delay="0"/>
                                  </p:stCondLst>
                                  <p:childTnLst>
                                    <p:set>
                                      <p:cBhvr>
                                        <p:cTn id="32" dur="1" fill="hold">
                                          <p:stCondLst>
                                            <p:cond delay="0"/>
                                          </p:stCondLst>
                                        </p:cTn>
                                        <p:tgtEl>
                                          <p:spTgt spid="87045"/>
                                        </p:tgtEl>
                                        <p:attrNameLst>
                                          <p:attrName>style.visibility</p:attrName>
                                        </p:attrNameLst>
                                      </p:cBhvr>
                                      <p:to>
                                        <p:strVal val="visible"/>
                                      </p:to>
                                    </p:set>
                                    <p:anim calcmode="lin" valueType="num">
                                      <p:cBhvr>
                                        <p:cTn id="33" dur="1000" fill="hold"/>
                                        <p:tgtEl>
                                          <p:spTgt spid="87045"/>
                                        </p:tgtEl>
                                        <p:attrNameLst>
                                          <p:attrName>ppt_w</p:attrName>
                                        </p:attrNameLst>
                                      </p:cBhvr>
                                      <p:tavLst>
                                        <p:tav tm="0">
                                          <p:val>
                                            <p:strVal val="#ppt_w*0.70"/>
                                          </p:val>
                                        </p:tav>
                                        <p:tav tm="100000">
                                          <p:val>
                                            <p:strVal val="#ppt_w"/>
                                          </p:val>
                                        </p:tav>
                                      </p:tavLst>
                                    </p:anim>
                                    <p:anim calcmode="lin" valueType="num">
                                      <p:cBhvr>
                                        <p:cTn id="34" dur="1000" fill="hold"/>
                                        <p:tgtEl>
                                          <p:spTgt spid="87045"/>
                                        </p:tgtEl>
                                        <p:attrNameLst>
                                          <p:attrName>ppt_h</p:attrName>
                                        </p:attrNameLst>
                                      </p:cBhvr>
                                      <p:tavLst>
                                        <p:tav tm="0">
                                          <p:val>
                                            <p:strVal val="#ppt_h"/>
                                          </p:val>
                                        </p:tav>
                                        <p:tav tm="100000">
                                          <p:val>
                                            <p:strVal val="#ppt_h"/>
                                          </p:val>
                                        </p:tav>
                                      </p:tavLst>
                                    </p:anim>
                                    <p:animEffect transition="in" filter="fade">
                                      <p:cBhvr>
                                        <p:cTn id="35" dur="1000"/>
                                        <p:tgtEl>
                                          <p:spTgt spid="87045"/>
                                        </p:tgtEl>
                                      </p:cBhvr>
                                    </p:animEffect>
                                  </p:childTnLst>
                                </p:cTn>
                              </p:par>
                              <p:par>
                                <p:cTn id="36" presetID="55" presetClass="entr" presetSubtype="0" fill="hold" nodeType="withEffect">
                                  <p:stCondLst>
                                    <p:cond delay="0"/>
                                  </p:stCondLst>
                                  <p:childTnLst>
                                    <p:set>
                                      <p:cBhvr>
                                        <p:cTn id="37" dur="1" fill="hold">
                                          <p:stCondLst>
                                            <p:cond delay="0"/>
                                          </p:stCondLst>
                                        </p:cTn>
                                        <p:tgtEl>
                                          <p:spTgt spid="87044"/>
                                        </p:tgtEl>
                                        <p:attrNameLst>
                                          <p:attrName>style.visibility</p:attrName>
                                        </p:attrNameLst>
                                      </p:cBhvr>
                                      <p:to>
                                        <p:strVal val="visible"/>
                                      </p:to>
                                    </p:set>
                                    <p:anim calcmode="lin" valueType="num">
                                      <p:cBhvr>
                                        <p:cTn id="38" dur="1000" fill="hold"/>
                                        <p:tgtEl>
                                          <p:spTgt spid="87044"/>
                                        </p:tgtEl>
                                        <p:attrNameLst>
                                          <p:attrName>ppt_w</p:attrName>
                                        </p:attrNameLst>
                                      </p:cBhvr>
                                      <p:tavLst>
                                        <p:tav tm="0">
                                          <p:val>
                                            <p:strVal val="#ppt_w*0.70"/>
                                          </p:val>
                                        </p:tav>
                                        <p:tav tm="100000">
                                          <p:val>
                                            <p:strVal val="#ppt_w"/>
                                          </p:val>
                                        </p:tav>
                                      </p:tavLst>
                                    </p:anim>
                                    <p:anim calcmode="lin" valueType="num">
                                      <p:cBhvr>
                                        <p:cTn id="39" dur="1000" fill="hold"/>
                                        <p:tgtEl>
                                          <p:spTgt spid="87044"/>
                                        </p:tgtEl>
                                        <p:attrNameLst>
                                          <p:attrName>ppt_h</p:attrName>
                                        </p:attrNameLst>
                                      </p:cBhvr>
                                      <p:tavLst>
                                        <p:tav tm="0">
                                          <p:val>
                                            <p:strVal val="#ppt_h"/>
                                          </p:val>
                                        </p:tav>
                                        <p:tav tm="100000">
                                          <p:val>
                                            <p:strVal val="#ppt_h"/>
                                          </p:val>
                                        </p:tav>
                                      </p:tavLst>
                                    </p:anim>
                                    <p:animEffect transition="in" filter="fade">
                                      <p:cBhvr>
                                        <p:cTn id="40" dur="1000"/>
                                        <p:tgtEl>
                                          <p:spTgt spid="870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680265" y="5601678"/>
            <a:ext cx="3078386" cy="400110"/>
          </a:xfrm>
          <a:prstGeom prst="rect">
            <a:avLst/>
          </a:prstGeom>
        </p:spPr>
        <p:txBody>
          <a:bodyPr wrap="square">
            <a:spAutoFit/>
          </a:bodyPr>
          <a:lstStyle/>
          <a:p>
            <a:pPr algn="ctr"/>
            <a:r>
              <a:rPr lang="en-US" sz="2000" dirty="0" err="1">
                <a:latin typeface="Arial" panose="020B0604020202020204" pitchFamily="34" charset="0"/>
                <a:cs typeface="Arial" panose="020B0604020202020204" pitchFamily="34" charset="0"/>
              </a:rPr>
              <a:t>Sơ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đồ</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mạch</a:t>
            </a:r>
            <a:endParaRPr lang="vi-VN" sz="2000" dirty="0">
              <a:latin typeface="Arial" panose="020B0604020202020204" pitchFamily="34" charset="0"/>
              <a:cs typeface="Arial" panose="020B0604020202020204" pitchFamily="34" charset="0"/>
            </a:endParaRPr>
          </a:p>
        </p:txBody>
      </p:sp>
      <p:pic>
        <p:nvPicPr>
          <p:cNvPr id="36879" name="Picture 15"/>
          <p:cNvPicPr>
            <a:picLocks noChangeAspect="1" noChangeArrowheads="1"/>
          </p:cNvPicPr>
          <p:nvPr/>
        </p:nvPicPr>
        <p:blipFill>
          <a:blip r:embed="rId3" cstate="print"/>
          <a:srcRect/>
          <a:stretch>
            <a:fillRect/>
          </a:stretch>
        </p:blipFill>
        <p:spPr bwMode="auto">
          <a:xfrm>
            <a:off x="9110472" y="2166294"/>
            <a:ext cx="1905000" cy="1763412"/>
          </a:xfrm>
          <a:prstGeom prst="rect">
            <a:avLst/>
          </a:prstGeom>
          <a:noFill/>
          <a:ln w="9525">
            <a:noFill/>
            <a:miter lim="800000"/>
            <a:headEnd/>
            <a:tailEnd/>
          </a:ln>
        </p:spPr>
      </p:pic>
      <p:sp>
        <p:nvSpPr>
          <p:cNvPr id="13" name="Rectangle 12"/>
          <p:cNvSpPr/>
          <p:nvPr/>
        </p:nvSpPr>
        <p:spPr>
          <a:xfrm>
            <a:off x="9186673" y="3883986"/>
            <a:ext cx="1703351" cy="400110"/>
          </a:xfrm>
          <a:prstGeom prst="rect">
            <a:avLst/>
          </a:prstGeom>
        </p:spPr>
        <p:txBody>
          <a:bodyPr wrap="square">
            <a:spAutoFit/>
          </a:bodyPr>
          <a:lstStyle/>
          <a:p>
            <a:pPr algn="ctr"/>
            <a:r>
              <a:rPr lang="en-US" sz="2000">
                <a:latin typeface="Times New Roman" pitchFamily="18" charset="0"/>
                <a:cs typeface="Times New Roman" pitchFamily="18" charset="0"/>
              </a:rPr>
              <a:t>Ký hiệu</a:t>
            </a:r>
            <a:endParaRPr lang="vi-VN" sz="2000" dirty="0">
              <a:latin typeface="Times New Roman" pitchFamily="18" charset="0"/>
              <a:cs typeface="Times New Roman" pitchFamily="18" charset="0"/>
            </a:endParaRPr>
          </a:p>
        </p:txBody>
      </p:sp>
      <p:grpSp>
        <p:nvGrpSpPr>
          <p:cNvPr id="2" name="Group 16"/>
          <p:cNvGrpSpPr/>
          <p:nvPr/>
        </p:nvGrpSpPr>
        <p:grpSpPr>
          <a:xfrm>
            <a:off x="1752601" y="3048000"/>
            <a:ext cx="5396345" cy="3048000"/>
            <a:chOff x="304800" y="2133600"/>
            <a:chExt cx="5396345" cy="3048000"/>
          </a:xfrm>
        </p:grpSpPr>
        <p:pic>
          <p:nvPicPr>
            <p:cNvPr id="36876" name="Picture 12"/>
            <p:cNvPicPr>
              <a:picLocks noChangeAspect="1" noChangeArrowheads="1"/>
            </p:cNvPicPr>
            <p:nvPr/>
          </p:nvPicPr>
          <p:blipFill>
            <a:blip r:embed="rId4" cstate="print"/>
            <a:srcRect/>
            <a:stretch>
              <a:fillRect/>
            </a:stretch>
          </p:blipFill>
          <p:spPr bwMode="auto">
            <a:xfrm>
              <a:off x="380999" y="2133600"/>
              <a:ext cx="5320146" cy="3048000"/>
            </a:xfrm>
            <a:prstGeom prst="rect">
              <a:avLst/>
            </a:prstGeom>
            <a:noFill/>
            <a:ln w="9525">
              <a:noFill/>
              <a:miter lim="800000"/>
              <a:headEnd/>
              <a:tailEnd/>
            </a:ln>
          </p:spPr>
        </p:pic>
        <p:sp>
          <p:nvSpPr>
            <p:cNvPr id="15" name="Rectangle 14"/>
            <p:cNvSpPr/>
            <p:nvPr/>
          </p:nvSpPr>
          <p:spPr>
            <a:xfrm>
              <a:off x="304800" y="4343400"/>
              <a:ext cx="533400" cy="685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grpSp>
      <p:pic>
        <p:nvPicPr>
          <p:cNvPr id="87042" name="Picture 2"/>
          <p:cNvPicPr>
            <a:picLocks noChangeAspect="1" noChangeArrowheads="1"/>
          </p:cNvPicPr>
          <p:nvPr/>
        </p:nvPicPr>
        <p:blipFill>
          <a:blip r:embed="rId5" cstate="print"/>
          <a:srcRect/>
          <a:stretch>
            <a:fillRect/>
          </a:stretch>
        </p:blipFill>
        <p:spPr bwMode="auto">
          <a:xfrm>
            <a:off x="2362200" y="1271588"/>
            <a:ext cx="2667000" cy="615950"/>
          </a:xfrm>
          <a:prstGeom prst="rect">
            <a:avLst/>
          </a:prstGeom>
          <a:noFill/>
        </p:spPr>
      </p:pic>
      <p:pic>
        <p:nvPicPr>
          <p:cNvPr id="87043" name="Picture 3"/>
          <p:cNvPicPr>
            <a:picLocks noChangeAspect="1" noChangeArrowheads="1"/>
          </p:cNvPicPr>
          <p:nvPr/>
        </p:nvPicPr>
        <p:blipFill>
          <a:blip r:embed="rId6" cstate="print"/>
          <a:srcRect/>
          <a:stretch>
            <a:fillRect/>
          </a:stretch>
        </p:blipFill>
        <p:spPr bwMode="auto">
          <a:xfrm>
            <a:off x="2438400" y="1984376"/>
            <a:ext cx="3067050" cy="530225"/>
          </a:xfrm>
          <a:prstGeom prst="rect">
            <a:avLst/>
          </a:prstGeom>
          <a:noFill/>
        </p:spPr>
      </p:pic>
      <p:pic>
        <p:nvPicPr>
          <p:cNvPr id="87044" name="Picture 4"/>
          <p:cNvPicPr>
            <a:picLocks noChangeAspect="1" noChangeArrowheads="1"/>
          </p:cNvPicPr>
          <p:nvPr/>
        </p:nvPicPr>
        <p:blipFill>
          <a:blip r:embed="rId7" cstate="print"/>
          <a:srcRect/>
          <a:stretch>
            <a:fillRect/>
          </a:stretch>
        </p:blipFill>
        <p:spPr bwMode="auto">
          <a:xfrm>
            <a:off x="5719764" y="2514600"/>
            <a:ext cx="1209675" cy="425450"/>
          </a:xfrm>
          <a:prstGeom prst="rect">
            <a:avLst/>
          </a:prstGeom>
          <a:noFill/>
        </p:spPr>
      </p:pic>
      <p:pic>
        <p:nvPicPr>
          <p:cNvPr id="87045" name="Picture 5"/>
          <p:cNvPicPr>
            <a:picLocks noChangeAspect="1" noChangeArrowheads="1"/>
          </p:cNvPicPr>
          <p:nvPr/>
        </p:nvPicPr>
        <p:blipFill>
          <a:blip r:embed="rId8" cstate="print"/>
          <a:srcRect/>
          <a:stretch>
            <a:fillRect/>
          </a:stretch>
        </p:blipFill>
        <p:spPr bwMode="auto">
          <a:xfrm>
            <a:off x="5768976" y="2057400"/>
            <a:ext cx="874713" cy="425450"/>
          </a:xfrm>
          <a:prstGeom prst="rect">
            <a:avLst/>
          </a:prstGeom>
          <a:noFill/>
        </p:spPr>
      </p:pic>
      <p:sp>
        <p:nvSpPr>
          <p:cNvPr id="5" name="Slide Number Placeholder 4"/>
          <p:cNvSpPr>
            <a:spLocks noGrp="1"/>
          </p:cNvSpPr>
          <p:nvPr>
            <p:ph type="sldNum" sz="quarter" idx="12"/>
          </p:nvPr>
        </p:nvSpPr>
        <p:spPr/>
        <p:txBody>
          <a:bodyPr/>
          <a:lstStyle/>
          <a:p>
            <a:fld id="{800C8475-47C1-49C9-BEE5-594F8CF4D71F}" type="slidenum">
              <a:rPr kumimoji="1" lang="ja-JP" altLang="en-US" smtClean="0"/>
              <a:pPr/>
              <a:t>22</a:t>
            </a:fld>
            <a:endParaRPr kumimoji="1" lang="ja-JP" altLang="en-US"/>
          </a:p>
        </p:txBody>
      </p:sp>
      <p:sp>
        <p:nvSpPr>
          <p:cNvPr id="6" name="Title 5"/>
          <p:cNvSpPr>
            <a:spLocks noGrp="1"/>
          </p:cNvSpPr>
          <p:nvPr>
            <p:ph type="title"/>
          </p:nvPr>
        </p:nvSpPr>
        <p:spPr/>
        <p:txBody>
          <a:bodyPr>
            <a:normAutofit fontScale="90000"/>
          </a:bodyPr>
          <a:lstStyle/>
          <a:p>
            <a:r>
              <a:rPr lang="en-US" dirty="0" err="1"/>
              <a:t>Mạch</a:t>
            </a:r>
            <a:r>
              <a:rPr lang="en-US" dirty="0"/>
              <a:t> </a:t>
            </a:r>
            <a:r>
              <a:rPr lang="en-US" dirty="0" err="1"/>
              <a:t>cộng</a:t>
            </a:r>
            <a:r>
              <a:rPr lang="en-US" dirty="0"/>
              <a:t> </a:t>
            </a:r>
            <a:r>
              <a:rPr lang="en-US" dirty="0" err="1"/>
              <a:t>toàn</a:t>
            </a:r>
            <a:r>
              <a:rPr lang="en-US" dirty="0"/>
              <a:t> </a:t>
            </a:r>
            <a:r>
              <a:rPr lang="en-US" dirty="0" err="1"/>
              <a:t>phần</a:t>
            </a:r>
            <a:r>
              <a:rPr lang="en-US" dirty="0"/>
              <a:t> (Full Adder)</a:t>
            </a:r>
          </a:p>
        </p:txBody>
      </p:sp>
      <p:sp>
        <p:nvSpPr>
          <p:cNvPr id="7" name="Footer Placeholder 4">
            <a:extLst>
              <a:ext uri="{FF2B5EF4-FFF2-40B4-BE49-F238E27FC236}">
                <a16:creationId xmlns:a16="http://schemas.microsoft.com/office/drawing/2014/main" id="{D927AFB4-D098-B4ED-D5D0-481FE735BB46}"/>
              </a:ext>
            </a:extLst>
          </p:cNvPr>
          <p:cNvSpPr>
            <a:spLocks noGrp="1"/>
          </p:cNvSpPr>
          <p:nvPr>
            <p:ph type="ftr" sz="quarter" idx="11"/>
          </p:nvPr>
        </p:nvSpPr>
        <p:spPr>
          <a:xfrm>
            <a:off x="774146" y="6475620"/>
            <a:ext cx="4311788" cy="263110"/>
          </a:xfrm>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1603515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ox(i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36879"/>
                                        </p:tgtEl>
                                        <p:attrNameLst>
                                          <p:attrName>style.visibility</p:attrName>
                                        </p:attrNameLst>
                                      </p:cBhvr>
                                      <p:to>
                                        <p:strVal val="visible"/>
                                      </p:to>
                                    </p:set>
                                    <p:animEffect transition="in" filter="box(in)">
                                      <p:cBhvr>
                                        <p:cTn id="18" dur="500"/>
                                        <p:tgtEl>
                                          <p:spTgt spid="368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dirty="0"/>
              <a:t>Bộ </a:t>
            </a:r>
            <a:r>
              <a:rPr lang="en-US" dirty="0" err="1"/>
              <a:t>cộng</a:t>
            </a:r>
            <a:r>
              <a:rPr lang="en-US" dirty="0"/>
              <a:t> 8 bit</a:t>
            </a:r>
            <a:endParaRPr lang="en-US" b="1"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23</a:t>
            </a:fld>
            <a:endParaRPr lang="en-VN" dirty="0"/>
          </a:p>
        </p:txBody>
      </p:sp>
      <p:graphicFrame>
        <p:nvGraphicFramePr>
          <p:cNvPr id="10" name="Object 9">
            <a:extLst>
              <a:ext uri="{FF2B5EF4-FFF2-40B4-BE49-F238E27FC236}">
                <a16:creationId xmlns:a16="http://schemas.microsoft.com/office/drawing/2014/main" id="{011275B1-5B42-F83E-E8B1-11CEC5DE005B}"/>
              </a:ext>
            </a:extLst>
          </p:cNvPr>
          <p:cNvGraphicFramePr>
            <a:graphicFrameLocks noChangeAspect="1"/>
          </p:cNvGraphicFramePr>
          <p:nvPr>
            <p:extLst>
              <p:ext uri="{D42A27DB-BD31-4B8C-83A1-F6EECF244321}">
                <p14:modId xmlns:p14="http://schemas.microsoft.com/office/powerpoint/2010/main" val="2728483783"/>
              </p:ext>
            </p:extLst>
          </p:nvPr>
        </p:nvGraphicFramePr>
        <p:xfrm>
          <a:off x="217164" y="1565784"/>
          <a:ext cx="11441233" cy="2630739"/>
        </p:xfrm>
        <a:graphic>
          <a:graphicData uri="http://schemas.openxmlformats.org/presentationml/2006/ole">
            <mc:AlternateContent xmlns:mc="http://schemas.openxmlformats.org/markup-compatibility/2006">
              <mc:Choice xmlns:v="urn:schemas-microsoft-com:vml" Requires="v">
                <p:oleObj name="Visio" r:id="rId3" imgW="11287278" imgH="2485899" progId="Visio.Drawing.15">
                  <p:embed/>
                </p:oleObj>
              </mc:Choice>
              <mc:Fallback>
                <p:oleObj name="Visio" r:id="rId3" imgW="11287278" imgH="2485899" progId="Visio.Drawing.15">
                  <p:embed/>
                  <p:pic>
                    <p:nvPicPr>
                      <p:cNvPr id="6" name="Object 5">
                        <a:extLst>
                          <a:ext uri="{FF2B5EF4-FFF2-40B4-BE49-F238E27FC236}">
                            <a16:creationId xmlns:a16="http://schemas.microsoft.com/office/drawing/2014/main" id="{CCC2D540-62A2-4C4E-9B4C-0BF46672BA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164" y="1565784"/>
                        <a:ext cx="11441233" cy="2630739"/>
                      </a:xfrm>
                      <a:prstGeom prst="rect">
                        <a:avLst/>
                      </a:prstGeom>
                      <a:noFill/>
                    </p:spPr>
                  </p:pic>
                </p:oleObj>
              </mc:Fallback>
            </mc:AlternateContent>
          </a:graphicData>
        </a:graphic>
      </p:graphicFrame>
    </p:spTree>
    <p:extLst>
      <p:ext uri="{BB962C8B-B14F-4D97-AF65-F5344CB8AC3E}">
        <p14:creationId xmlns:p14="http://schemas.microsoft.com/office/powerpoint/2010/main" val="2555499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dirty="0"/>
              <a:t>Bộ </a:t>
            </a:r>
            <a:r>
              <a:rPr lang="en-US" dirty="0" err="1"/>
              <a:t>cộng</a:t>
            </a:r>
            <a:r>
              <a:rPr lang="en-US" dirty="0"/>
              <a:t> 8 bit (</a:t>
            </a:r>
            <a:r>
              <a:rPr lang="en-US" dirty="0" err="1"/>
              <a:t>tt</a:t>
            </a:r>
            <a:r>
              <a:rPr lang="en-US" dirty="0"/>
              <a:t>)</a:t>
            </a:r>
            <a:endParaRPr lang="en-US" b="1"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10843463" cy="2416059"/>
          </a:xfrm>
        </p:spPr>
        <p:txBody>
          <a:bodyPr>
            <a:normAutofit/>
          </a:bodyPr>
          <a:lstStyle/>
          <a:p>
            <a:pPr algn="just"/>
            <a:r>
              <a:rPr lang="vi-VN" sz="3200" dirty="0"/>
              <a:t>Bộ cộng 8 bit là một mạch tổ hợp có chức năng thực hiện phép toán cộng số học được biểu diễn 8 bit.</a:t>
            </a:r>
            <a:endParaRPr lang="en-US" sz="3200" dirty="0"/>
          </a:p>
          <a:p>
            <a:endParaRPr lang="vi-VN" sz="2000"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24</a:t>
            </a:fld>
            <a:endParaRPr lang="en-VN" dirty="0"/>
          </a:p>
        </p:txBody>
      </p:sp>
      <p:pic>
        <p:nvPicPr>
          <p:cNvPr id="6" name="Picture 5">
            <a:extLst>
              <a:ext uri="{FF2B5EF4-FFF2-40B4-BE49-F238E27FC236}">
                <a16:creationId xmlns:a16="http://schemas.microsoft.com/office/drawing/2014/main" id="{40753022-5D9B-A60E-42EB-A7DCE39A5677}"/>
              </a:ext>
            </a:extLst>
          </p:cNvPr>
          <p:cNvPicPr>
            <a:picLocks noChangeAspect="1"/>
          </p:cNvPicPr>
          <p:nvPr/>
        </p:nvPicPr>
        <p:blipFill>
          <a:blip r:embed="rId3"/>
          <a:stretch>
            <a:fillRect/>
          </a:stretch>
        </p:blipFill>
        <p:spPr>
          <a:xfrm>
            <a:off x="556261" y="2680153"/>
            <a:ext cx="3646460" cy="2078977"/>
          </a:xfrm>
          <a:prstGeom prst="rect">
            <a:avLst/>
          </a:prstGeom>
        </p:spPr>
      </p:pic>
      <p:sp>
        <p:nvSpPr>
          <p:cNvPr id="7" name="Content Placeholder 2">
            <a:extLst>
              <a:ext uri="{FF2B5EF4-FFF2-40B4-BE49-F238E27FC236}">
                <a16:creationId xmlns:a16="http://schemas.microsoft.com/office/drawing/2014/main" id="{6D95AB40-48F8-D7B5-2AED-AEC5C173FE6E}"/>
              </a:ext>
            </a:extLst>
          </p:cNvPr>
          <p:cNvSpPr txBox="1">
            <a:spLocks/>
          </p:cNvSpPr>
          <p:nvPr/>
        </p:nvSpPr>
        <p:spPr>
          <a:xfrm>
            <a:off x="4454643" y="2426152"/>
            <a:ext cx="7531617" cy="25828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Wingdings" panose="05000000000000000000" pitchFamily="2" charset="2"/>
              <a:buChar char="Ø"/>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Wingdings" panose="05000000000000000000" pitchFamily="2" charset="2"/>
              <a:buChar char="ü"/>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vi-VN" b="1" dirty="0">
                <a:solidFill>
                  <a:srgbClr val="0070C0"/>
                </a:solidFill>
              </a:rPr>
              <a:t>S = A + B</a:t>
            </a:r>
          </a:p>
          <a:p>
            <a:pPr algn="just"/>
            <a:r>
              <a:rPr lang="vi-VN" dirty="0"/>
              <a:t>Ví dụ:</a:t>
            </a:r>
          </a:p>
          <a:p>
            <a:pPr lvl="1" algn="just"/>
            <a:r>
              <a:rPr lang="vi-VN" dirty="0"/>
              <a:t>A = 5, B = 7 -&gt; S = 5 + 7 = 12</a:t>
            </a:r>
          </a:p>
          <a:p>
            <a:pPr lvl="1" algn="just"/>
            <a:r>
              <a:rPr lang="vi-VN" dirty="0"/>
              <a:t>A = -5, B = -9 -&gt; S = -5 + -9 = -14</a:t>
            </a:r>
          </a:p>
          <a:p>
            <a:pPr lvl="1" algn="just"/>
            <a:r>
              <a:rPr lang="vi-VN" dirty="0"/>
              <a:t>A = -100, B = 79 -&gt; S = -100 + 79 = -21</a:t>
            </a:r>
          </a:p>
          <a:p>
            <a:pPr marL="0" indent="0" algn="just">
              <a:buNone/>
            </a:pPr>
            <a:endParaRPr lang="en-US" dirty="0"/>
          </a:p>
        </p:txBody>
      </p:sp>
      <p:sp>
        <p:nvSpPr>
          <p:cNvPr id="8" name="TextBox 7">
            <a:extLst>
              <a:ext uri="{FF2B5EF4-FFF2-40B4-BE49-F238E27FC236}">
                <a16:creationId xmlns:a16="http://schemas.microsoft.com/office/drawing/2014/main" id="{7531532D-92AA-A189-A743-3FBB237FB2A7}"/>
              </a:ext>
            </a:extLst>
          </p:cNvPr>
          <p:cNvSpPr txBox="1"/>
          <p:nvPr/>
        </p:nvSpPr>
        <p:spPr>
          <a:xfrm>
            <a:off x="3750807" y="5151081"/>
            <a:ext cx="1210588" cy="394147"/>
          </a:xfrm>
          <a:prstGeom prst="rect">
            <a:avLst/>
          </a:prstGeom>
          <a:noFill/>
        </p:spPr>
        <p:txBody>
          <a:bodyPr wrap="none" rtlCol="0">
            <a:spAutoFit/>
          </a:bodyPr>
          <a:lstStyle/>
          <a:p>
            <a:pPr algn="just">
              <a:lnSpc>
                <a:spcPct val="120000"/>
              </a:lnSpc>
              <a:spcBef>
                <a:spcPts val="200"/>
              </a:spcBef>
              <a:spcAft>
                <a:spcPts val="200"/>
              </a:spcAft>
            </a:pPr>
            <a:r>
              <a:rPr lang="en-VN" dirty="0">
                <a:latin typeface="Arial" panose="020B0604020202020204" pitchFamily="34" charset="0"/>
                <a:cs typeface="Arial" panose="020B0604020202020204" pitchFamily="34" charset="0"/>
              </a:rPr>
              <a:t>00000101</a:t>
            </a:r>
          </a:p>
        </p:txBody>
      </p:sp>
      <p:sp>
        <p:nvSpPr>
          <p:cNvPr id="9" name="TextBox 8">
            <a:extLst>
              <a:ext uri="{FF2B5EF4-FFF2-40B4-BE49-F238E27FC236}">
                <a16:creationId xmlns:a16="http://schemas.microsoft.com/office/drawing/2014/main" id="{507684F2-0CF8-FEAC-FC50-465C073347F8}"/>
              </a:ext>
            </a:extLst>
          </p:cNvPr>
          <p:cNvSpPr txBox="1"/>
          <p:nvPr/>
        </p:nvSpPr>
        <p:spPr>
          <a:xfrm>
            <a:off x="3767927" y="5545228"/>
            <a:ext cx="1176348" cy="394147"/>
          </a:xfrm>
          <a:prstGeom prst="rect">
            <a:avLst/>
          </a:prstGeom>
          <a:noFill/>
        </p:spPr>
        <p:txBody>
          <a:bodyPr wrap="none" rtlCol="0">
            <a:spAutoFit/>
          </a:bodyPr>
          <a:lstStyle/>
          <a:p>
            <a:pPr algn="just">
              <a:lnSpc>
                <a:spcPct val="120000"/>
              </a:lnSpc>
              <a:spcBef>
                <a:spcPts val="200"/>
              </a:spcBef>
              <a:spcAft>
                <a:spcPts val="200"/>
              </a:spcAft>
            </a:pPr>
            <a:r>
              <a:rPr lang="en-VN" dirty="0">
                <a:latin typeface="Arial" panose="020B0604020202020204" pitchFamily="34" charset="0"/>
                <a:cs typeface="Arial" panose="020B0604020202020204" pitchFamily="34" charset="0"/>
              </a:rPr>
              <a:t>00000111</a:t>
            </a:r>
          </a:p>
        </p:txBody>
      </p:sp>
      <p:cxnSp>
        <p:nvCxnSpPr>
          <p:cNvPr id="11" name="Straight Connector 10">
            <a:extLst>
              <a:ext uri="{FF2B5EF4-FFF2-40B4-BE49-F238E27FC236}">
                <a16:creationId xmlns:a16="http://schemas.microsoft.com/office/drawing/2014/main" id="{8E891DC3-24F9-84F7-6CE5-AFB75C0140FC}"/>
              </a:ext>
            </a:extLst>
          </p:cNvPr>
          <p:cNvCxnSpPr/>
          <p:nvPr/>
        </p:nvCxnSpPr>
        <p:spPr>
          <a:xfrm>
            <a:off x="3767927" y="5939375"/>
            <a:ext cx="117634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C3BA688-E0A9-CA95-DD41-8132A99D69F9}"/>
              </a:ext>
            </a:extLst>
          </p:cNvPr>
          <p:cNvSpPr txBox="1"/>
          <p:nvPr/>
        </p:nvSpPr>
        <p:spPr>
          <a:xfrm>
            <a:off x="3742247" y="5969815"/>
            <a:ext cx="1193468" cy="394147"/>
          </a:xfrm>
          <a:prstGeom prst="rect">
            <a:avLst/>
          </a:prstGeom>
          <a:noFill/>
        </p:spPr>
        <p:txBody>
          <a:bodyPr wrap="none" rtlCol="0">
            <a:spAutoFit/>
          </a:bodyPr>
          <a:lstStyle/>
          <a:p>
            <a:pPr algn="just">
              <a:lnSpc>
                <a:spcPct val="120000"/>
              </a:lnSpc>
              <a:spcBef>
                <a:spcPts val="200"/>
              </a:spcBef>
              <a:spcAft>
                <a:spcPts val="200"/>
              </a:spcAft>
            </a:pPr>
            <a:r>
              <a:rPr lang="en-VN" dirty="0">
                <a:latin typeface="Arial" panose="020B0604020202020204" pitchFamily="34" charset="0"/>
                <a:cs typeface="Arial" panose="020B0604020202020204" pitchFamily="34" charset="0"/>
              </a:rPr>
              <a:t>00001100</a:t>
            </a:r>
          </a:p>
        </p:txBody>
      </p:sp>
      <p:sp>
        <p:nvSpPr>
          <p:cNvPr id="14" name="TextBox 13">
            <a:extLst>
              <a:ext uri="{FF2B5EF4-FFF2-40B4-BE49-F238E27FC236}">
                <a16:creationId xmlns:a16="http://schemas.microsoft.com/office/drawing/2014/main" id="{5920673E-5373-9EFD-02E4-0E87EABC97D8}"/>
              </a:ext>
            </a:extLst>
          </p:cNvPr>
          <p:cNvSpPr txBox="1"/>
          <p:nvPr/>
        </p:nvSpPr>
        <p:spPr>
          <a:xfrm>
            <a:off x="5575534" y="5553754"/>
            <a:ext cx="6240811" cy="494751"/>
          </a:xfrm>
          <a:prstGeom prst="rect">
            <a:avLst/>
          </a:prstGeom>
          <a:noFill/>
        </p:spPr>
        <p:txBody>
          <a:bodyPr wrap="none" rtlCol="0">
            <a:spAutoFit/>
          </a:bodyPr>
          <a:lstStyle/>
          <a:p>
            <a:pPr algn="just">
              <a:lnSpc>
                <a:spcPct val="120000"/>
              </a:lnSpc>
              <a:spcBef>
                <a:spcPts val="200"/>
              </a:spcBef>
              <a:spcAft>
                <a:spcPts val="200"/>
              </a:spcAft>
            </a:pPr>
            <a:r>
              <a:rPr lang="en-VN" sz="2400" dirty="0">
                <a:latin typeface="Arial" panose="020B0604020202020204" pitchFamily="34" charset="0"/>
                <a:cs typeface="Arial" panose="020B0604020202020204" pitchFamily="34" charset="0"/>
              </a:rPr>
              <a:t>Cộng các số có n bit thì cần mạch cộng n bit</a:t>
            </a:r>
          </a:p>
        </p:txBody>
      </p:sp>
      <p:grpSp>
        <p:nvGrpSpPr>
          <p:cNvPr id="10" name="Group 3">
            <a:extLst>
              <a:ext uri="{FF2B5EF4-FFF2-40B4-BE49-F238E27FC236}">
                <a16:creationId xmlns:a16="http://schemas.microsoft.com/office/drawing/2014/main" id="{18A93847-B035-9D1B-30FF-129F3055ABB2}"/>
              </a:ext>
            </a:extLst>
          </p:cNvPr>
          <p:cNvGrpSpPr/>
          <p:nvPr/>
        </p:nvGrpSpPr>
        <p:grpSpPr>
          <a:xfrm>
            <a:off x="9687339" y="2284054"/>
            <a:ext cx="2298921" cy="1001041"/>
            <a:chOff x="6551640" y="1826640"/>
            <a:chExt cx="3132360" cy="1333440"/>
          </a:xfrm>
        </p:grpSpPr>
        <p:sp>
          <p:nvSpPr>
            <p:cNvPr id="12" name="Line 4">
              <a:extLst>
                <a:ext uri="{FF2B5EF4-FFF2-40B4-BE49-F238E27FC236}">
                  <a16:creationId xmlns:a16="http://schemas.microsoft.com/office/drawing/2014/main" id="{2E298D66-2743-3E81-8FE9-9767932DADDB}"/>
                </a:ext>
              </a:extLst>
            </p:cNvPr>
            <p:cNvSpPr/>
            <p:nvPr/>
          </p:nvSpPr>
          <p:spPr>
            <a:xfrm>
              <a:off x="7398720" y="1826640"/>
              <a:ext cx="1270080" cy="349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15" name="Line 5">
              <a:extLst>
                <a:ext uri="{FF2B5EF4-FFF2-40B4-BE49-F238E27FC236}">
                  <a16:creationId xmlns:a16="http://schemas.microsoft.com/office/drawing/2014/main" id="{152D2D15-AF1F-BD37-9E10-FCE5F848736F}"/>
                </a:ext>
              </a:extLst>
            </p:cNvPr>
            <p:cNvSpPr/>
            <p:nvPr/>
          </p:nvSpPr>
          <p:spPr>
            <a:xfrm>
              <a:off x="8668800" y="2175840"/>
              <a:ext cx="720" cy="60336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16" name="Line 6">
              <a:extLst>
                <a:ext uri="{FF2B5EF4-FFF2-40B4-BE49-F238E27FC236}">
                  <a16:creationId xmlns:a16="http://schemas.microsoft.com/office/drawing/2014/main" id="{48820D08-F699-2D46-21D3-4C46046F53D4}"/>
                </a:ext>
              </a:extLst>
            </p:cNvPr>
            <p:cNvSpPr/>
            <p:nvPr/>
          </p:nvSpPr>
          <p:spPr>
            <a:xfrm flipH="1">
              <a:off x="7398720" y="2779200"/>
              <a:ext cx="1270080" cy="3808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17" name="Line 7">
              <a:extLst>
                <a:ext uri="{FF2B5EF4-FFF2-40B4-BE49-F238E27FC236}">
                  <a16:creationId xmlns:a16="http://schemas.microsoft.com/office/drawing/2014/main" id="{9238EAC7-2AF4-5411-D8E6-FEF633E2DBCF}"/>
                </a:ext>
              </a:extLst>
            </p:cNvPr>
            <p:cNvSpPr/>
            <p:nvPr/>
          </p:nvSpPr>
          <p:spPr>
            <a:xfrm flipV="1">
              <a:off x="7398720" y="2620800"/>
              <a:ext cx="360" cy="5392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18" name="Line 8">
              <a:extLst>
                <a:ext uri="{FF2B5EF4-FFF2-40B4-BE49-F238E27FC236}">
                  <a16:creationId xmlns:a16="http://schemas.microsoft.com/office/drawing/2014/main" id="{A2619686-8300-9E21-28F0-374D37223A02}"/>
                </a:ext>
              </a:extLst>
            </p:cNvPr>
            <p:cNvSpPr/>
            <p:nvPr/>
          </p:nvSpPr>
          <p:spPr>
            <a:xfrm flipV="1">
              <a:off x="7398720" y="2461680"/>
              <a:ext cx="169920" cy="1591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19" name="Line 9">
              <a:extLst>
                <a:ext uri="{FF2B5EF4-FFF2-40B4-BE49-F238E27FC236}">
                  <a16:creationId xmlns:a16="http://schemas.microsoft.com/office/drawing/2014/main" id="{E6096BAE-62F4-BBB1-C1FB-A623B0145FCD}"/>
                </a:ext>
              </a:extLst>
            </p:cNvPr>
            <p:cNvSpPr/>
            <p:nvPr/>
          </p:nvSpPr>
          <p:spPr>
            <a:xfrm>
              <a:off x="7398720" y="2271600"/>
              <a:ext cx="169920" cy="1900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0" name="Line 10">
              <a:extLst>
                <a:ext uri="{FF2B5EF4-FFF2-40B4-BE49-F238E27FC236}">
                  <a16:creationId xmlns:a16="http://schemas.microsoft.com/office/drawing/2014/main" id="{47EA5972-44B9-D2ED-2E0A-6620A1E166C9}"/>
                </a:ext>
              </a:extLst>
            </p:cNvPr>
            <p:cNvSpPr/>
            <p:nvPr/>
          </p:nvSpPr>
          <p:spPr>
            <a:xfrm flipV="1">
              <a:off x="7398720" y="1826640"/>
              <a:ext cx="360" cy="44496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1" name="Line 11">
              <a:extLst>
                <a:ext uri="{FF2B5EF4-FFF2-40B4-BE49-F238E27FC236}">
                  <a16:creationId xmlns:a16="http://schemas.microsoft.com/office/drawing/2014/main" id="{064F645F-DDE1-D17F-78FC-59333D8D8923}"/>
                </a:ext>
              </a:extLst>
            </p:cNvPr>
            <p:cNvSpPr/>
            <p:nvPr/>
          </p:nvSpPr>
          <p:spPr>
            <a:xfrm>
              <a:off x="6551640" y="2018160"/>
              <a:ext cx="84708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2" name="Line 12">
              <a:extLst>
                <a:ext uri="{FF2B5EF4-FFF2-40B4-BE49-F238E27FC236}">
                  <a16:creationId xmlns:a16="http://schemas.microsoft.com/office/drawing/2014/main" id="{CE4E0B86-24ED-5416-CA9D-32CDD306B05A}"/>
                </a:ext>
              </a:extLst>
            </p:cNvPr>
            <p:cNvSpPr/>
            <p:nvPr/>
          </p:nvSpPr>
          <p:spPr>
            <a:xfrm>
              <a:off x="6551640" y="2906640"/>
              <a:ext cx="84708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3" name="Line 13">
              <a:extLst>
                <a:ext uri="{FF2B5EF4-FFF2-40B4-BE49-F238E27FC236}">
                  <a16:creationId xmlns:a16="http://schemas.microsoft.com/office/drawing/2014/main" id="{CFCA7B9A-225B-487D-DFE0-8B89B39F1A29}"/>
                </a:ext>
              </a:extLst>
            </p:cNvPr>
            <p:cNvSpPr/>
            <p:nvPr/>
          </p:nvSpPr>
          <p:spPr>
            <a:xfrm>
              <a:off x="8668800" y="2430000"/>
              <a:ext cx="101520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4" name="CustomShape 14">
              <a:extLst>
                <a:ext uri="{FF2B5EF4-FFF2-40B4-BE49-F238E27FC236}">
                  <a16:creationId xmlns:a16="http://schemas.microsoft.com/office/drawing/2014/main" id="{66FCA4BF-43C4-CF48-E77D-BEF783B779E0}"/>
                </a:ext>
              </a:extLst>
            </p:cNvPr>
            <p:cNvSpPr/>
            <p:nvPr/>
          </p:nvSpPr>
          <p:spPr>
            <a:xfrm>
              <a:off x="8155080" y="2345040"/>
              <a:ext cx="49356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Sum</a:t>
              </a:r>
              <a:endParaRPr lang="en-US" sz="1000" b="0" strike="noStrike" spc="-1">
                <a:latin typeface="Arial"/>
              </a:endParaRPr>
            </a:p>
          </p:txBody>
        </p:sp>
        <p:sp>
          <p:nvSpPr>
            <p:cNvPr id="25" name="CustomShape 15">
              <a:extLst>
                <a:ext uri="{FF2B5EF4-FFF2-40B4-BE49-F238E27FC236}">
                  <a16:creationId xmlns:a16="http://schemas.microsoft.com/office/drawing/2014/main" id="{2E8C3BEB-6AF7-4C4F-042B-1A2EBC37211A}"/>
                </a:ext>
              </a:extLst>
            </p:cNvPr>
            <p:cNvSpPr/>
            <p:nvPr/>
          </p:nvSpPr>
          <p:spPr>
            <a:xfrm>
              <a:off x="7541280" y="2356920"/>
              <a:ext cx="518040" cy="2721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Add</a:t>
              </a:r>
              <a:endParaRPr lang="en-US" sz="1200" b="0" strike="noStrike" spc="-1">
                <a:latin typeface="Arial"/>
              </a:endParaRPr>
            </a:p>
          </p:txBody>
        </p:sp>
      </p:grpSp>
    </p:spTree>
    <p:extLst>
      <p:ext uri="{BB962C8B-B14F-4D97-AF65-F5344CB8AC3E}">
        <p14:creationId xmlns:p14="http://schemas.microsoft.com/office/powerpoint/2010/main" val="3744681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 calcmode="lin" valueType="num">
                                      <p:cBhvr additive="base">
                                        <p:cTn id="7"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anim calcmode="lin" valueType="num">
                                      <p:cBhvr additive="base">
                                        <p:cTn id="11"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 calcmode="lin" valueType="num">
                                      <p:cBhvr additive="base">
                                        <p:cTn id="1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 calcmode="lin" valueType="num">
                                      <p:cBhvr additive="base">
                                        <p:cTn id="19"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25</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8831311" cy="884656"/>
          </a:xfrm>
        </p:spPr>
        <p:txBody>
          <a:bodyPr>
            <a:normAutofit/>
          </a:bodyPr>
          <a:lstStyle/>
          <a:p>
            <a:r>
              <a:rPr lang="en-US" sz="4400" b="1" dirty="0"/>
              <a:t>5. Bộ so </a:t>
            </a:r>
            <a:r>
              <a:rPr lang="en-US" sz="4400" b="1" dirty="0" err="1"/>
              <a:t>sánh</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endParaRPr lang="en-VN" dirty="0"/>
          </a:p>
        </p:txBody>
      </p:sp>
    </p:spTree>
    <p:extLst>
      <p:ext uri="{BB962C8B-B14F-4D97-AF65-F5344CB8AC3E}">
        <p14:creationId xmlns:p14="http://schemas.microsoft.com/office/powerpoint/2010/main" val="30887663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79503-BE09-EA0A-FC9C-AF5C268EE5C7}"/>
              </a:ext>
            </a:extLst>
          </p:cNvPr>
          <p:cNvSpPr>
            <a:spLocks noGrp="1"/>
          </p:cNvSpPr>
          <p:nvPr>
            <p:ph type="title"/>
          </p:nvPr>
        </p:nvSpPr>
        <p:spPr/>
        <p:txBody>
          <a:bodyPr>
            <a:normAutofit fontScale="90000"/>
          </a:bodyPr>
          <a:lstStyle/>
          <a:p>
            <a:r>
              <a:rPr lang="en-VN" dirty="0"/>
              <a:t>Bộ so sánh</a:t>
            </a:r>
          </a:p>
        </p:txBody>
      </p:sp>
      <p:sp>
        <p:nvSpPr>
          <p:cNvPr id="3" name="Content Placeholder 2">
            <a:extLst>
              <a:ext uri="{FF2B5EF4-FFF2-40B4-BE49-F238E27FC236}">
                <a16:creationId xmlns:a16="http://schemas.microsoft.com/office/drawing/2014/main" id="{3A282848-1B90-0945-D8DC-B8090CB7F330}"/>
              </a:ext>
            </a:extLst>
          </p:cNvPr>
          <p:cNvSpPr>
            <a:spLocks noGrp="1"/>
          </p:cNvSpPr>
          <p:nvPr>
            <p:ph idx="1"/>
          </p:nvPr>
        </p:nvSpPr>
        <p:spPr>
          <a:xfrm>
            <a:off x="774145" y="1233824"/>
            <a:ext cx="10874516" cy="4943139"/>
          </a:xfrm>
        </p:spPr>
        <p:txBody>
          <a:bodyPr/>
          <a:lstStyle/>
          <a:p>
            <a:pPr marL="0" indent="0">
              <a:buNone/>
            </a:pPr>
            <a:r>
              <a:rPr lang="en-VN" dirty="0"/>
              <a:t>So sánh A và B chúng ta sẽ có các trường hợp sau:</a:t>
            </a:r>
          </a:p>
          <a:p>
            <a:r>
              <a:rPr lang="en-VN" dirty="0"/>
              <a:t>A và B bằng nhau ⇢ từng bit của A bằng từng bit của B ⇢ XNOR</a:t>
            </a:r>
          </a:p>
          <a:p>
            <a:r>
              <a:rPr lang="en-VN" dirty="0"/>
              <a:t>A và B khác nhau:</a:t>
            </a:r>
          </a:p>
          <a:p>
            <a:pPr lvl="1"/>
            <a:r>
              <a:rPr lang="en-VN" dirty="0"/>
              <a:t>A lớn hơn B </a:t>
            </a:r>
          </a:p>
          <a:p>
            <a:pPr lvl="1"/>
            <a:r>
              <a:rPr lang="en-VN" dirty="0"/>
              <a:t>A nhỏ hơn B</a:t>
            </a:r>
          </a:p>
        </p:txBody>
      </p:sp>
      <p:sp>
        <p:nvSpPr>
          <p:cNvPr id="4" name="Footer Placeholder 3">
            <a:extLst>
              <a:ext uri="{FF2B5EF4-FFF2-40B4-BE49-F238E27FC236}">
                <a16:creationId xmlns:a16="http://schemas.microsoft.com/office/drawing/2014/main" id="{44A64675-D241-42C1-9462-BBEBE7AEAB65}"/>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5" name="Date Placeholder 4">
            <a:extLst>
              <a:ext uri="{FF2B5EF4-FFF2-40B4-BE49-F238E27FC236}">
                <a16:creationId xmlns:a16="http://schemas.microsoft.com/office/drawing/2014/main" id="{3EFFBFA6-E737-F33D-8BCE-8FBF9B09E443}"/>
              </a:ext>
            </a:extLst>
          </p:cNvPr>
          <p:cNvSpPr>
            <a:spLocks noGrp="1"/>
          </p:cNvSpPr>
          <p:nvPr>
            <p:ph type="dt" sz="half" idx="13"/>
          </p:nvPr>
        </p:nvSpPr>
        <p:spPr/>
        <p:txBody>
          <a:bodyPr/>
          <a:lstStyle/>
          <a:p>
            <a:fld id="{46CDDB1B-AAE9-1649-A755-11FADEB7E97E}" type="datetime4">
              <a:rPr lang="en-US" smtClean="0"/>
              <a:t>September 4, 2023</a:t>
            </a:fld>
            <a:endParaRPr lang="en-VN"/>
          </a:p>
        </p:txBody>
      </p:sp>
      <p:sp>
        <p:nvSpPr>
          <p:cNvPr id="6" name="Slide Number Placeholder 5">
            <a:extLst>
              <a:ext uri="{FF2B5EF4-FFF2-40B4-BE49-F238E27FC236}">
                <a16:creationId xmlns:a16="http://schemas.microsoft.com/office/drawing/2014/main" id="{6BFB0231-C62D-29E3-F26C-CA524B05ECBA}"/>
              </a:ext>
            </a:extLst>
          </p:cNvPr>
          <p:cNvSpPr>
            <a:spLocks noGrp="1"/>
          </p:cNvSpPr>
          <p:nvPr>
            <p:ph type="sldNum" sz="quarter" idx="12"/>
          </p:nvPr>
        </p:nvSpPr>
        <p:spPr/>
        <p:txBody>
          <a:bodyPr/>
          <a:lstStyle/>
          <a:p>
            <a:fld id="{D8B0B3AC-44A8-D142-AAF6-9A453466E1A4}" type="slidenum">
              <a:rPr lang="en-VN" smtClean="0"/>
              <a:t>26</a:t>
            </a:fld>
            <a:endParaRPr lang="en-VN"/>
          </a:p>
        </p:txBody>
      </p:sp>
      <p:pic>
        <p:nvPicPr>
          <p:cNvPr id="7" name="Picture 6">
            <a:extLst>
              <a:ext uri="{FF2B5EF4-FFF2-40B4-BE49-F238E27FC236}">
                <a16:creationId xmlns:a16="http://schemas.microsoft.com/office/drawing/2014/main" id="{629D5FC6-7AD2-AFB8-4EA8-358C95F2D35C}"/>
              </a:ext>
            </a:extLst>
          </p:cNvPr>
          <p:cNvPicPr>
            <a:picLocks noChangeAspect="1"/>
          </p:cNvPicPr>
          <p:nvPr/>
        </p:nvPicPr>
        <p:blipFill>
          <a:blip r:embed="rId2"/>
          <a:stretch>
            <a:fillRect/>
          </a:stretch>
        </p:blipFill>
        <p:spPr>
          <a:xfrm>
            <a:off x="1346305" y="4373217"/>
            <a:ext cx="2306715" cy="2135141"/>
          </a:xfrm>
          <a:prstGeom prst="rect">
            <a:avLst/>
          </a:prstGeom>
        </p:spPr>
      </p:pic>
      <p:pic>
        <p:nvPicPr>
          <p:cNvPr id="8" name="Picture 2">
            <a:extLst>
              <a:ext uri="{FF2B5EF4-FFF2-40B4-BE49-F238E27FC236}">
                <a16:creationId xmlns:a16="http://schemas.microsoft.com/office/drawing/2014/main" id="{978E8A25-695D-E8E7-3620-94E2BC147A5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25179" y="3561205"/>
            <a:ext cx="3165717" cy="26855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pic>
      <p:graphicFrame>
        <p:nvGraphicFramePr>
          <p:cNvPr id="9" name="Object 2">
            <a:extLst>
              <a:ext uri="{FF2B5EF4-FFF2-40B4-BE49-F238E27FC236}">
                <a16:creationId xmlns:a16="http://schemas.microsoft.com/office/drawing/2014/main" id="{65937557-3176-36BF-B75D-AABED2462CC7}"/>
              </a:ext>
            </a:extLst>
          </p:cNvPr>
          <p:cNvGraphicFramePr>
            <a:graphicFrameLocks noChangeAspect="1"/>
          </p:cNvGraphicFramePr>
          <p:nvPr>
            <p:extLst>
              <p:ext uri="{D42A27DB-BD31-4B8C-83A1-F6EECF244321}">
                <p14:modId xmlns:p14="http://schemas.microsoft.com/office/powerpoint/2010/main" val="3632620488"/>
              </p:ext>
            </p:extLst>
          </p:nvPr>
        </p:nvGraphicFramePr>
        <p:xfrm>
          <a:off x="8292416" y="2874065"/>
          <a:ext cx="3470715" cy="2998304"/>
        </p:xfrm>
        <a:graphic>
          <a:graphicData uri="http://schemas.openxmlformats.org/presentationml/2006/ole">
            <mc:AlternateContent xmlns:mc="http://schemas.openxmlformats.org/markup-compatibility/2006">
              <mc:Choice xmlns:v="urn:schemas-microsoft-com:vml" Requires="v">
                <p:oleObj name="Visio" r:id="rId4" imgW="2287905" imgH="1976676" progId="Visio.Drawing.11">
                  <p:embed/>
                </p:oleObj>
              </mc:Choice>
              <mc:Fallback>
                <p:oleObj name="Visio" r:id="rId4" imgW="2287905" imgH="1976676" progId="Visio.Drawing.11">
                  <p:embed/>
                  <p:pic>
                    <p:nvPicPr>
                      <p:cNvPr id="4"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92416" y="2874065"/>
                        <a:ext cx="3470715" cy="299830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TextBox 9">
            <a:extLst>
              <a:ext uri="{FF2B5EF4-FFF2-40B4-BE49-F238E27FC236}">
                <a16:creationId xmlns:a16="http://schemas.microsoft.com/office/drawing/2014/main" id="{5D040902-EDD5-F399-79B8-D65E98BFD735}"/>
              </a:ext>
            </a:extLst>
          </p:cNvPr>
          <p:cNvSpPr txBox="1">
            <a:spLocks noChangeArrowheads="1"/>
          </p:cNvSpPr>
          <p:nvPr/>
        </p:nvSpPr>
        <p:spPr bwMode="auto">
          <a:xfrm>
            <a:off x="11396218" y="4111279"/>
            <a:ext cx="420308"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Times New Roman" pitchFamily="18" charset="0"/>
              </a:defRPr>
            </a:lvl1pPr>
            <a:lvl2pPr marL="742950" indent="-285750">
              <a:defRPr sz="1200">
                <a:solidFill>
                  <a:schemeClr val="tx1"/>
                </a:solidFill>
                <a:latin typeface="Times New Roman" pitchFamily="18" charset="0"/>
              </a:defRPr>
            </a:lvl2pPr>
            <a:lvl3pPr marL="1143000" indent="-228600">
              <a:defRPr sz="1200">
                <a:solidFill>
                  <a:schemeClr val="tx1"/>
                </a:solidFill>
                <a:latin typeface="Times New Roman" pitchFamily="18" charset="0"/>
              </a:defRPr>
            </a:lvl3pPr>
            <a:lvl4pPr marL="1600200" indent="-228600">
              <a:defRPr sz="1200">
                <a:solidFill>
                  <a:schemeClr val="tx1"/>
                </a:solidFill>
                <a:latin typeface="Times New Roman" pitchFamily="18" charset="0"/>
              </a:defRPr>
            </a:lvl4pPr>
            <a:lvl5pPr marL="2057400" indent="-228600">
              <a:defRPr sz="1200">
                <a:solidFill>
                  <a:schemeClr val="tx1"/>
                </a:solidFill>
                <a:latin typeface="Times New Roman" pitchFamily="18" charset="0"/>
              </a:defRPr>
            </a:lvl5pPr>
            <a:lvl6pPr marL="2514600" indent="-228600" eaLnBrk="0" fontAlgn="base" hangingPunct="0">
              <a:spcBef>
                <a:spcPct val="0"/>
              </a:spcBef>
              <a:spcAft>
                <a:spcPct val="0"/>
              </a:spcAft>
              <a:defRPr sz="1200">
                <a:solidFill>
                  <a:schemeClr val="tx1"/>
                </a:solidFill>
                <a:latin typeface="Times New Roman" pitchFamily="18" charset="0"/>
              </a:defRPr>
            </a:lvl6pPr>
            <a:lvl7pPr marL="2971800" indent="-228600" eaLnBrk="0" fontAlgn="base" hangingPunct="0">
              <a:spcBef>
                <a:spcPct val="0"/>
              </a:spcBef>
              <a:spcAft>
                <a:spcPct val="0"/>
              </a:spcAft>
              <a:defRPr sz="1200">
                <a:solidFill>
                  <a:schemeClr val="tx1"/>
                </a:solidFill>
                <a:latin typeface="Times New Roman" pitchFamily="18" charset="0"/>
              </a:defRPr>
            </a:lvl7pPr>
            <a:lvl8pPr marL="3429000" indent="-228600" eaLnBrk="0" fontAlgn="base" hangingPunct="0">
              <a:spcBef>
                <a:spcPct val="0"/>
              </a:spcBef>
              <a:spcAft>
                <a:spcPct val="0"/>
              </a:spcAft>
              <a:defRPr sz="1200">
                <a:solidFill>
                  <a:schemeClr val="tx1"/>
                </a:solidFill>
                <a:latin typeface="Times New Roman" pitchFamily="18" charset="0"/>
              </a:defRPr>
            </a:lvl8pPr>
            <a:lvl9pPr marL="3886200" indent="-228600" eaLnBrk="0" fontAlgn="base" hangingPunct="0">
              <a:spcBef>
                <a:spcPct val="0"/>
              </a:spcBef>
              <a:spcAft>
                <a:spcPct val="0"/>
              </a:spcAft>
              <a:defRPr sz="1200">
                <a:solidFill>
                  <a:schemeClr val="tx1"/>
                </a:solidFill>
                <a:latin typeface="Times New Roman" pitchFamily="18" charset="0"/>
              </a:defRPr>
            </a:lvl9pPr>
          </a:lstStyle>
          <a:p>
            <a:r>
              <a:rPr lang="en-US" sz="2200" dirty="0" err="1">
                <a:latin typeface="Arial" panose="020B0604020202020204" pitchFamily="34" charset="0"/>
                <a:cs typeface="Arial" panose="020B0604020202020204" pitchFamily="34" charset="0"/>
              </a:rPr>
              <a:t>gt</a:t>
            </a:r>
            <a:endParaRPr lang="en-US" sz="2200" dirty="0">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2646C1D8-DBE3-DCEA-B078-B1BD820AB73B}"/>
              </a:ext>
            </a:extLst>
          </p:cNvPr>
          <p:cNvPicPr>
            <a:picLocks noChangeAspect="1"/>
          </p:cNvPicPr>
          <p:nvPr/>
        </p:nvPicPr>
        <p:blipFill>
          <a:blip r:embed="rId6"/>
          <a:stretch>
            <a:fillRect/>
          </a:stretch>
        </p:blipFill>
        <p:spPr>
          <a:xfrm>
            <a:off x="9203635" y="99725"/>
            <a:ext cx="2312504" cy="1670884"/>
          </a:xfrm>
          <a:prstGeom prst="rect">
            <a:avLst/>
          </a:prstGeom>
        </p:spPr>
      </p:pic>
      <p:sp>
        <p:nvSpPr>
          <p:cNvPr id="12" name="TextBox 11">
            <a:extLst>
              <a:ext uri="{FF2B5EF4-FFF2-40B4-BE49-F238E27FC236}">
                <a16:creationId xmlns:a16="http://schemas.microsoft.com/office/drawing/2014/main" id="{B6B7D90E-421A-CF5E-8DC1-BB284A138B6D}"/>
              </a:ext>
            </a:extLst>
          </p:cNvPr>
          <p:cNvSpPr txBox="1"/>
          <p:nvPr/>
        </p:nvSpPr>
        <p:spPr>
          <a:xfrm>
            <a:off x="6649196" y="3429000"/>
            <a:ext cx="947695" cy="394147"/>
          </a:xfrm>
          <a:prstGeom prst="rect">
            <a:avLst/>
          </a:prstGeom>
          <a:noFill/>
        </p:spPr>
        <p:txBody>
          <a:bodyPr wrap="none" rtlCol="0">
            <a:spAutoFit/>
          </a:bodyPr>
          <a:lstStyle/>
          <a:p>
            <a:pPr algn="just">
              <a:lnSpc>
                <a:spcPct val="120000"/>
              </a:lnSpc>
              <a:spcBef>
                <a:spcPts val="200"/>
              </a:spcBef>
              <a:spcAft>
                <a:spcPts val="200"/>
              </a:spcAft>
            </a:pPr>
            <a:r>
              <a:rPr lang="en-VN" dirty="0">
                <a:latin typeface="Arial" panose="020B0604020202020204" pitchFamily="34" charset="0"/>
                <a:cs typeface="Arial" panose="020B0604020202020204" pitchFamily="34" charset="0"/>
              </a:rPr>
              <a:t>gt = ab’</a:t>
            </a:r>
          </a:p>
        </p:txBody>
      </p:sp>
      <p:sp>
        <p:nvSpPr>
          <p:cNvPr id="13" name="TextBox 12">
            <a:extLst>
              <a:ext uri="{FF2B5EF4-FFF2-40B4-BE49-F238E27FC236}">
                <a16:creationId xmlns:a16="http://schemas.microsoft.com/office/drawing/2014/main" id="{FFB855D4-AF37-5C50-163D-EF7E9E29D348}"/>
              </a:ext>
            </a:extLst>
          </p:cNvPr>
          <p:cNvSpPr txBox="1"/>
          <p:nvPr/>
        </p:nvSpPr>
        <p:spPr>
          <a:xfrm>
            <a:off x="6668678" y="5427102"/>
            <a:ext cx="870751" cy="394147"/>
          </a:xfrm>
          <a:prstGeom prst="rect">
            <a:avLst/>
          </a:prstGeom>
          <a:noFill/>
        </p:spPr>
        <p:txBody>
          <a:bodyPr wrap="none" rtlCol="0">
            <a:spAutoFit/>
          </a:bodyPr>
          <a:lstStyle/>
          <a:p>
            <a:pPr algn="just">
              <a:lnSpc>
                <a:spcPct val="120000"/>
              </a:lnSpc>
              <a:spcBef>
                <a:spcPts val="200"/>
              </a:spcBef>
              <a:spcAft>
                <a:spcPts val="200"/>
              </a:spcAft>
            </a:pPr>
            <a:r>
              <a:rPr lang="en-VN" dirty="0">
                <a:latin typeface="Arial" panose="020B0604020202020204" pitchFamily="34" charset="0"/>
                <a:cs typeface="Arial" panose="020B0604020202020204" pitchFamily="34" charset="0"/>
              </a:rPr>
              <a:t>lt = a’b</a:t>
            </a:r>
          </a:p>
        </p:txBody>
      </p:sp>
    </p:spTree>
    <p:extLst>
      <p:ext uri="{BB962C8B-B14F-4D97-AF65-F5344CB8AC3E}">
        <p14:creationId xmlns:p14="http://schemas.microsoft.com/office/powerpoint/2010/main" val="3894564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sz="4000"/>
              <a:t>Bộ so sánh (tt)</a:t>
            </a:r>
            <a:endParaRPr lang="en-VN" dirty="0"/>
          </a:p>
        </p:txBody>
      </p:sp>
      <p:sp>
        <p:nvSpPr>
          <p:cNvPr id="10" name="Content Placeholder 2">
            <a:extLst>
              <a:ext uri="{FF2B5EF4-FFF2-40B4-BE49-F238E27FC236}">
                <a16:creationId xmlns:a16="http://schemas.microsoft.com/office/drawing/2014/main" id="{B6A4BA5C-2E15-639D-6D2E-D7E1C60D6635}"/>
              </a:ext>
            </a:extLst>
          </p:cNvPr>
          <p:cNvSpPr>
            <a:spLocks noGrp="1"/>
          </p:cNvSpPr>
          <p:nvPr>
            <p:ph idx="1"/>
          </p:nvPr>
        </p:nvSpPr>
        <p:spPr>
          <a:xfrm>
            <a:off x="6096000" y="1412876"/>
            <a:ext cx="5904442" cy="4824413"/>
          </a:xfrm>
        </p:spPr>
        <p:txBody>
          <a:bodyPr/>
          <a:lstStyle/>
          <a:p>
            <a:r>
              <a:rPr lang="vi-VN" dirty="0"/>
              <a:t>Việc thiết kế bộ so sánh 2 số bất kỳ tốn rất nhiều tài nguyên</a:t>
            </a:r>
          </a:p>
          <a:p>
            <a:pPr lvl="1"/>
            <a:r>
              <a:rPr lang="vi-VN" dirty="0"/>
              <a:t>Bảng chân trị có 2</a:t>
            </a:r>
            <a:r>
              <a:rPr lang="vi-VN" baseline="30000" dirty="0"/>
              <a:t>2n</a:t>
            </a:r>
            <a:r>
              <a:rPr lang="vi-VN" dirty="0"/>
              <a:t> hàng!!!</a:t>
            </a:r>
          </a:p>
          <a:p>
            <a:pPr algn="just"/>
            <a:r>
              <a:rPr lang="vi-VN" dirty="0"/>
              <a:t>Gải pháp: Kết hợp bộ so sánh và ALU có sẵn</a:t>
            </a:r>
            <a:endParaRPr lang="en-US" dirty="0"/>
          </a:p>
          <a:p>
            <a:endParaRPr lang="en-US"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27</a:t>
            </a:fld>
            <a:endParaRPr lang="en-VN" dirty="0"/>
          </a:p>
        </p:txBody>
      </p:sp>
      <p:sp>
        <p:nvSpPr>
          <p:cNvPr id="3" name="Content Placeholder 2">
            <a:extLst>
              <a:ext uri="{FF2B5EF4-FFF2-40B4-BE49-F238E27FC236}">
                <a16:creationId xmlns:a16="http://schemas.microsoft.com/office/drawing/2014/main" id="{C80765B1-C388-AFE1-40A9-93A62D28BB16}"/>
              </a:ext>
            </a:extLst>
          </p:cNvPr>
          <p:cNvSpPr txBox="1">
            <a:spLocks/>
          </p:cNvSpPr>
          <p:nvPr/>
        </p:nvSpPr>
        <p:spPr>
          <a:xfrm>
            <a:off x="508000" y="1802504"/>
            <a:ext cx="5702300" cy="39163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vi-VN" dirty="0"/>
              <a:t>A ? B</a:t>
            </a:r>
          </a:p>
          <a:p>
            <a:pPr lvl="1"/>
            <a:r>
              <a:rPr lang="vi-VN" dirty="0"/>
              <a:t>Y = A – B</a:t>
            </a:r>
          </a:p>
          <a:p>
            <a:pPr lvl="2"/>
            <a:r>
              <a:rPr lang="vi-VN" dirty="0"/>
              <a:t>Y = 0 -&gt; A = B</a:t>
            </a:r>
          </a:p>
          <a:p>
            <a:pPr lvl="2"/>
            <a:r>
              <a:rPr lang="vi-VN" dirty="0"/>
              <a:t>Y ≠ 0</a:t>
            </a:r>
          </a:p>
          <a:p>
            <a:pPr lvl="3"/>
            <a:r>
              <a:rPr lang="vi-VN" dirty="0"/>
              <a:t>Y[MSB] = 1 -&gt; A &lt; B</a:t>
            </a:r>
          </a:p>
          <a:p>
            <a:pPr lvl="3"/>
            <a:r>
              <a:rPr lang="vi-VN" dirty="0"/>
              <a:t>Y[MSB] = 0 -&gt; A &gt; B</a:t>
            </a:r>
            <a:endParaRPr lang="en-US" dirty="0"/>
          </a:p>
        </p:txBody>
      </p:sp>
    </p:spTree>
    <p:extLst>
      <p:ext uri="{BB962C8B-B14F-4D97-AF65-F5344CB8AC3E}">
        <p14:creationId xmlns:p14="http://schemas.microsoft.com/office/powerpoint/2010/main" val="77644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t>Bộ so sánh</a:t>
            </a:r>
            <a:endParaRPr lang="en-VN" dirty="0"/>
          </a:p>
        </p:txBody>
      </p:sp>
      <p:sp>
        <p:nvSpPr>
          <p:cNvPr id="8" name="Content Placeholder 2">
            <a:extLst>
              <a:ext uri="{FF2B5EF4-FFF2-40B4-BE49-F238E27FC236}">
                <a16:creationId xmlns:a16="http://schemas.microsoft.com/office/drawing/2014/main" id="{2441A886-285A-00C9-AC99-85A9D30989C6}"/>
              </a:ext>
            </a:extLst>
          </p:cNvPr>
          <p:cNvSpPr>
            <a:spLocks noGrp="1"/>
          </p:cNvSpPr>
          <p:nvPr>
            <p:ph idx="1"/>
          </p:nvPr>
        </p:nvSpPr>
        <p:spPr>
          <a:xfrm>
            <a:off x="659319" y="1253331"/>
            <a:ext cx="5702300" cy="4351338"/>
          </a:xfrm>
        </p:spPr>
        <p:txBody>
          <a:bodyPr/>
          <a:lstStyle/>
          <a:p>
            <a:r>
              <a:rPr lang="vi-VN" dirty="0"/>
              <a:t>A != 0</a:t>
            </a:r>
            <a:endParaRPr lang="en-US"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28</a:t>
            </a:fld>
            <a:endParaRPr lang="en-VN" dirty="0"/>
          </a:p>
        </p:txBody>
      </p:sp>
      <p:pic>
        <p:nvPicPr>
          <p:cNvPr id="9" name="Picture 8">
            <a:extLst>
              <a:ext uri="{FF2B5EF4-FFF2-40B4-BE49-F238E27FC236}">
                <a16:creationId xmlns:a16="http://schemas.microsoft.com/office/drawing/2014/main" id="{A007A193-3C11-5B30-FDD6-44795EA66CB0}"/>
              </a:ext>
            </a:extLst>
          </p:cNvPr>
          <p:cNvPicPr>
            <a:picLocks noChangeAspect="1"/>
          </p:cNvPicPr>
          <p:nvPr/>
        </p:nvPicPr>
        <p:blipFill>
          <a:blip r:embed="rId2"/>
          <a:stretch>
            <a:fillRect/>
          </a:stretch>
        </p:blipFill>
        <p:spPr>
          <a:xfrm>
            <a:off x="756131" y="2017459"/>
            <a:ext cx="5508675" cy="2189568"/>
          </a:xfrm>
          <a:prstGeom prst="rect">
            <a:avLst/>
          </a:prstGeom>
        </p:spPr>
      </p:pic>
      <p:sp>
        <p:nvSpPr>
          <p:cNvPr id="10" name="Content Placeholder 2">
            <a:extLst>
              <a:ext uri="{FF2B5EF4-FFF2-40B4-BE49-F238E27FC236}">
                <a16:creationId xmlns:a16="http://schemas.microsoft.com/office/drawing/2014/main" id="{01B4FE8A-27A9-9254-7650-132EDA9CCD43}"/>
              </a:ext>
            </a:extLst>
          </p:cNvPr>
          <p:cNvSpPr txBox="1">
            <a:spLocks/>
          </p:cNvSpPr>
          <p:nvPr/>
        </p:nvSpPr>
        <p:spPr>
          <a:xfrm>
            <a:off x="6361619" y="1253331"/>
            <a:ext cx="57023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Wingdings" panose="05000000000000000000" pitchFamily="2" charset="2"/>
              <a:buChar char="Ø"/>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Wingdings" panose="05000000000000000000" pitchFamily="2" charset="2"/>
              <a:buChar char="ü"/>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vi-VN" dirty="0"/>
              <a:t>A == 0</a:t>
            </a:r>
            <a:endParaRPr lang="en-US" dirty="0"/>
          </a:p>
        </p:txBody>
      </p:sp>
      <p:pic>
        <p:nvPicPr>
          <p:cNvPr id="11" name="Picture 10">
            <a:extLst>
              <a:ext uri="{FF2B5EF4-FFF2-40B4-BE49-F238E27FC236}">
                <a16:creationId xmlns:a16="http://schemas.microsoft.com/office/drawing/2014/main" id="{841EDB43-EBB7-B78B-2E84-152FF1292D59}"/>
              </a:ext>
            </a:extLst>
          </p:cNvPr>
          <p:cNvPicPr>
            <a:picLocks noChangeAspect="1"/>
          </p:cNvPicPr>
          <p:nvPr/>
        </p:nvPicPr>
        <p:blipFill>
          <a:blip r:embed="rId3"/>
          <a:stretch>
            <a:fillRect/>
          </a:stretch>
        </p:blipFill>
        <p:spPr>
          <a:xfrm>
            <a:off x="6361619" y="2017459"/>
            <a:ext cx="5496184" cy="2170907"/>
          </a:xfrm>
          <a:prstGeom prst="rect">
            <a:avLst/>
          </a:prstGeom>
        </p:spPr>
      </p:pic>
    </p:spTree>
    <p:extLst>
      <p:ext uri="{BB962C8B-B14F-4D97-AF65-F5344CB8AC3E}">
        <p14:creationId xmlns:p14="http://schemas.microsoft.com/office/powerpoint/2010/main" val="962301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29</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8526511" cy="884656"/>
          </a:xfrm>
        </p:spPr>
        <p:txBody>
          <a:bodyPr>
            <a:normAutofit/>
          </a:bodyPr>
          <a:lstStyle/>
          <a:p>
            <a:r>
              <a:rPr lang="vi-VN" dirty="0"/>
              <a:t>6. Bộ giải mã</a:t>
            </a:r>
            <a:endParaRPr lang="en-US"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endParaRPr lang="en-VN" dirty="0"/>
          </a:p>
        </p:txBody>
      </p:sp>
    </p:spTree>
    <p:extLst>
      <p:ext uri="{BB962C8B-B14F-4D97-AF65-F5344CB8AC3E}">
        <p14:creationId xmlns:p14="http://schemas.microsoft.com/office/powerpoint/2010/main" val="20470008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F82A-F147-18A6-78BF-E2C93D7F9115}"/>
              </a:ext>
            </a:extLst>
          </p:cNvPr>
          <p:cNvSpPr>
            <a:spLocks noGrp="1"/>
          </p:cNvSpPr>
          <p:nvPr>
            <p:ph type="title"/>
          </p:nvPr>
        </p:nvSpPr>
        <p:spPr/>
        <p:txBody>
          <a:bodyPr>
            <a:normAutofit fontScale="90000"/>
          </a:bodyPr>
          <a:lstStyle/>
          <a:p>
            <a:r>
              <a:rPr lang="en-VN" dirty="0"/>
              <a:t>Bộ giải mã</a:t>
            </a:r>
          </a:p>
        </p:txBody>
      </p:sp>
      <p:sp>
        <p:nvSpPr>
          <p:cNvPr id="3" name="Content Placeholder 2">
            <a:extLst>
              <a:ext uri="{FF2B5EF4-FFF2-40B4-BE49-F238E27FC236}">
                <a16:creationId xmlns:a16="http://schemas.microsoft.com/office/drawing/2014/main" id="{BB19D51A-F242-B69C-8982-DE14BC8923BA}"/>
              </a:ext>
            </a:extLst>
          </p:cNvPr>
          <p:cNvSpPr>
            <a:spLocks noGrp="1"/>
          </p:cNvSpPr>
          <p:nvPr>
            <p:ph idx="1"/>
          </p:nvPr>
        </p:nvSpPr>
        <p:spPr/>
        <p:txBody>
          <a:bodyPr>
            <a:normAutofit lnSpcReduction="10000"/>
          </a:bodyPr>
          <a:lstStyle/>
          <a:p>
            <a:pPr>
              <a:lnSpc>
                <a:spcPts val="3000"/>
              </a:lnSpc>
            </a:pPr>
            <a:r>
              <a:rPr lang="en-US" sz="2400" dirty="0" err="1"/>
              <a:t>Nhiều</a:t>
            </a:r>
            <a:r>
              <a:rPr lang="en-US" sz="2400" dirty="0"/>
              <a:t> </a:t>
            </a:r>
            <a:r>
              <a:rPr lang="en-US" sz="2400" dirty="0" err="1"/>
              <a:t>ngõ</a:t>
            </a:r>
            <a:r>
              <a:rPr lang="en-US" sz="2400" dirty="0"/>
              <a:t> </a:t>
            </a:r>
            <a:r>
              <a:rPr lang="en-US" sz="2400" dirty="0" err="1"/>
              <a:t>vào</a:t>
            </a:r>
            <a:r>
              <a:rPr lang="en-US" sz="2400" dirty="0"/>
              <a:t>/ </a:t>
            </a:r>
            <a:r>
              <a:rPr lang="en-US" sz="2400" dirty="0" err="1"/>
              <a:t>nhiều</a:t>
            </a:r>
            <a:r>
              <a:rPr lang="en-US" sz="2400" dirty="0"/>
              <a:t> </a:t>
            </a:r>
            <a:r>
              <a:rPr lang="en-US" sz="2400" dirty="0" err="1"/>
              <a:t>ngõ</a:t>
            </a:r>
            <a:r>
              <a:rPr lang="en-US" sz="2400" dirty="0"/>
              <a:t> </a:t>
            </a:r>
            <a:r>
              <a:rPr lang="en-US" sz="2400" dirty="0" err="1"/>
              <a:t>ra</a:t>
            </a:r>
            <a:endParaRPr lang="en-US" sz="2400" dirty="0"/>
          </a:p>
          <a:p>
            <a:pPr>
              <a:lnSpc>
                <a:spcPts val="3000"/>
              </a:lnSpc>
            </a:pPr>
            <a:r>
              <a:rPr lang="en-US" sz="2400" dirty="0" err="1"/>
              <a:t>Ngõ</a:t>
            </a:r>
            <a:r>
              <a:rPr lang="en-US" sz="2400" dirty="0"/>
              <a:t> </a:t>
            </a:r>
            <a:r>
              <a:rPr lang="en-US" sz="2400" dirty="0" err="1"/>
              <a:t>vào</a:t>
            </a:r>
            <a:r>
              <a:rPr lang="en-US" sz="2400" dirty="0"/>
              <a:t> (n) </a:t>
            </a:r>
            <a:r>
              <a:rPr lang="en-US" sz="2400" dirty="0" err="1"/>
              <a:t>thông</a:t>
            </a:r>
            <a:r>
              <a:rPr lang="en-US" sz="2400" dirty="0"/>
              <a:t> </a:t>
            </a:r>
            <a:r>
              <a:rPr lang="en-US" sz="2400" dirty="0" err="1"/>
              <a:t>thường</a:t>
            </a:r>
            <a:r>
              <a:rPr lang="en-US" sz="2400" dirty="0"/>
              <a:t> </a:t>
            </a:r>
            <a:r>
              <a:rPr lang="en-US" sz="2400" u="sng" dirty="0" err="1"/>
              <a:t>ít</a:t>
            </a:r>
            <a:r>
              <a:rPr lang="en-US" sz="2400" u="sng" dirty="0"/>
              <a:t> </a:t>
            </a:r>
            <a:r>
              <a:rPr lang="en-US" sz="2400" u="sng" dirty="0" err="1"/>
              <a:t>hơn</a:t>
            </a:r>
            <a:r>
              <a:rPr lang="en-US" sz="2400" dirty="0"/>
              <a:t> </a:t>
            </a:r>
            <a:r>
              <a:rPr lang="en-US" sz="2400" dirty="0" err="1"/>
              <a:t>ngõ</a:t>
            </a:r>
            <a:r>
              <a:rPr lang="en-US" sz="2400" dirty="0"/>
              <a:t> </a:t>
            </a:r>
            <a:r>
              <a:rPr lang="en-US" sz="2400" dirty="0" err="1"/>
              <a:t>ra</a:t>
            </a:r>
            <a:r>
              <a:rPr lang="en-US" sz="2400" dirty="0"/>
              <a:t> (m)</a:t>
            </a:r>
          </a:p>
          <a:p>
            <a:pPr>
              <a:lnSpc>
                <a:spcPts val="3000"/>
              </a:lnSpc>
            </a:pPr>
            <a:r>
              <a:rPr lang="en-US" sz="2400" dirty="0" err="1"/>
              <a:t>Chuyển</a:t>
            </a:r>
            <a:r>
              <a:rPr lang="en-US" sz="2400" dirty="0"/>
              <a:t> </a:t>
            </a:r>
            <a:r>
              <a:rPr lang="en-US" sz="2400" dirty="0" err="1"/>
              <a:t>mã</a:t>
            </a:r>
            <a:r>
              <a:rPr lang="en-US" sz="2400" dirty="0"/>
              <a:t> </a:t>
            </a:r>
            <a:r>
              <a:rPr lang="en-US" sz="2400" dirty="0" err="1"/>
              <a:t>ngõ</a:t>
            </a:r>
            <a:r>
              <a:rPr lang="en-US" sz="2400" dirty="0"/>
              <a:t> </a:t>
            </a:r>
            <a:r>
              <a:rPr lang="en-US" sz="2400" dirty="0" err="1"/>
              <a:t>vào</a:t>
            </a:r>
            <a:r>
              <a:rPr lang="en-US" sz="2400" dirty="0"/>
              <a:t> </a:t>
            </a:r>
            <a:r>
              <a:rPr lang="en-US" sz="2400" dirty="0" err="1"/>
              <a:t>thành</a:t>
            </a:r>
            <a:r>
              <a:rPr lang="en-US" sz="2400" dirty="0"/>
              <a:t> </a:t>
            </a:r>
            <a:r>
              <a:rPr lang="en-US" sz="2400" dirty="0" err="1"/>
              <a:t>mã</a:t>
            </a:r>
            <a:r>
              <a:rPr lang="en-US" sz="2400" dirty="0"/>
              <a:t> </a:t>
            </a:r>
            <a:r>
              <a:rPr lang="en-US" sz="2400" dirty="0" err="1"/>
              <a:t>ngõ</a:t>
            </a:r>
            <a:r>
              <a:rPr lang="en-US" sz="2400" dirty="0"/>
              <a:t> </a:t>
            </a:r>
            <a:r>
              <a:rPr lang="en-US" sz="2400" dirty="0" err="1"/>
              <a:t>ra</a:t>
            </a:r>
            <a:endParaRPr lang="en-US" sz="2400" dirty="0"/>
          </a:p>
          <a:p>
            <a:pPr>
              <a:lnSpc>
                <a:spcPts val="3000"/>
              </a:lnSpc>
            </a:pPr>
            <a:r>
              <a:rPr lang="en-US" sz="2400" b="1" dirty="0" err="1"/>
              <a:t>Ánh</a:t>
            </a:r>
            <a:r>
              <a:rPr lang="en-US" sz="2400" b="1" dirty="0"/>
              <a:t> </a:t>
            </a:r>
            <a:r>
              <a:rPr lang="en-US" sz="2400" b="1" dirty="0" err="1"/>
              <a:t>xạ</a:t>
            </a:r>
            <a:r>
              <a:rPr lang="en-US" sz="2400" b="1" dirty="0"/>
              <a:t> 1-1</a:t>
            </a:r>
            <a:r>
              <a:rPr lang="en-US" sz="2400" dirty="0"/>
              <a:t>:</a:t>
            </a:r>
          </a:p>
          <a:p>
            <a:pPr lvl="1">
              <a:lnSpc>
                <a:spcPts val="3000"/>
              </a:lnSpc>
            </a:pPr>
            <a:r>
              <a:rPr lang="en-US" dirty="0" err="1"/>
              <a:t>Mỗi</a:t>
            </a:r>
            <a:r>
              <a:rPr lang="en-US" dirty="0"/>
              <a:t> </a:t>
            </a:r>
            <a:r>
              <a:rPr lang="en-US" dirty="0" err="1"/>
              <a:t>mã</a:t>
            </a:r>
            <a:r>
              <a:rPr lang="en-US" dirty="0"/>
              <a:t> </a:t>
            </a:r>
            <a:r>
              <a:rPr lang="en-US" dirty="0" err="1"/>
              <a:t>ngõ</a:t>
            </a:r>
            <a:r>
              <a:rPr lang="en-US" dirty="0"/>
              <a:t> </a:t>
            </a:r>
            <a:r>
              <a:rPr lang="en-US" dirty="0" err="1"/>
              <a:t>vào</a:t>
            </a:r>
            <a:r>
              <a:rPr lang="en-US" dirty="0"/>
              <a:t> </a:t>
            </a:r>
            <a:r>
              <a:rPr lang="en-US" dirty="0" err="1"/>
              <a:t>chỉ</a:t>
            </a:r>
            <a:r>
              <a:rPr lang="en-US" dirty="0"/>
              <a:t> </a:t>
            </a:r>
            <a:r>
              <a:rPr lang="en-US" dirty="0" err="1"/>
              <a:t>tạo</a:t>
            </a:r>
            <a:r>
              <a:rPr lang="en-US" dirty="0"/>
              <a:t> </a:t>
            </a:r>
            <a:r>
              <a:rPr lang="en-US" dirty="0" err="1"/>
              <a:t>ra</a:t>
            </a:r>
            <a:r>
              <a:rPr lang="en-US" dirty="0"/>
              <a:t> </a:t>
            </a:r>
            <a:r>
              <a:rPr lang="en-US" dirty="0" err="1"/>
              <a:t>một</a:t>
            </a:r>
            <a:r>
              <a:rPr lang="en-US" dirty="0"/>
              <a:t> </a:t>
            </a:r>
            <a:r>
              <a:rPr lang="en-US" dirty="0" err="1"/>
              <a:t>mã</a:t>
            </a:r>
            <a:r>
              <a:rPr lang="en-US" dirty="0"/>
              <a:t> </a:t>
            </a:r>
            <a:r>
              <a:rPr lang="en-US" dirty="0" err="1"/>
              <a:t>ngõ</a:t>
            </a:r>
            <a:r>
              <a:rPr lang="en-US" dirty="0"/>
              <a:t> </a:t>
            </a:r>
            <a:r>
              <a:rPr lang="en-US" dirty="0" err="1"/>
              <a:t>ra</a:t>
            </a:r>
            <a:endParaRPr lang="en-US" dirty="0"/>
          </a:p>
          <a:p>
            <a:r>
              <a:rPr lang="en-US" dirty="0" err="1"/>
              <a:t>Các</a:t>
            </a:r>
            <a:r>
              <a:rPr lang="en-US" dirty="0"/>
              <a:t> </a:t>
            </a:r>
            <a:r>
              <a:rPr lang="en-US" dirty="0" err="1"/>
              <a:t>mã</a:t>
            </a:r>
            <a:r>
              <a:rPr lang="en-US" dirty="0"/>
              <a:t> </a:t>
            </a:r>
            <a:r>
              <a:rPr lang="en-US" dirty="0" err="1"/>
              <a:t>ngõ</a:t>
            </a:r>
            <a:r>
              <a:rPr lang="en-US" dirty="0"/>
              <a:t> </a:t>
            </a:r>
            <a:r>
              <a:rPr lang="en-US" dirty="0" err="1"/>
              <a:t>vào</a:t>
            </a:r>
            <a:r>
              <a:rPr lang="en-US" dirty="0"/>
              <a:t>:</a:t>
            </a:r>
          </a:p>
          <a:p>
            <a:pPr lvl="1"/>
            <a:r>
              <a:rPr lang="en-US" dirty="0" err="1"/>
              <a:t>Mã</a:t>
            </a:r>
            <a:r>
              <a:rPr lang="en-US" dirty="0"/>
              <a:t> </a:t>
            </a:r>
            <a:r>
              <a:rPr lang="en-US" dirty="0" err="1"/>
              <a:t>nhị</a:t>
            </a:r>
            <a:r>
              <a:rPr lang="en-US" dirty="0"/>
              <a:t> </a:t>
            </a:r>
            <a:r>
              <a:rPr lang="en-US" dirty="0" err="1"/>
              <a:t>phân</a:t>
            </a:r>
            <a:endParaRPr lang="en-US" dirty="0"/>
          </a:p>
          <a:p>
            <a:pPr lvl="1"/>
            <a:r>
              <a:rPr lang="en-US" dirty="0"/>
              <a:t>Your Code!</a:t>
            </a:r>
          </a:p>
          <a:p>
            <a:pPr>
              <a:lnSpc>
                <a:spcPts val="3000"/>
              </a:lnSpc>
            </a:pPr>
            <a:r>
              <a:rPr lang="en-US" sz="2400" dirty="0" err="1"/>
              <a:t>Các</a:t>
            </a:r>
            <a:r>
              <a:rPr lang="en-US" sz="2400" dirty="0"/>
              <a:t> </a:t>
            </a:r>
            <a:r>
              <a:rPr lang="en-US" sz="2400" dirty="0" err="1"/>
              <a:t>mã</a:t>
            </a:r>
            <a:r>
              <a:rPr lang="en-US" sz="2400" dirty="0"/>
              <a:t> </a:t>
            </a:r>
            <a:r>
              <a:rPr lang="en-US" sz="2400" dirty="0" err="1"/>
              <a:t>ngõ</a:t>
            </a:r>
            <a:r>
              <a:rPr lang="en-US" sz="2400" dirty="0"/>
              <a:t> </a:t>
            </a:r>
            <a:r>
              <a:rPr lang="en-US" sz="2400" dirty="0" err="1"/>
              <a:t>ra</a:t>
            </a:r>
            <a:r>
              <a:rPr lang="en-US" sz="2400" dirty="0"/>
              <a:t>:</a:t>
            </a:r>
          </a:p>
          <a:p>
            <a:pPr lvl="1">
              <a:lnSpc>
                <a:spcPts val="3000"/>
              </a:lnSpc>
            </a:pPr>
            <a:r>
              <a:rPr lang="en-US" dirty="0"/>
              <a:t>1-trong-m; </a:t>
            </a:r>
            <a:r>
              <a:rPr lang="en-US" sz="2200" dirty="0"/>
              <a:t>Gray Code; BCD Code</a:t>
            </a:r>
          </a:p>
          <a:p>
            <a:endParaRPr lang="en-VN" dirty="0"/>
          </a:p>
        </p:txBody>
      </p:sp>
      <p:sp>
        <p:nvSpPr>
          <p:cNvPr id="4" name="Footer Placeholder 3">
            <a:extLst>
              <a:ext uri="{FF2B5EF4-FFF2-40B4-BE49-F238E27FC236}">
                <a16:creationId xmlns:a16="http://schemas.microsoft.com/office/drawing/2014/main" id="{8FB3112D-6331-066D-C9BB-1E16B962423F}"/>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5" name="Date Placeholder 4">
            <a:extLst>
              <a:ext uri="{FF2B5EF4-FFF2-40B4-BE49-F238E27FC236}">
                <a16:creationId xmlns:a16="http://schemas.microsoft.com/office/drawing/2014/main" id="{CA97EBD7-9ED9-3D68-4B0C-5080EE8AD998}"/>
              </a:ext>
            </a:extLst>
          </p:cNvPr>
          <p:cNvSpPr>
            <a:spLocks noGrp="1"/>
          </p:cNvSpPr>
          <p:nvPr>
            <p:ph type="dt" sz="half" idx="13"/>
          </p:nvPr>
        </p:nvSpPr>
        <p:spPr/>
        <p:txBody>
          <a:bodyPr/>
          <a:lstStyle/>
          <a:p>
            <a:fld id="{46CDDB1B-AAE9-1649-A755-11FADEB7E97E}" type="datetime4">
              <a:rPr lang="en-US" smtClean="0"/>
              <a:t>September 4, 2023</a:t>
            </a:fld>
            <a:endParaRPr lang="en-VN"/>
          </a:p>
        </p:txBody>
      </p:sp>
      <p:sp>
        <p:nvSpPr>
          <p:cNvPr id="6" name="Slide Number Placeholder 5">
            <a:extLst>
              <a:ext uri="{FF2B5EF4-FFF2-40B4-BE49-F238E27FC236}">
                <a16:creationId xmlns:a16="http://schemas.microsoft.com/office/drawing/2014/main" id="{E7A303EF-F55F-7883-7B73-324BF5994657}"/>
              </a:ext>
            </a:extLst>
          </p:cNvPr>
          <p:cNvSpPr>
            <a:spLocks noGrp="1"/>
          </p:cNvSpPr>
          <p:nvPr>
            <p:ph type="sldNum" sz="quarter" idx="12"/>
          </p:nvPr>
        </p:nvSpPr>
        <p:spPr/>
        <p:txBody>
          <a:bodyPr/>
          <a:lstStyle/>
          <a:p>
            <a:fld id="{D8B0B3AC-44A8-D142-AAF6-9A453466E1A4}" type="slidenum">
              <a:rPr lang="en-VN" smtClean="0"/>
              <a:t>30</a:t>
            </a:fld>
            <a:endParaRPr lang="en-VN"/>
          </a:p>
        </p:txBody>
      </p:sp>
      <p:graphicFrame>
        <p:nvGraphicFramePr>
          <p:cNvPr id="7" name="Object 24">
            <a:extLst>
              <a:ext uri="{FF2B5EF4-FFF2-40B4-BE49-F238E27FC236}">
                <a16:creationId xmlns:a16="http://schemas.microsoft.com/office/drawing/2014/main" id="{4BDF6878-3A04-8D9C-42A7-7404E33B04E5}"/>
              </a:ext>
            </a:extLst>
          </p:cNvPr>
          <p:cNvGraphicFramePr>
            <a:graphicFrameLocks noChangeAspect="1"/>
          </p:cNvGraphicFramePr>
          <p:nvPr>
            <p:extLst>
              <p:ext uri="{D42A27DB-BD31-4B8C-83A1-F6EECF244321}">
                <p14:modId xmlns:p14="http://schemas.microsoft.com/office/powerpoint/2010/main" val="4154402234"/>
              </p:ext>
            </p:extLst>
          </p:nvPr>
        </p:nvGraphicFramePr>
        <p:xfrm>
          <a:off x="6720370" y="3570288"/>
          <a:ext cx="4495800" cy="2606675"/>
        </p:xfrm>
        <a:graphic>
          <a:graphicData uri="http://schemas.openxmlformats.org/presentationml/2006/ole">
            <mc:AlternateContent xmlns:mc="http://schemas.openxmlformats.org/markup-compatibility/2006">
              <mc:Choice xmlns:v="urn:schemas-microsoft-com:vml" Requires="v">
                <p:oleObj name="Artwork" r:id="rId2" imgW="2991268" imgH="1733333" progId="">
                  <p:embed/>
                </p:oleObj>
              </mc:Choice>
              <mc:Fallback>
                <p:oleObj name="Artwork" r:id="rId2" imgW="2991268" imgH="1733333" progId="">
                  <p:embed/>
                  <p:pic>
                    <p:nvPicPr>
                      <p:cNvPr id="1026" name="Object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0370" y="3570288"/>
                        <a:ext cx="4495800" cy="26066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6392436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a:xfrm>
            <a:off x="838200" y="180867"/>
            <a:ext cx="10515600" cy="895682"/>
          </a:xfrm>
        </p:spPr>
        <p:txBody>
          <a:bodyPr/>
          <a:lstStyle/>
          <a:p>
            <a:r>
              <a:rPr lang="vi-VN" dirty="0"/>
              <a:t>Bộ giải mã nhị phân</a:t>
            </a:r>
            <a:endParaRPr lang="en-US"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445937" y="1012616"/>
            <a:ext cx="10515600" cy="5160527"/>
          </a:xfrm>
        </p:spPr>
        <p:txBody>
          <a:bodyPr>
            <a:noAutofit/>
          </a:bodyPr>
          <a:lstStyle/>
          <a:p>
            <a:r>
              <a:rPr lang="en-US" dirty="0"/>
              <a:t>Bộ </a:t>
            </a:r>
            <a:r>
              <a:rPr lang="en-US" dirty="0" err="1"/>
              <a:t>giải</a:t>
            </a:r>
            <a:r>
              <a:rPr lang="en-US" dirty="0"/>
              <a:t> </a:t>
            </a:r>
            <a:r>
              <a:rPr lang="en-US" dirty="0" err="1"/>
              <a:t>mã</a:t>
            </a:r>
            <a:r>
              <a:rPr lang="en-US" dirty="0"/>
              <a:t> </a:t>
            </a:r>
            <a:r>
              <a:rPr lang="en-US" dirty="0" err="1"/>
              <a:t>nhị</a:t>
            </a:r>
            <a:r>
              <a:rPr lang="en-US" dirty="0"/>
              <a:t> </a:t>
            </a:r>
            <a:r>
              <a:rPr lang="en-US" dirty="0" err="1"/>
              <a:t>phân</a:t>
            </a:r>
            <a:r>
              <a:rPr lang="vi-VN" dirty="0"/>
              <a:t> </a:t>
            </a:r>
            <a:r>
              <a:rPr lang="en-US" dirty="0" err="1"/>
              <a:t>là</a:t>
            </a:r>
            <a:r>
              <a:rPr lang="en-US" dirty="0"/>
              <a:t> </a:t>
            </a:r>
            <a:r>
              <a:rPr lang="en-US" dirty="0" err="1"/>
              <a:t>một</a:t>
            </a:r>
            <a:r>
              <a:rPr lang="en-US" dirty="0"/>
              <a:t> </a:t>
            </a:r>
            <a:r>
              <a:rPr lang="en-US" dirty="0" err="1"/>
              <a:t>mạch</a:t>
            </a:r>
            <a:r>
              <a:rPr lang="en-US" dirty="0"/>
              <a:t> </a:t>
            </a:r>
            <a:r>
              <a:rPr lang="en-US" dirty="0" err="1"/>
              <a:t>tổ</a:t>
            </a:r>
            <a:r>
              <a:rPr lang="en-US" dirty="0"/>
              <a:t> </a:t>
            </a:r>
            <a:r>
              <a:rPr lang="en-US" dirty="0" err="1"/>
              <a:t>hợp</a:t>
            </a:r>
            <a:r>
              <a:rPr lang="en-US" dirty="0"/>
              <a:t> </a:t>
            </a:r>
            <a:r>
              <a:rPr lang="en-US" dirty="0" err="1"/>
              <a:t>có</a:t>
            </a:r>
            <a:r>
              <a:rPr lang="en-US" dirty="0"/>
              <a:t> </a:t>
            </a:r>
            <a:r>
              <a:rPr lang="en-US" dirty="0" err="1"/>
              <a:t>chức</a:t>
            </a:r>
            <a:r>
              <a:rPr lang="en-US" dirty="0"/>
              <a:t> </a:t>
            </a:r>
            <a:r>
              <a:rPr lang="en-US" dirty="0" err="1"/>
              <a:t>năng</a:t>
            </a:r>
            <a:r>
              <a:rPr lang="en-US" dirty="0"/>
              <a:t> </a:t>
            </a:r>
            <a:r>
              <a:rPr lang="en-US" dirty="0" err="1"/>
              <a:t>chuyển</a:t>
            </a:r>
            <a:r>
              <a:rPr lang="en-US" dirty="0"/>
              <a:t> </a:t>
            </a:r>
            <a:r>
              <a:rPr lang="vi-VN" dirty="0"/>
              <a:t>thông tin </a:t>
            </a:r>
            <a:r>
              <a:rPr lang="en-US" dirty="0" err="1"/>
              <a:t>nhị</a:t>
            </a:r>
            <a:r>
              <a:rPr lang="en-US" dirty="0"/>
              <a:t> </a:t>
            </a:r>
            <a:r>
              <a:rPr lang="en-US" dirty="0" err="1"/>
              <a:t>phân</a:t>
            </a:r>
            <a:r>
              <a:rPr lang="en-US" dirty="0"/>
              <a:t> </a:t>
            </a:r>
            <a:r>
              <a:rPr lang="en-US" dirty="0" err="1"/>
              <a:t>từ</a:t>
            </a:r>
            <a:r>
              <a:rPr lang="en-US" dirty="0"/>
              <a:t> </a:t>
            </a:r>
            <a:r>
              <a:rPr lang="en-US" dirty="0" err="1"/>
              <a:t>các</a:t>
            </a:r>
            <a:r>
              <a:rPr lang="en-US" dirty="0"/>
              <a:t> </a:t>
            </a:r>
            <a:r>
              <a:rPr lang="en-US" dirty="0" err="1"/>
              <a:t>ngõ</a:t>
            </a:r>
            <a:r>
              <a:rPr lang="en-US" dirty="0"/>
              <a:t> </a:t>
            </a:r>
            <a:r>
              <a:rPr lang="en-US" dirty="0" err="1"/>
              <a:t>vào</a:t>
            </a:r>
            <a:r>
              <a:rPr lang="en-US" dirty="0"/>
              <a:t> </a:t>
            </a:r>
            <a:r>
              <a:rPr lang="en-US" dirty="0" err="1"/>
              <a:t>tới</a:t>
            </a:r>
            <a:r>
              <a:rPr lang="en-US" dirty="0"/>
              <a:t> </a:t>
            </a:r>
            <a:r>
              <a:rPr lang="en-US" dirty="0" err="1"/>
              <a:t>từng</a:t>
            </a:r>
            <a:r>
              <a:rPr lang="en-US" dirty="0"/>
              <a:t> </a:t>
            </a:r>
            <a:r>
              <a:rPr lang="en-US" dirty="0" err="1"/>
              <a:t>ngõ</a:t>
            </a:r>
            <a:r>
              <a:rPr lang="en-US" dirty="0"/>
              <a:t> </a:t>
            </a:r>
            <a:r>
              <a:rPr lang="en-US" dirty="0" err="1"/>
              <a:t>ra</a:t>
            </a:r>
            <a:endParaRPr lang="en-US" sz="2400" dirty="0"/>
          </a:p>
          <a:p>
            <a:pPr lvl="1"/>
            <a:r>
              <a:rPr lang="en-US" dirty="0" err="1"/>
              <a:t>Mã</a:t>
            </a:r>
            <a:r>
              <a:rPr lang="en-US" dirty="0"/>
              <a:t> </a:t>
            </a:r>
            <a:r>
              <a:rPr lang="en-US" dirty="0" err="1"/>
              <a:t>đầu</a:t>
            </a:r>
            <a:r>
              <a:rPr lang="en-US" dirty="0"/>
              <a:t> </a:t>
            </a:r>
            <a:r>
              <a:rPr lang="en-US" dirty="0" err="1"/>
              <a:t>vào</a:t>
            </a:r>
            <a:r>
              <a:rPr lang="en-US" dirty="0"/>
              <a:t>: n bit </a:t>
            </a:r>
            <a:r>
              <a:rPr lang="en-US" dirty="0" err="1"/>
              <a:t>nhị</a:t>
            </a:r>
            <a:r>
              <a:rPr lang="en-US" dirty="0"/>
              <a:t> </a:t>
            </a:r>
            <a:r>
              <a:rPr lang="en-US" dirty="0" err="1"/>
              <a:t>phân</a:t>
            </a:r>
            <a:endParaRPr lang="en-US" dirty="0"/>
          </a:p>
          <a:p>
            <a:pPr lvl="1"/>
            <a:r>
              <a:rPr lang="en-US" dirty="0" err="1"/>
              <a:t>Mã</a:t>
            </a:r>
            <a:r>
              <a:rPr lang="en-US" dirty="0"/>
              <a:t> </a:t>
            </a:r>
            <a:r>
              <a:rPr lang="en-US" dirty="0" err="1"/>
              <a:t>đầu</a:t>
            </a:r>
            <a:r>
              <a:rPr lang="en-US" dirty="0"/>
              <a:t> </a:t>
            </a:r>
            <a:r>
              <a:rPr lang="en-US" dirty="0" err="1"/>
              <a:t>ra</a:t>
            </a:r>
            <a:r>
              <a:rPr lang="en-US" dirty="0"/>
              <a:t>: 1-trong-2</a:t>
            </a:r>
            <a:r>
              <a:rPr lang="en-US" baseline="30000" dirty="0"/>
              <a:t>n</a:t>
            </a:r>
          </a:p>
          <a:p>
            <a:pPr lvl="1"/>
            <a:r>
              <a:rPr lang="en-US" sz="2400" dirty="0" err="1"/>
              <a:t>Ví</a:t>
            </a:r>
            <a:r>
              <a:rPr lang="en-US" sz="2400" dirty="0"/>
              <a:t> </a:t>
            </a:r>
            <a:r>
              <a:rPr lang="en-US" sz="2400" dirty="0" err="1"/>
              <a:t>dụ</a:t>
            </a:r>
            <a:r>
              <a:rPr lang="en-US" sz="2400" dirty="0"/>
              <a:t>: n=2,  </a:t>
            </a:r>
            <a:r>
              <a:rPr lang="en-US" sz="2400" dirty="0" err="1"/>
              <a:t>mạch</a:t>
            </a:r>
            <a:r>
              <a:rPr lang="en-US" sz="2400" dirty="0"/>
              <a:t> </a:t>
            </a:r>
            <a:r>
              <a:rPr lang="en-US" sz="2400" dirty="0" err="1"/>
              <a:t>giải</a:t>
            </a:r>
            <a:r>
              <a:rPr lang="en-US" sz="2400" dirty="0"/>
              <a:t> </a:t>
            </a:r>
            <a:r>
              <a:rPr lang="en-US" sz="2400" dirty="0" err="1"/>
              <a:t>mã</a:t>
            </a:r>
            <a:r>
              <a:rPr lang="en-US" sz="2400" dirty="0"/>
              <a:t> 2-ra-4</a:t>
            </a:r>
            <a:endParaRPr lang="en-US" baseline="30000" dirty="0"/>
          </a:p>
          <a:p>
            <a:endParaRPr lang="en-US" dirty="0"/>
          </a:p>
          <a:p>
            <a:pPr marL="304800" indent="-304800" eaLnBrk="1" hangingPunct="1">
              <a:spcBef>
                <a:spcPct val="0"/>
              </a:spcBef>
            </a:pPr>
            <a:endParaRPr lang="en-US" b="1"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31</a:t>
            </a:fld>
            <a:endParaRPr lang="en-VN" dirty="0"/>
          </a:p>
        </p:txBody>
      </p:sp>
      <p:graphicFrame>
        <p:nvGraphicFramePr>
          <p:cNvPr id="6" name="Table 5">
            <a:extLst>
              <a:ext uri="{FF2B5EF4-FFF2-40B4-BE49-F238E27FC236}">
                <a16:creationId xmlns:a16="http://schemas.microsoft.com/office/drawing/2014/main" id="{E543DCEB-C059-D34F-9C36-F90165B57A3F}"/>
              </a:ext>
            </a:extLst>
          </p:cNvPr>
          <p:cNvGraphicFramePr>
            <a:graphicFrameLocks noGrp="1"/>
          </p:cNvGraphicFramePr>
          <p:nvPr>
            <p:extLst>
              <p:ext uri="{D42A27DB-BD31-4B8C-83A1-F6EECF244321}">
                <p14:modId xmlns:p14="http://schemas.microsoft.com/office/powerpoint/2010/main" val="2401209388"/>
              </p:ext>
            </p:extLst>
          </p:nvPr>
        </p:nvGraphicFramePr>
        <p:xfrm>
          <a:off x="2960537" y="3944193"/>
          <a:ext cx="2743200" cy="2286000"/>
        </p:xfrm>
        <a:graphic>
          <a:graphicData uri="http://schemas.openxmlformats.org/drawingml/2006/table">
            <a:tbl>
              <a:tblPr firstRow="1" firstCol="1" bandRow="1">
                <a:tableStyleId>{5940675A-B579-460E-94D1-54222C63F5DA}</a:tableStyleId>
              </a:tblPr>
              <a:tblGrid>
                <a:gridCol w="457200">
                  <a:extLst>
                    <a:ext uri="{9D8B030D-6E8A-4147-A177-3AD203B41FA5}">
                      <a16:colId xmlns:a16="http://schemas.microsoft.com/office/drawing/2014/main" val="1800605150"/>
                    </a:ext>
                  </a:extLst>
                </a:gridCol>
                <a:gridCol w="457200">
                  <a:extLst>
                    <a:ext uri="{9D8B030D-6E8A-4147-A177-3AD203B41FA5}">
                      <a16:colId xmlns:a16="http://schemas.microsoft.com/office/drawing/2014/main" val="569009281"/>
                    </a:ext>
                  </a:extLst>
                </a:gridCol>
                <a:gridCol w="457200">
                  <a:extLst>
                    <a:ext uri="{9D8B030D-6E8A-4147-A177-3AD203B41FA5}">
                      <a16:colId xmlns:a16="http://schemas.microsoft.com/office/drawing/2014/main" val="1297757483"/>
                    </a:ext>
                  </a:extLst>
                </a:gridCol>
                <a:gridCol w="457200">
                  <a:extLst>
                    <a:ext uri="{9D8B030D-6E8A-4147-A177-3AD203B41FA5}">
                      <a16:colId xmlns:a16="http://schemas.microsoft.com/office/drawing/2014/main" val="3912047898"/>
                    </a:ext>
                  </a:extLst>
                </a:gridCol>
                <a:gridCol w="457200">
                  <a:extLst>
                    <a:ext uri="{9D8B030D-6E8A-4147-A177-3AD203B41FA5}">
                      <a16:colId xmlns:a16="http://schemas.microsoft.com/office/drawing/2014/main" val="658630867"/>
                    </a:ext>
                  </a:extLst>
                </a:gridCol>
                <a:gridCol w="457200">
                  <a:extLst>
                    <a:ext uri="{9D8B030D-6E8A-4147-A177-3AD203B41FA5}">
                      <a16:colId xmlns:a16="http://schemas.microsoft.com/office/drawing/2014/main" val="3030560673"/>
                    </a:ext>
                  </a:extLst>
                </a:gridCol>
              </a:tblGrid>
              <a:tr h="457200">
                <a:tc>
                  <a:txBody>
                    <a:bodyPr/>
                    <a:lstStyle/>
                    <a:p>
                      <a:pPr marL="0" marR="0" algn="ctr">
                        <a:lnSpc>
                          <a:spcPct val="125000"/>
                        </a:lnSpc>
                        <a:spcBef>
                          <a:spcPts val="600"/>
                        </a:spcBef>
                        <a:spcAft>
                          <a:spcPts val="0"/>
                        </a:spcAft>
                      </a:pPr>
                      <a:r>
                        <a:rPr lang="en-US" sz="2200" spc="-20" dirty="0">
                          <a:effectLst/>
                          <a:latin typeface="Times New Roman (Headings)"/>
                        </a:rPr>
                        <a:t>I1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I0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Z3</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Z2</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Z1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Z0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00338198"/>
                  </a:ext>
                </a:extLst>
              </a:tr>
              <a:tr h="457200">
                <a:tc>
                  <a:txBody>
                    <a:bodyPr/>
                    <a:lstStyle/>
                    <a:p>
                      <a:pPr marL="0" marR="0" algn="ctr">
                        <a:lnSpc>
                          <a:spcPct val="125000"/>
                        </a:lnSpc>
                        <a:spcBef>
                          <a:spcPts val="600"/>
                        </a:spcBef>
                        <a:spcAft>
                          <a:spcPts val="0"/>
                        </a:spcAft>
                      </a:pPr>
                      <a:r>
                        <a:rPr lang="vi-VN"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0 </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0 </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0 </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64389109"/>
                  </a:ext>
                </a:extLst>
              </a:tr>
              <a:tr h="457200">
                <a:tc>
                  <a:txBody>
                    <a:bodyPr/>
                    <a:lstStyle/>
                    <a:p>
                      <a:pPr marL="0" marR="0" algn="ctr">
                        <a:lnSpc>
                          <a:spcPct val="125000"/>
                        </a:lnSpc>
                        <a:spcBef>
                          <a:spcPts val="600"/>
                        </a:spcBef>
                        <a:spcAft>
                          <a:spcPts val="0"/>
                        </a:spcAft>
                      </a:pPr>
                      <a:r>
                        <a:rPr lang="vi-VN"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0 </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0 </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0 </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18584570"/>
                  </a:ext>
                </a:extLst>
              </a:tr>
              <a:tr h="457200">
                <a:tc>
                  <a:txBody>
                    <a:bodyPr/>
                    <a:lstStyle/>
                    <a:p>
                      <a:pPr marL="0" marR="0" algn="ctr">
                        <a:lnSpc>
                          <a:spcPct val="125000"/>
                        </a:lnSpc>
                        <a:spcBef>
                          <a:spcPts val="600"/>
                        </a:spcBef>
                        <a:spcAft>
                          <a:spcPts val="0"/>
                        </a:spcAft>
                      </a:pPr>
                      <a:r>
                        <a:rPr lang="vi-VN"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86370512"/>
                  </a:ext>
                </a:extLst>
              </a:tr>
              <a:tr h="457200">
                <a:tc>
                  <a:txBody>
                    <a:bodyPr/>
                    <a:lstStyle/>
                    <a:p>
                      <a:pPr marL="0" marR="0" algn="ctr">
                        <a:lnSpc>
                          <a:spcPct val="125000"/>
                        </a:lnSpc>
                        <a:spcBef>
                          <a:spcPts val="600"/>
                        </a:spcBef>
                        <a:spcAft>
                          <a:spcPts val="0"/>
                        </a:spcAft>
                      </a:pPr>
                      <a:r>
                        <a:rPr lang="vi-VN"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0 </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10722277"/>
                  </a:ext>
                </a:extLst>
              </a:tr>
            </a:tbl>
          </a:graphicData>
        </a:graphic>
      </p:graphicFrame>
      <p:pic>
        <p:nvPicPr>
          <p:cNvPr id="7" name="Picture 6">
            <a:extLst>
              <a:ext uri="{FF2B5EF4-FFF2-40B4-BE49-F238E27FC236}">
                <a16:creationId xmlns:a16="http://schemas.microsoft.com/office/drawing/2014/main" id="{03098C8E-2D4B-764A-82E3-3B01F146672B}"/>
              </a:ext>
            </a:extLst>
          </p:cNvPr>
          <p:cNvPicPr>
            <a:picLocks noChangeAspect="1"/>
          </p:cNvPicPr>
          <p:nvPr/>
        </p:nvPicPr>
        <p:blipFill>
          <a:blip r:embed="rId3"/>
          <a:stretch>
            <a:fillRect/>
          </a:stretch>
        </p:blipFill>
        <p:spPr>
          <a:xfrm>
            <a:off x="536274" y="3944193"/>
            <a:ext cx="1714500" cy="2286000"/>
          </a:xfrm>
          <a:prstGeom prst="rect">
            <a:avLst/>
          </a:prstGeom>
        </p:spPr>
      </p:pic>
      <p:pic>
        <p:nvPicPr>
          <p:cNvPr id="8" name="Picture 7">
            <a:extLst>
              <a:ext uri="{FF2B5EF4-FFF2-40B4-BE49-F238E27FC236}">
                <a16:creationId xmlns:a16="http://schemas.microsoft.com/office/drawing/2014/main" id="{319C9628-EAFE-B69A-C7C8-83E06E9B64E8}"/>
              </a:ext>
            </a:extLst>
          </p:cNvPr>
          <p:cNvPicPr>
            <a:picLocks noChangeAspect="1"/>
          </p:cNvPicPr>
          <p:nvPr/>
        </p:nvPicPr>
        <p:blipFill>
          <a:blip r:embed="rId4"/>
          <a:stretch>
            <a:fillRect/>
          </a:stretch>
        </p:blipFill>
        <p:spPr>
          <a:xfrm>
            <a:off x="6096000" y="3944193"/>
            <a:ext cx="1960927" cy="2286000"/>
          </a:xfrm>
          <a:prstGeom prst="rect">
            <a:avLst/>
          </a:prstGeom>
        </p:spPr>
      </p:pic>
      <p:graphicFrame>
        <p:nvGraphicFramePr>
          <p:cNvPr id="9" name="Table 8">
            <a:extLst>
              <a:ext uri="{FF2B5EF4-FFF2-40B4-BE49-F238E27FC236}">
                <a16:creationId xmlns:a16="http://schemas.microsoft.com/office/drawing/2014/main" id="{BB1DC77F-CEA0-F80B-4828-A17E66DD2A68}"/>
              </a:ext>
            </a:extLst>
          </p:cNvPr>
          <p:cNvGraphicFramePr>
            <a:graphicFrameLocks noGrp="1"/>
          </p:cNvGraphicFramePr>
          <p:nvPr>
            <p:extLst>
              <p:ext uri="{D42A27DB-BD31-4B8C-83A1-F6EECF244321}">
                <p14:modId xmlns:p14="http://schemas.microsoft.com/office/powerpoint/2010/main" val="1569324707"/>
              </p:ext>
            </p:extLst>
          </p:nvPr>
        </p:nvGraphicFramePr>
        <p:xfrm>
          <a:off x="8305316" y="3715593"/>
          <a:ext cx="3660958" cy="2743200"/>
        </p:xfrm>
        <a:graphic>
          <a:graphicData uri="http://schemas.openxmlformats.org/drawingml/2006/table">
            <a:tbl>
              <a:tblPr firstRow="1" firstCol="1" bandRow="1">
                <a:tableStyleId>{5940675A-B579-460E-94D1-54222C63F5DA}</a:tableStyleId>
              </a:tblPr>
              <a:tblGrid>
                <a:gridCol w="522994">
                  <a:extLst>
                    <a:ext uri="{9D8B030D-6E8A-4147-A177-3AD203B41FA5}">
                      <a16:colId xmlns:a16="http://schemas.microsoft.com/office/drawing/2014/main" val="665931830"/>
                    </a:ext>
                  </a:extLst>
                </a:gridCol>
                <a:gridCol w="522994">
                  <a:extLst>
                    <a:ext uri="{9D8B030D-6E8A-4147-A177-3AD203B41FA5}">
                      <a16:colId xmlns:a16="http://schemas.microsoft.com/office/drawing/2014/main" val="569908933"/>
                    </a:ext>
                  </a:extLst>
                </a:gridCol>
                <a:gridCol w="522994">
                  <a:extLst>
                    <a:ext uri="{9D8B030D-6E8A-4147-A177-3AD203B41FA5}">
                      <a16:colId xmlns:a16="http://schemas.microsoft.com/office/drawing/2014/main" val="1494405363"/>
                    </a:ext>
                  </a:extLst>
                </a:gridCol>
                <a:gridCol w="522994">
                  <a:extLst>
                    <a:ext uri="{9D8B030D-6E8A-4147-A177-3AD203B41FA5}">
                      <a16:colId xmlns:a16="http://schemas.microsoft.com/office/drawing/2014/main" val="742763489"/>
                    </a:ext>
                  </a:extLst>
                </a:gridCol>
                <a:gridCol w="522994">
                  <a:extLst>
                    <a:ext uri="{9D8B030D-6E8A-4147-A177-3AD203B41FA5}">
                      <a16:colId xmlns:a16="http://schemas.microsoft.com/office/drawing/2014/main" val="3648232066"/>
                    </a:ext>
                  </a:extLst>
                </a:gridCol>
                <a:gridCol w="522994">
                  <a:extLst>
                    <a:ext uri="{9D8B030D-6E8A-4147-A177-3AD203B41FA5}">
                      <a16:colId xmlns:a16="http://schemas.microsoft.com/office/drawing/2014/main" val="4112543514"/>
                    </a:ext>
                  </a:extLst>
                </a:gridCol>
                <a:gridCol w="522994">
                  <a:extLst>
                    <a:ext uri="{9D8B030D-6E8A-4147-A177-3AD203B41FA5}">
                      <a16:colId xmlns:a16="http://schemas.microsoft.com/office/drawing/2014/main" val="4119345581"/>
                    </a:ext>
                  </a:extLst>
                </a:gridCol>
              </a:tblGrid>
              <a:tr h="457200">
                <a:tc>
                  <a:txBody>
                    <a:bodyPr/>
                    <a:lstStyle/>
                    <a:p>
                      <a:pPr marL="0" marR="0" algn="ctr">
                        <a:lnSpc>
                          <a:spcPct val="125000"/>
                        </a:lnSpc>
                        <a:spcBef>
                          <a:spcPts val="600"/>
                        </a:spcBef>
                        <a:spcAft>
                          <a:spcPts val="0"/>
                        </a:spcAft>
                      </a:pPr>
                      <a:r>
                        <a:rPr lang="en-US" sz="2200" spc="-20" dirty="0">
                          <a:effectLst/>
                          <a:latin typeface="Times New Roman (Headings)"/>
                        </a:rPr>
                        <a:t>EN</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I1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I0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Z3</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Z2</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Z1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Z0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90825109"/>
                  </a:ext>
                </a:extLst>
              </a:tr>
              <a:tr h="457200">
                <a:tc>
                  <a:txBody>
                    <a:bodyPr/>
                    <a:lstStyle/>
                    <a:p>
                      <a:pPr marL="0" marR="0" algn="ctr">
                        <a:lnSpc>
                          <a:spcPct val="125000"/>
                        </a:lnSpc>
                        <a:spcBef>
                          <a:spcPts val="600"/>
                        </a:spcBef>
                        <a:spcAft>
                          <a:spcPts val="0"/>
                        </a:spcAft>
                      </a:pPr>
                      <a:r>
                        <a:rPr lang="en-US"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X</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X</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9112964"/>
                  </a:ext>
                </a:extLst>
              </a:tr>
              <a:tr h="457200">
                <a:tc>
                  <a:txBody>
                    <a:bodyPr/>
                    <a:lstStyle/>
                    <a:p>
                      <a:pPr marL="0" marR="0" algn="ctr">
                        <a:lnSpc>
                          <a:spcPct val="125000"/>
                        </a:lnSpc>
                        <a:spcBef>
                          <a:spcPts val="600"/>
                        </a:spcBef>
                        <a:spcAft>
                          <a:spcPts val="0"/>
                        </a:spcAft>
                      </a:pPr>
                      <a:r>
                        <a:rPr lang="en-US" sz="2200" spc="-20" dirty="0">
                          <a:effectLst/>
                          <a:latin typeface="Times New Roman (Headings)"/>
                        </a:rPr>
                        <a:t>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0 </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0 </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14047533"/>
                  </a:ext>
                </a:extLst>
              </a:tr>
              <a:tr h="457200">
                <a:tc>
                  <a:txBody>
                    <a:bodyPr/>
                    <a:lstStyle/>
                    <a:p>
                      <a:pPr marL="0" marR="0" algn="ctr">
                        <a:lnSpc>
                          <a:spcPct val="125000"/>
                        </a:lnSpc>
                        <a:spcBef>
                          <a:spcPts val="600"/>
                        </a:spcBef>
                        <a:spcAft>
                          <a:spcPts val="0"/>
                        </a:spcAft>
                      </a:pPr>
                      <a:r>
                        <a:rPr lang="en-US"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0 </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29612162"/>
                  </a:ext>
                </a:extLst>
              </a:tr>
              <a:tr h="457200">
                <a:tc>
                  <a:txBody>
                    <a:bodyPr/>
                    <a:lstStyle/>
                    <a:p>
                      <a:pPr marL="0" marR="0" algn="ctr">
                        <a:lnSpc>
                          <a:spcPct val="125000"/>
                        </a:lnSpc>
                        <a:spcBef>
                          <a:spcPts val="600"/>
                        </a:spcBef>
                        <a:spcAft>
                          <a:spcPts val="0"/>
                        </a:spcAft>
                      </a:pPr>
                      <a:r>
                        <a:rPr lang="en-US"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31390104"/>
                  </a:ext>
                </a:extLst>
              </a:tr>
              <a:tr h="457200">
                <a:tc>
                  <a:txBody>
                    <a:bodyPr/>
                    <a:lstStyle/>
                    <a:p>
                      <a:pPr marL="0" marR="0" algn="ctr">
                        <a:lnSpc>
                          <a:spcPct val="125000"/>
                        </a:lnSpc>
                        <a:spcBef>
                          <a:spcPts val="600"/>
                        </a:spcBef>
                        <a:spcAft>
                          <a:spcPts val="0"/>
                        </a:spcAft>
                      </a:pPr>
                      <a:r>
                        <a:rPr lang="en-US"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0 </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50290164"/>
                  </a:ext>
                </a:extLst>
              </a:tr>
            </a:tbl>
          </a:graphicData>
        </a:graphic>
      </p:graphicFrame>
      <p:sp>
        <p:nvSpPr>
          <p:cNvPr id="10" name="Text Box 1049">
            <a:extLst>
              <a:ext uri="{FF2B5EF4-FFF2-40B4-BE49-F238E27FC236}">
                <a16:creationId xmlns:a16="http://schemas.microsoft.com/office/drawing/2014/main" id="{BB89A905-1EAB-18D7-18B1-A2EB0F121DA3}"/>
              </a:ext>
            </a:extLst>
          </p:cNvPr>
          <p:cNvSpPr txBox="1">
            <a:spLocks noChangeArrowheads="1"/>
          </p:cNvSpPr>
          <p:nvPr/>
        </p:nvSpPr>
        <p:spPr bwMode="auto">
          <a:xfrm>
            <a:off x="6828308" y="2835821"/>
            <a:ext cx="5250155"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400" dirty="0" err="1">
                <a:latin typeface="Arial" panose="020B0604020202020204" pitchFamily="34" charset="0"/>
                <a:cs typeface="Arial" panose="020B0604020202020204" pitchFamily="34" charset="0"/>
              </a:rPr>
              <a:t>Chú</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ý</a:t>
            </a:r>
            <a:r>
              <a:rPr lang="en-US" sz="2400" dirty="0">
                <a:latin typeface="Arial" panose="020B0604020202020204" pitchFamily="34" charset="0"/>
                <a:cs typeface="Arial" panose="020B0604020202020204" pitchFamily="34" charset="0"/>
              </a:rPr>
              <a:t> “x” (</a:t>
            </a:r>
            <a:r>
              <a:rPr lang="en-US" sz="2400" dirty="0" err="1">
                <a:latin typeface="Arial" panose="020B0604020202020204" pitchFamily="34" charset="0"/>
                <a:cs typeface="Arial" panose="020B0604020202020204" pitchFamily="34" charset="0"/>
              </a:rPr>
              <a:t>kí</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hiệu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ngõ</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vào</a:t>
            </a:r>
            <a:r>
              <a:rPr lang="en-US" sz="2400" dirty="0">
                <a:latin typeface="Arial" panose="020B0604020202020204" pitchFamily="34" charset="0"/>
                <a:cs typeface="Arial" panose="020B0604020202020204" pitchFamily="34" charset="0"/>
              </a:rPr>
              <a:t> don’t care)</a:t>
            </a:r>
          </a:p>
        </p:txBody>
      </p:sp>
    </p:spTree>
    <p:extLst>
      <p:ext uri="{BB962C8B-B14F-4D97-AF65-F5344CB8AC3E}">
        <p14:creationId xmlns:p14="http://schemas.microsoft.com/office/powerpoint/2010/main" val="313680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3B26C-C23D-4B6A-6047-BB1A41F89E9C}"/>
              </a:ext>
            </a:extLst>
          </p:cNvPr>
          <p:cNvSpPr>
            <a:spLocks noGrp="1"/>
          </p:cNvSpPr>
          <p:nvPr>
            <p:ph type="title"/>
          </p:nvPr>
        </p:nvSpPr>
        <p:spPr/>
        <p:txBody>
          <a:bodyPr>
            <a:normAutofit fontScale="90000"/>
          </a:bodyPr>
          <a:lstStyle/>
          <a:p>
            <a:r>
              <a:rPr lang="vi-VN" dirty="0"/>
              <a:t>Bộ giải mã nhị phân (tt)</a:t>
            </a:r>
            <a:endParaRPr lang="en-VN" dirty="0"/>
          </a:p>
        </p:txBody>
      </p:sp>
      <p:sp>
        <p:nvSpPr>
          <p:cNvPr id="4" name="Footer Placeholder 3">
            <a:extLst>
              <a:ext uri="{FF2B5EF4-FFF2-40B4-BE49-F238E27FC236}">
                <a16:creationId xmlns:a16="http://schemas.microsoft.com/office/drawing/2014/main" id="{C4CB2F7D-0BE6-7FD3-2F16-02272AA990D3}"/>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5" name="Date Placeholder 4">
            <a:extLst>
              <a:ext uri="{FF2B5EF4-FFF2-40B4-BE49-F238E27FC236}">
                <a16:creationId xmlns:a16="http://schemas.microsoft.com/office/drawing/2014/main" id="{49F4DA16-B1B2-2996-0179-531BE0CB1783}"/>
              </a:ext>
            </a:extLst>
          </p:cNvPr>
          <p:cNvSpPr>
            <a:spLocks noGrp="1"/>
          </p:cNvSpPr>
          <p:nvPr>
            <p:ph type="dt" sz="half" idx="13"/>
          </p:nvPr>
        </p:nvSpPr>
        <p:spPr/>
        <p:txBody>
          <a:bodyPr/>
          <a:lstStyle/>
          <a:p>
            <a:fld id="{46CDDB1B-AAE9-1649-A755-11FADEB7E97E}" type="datetime4">
              <a:rPr lang="en-US" smtClean="0"/>
              <a:t>September 4, 2023</a:t>
            </a:fld>
            <a:endParaRPr lang="en-VN"/>
          </a:p>
        </p:txBody>
      </p:sp>
      <p:sp>
        <p:nvSpPr>
          <p:cNvPr id="6" name="Slide Number Placeholder 5">
            <a:extLst>
              <a:ext uri="{FF2B5EF4-FFF2-40B4-BE49-F238E27FC236}">
                <a16:creationId xmlns:a16="http://schemas.microsoft.com/office/drawing/2014/main" id="{A58758FD-0B0B-4CCB-5FAB-CF0EDBC1A000}"/>
              </a:ext>
            </a:extLst>
          </p:cNvPr>
          <p:cNvSpPr>
            <a:spLocks noGrp="1"/>
          </p:cNvSpPr>
          <p:nvPr>
            <p:ph type="sldNum" sz="quarter" idx="12"/>
          </p:nvPr>
        </p:nvSpPr>
        <p:spPr/>
        <p:txBody>
          <a:bodyPr/>
          <a:lstStyle/>
          <a:p>
            <a:fld id="{D8B0B3AC-44A8-D142-AAF6-9A453466E1A4}" type="slidenum">
              <a:rPr lang="en-VN" smtClean="0"/>
              <a:t>32</a:t>
            </a:fld>
            <a:endParaRPr lang="en-VN"/>
          </a:p>
        </p:txBody>
      </p:sp>
      <p:graphicFrame>
        <p:nvGraphicFramePr>
          <p:cNvPr id="7" name="Object 4">
            <a:extLst>
              <a:ext uri="{FF2B5EF4-FFF2-40B4-BE49-F238E27FC236}">
                <a16:creationId xmlns:a16="http://schemas.microsoft.com/office/drawing/2014/main" id="{6F48A322-CB29-EFC0-5C23-FE5CB8786FEC}"/>
              </a:ext>
            </a:extLst>
          </p:cNvPr>
          <p:cNvGraphicFramePr>
            <a:graphicFrameLocks noChangeAspect="1"/>
          </p:cNvGraphicFramePr>
          <p:nvPr>
            <p:extLst>
              <p:ext uri="{D42A27DB-BD31-4B8C-83A1-F6EECF244321}">
                <p14:modId xmlns:p14="http://schemas.microsoft.com/office/powerpoint/2010/main" val="3059471848"/>
              </p:ext>
            </p:extLst>
          </p:nvPr>
        </p:nvGraphicFramePr>
        <p:xfrm>
          <a:off x="1562927" y="1226291"/>
          <a:ext cx="2033588" cy="2200275"/>
        </p:xfrm>
        <a:graphic>
          <a:graphicData uri="http://schemas.openxmlformats.org/presentationml/2006/ole">
            <mc:AlternateContent xmlns:mc="http://schemas.openxmlformats.org/markup-compatibility/2006">
              <mc:Choice xmlns:v="urn:schemas-microsoft-com:vml" Requires="v">
                <p:oleObj name="Artwork" r:id="rId2" imgW="1390844" imgH="1504762" progId="">
                  <p:embed/>
                </p:oleObj>
              </mc:Choice>
              <mc:Fallback>
                <p:oleObj name="Artwork" r:id="rId2" imgW="1390844" imgH="1504762" progId="">
                  <p:embed/>
                  <p:pic>
                    <p:nvPicPr>
                      <p:cNvPr id="307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927" y="1226291"/>
                        <a:ext cx="2033588" cy="22002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graphicFrame>
        <p:nvGraphicFramePr>
          <p:cNvPr id="8" name="Object 8">
            <a:extLst>
              <a:ext uri="{FF2B5EF4-FFF2-40B4-BE49-F238E27FC236}">
                <a16:creationId xmlns:a16="http://schemas.microsoft.com/office/drawing/2014/main" id="{E6497984-1E89-DD2A-27A7-946B02C2B8B9}"/>
              </a:ext>
            </a:extLst>
          </p:cNvPr>
          <p:cNvGraphicFramePr>
            <a:graphicFrameLocks noChangeAspect="1"/>
          </p:cNvGraphicFramePr>
          <p:nvPr>
            <p:extLst>
              <p:ext uri="{D42A27DB-BD31-4B8C-83A1-F6EECF244321}">
                <p14:modId xmlns:p14="http://schemas.microsoft.com/office/powerpoint/2010/main" val="4028714510"/>
              </p:ext>
            </p:extLst>
          </p:nvPr>
        </p:nvGraphicFramePr>
        <p:xfrm>
          <a:off x="5429249" y="1233824"/>
          <a:ext cx="5924550" cy="4443412"/>
        </p:xfrm>
        <a:graphic>
          <a:graphicData uri="http://schemas.openxmlformats.org/presentationml/2006/ole">
            <mc:AlternateContent xmlns:mc="http://schemas.openxmlformats.org/markup-compatibility/2006">
              <mc:Choice xmlns:v="urn:schemas-microsoft-com:vml" Requires="v">
                <p:oleObj name="Artwork" r:id="rId4" imgW="3772427" imgH="2828571" progId="">
                  <p:embed/>
                </p:oleObj>
              </mc:Choice>
              <mc:Fallback>
                <p:oleObj name="Artwork" r:id="rId4" imgW="3772427" imgH="2828571" progId="">
                  <p:embed/>
                  <p:pic>
                    <p:nvPicPr>
                      <p:cNvPr id="61236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9249" y="1233824"/>
                        <a:ext cx="5924550" cy="44434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graphicFrame>
        <p:nvGraphicFramePr>
          <p:cNvPr id="10" name="Table 9">
            <a:extLst>
              <a:ext uri="{FF2B5EF4-FFF2-40B4-BE49-F238E27FC236}">
                <a16:creationId xmlns:a16="http://schemas.microsoft.com/office/drawing/2014/main" id="{88CFBE42-2564-DDAC-0C8F-F1776D3EA6BD}"/>
              </a:ext>
            </a:extLst>
          </p:cNvPr>
          <p:cNvGraphicFramePr>
            <a:graphicFrameLocks noGrp="1"/>
          </p:cNvGraphicFramePr>
          <p:nvPr>
            <p:extLst>
              <p:ext uri="{D42A27DB-BD31-4B8C-83A1-F6EECF244321}">
                <p14:modId xmlns:p14="http://schemas.microsoft.com/office/powerpoint/2010/main" val="3293047239"/>
              </p:ext>
            </p:extLst>
          </p:nvPr>
        </p:nvGraphicFramePr>
        <p:xfrm>
          <a:off x="749242" y="3642997"/>
          <a:ext cx="3660958" cy="2743200"/>
        </p:xfrm>
        <a:graphic>
          <a:graphicData uri="http://schemas.openxmlformats.org/drawingml/2006/table">
            <a:tbl>
              <a:tblPr firstRow="1" firstCol="1" bandRow="1">
                <a:tableStyleId>{5940675A-B579-460E-94D1-54222C63F5DA}</a:tableStyleId>
              </a:tblPr>
              <a:tblGrid>
                <a:gridCol w="522994">
                  <a:extLst>
                    <a:ext uri="{9D8B030D-6E8A-4147-A177-3AD203B41FA5}">
                      <a16:colId xmlns:a16="http://schemas.microsoft.com/office/drawing/2014/main" val="665931830"/>
                    </a:ext>
                  </a:extLst>
                </a:gridCol>
                <a:gridCol w="522994">
                  <a:extLst>
                    <a:ext uri="{9D8B030D-6E8A-4147-A177-3AD203B41FA5}">
                      <a16:colId xmlns:a16="http://schemas.microsoft.com/office/drawing/2014/main" val="569908933"/>
                    </a:ext>
                  </a:extLst>
                </a:gridCol>
                <a:gridCol w="522994">
                  <a:extLst>
                    <a:ext uri="{9D8B030D-6E8A-4147-A177-3AD203B41FA5}">
                      <a16:colId xmlns:a16="http://schemas.microsoft.com/office/drawing/2014/main" val="1494405363"/>
                    </a:ext>
                  </a:extLst>
                </a:gridCol>
                <a:gridCol w="522994">
                  <a:extLst>
                    <a:ext uri="{9D8B030D-6E8A-4147-A177-3AD203B41FA5}">
                      <a16:colId xmlns:a16="http://schemas.microsoft.com/office/drawing/2014/main" val="742763489"/>
                    </a:ext>
                  </a:extLst>
                </a:gridCol>
                <a:gridCol w="522994">
                  <a:extLst>
                    <a:ext uri="{9D8B030D-6E8A-4147-A177-3AD203B41FA5}">
                      <a16:colId xmlns:a16="http://schemas.microsoft.com/office/drawing/2014/main" val="3648232066"/>
                    </a:ext>
                  </a:extLst>
                </a:gridCol>
                <a:gridCol w="522994">
                  <a:extLst>
                    <a:ext uri="{9D8B030D-6E8A-4147-A177-3AD203B41FA5}">
                      <a16:colId xmlns:a16="http://schemas.microsoft.com/office/drawing/2014/main" val="4112543514"/>
                    </a:ext>
                  </a:extLst>
                </a:gridCol>
                <a:gridCol w="522994">
                  <a:extLst>
                    <a:ext uri="{9D8B030D-6E8A-4147-A177-3AD203B41FA5}">
                      <a16:colId xmlns:a16="http://schemas.microsoft.com/office/drawing/2014/main" val="4119345581"/>
                    </a:ext>
                  </a:extLst>
                </a:gridCol>
              </a:tblGrid>
              <a:tr h="457200">
                <a:tc>
                  <a:txBody>
                    <a:bodyPr/>
                    <a:lstStyle/>
                    <a:p>
                      <a:pPr marL="0" marR="0" algn="ctr">
                        <a:lnSpc>
                          <a:spcPct val="125000"/>
                        </a:lnSpc>
                        <a:spcBef>
                          <a:spcPts val="600"/>
                        </a:spcBef>
                        <a:spcAft>
                          <a:spcPts val="0"/>
                        </a:spcAft>
                      </a:pPr>
                      <a:r>
                        <a:rPr lang="en-US" sz="2200" spc="-20" dirty="0">
                          <a:effectLst/>
                          <a:latin typeface="Times New Roman (Headings)"/>
                        </a:rPr>
                        <a:t>EN</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I1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I0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Y3</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Y2</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Y1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Y0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90825109"/>
                  </a:ext>
                </a:extLst>
              </a:tr>
              <a:tr h="457200">
                <a:tc>
                  <a:txBody>
                    <a:bodyPr/>
                    <a:lstStyle/>
                    <a:p>
                      <a:pPr marL="0" marR="0" algn="ctr">
                        <a:lnSpc>
                          <a:spcPct val="125000"/>
                        </a:lnSpc>
                        <a:spcBef>
                          <a:spcPts val="600"/>
                        </a:spcBef>
                        <a:spcAft>
                          <a:spcPts val="0"/>
                        </a:spcAft>
                      </a:pPr>
                      <a:r>
                        <a:rPr lang="en-US"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X</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X</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9112964"/>
                  </a:ext>
                </a:extLst>
              </a:tr>
              <a:tr h="457200">
                <a:tc>
                  <a:txBody>
                    <a:bodyPr/>
                    <a:lstStyle/>
                    <a:p>
                      <a:pPr marL="0" marR="0" algn="ctr">
                        <a:lnSpc>
                          <a:spcPct val="125000"/>
                        </a:lnSpc>
                        <a:spcBef>
                          <a:spcPts val="600"/>
                        </a:spcBef>
                        <a:spcAft>
                          <a:spcPts val="0"/>
                        </a:spcAft>
                      </a:pPr>
                      <a:r>
                        <a:rPr lang="en-US" sz="2200" spc="-20" dirty="0">
                          <a:effectLst/>
                          <a:latin typeface="Times New Roman (Headings)"/>
                        </a:rPr>
                        <a:t>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0 </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14047533"/>
                  </a:ext>
                </a:extLst>
              </a:tr>
              <a:tr h="457200">
                <a:tc>
                  <a:txBody>
                    <a:bodyPr/>
                    <a:lstStyle/>
                    <a:p>
                      <a:pPr marL="0" marR="0" algn="ctr">
                        <a:lnSpc>
                          <a:spcPct val="125000"/>
                        </a:lnSpc>
                        <a:spcBef>
                          <a:spcPts val="600"/>
                        </a:spcBef>
                        <a:spcAft>
                          <a:spcPts val="0"/>
                        </a:spcAft>
                      </a:pPr>
                      <a:r>
                        <a:rPr lang="en-US"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29612162"/>
                  </a:ext>
                </a:extLst>
              </a:tr>
              <a:tr h="457200">
                <a:tc>
                  <a:txBody>
                    <a:bodyPr/>
                    <a:lstStyle/>
                    <a:p>
                      <a:pPr marL="0" marR="0" algn="ctr">
                        <a:lnSpc>
                          <a:spcPct val="125000"/>
                        </a:lnSpc>
                        <a:spcBef>
                          <a:spcPts val="600"/>
                        </a:spcBef>
                        <a:spcAft>
                          <a:spcPts val="0"/>
                        </a:spcAft>
                      </a:pPr>
                      <a:r>
                        <a:rPr lang="en-US"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0 </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0 </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31390104"/>
                  </a:ext>
                </a:extLst>
              </a:tr>
              <a:tr h="457200">
                <a:tc>
                  <a:txBody>
                    <a:bodyPr/>
                    <a:lstStyle/>
                    <a:p>
                      <a:pPr marL="0" marR="0" algn="ctr">
                        <a:lnSpc>
                          <a:spcPct val="125000"/>
                        </a:lnSpc>
                        <a:spcBef>
                          <a:spcPts val="600"/>
                        </a:spcBef>
                        <a:spcAft>
                          <a:spcPts val="0"/>
                        </a:spcAft>
                      </a:pPr>
                      <a:r>
                        <a:rPr lang="en-US"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0 </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50290164"/>
                  </a:ext>
                </a:extLst>
              </a:tr>
            </a:tbl>
          </a:graphicData>
        </a:graphic>
      </p:graphicFrame>
      <p:sp>
        <p:nvSpPr>
          <p:cNvPr id="12" name="TextBox 11">
            <a:extLst>
              <a:ext uri="{FF2B5EF4-FFF2-40B4-BE49-F238E27FC236}">
                <a16:creationId xmlns:a16="http://schemas.microsoft.com/office/drawing/2014/main" id="{DE4028B2-690B-982D-ABA2-5DE30C4495A6}"/>
              </a:ext>
            </a:extLst>
          </p:cNvPr>
          <p:cNvSpPr txBox="1"/>
          <p:nvPr/>
        </p:nvSpPr>
        <p:spPr>
          <a:xfrm>
            <a:off x="4847477" y="4169032"/>
            <a:ext cx="1815548" cy="1200329"/>
          </a:xfrm>
          <a:prstGeom prst="rect">
            <a:avLst/>
          </a:prstGeom>
          <a:noFill/>
        </p:spPr>
        <p:txBody>
          <a:bodyPr wrap="square">
            <a:spAutoFit/>
          </a:bodyPr>
          <a:lstStyle/>
          <a:p>
            <a:pPr algn="l"/>
            <a:r>
              <a:rPr lang="en-US" b="0" i="0" dirty="0">
                <a:solidFill>
                  <a:srgbClr val="444444"/>
                </a:solidFill>
                <a:effectLst/>
                <a:latin typeface="Arial" panose="020B0604020202020204" pitchFamily="34" charset="0"/>
              </a:rPr>
              <a:t>Y3 = EN.I1.I0</a:t>
            </a:r>
          </a:p>
          <a:p>
            <a:pPr algn="l"/>
            <a:r>
              <a:rPr lang="en-US" b="0" i="0" dirty="0">
                <a:solidFill>
                  <a:srgbClr val="444444"/>
                </a:solidFill>
                <a:effectLst/>
                <a:latin typeface="Arial" panose="020B0604020202020204" pitchFamily="34" charset="0"/>
              </a:rPr>
              <a:t>Y2 = EN.I1.I0 ′</a:t>
            </a:r>
          </a:p>
          <a:p>
            <a:pPr algn="l"/>
            <a:r>
              <a:rPr lang="en-US" b="0" i="0" dirty="0">
                <a:solidFill>
                  <a:srgbClr val="444444"/>
                </a:solidFill>
                <a:effectLst/>
                <a:latin typeface="Arial" panose="020B0604020202020204" pitchFamily="34" charset="0"/>
              </a:rPr>
              <a:t>Y1 = EN.I1′.I0</a:t>
            </a:r>
          </a:p>
          <a:p>
            <a:pPr algn="l"/>
            <a:r>
              <a:rPr lang="en-US" b="0" i="0" dirty="0">
                <a:solidFill>
                  <a:srgbClr val="444444"/>
                </a:solidFill>
                <a:effectLst/>
                <a:latin typeface="Arial" panose="020B0604020202020204" pitchFamily="34" charset="0"/>
              </a:rPr>
              <a:t>Y0 = EN.I1′.I0</a:t>
            </a:r>
          </a:p>
        </p:txBody>
      </p:sp>
    </p:spTree>
    <p:extLst>
      <p:ext uri="{BB962C8B-B14F-4D97-AF65-F5344CB8AC3E}">
        <p14:creationId xmlns:p14="http://schemas.microsoft.com/office/powerpoint/2010/main" val="3731345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0-#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9B2BF-C003-EE46-EC21-DEB1A50F9195}"/>
              </a:ext>
            </a:extLst>
          </p:cNvPr>
          <p:cNvSpPr>
            <a:spLocks noGrp="1"/>
          </p:cNvSpPr>
          <p:nvPr>
            <p:ph type="title"/>
          </p:nvPr>
        </p:nvSpPr>
        <p:spPr/>
        <p:txBody>
          <a:bodyPr>
            <a:normAutofit fontScale="90000"/>
          </a:bodyPr>
          <a:lstStyle/>
          <a:p>
            <a:r>
              <a:rPr lang="vi-VN" dirty="0"/>
              <a:t>Bộ giải mã nhị phân (tt)</a:t>
            </a:r>
            <a:endParaRPr lang="en-VN" dirty="0"/>
          </a:p>
        </p:txBody>
      </p:sp>
      <p:sp>
        <p:nvSpPr>
          <p:cNvPr id="3" name="Content Placeholder 2">
            <a:extLst>
              <a:ext uri="{FF2B5EF4-FFF2-40B4-BE49-F238E27FC236}">
                <a16:creationId xmlns:a16="http://schemas.microsoft.com/office/drawing/2014/main" id="{BC3B0EA2-A6A0-F556-167C-0EE16A2CF01F}"/>
              </a:ext>
            </a:extLst>
          </p:cNvPr>
          <p:cNvSpPr>
            <a:spLocks noGrp="1"/>
          </p:cNvSpPr>
          <p:nvPr>
            <p:ph idx="1"/>
          </p:nvPr>
        </p:nvSpPr>
        <p:spPr/>
        <p:txBody>
          <a:bodyPr/>
          <a:lstStyle/>
          <a:p>
            <a:r>
              <a:rPr lang="en-US" dirty="0" err="1"/>
              <a:t>Một</a:t>
            </a:r>
            <a:r>
              <a:rPr lang="en-US" dirty="0"/>
              <a:t> </a:t>
            </a:r>
            <a:r>
              <a:rPr lang="en-US" dirty="0" err="1"/>
              <a:t>ứng</a:t>
            </a:r>
            <a:r>
              <a:rPr lang="en-US" dirty="0"/>
              <a:t> </a:t>
            </a:r>
            <a:r>
              <a:rPr lang="en-US" dirty="0" err="1"/>
              <a:t>dụng</a:t>
            </a:r>
            <a:r>
              <a:rPr lang="en-US" dirty="0"/>
              <a:t> </a:t>
            </a:r>
            <a:r>
              <a:rPr lang="en-US" dirty="0" err="1"/>
              <a:t>phổ</a:t>
            </a:r>
            <a:r>
              <a:rPr lang="en-US" dirty="0"/>
              <a:t> </a:t>
            </a:r>
            <a:r>
              <a:rPr lang="en-US" dirty="0" err="1"/>
              <a:t>biến</a:t>
            </a:r>
            <a:r>
              <a:rPr lang="en-US" dirty="0"/>
              <a:t> </a:t>
            </a:r>
            <a:r>
              <a:rPr lang="en-US" dirty="0" err="1"/>
              <a:t>là</a:t>
            </a:r>
            <a:r>
              <a:rPr lang="en-US" dirty="0"/>
              <a:t> </a:t>
            </a:r>
            <a:r>
              <a:rPr lang="en-US" dirty="0" err="1"/>
              <a:t>giải</a:t>
            </a:r>
            <a:r>
              <a:rPr lang="en-US" dirty="0"/>
              <a:t> </a:t>
            </a:r>
            <a:r>
              <a:rPr lang="en-US" dirty="0" err="1"/>
              <a:t>mã</a:t>
            </a:r>
            <a:r>
              <a:rPr lang="en-US" dirty="0"/>
              <a:t> </a:t>
            </a:r>
            <a:r>
              <a:rPr lang="en-US" dirty="0" err="1"/>
              <a:t>địa</a:t>
            </a:r>
            <a:r>
              <a:rPr lang="en-US" dirty="0"/>
              <a:t> </a:t>
            </a:r>
            <a:r>
              <a:rPr lang="en-US" dirty="0" err="1"/>
              <a:t>chỉ</a:t>
            </a:r>
            <a:r>
              <a:rPr lang="en-US" dirty="0"/>
              <a:t> </a:t>
            </a:r>
            <a:r>
              <a:rPr lang="en-US" dirty="0" err="1"/>
              <a:t>cho</a:t>
            </a:r>
            <a:r>
              <a:rPr lang="en-US" dirty="0"/>
              <a:t> </a:t>
            </a:r>
            <a:r>
              <a:rPr lang="en-US" dirty="0" err="1"/>
              <a:t>các</a:t>
            </a:r>
            <a:r>
              <a:rPr lang="en-US" dirty="0"/>
              <a:t> chip </a:t>
            </a:r>
            <a:r>
              <a:rPr lang="en-US" dirty="0" err="1"/>
              <a:t>nhớ</a:t>
            </a:r>
            <a:endParaRPr lang="en-US" dirty="0"/>
          </a:p>
          <a:p>
            <a:endParaRPr lang="en-US" dirty="0"/>
          </a:p>
          <a:p>
            <a:endParaRPr lang="en-VN" dirty="0"/>
          </a:p>
        </p:txBody>
      </p:sp>
      <p:sp>
        <p:nvSpPr>
          <p:cNvPr id="4" name="Footer Placeholder 3">
            <a:extLst>
              <a:ext uri="{FF2B5EF4-FFF2-40B4-BE49-F238E27FC236}">
                <a16:creationId xmlns:a16="http://schemas.microsoft.com/office/drawing/2014/main" id="{7401AE4F-6EB2-B2F9-CAC0-43AA497C03D7}"/>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5" name="Date Placeholder 4">
            <a:extLst>
              <a:ext uri="{FF2B5EF4-FFF2-40B4-BE49-F238E27FC236}">
                <a16:creationId xmlns:a16="http://schemas.microsoft.com/office/drawing/2014/main" id="{87C4C54C-A6E9-C54A-3872-0E28E4E8BE6B}"/>
              </a:ext>
            </a:extLst>
          </p:cNvPr>
          <p:cNvSpPr>
            <a:spLocks noGrp="1"/>
          </p:cNvSpPr>
          <p:nvPr>
            <p:ph type="dt" sz="half" idx="13"/>
          </p:nvPr>
        </p:nvSpPr>
        <p:spPr/>
        <p:txBody>
          <a:bodyPr/>
          <a:lstStyle/>
          <a:p>
            <a:fld id="{46CDDB1B-AAE9-1649-A755-11FADEB7E97E}" type="datetime4">
              <a:rPr lang="en-US" smtClean="0"/>
              <a:t>September 4, 2023</a:t>
            </a:fld>
            <a:endParaRPr lang="en-VN"/>
          </a:p>
        </p:txBody>
      </p:sp>
      <p:sp>
        <p:nvSpPr>
          <p:cNvPr id="6" name="Slide Number Placeholder 5">
            <a:extLst>
              <a:ext uri="{FF2B5EF4-FFF2-40B4-BE49-F238E27FC236}">
                <a16:creationId xmlns:a16="http://schemas.microsoft.com/office/drawing/2014/main" id="{385E7095-72A5-516C-7F4C-6AB56CCF03C4}"/>
              </a:ext>
            </a:extLst>
          </p:cNvPr>
          <p:cNvSpPr>
            <a:spLocks noGrp="1"/>
          </p:cNvSpPr>
          <p:nvPr>
            <p:ph type="sldNum" sz="quarter" idx="12"/>
          </p:nvPr>
        </p:nvSpPr>
        <p:spPr/>
        <p:txBody>
          <a:bodyPr/>
          <a:lstStyle/>
          <a:p>
            <a:fld id="{D8B0B3AC-44A8-D142-AAF6-9A453466E1A4}" type="slidenum">
              <a:rPr lang="en-VN" smtClean="0"/>
              <a:t>33</a:t>
            </a:fld>
            <a:endParaRPr lang="en-VN"/>
          </a:p>
        </p:txBody>
      </p:sp>
      <p:pic>
        <p:nvPicPr>
          <p:cNvPr id="7" name="Picture 2">
            <a:extLst>
              <a:ext uri="{FF2B5EF4-FFF2-40B4-BE49-F238E27FC236}">
                <a16:creationId xmlns:a16="http://schemas.microsoft.com/office/drawing/2014/main" id="{7888FBE6-7C03-2A68-2049-C80DF9EDDBE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246"/>
          <a:stretch/>
        </p:blipFill>
        <p:spPr bwMode="auto">
          <a:xfrm>
            <a:off x="1835426" y="1951382"/>
            <a:ext cx="8215313" cy="39464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pic>
    </p:spTree>
    <p:extLst>
      <p:ext uri="{BB962C8B-B14F-4D97-AF65-F5344CB8AC3E}">
        <p14:creationId xmlns:p14="http://schemas.microsoft.com/office/powerpoint/2010/main" val="11584179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34</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8526511" cy="884656"/>
          </a:xfrm>
        </p:spPr>
        <p:txBody>
          <a:bodyPr>
            <a:normAutofit/>
          </a:bodyPr>
          <a:lstStyle/>
          <a:p>
            <a:r>
              <a:rPr lang="en-US" dirty="0"/>
              <a:t>7. </a:t>
            </a:r>
            <a:r>
              <a:rPr lang="en-US" dirty="0" err="1"/>
              <a:t>Tập</a:t>
            </a:r>
            <a:r>
              <a:rPr lang="en-US" dirty="0"/>
              <a:t> </a:t>
            </a:r>
            <a:r>
              <a:rPr lang="en-US" dirty="0" err="1"/>
              <a:t>thanh</a:t>
            </a:r>
            <a:r>
              <a:rPr lang="en-US" dirty="0"/>
              <a:t> </a:t>
            </a:r>
            <a:r>
              <a:rPr lang="en-US" dirty="0" err="1"/>
              <a:t>ghi</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endParaRPr lang="en-VN" dirty="0"/>
          </a:p>
        </p:txBody>
      </p:sp>
    </p:spTree>
    <p:extLst>
      <p:ext uri="{BB962C8B-B14F-4D97-AF65-F5344CB8AC3E}">
        <p14:creationId xmlns:p14="http://schemas.microsoft.com/office/powerpoint/2010/main" val="1329713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t>Biểu diễn số có dấu</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523875" y="1195821"/>
            <a:ext cx="4075056" cy="5079981"/>
          </a:xfrm>
        </p:spPr>
        <p:txBody>
          <a:bodyPr>
            <a:noAutofit/>
          </a:bodyPr>
          <a:lstStyle/>
          <a:p>
            <a:pPr algn="just"/>
            <a:r>
              <a:rPr lang="vi-VN">
                <a:effectLst/>
                <a:latin typeface="Times New Roman" panose="02020603050405020304" pitchFamily="18" charset="0"/>
                <a:ea typeface="Times New Roman" panose="02020603050405020304" pitchFamily="18" charset="0"/>
              </a:rPr>
              <a:t>Tập thanh ghi là một bộ nhớ</a:t>
            </a:r>
            <a:r>
              <a:rPr lang="en-US">
                <a:effectLst/>
                <a:latin typeface="Times New Roman" panose="02020603050405020304" pitchFamily="18" charset="0"/>
                <a:ea typeface="Times New Roman" panose="02020603050405020304" pitchFamily="18" charset="0"/>
              </a:rPr>
              <a:t> dùng để lưu trữ dữ liệu tạm để được xử lý bởi các đơn vị xử lý (chẳng hạn như ALU)</a:t>
            </a:r>
            <a:endParaRPr lang="vi-VN">
              <a:effectLst/>
              <a:latin typeface="Times New Roman" panose="02020603050405020304" pitchFamily="18" charset="0"/>
              <a:ea typeface="Times New Roman" panose="02020603050405020304" pitchFamily="18" charset="0"/>
            </a:endParaRPr>
          </a:p>
          <a:p>
            <a:pPr algn="just"/>
            <a:r>
              <a:rPr lang="vi-VN">
                <a:latin typeface="Times New Roman" panose="02020603050405020304" pitchFamily="18" charset="0"/>
              </a:rPr>
              <a:t>Cấu tạo: M</a:t>
            </a:r>
            <a:r>
              <a:rPr lang="en-US">
                <a:latin typeface="Times New Roman" panose="02020603050405020304" pitchFamily="18" charset="0"/>
              </a:rPr>
              <a:t>ảng 1 chiều của các thanh ghi </a:t>
            </a:r>
            <a:endParaRPr lang="en-US" dirty="0">
              <a:latin typeface="Times New Roman" panose="02020603050405020304" pitchFamily="18" charset="0"/>
            </a:endParaRP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35</a:t>
            </a:fld>
            <a:endParaRPr lang="en-VN" dirty="0"/>
          </a:p>
        </p:txBody>
      </p:sp>
      <p:graphicFrame>
        <p:nvGraphicFramePr>
          <p:cNvPr id="6" name="Object 5">
            <a:extLst>
              <a:ext uri="{FF2B5EF4-FFF2-40B4-BE49-F238E27FC236}">
                <a16:creationId xmlns:a16="http://schemas.microsoft.com/office/drawing/2014/main" id="{9E3BA95E-89C4-7020-4B82-82B5F65A4D47}"/>
              </a:ext>
            </a:extLst>
          </p:cNvPr>
          <p:cNvGraphicFramePr>
            <a:graphicFrameLocks noChangeAspect="1"/>
          </p:cNvGraphicFramePr>
          <p:nvPr>
            <p:extLst>
              <p:ext uri="{D42A27DB-BD31-4B8C-83A1-F6EECF244321}">
                <p14:modId xmlns:p14="http://schemas.microsoft.com/office/powerpoint/2010/main" val="2753961834"/>
              </p:ext>
            </p:extLst>
          </p:nvPr>
        </p:nvGraphicFramePr>
        <p:xfrm>
          <a:off x="4598931" y="1334983"/>
          <a:ext cx="7593069" cy="5203929"/>
        </p:xfrm>
        <a:graphic>
          <a:graphicData uri="http://schemas.openxmlformats.org/presentationml/2006/ole">
            <mc:AlternateContent xmlns:mc="http://schemas.openxmlformats.org/markup-compatibility/2006">
              <mc:Choice xmlns:v="urn:schemas-microsoft-com:vml" Requires="v">
                <p:oleObj name="Visio" r:id="rId3" imgW="7115067" imgH="4848325" progId="Visio.Drawing.15">
                  <p:embed/>
                </p:oleObj>
              </mc:Choice>
              <mc:Fallback>
                <p:oleObj name="Visio" r:id="rId3" imgW="7115067" imgH="4848325" progId="Visio.Drawing.15">
                  <p:embed/>
                  <p:pic>
                    <p:nvPicPr>
                      <p:cNvPr id="6" name="Object 5">
                        <a:extLst>
                          <a:ext uri="{FF2B5EF4-FFF2-40B4-BE49-F238E27FC236}">
                            <a16:creationId xmlns:a16="http://schemas.microsoft.com/office/drawing/2014/main" id="{DAA625BA-3EBD-40D8-BE8E-188A7DF2B5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8931" y="1334983"/>
                        <a:ext cx="7593069" cy="5203929"/>
                      </a:xfrm>
                      <a:prstGeom prst="rect">
                        <a:avLst/>
                      </a:prstGeom>
                      <a:noFill/>
                    </p:spPr>
                  </p:pic>
                </p:oleObj>
              </mc:Fallback>
            </mc:AlternateContent>
          </a:graphicData>
        </a:graphic>
      </p:graphicFrame>
    </p:spTree>
    <p:extLst>
      <p:ext uri="{BB962C8B-B14F-4D97-AF65-F5344CB8AC3E}">
        <p14:creationId xmlns:p14="http://schemas.microsoft.com/office/powerpoint/2010/main" val="18999573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vi-VN" dirty="0"/>
              <a:t>Tập thanh ghi (tt)</a:t>
            </a:r>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36</a:t>
            </a:fld>
            <a:endParaRPr lang="en-VN" dirty="0"/>
          </a:p>
        </p:txBody>
      </p:sp>
      <p:pic>
        <p:nvPicPr>
          <p:cNvPr id="8" name="Picture 7">
            <a:extLst>
              <a:ext uri="{FF2B5EF4-FFF2-40B4-BE49-F238E27FC236}">
                <a16:creationId xmlns:a16="http://schemas.microsoft.com/office/drawing/2014/main" id="{52B5F4A7-18F7-131A-996E-3DEF4F7FB880}"/>
              </a:ext>
            </a:extLst>
          </p:cNvPr>
          <p:cNvPicPr>
            <a:picLocks noChangeAspect="1"/>
          </p:cNvPicPr>
          <p:nvPr/>
        </p:nvPicPr>
        <p:blipFill>
          <a:blip r:embed="rId3"/>
          <a:stretch>
            <a:fillRect/>
          </a:stretch>
        </p:blipFill>
        <p:spPr>
          <a:xfrm>
            <a:off x="1910140" y="1300163"/>
            <a:ext cx="8371719" cy="4665661"/>
          </a:xfrm>
          <a:prstGeom prst="rect">
            <a:avLst/>
          </a:prstGeom>
        </p:spPr>
      </p:pic>
    </p:spTree>
    <p:extLst>
      <p:ext uri="{BB962C8B-B14F-4D97-AF65-F5344CB8AC3E}">
        <p14:creationId xmlns:p14="http://schemas.microsoft.com/office/powerpoint/2010/main" val="6827613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ltLang="ja-JP" dirty="0" err="1"/>
              <a:t>Tóm</a:t>
            </a:r>
            <a:r>
              <a:rPr lang="en-US" altLang="ja-JP" dirty="0"/>
              <a:t> </a:t>
            </a:r>
            <a:r>
              <a:rPr lang="en-US" altLang="ja-JP" dirty="0" err="1"/>
              <a:t>tắt</a:t>
            </a:r>
            <a:r>
              <a:rPr lang="en-US" altLang="ja-JP" dirty="0"/>
              <a:t> </a:t>
            </a:r>
            <a:r>
              <a:rPr lang="en-US" altLang="ja-JP" dirty="0" err="1"/>
              <a:t>lại</a:t>
            </a:r>
            <a:r>
              <a:rPr lang="en-US" altLang="ja-JP" dirty="0"/>
              <a:t> </a:t>
            </a:r>
            <a:r>
              <a:rPr lang="en-US" altLang="ja-JP" dirty="0" err="1"/>
              <a:t>nội</a:t>
            </a:r>
            <a:r>
              <a:rPr lang="en-US" altLang="ja-JP" dirty="0"/>
              <a:t> dung </a:t>
            </a:r>
            <a:r>
              <a:rPr lang="en-US" altLang="ja-JP" dirty="0" err="1"/>
              <a:t>buổi</a:t>
            </a:r>
            <a:r>
              <a:rPr lang="en-US" altLang="ja-JP" dirty="0"/>
              <a:t> </a:t>
            </a:r>
            <a:r>
              <a:rPr lang="en-US" altLang="ja-JP" dirty="0" err="1"/>
              <a:t>học</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lnSpcReduction="10000"/>
          </a:bodyPr>
          <a:lstStyle/>
          <a:p>
            <a:pPr marL="514350" indent="-514350">
              <a:lnSpc>
                <a:spcPct val="150000"/>
              </a:lnSpc>
              <a:buFont typeface="+mj-lt"/>
              <a:buAutoNum type="arabicPeriod"/>
            </a:pPr>
            <a:r>
              <a:rPr lang="vi-VN" sz="2800" b="1" dirty="0"/>
              <a:t>Hiện thực chức năng máy tính</a:t>
            </a:r>
            <a:endParaRPr lang="en-US" sz="2800" b="1" dirty="0"/>
          </a:p>
          <a:p>
            <a:pPr marL="514350" indent="-514350">
              <a:lnSpc>
                <a:spcPct val="150000"/>
              </a:lnSpc>
              <a:buFont typeface="+mj-lt"/>
              <a:buAutoNum type="arabicPeriod"/>
            </a:pPr>
            <a:r>
              <a:rPr lang="vi-VN" sz="2800" b="1" dirty="0"/>
              <a:t>ALU (Arithmetic &amp; Logic Unit)</a:t>
            </a:r>
          </a:p>
          <a:p>
            <a:pPr marL="514350" indent="-514350">
              <a:lnSpc>
                <a:spcPct val="150000"/>
              </a:lnSpc>
              <a:buFont typeface="+mj-lt"/>
              <a:buAutoNum type="arabicPeriod"/>
            </a:pPr>
            <a:r>
              <a:rPr lang="en-US" sz="2800" b="1" dirty="0"/>
              <a:t>Bộ </a:t>
            </a:r>
            <a:r>
              <a:rPr lang="en-US" sz="2800" b="1" dirty="0" err="1"/>
              <a:t>chọn</a:t>
            </a:r>
            <a:r>
              <a:rPr lang="en-US" sz="2800" b="1" dirty="0"/>
              <a:t> (Mux)</a:t>
            </a:r>
            <a:endParaRPr lang="vi-VN" sz="2800" b="1" dirty="0"/>
          </a:p>
          <a:p>
            <a:pPr marL="514350" indent="-514350">
              <a:lnSpc>
                <a:spcPct val="150000"/>
              </a:lnSpc>
              <a:buFont typeface="+mj-lt"/>
              <a:buAutoNum type="arabicPeriod"/>
            </a:pPr>
            <a:r>
              <a:rPr lang="vi-VN" sz="2800" b="1" dirty="0"/>
              <a:t>Bộ cộng</a:t>
            </a:r>
            <a:endParaRPr lang="en-US" sz="2800" b="1" dirty="0"/>
          </a:p>
          <a:p>
            <a:pPr marL="514350" indent="-514350">
              <a:lnSpc>
                <a:spcPct val="150000"/>
              </a:lnSpc>
              <a:buFont typeface="+mj-lt"/>
              <a:buAutoNum type="arabicPeriod"/>
            </a:pPr>
            <a:r>
              <a:rPr lang="en-US" sz="2800" b="1" dirty="0"/>
              <a:t>Bộ so </a:t>
            </a:r>
            <a:r>
              <a:rPr lang="en-US" sz="2800" b="1" dirty="0" err="1"/>
              <a:t>sánh</a:t>
            </a:r>
            <a:endParaRPr lang="en-US" sz="2800" b="1" dirty="0"/>
          </a:p>
          <a:p>
            <a:pPr marL="514350" indent="-514350">
              <a:lnSpc>
                <a:spcPct val="150000"/>
              </a:lnSpc>
              <a:buFont typeface="+mj-lt"/>
              <a:buAutoNum type="arabicPeriod"/>
            </a:pPr>
            <a:r>
              <a:rPr lang="vi-VN" b="1" dirty="0"/>
              <a:t>Bộ giải mã</a:t>
            </a:r>
            <a:endParaRPr lang="en-US" b="1" dirty="0"/>
          </a:p>
          <a:p>
            <a:pPr marL="514350" indent="-514350">
              <a:lnSpc>
                <a:spcPct val="150000"/>
              </a:lnSpc>
              <a:buFont typeface="+mj-lt"/>
              <a:buAutoNum type="arabicPeriod"/>
            </a:pPr>
            <a:r>
              <a:rPr lang="vi-VN" sz="2800" b="1" dirty="0"/>
              <a:t>Tập thanh ghi</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37</a:t>
            </a:fld>
            <a:endParaRPr lang="en-VN" dirty="0"/>
          </a:p>
        </p:txBody>
      </p:sp>
    </p:spTree>
    <p:extLst>
      <p:ext uri="{BB962C8B-B14F-4D97-AF65-F5344CB8AC3E}">
        <p14:creationId xmlns:p14="http://schemas.microsoft.com/office/powerpoint/2010/main" val="2064790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F1000C4-9A2E-05A2-1818-684E7F99594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2" name="Slide Number Placeholder 1">
            <a:extLst>
              <a:ext uri="{FF2B5EF4-FFF2-40B4-BE49-F238E27FC236}">
                <a16:creationId xmlns:a16="http://schemas.microsoft.com/office/drawing/2014/main" id="{1D8756CC-FF80-6915-444D-795BAF1CD5A1}"/>
              </a:ext>
            </a:extLst>
          </p:cNvPr>
          <p:cNvSpPr>
            <a:spLocks noGrp="1"/>
          </p:cNvSpPr>
          <p:nvPr>
            <p:ph type="sldNum" sz="quarter" idx="12"/>
          </p:nvPr>
        </p:nvSpPr>
        <p:spPr/>
        <p:txBody>
          <a:bodyPr/>
          <a:lstStyle/>
          <a:p>
            <a:fld id="{D8B0B3AC-44A8-D142-AAF6-9A453466E1A4}" type="slidenum">
              <a:rPr lang="en-VN" smtClean="0"/>
              <a:pPr/>
              <a:t>38</a:t>
            </a:fld>
            <a:endParaRPr lang="en-VN" dirty="0"/>
          </a:p>
        </p:txBody>
      </p:sp>
      <p:sp>
        <p:nvSpPr>
          <p:cNvPr id="4" name="Title 1">
            <a:extLst>
              <a:ext uri="{FF2B5EF4-FFF2-40B4-BE49-F238E27FC236}">
                <a16:creationId xmlns:a16="http://schemas.microsoft.com/office/drawing/2014/main" id="{7A14E97F-0DB8-D467-8B0C-A879824FD45F}"/>
              </a:ext>
            </a:extLst>
          </p:cNvPr>
          <p:cNvSpPr txBox="1">
            <a:spLocks/>
          </p:cNvSpPr>
          <p:nvPr/>
        </p:nvSpPr>
        <p:spPr>
          <a:xfrm>
            <a:off x="4684910" y="1918010"/>
            <a:ext cx="4012558" cy="1100921"/>
          </a:xfrm>
          <a:prstGeom prst="rect">
            <a:avLst/>
          </a:prstGeom>
        </p:spPr>
        <p:txBody>
          <a:bodyPr/>
          <a:lstStyle>
            <a:lvl1pPr algn="l" defTabSz="914400" rtl="0" eaLnBrk="1" latinLnBrk="0" hangingPunct="1">
              <a:lnSpc>
                <a:spcPct val="90000"/>
              </a:lnSpc>
              <a:spcBef>
                <a:spcPct val="0"/>
              </a:spcBef>
              <a:buNone/>
              <a:defRPr sz="40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a:lstStyle>
          <a:p>
            <a:r>
              <a:rPr lang="en-US" dirty="0"/>
              <a:t>THẢO LUẬN</a:t>
            </a:r>
          </a:p>
        </p:txBody>
      </p:sp>
      <p:pic>
        <p:nvPicPr>
          <p:cNvPr id="5" name="Picture 4" descr="http://data.sinhvienit.net/2013/T09/img/SinhVienIT.Net---suy-nghi.jpg">
            <a:extLst>
              <a:ext uri="{FF2B5EF4-FFF2-40B4-BE49-F238E27FC236}">
                <a16:creationId xmlns:a16="http://schemas.microsoft.com/office/drawing/2014/main" id="{91D62A03-02AF-AB7F-80A0-89E3D2490D6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95842" y="3018931"/>
            <a:ext cx="3211551" cy="2408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5609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IW_TYPE_IMAGE" val="Text Box 3"/>
</p:tagLst>
</file>

<file path=ppt/theme/theme1.xml><?xml version="1.0" encoding="utf-8"?>
<a:theme xmlns:a="http://schemas.openxmlformats.org/drawingml/2006/main" name="Office Theme">
  <a:themeElements>
    <a:clrScheme name="UIT Pallete">
      <a:dk1>
        <a:srgbClr val="2A2F4F"/>
      </a:dk1>
      <a:lt1>
        <a:srgbClr val="FFFFFF"/>
      </a:lt1>
      <a:dk2>
        <a:srgbClr val="1C305E"/>
      </a:dk2>
      <a:lt2>
        <a:srgbClr val="E7E6E6"/>
      </a:lt2>
      <a:accent1>
        <a:srgbClr val="0071FF"/>
      </a:accent1>
      <a:accent2>
        <a:srgbClr val="FAAB78"/>
      </a:accent2>
      <a:accent3>
        <a:srgbClr val="EC7171"/>
      </a:accent3>
      <a:accent4>
        <a:srgbClr val="FFCD38"/>
      </a:accent4>
      <a:accent5>
        <a:srgbClr val="4700D8"/>
      </a:accent5>
      <a:accent6>
        <a:srgbClr val="41855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rgbClr val="00C6FF"/>
            </a:gs>
            <a:gs pos="100000">
              <a:srgbClr val="0072FF"/>
            </a:gs>
          </a:gsLst>
          <a:lin ang="5400000" scaled="1"/>
        </a:gradFill>
        <a:ln>
          <a:gradFill>
            <a:gsLst>
              <a:gs pos="0">
                <a:srgbClr val="00C6FF"/>
              </a:gs>
              <a:gs pos="100000">
                <a:srgbClr val="0072FF"/>
              </a:gs>
            </a:gsLst>
            <a:lin ang="5400000" scaled="1"/>
          </a:gradFill>
        </a:ln>
      </a:spPr>
      <a:bodyPr rtlCol="0" anchor="ctr"/>
      <a:lstStyle>
        <a:defPPr algn="ctr">
          <a:defRPr dirty="0" smtClean="0">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just">
          <a:lnSpc>
            <a:spcPct val="120000"/>
          </a:lnSpc>
          <a:spcBef>
            <a:spcPts val="200"/>
          </a:spcBef>
          <a:spcAft>
            <a:spcPts val="200"/>
          </a:spcAft>
          <a:defRPr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 Bai giang so UIT update</Template>
  <TotalTime>1428</TotalTime>
  <Words>2832</Words>
  <Application>Microsoft Macintosh PowerPoint</Application>
  <PresentationFormat>Widescreen</PresentationFormat>
  <Paragraphs>528</Paragraphs>
  <Slides>38</Slides>
  <Notes>19</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38</vt:i4>
      </vt:variant>
    </vt:vector>
  </HeadingPairs>
  <TitlesOfParts>
    <vt:vector size="50" baseType="lpstr">
      <vt:lpstr>Arial</vt:lpstr>
      <vt:lpstr>Calibri</vt:lpstr>
      <vt:lpstr>Cambria Math</vt:lpstr>
      <vt:lpstr>Courier New</vt:lpstr>
      <vt:lpstr>Tahoma</vt:lpstr>
      <vt:lpstr>Times New Roman</vt:lpstr>
      <vt:lpstr>Times New Roman (Headings)</vt:lpstr>
      <vt:lpstr>Verdana</vt:lpstr>
      <vt:lpstr>Wingdings</vt:lpstr>
      <vt:lpstr>Office Theme</vt:lpstr>
      <vt:lpstr>Visio</vt:lpstr>
      <vt:lpstr>Artwork</vt:lpstr>
      <vt:lpstr>PowerPoint Presentation</vt:lpstr>
      <vt:lpstr>PowerPoint Presentation</vt:lpstr>
      <vt:lpstr>PowerPoint Presentation</vt:lpstr>
      <vt:lpstr>PowerPoint Presentation</vt:lpstr>
      <vt:lpstr>Hiện thực chức năng máy tính</vt:lpstr>
      <vt:lpstr>Hiện thực chức năng máy tính (tt)</vt:lpstr>
      <vt:lpstr>Hiện thực chức năng máy tính (tt)</vt:lpstr>
      <vt:lpstr>PowerPoint Presentation</vt:lpstr>
      <vt:lpstr>ALU (Arithmetic Logic Unit)</vt:lpstr>
      <vt:lpstr>ALU (Arithmetic Logic Unit)</vt:lpstr>
      <vt:lpstr>PowerPoint Presentation</vt:lpstr>
      <vt:lpstr>Mux (Multiplexer – Bộ đồn kênh (bộ chọn)</vt:lpstr>
      <vt:lpstr>Mux 4-1</vt:lpstr>
      <vt:lpstr>Quiz 2</vt:lpstr>
      <vt:lpstr>Mux nhiều bit</vt:lpstr>
      <vt:lpstr>PowerPoint Presentation</vt:lpstr>
      <vt:lpstr>Mạch cộng bán phần (Half Adder)</vt:lpstr>
      <vt:lpstr>Mạch cộng toàn phần (Full Adder)</vt:lpstr>
      <vt:lpstr>Mạch cộng toàn phần (Full Adder)</vt:lpstr>
      <vt:lpstr>Mạch cộng toàn phần (Full Adder)</vt:lpstr>
      <vt:lpstr>Mạch cộng toàn phần (Full Adder)</vt:lpstr>
      <vt:lpstr>Mạch cộng toàn phần (Full Adder)</vt:lpstr>
      <vt:lpstr>Bộ cộng 8 bit</vt:lpstr>
      <vt:lpstr>Bộ cộng 8 bit (tt)</vt:lpstr>
      <vt:lpstr>PowerPoint Presentation</vt:lpstr>
      <vt:lpstr>Bộ so sánh</vt:lpstr>
      <vt:lpstr>Bộ so sánh (tt)</vt:lpstr>
      <vt:lpstr>Bộ so sánh</vt:lpstr>
      <vt:lpstr>PowerPoint Presentation</vt:lpstr>
      <vt:lpstr>Bộ giải mã</vt:lpstr>
      <vt:lpstr>Bộ giải mã nhị phân</vt:lpstr>
      <vt:lpstr>Bộ giải mã nhị phân (tt)</vt:lpstr>
      <vt:lpstr>Bộ giải mã nhị phân (tt)</vt:lpstr>
      <vt:lpstr>PowerPoint Presentation</vt:lpstr>
      <vt:lpstr>Biểu diễn số có dấu</vt:lpstr>
      <vt:lpstr>Tập thanh ghi (tt)</vt:lpstr>
      <vt:lpstr>Tóm tắt lại nội dung buổi học</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Trần Hoàng Lộc</dc:creator>
  <cp:lastModifiedBy>Phan Đình Duy</cp:lastModifiedBy>
  <cp:revision>118</cp:revision>
  <dcterms:created xsi:type="dcterms:W3CDTF">2023-03-03T01:55:04Z</dcterms:created>
  <dcterms:modified xsi:type="dcterms:W3CDTF">2023-09-04T09:01:26Z</dcterms:modified>
</cp:coreProperties>
</file>