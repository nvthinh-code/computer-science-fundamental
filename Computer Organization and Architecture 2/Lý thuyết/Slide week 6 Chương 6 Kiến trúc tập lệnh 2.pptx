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324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26" r:id="rId15"/>
    <p:sldId id="305" r:id="rId16"/>
    <p:sldId id="306" r:id="rId17"/>
    <p:sldId id="307" r:id="rId18"/>
    <p:sldId id="325" r:id="rId19"/>
    <p:sldId id="327" r:id="rId20"/>
    <p:sldId id="328" r:id="rId21"/>
    <p:sldId id="308" r:id="rId22"/>
    <p:sldId id="309" r:id="rId23"/>
    <p:sldId id="310" r:id="rId24"/>
    <p:sldId id="311" r:id="rId25"/>
    <p:sldId id="314" r:id="rId26"/>
    <p:sldId id="315" r:id="rId27"/>
    <p:sldId id="316" r:id="rId28"/>
    <p:sldId id="317" r:id="rId29"/>
    <p:sldId id="318" r:id="rId30"/>
    <p:sldId id="319" r:id="rId31"/>
    <p:sldId id="329" r:id="rId32"/>
    <p:sldId id="330" r:id="rId33"/>
    <p:sldId id="331" r:id="rId34"/>
    <p:sldId id="320" r:id="rId35"/>
    <p:sldId id="321" r:id="rId36"/>
    <p:sldId id="322" r:id="rId37"/>
    <p:sldId id="312" r:id="rId38"/>
    <p:sldId id="313" r:id="rId39"/>
    <p:sldId id="323" r:id="rId4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4" roundtripDataSignature="AMtx7mhZ0EyXJ7hhGmvCcvW5IXwjvRB/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F5D750-6997-4D2D-A3B0-DC363B30ECF9}">
  <a:tblStyle styleId="{9DF5D750-6997-4D2D-A3B0-DC363B30EC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1263242-BA24-4460-BFDD-D3B9C48251D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01"/>
    <p:restoredTop sz="94690"/>
  </p:normalViewPr>
  <p:slideViewPr>
    <p:cSldViewPr snapToGrid="0">
      <p:cViewPr varScale="1">
        <p:scale>
          <a:sx n="112" d="100"/>
          <a:sy n="112" d="100"/>
        </p:scale>
        <p:origin x="23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7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7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7391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2" name="Google Shape;92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Đối với định dạng lệnh I, trường số tức thời là 16 bit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Đối với định dạng lệnh J, trường số tức thời là 26 bit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Lưu ý: Không được đánh đồng định dạng lệnh I là số tức thời và định dạng lệnh J là cho lệnh nhảy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1" name="Google Shape;931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Trường shamt chỉ được sử dụng cho các lệnh dịch, xoay</a:t>
            </a:r>
            <a:endParaRPr/>
          </a:p>
        </p:txBody>
      </p:sp>
      <p:sp>
        <p:nvSpPr>
          <p:cNvPr id="932" name="Google Shape;932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1" name="Google Shape;941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Trường shamt chỉ được sử dụng cho các lệnh dịch, xoay</a:t>
            </a:r>
            <a:endParaRPr/>
          </a:p>
        </p:txBody>
      </p:sp>
      <p:sp>
        <p:nvSpPr>
          <p:cNvPr id="942" name="Google Shape;942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6" name="Google Shape;956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Cho sinh viên xem bản MIPS reference data và hướng dẫn cách sử dụng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7" name="Google Shape;967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Cho sinh viên xem bản MIPS reference data và hướng dẫn cách sử dụng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8" name="Google Shape;978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Cho sinh viên xem bản MIPS reference data và hướng dẫn cách sử dụng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0" name="Google Shape;990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Cho sinh viên xem bản MIPS reference data và hướng dẫn cách sử dụng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1" name="Google Shape;941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Trường shamt chỉ được sử dụng cho các lệnh dịch, xoay</a:t>
            </a:r>
            <a:endParaRPr/>
          </a:p>
        </p:txBody>
      </p:sp>
      <p:sp>
        <p:nvSpPr>
          <p:cNvPr id="942" name="Google Shape;942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39653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0" name="Google Shape;1000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Trường shamt chỉ được sử dụng cho các lệnh dịch, xoay</a:t>
            </a:r>
            <a:endParaRPr/>
          </a:p>
        </p:txBody>
      </p:sp>
      <p:sp>
        <p:nvSpPr>
          <p:cNvPr id="1001" name="Google Shape;1001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0" name="Google Shape;1010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0000"/>
                </a:solidFill>
              </a:rPr>
              <a:t>Quy ước: Nếu sử dụng số tức thời lớn hơn 16 bit thì sẽ gây lỗi biên dịch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Đây chỉ là một quy ước, tùy vào cách cách hiện thực trình biên dịch hợp ngữ mà hành vi có thể khác nhau, có thể là: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Lỗi biên dịch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Tự sinh thêm các lệnh khác và chia giá trị tức thời thành các giá trị nhỏ hơn 16 bit rồi mới thực thi lệnh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Chỉ lấy 16 bit cuối cùng để tính giá trị khi thực thi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0" name="Google Shape;1020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Tra opcode và funct tại BẢNG TRA CỨU MIPS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0" name="Google Shape;1020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Tra opcode và funct tại BẢNG TRA CỨU MIPS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35253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0" name="Google Shape;1020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Tra opcode và funct tại BẢNG TRA CỨU MIPS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98463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0" name="Google Shape;1020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Tra opcode và funct tại BẢNG TRA CỨU MIPS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11735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5" name="Google Shape;1035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Tra opcode và funct tại BẢNG TRA CỨU MIPS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6" name="Google Shape;1046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6" name="Google Shape;1056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0xCAFEBAB8 là địa chỉ của lệnh j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0xCAFEBAFC là địa chỉ muốn nhảy đến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Tra opcode và cách tính address tại BẢNG TRA CỨU MIPS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/>
              <a:t>PC + 4 = 0xCAFEBABE8+ 4 = 0xCAFEBBABC-&gt; (PC+4)[31:28] = 0xC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0xAFEBAFC = {address, 2’b0} -&gt; address = 0xAFEBAFC &gt;&gt; 2 = 0x2BFAEBF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1" name="Google Shape;1071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Tra opcode và funct tại BẢNG TRA CỨU MIPS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1" name="Google Shape;1101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0" name="Google Shape;1110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40400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33657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38573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7" name="Google Shape;1157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0" name="Google Shape;1080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3" name="Google Shape;1183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">
  <p:cSld name="Tiêu đề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0"/>
          <p:cNvSpPr txBox="1">
            <a:spLocks noGrp="1"/>
          </p:cNvSpPr>
          <p:nvPr>
            <p:ph type="ftr" idx="11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0"/>
          <p:cNvSpPr/>
          <p:nvPr/>
        </p:nvSpPr>
        <p:spPr>
          <a:xfrm rot="10800000">
            <a:off x="-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70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Google Shape;19;p70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0" name="Google Shape;20;p7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" name="Google Shape;21;p7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" name="Google Shape;22;p7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3" name="Google Shape;23;p70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oogle Shape;24;p70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5" name="Google Shape;25;p7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6;p7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7;p7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8" name="Google Shape;28;p70"/>
          <p:cNvSpPr/>
          <p:nvPr/>
        </p:nvSpPr>
        <p:spPr>
          <a:xfrm flipH="1">
            <a:off x="5441009" y="0"/>
            <a:ext cx="6750991" cy="3048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70"/>
          <p:cNvSpPr/>
          <p:nvPr/>
        </p:nvSpPr>
        <p:spPr>
          <a:xfrm rot="10800000" flipH="1">
            <a:off x="0" y="6553200"/>
            <a:ext cx="6750991" cy="3048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70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0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32" name="Google Shape;32;p70"/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70"/>
          <p:cNvSpPr txBox="1">
            <a:spLocks noGrp="1"/>
          </p:cNvSpPr>
          <p:nvPr>
            <p:ph type="sldNum" idx="12"/>
          </p:nvPr>
        </p:nvSpPr>
        <p:spPr>
          <a:xfrm>
            <a:off x="11894359" y="6566401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70"/>
          <p:cNvSpPr txBox="1">
            <a:spLocks noGrp="1"/>
          </p:cNvSpPr>
          <p:nvPr>
            <p:ph type="body" idx="1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70"/>
          <p:cNvSpPr txBox="1">
            <a:spLocks noGrp="1"/>
          </p:cNvSpPr>
          <p:nvPr>
            <p:ph type="body" idx="2"/>
          </p:nvPr>
        </p:nvSpPr>
        <p:spPr>
          <a:xfrm>
            <a:off x="876991" y="3039455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2000"/>
              <a:buNone/>
              <a:defRPr sz="2000" b="1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0"/>
          <p:cNvSpPr txBox="1">
            <a:spLocks noGrp="1"/>
          </p:cNvSpPr>
          <p:nvPr>
            <p:ph type="body" idx="3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0"/>
          <p:cNvSpPr txBox="1">
            <a:spLocks noGrp="1"/>
          </p:cNvSpPr>
          <p:nvPr>
            <p:ph type="body" idx="4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200"/>
              <a:buNone/>
              <a:defRPr sz="1200">
                <a:solidFill>
                  <a:srgbClr val="BFBFB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70"/>
          <p:cNvSpPr txBox="1">
            <a:spLocks noGrp="1"/>
          </p:cNvSpPr>
          <p:nvPr>
            <p:ph type="dt" idx="10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ẫu nội dung 1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1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7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" name="Google Shape;42;p71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43" name="Google Shape;43;p7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4" name="Google Shape;44;p7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5" name="Google Shape;45;p7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6" name="Google Shape;46;p7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" name="Google Shape;47;p71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48" name="Google Shape;48;p7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9" name="Google Shape;49;p7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" name="Google Shape;50;p7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1" name="Google Shape;51;p71"/>
          <p:cNvSpPr/>
          <p:nvPr/>
        </p:nvSpPr>
        <p:spPr>
          <a:xfrm>
            <a:off x="11924323" y="6588855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71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1"/>
          <p:cNvSpPr txBox="1">
            <a:spLocks noGrp="1"/>
          </p:cNvSpPr>
          <p:nvPr>
            <p:ph type="body" idx="1"/>
          </p:nvPr>
        </p:nvSpPr>
        <p:spPr>
          <a:xfrm>
            <a:off x="1142797" y="1195821"/>
            <a:ext cx="10515600" cy="516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1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1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71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1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1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1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1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1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71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1"/>
          <p:cNvSpPr txBox="1">
            <a:spLocks noGrp="1"/>
          </p:cNvSpPr>
          <p:nvPr>
            <p:ph type="dt" idx="10"/>
          </p:nvPr>
        </p:nvSpPr>
        <p:spPr>
          <a:xfrm>
            <a:off x="838200" y="6458365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ục lục">
  <p:cSld name="Mục lục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2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72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67" name="Google Shape;67;p7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8" name="Google Shape;68;p7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9" name="Google Shape;69;p7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70" name="Google Shape;70;p72"/>
          <p:cNvSpPr txBox="1">
            <a:spLocks noGrp="1"/>
          </p:cNvSpPr>
          <p:nvPr>
            <p:ph type="ftr" idx="11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1" name="Google Shape;71;p72"/>
          <p:cNvGrpSpPr/>
          <p:nvPr/>
        </p:nvGrpSpPr>
        <p:grpSpPr>
          <a:xfrm>
            <a:off x="-1259888" y="1121391"/>
            <a:ext cx="4841288" cy="5054000"/>
            <a:chOff x="-1259888" y="901609"/>
            <a:chExt cx="4841288" cy="5054000"/>
          </a:xfrm>
        </p:grpSpPr>
        <p:grpSp>
          <p:nvGrpSpPr>
            <p:cNvPr id="72" name="Google Shape;72;p72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3" name="Google Shape;73;p72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" name="Google Shape;74;p72"/>
              <p:cNvCxnSpPr/>
              <p:nvPr/>
            </p:nvCxnSpPr>
            <p:spPr>
              <a:xfrm rot="10800000" flipH="1">
                <a:off x="2520285" y="1059987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" name="Google Shape;75;p72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6" name="Google Shape;76;p72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" name="Google Shape;77;p72"/>
            <p:cNvGrpSpPr/>
            <p:nvPr/>
          </p:nvGrpSpPr>
          <p:grpSpPr>
            <a:xfrm rot="10800000" flipH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78" name="Google Shape;78;p72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" name="Google Shape;79;p72"/>
              <p:cNvCxnSpPr/>
              <p:nvPr/>
            </p:nvCxnSpPr>
            <p:spPr>
              <a:xfrm rot="10800000" flipH="1">
                <a:off x="2520285" y="1390903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0" name="Google Shape;80;p72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1" name="Google Shape;81;p72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" name="Google Shape;82;p72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83" name="Google Shape;83;p7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4" name="Google Shape;84;p7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" name="Google Shape;85;p72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6" name="Google Shape;86;p7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87" name="Google Shape;87;p72"/>
            <p:cNvGrpSpPr/>
            <p:nvPr/>
          </p:nvGrpSpPr>
          <p:grpSpPr>
            <a:xfrm rot="10800000" flipH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88" name="Google Shape;88;p7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9" name="Google Shape;89;p7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" name="Google Shape;90;p72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" name="Google Shape;91;p7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92" name="Google Shape;92;p72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93" name="Google Shape;93;p72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4" name="Google Shape;94;p72"/>
              <p:cNvCxnSpPr/>
              <p:nvPr/>
            </p:nvCxnSpPr>
            <p:spPr>
              <a:xfrm rot="10800000" flipH="1">
                <a:off x="1368303" y="2877197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5" name="Google Shape;95;p72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6" name="Google Shape;96;p72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" name="Google Shape;97;p72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98" name="Google Shape;98;p72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9" name="Google Shape;99;p72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0" name="Google Shape;100;p72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01" name="Google Shape;101;p72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2" name="Google Shape;102;p72"/>
          <p:cNvGrpSpPr/>
          <p:nvPr/>
        </p:nvGrpSpPr>
        <p:grpSpPr>
          <a:xfrm flipH="1">
            <a:off x="8607643" y="1121391"/>
            <a:ext cx="4841288" cy="5054000"/>
            <a:chOff x="-1259888" y="901609"/>
            <a:chExt cx="4841288" cy="5054000"/>
          </a:xfrm>
        </p:grpSpPr>
        <p:grpSp>
          <p:nvGrpSpPr>
            <p:cNvPr id="103" name="Google Shape;103;p72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104" name="Google Shape;104;p72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5" name="Google Shape;105;p72"/>
              <p:cNvCxnSpPr/>
              <p:nvPr/>
            </p:nvCxnSpPr>
            <p:spPr>
              <a:xfrm rot="10800000" flipH="1">
                <a:off x="2520285" y="1059987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6" name="Google Shape;106;p72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07" name="Google Shape;107;p72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" name="Google Shape;108;p72"/>
            <p:cNvGrpSpPr/>
            <p:nvPr/>
          </p:nvGrpSpPr>
          <p:grpSpPr>
            <a:xfrm rot="10800000" flipH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09" name="Google Shape;109;p72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0" name="Google Shape;110;p72"/>
              <p:cNvCxnSpPr/>
              <p:nvPr/>
            </p:nvCxnSpPr>
            <p:spPr>
              <a:xfrm rot="10800000" flipH="1">
                <a:off x="2520285" y="1390903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1" name="Google Shape;111;p72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12" name="Google Shape;112;p72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" name="Google Shape;113;p72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14" name="Google Shape;114;p7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5" name="Google Shape;115;p7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6" name="Google Shape;116;p72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7" name="Google Shape;117;p7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18" name="Google Shape;118;p72"/>
            <p:cNvGrpSpPr/>
            <p:nvPr/>
          </p:nvGrpSpPr>
          <p:grpSpPr>
            <a:xfrm rot="10800000" flipH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119" name="Google Shape;119;p7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0" name="Google Shape;120;p7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1" name="Google Shape;121;p72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2" name="Google Shape;122;p7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23" name="Google Shape;123;p72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124" name="Google Shape;124;p72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5" name="Google Shape;125;p72"/>
              <p:cNvCxnSpPr/>
              <p:nvPr/>
            </p:nvCxnSpPr>
            <p:spPr>
              <a:xfrm rot="10800000" flipH="1">
                <a:off x="1368303" y="2877197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6" name="Google Shape;126;p72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27" name="Google Shape;127;p72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" name="Google Shape;128;p72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129" name="Google Shape;129;p72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0" name="Google Shape;130;p72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1" name="Google Shape;131;p72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2" name="Google Shape;132;p72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3" name="Google Shape;133;p72"/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2"/>
          <p:cNvSpPr txBox="1">
            <a:spLocks noGrp="1"/>
          </p:cNvSpPr>
          <p:nvPr>
            <p:ph type="sldNum" idx="12"/>
          </p:nvPr>
        </p:nvSpPr>
        <p:spPr>
          <a:xfrm>
            <a:off x="11900400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72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MỤC TIÊU</a:t>
            </a:r>
            <a:endParaRPr sz="36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72"/>
          <p:cNvSpPr txBox="1">
            <a:spLocks noGrp="1"/>
          </p:cNvSpPr>
          <p:nvPr>
            <p:ph type="body" idx="1"/>
          </p:nvPr>
        </p:nvSpPr>
        <p:spPr>
          <a:xfrm>
            <a:off x="2735144" y="1286346"/>
            <a:ext cx="6721714" cy="4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72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" name="Google Shape;138;p72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139" name="Google Shape;139;p7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0" name="Google Shape;140;p7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1" name="Google Shape;141;p7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142" name="Google Shape;142;p72" descr="A picture containing clipart, vector graphic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2"/>
          <p:cNvSpPr txBox="1">
            <a:spLocks noGrp="1"/>
          </p:cNvSpPr>
          <p:nvPr>
            <p:ph type="dt" idx="10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ục lục">
  <p:cSld name="1_Mục lục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3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73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147" name="Google Shape;147;p7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8" name="Google Shape;148;p7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9" name="Google Shape;149;p73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50" name="Google Shape;150;p73"/>
          <p:cNvSpPr txBox="1">
            <a:spLocks noGrp="1"/>
          </p:cNvSpPr>
          <p:nvPr>
            <p:ph type="ftr" idx="11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1" name="Google Shape;151;p73"/>
          <p:cNvGrpSpPr/>
          <p:nvPr/>
        </p:nvGrpSpPr>
        <p:grpSpPr>
          <a:xfrm>
            <a:off x="-1259888" y="1121391"/>
            <a:ext cx="4841288" cy="5054000"/>
            <a:chOff x="-1259888" y="901609"/>
            <a:chExt cx="4841288" cy="5054000"/>
          </a:xfrm>
        </p:grpSpPr>
        <p:grpSp>
          <p:nvGrpSpPr>
            <p:cNvPr id="152" name="Google Shape;152;p73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153" name="Google Shape;153;p73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4" name="Google Shape;154;p73"/>
              <p:cNvCxnSpPr/>
              <p:nvPr/>
            </p:nvCxnSpPr>
            <p:spPr>
              <a:xfrm rot="10800000" flipH="1">
                <a:off x="2520285" y="1059987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5" name="Google Shape;155;p73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56" name="Google Shape;156;p73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7" name="Google Shape;157;p73"/>
            <p:cNvGrpSpPr/>
            <p:nvPr/>
          </p:nvGrpSpPr>
          <p:grpSpPr>
            <a:xfrm rot="10800000" flipH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58" name="Google Shape;158;p73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9" name="Google Shape;159;p73"/>
              <p:cNvCxnSpPr/>
              <p:nvPr/>
            </p:nvCxnSpPr>
            <p:spPr>
              <a:xfrm rot="10800000" flipH="1">
                <a:off x="2520285" y="1390903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0" name="Google Shape;160;p73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1" name="Google Shape;161;p73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73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63" name="Google Shape;163;p73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64" name="Google Shape;164;p73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5" name="Google Shape;165;p73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6" name="Google Shape;166;p73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67" name="Google Shape;167;p73"/>
            <p:cNvGrpSpPr/>
            <p:nvPr/>
          </p:nvGrpSpPr>
          <p:grpSpPr>
            <a:xfrm rot="10800000" flipH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168" name="Google Shape;168;p73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69" name="Google Shape;169;p73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0" name="Google Shape;170;p73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1" name="Google Shape;171;p73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72" name="Google Shape;172;p73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173" name="Google Shape;173;p73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4" name="Google Shape;174;p73"/>
              <p:cNvCxnSpPr/>
              <p:nvPr/>
            </p:nvCxnSpPr>
            <p:spPr>
              <a:xfrm rot="10800000" flipH="1">
                <a:off x="1368303" y="2877197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5" name="Google Shape;175;p73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6" name="Google Shape;176;p73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" name="Google Shape;177;p73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178" name="Google Shape;178;p73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9" name="Google Shape;179;p73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0" name="Google Shape;180;p73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81" name="Google Shape;181;p73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2" name="Google Shape;182;p73"/>
          <p:cNvGrpSpPr/>
          <p:nvPr/>
        </p:nvGrpSpPr>
        <p:grpSpPr>
          <a:xfrm flipH="1">
            <a:off x="8607643" y="1121391"/>
            <a:ext cx="4841288" cy="5054000"/>
            <a:chOff x="-1259888" y="901609"/>
            <a:chExt cx="4841288" cy="5054000"/>
          </a:xfrm>
        </p:grpSpPr>
        <p:grpSp>
          <p:nvGrpSpPr>
            <p:cNvPr id="183" name="Google Shape;183;p73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184" name="Google Shape;184;p73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5" name="Google Shape;185;p73"/>
              <p:cNvCxnSpPr/>
              <p:nvPr/>
            </p:nvCxnSpPr>
            <p:spPr>
              <a:xfrm rot="10800000" flipH="1">
                <a:off x="2520285" y="1059987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6" name="Google Shape;186;p73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87" name="Google Shape;187;p73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73"/>
            <p:cNvGrpSpPr/>
            <p:nvPr/>
          </p:nvGrpSpPr>
          <p:grpSpPr>
            <a:xfrm rot="10800000" flipH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89" name="Google Shape;189;p73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0" name="Google Shape;190;p73"/>
              <p:cNvCxnSpPr/>
              <p:nvPr/>
            </p:nvCxnSpPr>
            <p:spPr>
              <a:xfrm rot="10800000" flipH="1">
                <a:off x="2520285" y="1390903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1" name="Google Shape;191;p73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92" name="Google Shape;192;p73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3" name="Google Shape;193;p73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94" name="Google Shape;194;p73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5" name="Google Shape;195;p73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6" name="Google Shape;196;p73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7" name="Google Shape;197;p73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98" name="Google Shape;198;p73"/>
            <p:cNvGrpSpPr/>
            <p:nvPr/>
          </p:nvGrpSpPr>
          <p:grpSpPr>
            <a:xfrm rot="10800000" flipH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199" name="Google Shape;199;p73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0" name="Google Shape;200;p73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1" name="Google Shape;201;p73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2" name="Google Shape;202;p73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03" name="Google Shape;203;p73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04" name="Google Shape;204;p73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5" name="Google Shape;205;p73"/>
              <p:cNvCxnSpPr/>
              <p:nvPr/>
            </p:nvCxnSpPr>
            <p:spPr>
              <a:xfrm rot="10800000" flipH="1">
                <a:off x="1368303" y="2877197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6" name="Google Shape;206;p73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07" name="Google Shape;207;p73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" name="Google Shape;208;p73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209" name="Google Shape;209;p73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0" name="Google Shape;210;p73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1" name="Google Shape;211;p73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12" name="Google Shape;212;p73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3" name="Google Shape;213;p73"/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3"/>
          <p:cNvSpPr txBox="1">
            <a:spLocks noGrp="1"/>
          </p:cNvSpPr>
          <p:nvPr>
            <p:ph type="sldNum" idx="12"/>
          </p:nvPr>
        </p:nvSpPr>
        <p:spPr>
          <a:xfrm>
            <a:off x="11900400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73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</a:t>
            </a:r>
            <a:endParaRPr/>
          </a:p>
        </p:txBody>
      </p:sp>
      <p:sp>
        <p:nvSpPr>
          <p:cNvPr id="216" name="Google Shape;216;p73"/>
          <p:cNvSpPr txBox="1">
            <a:spLocks noGrp="1"/>
          </p:cNvSpPr>
          <p:nvPr>
            <p:ph type="body" idx="1"/>
          </p:nvPr>
        </p:nvSpPr>
        <p:spPr>
          <a:xfrm>
            <a:off x="2735144" y="1286346"/>
            <a:ext cx="6721714" cy="4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73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8" name="Google Shape;218;p73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219" name="Google Shape;219;p7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0" name="Google Shape;220;p7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1" name="Google Shape;221;p73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222" name="Google Shape;222;p73" descr="A picture containing clipart, vector graphic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3"/>
          <p:cNvSpPr txBox="1">
            <a:spLocks noGrp="1"/>
          </p:cNvSpPr>
          <p:nvPr>
            <p:ph type="dt" idx="10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 chương">
  <p:cSld name="Tiêu đề chương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74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4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solidFill>
            <a:srgbClr val="00F7FF"/>
          </a:solidFill>
          <a:ln w="12700" cap="flat" cmpd="sng">
            <a:solidFill>
              <a:srgbClr val="00F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4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solidFill>
            <a:srgbClr val="00F7FF"/>
          </a:solidFill>
          <a:ln w="12700" cap="flat" cmpd="sng">
            <a:solidFill>
              <a:srgbClr val="00F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4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solidFill>
            <a:srgbClr val="00F7FF"/>
          </a:solidFill>
          <a:ln w="12700" cap="flat" cmpd="sng">
            <a:solidFill>
              <a:srgbClr val="00F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4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F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4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F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4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F7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4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4" name="Google Shape;234;p74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35" name="Google Shape;235;p7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6" name="Google Shape;236;p7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7" name="Google Shape;237;p7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38" name="Google Shape;238;p74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" name="Google Shape;239;p74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40" name="Google Shape;240;p7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1" name="Google Shape;241;p7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2" name="Google Shape;242;p7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43" name="Google Shape;243;p74"/>
          <p:cNvSpPr/>
          <p:nvPr/>
        </p:nvSpPr>
        <p:spPr>
          <a:xfrm>
            <a:off x="1192873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4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4"/>
          <p:cNvSpPr txBox="1">
            <a:spLocks noGrp="1"/>
          </p:cNvSpPr>
          <p:nvPr>
            <p:ph type="sldNum" idx="12"/>
          </p:nvPr>
        </p:nvSpPr>
        <p:spPr>
          <a:xfrm>
            <a:off x="1189939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" name="Google Shape;246;p74"/>
          <p:cNvSpPr txBox="1">
            <a:spLocks noGrp="1"/>
          </p:cNvSpPr>
          <p:nvPr>
            <p:ph type="body" idx="1"/>
          </p:nvPr>
        </p:nvSpPr>
        <p:spPr>
          <a:xfrm>
            <a:off x="1470930" y="2095027"/>
            <a:ext cx="6264164" cy="88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sz="44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74"/>
          <p:cNvSpPr txBox="1">
            <a:spLocks noGrp="1"/>
          </p:cNvSpPr>
          <p:nvPr>
            <p:ph type="body" idx="2"/>
          </p:nvPr>
        </p:nvSpPr>
        <p:spPr>
          <a:xfrm>
            <a:off x="1470930" y="3169159"/>
            <a:ext cx="8913813" cy="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74"/>
          <p:cNvSpPr txBox="1">
            <a:spLocks noGrp="1"/>
          </p:cNvSpPr>
          <p:nvPr>
            <p:ph type="body" idx="3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74"/>
          <p:cNvSpPr txBox="1">
            <a:spLocks noGrp="1"/>
          </p:cNvSpPr>
          <p:nvPr>
            <p:ph type="body" idx="4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  <a:defRPr sz="120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50" name="Google Shape;250;p74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w="25400" cap="rnd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1" name="Google Shape;251;p74"/>
          <p:cNvSpPr txBox="1">
            <a:spLocks noGrp="1"/>
          </p:cNvSpPr>
          <p:nvPr>
            <p:ph type="dt" idx="10"/>
          </p:nvPr>
        </p:nvSpPr>
        <p:spPr>
          <a:xfrm>
            <a:off x="8382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74"/>
          <p:cNvSpPr txBox="1">
            <a:spLocks noGrp="1"/>
          </p:cNvSpPr>
          <p:nvPr>
            <p:ph type="ftr" idx="11"/>
          </p:nvPr>
        </p:nvSpPr>
        <p:spPr>
          <a:xfrm>
            <a:off x="3677478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ống" type="blank">
  <p:cSld name="BLANK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5"/>
          <p:cNvSpPr txBox="1">
            <a:spLocks noGrp="1"/>
          </p:cNvSpPr>
          <p:nvPr>
            <p:ph type="ftr" idx="11"/>
          </p:nvPr>
        </p:nvSpPr>
        <p:spPr>
          <a:xfrm>
            <a:off x="3684104" y="6481647"/>
            <a:ext cx="482379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75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5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7" name="Google Shape;257;p75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58" name="Google Shape;258;p7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9" name="Google Shape;259;p7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0" name="Google Shape;260;p7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61" name="Google Shape;261;p75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2" name="Google Shape;262;p75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63" name="Google Shape;263;p7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4" name="Google Shape;264;p7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5" name="Google Shape;265;p7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66" name="Google Shape;266;p75"/>
          <p:cNvSpPr/>
          <p:nvPr/>
        </p:nvSpPr>
        <p:spPr>
          <a:xfrm>
            <a:off x="11926541" y="6589084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5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5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5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5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5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5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75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75"/>
          <p:cNvSpPr txBox="1">
            <a:spLocks noGrp="1"/>
          </p:cNvSpPr>
          <p:nvPr>
            <p:ph type="sldNum" idx="12"/>
          </p:nvPr>
        </p:nvSpPr>
        <p:spPr>
          <a:xfrm>
            <a:off x="11897699" y="656024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5" name="Google Shape;275;p75"/>
          <p:cNvSpPr txBox="1">
            <a:spLocks noGrp="1"/>
          </p:cNvSpPr>
          <p:nvPr>
            <p:ph type="dt" idx="10"/>
          </p:nvPr>
        </p:nvSpPr>
        <p:spPr>
          <a:xfrm>
            <a:off x="838200" y="6481647"/>
            <a:ext cx="2148299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ẫu nội dung 2" type="twoObj">
  <p:cSld name="TWO_OBJECTS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6"/>
          <p:cNvSpPr txBox="1">
            <a:spLocks noGrp="1"/>
          </p:cNvSpPr>
          <p:nvPr>
            <p:ph type="title"/>
          </p:nvPr>
        </p:nvSpPr>
        <p:spPr>
          <a:xfrm>
            <a:off x="838200" y="914804"/>
            <a:ext cx="10515600" cy="97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76"/>
          <p:cNvSpPr txBox="1">
            <a:spLocks noGrp="1"/>
          </p:cNvSpPr>
          <p:nvPr>
            <p:ph type="body" idx="1"/>
          </p:nvPr>
        </p:nvSpPr>
        <p:spPr>
          <a:xfrm>
            <a:off x="838200" y="202835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9" name="Google Shape;279;p76"/>
          <p:cNvSpPr txBox="1">
            <a:spLocks noGrp="1"/>
          </p:cNvSpPr>
          <p:nvPr>
            <p:ph type="body" idx="2"/>
          </p:nvPr>
        </p:nvSpPr>
        <p:spPr>
          <a:xfrm>
            <a:off x="6172200" y="202835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0" name="Google Shape;280;p76"/>
          <p:cNvSpPr txBox="1">
            <a:spLocks noGrp="1"/>
          </p:cNvSpPr>
          <p:nvPr>
            <p:ph type="ftr" idx="11"/>
          </p:nvPr>
        </p:nvSpPr>
        <p:spPr>
          <a:xfrm>
            <a:off x="3535017" y="6481647"/>
            <a:ext cx="5121966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76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6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3" name="Google Shape;283;p76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84" name="Google Shape;284;p7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5" name="Google Shape;285;p7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6" name="Google Shape;286;p7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87" name="Google Shape;287;p76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8" name="Google Shape;288;p76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89" name="Google Shape;289;p7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0" name="Google Shape;290;p7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1" name="Google Shape;291;p7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92" name="Google Shape;292;p76"/>
          <p:cNvSpPr/>
          <p:nvPr/>
        </p:nvSpPr>
        <p:spPr>
          <a:xfrm>
            <a:off x="11928288" y="6592262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6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6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6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6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6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6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76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76"/>
          <p:cNvSpPr txBox="1">
            <a:spLocks noGrp="1"/>
          </p:cNvSpPr>
          <p:nvPr>
            <p:ph type="sldNum" idx="12"/>
          </p:nvPr>
        </p:nvSpPr>
        <p:spPr>
          <a:xfrm>
            <a:off x="11899446" y="656342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76"/>
          <p:cNvSpPr txBox="1">
            <a:spLocks noGrp="1"/>
          </p:cNvSpPr>
          <p:nvPr>
            <p:ph type="dt" idx="10"/>
          </p:nvPr>
        </p:nvSpPr>
        <p:spPr>
          <a:xfrm>
            <a:off x="8382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ẫu nội dung 3" type="twoTxTwoObj">
  <p:cSld name="TWO_OBJECTS_WITH_TEXT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77"/>
          <p:cNvSpPr txBox="1">
            <a:spLocks noGrp="1"/>
          </p:cNvSpPr>
          <p:nvPr>
            <p:ph type="title"/>
          </p:nvPr>
        </p:nvSpPr>
        <p:spPr>
          <a:xfrm>
            <a:off x="839788" y="812850"/>
            <a:ext cx="10515600" cy="1045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77"/>
          <p:cNvSpPr txBox="1">
            <a:spLocks noGrp="1"/>
          </p:cNvSpPr>
          <p:nvPr>
            <p:ph type="body" idx="1"/>
          </p:nvPr>
        </p:nvSpPr>
        <p:spPr>
          <a:xfrm>
            <a:off x="839788" y="1848789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5" name="Google Shape;305;p77"/>
          <p:cNvSpPr txBox="1">
            <a:spLocks noGrp="1"/>
          </p:cNvSpPr>
          <p:nvPr>
            <p:ph type="body" idx="2"/>
          </p:nvPr>
        </p:nvSpPr>
        <p:spPr>
          <a:xfrm>
            <a:off x="839788" y="2672701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6" name="Google Shape;306;p77"/>
          <p:cNvSpPr txBox="1">
            <a:spLocks noGrp="1"/>
          </p:cNvSpPr>
          <p:nvPr>
            <p:ph type="body" idx="3"/>
          </p:nvPr>
        </p:nvSpPr>
        <p:spPr>
          <a:xfrm>
            <a:off x="6172200" y="1848789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7" name="Google Shape;307;p77"/>
          <p:cNvSpPr txBox="1">
            <a:spLocks noGrp="1"/>
          </p:cNvSpPr>
          <p:nvPr>
            <p:ph type="body" idx="4"/>
          </p:nvPr>
        </p:nvSpPr>
        <p:spPr>
          <a:xfrm>
            <a:off x="6172200" y="2672701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77"/>
          <p:cNvSpPr txBox="1">
            <a:spLocks noGrp="1"/>
          </p:cNvSpPr>
          <p:nvPr>
            <p:ph type="ftr" idx="11"/>
          </p:nvPr>
        </p:nvSpPr>
        <p:spPr>
          <a:xfrm>
            <a:off x="3533429" y="6481647"/>
            <a:ext cx="512514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77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7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1" name="Google Shape;311;p77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312" name="Google Shape;312;p7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3" name="Google Shape;313;p7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4" name="Google Shape;314;p77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15" name="Google Shape;315;p77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6" name="Google Shape;316;p77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317" name="Google Shape;317;p7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8" name="Google Shape;318;p7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9" name="Google Shape;319;p77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20" name="Google Shape;320;p77"/>
          <p:cNvSpPr/>
          <p:nvPr/>
        </p:nvSpPr>
        <p:spPr>
          <a:xfrm>
            <a:off x="11920781" y="6595999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77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7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7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7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7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7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77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77"/>
          <p:cNvSpPr txBox="1">
            <a:spLocks noGrp="1"/>
          </p:cNvSpPr>
          <p:nvPr>
            <p:ph type="sldNum" idx="12"/>
          </p:nvPr>
        </p:nvSpPr>
        <p:spPr>
          <a:xfrm>
            <a:off x="11891939" y="6567157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9" name="Google Shape;329;p77"/>
          <p:cNvSpPr txBox="1">
            <a:spLocks noGrp="1"/>
          </p:cNvSpPr>
          <p:nvPr>
            <p:ph type="dt" idx="10"/>
          </p:nvPr>
        </p:nvSpPr>
        <p:spPr>
          <a:xfrm>
            <a:off x="8382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ẫu nội dung 4" type="objTx">
  <p:cSld name="OBJECT_WITH_CAPTION_TEXT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78"/>
          <p:cNvSpPr txBox="1">
            <a:spLocks noGrp="1"/>
          </p:cNvSpPr>
          <p:nvPr>
            <p:ph type="title"/>
          </p:nvPr>
        </p:nvSpPr>
        <p:spPr>
          <a:xfrm>
            <a:off x="839788" y="794059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3200"/>
              <a:buFont typeface="Times New Roman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78"/>
          <p:cNvSpPr txBox="1">
            <a:spLocks noGrp="1"/>
          </p:cNvSpPr>
          <p:nvPr>
            <p:ph type="body" idx="1"/>
          </p:nvPr>
        </p:nvSpPr>
        <p:spPr>
          <a:xfrm>
            <a:off x="5183188" y="1332222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33" name="Google Shape;333;p78"/>
          <p:cNvSpPr txBox="1">
            <a:spLocks noGrp="1"/>
          </p:cNvSpPr>
          <p:nvPr>
            <p:ph type="body" idx="2"/>
          </p:nvPr>
        </p:nvSpPr>
        <p:spPr>
          <a:xfrm>
            <a:off x="839788" y="2394259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34" name="Google Shape;334;p78"/>
          <p:cNvSpPr txBox="1">
            <a:spLocks noGrp="1"/>
          </p:cNvSpPr>
          <p:nvPr>
            <p:ph type="ftr" idx="11"/>
          </p:nvPr>
        </p:nvSpPr>
        <p:spPr>
          <a:xfrm>
            <a:off x="3564835" y="6481647"/>
            <a:ext cx="5062330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78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7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7" name="Google Shape;337;p7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338" name="Google Shape;338;p7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9" name="Google Shape;339;p7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40" name="Google Shape;340;p7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41" name="Google Shape;341;p7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2" name="Google Shape;342;p7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343" name="Google Shape;343;p7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4" name="Google Shape;344;p7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5" name="Google Shape;345;p7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6" name="Google Shape;346;p78"/>
          <p:cNvSpPr/>
          <p:nvPr/>
        </p:nvSpPr>
        <p:spPr>
          <a:xfrm>
            <a:off x="11928288" y="6594127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78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78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78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78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78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78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3" name="Google Shape;353;p78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78"/>
          <p:cNvSpPr txBox="1">
            <a:spLocks noGrp="1"/>
          </p:cNvSpPr>
          <p:nvPr>
            <p:ph type="sldNum" idx="12"/>
          </p:nvPr>
        </p:nvSpPr>
        <p:spPr>
          <a:xfrm>
            <a:off x="11899446" y="6565285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5" name="Google Shape;355;p78"/>
          <p:cNvSpPr txBox="1">
            <a:spLocks noGrp="1"/>
          </p:cNvSpPr>
          <p:nvPr>
            <p:ph type="dt" idx="10"/>
          </p:nvPr>
        </p:nvSpPr>
        <p:spPr>
          <a:xfrm>
            <a:off x="8382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ẫu nội dung 5" type="picTx">
  <p:cSld name="PICTURE_WITH_CAPTION_TEXT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7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3200"/>
              <a:buFont typeface="Times New Roman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7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59" name="Google Shape;359;p7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60" name="Google Shape;360;p79"/>
          <p:cNvSpPr txBox="1">
            <a:spLocks noGrp="1"/>
          </p:cNvSpPr>
          <p:nvPr>
            <p:ph type="ftr" idx="11"/>
          </p:nvPr>
        </p:nvSpPr>
        <p:spPr>
          <a:xfrm>
            <a:off x="3485322" y="6481647"/>
            <a:ext cx="5221356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79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79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3" name="Google Shape;363;p79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364" name="Google Shape;364;p7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5" name="Google Shape;365;p7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6" name="Google Shape;366;p7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7" name="Google Shape;367;p79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8" name="Google Shape;368;p79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369" name="Google Shape;369;p7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0" name="Google Shape;370;p7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1" name="Google Shape;371;p7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72" name="Google Shape;372;p79"/>
          <p:cNvSpPr/>
          <p:nvPr/>
        </p:nvSpPr>
        <p:spPr>
          <a:xfrm>
            <a:off x="11929297" y="6593855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79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79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9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9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9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79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w="12700" cap="flat" cmpd="sng">
            <a:solidFill>
              <a:srgbClr val="007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p79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79"/>
          <p:cNvSpPr txBox="1">
            <a:spLocks noGrp="1"/>
          </p:cNvSpPr>
          <p:nvPr>
            <p:ph type="sldNum" idx="12"/>
          </p:nvPr>
        </p:nvSpPr>
        <p:spPr>
          <a:xfrm>
            <a:off x="11900455" y="6565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1" name="Google Shape;381;p79"/>
          <p:cNvSpPr txBox="1">
            <a:spLocks noGrp="1"/>
          </p:cNvSpPr>
          <p:nvPr>
            <p:ph type="dt" idx="10"/>
          </p:nvPr>
        </p:nvSpPr>
        <p:spPr>
          <a:xfrm>
            <a:off x="8382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 b="1" i="0" u="none" strike="noStrike" cap="none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"/>
          <p:cNvSpPr txBox="1">
            <a:spLocks noGrp="1"/>
          </p:cNvSpPr>
          <p:nvPr>
            <p:ph type="sldNum" idx="12"/>
          </p:nvPr>
        </p:nvSpPr>
        <p:spPr>
          <a:xfrm>
            <a:off x="11894359" y="6566401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387" name="Google Shape;387;p1"/>
          <p:cNvSpPr txBox="1">
            <a:spLocks noGrp="1"/>
          </p:cNvSpPr>
          <p:nvPr>
            <p:ph type="body" idx="1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TỔ CHỨC VÀ CẤU TRÚC MÁY TÍNH II</a:t>
            </a:r>
            <a:endParaRPr/>
          </a:p>
        </p:txBody>
      </p:sp>
      <p:sp>
        <p:nvSpPr>
          <p:cNvPr id="388" name="Google Shape;388;p1"/>
          <p:cNvSpPr txBox="1">
            <a:spLocks noGrp="1"/>
          </p:cNvSpPr>
          <p:nvPr>
            <p:ph type="body" idx="2"/>
          </p:nvPr>
        </p:nvSpPr>
        <p:spPr>
          <a:xfrm>
            <a:off x="876991" y="3039455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46"/>
              </a:buClr>
              <a:buSzPts val="2000"/>
              <a:buNone/>
            </a:pPr>
            <a:r>
              <a:rPr lang="en-US" dirty="0"/>
              <a:t>CHƯƠNG 6: </a:t>
            </a:r>
            <a:r>
              <a:rPr lang="en-US" sz="2000" dirty="0"/>
              <a:t>KIẾN TRÚC TẬP LỆNH – PHẦN 2</a:t>
            </a:r>
            <a:endParaRPr dirty="0"/>
          </a:p>
        </p:txBody>
      </p:sp>
      <p:sp>
        <p:nvSpPr>
          <p:cNvPr id="389" name="Google Shape;389;p1"/>
          <p:cNvSpPr txBox="1">
            <a:spLocks noGrp="1"/>
          </p:cNvSpPr>
          <p:nvPr>
            <p:ph type="body" idx="3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/>
              <a:t>PHAN ĐÌNH DUY</a:t>
            </a:r>
            <a:endParaRPr/>
          </a:p>
        </p:txBody>
      </p:sp>
      <p:sp>
        <p:nvSpPr>
          <p:cNvPr id="390" name="Google Shape;390;p1"/>
          <p:cNvSpPr txBox="1">
            <a:spLocks noGrp="1"/>
          </p:cNvSpPr>
          <p:nvPr>
            <p:ph type="body" idx="4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200"/>
              <a:buNone/>
            </a:pP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sâu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MIPS bao </a:t>
            </a:r>
            <a:r>
              <a:rPr lang="en-US" dirty="0" err="1"/>
              <a:t>gồm</a:t>
            </a:r>
            <a:r>
              <a:rPr lang="en-US" dirty="0"/>
              <a:t>: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hang,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ngữ</a:t>
            </a:r>
            <a:endParaRPr dirty="0"/>
          </a:p>
        </p:txBody>
      </p:sp>
      <p:sp>
        <p:nvSpPr>
          <p:cNvPr id="391" name="Google Shape;391;p1"/>
          <p:cNvSpPr txBox="1">
            <a:spLocks noGrp="1"/>
          </p:cNvSpPr>
          <p:nvPr>
            <p:ph type="ftr" idx="11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Ôn tập các chương trước</a:t>
            </a:r>
            <a:endParaRPr/>
          </a:p>
        </p:txBody>
      </p:sp>
      <p:sp>
        <p:nvSpPr>
          <p:cNvPr id="397" name="Google Shape;397;p2"/>
          <p:cNvSpPr txBox="1">
            <a:spLocks noGrp="1"/>
          </p:cNvSpPr>
          <p:nvPr>
            <p:ph type="body" idx="1"/>
          </p:nvPr>
        </p:nvSpPr>
        <p:spPr>
          <a:xfrm>
            <a:off x="1142797" y="1195821"/>
            <a:ext cx="10515600" cy="516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Chương 1: Tổng quan về máy tính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Chương 2: Biểu diễn thông tin trong máy tính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Chương 3: Đại số Boolean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Chương 4: Mạch số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Chương 5: Ứng dụng mạch số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Chương 6: Kiến trúc tập lệnh -&gt; cách chương trình được biên dịch và lưu trữ trên phần cứng trên máy tính như thế nào?</a:t>
            </a:r>
            <a:endParaRPr/>
          </a:p>
        </p:txBody>
      </p:sp>
      <p:sp>
        <p:nvSpPr>
          <p:cNvPr id="398" name="Google Shape;398;p2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399" name="Google Shape;399;p2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00" name="Google Shape;400;p2"/>
          <p:cNvSpPr txBox="1">
            <a:spLocks noGrp="1"/>
          </p:cNvSpPr>
          <p:nvPr>
            <p:ph type="dt" idx="10"/>
          </p:nvPr>
        </p:nvSpPr>
        <p:spPr>
          <a:xfrm>
            <a:off x="838200" y="6458365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19, 2023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"/>
          <p:cNvSpPr txBox="1">
            <a:spLocks noGrp="1"/>
          </p:cNvSpPr>
          <p:nvPr>
            <p:ph type="ftr" idx="11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406" name="Google Shape;406;p3"/>
          <p:cNvSpPr txBox="1">
            <a:spLocks noGrp="1"/>
          </p:cNvSpPr>
          <p:nvPr>
            <p:ph type="sldNum" idx="12"/>
          </p:nvPr>
        </p:nvSpPr>
        <p:spPr>
          <a:xfrm>
            <a:off x="11900400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407" name="Google Shape;407;p3"/>
          <p:cNvSpPr txBox="1">
            <a:spLocks noGrp="1"/>
          </p:cNvSpPr>
          <p:nvPr>
            <p:ph type="body" idx="1"/>
          </p:nvPr>
        </p:nvSpPr>
        <p:spPr>
          <a:xfrm>
            <a:off x="2735144" y="1286346"/>
            <a:ext cx="6721714" cy="4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vi-VN" sz="2400"/>
              <a:t>Trình bày được khái niệm về lệnh, tập lệnh</a:t>
            </a:r>
          </a:p>
          <a:p>
            <a:r>
              <a:rPr lang="vi-VN" sz="2400"/>
              <a:t>Phân biệt được những nhóm lệnh cơ bản, các loại toán hạng của kiến trúc MIPS</a:t>
            </a:r>
          </a:p>
          <a:p>
            <a:r>
              <a:rPr lang="vi-VN" sz="2400"/>
              <a:t>Phân biệt được các định dạng lệnh của MIPS</a:t>
            </a:r>
          </a:p>
          <a:p>
            <a:r>
              <a:rPr lang="vi-VN" sz="2400"/>
              <a:t>Sử dụng được các lệnh để viết chương trình hợp ngữ</a:t>
            </a:r>
            <a:endParaRPr lang="vi-VN" sz="2400" dirty="0"/>
          </a:p>
        </p:txBody>
      </p:sp>
      <p:sp>
        <p:nvSpPr>
          <p:cNvPr id="408" name="Google Shape;408;p3"/>
          <p:cNvSpPr txBox="1">
            <a:spLocks noGrp="1"/>
          </p:cNvSpPr>
          <p:nvPr>
            <p:ph type="dt" idx="10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19, 2023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"/>
          <p:cNvSpPr txBox="1">
            <a:spLocks noGrp="1"/>
          </p:cNvSpPr>
          <p:nvPr>
            <p:ph type="ftr" idx="11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414" name="Google Shape;414;p4"/>
          <p:cNvSpPr txBox="1">
            <a:spLocks noGrp="1"/>
          </p:cNvSpPr>
          <p:nvPr>
            <p:ph type="sldNum" idx="12"/>
          </p:nvPr>
        </p:nvSpPr>
        <p:spPr>
          <a:xfrm>
            <a:off x="11900400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415" name="Google Shape;415;p4"/>
          <p:cNvSpPr txBox="1">
            <a:spLocks noGrp="1"/>
          </p:cNvSpPr>
          <p:nvPr>
            <p:ph type="body" idx="1"/>
          </p:nvPr>
        </p:nvSpPr>
        <p:spPr>
          <a:xfrm>
            <a:off x="2735144" y="1286346"/>
            <a:ext cx="6721714" cy="4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sz="3200"/>
              <a:t>Kiến trúc tập lệnh</a:t>
            </a:r>
          </a:p>
          <a:p>
            <a:pPr>
              <a:lnSpc>
                <a:spcPct val="150000"/>
              </a:lnSpc>
            </a:pPr>
            <a:r>
              <a:rPr lang="en-US" sz="3200"/>
              <a:t>Lệnh và tập lệnh MIPS</a:t>
            </a:r>
          </a:p>
          <a:p>
            <a:pPr>
              <a:lnSpc>
                <a:spcPct val="150000"/>
              </a:lnSpc>
            </a:pPr>
            <a:r>
              <a:rPr lang="en-US" sz="3200"/>
              <a:t>Các nhóm lệnh MIPS</a:t>
            </a:r>
          </a:p>
          <a:p>
            <a:pPr>
              <a:lnSpc>
                <a:spcPct val="150000"/>
              </a:lnSpc>
            </a:pPr>
            <a:r>
              <a:rPr lang="en-US" sz="3200"/>
              <a:t>Toán hạng</a:t>
            </a:r>
          </a:p>
          <a:p>
            <a:pPr>
              <a:lnSpc>
                <a:spcPct val="150000"/>
              </a:lnSpc>
            </a:pPr>
            <a:r>
              <a:rPr lang="en-US" sz="3200"/>
              <a:t>Định dạng lệnh</a:t>
            </a:r>
          </a:p>
          <a:p>
            <a:pPr>
              <a:lnSpc>
                <a:spcPct val="150000"/>
              </a:lnSpc>
            </a:pPr>
            <a:r>
              <a:rPr lang="vi-VN" sz="3200"/>
              <a:t>Các mô hình định địa chỉ</a:t>
            </a:r>
          </a:p>
          <a:p>
            <a:pPr>
              <a:lnSpc>
                <a:spcPct val="150000"/>
              </a:lnSpc>
            </a:pPr>
            <a:r>
              <a:rPr lang="vi-VN" sz="3200"/>
              <a:t>Chương trình hợp ngữ</a:t>
            </a:r>
            <a:endParaRPr lang="vi-VN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"/>
          <p:cNvSpPr txBox="1">
            <a:spLocks noGrp="1"/>
          </p:cNvSpPr>
          <p:nvPr>
            <p:ph type="ftr" idx="11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414" name="Google Shape;414;p4"/>
          <p:cNvSpPr txBox="1">
            <a:spLocks noGrp="1"/>
          </p:cNvSpPr>
          <p:nvPr>
            <p:ph type="sldNum" idx="12"/>
          </p:nvPr>
        </p:nvSpPr>
        <p:spPr>
          <a:xfrm>
            <a:off x="11900400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415" name="Google Shape;415;p4"/>
          <p:cNvSpPr txBox="1">
            <a:spLocks noGrp="1"/>
          </p:cNvSpPr>
          <p:nvPr>
            <p:ph type="body" idx="1"/>
          </p:nvPr>
        </p:nvSpPr>
        <p:spPr>
          <a:xfrm>
            <a:off x="2735144" y="1286346"/>
            <a:ext cx="6721714" cy="4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lnSpc>
                <a:spcPct val="150000"/>
              </a:lnSpc>
              <a:buFont typeface="+mj-lt"/>
              <a:buAutoNum type="arabicPeriod" startAt="5"/>
            </a:pPr>
            <a:r>
              <a:rPr lang="en-US" sz="2500"/>
              <a:t>Định dạng lệnh</a:t>
            </a:r>
          </a:p>
          <a:p>
            <a:pPr>
              <a:lnSpc>
                <a:spcPct val="150000"/>
              </a:lnSpc>
              <a:buAutoNum type="arabicPeriod" startAt="5"/>
            </a:pPr>
            <a:r>
              <a:rPr lang="vi-VN" sz="2500"/>
              <a:t>Các mô hình định địa chỉ</a:t>
            </a:r>
          </a:p>
          <a:p>
            <a:pPr>
              <a:lnSpc>
                <a:spcPct val="150000"/>
              </a:lnSpc>
              <a:buAutoNum type="arabicPeriod" startAt="5"/>
            </a:pPr>
            <a:r>
              <a:rPr lang="vi-VN" sz="2500"/>
              <a:t>Chương trình hợp ngữ</a:t>
            </a:r>
            <a:endParaRPr lang="vi-VN" sz="2500" dirty="0"/>
          </a:p>
        </p:txBody>
      </p:sp>
    </p:spTree>
    <p:extLst>
      <p:ext uri="{BB962C8B-B14F-4D97-AF65-F5344CB8AC3E}">
        <p14:creationId xmlns:p14="http://schemas.microsoft.com/office/powerpoint/2010/main" val="2274831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42"/>
          <p:cNvSpPr txBox="1">
            <a:spLocks noGrp="1"/>
          </p:cNvSpPr>
          <p:nvPr>
            <p:ph type="sldNum" idx="12"/>
          </p:nvPr>
        </p:nvSpPr>
        <p:spPr>
          <a:xfrm>
            <a:off x="1189939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916" name="Google Shape;916;p42"/>
          <p:cNvSpPr txBox="1">
            <a:spLocks noGrp="1"/>
          </p:cNvSpPr>
          <p:nvPr>
            <p:ph type="body" idx="1"/>
          </p:nvPr>
        </p:nvSpPr>
        <p:spPr>
          <a:xfrm>
            <a:off x="1470928" y="2095027"/>
            <a:ext cx="8831311" cy="88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</a:pPr>
            <a:r>
              <a:rPr lang="en-US"/>
              <a:t>Định dạng lệnh</a:t>
            </a:r>
            <a:endParaRPr/>
          </a:p>
        </p:txBody>
      </p:sp>
      <p:sp>
        <p:nvSpPr>
          <p:cNvPr id="917" name="Google Shape;917;p42"/>
          <p:cNvSpPr txBox="1">
            <a:spLocks noGrp="1"/>
          </p:cNvSpPr>
          <p:nvPr>
            <p:ph type="body" idx="2"/>
          </p:nvPr>
        </p:nvSpPr>
        <p:spPr>
          <a:xfrm>
            <a:off x="1470930" y="3169159"/>
            <a:ext cx="8913813" cy="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sz="2800"/>
          </a:p>
        </p:txBody>
      </p:sp>
      <p:sp>
        <p:nvSpPr>
          <p:cNvPr id="918" name="Google Shape;918;p42"/>
          <p:cNvSpPr txBox="1">
            <a:spLocks noGrp="1"/>
          </p:cNvSpPr>
          <p:nvPr>
            <p:ph type="body" idx="3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</a:pPr>
            <a:endParaRPr/>
          </a:p>
        </p:txBody>
      </p:sp>
      <p:sp>
        <p:nvSpPr>
          <p:cNvPr id="919" name="Google Shape;919;p42"/>
          <p:cNvSpPr txBox="1">
            <a:spLocks noGrp="1"/>
          </p:cNvSpPr>
          <p:nvPr>
            <p:ph type="body" idx="4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</a:pPr>
            <a:r>
              <a:rPr lang="en-US"/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3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Định dạng lệnh</a:t>
            </a:r>
            <a:endParaRPr/>
          </a:p>
        </p:txBody>
      </p:sp>
      <p:sp>
        <p:nvSpPr>
          <p:cNvPr id="926" name="Google Shape;926;p43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927" name="Google Shape;927;p43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928" name="Google Shape;928;p43"/>
          <p:cNvSpPr txBox="1">
            <a:spLocks noGrp="1"/>
          </p:cNvSpPr>
          <p:nvPr>
            <p:ph type="body" idx="1"/>
          </p:nvPr>
        </p:nvSpPr>
        <p:spPr>
          <a:xfrm>
            <a:off x="1142797" y="1195821"/>
            <a:ext cx="10515600" cy="516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(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MIPS đều </a:t>
            </a:r>
            <a:r>
              <a:rPr lang="en-US" dirty="0" err="1"/>
              <a:t>rộng</a:t>
            </a:r>
            <a:r>
              <a:rPr lang="en-US" dirty="0"/>
              <a:t> 32 bit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MIPS </a:t>
            </a:r>
            <a:r>
              <a:rPr lang="en-US" dirty="0" err="1"/>
              <a:t>có</a:t>
            </a:r>
            <a:r>
              <a:rPr lang="en-US" dirty="0"/>
              <a:t> 3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R: Cho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túy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I: Cho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vừa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J: Cho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44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Định dạng lệnh - R</a:t>
            </a:r>
            <a:endParaRPr/>
          </a:p>
        </p:txBody>
      </p:sp>
      <p:sp>
        <p:nvSpPr>
          <p:cNvPr id="935" name="Google Shape;935;p44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36" name="Google Shape;936;p44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937" name="Google Shape;937;p44"/>
          <p:cNvSpPr txBox="1">
            <a:spLocks noGrp="1"/>
          </p:cNvSpPr>
          <p:nvPr>
            <p:ph type="body" idx="1"/>
          </p:nvPr>
        </p:nvSpPr>
        <p:spPr>
          <a:xfrm>
            <a:off x="1142797" y="1195821"/>
            <a:ext cx="10515600" cy="516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Các trường lệnh dạng R: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 (opcode): Mã lệnh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rs: Địa chỉ toán hạng thanh ghi nguồn thứ nhất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rt: Địa chỉ toán hạng thanh ghi nguồn thứ hai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rd: Địa chỉ toán hạng thanh ghi đích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shamt (shift amount): Lượng dịch (mặc định là 00000)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funct (function code): Mã lệnh mở rộng cho op</a:t>
            </a:r>
            <a:endParaRPr/>
          </a:p>
        </p:txBody>
      </p:sp>
      <p:graphicFrame>
        <p:nvGraphicFramePr>
          <p:cNvPr id="938" name="Google Shape;938;p44"/>
          <p:cNvGraphicFramePr/>
          <p:nvPr/>
        </p:nvGraphicFramePr>
        <p:xfrm>
          <a:off x="2404110" y="5112964"/>
          <a:ext cx="6532350" cy="868720"/>
        </p:xfrm>
        <a:graphic>
          <a:graphicData uri="http://schemas.openxmlformats.org/drawingml/2006/table">
            <a:tbl>
              <a:tblPr firstRow="1" bandRow="1">
                <a:noFill/>
                <a:tableStyleId>{9DF5D750-6997-4D2D-A3B0-DC363B30ECF9}</a:tableStyleId>
              </a:tblPr>
              <a:tblGrid>
                <a:gridCol w="108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shamt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45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Định dạng lệnh – R (ví dụ)</a:t>
            </a:r>
            <a:endParaRPr/>
          </a:p>
        </p:txBody>
      </p:sp>
      <p:sp>
        <p:nvSpPr>
          <p:cNvPr id="945" name="Google Shape;945;p45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946" name="Google Shape;946;p45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graphicFrame>
        <p:nvGraphicFramePr>
          <p:cNvPr id="947" name="Google Shape;947;p45"/>
          <p:cNvGraphicFramePr/>
          <p:nvPr/>
        </p:nvGraphicFramePr>
        <p:xfrm>
          <a:off x="3134446" y="1539184"/>
          <a:ext cx="6532350" cy="868720"/>
        </p:xfrm>
        <a:graphic>
          <a:graphicData uri="http://schemas.openxmlformats.org/drawingml/2006/table">
            <a:tbl>
              <a:tblPr firstRow="1" bandRow="1">
                <a:noFill/>
                <a:tableStyleId>{9DF5D750-6997-4D2D-A3B0-DC363B30ECF9}</a:tableStyleId>
              </a:tblPr>
              <a:tblGrid>
                <a:gridCol w="108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shamt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48" name="Google Shape;948;p45"/>
          <p:cNvSpPr txBox="1"/>
          <p:nvPr/>
        </p:nvSpPr>
        <p:spPr>
          <a:xfrm>
            <a:off x="5010870" y="2901297"/>
            <a:ext cx="22870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$t0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$s1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$s2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49" name="Google Shape;949;p45"/>
          <p:cNvGraphicFramePr/>
          <p:nvPr/>
        </p:nvGraphicFramePr>
        <p:xfrm>
          <a:off x="1896749" y="3669757"/>
          <a:ext cx="8553450" cy="434360"/>
        </p:xfrm>
        <a:graphic>
          <a:graphicData uri="http://schemas.openxmlformats.org/drawingml/2006/table">
            <a:tbl>
              <a:tblPr firstRow="1" bandRow="1">
                <a:noFill/>
                <a:tableStyleId>{9DF5D750-6997-4D2D-A3B0-DC363B30ECF9}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0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0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 (add)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$s1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C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$s2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$t0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 (add)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50" name="Google Shape;950;p45"/>
          <p:cNvGraphicFramePr/>
          <p:nvPr/>
        </p:nvGraphicFramePr>
        <p:xfrm>
          <a:off x="1896749" y="4239059"/>
          <a:ext cx="8553450" cy="434360"/>
        </p:xfrm>
        <a:graphic>
          <a:graphicData uri="http://schemas.openxmlformats.org/drawingml/2006/table">
            <a:tbl>
              <a:tblPr firstRow="1" bandRow="1">
                <a:noFill/>
                <a:tableStyleId>{9DF5D750-6997-4D2D-A3B0-DC363B30ECF9}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0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0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C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0x20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51" name="Google Shape;951;p45"/>
          <p:cNvGraphicFramePr/>
          <p:nvPr/>
        </p:nvGraphicFramePr>
        <p:xfrm>
          <a:off x="1896749" y="4812603"/>
          <a:ext cx="8553450" cy="434360"/>
        </p:xfrm>
        <a:graphic>
          <a:graphicData uri="http://schemas.openxmlformats.org/drawingml/2006/table">
            <a:tbl>
              <a:tblPr firstRow="1" bandRow="1">
                <a:noFill/>
                <a:tableStyleId>{9DF5D750-6997-4D2D-A3B0-DC363B30ECF9}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0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0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000000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10001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C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10010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01000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00000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100000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52" name="Google Shape;952;p45"/>
          <p:cNvSpPr txBox="1"/>
          <p:nvPr/>
        </p:nvSpPr>
        <p:spPr>
          <a:xfrm>
            <a:off x="3335020" y="5386146"/>
            <a:ext cx="534865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000000</a:t>
            </a: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10001</a:t>
            </a:r>
            <a:r>
              <a:rPr lang="en-US" sz="24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10010</a:t>
            </a:r>
            <a:r>
              <a:rPr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01000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00000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100000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3" name="Google Shape;953;p45"/>
          <p:cNvSpPr txBox="1"/>
          <p:nvPr/>
        </p:nvSpPr>
        <p:spPr>
          <a:xfrm>
            <a:off x="8683675" y="5386146"/>
            <a:ext cx="176652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0x02324020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46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 sz="4000"/>
              <a:t>Chuyển đổi lệnh ASM MIPS sang mã máy</a:t>
            </a:r>
            <a:endParaRPr/>
          </a:p>
        </p:txBody>
      </p:sp>
      <p:sp>
        <p:nvSpPr>
          <p:cNvPr id="960" name="Google Shape;960;p46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961" name="Google Shape;961;p46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962" name="Google Shape;962;p46"/>
          <p:cNvSpPr txBox="1">
            <a:spLocks noGrp="1"/>
          </p:cNvSpPr>
          <p:nvPr>
            <p:ph type="body" idx="1"/>
          </p:nvPr>
        </p:nvSpPr>
        <p:spPr>
          <a:xfrm>
            <a:off x="1142797" y="1195821"/>
            <a:ext cx="10515600" cy="516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Chuyển câu lệnh assembly (ASM) MIPS sau sang mã máy: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and $t3, $s0, $s2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Thực hiện việc chuyển đổi theo các bước sau: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Bước 1: Tra bảng “MIPS reference data” xem lệnh and thuộc định dạng nào =&gt; R type</a:t>
            </a:r>
            <a:endParaRPr/>
          </a:p>
        </p:txBody>
      </p:sp>
      <p:graphicFrame>
        <p:nvGraphicFramePr>
          <p:cNvPr id="963" name="Google Shape;963;p46"/>
          <p:cNvGraphicFramePr/>
          <p:nvPr/>
        </p:nvGraphicFramePr>
        <p:xfrm>
          <a:off x="2809323" y="5130798"/>
          <a:ext cx="6719850" cy="741350"/>
        </p:xfrm>
        <a:graphic>
          <a:graphicData uri="http://schemas.openxmlformats.org/drawingml/2006/table">
            <a:tbl>
              <a:tblPr firstRow="1" bandRow="1">
                <a:noFill/>
                <a:tableStyleId>{F1263242-BA24-4460-BFDD-D3B9C48251DC}</a:tableStyleId>
              </a:tblPr>
              <a:tblGrid>
                <a:gridCol w="111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9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9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shamt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</a:t>
                      </a:r>
                      <a:endParaRPr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64" name="Google Shape;964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2348" y="3940757"/>
            <a:ext cx="6567428" cy="59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47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 sz="4000"/>
              <a:t>Chuyển đổi lệnh ASM MIPS sang mã máy (tt)</a:t>
            </a:r>
            <a:endParaRPr/>
          </a:p>
        </p:txBody>
      </p:sp>
      <p:sp>
        <p:nvSpPr>
          <p:cNvPr id="971" name="Google Shape;971;p47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972" name="Google Shape;972;p47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973" name="Google Shape;973;p47"/>
          <p:cNvSpPr txBox="1">
            <a:spLocks noGrp="1"/>
          </p:cNvSpPr>
          <p:nvPr>
            <p:ph type="body" idx="1"/>
          </p:nvPr>
        </p:nvSpPr>
        <p:spPr>
          <a:xfrm>
            <a:off x="1142797" y="1195821"/>
            <a:ext cx="10515600" cy="516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Chuyển câu lệnh assembly (ASM) MIPS sau sang mã máy: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and $t3, $s0, $s2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Thực hiện việc chuyển đổi theo các bước sau: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Bước 1: Tra bảng “MIPS reference data” xem lệnh and thuộc định dạng nào =&gt; R type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Bước 2: Tra các trường opcode và function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graphicFrame>
        <p:nvGraphicFramePr>
          <p:cNvPr id="974" name="Google Shape;974;p47"/>
          <p:cNvGraphicFramePr/>
          <p:nvPr/>
        </p:nvGraphicFramePr>
        <p:xfrm>
          <a:off x="2218373" y="5118734"/>
          <a:ext cx="6719850" cy="741350"/>
        </p:xfrm>
        <a:graphic>
          <a:graphicData uri="http://schemas.openxmlformats.org/drawingml/2006/table">
            <a:tbl>
              <a:tblPr firstRow="1" bandRow="1">
                <a:noFill/>
                <a:tableStyleId>{F1263242-BA24-4460-BFDD-D3B9C48251DC}</a:tableStyleId>
              </a:tblPr>
              <a:tblGrid>
                <a:gridCol w="111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9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9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shamt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</a:t>
                      </a:r>
                      <a:endParaRPr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000000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100100</a:t>
                      </a:r>
                      <a:endParaRPr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75" name="Google Shape;975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8042" y="4187669"/>
            <a:ext cx="6957377" cy="613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48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 sz="4000"/>
              <a:t>Chuyển đổi lệnh ASM MIPS sang mã máy (tt)</a:t>
            </a:r>
            <a:endParaRPr/>
          </a:p>
        </p:txBody>
      </p:sp>
      <p:sp>
        <p:nvSpPr>
          <p:cNvPr id="982" name="Google Shape;982;p48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983" name="Google Shape;983;p48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984" name="Google Shape;984;p48"/>
          <p:cNvSpPr txBox="1">
            <a:spLocks noGrp="1"/>
          </p:cNvSpPr>
          <p:nvPr>
            <p:ph type="body" idx="1"/>
          </p:nvPr>
        </p:nvSpPr>
        <p:spPr>
          <a:xfrm>
            <a:off x="1142797" y="1195821"/>
            <a:ext cx="10515600" cy="516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Chuyển câu lệnh assembly (ASM) MIPS sau sang mã máy: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and $t3, $s0, $s2 =&gt; $t3 = $s0 &amp; $s2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Thực hiện việc chuyển đổi theo các bước sau: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Bước 1: Tra bảng “MIPS reference data” xem lệnh and thuộc định dạng nào =&gt; R type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Bước 2: Tra các trường opcode và function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Bước 3: Tra vị trí và chỉ số các thanh ghi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graphicFrame>
        <p:nvGraphicFramePr>
          <p:cNvPr id="985" name="Google Shape;985;p48"/>
          <p:cNvGraphicFramePr/>
          <p:nvPr/>
        </p:nvGraphicFramePr>
        <p:xfrm>
          <a:off x="2177733" y="5307488"/>
          <a:ext cx="6719850" cy="741350"/>
        </p:xfrm>
        <a:graphic>
          <a:graphicData uri="http://schemas.openxmlformats.org/drawingml/2006/table">
            <a:tbl>
              <a:tblPr firstRow="1" bandRow="1">
                <a:noFill/>
                <a:tableStyleId>{F1263242-BA24-4460-BFDD-D3B9C48251DC}</a:tableStyleId>
              </a:tblPr>
              <a:tblGrid>
                <a:gridCol w="111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9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9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shamt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</a:t>
                      </a:r>
                      <a:endParaRPr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000000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10000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10010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01011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100100</a:t>
                      </a:r>
                      <a:endParaRPr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6" name="Google Shape;986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0760" y="4644272"/>
            <a:ext cx="6626859" cy="511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48"/>
          <p:cNvPicPr preferRelativeResize="0"/>
          <p:nvPr/>
        </p:nvPicPr>
        <p:blipFill rotWithShape="1">
          <a:blip r:embed="rId4">
            <a:alphaModFix/>
          </a:blip>
          <a:srcRect r="70022"/>
          <a:stretch/>
        </p:blipFill>
        <p:spPr>
          <a:xfrm>
            <a:off x="9643313" y="3680179"/>
            <a:ext cx="1483361" cy="305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9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 sz="4000"/>
              <a:t>Chuyển đổi lệnh ASM MIPS sang mã máy (tt)</a:t>
            </a:r>
            <a:endParaRPr/>
          </a:p>
        </p:txBody>
      </p:sp>
      <p:sp>
        <p:nvSpPr>
          <p:cNvPr id="994" name="Google Shape;994;p49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995" name="Google Shape;995;p49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996" name="Google Shape;996;p49"/>
          <p:cNvSpPr txBox="1">
            <a:spLocks noGrp="1"/>
          </p:cNvSpPr>
          <p:nvPr>
            <p:ph type="body" idx="1"/>
          </p:nvPr>
        </p:nvSpPr>
        <p:spPr>
          <a:xfrm>
            <a:off x="1142797" y="1195821"/>
            <a:ext cx="10515600" cy="516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Chuyển câu lệnh assembly (ASM) MIPS sau sang mã máy: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and $t3, $s0, $s2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Thực hiện việc chuyển đổi theo các bước sau: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Bước 1: Tra bảng “MIPS reference data” xem lệnh and thuộc định dạng nào =&gt; R type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Bước 2: Tra các trường opcode và function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Bước 3: Tra vị trí và chỉ số các thanh ghi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Bước 4: Điền trường shamt và hoàn thành mã máy của lệnh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graphicFrame>
        <p:nvGraphicFramePr>
          <p:cNvPr id="997" name="Google Shape;997;p49"/>
          <p:cNvGraphicFramePr/>
          <p:nvPr/>
        </p:nvGraphicFramePr>
        <p:xfrm>
          <a:off x="3040654" y="5019674"/>
          <a:ext cx="6719850" cy="741350"/>
        </p:xfrm>
        <a:graphic>
          <a:graphicData uri="http://schemas.openxmlformats.org/drawingml/2006/table">
            <a:tbl>
              <a:tblPr firstRow="1" bandRow="1">
                <a:noFill/>
                <a:tableStyleId>{F1263242-BA24-4460-BFDD-D3B9C48251DC}</a:tableStyleId>
              </a:tblPr>
              <a:tblGrid>
                <a:gridCol w="111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9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9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shamt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</a:t>
                      </a:r>
                      <a:endParaRPr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000000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10000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10010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01011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00000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100100</a:t>
                      </a:r>
                      <a:endParaRPr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45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Định dạng lệnh – R (ví dụ)</a:t>
            </a:r>
            <a:endParaRPr/>
          </a:p>
        </p:txBody>
      </p:sp>
      <p:sp>
        <p:nvSpPr>
          <p:cNvPr id="945" name="Google Shape;945;p45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946" name="Google Shape;946;p45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graphicFrame>
        <p:nvGraphicFramePr>
          <p:cNvPr id="947" name="Google Shape;947;p45"/>
          <p:cNvGraphicFramePr/>
          <p:nvPr/>
        </p:nvGraphicFramePr>
        <p:xfrm>
          <a:off x="3134446" y="1539184"/>
          <a:ext cx="6532350" cy="868720"/>
        </p:xfrm>
        <a:graphic>
          <a:graphicData uri="http://schemas.openxmlformats.org/drawingml/2006/table">
            <a:tbl>
              <a:tblPr firstRow="1" bandRow="1">
                <a:noFill/>
                <a:tableStyleId>{9DF5D750-6997-4D2D-A3B0-DC363B30ECF9}</a:tableStyleId>
              </a:tblPr>
              <a:tblGrid>
                <a:gridCol w="108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shamt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06F517A-CC10-4681-9EF9-BFCEBB942F3E}"/>
              </a:ext>
            </a:extLst>
          </p:cNvPr>
          <p:cNvSpPr txBox="1"/>
          <p:nvPr/>
        </p:nvSpPr>
        <p:spPr>
          <a:xfrm>
            <a:off x="4952450" y="2967335"/>
            <a:ext cx="2287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$t0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$s2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248A38A-EA09-634E-DE0A-D0D2F5974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299259"/>
              </p:ext>
            </p:extLst>
          </p:nvPr>
        </p:nvGraphicFramePr>
        <p:xfrm>
          <a:off x="1838329" y="3811995"/>
          <a:ext cx="8553449" cy="434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965295130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974373342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3288884850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3087125857"/>
                    </a:ext>
                  </a:extLst>
                </a:gridCol>
                <a:gridCol w="1210650">
                  <a:extLst>
                    <a:ext uri="{9D8B030D-6E8A-4147-A177-3AD203B41FA5}">
                      <a16:colId xmlns:a16="http://schemas.microsoft.com/office/drawing/2014/main" val="3947126335"/>
                    </a:ext>
                  </a:extLst>
                </a:gridCol>
                <a:gridCol w="1640499">
                  <a:extLst>
                    <a:ext uri="{9D8B030D-6E8A-4147-A177-3AD203B41FA5}">
                      <a16:colId xmlns:a16="http://schemas.microsoft.com/office/drawing/2014/main" val="3305029939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 (</a:t>
                      </a:r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sll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$s2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$t0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sll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364661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D34663-26AD-B70B-FB95-8DFC020CF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623677"/>
              </p:ext>
            </p:extLst>
          </p:nvPr>
        </p:nvGraphicFramePr>
        <p:xfrm>
          <a:off x="1838329" y="4381297"/>
          <a:ext cx="8553449" cy="434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965295130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974373342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3288884850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3087125857"/>
                    </a:ext>
                  </a:extLst>
                </a:gridCol>
                <a:gridCol w="1210650">
                  <a:extLst>
                    <a:ext uri="{9D8B030D-6E8A-4147-A177-3AD203B41FA5}">
                      <a16:colId xmlns:a16="http://schemas.microsoft.com/office/drawing/2014/main" val="3947126335"/>
                    </a:ext>
                  </a:extLst>
                </a:gridCol>
                <a:gridCol w="1640499">
                  <a:extLst>
                    <a:ext uri="{9D8B030D-6E8A-4147-A177-3AD203B41FA5}">
                      <a16:colId xmlns:a16="http://schemas.microsoft.com/office/drawing/2014/main" val="3305029939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364661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28E848-BD1C-E732-E0A8-5BF602695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342035"/>
              </p:ext>
            </p:extLst>
          </p:nvPr>
        </p:nvGraphicFramePr>
        <p:xfrm>
          <a:off x="1838329" y="4954841"/>
          <a:ext cx="8553449" cy="434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965295130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974373342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3288884850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3087125857"/>
                    </a:ext>
                  </a:extLst>
                </a:gridCol>
                <a:gridCol w="1210650">
                  <a:extLst>
                    <a:ext uri="{9D8B030D-6E8A-4147-A177-3AD203B41FA5}">
                      <a16:colId xmlns:a16="http://schemas.microsoft.com/office/drawing/2014/main" val="3947126335"/>
                    </a:ext>
                  </a:extLst>
                </a:gridCol>
                <a:gridCol w="1640499">
                  <a:extLst>
                    <a:ext uri="{9D8B030D-6E8A-4147-A177-3AD203B41FA5}">
                      <a16:colId xmlns:a16="http://schemas.microsoft.com/office/drawing/2014/main" val="3305029939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00000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10010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01000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00010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000000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36466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4B7968B-CB30-225B-D972-33F2F364F0F3}"/>
              </a:ext>
            </a:extLst>
          </p:cNvPr>
          <p:cNvSpPr txBox="1"/>
          <p:nvPr/>
        </p:nvSpPr>
        <p:spPr>
          <a:xfrm>
            <a:off x="3505200" y="5528384"/>
            <a:ext cx="51200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000000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10010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01000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00010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000000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6F0262-26D3-7C2D-23F9-63573216F75F}"/>
              </a:ext>
            </a:extLst>
          </p:cNvPr>
          <p:cNvSpPr txBox="1"/>
          <p:nvPr/>
        </p:nvSpPr>
        <p:spPr>
          <a:xfrm>
            <a:off x="8625255" y="5528384"/>
            <a:ext cx="1766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0x00124080</a:t>
            </a:r>
          </a:p>
        </p:txBody>
      </p:sp>
    </p:spTree>
    <p:extLst>
      <p:ext uri="{BB962C8B-B14F-4D97-AF65-F5344CB8AC3E}">
        <p14:creationId xmlns:p14="http://schemas.microsoft.com/office/powerpoint/2010/main" val="310886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50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Định dạng lệnh - R - Quiz5</a:t>
            </a:r>
            <a:endParaRPr/>
          </a:p>
        </p:txBody>
      </p:sp>
      <p:sp>
        <p:nvSpPr>
          <p:cNvPr id="1004" name="Google Shape;1004;p50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005" name="Google Shape;1005;p50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1006" name="Google Shape;1006;p50"/>
          <p:cNvSpPr txBox="1">
            <a:spLocks noGrp="1"/>
          </p:cNvSpPr>
          <p:nvPr>
            <p:ph type="body" idx="1"/>
          </p:nvPr>
        </p:nvSpPr>
        <p:spPr>
          <a:xfrm>
            <a:off x="1142797" y="1195821"/>
            <a:ext cx="10515600" cy="516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 add $a0, $t1, $</a:t>
            </a:r>
            <a:r>
              <a:rPr lang="en-US" dirty="0" err="1"/>
              <a:t>sp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 </a:t>
            </a:r>
            <a:r>
              <a:rPr lang="en-US" dirty="0" err="1"/>
              <a:t>srl</a:t>
            </a:r>
            <a:r>
              <a:rPr lang="en-US" dirty="0"/>
              <a:t> $t1, $t5, 7</a:t>
            </a:r>
            <a:endParaRPr dirty="0"/>
          </a:p>
        </p:txBody>
      </p:sp>
      <p:pic>
        <p:nvPicPr>
          <p:cNvPr id="1007" name="Google Shape;1007;p50"/>
          <p:cNvPicPr preferRelativeResize="0"/>
          <p:nvPr/>
        </p:nvPicPr>
        <p:blipFill rotWithShape="1">
          <a:blip r:embed="rId3">
            <a:alphaModFix/>
          </a:blip>
          <a:srcRect r="70022"/>
          <a:stretch/>
        </p:blipFill>
        <p:spPr>
          <a:xfrm>
            <a:off x="7632700" y="1328079"/>
            <a:ext cx="2433320" cy="5017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51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Định dạng lệnh - I</a:t>
            </a:r>
            <a:endParaRPr/>
          </a:p>
        </p:txBody>
      </p:sp>
      <p:sp>
        <p:nvSpPr>
          <p:cNvPr id="1014" name="Google Shape;1014;p51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015" name="Google Shape;1015;p51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1016" name="Google Shape;1016;p51"/>
          <p:cNvSpPr txBox="1">
            <a:spLocks noGrp="1"/>
          </p:cNvSpPr>
          <p:nvPr>
            <p:ph type="body" idx="1"/>
          </p:nvPr>
        </p:nvSpPr>
        <p:spPr>
          <a:xfrm>
            <a:off x="1142797" y="1195821"/>
            <a:ext cx="10515600" cy="516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Các trường lệnh dạng I: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 (opcode): Mã lệnh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rs: Địa chỉ toán hạng thanh ghi nguồn thứ nhất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rt: Địa chỉ toán hạng thanh ghi nguồn thứ hai hoặc thanh ghi đích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immediate: Số tức thời 16 bit (biểu diễn dạng bù 2)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Thường là độ dời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Quy ước: Nếu sử dụng số tức thời lớn hơn 16 bit thì sẽ gây lỗi biên dịch</a:t>
            </a:r>
            <a:endParaRPr/>
          </a:p>
        </p:txBody>
      </p:sp>
      <p:graphicFrame>
        <p:nvGraphicFramePr>
          <p:cNvPr id="1017" name="Google Shape;1017;p51"/>
          <p:cNvGraphicFramePr/>
          <p:nvPr/>
        </p:nvGraphicFramePr>
        <p:xfrm>
          <a:off x="3042286" y="5298897"/>
          <a:ext cx="7089750" cy="868720"/>
        </p:xfrm>
        <a:graphic>
          <a:graphicData uri="http://schemas.openxmlformats.org/drawingml/2006/table">
            <a:tbl>
              <a:tblPr firstRow="1" bandRow="1">
                <a:noFill/>
                <a:tableStyleId>{9DF5D750-6997-4D2D-A3B0-DC363B30ECF9}</a:tableStyleId>
              </a:tblPr>
              <a:tblGrid>
                <a:gridCol w="118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7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immediate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52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Định dạng lệnh - I - Ví dụ</a:t>
            </a:r>
            <a:endParaRPr/>
          </a:p>
        </p:txBody>
      </p:sp>
      <p:sp>
        <p:nvSpPr>
          <p:cNvPr id="1024" name="Google Shape;1024;p52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025" name="Google Shape;1025;p52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graphicFrame>
        <p:nvGraphicFramePr>
          <p:cNvPr id="1026" name="Google Shape;1026;p52"/>
          <p:cNvGraphicFramePr/>
          <p:nvPr/>
        </p:nvGraphicFramePr>
        <p:xfrm>
          <a:off x="2638426" y="1366977"/>
          <a:ext cx="7089750" cy="868720"/>
        </p:xfrm>
        <a:graphic>
          <a:graphicData uri="http://schemas.openxmlformats.org/drawingml/2006/table">
            <a:tbl>
              <a:tblPr firstRow="1" bandRow="1">
                <a:noFill/>
                <a:tableStyleId>{9DF5D750-6997-4D2D-A3B0-DC363B30ECF9}</a:tableStyleId>
              </a:tblPr>
              <a:tblGrid>
                <a:gridCol w="118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7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immediate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27" name="Google Shape;1027;p52"/>
          <p:cNvSpPr txBox="1"/>
          <p:nvPr/>
        </p:nvSpPr>
        <p:spPr>
          <a:xfrm>
            <a:off x="4761950" y="3034030"/>
            <a:ext cx="22870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lw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$t0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-8</a:t>
            </a:r>
            <a:r>
              <a:rPr lang="en-US" sz="24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($s2)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28" name="Google Shape;1028;p52"/>
          <p:cNvGraphicFramePr/>
          <p:nvPr/>
        </p:nvGraphicFramePr>
        <p:xfrm>
          <a:off x="1647829" y="3878690"/>
          <a:ext cx="8553450" cy="434360"/>
        </p:xfrm>
        <a:graphic>
          <a:graphicData uri="http://schemas.openxmlformats.org/drawingml/2006/table">
            <a:tbl>
              <a:tblPr firstRow="1" bandRow="1">
                <a:noFill/>
                <a:tableStyleId>{9DF5D750-6997-4D2D-A3B0-DC363B30ECF9}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 (lw)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C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$s2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$t0</a:t>
                      </a:r>
                      <a:endParaRPr sz="2400">
                        <a:solidFill>
                          <a:srgbClr val="FFC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-8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29" name="Google Shape;1029;p52"/>
          <p:cNvGraphicFramePr/>
          <p:nvPr/>
        </p:nvGraphicFramePr>
        <p:xfrm>
          <a:off x="1647829" y="4447992"/>
          <a:ext cx="8553450" cy="434360"/>
        </p:xfrm>
        <a:graphic>
          <a:graphicData uri="http://schemas.openxmlformats.org/drawingml/2006/table">
            <a:tbl>
              <a:tblPr firstRow="1" bandRow="1">
                <a:noFill/>
                <a:tableStyleId>{9DF5D750-6997-4D2D-A3B0-DC363B30ECF9}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0x23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C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-8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30" name="Google Shape;1030;p52"/>
          <p:cNvGraphicFramePr/>
          <p:nvPr/>
        </p:nvGraphicFramePr>
        <p:xfrm>
          <a:off x="1647829" y="5021536"/>
          <a:ext cx="8553450" cy="434360"/>
        </p:xfrm>
        <a:graphic>
          <a:graphicData uri="http://schemas.openxmlformats.org/drawingml/2006/table">
            <a:tbl>
              <a:tblPr firstRow="1" bandRow="1">
                <a:noFill/>
                <a:tableStyleId>{9DF5D750-6997-4D2D-A3B0-DC363B30ECF9}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100011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00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solidFill>
                            <a:srgbClr val="FFC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10010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01000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1111111111111000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31" name="Google Shape;1031;p52"/>
          <p:cNvSpPr txBox="1"/>
          <p:nvPr/>
        </p:nvSpPr>
        <p:spPr>
          <a:xfrm>
            <a:off x="2761673" y="5595079"/>
            <a:ext cx="52012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100011</a:t>
            </a:r>
            <a:r>
              <a:rPr lang="en-US" sz="24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10010</a:t>
            </a:r>
            <a:r>
              <a:rPr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01000</a:t>
            </a: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1111111111111000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2" name="Google Shape;1032;p52"/>
          <p:cNvSpPr txBox="1"/>
          <p:nvPr/>
        </p:nvSpPr>
        <p:spPr>
          <a:xfrm>
            <a:off x="8267701" y="5595079"/>
            <a:ext cx="19335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0x4E48FFF8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52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Định dạng lệnh - I - Ví dụ</a:t>
            </a:r>
            <a:endParaRPr/>
          </a:p>
        </p:txBody>
      </p:sp>
      <p:sp>
        <p:nvSpPr>
          <p:cNvPr id="1024" name="Google Shape;1024;p52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1025" name="Google Shape;1025;p52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graphicFrame>
        <p:nvGraphicFramePr>
          <p:cNvPr id="1026" name="Google Shape;1026;p52"/>
          <p:cNvGraphicFramePr/>
          <p:nvPr/>
        </p:nvGraphicFramePr>
        <p:xfrm>
          <a:off x="2638426" y="1366977"/>
          <a:ext cx="7089750" cy="868720"/>
        </p:xfrm>
        <a:graphic>
          <a:graphicData uri="http://schemas.openxmlformats.org/drawingml/2006/table">
            <a:tbl>
              <a:tblPr firstRow="1" bandRow="1">
                <a:noFill/>
                <a:tableStyleId>{9DF5D750-6997-4D2D-A3B0-DC363B30ECF9}</a:tableStyleId>
              </a:tblPr>
              <a:tblGrid>
                <a:gridCol w="118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7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immediate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A74FEB7-0D7F-F279-7136-D250C56BFA87}"/>
              </a:ext>
            </a:extLst>
          </p:cNvPr>
          <p:cNvSpPr txBox="1"/>
          <p:nvPr/>
        </p:nvSpPr>
        <p:spPr>
          <a:xfrm>
            <a:off x="4669451" y="2885582"/>
            <a:ext cx="2287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$t0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$s2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-8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2FB7B3A-45E9-7D7D-9363-2228F56631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544179"/>
              </p:ext>
            </p:extLst>
          </p:nvPr>
        </p:nvGraphicFramePr>
        <p:xfrm>
          <a:off x="1555332" y="3647681"/>
          <a:ext cx="8553449" cy="434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965295130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974373342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3288884850"/>
                    </a:ext>
                  </a:extLst>
                </a:gridCol>
                <a:gridCol w="4276724">
                  <a:extLst>
                    <a:ext uri="{9D8B030D-6E8A-4147-A177-3AD203B41FA5}">
                      <a16:colId xmlns:a16="http://schemas.microsoft.com/office/drawing/2014/main" val="3087125857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 (</a:t>
                      </a:r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andi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$s2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$t0</a:t>
                      </a:r>
                      <a:endParaRPr lang="en-US" sz="2400" dirty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364661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8559FA-842A-0929-DB35-0CBD44042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874527"/>
              </p:ext>
            </p:extLst>
          </p:nvPr>
        </p:nvGraphicFramePr>
        <p:xfrm>
          <a:off x="1555332" y="4216983"/>
          <a:ext cx="8553449" cy="434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965295130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974373342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3288884850"/>
                    </a:ext>
                  </a:extLst>
                </a:gridCol>
                <a:gridCol w="4276724">
                  <a:extLst>
                    <a:ext uri="{9D8B030D-6E8A-4147-A177-3AD203B41FA5}">
                      <a16:colId xmlns:a16="http://schemas.microsoft.com/office/drawing/2014/main" val="3087125857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364661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82A5EF-560C-A04D-EB1D-5458A46FA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241817"/>
              </p:ext>
            </p:extLst>
          </p:nvPr>
        </p:nvGraphicFramePr>
        <p:xfrm>
          <a:off x="1555332" y="4790527"/>
          <a:ext cx="8553449" cy="434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965295130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974373342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3288884850"/>
                    </a:ext>
                  </a:extLst>
                </a:gridCol>
                <a:gridCol w="4276724">
                  <a:extLst>
                    <a:ext uri="{9D8B030D-6E8A-4147-A177-3AD203B41FA5}">
                      <a16:colId xmlns:a16="http://schemas.microsoft.com/office/drawing/2014/main" val="3087125857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001000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10010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01000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1111111111111000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36466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705A9C3-5B1B-CDC4-2AAE-D853D23FC8C6}"/>
              </a:ext>
            </a:extLst>
          </p:cNvPr>
          <p:cNvSpPr txBox="1"/>
          <p:nvPr/>
        </p:nvSpPr>
        <p:spPr>
          <a:xfrm>
            <a:off x="3048000" y="5410236"/>
            <a:ext cx="52752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001000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10010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01000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1111111111111000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1F627B-AFFB-1C4F-3E5E-6B9360308F24}"/>
              </a:ext>
            </a:extLst>
          </p:cNvPr>
          <p:cNvSpPr txBox="1"/>
          <p:nvPr/>
        </p:nvSpPr>
        <p:spPr>
          <a:xfrm>
            <a:off x="8342258" y="5364070"/>
            <a:ext cx="1766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0x2248FFF8</a:t>
            </a:r>
          </a:p>
        </p:txBody>
      </p:sp>
    </p:spTree>
    <p:extLst>
      <p:ext uri="{BB962C8B-B14F-4D97-AF65-F5344CB8AC3E}">
        <p14:creationId xmlns:p14="http://schemas.microsoft.com/office/powerpoint/2010/main" val="111331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52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Định dạng lệnh - I - Ví dụ</a:t>
            </a:r>
            <a:endParaRPr/>
          </a:p>
        </p:txBody>
      </p:sp>
      <p:sp>
        <p:nvSpPr>
          <p:cNvPr id="1024" name="Google Shape;1024;p52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1025" name="Google Shape;1025;p52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graphicFrame>
        <p:nvGraphicFramePr>
          <p:cNvPr id="1026" name="Google Shape;1026;p52"/>
          <p:cNvGraphicFramePr/>
          <p:nvPr/>
        </p:nvGraphicFramePr>
        <p:xfrm>
          <a:off x="2638426" y="1366977"/>
          <a:ext cx="7089750" cy="868720"/>
        </p:xfrm>
        <a:graphic>
          <a:graphicData uri="http://schemas.openxmlformats.org/drawingml/2006/table">
            <a:tbl>
              <a:tblPr firstRow="1" bandRow="1">
                <a:noFill/>
                <a:tableStyleId>{9DF5D750-6997-4D2D-A3B0-DC363B30ECF9}</a:tableStyleId>
              </a:tblPr>
              <a:tblGrid>
                <a:gridCol w="118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7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immediate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A55BE4B-40A4-4A5D-24A5-8D98263A0A34}"/>
              </a:ext>
            </a:extLst>
          </p:cNvPr>
          <p:cNvSpPr txBox="1"/>
          <p:nvPr/>
        </p:nvSpPr>
        <p:spPr>
          <a:xfrm>
            <a:off x="4870666" y="2651568"/>
            <a:ext cx="2287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slti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$t0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$s2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-8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BEC1EFA-01C0-5B39-5083-5A7B3090E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391770"/>
              </p:ext>
            </p:extLst>
          </p:nvPr>
        </p:nvGraphicFramePr>
        <p:xfrm>
          <a:off x="1756545" y="3420028"/>
          <a:ext cx="8553449" cy="434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965295130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974373342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3288884850"/>
                    </a:ext>
                  </a:extLst>
                </a:gridCol>
                <a:gridCol w="4276724">
                  <a:extLst>
                    <a:ext uri="{9D8B030D-6E8A-4147-A177-3AD203B41FA5}">
                      <a16:colId xmlns:a16="http://schemas.microsoft.com/office/drawing/2014/main" val="3087125857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 (</a:t>
                      </a:r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slti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$s2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$t0</a:t>
                      </a:r>
                      <a:endParaRPr lang="en-US" sz="2400" dirty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364661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DBD83FE-A4EF-DEA2-7D33-8D66D9FC2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583895"/>
              </p:ext>
            </p:extLst>
          </p:nvPr>
        </p:nvGraphicFramePr>
        <p:xfrm>
          <a:off x="1756545" y="3989330"/>
          <a:ext cx="8553449" cy="434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965295130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974373342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3288884850"/>
                    </a:ext>
                  </a:extLst>
                </a:gridCol>
                <a:gridCol w="4276724">
                  <a:extLst>
                    <a:ext uri="{9D8B030D-6E8A-4147-A177-3AD203B41FA5}">
                      <a16:colId xmlns:a16="http://schemas.microsoft.com/office/drawing/2014/main" val="3087125857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0xA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364661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C0E86E4-D2CA-A919-C344-E50B911C2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554658"/>
              </p:ext>
            </p:extLst>
          </p:nvPr>
        </p:nvGraphicFramePr>
        <p:xfrm>
          <a:off x="1756545" y="4562874"/>
          <a:ext cx="8553449" cy="434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965295130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974373342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3288884850"/>
                    </a:ext>
                  </a:extLst>
                </a:gridCol>
                <a:gridCol w="4276724">
                  <a:extLst>
                    <a:ext uri="{9D8B030D-6E8A-4147-A177-3AD203B41FA5}">
                      <a16:colId xmlns:a16="http://schemas.microsoft.com/office/drawing/2014/main" val="3087125857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001010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10010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01000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1111111111111000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364661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1212954-A85E-1B4D-3675-F4F626C441AC}"/>
              </a:ext>
            </a:extLst>
          </p:cNvPr>
          <p:cNvSpPr txBox="1"/>
          <p:nvPr/>
        </p:nvSpPr>
        <p:spPr>
          <a:xfrm>
            <a:off x="2761673" y="5136417"/>
            <a:ext cx="53773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001010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10010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01000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1111111111111000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B6959-C81B-3106-C0B4-D2E1F919DE16}"/>
              </a:ext>
            </a:extLst>
          </p:cNvPr>
          <p:cNvSpPr txBox="1"/>
          <p:nvPr/>
        </p:nvSpPr>
        <p:spPr>
          <a:xfrm>
            <a:off x="8376417" y="5136417"/>
            <a:ext cx="1933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0x2A48FFF8</a:t>
            </a:r>
          </a:p>
        </p:txBody>
      </p:sp>
    </p:spTree>
    <p:extLst>
      <p:ext uri="{BB962C8B-B14F-4D97-AF65-F5344CB8AC3E}">
        <p14:creationId xmlns:p14="http://schemas.microsoft.com/office/powerpoint/2010/main" val="2786604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52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Định dạng lệnh - I - Ví dụ</a:t>
            </a:r>
            <a:endParaRPr/>
          </a:p>
        </p:txBody>
      </p:sp>
      <p:sp>
        <p:nvSpPr>
          <p:cNvPr id="1024" name="Google Shape;1024;p52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1025" name="Google Shape;1025;p52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graphicFrame>
        <p:nvGraphicFramePr>
          <p:cNvPr id="1026" name="Google Shape;1026;p52"/>
          <p:cNvGraphicFramePr/>
          <p:nvPr/>
        </p:nvGraphicFramePr>
        <p:xfrm>
          <a:off x="2638426" y="1366977"/>
          <a:ext cx="7089750" cy="868720"/>
        </p:xfrm>
        <a:graphic>
          <a:graphicData uri="http://schemas.openxmlformats.org/drawingml/2006/table">
            <a:tbl>
              <a:tblPr firstRow="1" bandRow="1">
                <a:noFill/>
                <a:tableStyleId>{9DF5D750-6997-4D2D-A3B0-DC363B30ECF9}</a:tableStyleId>
              </a:tblPr>
              <a:tblGrid>
                <a:gridCol w="118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7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immediate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61A7D8F-E7D5-3036-ED5B-BC057E8B4BE6}"/>
              </a:ext>
            </a:extLst>
          </p:cNvPr>
          <p:cNvSpPr txBox="1"/>
          <p:nvPr/>
        </p:nvSpPr>
        <p:spPr>
          <a:xfrm>
            <a:off x="3359546" y="2556923"/>
            <a:ext cx="46264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0x400000: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beq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$s2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$t0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0x400004: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slti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$t0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$s2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0x400008: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add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$t0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$s1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$s2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0x40000C: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PASS: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438244-7EF9-97B8-1EF9-9C530465E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824032"/>
              </p:ext>
            </p:extLst>
          </p:nvPr>
        </p:nvGraphicFramePr>
        <p:xfrm>
          <a:off x="1386509" y="4152324"/>
          <a:ext cx="8553449" cy="434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965295130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974373342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3288884850"/>
                    </a:ext>
                  </a:extLst>
                </a:gridCol>
                <a:gridCol w="4276724">
                  <a:extLst>
                    <a:ext uri="{9D8B030D-6E8A-4147-A177-3AD203B41FA5}">
                      <a16:colId xmlns:a16="http://schemas.microsoft.com/office/drawing/2014/main" val="3087125857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 (</a:t>
                      </a:r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beq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$s2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$t0</a:t>
                      </a:r>
                      <a:endParaRPr lang="en-US" sz="2400" dirty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 = PC + 4 + {</a:t>
                      </a:r>
                      <a:r>
                        <a:rPr lang="en-US" sz="2200" dirty="0" err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extS</a:t>
                      </a:r>
                      <a:r>
                        <a:rPr lang="en-US" sz="2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200" dirty="0" err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sz="2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&lt;&lt; 2}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364661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219EAE-1E4A-CA66-3820-A24511831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508758"/>
              </p:ext>
            </p:extLst>
          </p:nvPr>
        </p:nvGraphicFramePr>
        <p:xfrm>
          <a:off x="1386509" y="4724252"/>
          <a:ext cx="8553449" cy="434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965295130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974373342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3288884850"/>
                    </a:ext>
                  </a:extLst>
                </a:gridCol>
                <a:gridCol w="4276724">
                  <a:extLst>
                    <a:ext uri="{9D8B030D-6E8A-4147-A177-3AD203B41FA5}">
                      <a16:colId xmlns:a16="http://schemas.microsoft.com/office/drawing/2014/main" val="3087125857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000100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10010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01000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0000000000000010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36466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43F148-C1B9-8DB7-5992-92FB29216E5A}"/>
              </a:ext>
            </a:extLst>
          </p:cNvPr>
          <p:cNvSpPr txBox="1"/>
          <p:nvPr/>
        </p:nvSpPr>
        <p:spPr>
          <a:xfrm>
            <a:off x="2843834" y="5297795"/>
            <a:ext cx="53296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000100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10010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01000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0000000000000010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30FFF5-E631-B04E-1CB8-113D7753B08D}"/>
              </a:ext>
            </a:extLst>
          </p:cNvPr>
          <p:cNvSpPr txBox="1"/>
          <p:nvPr/>
        </p:nvSpPr>
        <p:spPr>
          <a:xfrm>
            <a:off x="8173436" y="5297794"/>
            <a:ext cx="1766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0x12480002</a:t>
            </a:r>
          </a:p>
        </p:txBody>
      </p:sp>
    </p:spTree>
    <p:extLst>
      <p:ext uri="{BB962C8B-B14F-4D97-AF65-F5344CB8AC3E}">
        <p14:creationId xmlns:p14="http://schemas.microsoft.com/office/powerpoint/2010/main" val="1879114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53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Định dạng lệnh - I - 	Quiz 6</a:t>
            </a:r>
            <a:endParaRPr/>
          </a:p>
        </p:txBody>
      </p:sp>
      <p:sp>
        <p:nvSpPr>
          <p:cNvPr id="1039" name="Google Shape;1039;p53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1040" name="Google Shape;1040;p53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graphicFrame>
        <p:nvGraphicFramePr>
          <p:cNvPr id="1041" name="Google Shape;1041;p53"/>
          <p:cNvGraphicFramePr/>
          <p:nvPr/>
        </p:nvGraphicFramePr>
        <p:xfrm>
          <a:off x="3042286" y="5298897"/>
          <a:ext cx="7089750" cy="868720"/>
        </p:xfrm>
        <a:graphic>
          <a:graphicData uri="http://schemas.openxmlformats.org/drawingml/2006/table">
            <a:tbl>
              <a:tblPr firstRow="1" bandRow="1">
                <a:noFill/>
                <a:tableStyleId>{9DF5D750-6997-4D2D-A3B0-DC363B30ECF9}</a:tableStyleId>
              </a:tblPr>
              <a:tblGrid>
                <a:gridCol w="118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1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7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immediate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2" name="Google Shape;1042;p53"/>
          <p:cNvSpPr txBox="1">
            <a:spLocks noGrp="1"/>
          </p:cNvSpPr>
          <p:nvPr>
            <p:ph type="body" idx="1"/>
          </p:nvPr>
        </p:nvSpPr>
        <p:spPr>
          <a:xfrm>
            <a:off x="1142797" y="1195821"/>
            <a:ext cx="10515600" cy="516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Biểu diễn lệnh lw $a0, 48($sp)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043" name="Google Shape;1043;p53"/>
          <p:cNvPicPr preferRelativeResize="0"/>
          <p:nvPr/>
        </p:nvPicPr>
        <p:blipFill rotWithShape="1">
          <a:blip r:embed="rId3">
            <a:alphaModFix/>
          </a:blip>
          <a:srcRect r="70022"/>
          <a:stretch/>
        </p:blipFill>
        <p:spPr>
          <a:xfrm>
            <a:off x="8890772" y="939460"/>
            <a:ext cx="1829904" cy="3773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54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Định dạng lệnh - J</a:t>
            </a:r>
            <a:endParaRPr/>
          </a:p>
        </p:txBody>
      </p:sp>
      <p:sp>
        <p:nvSpPr>
          <p:cNvPr id="1050" name="Google Shape;1050;p54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1051" name="Google Shape;1051;p54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1052" name="Google Shape;1052;p54"/>
          <p:cNvSpPr txBox="1">
            <a:spLocks noGrp="1"/>
          </p:cNvSpPr>
          <p:nvPr>
            <p:ph type="body" idx="1"/>
          </p:nvPr>
        </p:nvSpPr>
        <p:spPr>
          <a:xfrm>
            <a:off x="1142797" y="1195821"/>
            <a:ext cx="10515600" cy="516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Các trường lệnh dạng J: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 (opcode): Mã lệnh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address: Số tức thời 26 bit (biểu diễn dạng bù 2)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Bit [27:2] của địa chỉ nhảy tới</a:t>
            </a:r>
            <a:endParaRPr/>
          </a:p>
        </p:txBody>
      </p:sp>
      <p:graphicFrame>
        <p:nvGraphicFramePr>
          <p:cNvPr id="1053" name="Google Shape;1053;p54"/>
          <p:cNvGraphicFramePr/>
          <p:nvPr/>
        </p:nvGraphicFramePr>
        <p:xfrm>
          <a:off x="2466340" y="4116032"/>
          <a:ext cx="6794500" cy="868720"/>
        </p:xfrm>
        <a:graphic>
          <a:graphicData uri="http://schemas.openxmlformats.org/drawingml/2006/table">
            <a:tbl>
              <a:tblPr firstRow="1" bandRow="1">
                <a:noFill/>
                <a:tableStyleId>{9DF5D750-6997-4D2D-A3B0-DC363B30ECF9}</a:tableStyleId>
              </a:tblPr>
              <a:tblGrid>
                <a:gridCol w="113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55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Định dạng lệnh - J - Ví dụ</a:t>
            </a:r>
            <a:endParaRPr/>
          </a:p>
        </p:txBody>
      </p:sp>
      <p:sp>
        <p:nvSpPr>
          <p:cNvPr id="1060" name="Google Shape;1060;p55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1061" name="Google Shape;1061;p55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graphicFrame>
        <p:nvGraphicFramePr>
          <p:cNvPr id="1062" name="Google Shape;1062;p55"/>
          <p:cNvGraphicFramePr/>
          <p:nvPr/>
        </p:nvGraphicFramePr>
        <p:xfrm>
          <a:off x="1602583" y="1292131"/>
          <a:ext cx="8553450" cy="868720"/>
        </p:xfrm>
        <a:graphic>
          <a:graphicData uri="http://schemas.openxmlformats.org/drawingml/2006/table">
            <a:tbl>
              <a:tblPr firstRow="1" bandRow="1">
                <a:noFill/>
                <a:tableStyleId>{9DF5D750-6997-4D2D-A3B0-DC363B30ECF9}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 bit</a:t>
                      </a:r>
                      <a:endParaRPr/>
                    </a:p>
                  </a:txBody>
                  <a:tcPr marL="68575" marR="68575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63" name="Google Shape;1063;p55"/>
          <p:cNvSpPr txBox="1"/>
          <p:nvPr/>
        </p:nvSpPr>
        <p:spPr>
          <a:xfrm>
            <a:off x="3549956" y="2228671"/>
            <a:ext cx="458958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0xCAFEBAB8: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j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sub_pro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0xCAFEBAFC:    </a:t>
            </a:r>
            <a:r>
              <a:rPr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sub_pro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64" name="Google Shape;1064;p55"/>
          <p:cNvGraphicFramePr/>
          <p:nvPr/>
        </p:nvGraphicFramePr>
        <p:xfrm>
          <a:off x="1622429" y="3637544"/>
          <a:ext cx="8553450" cy="434360"/>
        </p:xfrm>
        <a:graphic>
          <a:graphicData uri="http://schemas.openxmlformats.org/drawingml/2006/table">
            <a:tbl>
              <a:tblPr firstRow="1" bandRow="1">
                <a:noFill/>
                <a:tableStyleId>{9DF5D750-6997-4D2D-A3B0-DC363B30ECF9}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 (j)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0xCAFEBAFC = {(PC+4)[31:28], </a:t>
                      </a:r>
                      <a:r>
                        <a:rPr lang="en-US" sz="240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</a:t>
                      </a:r>
                      <a:r>
                        <a:rPr lang="en-US" sz="240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2’b0}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65" name="Google Shape;1065;p55"/>
          <p:cNvGraphicFramePr/>
          <p:nvPr/>
        </p:nvGraphicFramePr>
        <p:xfrm>
          <a:off x="1622429" y="4206846"/>
          <a:ext cx="8553450" cy="434360"/>
        </p:xfrm>
        <a:graphic>
          <a:graphicData uri="http://schemas.openxmlformats.org/drawingml/2006/table">
            <a:tbl>
              <a:tblPr firstRow="1" bandRow="1">
                <a:noFill/>
                <a:tableStyleId>{9DF5D750-6997-4D2D-A3B0-DC363B30ECF9}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0x2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0x2BFAEBF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66" name="Google Shape;1066;p55"/>
          <p:cNvGraphicFramePr/>
          <p:nvPr/>
        </p:nvGraphicFramePr>
        <p:xfrm>
          <a:off x="1622429" y="4780390"/>
          <a:ext cx="8553450" cy="434360"/>
        </p:xfrm>
        <a:graphic>
          <a:graphicData uri="http://schemas.openxmlformats.org/drawingml/2006/table">
            <a:tbl>
              <a:tblPr firstRow="1" bandRow="1">
                <a:noFill/>
                <a:tableStyleId>{9DF5D750-6997-4D2D-A3B0-DC363B30ECF9}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000010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10101111111010111010111111</a:t>
                      </a:r>
                      <a:endParaRPr/>
                    </a:p>
                  </a:txBody>
                  <a:tcPr marL="68575" marR="68575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67" name="Google Shape;1067;p55"/>
          <p:cNvSpPr txBox="1"/>
          <p:nvPr/>
        </p:nvSpPr>
        <p:spPr>
          <a:xfrm>
            <a:off x="3211636" y="5353933"/>
            <a:ext cx="502040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000010</a:t>
            </a: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10101111111010111010111111</a:t>
            </a:r>
            <a:endParaRPr/>
          </a:p>
        </p:txBody>
      </p:sp>
      <p:sp>
        <p:nvSpPr>
          <p:cNvPr id="1068" name="Google Shape;1068;p55"/>
          <p:cNvSpPr txBox="1"/>
          <p:nvPr/>
        </p:nvSpPr>
        <p:spPr>
          <a:xfrm>
            <a:off x="8174891" y="5353933"/>
            <a:ext cx="200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0x0ABFAEBF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7ACCAE-D110-62E2-9DA8-435B3DD6E9B9}"/>
              </a:ext>
            </a:extLst>
          </p:cNvPr>
          <p:cNvSpPr txBox="1"/>
          <p:nvPr/>
        </p:nvSpPr>
        <p:spPr>
          <a:xfrm>
            <a:off x="3549956" y="3296765"/>
            <a:ext cx="5243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000" dirty="0"/>
              <a:t>1100 1010 1111 1110 1011 1010 1111 1100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56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Định dạng lệnh - J - 	Quiz 7</a:t>
            </a:r>
            <a:endParaRPr/>
          </a:p>
        </p:txBody>
      </p:sp>
      <p:sp>
        <p:nvSpPr>
          <p:cNvPr id="1075" name="Google Shape;1075;p56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1076" name="Google Shape;1076;p56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1077" name="Google Shape;1077;p56"/>
          <p:cNvSpPr txBox="1">
            <a:spLocks noGrp="1"/>
          </p:cNvSpPr>
          <p:nvPr>
            <p:ph type="body" idx="1"/>
          </p:nvPr>
        </p:nvSpPr>
        <p:spPr>
          <a:xfrm>
            <a:off x="1028497" y="1303663"/>
            <a:ext cx="10515600" cy="516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Biểu diễn lệnh j IT012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Lệnh j ở địa chỉ 0x00CAFE00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Nhãn IT012 có địa chỉ tương ứng là 0x0000A5B0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59"/>
          <p:cNvSpPr txBox="1">
            <a:spLocks noGrp="1"/>
          </p:cNvSpPr>
          <p:nvPr>
            <p:ph type="sldNum" idx="12"/>
          </p:nvPr>
        </p:nvSpPr>
        <p:spPr>
          <a:xfrm>
            <a:off x="1189939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1104" name="Google Shape;1104;p59"/>
          <p:cNvSpPr txBox="1">
            <a:spLocks noGrp="1"/>
          </p:cNvSpPr>
          <p:nvPr>
            <p:ph type="body" idx="1"/>
          </p:nvPr>
        </p:nvSpPr>
        <p:spPr>
          <a:xfrm>
            <a:off x="1470928" y="2095027"/>
            <a:ext cx="8526511" cy="88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</a:pPr>
            <a:r>
              <a:rPr lang="en-US"/>
              <a:t>Các mô hình định địa chỉ </a:t>
            </a:r>
            <a:endParaRPr/>
          </a:p>
        </p:txBody>
      </p:sp>
      <p:sp>
        <p:nvSpPr>
          <p:cNvPr id="1105" name="Google Shape;1105;p59"/>
          <p:cNvSpPr txBox="1">
            <a:spLocks noGrp="1"/>
          </p:cNvSpPr>
          <p:nvPr>
            <p:ph type="body" idx="2"/>
          </p:nvPr>
        </p:nvSpPr>
        <p:spPr>
          <a:xfrm>
            <a:off x="1470930" y="3169159"/>
            <a:ext cx="8913813" cy="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 sz="2800"/>
          </a:p>
        </p:txBody>
      </p:sp>
      <p:sp>
        <p:nvSpPr>
          <p:cNvPr id="1106" name="Google Shape;1106;p59"/>
          <p:cNvSpPr txBox="1">
            <a:spLocks noGrp="1"/>
          </p:cNvSpPr>
          <p:nvPr>
            <p:ph type="body" idx="3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</a:pPr>
            <a:endParaRPr/>
          </a:p>
        </p:txBody>
      </p:sp>
      <p:sp>
        <p:nvSpPr>
          <p:cNvPr id="1107" name="Google Shape;1107;p59"/>
          <p:cNvSpPr txBox="1">
            <a:spLocks noGrp="1"/>
          </p:cNvSpPr>
          <p:nvPr>
            <p:ph type="body" idx="4"/>
          </p:nvPr>
        </p:nvSpPr>
        <p:spPr>
          <a:xfrm>
            <a:off x="8868867" y="5280181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</a:pPr>
            <a:r>
              <a:rPr lang="en-US"/>
              <a:t>6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60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Các mô hình định địa chỉ </a:t>
            </a:r>
            <a:endParaRPr/>
          </a:p>
        </p:txBody>
      </p:sp>
      <p:sp>
        <p:nvSpPr>
          <p:cNvPr id="1113" name="Google Shape;1113;p60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1114" name="Google Shape;1114;p60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1115" name="Google Shape;1115;p60"/>
          <p:cNvSpPr txBox="1">
            <a:spLocks noGrp="1"/>
          </p:cNvSpPr>
          <p:nvPr>
            <p:ph type="dt" idx="10"/>
          </p:nvPr>
        </p:nvSpPr>
        <p:spPr>
          <a:xfrm>
            <a:off x="838200" y="6458365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19, 2023</a:t>
            </a:r>
            <a:endParaRPr/>
          </a:p>
        </p:txBody>
      </p:sp>
      <p:pic>
        <p:nvPicPr>
          <p:cNvPr id="1116" name="Google Shape;1116;p60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5395"/>
          <a:stretch/>
        </p:blipFill>
        <p:spPr>
          <a:xfrm>
            <a:off x="1492634" y="1267932"/>
            <a:ext cx="9777346" cy="50414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D1ED1C-B14E-3968-2931-8F799AA9A34D}"/>
              </a:ext>
            </a:extLst>
          </p:cNvPr>
          <p:cNvSpPr txBox="1"/>
          <p:nvPr/>
        </p:nvSpPr>
        <p:spPr>
          <a:xfrm>
            <a:off x="6096000" y="1554480"/>
            <a:ext cx="20681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  <a:r>
              <a:rPr lang="en-VN" sz="2400" dirty="0"/>
              <a:t>ndi, addi, slti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7E988-60D6-EFED-D391-801061EE2486}"/>
              </a:ext>
            </a:extLst>
          </p:cNvPr>
          <p:cNvSpPr txBox="1"/>
          <p:nvPr/>
        </p:nvSpPr>
        <p:spPr>
          <a:xfrm>
            <a:off x="6096000" y="2708910"/>
            <a:ext cx="28184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  <a:r>
              <a:rPr lang="en-VN" sz="2400" dirty="0"/>
              <a:t>nd, add, slt, sll, srl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44509-AA69-4BAB-6DE4-F5DA0665318F}"/>
              </a:ext>
            </a:extLst>
          </p:cNvPr>
          <p:cNvSpPr txBox="1"/>
          <p:nvPr/>
        </p:nvSpPr>
        <p:spPr>
          <a:xfrm>
            <a:off x="6096000" y="4278302"/>
            <a:ext cx="21868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400" dirty="0"/>
              <a:t>lw, sw, lhu, lbu</a:t>
            </a:r>
            <a:endParaRPr lang="en-VN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61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Các mô hình định địa chỉ (tt) </a:t>
            </a:r>
            <a:endParaRPr/>
          </a:p>
        </p:txBody>
      </p:sp>
      <p:sp>
        <p:nvSpPr>
          <p:cNvPr id="1122" name="Google Shape;1122;p61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1123" name="Google Shape;1123;p61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1124" name="Google Shape;1124;p61"/>
          <p:cNvSpPr txBox="1">
            <a:spLocks noGrp="1"/>
          </p:cNvSpPr>
          <p:nvPr>
            <p:ph type="dt" idx="10"/>
          </p:nvPr>
        </p:nvSpPr>
        <p:spPr>
          <a:xfrm>
            <a:off x="838200" y="6458365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19, 2023</a:t>
            </a:r>
            <a:endParaRPr/>
          </a:p>
        </p:txBody>
      </p:sp>
      <p:pic>
        <p:nvPicPr>
          <p:cNvPr id="1125" name="Google Shape;1125;p61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t="53053"/>
          <a:stretch/>
        </p:blipFill>
        <p:spPr>
          <a:xfrm>
            <a:off x="1550580" y="1036514"/>
            <a:ext cx="9368879" cy="51416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D77C30-A26C-8108-51DE-5F016AC4FD45}"/>
              </a:ext>
            </a:extLst>
          </p:cNvPr>
          <p:cNvSpPr txBox="1"/>
          <p:nvPr/>
        </p:nvSpPr>
        <p:spPr>
          <a:xfrm>
            <a:off x="6235019" y="1343168"/>
            <a:ext cx="1383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400" dirty="0"/>
              <a:t>beq, bne</a:t>
            </a:r>
            <a:endParaRPr lang="en-V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55727F-5061-5AA7-E594-836535A9A7F8}"/>
              </a:ext>
            </a:extLst>
          </p:cNvPr>
          <p:cNvSpPr txBox="1"/>
          <p:nvPr/>
        </p:nvSpPr>
        <p:spPr>
          <a:xfrm>
            <a:off x="6096000" y="4257818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400" dirty="0"/>
              <a:t>j , jal</a:t>
            </a:r>
            <a:endParaRPr lang="en-VN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62"/>
          <p:cNvSpPr txBox="1">
            <a:spLocks noGrp="1"/>
          </p:cNvSpPr>
          <p:nvPr>
            <p:ph type="sldNum" idx="12"/>
          </p:nvPr>
        </p:nvSpPr>
        <p:spPr>
          <a:xfrm>
            <a:off x="1189939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1131" name="Google Shape;1131;p62"/>
          <p:cNvSpPr txBox="1">
            <a:spLocks noGrp="1"/>
          </p:cNvSpPr>
          <p:nvPr>
            <p:ph type="body" idx="1"/>
          </p:nvPr>
        </p:nvSpPr>
        <p:spPr>
          <a:xfrm>
            <a:off x="1470930" y="2095027"/>
            <a:ext cx="10637250" cy="88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</a:pPr>
            <a:r>
              <a:rPr lang="en-US" sz="4400"/>
              <a:t>Chương trình hợp ngữ</a:t>
            </a:r>
            <a:endParaRPr/>
          </a:p>
        </p:txBody>
      </p:sp>
      <p:sp>
        <p:nvSpPr>
          <p:cNvPr id="1132" name="Google Shape;1132;p62"/>
          <p:cNvSpPr txBox="1">
            <a:spLocks noGrp="1"/>
          </p:cNvSpPr>
          <p:nvPr>
            <p:ph type="body" idx="2"/>
          </p:nvPr>
        </p:nvSpPr>
        <p:spPr>
          <a:xfrm>
            <a:off x="1470930" y="3169159"/>
            <a:ext cx="8913813" cy="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/>
          </a:p>
        </p:txBody>
      </p:sp>
      <p:sp>
        <p:nvSpPr>
          <p:cNvPr id="1133" name="Google Shape;1133;p62"/>
          <p:cNvSpPr txBox="1">
            <a:spLocks noGrp="1"/>
          </p:cNvSpPr>
          <p:nvPr>
            <p:ph type="body" idx="3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</a:pPr>
            <a:endParaRPr/>
          </a:p>
        </p:txBody>
      </p:sp>
      <p:sp>
        <p:nvSpPr>
          <p:cNvPr id="1134" name="Google Shape;1134;p62"/>
          <p:cNvSpPr txBox="1">
            <a:spLocks noGrp="1"/>
          </p:cNvSpPr>
          <p:nvPr>
            <p:ph type="body" idx="4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1135" name="Google Shape;1135;p62"/>
          <p:cNvSpPr txBox="1">
            <a:spLocks noGrp="1"/>
          </p:cNvSpPr>
          <p:nvPr>
            <p:ph type="dt" idx="10"/>
          </p:nvPr>
        </p:nvSpPr>
        <p:spPr>
          <a:xfrm>
            <a:off x="8382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19, 2023</a:t>
            </a:r>
            <a:endParaRPr/>
          </a:p>
        </p:txBody>
      </p:sp>
      <p:sp>
        <p:nvSpPr>
          <p:cNvPr id="1136" name="Google Shape;1136;p62"/>
          <p:cNvSpPr txBox="1">
            <a:spLocks noGrp="1"/>
          </p:cNvSpPr>
          <p:nvPr>
            <p:ph type="ftr" idx="11"/>
          </p:nvPr>
        </p:nvSpPr>
        <p:spPr>
          <a:xfrm>
            <a:off x="3677478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63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 sz="4000"/>
              <a:t>Chương trình hợp ngữ - Cấu trúc chương trình</a:t>
            </a:r>
            <a:endParaRPr/>
          </a:p>
        </p:txBody>
      </p:sp>
      <p:sp>
        <p:nvSpPr>
          <p:cNvPr id="1142" name="Google Shape;1142;p63"/>
          <p:cNvSpPr txBox="1">
            <a:spLocks noGrp="1"/>
          </p:cNvSpPr>
          <p:nvPr>
            <p:ph type="body" idx="1"/>
          </p:nvPr>
        </p:nvSpPr>
        <p:spPr>
          <a:xfrm>
            <a:off x="1142797" y="1195821"/>
            <a:ext cx="10515600" cy="516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# Chú thích bằng đầu bằng ký tự #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.data             # Khai báo dữ liệu ngay sau hàng này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                   # Khai báo dữ liệu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.text             # Viết chương trình ngay sau hàng này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main:                               # Nhãn thể hiện bắt đầu chương trình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                   # Viết chương trình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143" name="Google Shape;1143;p63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1144" name="Google Shape;1144;p63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1145" name="Google Shape;1145;p63"/>
          <p:cNvSpPr txBox="1">
            <a:spLocks noGrp="1"/>
          </p:cNvSpPr>
          <p:nvPr>
            <p:ph type="dt" idx="10"/>
          </p:nvPr>
        </p:nvSpPr>
        <p:spPr>
          <a:xfrm>
            <a:off x="838200" y="6458365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19, 2023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64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 sz="4000"/>
              <a:t>Chương trình hợp ngữ - Khai báo dữ liệu</a:t>
            </a:r>
            <a:endParaRPr/>
          </a:p>
        </p:txBody>
      </p:sp>
      <p:sp>
        <p:nvSpPr>
          <p:cNvPr id="1151" name="Google Shape;1151;p64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1152" name="Google Shape;1152;p64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1153" name="Google Shape;1153;p64"/>
          <p:cNvSpPr txBox="1">
            <a:spLocks noGrp="1"/>
          </p:cNvSpPr>
          <p:nvPr>
            <p:ph type="dt" idx="10"/>
          </p:nvPr>
        </p:nvSpPr>
        <p:spPr>
          <a:xfrm>
            <a:off x="838200" y="6458365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19, 2023</a:t>
            </a:r>
            <a:endParaRPr/>
          </a:p>
        </p:txBody>
      </p:sp>
      <p:sp>
        <p:nvSpPr>
          <p:cNvPr id="1154" name="Google Shape;1154;p64"/>
          <p:cNvSpPr txBox="1">
            <a:spLocks noGrp="1"/>
          </p:cNvSpPr>
          <p:nvPr>
            <p:ph type="body" idx="1"/>
          </p:nvPr>
        </p:nvSpPr>
        <p:spPr>
          <a:xfrm>
            <a:off x="1142797" y="1195821"/>
            <a:ext cx="10515600" cy="516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Ký số: Hệ thập phân (17), Hệ thập lục phân thêm tiền tố 0x (0x17)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Ký tự: Đặt trong cặp nháy đơn (‘c’)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Chuỗi: Đặt trong cặp nháy kép (“PH002”) 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[&lt;nhãn&gt;:]   .&lt;kiểu dữ liệu&gt;   &lt;danh sách giá trị&gt;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Ví dụ: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var1:   .word   3           # biến nguyên var1 có kích thước 1 word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arr1:   .byte    ‘a’, ‘k’   # mảng arr1 có 2 phần tử, mỗi phần tử 1 byte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arr2:   .space   40         # mảng arr2 có kích thước 40 byte liên tục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str1:   .asciiz  “ahihi”  # chuỗi str1 có kết thúc bởi null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64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 sz="4000"/>
              <a:t>Chương trình hợp ngữ - </a:t>
            </a:r>
            <a:r>
              <a:rPr lang="en-US"/>
              <a:t>hàm con</a:t>
            </a:r>
            <a:endParaRPr/>
          </a:p>
        </p:txBody>
      </p:sp>
      <p:sp>
        <p:nvSpPr>
          <p:cNvPr id="1151" name="Google Shape;1151;p64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1152" name="Google Shape;1152;p64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1153" name="Google Shape;1153;p64"/>
          <p:cNvSpPr txBox="1">
            <a:spLocks noGrp="1"/>
          </p:cNvSpPr>
          <p:nvPr>
            <p:ph type="dt" idx="10"/>
          </p:nvPr>
        </p:nvSpPr>
        <p:spPr>
          <a:xfrm>
            <a:off x="838200" y="6458365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19, 2023</a:t>
            </a:r>
            <a:endParaRPr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F1E4671F-149E-D738-F83F-1B92AA7B2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009" y="1218027"/>
            <a:ext cx="9113982" cy="4868363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98828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64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 sz="4000"/>
              <a:t>Chương trình hợp ngữ - hàm con</a:t>
            </a:r>
            <a:endParaRPr/>
          </a:p>
        </p:txBody>
      </p:sp>
      <p:sp>
        <p:nvSpPr>
          <p:cNvPr id="1151" name="Google Shape;1151;p64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1152" name="Google Shape;1152;p64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1153" name="Google Shape;1153;p64"/>
          <p:cNvSpPr txBox="1">
            <a:spLocks noGrp="1"/>
          </p:cNvSpPr>
          <p:nvPr>
            <p:ph type="dt" idx="10"/>
          </p:nvPr>
        </p:nvSpPr>
        <p:spPr>
          <a:xfrm>
            <a:off x="838200" y="6458365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19, 2023</a:t>
            </a:r>
            <a:endParaRPr/>
          </a:p>
        </p:txBody>
      </p:sp>
      <p:sp>
        <p:nvSpPr>
          <p:cNvPr id="1154" name="Google Shape;1154;p64"/>
          <p:cNvSpPr txBox="1">
            <a:spLocks noGrp="1"/>
          </p:cNvSpPr>
          <p:nvPr>
            <p:ph type="body" idx="1"/>
          </p:nvPr>
        </p:nvSpPr>
        <p:spPr>
          <a:xfrm>
            <a:off x="1142797" y="1195821"/>
            <a:ext cx="10515600" cy="516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Đoạn code sau thực hiện việc gọi hàm con (thủ tục) tên ABC</a:t>
            </a:r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add $t0, $t1, $t2</a:t>
            </a:r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</a:t>
            </a:r>
            <a:r>
              <a:rPr lang="en-US">
                <a:solidFill>
                  <a:srgbClr val="FF0000"/>
                </a:solidFill>
              </a:rPr>
              <a:t>jal ABC</a:t>
            </a:r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or $t3, $t4, $s5</a:t>
            </a:r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</a:t>
            </a:r>
            <a:r>
              <a:rPr lang="en-US">
                <a:solidFill>
                  <a:srgbClr val="00B050"/>
                </a:solidFill>
              </a:rPr>
              <a:t>j EXIT</a:t>
            </a:r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rgbClr val="FF0000"/>
                </a:solidFill>
              </a:rPr>
              <a:t>ABC:  </a:t>
            </a:r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add $t0, $t3, $t5</a:t>
            </a:r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sub $t2, $t3, $t0</a:t>
            </a:r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jr $ra</a:t>
            </a:r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rgbClr val="00B050"/>
                </a:solidFill>
              </a:rPr>
              <a:t>EXIT:</a:t>
            </a:r>
            <a:endParaRPr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5698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64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 sz="4000"/>
              <a:t>Chương trình hợp ngữ - hàm con</a:t>
            </a:r>
            <a:endParaRPr/>
          </a:p>
        </p:txBody>
      </p:sp>
      <p:sp>
        <p:nvSpPr>
          <p:cNvPr id="1151" name="Google Shape;1151;p64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1152" name="Google Shape;1152;p64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1153" name="Google Shape;1153;p64"/>
          <p:cNvSpPr txBox="1">
            <a:spLocks noGrp="1"/>
          </p:cNvSpPr>
          <p:nvPr>
            <p:ph type="dt" idx="10"/>
          </p:nvPr>
        </p:nvSpPr>
        <p:spPr>
          <a:xfrm>
            <a:off x="838200" y="6458365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19, 2023</a:t>
            </a:r>
            <a:endParaRPr/>
          </a:p>
        </p:txBody>
      </p:sp>
      <p:sp>
        <p:nvSpPr>
          <p:cNvPr id="1154" name="Google Shape;1154;p64"/>
          <p:cNvSpPr txBox="1">
            <a:spLocks noGrp="1"/>
          </p:cNvSpPr>
          <p:nvPr>
            <p:ph type="body" idx="1"/>
          </p:nvPr>
        </p:nvSpPr>
        <p:spPr>
          <a:xfrm>
            <a:off x="1142797" y="1195821"/>
            <a:ext cx="10515600" cy="516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vi-VN"/>
              <a:t>Để thực thi một thủ tục, chương trình phải tuân theo sáu bước sau:</a:t>
            </a:r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vi-VN" sz="2600" i="1"/>
              <a:t>1.  Đặt các tham số ở một nơi mà thủ tục có thể truy xuất được </a:t>
            </a:r>
            <a:r>
              <a:rPr lang="en-US" sz="2600" i="1"/>
              <a:t>     	</a:t>
            </a:r>
            <a:r>
              <a:rPr lang="vi-VN" sz="2600" i="1"/>
              <a:t>(truyền tham số)</a:t>
            </a:r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vi-VN" sz="2600" i="1"/>
              <a:t>2.  Chuyển quyền điểu khiển cho thủ tục (PC = địa chỉ thủ tục)</a:t>
            </a:r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vi-VN" sz="2600" i="1"/>
              <a:t>3.  Yêu cầu tài nguyên lưu trữ cần thiết cho thủ tục đó (phần đầu)  </a:t>
            </a:r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vi-VN" sz="2600" i="1"/>
              <a:t>4.  Thực hiện công việc (task) (phần thân)</a:t>
            </a:r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vi-VN" sz="2600" i="1"/>
              <a:t>5.  Lưu kết quả ở một nơi mà chương trình có thể truy xuất được </a:t>
            </a:r>
            <a:r>
              <a:rPr lang="en-US" sz="2600" i="1"/>
              <a:t>	</a:t>
            </a:r>
            <a:r>
              <a:rPr lang="vi-VN" sz="2600" i="1"/>
              <a:t>(phần cuối)</a:t>
            </a:r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vi-VN" sz="2600" i="1"/>
              <a:t>6. Trả điều khiển về vị trị mà thủ tục được gọi. Vì một thủ tục có thể được gọi từ nhiều vị trí trong một chương trình </a:t>
            </a:r>
            <a:endParaRPr lang="en-US" sz="2600" i="1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600" i="1"/>
              <a:t>		</a:t>
            </a:r>
            <a:r>
              <a:rPr lang="vi-VN" sz="2600" i="1"/>
              <a:t>(PC = địa chỉ của lệnh ngay sau lệnh gọi thủ tục)</a:t>
            </a:r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8752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65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Tóm tắt lại nội dung Chương 6</a:t>
            </a:r>
            <a:endParaRPr/>
          </a:p>
        </p:txBody>
      </p:sp>
      <p:sp>
        <p:nvSpPr>
          <p:cNvPr id="1160" name="Google Shape;1160;p65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1161" name="Google Shape;1161;p65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1162" name="Google Shape;1162;p65"/>
          <p:cNvSpPr txBox="1">
            <a:spLocks noGrp="1"/>
          </p:cNvSpPr>
          <p:nvPr>
            <p:ph type="body" idx="1"/>
          </p:nvPr>
        </p:nvSpPr>
        <p:spPr>
          <a:xfrm>
            <a:off x="1142797" y="1195821"/>
            <a:ext cx="10515600" cy="516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/>
              <a:t>Kiến trúc tập lệnh</a:t>
            </a:r>
          </a:p>
          <a:p>
            <a:pPr>
              <a:lnSpc>
                <a:spcPct val="150000"/>
              </a:lnSpc>
            </a:pPr>
            <a:r>
              <a:rPr lang="en-US" sz="2800"/>
              <a:t>Lệnh và tập lệnh MIPS</a:t>
            </a:r>
          </a:p>
          <a:p>
            <a:pPr>
              <a:lnSpc>
                <a:spcPct val="150000"/>
              </a:lnSpc>
            </a:pPr>
            <a:r>
              <a:rPr lang="en-US" sz="2800"/>
              <a:t>Các nhóm lệnh MIPS</a:t>
            </a:r>
          </a:p>
          <a:p>
            <a:pPr>
              <a:lnSpc>
                <a:spcPct val="150000"/>
              </a:lnSpc>
            </a:pPr>
            <a:r>
              <a:rPr lang="en-US" sz="2800"/>
              <a:t>Toán hạng</a:t>
            </a:r>
          </a:p>
          <a:p>
            <a:pPr>
              <a:lnSpc>
                <a:spcPct val="150000"/>
              </a:lnSpc>
            </a:pPr>
            <a:r>
              <a:rPr lang="en-US" sz="2800"/>
              <a:t>Định dạng lệnh</a:t>
            </a:r>
          </a:p>
          <a:p>
            <a:pPr>
              <a:lnSpc>
                <a:spcPct val="150000"/>
              </a:lnSpc>
            </a:pPr>
            <a:r>
              <a:rPr lang="vi-VN" sz="2800"/>
              <a:t>Các mô hình định địa chỉ</a:t>
            </a:r>
          </a:p>
          <a:p>
            <a:pPr>
              <a:lnSpc>
                <a:spcPct val="150000"/>
              </a:lnSpc>
            </a:pPr>
            <a:r>
              <a:rPr lang="vi-VN" sz="2800"/>
              <a:t>Chương trình hợp ngữ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66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Câu hỏi ôn tập chương 6</a:t>
            </a:r>
            <a:endParaRPr/>
          </a:p>
        </p:txBody>
      </p:sp>
      <p:sp>
        <p:nvSpPr>
          <p:cNvPr id="1168" name="Google Shape;1168;p66"/>
          <p:cNvSpPr txBox="1">
            <a:spLocks noGrp="1"/>
          </p:cNvSpPr>
          <p:nvPr>
            <p:ph type="body" idx="1"/>
          </p:nvPr>
        </p:nvSpPr>
        <p:spPr>
          <a:xfrm>
            <a:off x="1142797" y="1195821"/>
            <a:ext cx="4023563" cy="516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Giả sử các biến f, g, h, i và j lần lượt được gán tới các thanh ghi $s0, $s1, $s2, $s3 và $s4. Giả sử địa chỉ nền của mảng A và B lần lượt nằm trong các thanh ghi $s6 và $s7.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Chương trình C tương ứng là gì?</a:t>
            </a:r>
            <a:endParaRPr sz="2800"/>
          </a:p>
        </p:txBody>
      </p:sp>
      <p:sp>
        <p:nvSpPr>
          <p:cNvPr id="1169" name="Google Shape;1169;p66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1170" name="Google Shape;1170;p66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1171" name="Google Shape;1171;p66"/>
          <p:cNvSpPr txBox="1"/>
          <p:nvPr/>
        </p:nvSpPr>
        <p:spPr>
          <a:xfrm>
            <a:off x="6450512" y="1769038"/>
            <a:ext cx="4971867" cy="3097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7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sll $t0, $s0, 2       # $t0 = f * 4</a:t>
            </a:r>
            <a:endParaRPr/>
          </a:p>
          <a:p>
            <a:pPr marL="0" marR="0" lvl="0" indent="0" algn="just" rtl="0">
              <a:lnSpc>
                <a:spcPct val="71875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$t0, $s6, $t0  # $t0 = &amp;A[f]</a:t>
            </a:r>
            <a:endParaRPr/>
          </a:p>
          <a:p>
            <a:pPr marL="0" marR="0" lvl="0" indent="0" algn="just" rtl="0">
              <a:lnSpc>
                <a:spcPct val="71875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sll $t1, $s1, 2       # $t1 = g * 4</a:t>
            </a:r>
            <a:endParaRPr/>
          </a:p>
          <a:p>
            <a:pPr marL="0" marR="0" lvl="0" indent="0" algn="just" rtl="0">
              <a:lnSpc>
                <a:spcPct val="71875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$t1, $s7, $t1  # $t1 = &amp;B[g]</a:t>
            </a:r>
            <a:endParaRPr/>
          </a:p>
          <a:p>
            <a:pPr marL="0" marR="0" lvl="0" indent="0" algn="just" rtl="0">
              <a:lnSpc>
                <a:spcPct val="71875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lw $s0, 0($t0)      # f = A[f]</a:t>
            </a:r>
            <a:endParaRPr/>
          </a:p>
          <a:p>
            <a:pPr marL="0" marR="0" lvl="0" indent="0" algn="just" rtl="0">
              <a:lnSpc>
                <a:spcPct val="71875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 $t2, $t0, 4</a:t>
            </a:r>
            <a:endParaRPr/>
          </a:p>
          <a:p>
            <a:pPr marL="0" marR="0" lvl="0" indent="0" algn="just" rtl="0">
              <a:lnSpc>
                <a:spcPct val="71875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lw $t0, 0($t2)</a:t>
            </a:r>
            <a:endParaRPr/>
          </a:p>
          <a:p>
            <a:pPr marL="0" marR="0" lvl="0" indent="0" algn="just" rtl="0">
              <a:lnSpc>
                <a:spcPct val="71875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$t0, $t0, $s0</a:t>
            </a:r>
            <a:endParaRPr/>
          </a:p>
          <a:p>
            <a:pPr marL="0" marR="0" lvl="0" indent="0" algn="just" rtl="0">
              <a:lnSpc>
                <a:spcPct val="71875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 $t0, 0($t1)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67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Câu hỏi ôn tập chương 6 (tt)</a:t>
            </a:r>
            <a:endParaRPr/>
          </a:p>
        </p:txBody>
      </p:sp>
      <p:sp>
        <p:nvSpPr>
          <p:cNvPr id="1177" name="Google Shape;1177;p67"/>
          <p:cNvSpPr txBox="1">
            <a:spLocks noGrp="1"/>
          </p:cNvSpPr>
          <p:nvPr>
            <p:ph type="body" idx="1"/>
          </p:nvPr>
        </p:nvSpPr>
        <p:spPr>
          <a:xfrm>
            <a:off x="1142797" y="1195821"/>
            <a:ext cx="10515600" cy="516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Viết chương trình hợp ngữ tính tổng 100 phần tử của mảng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Viết chương trình hợp ngữ kiểm tra một số có phải là số nguyên tố hay không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178" name="Google Shape;1178;p67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1179" name="Google Shape;1179;p67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1180" name="Google Shape;1180;p67"/>
          <p:cNvSpPr txBox="1">
            <a:spLocks noGrp="1"/>
          </p:cNvSpPr>
          <p:nvPr>
            <p:ph type="dt" idx="10"/>
          </p:nvPr>
        </p:nvSpPr>
        <p:spPr>
          <a:xfrm>
            <a:off x="838200" y="6458365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April 19, 2023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57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Bài tập 1</a:t>
            </a:r>
            <a:endParaRPr b="1"/>
          </a:p>
        </p:txBody>
      </p:sp>
      <p:sp>
        <p:nvSpPr>
          <p:cNvPr id="1084" name="Google Shape;1084;p57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1085" name="Google Shape;1085;p57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1086" name="Google Shape;1086;p57"/>
          <p:cNvSpPr txBox="1">
            <a:spLocks noGrp="1"/>
          </p:cNvSpPr>
          <p:nvPr>
            <p:ph type="body" idx="1"/>
          </p:nvPr>
        </p:nvSpPr>
        <p:spPr>
          <a:xfrm>
            <a:off x="693419" y="3654966"/>
            <a:ext cx="7292341" cy="245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Chuyển đổi lệnh trong lập trình C thành lệnh hợp ngữ MIPS, biết rằng các biến F, B, G nằm trong các thanh ghi từ t5 đến t8 và mảng các số nguyên A có địa chỉ lưu trong $t1 :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 =  A[B + 4]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G = A[16 – C] + A[B – 4]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graphicFrame>
        <p:nvGraphicFramePr>
          <p:cNvPr id="1087" name="Google Shape;1087;p57"/>
          <p:cNvGraphicFramePr/>
          <p:nvPr/>
        </p:nvGraphicFramePr>
        <p:xfrm>
          <a:off x="815976" y="1271362"/>
          <a:ext cx="6765925" cy="2157600"/>
        </p:xfrm>
        <a:graphic>
          <a:graphicData uri="http://schemas.openxmlformats.org/drawingml/2006/table">
            <a:tbl>
              <a:tblPr firstRow="1" firstCol="1" bandRow="1">
                <a:noFill/>
                <a:tableStyleId>{9DF5D750-6997-4D2D-A3B0-DC363B30ECF9}</a:tableStyleId>
              </a:tblPr>
              <a:tblGrid>
                <a:gridCol w="180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3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Lệnh</a:t>
                      </a:r>
                      <a:endParaRPr sz="24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25" marR="212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Ví dụ</a:t>
                      </a:r>
                      <a:endParaRPr sz="24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25" marR="212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Ý nghĩa</a:t>
                      </a:r>
                      <a:endParaRPr sz="24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25" marR="2122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Cộng 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25" marR="2122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add $s1,$s2,$s3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25" marR="2122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$s1=$s2 + $s3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25" marR="2122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Trừ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25" marR="2122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sub $s1,$s2,$s3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25" marR="2122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$s1=$s2 - $s3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25" marR="2122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Cộng tức thì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25" marR="2122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addi $s1,$s2,5</a:t>
                      </a:r>
                      <a:endParaRPr/>
                    </a:p>
                  </a:txBody>
                  <a:tcPr marL="21225" marR="2122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Arial"/>
                          <a:ea typeface="Arial"/>
                          <a:cs typeface="Arial"/>
                          <a:sym typeface="Arial"/>
                        </a:rPr>
                        <a:t>$s1=$s2 + 5</a:t>
                      </a:r>
                      <a:endParaRPr sz="2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1225" marR="2122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88" name="Google Shape;1088;p57"/>
          <p:cNvPicPr preferRelativeResize="0"/>
          <p:nvPr/>
        </p:nvPicPr>
        <p:blipFill rotWithShape="1">
          <a:blip r:embed="rId3">
            <a:alphaModFix/>
          </a:blip>
          <a:srcRect r="70022"/>
          <a:stretch/>
        </p:blipFill>
        <p:spPr>
          <a:xfrm>
            <a:off x="8843449" y="1045751"/>
            <a:ext cx="2532575" cy="5221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58"/>
          <p:cNvSpPr txBox="1">
            <a:spLocks noGrp="1"/>
          </p:cNvSpPr>
          <p:nvPr>
            <p:ph type="title"/>
          </p:nvPr>
        </p:nvSpPr>
        <p:spPr>
          <a:xfrm>
            <a:off x="1142797" y="150069"/>
            <a:ext cx="10515600" cy="8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/>
              <a:t>Bài tập 2</a:t>
            </a:r>
            <a:endParaRPr b="1"/>
          </a:p>
        </p:txBody>
      </p:sp>
      <p:sp>
        <p:nvSpPr>
          <p:cNvPr id="1095" name="Google Shape;1095;p58"/>
          <p:cNvSpPr txBox="1">
            <a:spLocks noGrp="1"/>
          </p:cNvSpPr>
          <p:nvPr>
            <p:ph type="sldNum" idx="12"/>
          </p:nvPr>
        </p:nvSpPr>
        <p:spPr>
          <a:xfrm>
            <a:off x="11895481" y="6560013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1096" name="Google Shape;1096;p58"/>
          <p:cNvSpPr txBox="1">
            <a:spLocks noGrp="1"/>
          </p:cNvSpPr>
          <p:nvPr>
            <p:ph type="ftr" idx="11"/>
          </p:nvPr>
        </p:nvSpPr>
        <p:spPr>
          <a:xfrm>
            <a:off x="3644348" y="6475620"/>
            <a:ext cx="4903304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pic>
        <p:nvPicPr>
          <p:cNvPr id="1097" name="Google Shape;1097;p58"/>
          <p:cNvPicPr preferRelativeResize="0"/>
          <p:nvPr/>
        </p:nvPicPr>
        <p:blipFill rotWithShape="1">
          <a:blip r:embed="rId3">
            <a:alphaModFix/>
          </a:blip>
          <a:srcRect r="70022"/>
          <a:stretch/>
        </p:blipFill>
        <p:spPr>
          <a:xfrm>
            <a:off x="8843449" y="1045751"/>
            <a:ext cx="2532575" cy="5221932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58"/>
          <p:cNvSpPr txBox="1">
            <a:spLocks noGrp="1"/>
          </p:cNvSpPr>
          <p:nvPr>
            <p:ph type="body" idx="1"/>
          </p:nvPr>
        </p:nvSpPr>
        <p:spPr>
          <a:xfrm>
            <a:off x="1142797" y="1195821"/>
            <a:ext cx="10515600" cy="516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Biểu diễn các lệnh sau: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sub $s1, $s2, $s3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lw $t7, 20($k0)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sw $v1, 20($gp)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nor $at, $ra, $a2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j ABC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Lệnh j đang ở địa chỉ 0xFEC0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Nhãn ABC có địa chỉ tương ứng là 0x2500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68"/>
          <p:cNvSpPr txBox="1">
            <a:spLocks noGrp="1"/>
          </p:cNvSpPr>
          <p:nvPr>
            <p:ph type="sldNum" idx="12"/>
          </p:nvPr>
        </p:nvSpPr>
        <p:spPr>
          <a:xfrm>
            <a:off x="11897699" y="656024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1186" name="Google Shape;1186;p68"/>
          <p:cNvSpPr txBox="1">
            <a:spLocks noGrp="1"/>
          </p:cNvSpPr>
          <p:nvPr>
            <p:ph type="ftr" idx="11"/>
          </p:nvPr>
        </p:nvSpPr>
        <p:spPr>
          <a:xfrm>
            <a:off x="3684104" y="6481647"/>
            <a:ext cx="482379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hiện bởi Trường Đại học Công nghệ Thông tin, ĐHQG-HCM</a:t>
            </a:r>
            <a:endParaRPr/>
          </a:p>
        </p:txBody>
      </p:sp>
      <p:sp>
        <p:nvSpPr>
          <p:cNvPr id="1187" name="Google Shape;1187;p68"/>
          <p:cNvSpPr txBox="1"/>
          <p:nvPr/>
        </p:nvSpPr>
        <p:spPr>
          <a:xfrm>
            <a:off x="4684910" y="1918010"/>
            <a:ext cx="4012558" cy="1100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THẢO LUẬN</a:t>
            </a:r>
            <a:endParaRPr/>
          </a:p>
        </p:txBody>
      </p:sp>
      <p:pic>
        <p:nvPicPr>
          <p:cNvPr id="1188" name="Google Shape;1188;p68" descr="http://data.sinhvienit.net/2013/T09/img/SinhVienIT.Net---suy-nghi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95842" y="3018931"/>
            <a:ext cx="3211551" cy="2408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3294</Words>
  <Application>Microsoft Macintosh PowerPoint</Application>
  <PresentationFormat>Widescreen</PresentationFormat>
  <Paragraphs>576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Times New Roman</vt:lpstr>
      <vt:lpstr>Office Theme</vt:lpstr>
      <vt:lpstr>PowerPoint Presentation</vt:lpstr>
      <vt:lpstr>Ôn tập các chương trước</vt:lpstr>
      <vt:lpstr>PowerPoint Presentation</vt:lpstr>
      <vt:lpstr>PowerPoint Presentation</vt:lpstr>
      <vt:lpstr>PowerPoint Presentation</vt:lpstr>
      <vt:lpstr>PowerPoint Presentation</vt:lpstr>
      <vt:lpstr>Định dạng lệnh</vt:lpstr>
      <vt:lpstr>Định dạng lệnh - R</vt:lpstr>
      <vt:lpstr>Định dạng lệnh – R (ví dụ)</vt:lpstr>
      <vt:lpstr>Chuyển đổi lệnh ASM MIPS sang mã máy</vt:lpstr>
      <vt:lpstr>Chuyển đổi lệnh ASM MIPS sang mã máy (tt)</vt:lpstr>
      <vt:lpstr>Chuyển đổi lệnh ASM MIPS sang mã máy (tt)</vt:lpstr>
      <vt:lpstr>Chuyển đổi lệnh ASM MIPS sang mã máy (tt)</vt:lpstr>
      <vt:lpstr>Định dạng lệnh – R (ví dụ)</vt:lpstr>
      <vt:lpstr>Định dạng lệnh - R - Quiz5</vt:lpstr>
      <vt:lpstr>Định dạng lệnh - I</vt:lpstr>
      <vt:lpstr>Định dạng lệnh - I - Ví dụ</vt:lpstr>
      <vt:lpstr>Định dạng lệnh - I - Ví dụ</vt:lpstr>
      <vt:lpstr>Định dạng lệnh - I - Ví dụ</vt:lpstr>
      <vt:lpstr>Định dạng lệnh - I - Ví dụ</vt:lpstr>
      <vt:lpstr>Định dạng lệnh - I -  Quiz 6</vt:lpstr>
      <vt:lpstr>Định dạng lệnh - J</vt:lpstr>
      <vt:lpstr>Định dạng lệnh - J - Ví dụ</vt:lpstr>
      <vt:lpstr>Định dạng lệnh - J -  Quiz 7</vt:lpstr>
      <vt:lpstr>PowerPoint Presentation</vt:lpstr>
      <vt:lpstr>Các mô hình định địa chỉ </vt:lpstr>
      <vt:lpstr>Các mô hình định địa chỉ (tt) </vt:lpstr>
      <vt:lpstr>PowerPoint Presentation</vt:lpstr>
      <vt:lpstr>Chương trình hợp ngữ - Cấu trúc chương trình</vt:lpstr>
      <vt:lpstr>Chương trình hợp ngữ - Khai báo dữ liệu</vt:lpstr>
      <vt:lpstr>Chương trình hợp ngữ - hàm con</vt:lpstr>
      <vt:lpstr>Chương trình hợp ngữ - hàm con</vt:lpstr>
      <vt:lpstr>Chương trình hợp ngữ - hàm con</vt:lpstr>
      <vt:lpstr>Tóm tắt lại nội dung Chương 6</vt:lpstr>
      <vt:lpstr>Câu hỏi ôn tập chương 6</vt:lpstr>
      <vt:lpstr>Câu hỏi ôn tập chương 6 (tt)</vt:lpstr>
      <vt:lpstr>Bài tập 1</vt:lpstr>
      <vt:lpstr>Bài tập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Trần Hoàng Lộc</dc:creator>
  <cp:lastModifiedBy>Phan Đình Duy</cp:lastModifiedBy>
  <cp:revision>8</cp:revision>
  <cp:lastPrinted>2023-06-18T06:59:06Z</cp:lastPrinted>
  <dcterms:created xsi:type="dcterms:W3CDTF">2023-03-03T01:55:04Z</dcterms:created>
  <dcterms:modified xsi:type="dcterms:W3CDTF">2023-06-18T08:57:24Z</dcterms:modified>
</cp:coreProperties>
</file>