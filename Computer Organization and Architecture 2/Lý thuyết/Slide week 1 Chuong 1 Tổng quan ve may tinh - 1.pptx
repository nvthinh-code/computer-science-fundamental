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ebm" ContentType="video/webm"/>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2"/>
  </p:notesMasterIdLst>
  <p:sldIdLst>
    <p:sldId id="260" r:id="rId2"/>
    <p:sldId id="316" r:id="rId3"/>
    <p:sldId id="315" r:id="rId4"/>
    <p:sldId id="317" r:id="rId5"/>
    <p:sldId id="318" r:id="rId6"/>
    <p:sldId id="319" r:id="rId7"/>
    <p:sldId id="320" r:id="rId8"/>
    <p:sldId id="322" r:id="rId9"/>
    <p:sldId id="323" r:id="rId10"/>
    <p:sldId id="345" r:id="rId11"/>
    <p:sldId id="351" r:id="rId12"/>
    <p:sldId id="314" r:id="rId13"/>
    <p:sldId id="262" r:id="rId14"/>
    <p:sldId id="269" r:id="rId15"/>
    <p:sldId id="261" r:id="rId16"/>
    <p:sldId id="263" r:id="rId17"/>
    <p:sldId id="270" r:id="rId18"/>
    <p:sldId id="324" r:id="rId19"/>
    <p:sldId id="346" r:id="rId20"/>
    <p:sldId id="277" r:id="rId21"/>
    <p:sldId id="325" r:id="rId22"/>
    <p:sldId id="347" r:id="rId23"/>
    <p:sldId id="326" r:id="rId24"/>
    <p:sldId id="348" r:id="rId25"/>
    <p:sldId id="327" r:id="rId26"/>
    <p:sldId id="349" r:id="rId27"/>
    <p:sldId id="280" r:id="rId28"/>
    <p:sldId id="295" r:id="rId29"/>
    <p:sldId id="271" r:id="rId30"/>
    <p:sldId id="296" r:id="rId31"/>
    <p:sldId id="272" r:id="rId32"/>
    <p:sldId id="328" r:id="rId33"/>
    <p:sldId id="329" r:id="rId34"/>
    <p:sldId id="301" r:id="rId35"/>
    <p:sldId id="273" r:id="rId36"/>
    <p:sldId id="330" r:id="rId37"/>
    <p:sldId id="302" r:id="rId38"/>
    <p:sldId id="274" r:id="rId39"/>
    <p:sldId id="350" r:id="rId40"/>
    <p:sldId id="331" r:id="rId41"/>
    <p:sldId id="332" r:id="rId42"/>
    <p:sldId id="333" r:id="rId43"/>
    <p:sldId id="275" r:id="rId44"/>
    <p:sldId id="335" r:id="rId45"/>
    <p:sldId id="336" r:id="rId46"/>
    <p:sldId id="337" r:id="rId47"/>
    <p:sldId id="338" r:id="rId48"/>
    <p:sldId id="276" r:id="rId49"/>
    <p:sldId id="313" r:id="rId50"/>
    <p:sldId id="268" r:id="rId51"/>
  </p:sldIdLst>
  <p:sldSz cx="12192000" cy="6858000"/>
  <p:notesSz cx="6858000" cy="9144000"/>
  <p:defaultText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C6FF"/>
    <a:srgbClr val="0072FF"/>
    <a:srgbClr val="1CB5E0"/>
    <a:srgbClr val="000046"/>
    <a:srgbClr val="00F7FF"/>
    <a:srgbClr val="0A4671"/>
    <a:srgbClr val="114F9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970"/>
    <p:restoredTop sz="84626"/>
  </p:normalViewPr>
  <p:slideViewPr>
    <p:cSldViewPr snapToGrid="0">
      <p:cViewPr varScale="1">
        <p:scale>
          <a:sx n="96" d="100"/>
          <a:sy n="96" d="100"/>
        </p:scale>
        <p:origin x="811"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01B713-64C2-0949-8ADC-A04FFD1F6467}" type="datetimeFigureOut">
              <a:rPr lang="en-VN" smtClean="0"/>
              <a:t>10/10/2024</a:t>
            </a:fld>
            <a:endParaRPr lang="en-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19F204-C7F4-F140-967F-D2FA889DA617}" type="slidenum">
              <a:rPr lang="en-VN" smtClean="0"/>
              <a:t>‹#›</a:t>
            </a:fld>
            <a:endParaRPr lang="en-VN"/>
          </a:p>
        </p:txBody>
      </p:sp>
    </p:spTree>
    <p:extLst>
      <p:ext uri="{BB962C8B-B14F-4D97-AF65-F5344CB8AC3E}">
        <p14:creationId xmlns:p14="http://schemas.microsoft.com/office/powerpoint/2010/main" val="29899649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C19F204-C7F4-F140-967F-D2FA889DA617}" type="slidenum">
              <a:rPr lang="en-VN" smtClean="0"/>
              <a:t>1</a:t>
            </a:fld>
            <a:endParaRPr lang="en-VN"/>
          </a:p>
        </p:txBody>
      </p:sp>
    </p:spTree>
    <p:extLst>
      <p:ext uri="{BB962C8B-B14F-4D97-AF65-F5344CB8AC3E}">
        <p14:creationId xmlns:p14="http://schemas.microsoft.com/office/powerpoint/2010/main" val="14256369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solidFill>
                  <a:srgbClr val="333333"/>
                </a:solidFill>
                <a:effectLst/>
                <a:latin typeface="Arial" panose="020B0604020202020204" pitchFamily="34" charset="0"/>
              </a:rPr>
              <a:t>Amply </a:t>
            </a:r>
            <a:r>
              <a:rPr lang="en-US" b="1" i="0" dirty="0" err="1">
                <a:solidFill>
                  <a:srgbClr val="333333"/>
                </a:solidFill>
                <a:effectLst/>
                <a:latin typeface="Arial" panose="020B0604020202020204" pitchFamily="34" charset="0"/>
              </a:rPr>
              <a:t>Mastersound</a:t>
            </a:r>
            <a:r>
              <a:rPr lang="en-US" b="1" i="0" dirty="0">
                <a:solidFill>
                  <a:srgbClr val="333333"/>
                </a:solidFill>
                <a:effectLst/>
                <a:latin typeface="Arial" panose="020B0604020202020204" pitchFamily="34" charset="0"/>
              </a:rPr>
              <a:t> Evolution 845 – </a:t>
            </a:r>
            <a:r>
              <a:rPr lang="en-US" b="1" i="0" dirty="0" err="1">
                <a:solidFill>
                  <a:srgbClr val="333333"/>
                </a:solidFill>
                <a:effectLst/>
                <a:latin typeface="Arial" panose="020B0604020202020204" pitchFamily="34" charset="0"/>
              </a:rPr>
              <a:t>Giá</a:t>
            </a:r>
            <a:r>
              <a:rPr lang="en-US" b="1" i="0" dirty="0">
                <a:solidFill>
                  <a:srgbClr val="333333"/>
                </a:solidFill>
                <a:effectLst/>
                <a:latin typeface="Arial" panose="020B0604020202020204" pitchFamily="34" charset="0"/>
              </a:rPr>
              <a:t> 400tr</a:t>
            </a:r>
          </a:p>
          <a:p>
            <a:endParaRPr lang="en-VN" dirty="0"/>
          </a:p>
        </p:txBody>
      </p:sp>
      <p:sp>
        <p:nvSpPr>
          <p:cNvPr id="4" name="Slide Number Placeholder 3"/>
          <p:cNvSpPr>
            <a:spLocks noGrp="1"/>
          </p:cNvSpPr>
          <p:nvPr>
            <p:ph type="sldNum" sz="quarter" idx="5"/>
          </p:nvPr>
        </p:nvSpPr>
        <p:spPr/>
        <p:txBody>
          <a:bodyPr/>
          <a:lstStyle/>
          <a:p>
            <a:fld id="{DC19F204-C7F4-F140-967F-D2FA889DA617}" type="slidenum">
              <a:rPr lang="en-VN" smtClean="0"/>
              <a:t>20</a:t>
            </a:fld>
            <a:endParaRPr lang="en-VN"/>
          </a:p>
        </p:txBody>
      </p:sp>
    </p:spTree>
    <p:extLst>
      <p:ext uri="{BB962C8B-B14F-4D97-AF65-F5344CB8AC3E}">
        <p14:creationId xmlns:p14="http://schemas.microsoft.com/office/powerpoint/2010/main" val="17868471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congnghedoluong.com</a:t>
            </a:r>
            <a:r>
              <a:rPr lang="en-US" dirty="0"/>
              <a:t>/2020/03/04/transistor/</a:t>
            </a:r>
            <a:endParaRPr lang="en-VN" dirty="0"/>
          </a:p>
        </p:txBody>
      </p:sp>
      <p:sp>
        <p:nvSpPr>
          <p:cNvPr id="4" name="Slide Number Placeholder 3"/>
          <p:cNvSpPr>
            <a:spLocks noGrp="1"/>
          </p:cNvSpPr>
          <p:nvPr>
            <p:ph type="sldNum" sz="quarter" idx="5"/>
          </p:nvPr>
        </p:nvSpPr>
        <p:spPr/>
        <p:txBody>
          <a:bodyPr/>
          <a:lstStyle/>
          <a:p>
            <a:fld id="{DC19F204-C7F4-F140-967F-D2FA889DA617}" type="slidenum">
              <a:rPr lang="en-VN" smtClean="0"/>
              <a:t>22</a:t>
            </a:fld>
            <a:endParaRPr lang="en-VN"/>
          </a:p>
        </p:txBody>
      </p:sp>
    </p:spTree>
    <p:extLst>
      <p:ext uri="{BB962C8B-B14F-4D97-AF65-F5344CB8AC3E}">
        <p14:creationId xmlns:p14="http://schemas.microsoft.com/office/powerpoint/2010/main" val="41754185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www.thegioididong.com</a:t>
            </a:r>
            <a:r>
              <a:rPr lang="en-US" dirty="0"/>
              <a:t>/tin-</a:t>
            </a:r>
            <a:r>
              <a:rPr lang="en-US" dirty="0" err="1"/>
              <a:t>tuc</a:t>
            </a:r>
            <a:r>
              <a:rPr lang="en-US" dirty="0"/>
              <a:t>/chip-apple-m2-chinh-thuc-ra-mat-voi-suc-manh-khung-1437839</a:t>
            </a:r>
            <a:endParaRPr lang="en-VN" dirty="0"/>
          </a:p>
        </p:txBody>
      </p:sp>
      <p:sp>
        <p:nvSpPr>
          <p:cNvPr id="4" name="Slide Number Placeholder 3"/>
          <p:cNvSpPr>
            <a:spLocks noGrp="1"/>
          </p:cNvSpPr>
          <p:nvPr>
            <p:ph type="sldNum" sz="quarter" idx="5"/>
          </p:nvPr>
        </p:nvSpPr>
        <p:spPr/>
        <p:txBody>
          <a:bodyPr/>
          <a:lstStyle/>
          <a:p>
            <a:fld id="{DC19F204-C7F4-F140-967F-D2FA889DA617}" type="slidenum">
              <a:rPr lang="en-VN" smtClean="0"/>
              <a:t>25</a:t>
            </a:fld>
            <a:endParaRPr lang="en-VN"/>
          </a:p>
        </p:txBody>
      </p:sp>
    </p:spTree>
    <p:extLst>
      <p:ext uri="{BB962C8B-B14F-4D97-AF65-F5344CB8AC3E}">
        <p14:creationId xmlns:p14="http://schemas.microsoft.com/office/powerpoint/2010/main" val="210103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C19F204-C7F4-F140-967F-D2FA889DA617}" type="slidenum">
              <a:rPr lang="en-VN" smtClean="0"/>
              <a:t>27</a:t>
            </a:fld>
            <a:endParaRPr lang="en-VN"/>
          </a:p>
        </p:txBody>
      </p:sp>
    </p:spTree>
    <p:extLst>
      <p:ext uri="{BB962C8B-B14F-4D97-AF65-F5344CB8AC3E}">
        <p14:creationId xmlns:p14="http://schemas.microsoft.com/office/powerpoint/2010/main" val="4298567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https://vnexpress.net/10-sieu-may-tinh-manh-nhat-the-gioi-4611149.html#:~:text=Fugaku%20(Nh%E1%BA%ADt%20B%E1%BA%A3n),c%E1%BB%A9u%20Covid%2D19%20n%C4%83m%202021.</a:t>
            </a:r>
          </a:p>
        </p:txBody>
      </p:sp>
      <p:sp>
        <p:nvSpPr>
          <p:cNvPr id="4" name="Slide Number Placeholder 3"/>
          <p:cNvSpPr>
            <a:spLocks noGrp="1"/>
          </p:cNvSpPr>
          <p:nvPr>
            <p:ph type="sldNum" sz="quarter" idx="5"/>
          </p:nvPr>
        </p:nvSpPr>
        <p:spPr/>
        <p:txBody>
          <a:bodyPr/>
          <a:lstStyle/>
          <a:p>
            <a:fld id="{DC19F204-C7F4-F140-967F-D2FA889DA617}" type="slidenum">
              <a:rPr lang="en-VN" smtClean="0"/>
              <a:t>31</a:t>
            </a:fld>
            <a:endParaRPr lang="en-VN"/>
          </a:p>
        </p:txBody>
      </p:sp>
    </p:spTree>
    <p:extLst>
      <p:ext uri="{BB962C8B-B14F-4D97-AF65-F5344CB8AC3E}">
        <p14:creationId xmlns:p14="http://schemas.microsoft.com/office/powerpoint/2010/main" val="337380385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êu đề">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454F319A-62FB-D9AB-91DD-E1478E7A521A}"/>
              </a:ext>
            </a:extLst>
          </p:cNvPr>
          <p:cNvSpPr>
            <a:spLocks noGrp="1"/>
          </p:cNvSpPr>
          <p:nvPr>
            <p:ph type="ftr" sz="quarter" idx="11"/>
          </p:nvPr>
        </p:nvSpPr>
        <p:spPr>
          <a:xfrm>
            <a:off x="2353680" y="6480629"/>
            <a:ext cx="4288103" cy="236770"/>
          </a:xfrm>
        </p:spPr>
        <p:txBody>
          <a:bodyPr/>
          <a:lstStyle>
            <a:lvl1pPr algn="l">
              <a:defRPr sz="1100">
                <a:latin typeface="Arial" panose="020B0604020202020204" pitchFamily="34" charset="0"/>
                <a:cs typeface="Arial" panose="020B0604020202020204" pitchFamily="34" charset="0"/>
              </a:defRPr>
            </a:lvl1pPr>
          </a:lstStyle>
          <a:p>
            <a:r>
              <a:rPr lang="vi-VN" dirty="0"/>
              <a:t>Thực hiện bởi Trường Đại học Công nghệ Thông tin, ĐHQG-HCM</a:t>
            </a:r>
            <a:endParaRPr lang="en-VN" dirty="0"/>
          </a:p>
        </p:txBody>
      </p:sp>
      <p:sp>
        <p:nvSpPr>
          <p:cNvPr id="7" name="Freeform 6">
            <a:extLst>
              <a:ext uri="{FF2B5EF4-FFF2-40B4-BE49-F238E27FC236}">
                <a16:creationId xmlns:a16="http://schemas.microsoft.com/office/drawing/2014/main" id="{88E55FBA-E532-BB1F-9AD4-40205F001925}"/>
              </a:ext>
            </a:extLst>
          </p:cNvPr>
          <p:cNvSpPr/>
          <p:nvPr userDrawn="1"/>
        </p:nvSpPr>
        <p:spPr>
          <a:xfrm rot="10800000">
            <a:off x="-1" y="0"/>
            <a:ext cx="12192000" cy="6858000"/>
          </a:xfrm>
          <a:custGeom>
            <a:avLst/>
            <a:gdLst>
              <a:gd name="connsiteX0" fmla="*/ 12192000 w 12192000"/>
              <a:gd name="connsiteY0" fmla="*/ 304800 h 6858000"/>
              <a:gd name="connsiteX1" fmla="*/ 9909279 w 12192000"/>
              <a:gd name="connsiteY1" fmla="*/ 304800 h 6858000"/>
              <a:gd name="connsiteX2" fmla="*/ 9732789 w 12192000"/>
              <a:gd name="connsiteY2" fmla="*/ 152400 h 6858000"/>
              <a:gd name="connsiteX3" fmla="*/ 5617499 w 12192000"/>
              <a:gd name="connsiteY3" fmla="*/ 152400 h 6858000"/>
              <a:gd name="connsiteX4" fmla="*/ 5441009 w 12192000"/>
              <a:gd name="connsiteY4" fmla="*/ 0 h 6858000"/>
              <a:gd name="connsiteX5" fmla="*/ 12192000 w 12192000"/>
              <a:gd name="connsiteY5" fmla="*/ 0 h 6858000"/>
              <a:gd name="connsiteX6" fmla="*/ 0 w 12192000"/>
              <a:gd name="connsiteY6" fmla="*/ 616911 h 6858000"/>
              <a:gd name="connsiteX7" fmla="*/ 0 w 12192000"/>
              <a:gd name="connsiteY7" fmla="*/ 0 h 6858000"/>
              <a:gd name="connsiteX8" fmla="*/ 715617 w 12192000"/>
              <a:gd name="connsiteY8" fmla="*/ 0 h 6858000"/>
              <a:gd name="connsiteX9" fmla="*/ 12191999 w 12192000"/>
              <a:gd name="connsiteY9" fmla="*/ 6858000 h 6858000"/>
              <a:gd name="connsiteX10" fmla="*/ 11476382 w 12192000"/>
              <a:gd name="connsiteY10" fmla="*/ 6858000 h 6858000"/>
              <a:gd name="connsiteX11" fmla="*/ 12191999 w 12192000"/>
              <a:gd name="connsiteY11" fmla="*/ 6241089 h 6858000"/>
              <a:gd name="connsiteX12" fmla="*/ 6750991 w 12192000"/>
              <a:gd name="connsiteY12" fmla="*/ 6858000 h 6858000"/>
              <a:gd name="connsiteX13" fmla="*/ 0 w 12192000"/>
              <a:gd name="connsiteY13" fmla="*/ 6858000 h 6858000"/>
              <a:gd name="connsiteX14" fmla="*/ 0 w 12192000"/>
              <a:gd name="connsiteY14" fmla="*/ 6553200 h 6858000"/>
              <a:gd name="connsiteX15" fmla="*/ 2282721 w 12192000"/>
              <a:gd name="connsiteY15" fmla="*/ 6553200 h 6858000"/>
              <a:gd name="connsiteX16" fmla="*/ 2459211 w 12192000"/>
              <a:gd name="connsiteY16" fmla="*/ 6705600 h 6858000"/>
              <a:gd name="connsiteX17" fmla="*/ 6574500 w 12192000"/>
              <a:gd name="connsiteY17" fmla="*/ 67056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2000" h="6858000">
                <a:moveTo>
                  <a:pt x="12192000" y="304800"/>
                </a:moveTo>
                <a:lnTo>
                  <a:pt x="9909279" y="304800"/>
                </a:lnTo>
                <a:lnTo>
                  <a:pt x="9732789" y="152400"/>
                </a:lnTo>
                <a:lnTo>
                  <a:pt x="5617499" y="152400"/>
                </a:lnTo>
                <a:lnTo>
                  <a:pt x="5441009" y="0"/>
                </a:lnTo>
                <a:lnTo>
                  <a:pt x="12192000" y="0"/>
                </a:lnTo>
                <a:close/>
                <a:moveTo>
                  <a:pt x="0" y="616911"/>
                </a:moveTo>
                <a:lnTo>
                  <a:pt x="0" y="0"/>
                </a:lnTo>
                <a:lnTo>
                  <a:pt x="715617" y="0"/>
                </a:lnTo>
                <a:close/>
                <a:moveTo>
                  <a:pt x="12191999" y="6858000"/>
                </a:moveTo>
                <a:lnTo>
                  <a:pt x="11476382" y="6858000"/>
                </a:lnTo>
                <a:lnTo>
                  <a:pt x="12191999" y="6241089"/>
                </a:lnTo>
                <a:close/>
                <a:moveTo>
                  <a:pt x="6750991" y="6858000"/>
                </a:moveTo>
                <a:lnTo>
                  <a:pt x="0" y="6858000"/>
                </a:lnTo>
                <a:lnTo>
                  <a:pt x="0" y="6553200"/>
                </a:lnTo>
                <a:lnTo>
                  <a:pt x="2282721" y="6553200"/>
                </a:lnTo>
                <a:lnTo>
                  <a:pt x="2459211" y="6705600"/>
                </a:lnTo>
                <a:lnTo>
                  <a:pt x="6574500" y="6705600"/>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Isosceles Triangle 12">
            <a:extLst>
              <a:ext uri="{FF2B5EF4-FFF2-40B4-BE49-F238E27FC236}">
                <a16:creationId xmlns:a16="http://schemas.microsoft.com/office/drawing/2014/main" id="{BF14C68C-3577-C657-9E87-056612AF8E42}"/>
              </a:ext>
            </a:extLst>
          </p:cNvPr>
          <p:cNvSpPr/>
          <p:nvPr userDrawn="1"/>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9B88E437-A7E4-9E4B-E374-2DBE3AB8DADD}"/>
              </a:ext>
            </a:extLst>
          </p:cNvPr>
          <p:cNvGrpSpPr/>
          <p:nvPr userDrawn="1"/>
        </p:nvGrpSpPr>
        <p:grpSpPr>
          <a:xfrm>
            <a:off x="58527" y="40944"/>
            <a:ext cx="2869771" cy="1563379"/>
            <a:chOff x="44879" y="27296"/>
            <a:chExt cx="2869771" cy="1563379"/>
          </a:xfrm>
          <a:solidFill>
            <a:srgbClr val="0072FF"/>
          </a:solidFill>
        </p:grpSpPr>
        <p:cxnSp>
          <p:nvCxnSpPr>
            <p:cNvPr id="10" name="Straight Connector 9">
              <a:extLst>
                <a:ext uri="{FF2B5EF4-FFF2-40B4-BE49-F238E27FC236}">
                  <a16:creationId xmlns:a16="http://schemas.microsoft.com/office/drawing/2014/main" id="{F4A3AA59-2194-A31F-AA96-7C291846580A}"/>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1C352A7-0B18-D7E9-465D-F3B1274BB055}"/>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01A6BB9-0E9C-8F74-60DB-2DA463D47FDB}"/>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3" name="Isosceles Triangle 12">
            <a:extLst>
              <a:ext uri="{FF2B5EF4-FFF2-40B4-BE49-F238E27FC236}">
                <a16:creationId xmlns:a16="http://schemas.microsoft.com/office/drawing/2014/main" id="{1DA43496-358A-E9F0-8CFC-6A952BD4F3E7}"/>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8593DC9D-C96B-54B0-5413-508E29245B5C}"/>
              </a:ext>
            </a:extLst>
          </p:cNvPr>
          <p:cNvGrpSpPr/>
          <p:nvPr userDrawn="1"/>
        </p:nvGrpSpPr>
        <p:grpSpPr>
          <a:xfrm flipH="1" flipV="1">
            <a:off x="9263702" y="5253677"/>
            <a:ext cx="2869771" cy="1563379"/>
            <a:chOff x="44879" y="27296"/>
            <a:chExt cx="2869771" cy="1563379"/>
          </a:xfrm>
          <a:solidFill>
            <a:srgbClr val="0072FF"/>
          </a:solidFill>
        </p:grpSpPr>
        <p:cxnSp>
          <p:nvCxnSpPr>
            <p:cNvPr id="15" name="Straight Connector 14">
              <a:extLst>
                <a:ext uri="{FF2B5EF4-FFF2-40B4-BE49-F238E27FC236}">
                  <a16:creationId xmlns:a16="http://schemas.microsoft.com/office/drawing/2014/main" id="{81C856C5-8D5F-4945-AAA3-959D25DF2A5E}"/>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8FA7FF3-8245-17A0-DB3A-F0257D516679}"/>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31A1CF5-6C4E-34E9-65C0-4B4D78575756}"/>
                </a:ext>
              </a:extLst>
            </p:cNvPr>
            <p:cNvCxnSpPr>
              <a:cxnSpLocks/>
            </p:cNvCxnSpPr>
            <p:nvPr/>
          </p:nvCxnSpPr>
          <p:spPr>
            <a:xfrm flipV="1">
              <a:off x="52214" y="654128"/>
              <a:ext cx="0" cy="93654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18" name="Freeform 17">
            <a:extLst>
              <a:ext uri="{FF2B5EF4-FFF2-40B4-BE49-F238E27FC236}">
                <a16:creationId xmlns:a16="http://schemas.microsoft.com/office/drawing/2014/main" id="{3366D05A-8A62-ADE1-F4B2-73F9CA085276}"/>
              </a:ext>
            </a:extLst>
          </p:cNvPr>
          <p:cNvSpPr/>
          <p:nvPr userDrawn="1"/>
        </p:nvSpPr>
        <p:spPr>
          <a:xfrm flipH="1">
            <a:off x="5441009" y="0"/>
            <a:ext cx="6750991" cy="304800"/>
          </a:xfrm>
          <a:custGeom>
            <a:avLst/>
            <a:gdLst>
              <a:gd name="connsiteX0" fmla="*/ 0 w 6750991"/>
              <a:gd name="connsiteY0" fmla="*/ 0 h 304800"/>
              <a:gd name="connsiteX1" fmla="*/ 6750991 w 6750991"/>
              <a:gd name="connsiteY1" fmla="*/ 0 h 304800"/>
              <a:gd name="connsiteX2" fmla="*/ 6574501 w 6750991"/>
              <a:gd name="connsiteY2" fmla="*/ 152400 h 304800"/>
              <a:gd name="connsiteX3" fmla="*/ 2459211 w 6750991"/>
              <a:gd name="connsiteY3" fmla="*/ 152400 h 304800"/>
              <a:gd name="connsiteX4" fmla="*/ 2282721 w 6750991"/>
              <a:gd name="connsiteY4" fmla="*/ 304800 h 304800"/>
              <a:gd name="connsiteX5" fmla="*/ 0 w 6750991"/>
              <a:gd name="connsiteY5" fmla="*/ 304800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991" h="304800">
                <a:moveTo>
                  <a:pt x="0" y="0"/>
                </a:moveTo>
                <a:lnTo>
                  <a:pt x="6750991" y="0"/>
                </a:lnTo>
                <a:lnTo>
                  <a:pt x="6574501" y="152400"/>
                </a:lnTo>
                <a:lnTo>
                  <a:pt x="2459211" y="152400"/>
                </a:lnTo>
                <a:lnTo>
                  <a:pt x="2282721" y="304800"/>
                </a:lnTo>
                <a:lnTo>
                  <a:pt x="0" y="304800"/>
                </a:lnTo>
                <a:close/>
              </a:path>
            </a:pathLst>
          </a:custGeom>
          <a:gradFill flip="none" rotWithShape="1">
            <a:gsLst>
              <a:gs pos="0">
                <a:srgbClr val="0072FF">
                  <a:alpha val="80000"/>
                </a:srgbClr>
              </a:gs>
              <a:gs pos="100000">
                <a:srgbClr val="00C6FF">
                  <a:alpha val="8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sp>
        <p:nvSpPr>
          <p:cNvPr id="19" name="Freeform 18">
            <a:extLst>
              <a:ext uri="{FF2B5EF4-FFF2-40B4-BE49-F238E27FC236}">
                <a16:creationId xmlns:a16="http://schemas.microsoft.com/office/drawing/2014/main" id="{E7E6E6A9-35CE-D953-F678-DB52C8ED6EC1}"/>
              </a:ext>
            </a:extLst>
          </p:cNvPr>
          <p:cNvSpPr/>
          <p:nvPr userDrawn="1"/>
        </p:nvSpPr>
        <p:spPr>
          <a:xfrm flipV="1">
            <a:off x="0" y="6553200"/>
            <a:ext cx="6750991" cy="304800"/>
          </a:xfrm>
          <a:custGeom>
            <a:avLst/>
            <a:gdLst>
              <a:gd name="connsiteX0" fmla="*/ 0 w 6750991"/>
              <a:gd name="connsiteY0" fmla="*/ 0 h 304800"/>
              <a:gd name="connsiteX1" fmla="*/ 6750991 w 6750991"/>
              <a:gd name="connsiteY1" fmla="*/ 0 h 304800"/>
              <a:gd name="connsiteX2" fmla="*/ 6574501 w 6750991"/>
              <a:gd name="connsiteY2" fmla="*/ 152400 h 304800"/>
              <a:gd name="connsiteX3" fmla="*/ 2459211 w 6750991"/>
              <a:gd name="connsiteY3" fmla="*/ 152400 h 304800"/>
              <a:gd name="connsiteX4" fmla="*/ 2282721 w 6750991"/>
              <a:gd name="connsiteY4" fmla="*/ 304800 h 304800"/>
              <a:gd name="connsiteX5" fmla="*/ 0 w 6750991"/>
              <a:gd name="connsiteY5" fmla="*/ 304800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991" h="304800">
                <a:moveTo>
                  <a:pt x="0" y="0"/>
                </a:moveTo>
                <a:lnTo>
                  <a:pt x="6750991" y="0"/>
                </a:lnTo>
                <a:lnTo>
                  <a:pt x="6574501" y="152400"/>
                </a:lnTo>
                <a:lnTo>
                  <a:pt x="2459211" y="152400"/>
                </a:lnTo>
                <a:lnTo>
                  <a:pt x="2282721" y="304800"/>
                </a:lnTo>
                <a:lnTo>
                  <a:pt x="0" y="304800"/>
                </a:lnTo>
                <a:close/>
              </a:path>
            </a:pathLst>
          </a:custGeom>
          <a:gradFill flip="none" rotWithShape="1">
            <a:gsLst>
              <a:gs pos="0">
                <a:srgbClr val="0072FF">
                  <a:alpha val="80000"/>
                </a:srgbClr>
              </a:gs>
              <a:gs pos="100000">
                <a:srgbClr val="00C6FF">
                  <a:alpha val="8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pic>
        <p:nvPicPr>
          <p:cNvPr id="23" name="Picture 22" descr="A picture containing clipart, vector graphics&#10;&#10;Description automatically generated">
            <a:extLst>
              <a:ext uri="{FF2B5EF4-FFF2-40B4-BE49-F238E27FC236}">
                <a16:creationId xmlns:a16="http://schemas.microsoft.com/office/drawing/2014/main" id="{314FA3D3-A61E-753A-BCC3-7785EC3F2C1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12638" y="362637"/>
            <a:ext cx="544288" cy="450213"/>
          </a:xfrm>
          <a:prstGeom prst="rect">
            <a:avLst/>
          </a:prstGeom>
        </p:spPr>
      </p:pic>
      <p:sp>
        <p:nvSpPr>
          <p:cNvPr id="24" name="TextBox 23">
            <a:extLst>
              <a:ext uri="{FF2B5EF4-FFF2-40B4-BE49-F238E27FC236}">
                <a16:creationId xmlns:a16="http://schemas.microsoft.com/office/drawing/2014/main" id="{3272C38A-5DF7-B873-F169-2EA590FF1122}"/>
              </a:ext>
            </a:extLst>
          </p:cNvPr>
          <p:cNvSpPr txBox="1"/>
          <p:nvPr userDrawn="1"/>
        </p:nvSpPr>
        <p:spPr>
          <a:xfrm>
            <a:off x="956926" y="326133"/>
            <a:ext cx="3996607" cy="523220"/>
          </a:xfrm>
          <a:prstGeom prst="rect">
            <a:avLst/>
          </a:prstGeom>
          <a:noFill/>
        </p:spPr>
        <p:txBody>
          <a:bodyPr wrap="none" rtlCol="0" anchor="ctr">
            <a:spAutoFit/>
          </a:bodyPr>
          <a:lstStyle/>
          <a:p>
            <a:r>
              <a:rPr lang="en-VN" sz="1400" dirty="0">
                <a:gradFill flip="none" rotWithShape="1">
                  <a:gsLst>
                    <a:gs pos="0">
                      <a:srgbClr val="000046"/>
                    </a:gs>
                    <a:gs pos="100000">
                      <a:srgbClr val="1CB5E0"/>
                    </a:gs>
                  </a:gsLst>
                  <a:lin ang="2700000" scaled="1"/>
                  <a:tileRect/>
                </a:gradFill>
                <a:latin typeface="Arial" panose="020B0604020202020204" pitchFamily="34" charset="0"/>
                <a:cs typeface="Arial" panose="020B0604020202020204" pitchFamily="34" charset="0"/>
              </a:rPr>
              <a:t>ĐẠI HỌC QUỐC GIA TP. HỒ CHÍ MINH</a:t>
            </a:r>
          </a:p>
          <a:p>
            <a:r>
              <a:rPr lang="en-VN" sz="1400" b="1" dirty="0">
                <a:gradFill flip="none" rotWithShape="1">
                  <a:gsLst>
                    <a:gs pos="0">
                      <a:srgbClr val="000046"/>
                    </a:gs>
                    <a:gs pos="100000">
                      <a:srgbClr val="1CB5E0"/>
                    </a:gs>
                  </a:gsLst>
                  <a:lin ang="2700000" scaled="1"/>
                  <a:tileRect/>
                </a:gradFill>
                <a:latin typeface="Arial" panose="020B0604020202020204" pitchFamily="34" charset="0"/>
                <a:cs typeface="Arial" panose="020B0604020202020204" pitchFamily="34" charset="0"/>
              </a:rPr>
              <a:t>TRƯỜNG ĐẠI HỌC CÔNG NGHỆ THÔNG TIN</a:t>
            </a:r>
          </a:p>
        </p:txBody>
      </p:sp>
      <p:sp>
        <p:nvSpPr>
          <p:cNvPr id="26" name="Oval 25">
            <a:extLst>
              <a:ext uri="{FF2B5EF4-FFF2-40B4-BE49-F238E27FC236}">
                <a16:creationId xmlns:a16="http://schemas.microsoft.com/office/drawing/2014/main" id="{390A5A10-F9AF-733C-8C7D-94D87B311EF5}"/>
              </a:ext>
            </a:extLst>
          </p:cNvPr>
          <p:cNvSpPr/>
          <p:nvPr/>
        </p:nvSpPr>
        <p:spPr>
          <a:xfrm>
            <a:off x="11924591" y="6583140"/>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2E21DEB9-E93C-A8E4-074F-F195EB1D8ABF}"/>
              </a:ext>
            </a:extLst>
          </p:cNvPr>
          <p:cNvSpPr>
            <a:spLocks noGrp="1" noChangeAspect="1"/>
          </p:cNvSpPr>
          <p:nvPr>
            <p:ph type="sldNum" sz="quarter" idx="12"/>
          </p:nvPr>
        </p:nvSpPr>
        <p:spPr>
          <a:xfrm>
            <a:off x="11894359" y="6566401"/>
            <a:ext cx="291600" cy="291600"/>
          </a:xfrm>
          <a:prstGeom prst="rect">
            <a:avLst/>
          </a:prstGeom>
        </p:spPr>
        <p:txBody>
          <a:bodyPr vert="horz" lIns="91440" tIns="45720" rIns="91440" bIns="45720" rtlCol="0" anchor="ctr"/>
          <a:lstStyle>
            <a:lvl1pPr>
              <a:defRPr lang="en-VN" sz="700" smtClean="0">
                <a:solidFill>
                  <a:schemeClr val="tx1"/>
                </a:solidFill>
                <a:latin typeface="Arial" panose="020B0604020202020204" pitchFamily="34" charset="0"/>
                <a:cs typeface="Arial" panose="020B0604020202020204" pitchFamily="34" charset="0"/>
              </a:defRPr>
            </a:lvl1pPr>
          </a:lstStyle>
          <a:p>
            <a:pPr algn="ctr"/>
            <a:fld id="{D8B0B3AC-44A8-D142-AAF6-9A453466E1A4}" type="slidenum">
              <a:rPr lang="en-VN" smtClean="0"/>
              <a:pPr algn="ctr"/>
              <a:t>‹#›</a:t>
            </a:fld>
            <a:endParaRPr lang="en-VN" dirty="0"/>
          </a:p>
        </p:txBody>
      </p:sp>
      <p:sp>
        <p:nvSpPr>
          <p:cNvPr id="34" name="Text Placeholder 33">
            <a:extLst>
              <a:ext uri="{FF2B5EF4-FFF2-40B4-BE49-F238E27FC236}">
                <a16:creationId xmlns:a16="http://schemas.microsoft.com/office/drawing/2014/main" id="{C4981174-E1E5-D0CF-F74E-4BBA287A5C73}"/>
              </a:ext>
            </a:extLst>
          </p:cNvPr>
          <p:cNvSpPr>
            <a:spLocks noGrp="1"/>
          </p:cNvSpPr>
          <p:nvPr>
            <p:ph type="body" sz="quarter" idx="13" hasCustomPrompt="1"/>
          </p:nvPr>
        </p:nvSpPr>
        <p:spPr>
          <a:xfrm>
            <a:off x="1850807" y="2208158"/>
            <a:ext cx="8490387" cy="696165"/>
          </a:xfrm>
        </p:spPr>
        <p:txBody>
          <a:bodyPr anchor="ctr">
            <a:normAutofit/>
          </a:bodyPr>
          <a:lstStyle>
            <a:lvl1pPr marL="0" indent="0" algn="ctr" defTabSz="914400" rtl="0" eaLnBrk="1" latinLnBrk="0" hangingPunct="1">
              <a:buNone/>
              <a:defRPr lang="en-VN" sz="4400" b="1" kern="1200" dirty="0">
                <a:ln>
                  <a:gradFill>
                    <a:gsLst>
                      <a:gs pos="0">
                        <a:srgbClr val="000046"/>
                      </a:gs>
                      <a:gs pos="100000">
                        <a:srgbClr val="1CB5E0"/>
                      </a:gs>
                    </a:gsLst>
                    <a:lin ang="5400000" scaled="1"/>
                  </a:gradFill>
                </a:ln>
                <a:noFill/>
                <a:latin typeface="Arial" panose="020B0604020202020204" pitchFamily="34" charset="0"/>
                <a:ea typeface="+mn-ea"/>
                <a:cs typeface="Arial" panose="020B0604020202020204" pitchFamily="34" charset="0"/>
              </a:defRPr>
            </a:lvl1pPr>
          </a:lstStyle>
          <a:p>
            <a:pPr lvl="0"/>
            <a:r>
              <a:rPr lang="en-VN" dirty="0"/>
              <a:t>TÊN MÔN HỌC</a:t>
            </a:r>
          </a:p>
        </p:txBody>
      </p:sp>
      <p:sp>
        <p:nvSpPr>
          <p:cNvPr id="36" name="Text Placeholder 35">
            <a:extLst>
              <a:ext uri="{FF2B5EF4-FFF2-40B4-BE49-F238E27FC236}">
                <a16:creationId xmlns:a16="http://schemas.microsoft.com/office/drawing/2014/main" id="{F1F814F0-EAC8-84E1-83C4-B5C359387C5C}"/>
              </a:ext>
            </a:extLst>
          </p:cNvPr>
          <p:cNvSpPr>
            <a:spLocks noGrp="1"/>
          </p:cNvSpPr>
          <p:nvPr>
            <p:ph type="body" sz="quarter" idx="14" hasCustomPrompt="1"/>
          </p:nvPr>
        </p:nvSpPr>
        <p:spPr>
          <a:xfrm>
            <a:off x="876991" y="3039455"/>
            <a:ext cx="10438019" cy="459447"/>
          </a:xfrm>
        </p:spPr>
        <p:txBody>
          <a:bodyPr anchor="ctr">
            <a:normAutofit/>
          </a:bodyPr>
          <a:lstStyle>
            <a:lvl1pPr marL="0" indent="0" algn="ctr" defTabSz="914400" rtl="0" eaLnBrk="1" latinLnBrk="0" hangingPunct="1">
              <a:buNone/>
              <a:defRPr lang="en-VN" sz="2000" b="1" kern="1200" dirty="0">
                <a:gradFill>
                  <a:gsLst>
                    <a:gs pos="0">
                      <a:srgbClr val="000046"/>
                    </a:gs>
                    <a:gs pos="100000">
                      <a:srgbClr val="1CB5E0"/>
                    </a:gs>
                  </a:gsLst>
                  <a:lin ang="2700000" scaled="1"/>
                </a:gradFill>
                <a:effectLst>
                  <a:innerShdw blurRad="114300">
                    <a:schemeClr val="bg1"/>
                  </a:innerShdw>
                </a:effectLst>
                <a:latin typeface="Times New Roman" panose="02020603050405020304" pitchFamily="18" charset="0"/>
                <a:ea typeface="+mn-ea"/>
                <a:cs typeface="Times New Roman" panose="02020603050405020304" pitchFamily="18" charset="0"/>
              </a:defRPr>
            </a:lvl1pPr>
          </a:lstStyle>
          <a:p>
            <a:pPr lvl="0"/>
            <a:r>
              <a:rPr lang="en-VN" dirty="0"/>
              <a:t>CHƯƠNG X: TÊN CHƯƠNG</a:t>
            </a:r>
          </a:p>
        </p:txBody>
      </p:sp>
      <p:sp>
        <p:nvSpPr>
          <p:cNvPr id="42" name="Text Placeholder 41">
            <a:extLst>
              <a:ext uri="{FF2B5EF4-FFF2-40B4-BE49-F238E27FC236}">
                <a16:creationId xmlns:a16="http://schemas.microsoft.com/office/drawing/2014/main" id="{2B8543E7-0085-7DF3-5351-E097219BEE40}"/>
              </a:ext>
            </a:extLst>
          </p:cNvPr>
          <p:cNvSpPr>
            <a:spLocks noGrp="1"/>
          </p:cNvSpPr>
          <p:nvPr>
            <p:ph type="body" sz="quarter" idx="15" hasCustomPrompt="1"/>
          </p:nvPr>
        </p:nvSpPr>
        <p:spPr>
          <a:xfrm>
            <a:off x="4680970" y="4963048"/>
            <a:ext cx="2830058" cy="345005"/>
          </a:xfrm>
          <a:gradFill>
            <a:gsLst>
              <a:gs pos="0">
                <a:srgbClr val="0072FF"/>
              </a:gs>
              <a:gs pos="100000">
                <a:srgbClr val="00C6FF"/>
              </a:gs>
            </a:gsLst>
            <a:lin ang="2700000" scaled="1"/>
          </a:gradFill>
        </p:spPr>
        <p:txBody>
          <a:bodyPr anchor="ctr">
            <a:normAutofit/>
          </a:bodyPr>
          <a:lstStyle>
            <a:lvl1pPr marL="0" indent="0" algn="ctr">
              <a:buNone/>
              <a:defRPr sz="1400" b="1" i="0">
                <a:solidFill>
                  <a:schemeClr val="bg1"/>
                </a:solidFill>
                <a:latin typeface="Times New Roman" panose="02020603050405020304" pitchFamily="18" charset="0"/>
                <a:cs typeface="Times New Roman" panose="02020603050405020304" pitchFamily="18" charset="0"/>
              </a:defRPr>
            </a:lvl1pPr>
          </a:lstStyle>
          <a:p>
            <a:pPr lvl="0"/>
            <a:r>
              <a:rPr lang="en-VN" dirty="0"/>
              <a:t>Trình bày: Tên Giảng viên</a:t>
            </a:r>
          </a:p>
        </p:txBody>
      </p:sp>
      <p:sp>
        <p:nvSpPr>
          <p:cNvPr id="46" name="Text Placeholder 45">
            <a:extLst>
              <a:ext uri="{FF2B5EF4-FFF2-40B4-BE49-F238E27FC236}">
                <a16:creationId xmlns:a16="http://schemas.microsoft.com/office/drawing/2014/main" id="{18BC0B81-9708-34C0-3CBB-EA50270B9105}"/>
              </a:ext>
            </a:extLst>
          </p:cNvPr>
          <p:cNvSpPr>
            <a:spLocks noGrp="1"/>
          </p:cNvSpPr>
          <p:nvPr>
            <p:ph type="body" sz="quarter" idx="16" hasCustomPrompt="1"/>
          </p:nvPr>
        </p:nvSpPr>
        <p:spPr>
          <a:xfrm>
            <a:off x="1850807" y="3630811"/>
            <a:ext cx="8490387" cy="644210"/>
          </a:xfrm>
        </p:spPr>
        <p:txBody>
          <a:bodyPr anchor="ctr">
            <a:normAutofit/>
          </a:bodyPr>
          <a:lstStyle>
            <a:lvl1pPr marL="0" indent="0" algn="ctr">
              <a:buNone/>
              <a:defRPr sz="1200" spc="150" baseline="0">
                <a:solidFill>
                  <a:schemeClr val="bg1">
                    <a:lumMod val="75000"/>
                  </a:schemeClr>
                </a:solidFill>
                <a:latin typeface="Times New Roman" panose="02020603050405020304" pitchFamily="18" charset="0"/>
                <a:cs typeface="Times New Roman" panose="02020603050405020304" pitchFamily="18" charset="0"/>
              </a:defRPr>
            </a:lvl1pPr>
          </a:lstStyle>
          <a:p>
            <a:pPr lvl="0"/>
            <a:r>
              <a:rPr lang="en-US" dirty="0"/>
              <a:t>(</a:t>
            </a:r>
            <a:r>
              <a:rPr lang="en-US" dirty="0" err="1"/>
              <a:t>Tóm</a:t>
            </a:r>
            <a:r>
              <a:rPr lang="en-US" dirty="0"/>
              <a:t> </a:t>
            </a:r>
            <a:r>
              <a:rPr lang="en-US" dirty="0" err="1"/>
              <a:t>tắt</a:t>
            </a:r>
            <a:r>
              <a:rPr lang="en-US" dirty="0"/>
              <a:t> </a:t>
            </a:r>
            <a:r>
              <a:rPr lang="en-US" dirty="0" err="1"/>
              <a:t>nếu</a:t>
            </a:r>
            <a:r>
              <a:rPr lang="en-US" dirty="0"/>
              <a:t> </a:t>
            </a:r>
            <a:r>
              <a:rPr lang="en-US" dirty="0" err="1"/>
              <a:t>có</a:t>
            </a:r>
            <a:r>
              <a:rPr lang="en-US" dirty="0"/>
              <a:t>): Lorem ipsum dolor sit amet, consectetuer adipiscing elit. Maecenas porttitor congue massa. Fusce posuere, magna sed pulvinar ultricies, purus lectus malesuada libero, sit amet commodo magna eros quis </a:t>
            </a:r>
            <a:r>
              <a:rPr lang="en-US" dirty="0" err="1"/>
              <a:t>urna</a:t>
            </a:r>
            <a:r>
              <a:rPr lang="en-US" dirty="0"/>
              <a:t>.</a:t>
            </a:r>
            <a:endParaRPr lang="en-VN" dirty="0"/>
          </a:p>
        </p:txBody>
      </p:sp>
      <p:sp>
        <p:nvSpPr>
          <p:cNvPr id="2" name="Date Placeholder 1">
            <a:extLst>
              <a:ext uri="{FF2B5EF4-FFF2-40B4-BE49-F238E27FC236}">
                <a16:creationId xmlns:a16="http://schemas.microsoft.com/office/drawing/2014/main" id="{98B28119-6BAB-C115-873B-3333E0D709F1}"/>
              </a:ext>
            </a:extLst>
          </p:cNvPr>
          <p:cNvSpPr>
            <a:spLocks noGrp="1"/>
          </p:cNvSpPr>
          <p:nvPr>
            <p:ph type="dt" sz="half" idx="17"/>
          </p:nvPr>
        </p:nvSpPr>
        <p:spPr>
          <a:xfrm>
            <a:off x="6767806" y="6476999"/>
            <a:ext cx="2495896" cy="236763"/>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pPr/>
              <a:t>October 10, 2024</a:t>
            </a:fld>
            <a:endParaRPr lang="en-US" dirty="0"/>
          </a:p>
        </p:txBody>
      </p:sp>
    </p:spTree>
    <p:extLst>
      <p:ext uri="{BB962C8B-B14F-4D97-AF65-F5344CB8AC3E}">
        <p14:creationId xmlns:p14="http://schemas.microsoft.com/office/powerpoint/2010/main" val="36952346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Mục lục">
    <p:spTree>
      <p:nvGrpSpPr>
        <p:cNvPr id="1" name=""/>
        <p:cNvGrpSpPr/>
        <p:nvPr/>
      </p:nvGrpSpPr>
      <p:grpSpPr>
        <a:xfrm>
          <a:off x="0" y="0"/>
          <a:ext cx="0" cy="0"/>
          <a:chOff x="0" y="0"/>
          <a:chExt cx="0" cy="0"/>
        </a:xfrm>
      </p:grpSpPr>
      <p:sp>
        <p:nvSpPr>
          <p:cNvPr id="80" name="Isosceles Triangle 12">
            <a:extLst>
              <a:ext uri="{FF2B5EF4-FFF2-40B4-BE49-F238E27FC236}">
                <a16:creationId xmlns:a16="http://schemas.microsoft.com/office/drawing/2014/main" id="{72826670-EA95-0D41-31A4-F445474455F7}"/>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1" name="Group 80">
            <a:extLst>
              <a:ext uri="{FF2B5EF4-FFF2-40B4-BE49-F238E27FC236}">
                <a16:creationId xmlns:a16="http://schemas.microsoft.com/office/drawing/2014/main" id="{FC178CED-135F-0B63-CD69-F01713607F73}"/>
              </a:ext>
            </a:extLst>
          </p:cNvPr>
          <p:cNvGrpSpPr/>
          <p:nvPr userDrawn="1"/>
        </p:nvGrpSpPr>
        <p:grpSpPr>
          <a:xfrm flipH="1" flipV="1">
            <a:off x="9263702" y="5930537"/>
            <a:ext cx="2869771" cy="886519"/>
            <a:chOff x="44879" y="27296"/>
            <a:chExt cx="2869771" cy="886519"/>
          </a:xfrm>
          <a:solidFill>
            <a:srgbClr val="0072FF"/>
          </a:solidFill>
        </p:grpSpPr>
        <p:cxnSp>
          <p:nvCxnSpPr>
            <p:cNvPr id="82" name="Straight Connector 81">
              <a:extLst>
                <a:ext uri="{FF2B5EF4-FFF2-40B4-BE49-F238E27FC236}">
                  <a16:creationId xmlns:a16="http://schemas.microsoft.com/office/drawing/2014/main" id="{D0441D2A-FC76-0844-7EA5-B632F99E2E0D}"/>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E0C48DFD-25B4-6AF8-8C94-3C8B50B23C18}"/>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0CA6305E-4BEE-7CC0-EE96-38938F764389}"/>
                </a:ext>
              </a:extLst>
            </p:cNvPr>
            <p:cNvCxnSpPr>
              <a:cxnSpLocks/>
            </p:cNvCxnSpPr>
            <p:nvPr/>
          </p:nvCxnSpPr>
          <p:spPr>
            <a:xfrm flipH="1" flipV="1">
              <a:off x="52214" y="654128"/>
              <a:ext cx="0" cy="25968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4" name="Footer Placeholder 3">
            <a:extLst>
              <a:ext uri="{FF2B5EF4-FFF2-40B4-BE49-F238E27FC236}">
                <a16:creationId xmlns:a16="http://schemas.microsoft.com/office/drawing/2014/main" id="{745F02F9-19CB-F108-6F35-1A02C9BECF5E}"/>
              </a:ext>
            </a:extLst>
          </p:cNvPr>
          <p:cNvSpPr>
            <a:spLocks noGrp="1"/>
          </p:cNvSpPr>
          <p:nvPr>
            <p:ph type="ftr" sz="quarter" idx="11"/>
          </p:nvPr>
        </p:nvSpPr>
        <p:spPr>
          <a:xfrm>
            <a:off x="3465443" y="6466114"/>
            <a:ext cx="5261114" cy="255361"/>
          </a:xfrm>
        </p:spPr>
        <p:txBody>
          <a:bodyPr/>
          <a:lstStyle>
            <a:lvl1pPr>
              <a:defRPr sz="1100">
                <a:latin typeface="Arial" panose="020B0604020202020204" pitchFamily="34" charset="0"/>
                <a:cs typeface="Arial" panose="020B0604020202020204" pitchFamily="34" charset="0"/>
              </a:defRPr>
            </a:lvl1pPr>
          </a:lstStyle>
          <a:p>
            <a:r>
              <a:rPr lang="vi-VN" dirty="0"/>
              <a:t>Thực hiện bởi Trường Đại học Công nghệ Thông tin, ĐHQG-HCM</a:t>
            </a:r>
            <a:endParaRPr lang="en-VN" dirty="0"/>
          </a:p>
        </p:txBody>
      </p:sp>
      <p:grpSp>
        <p:nvGrpSpPr>
          <p:cNvPr id="36" name="Group 35">
            <a:extLst>
              <a:ext uri="{FF2B5EF4-FFF2-40B4-BE49-F238E27FC236}">
                <a16:creationId xmlns:a16="http://schemas.microsoft.com/office/drawing/2014/main" id="{11E5AAB4-F14E-4F9C-E123-7635A7EF6275}"/>
              </a:ext>
            </a:extLst>
          </p:cNvPr>
          <p:cNvGrpSpPr/>
          <p:nvPr userDrawn="1"/>
        </p:nvGrpSpPr>
        <p:grpSpPr>
          <a:xfrm>
            <a:off x="-1259888" y="1121391"/>
            <a:ext cx="4841288" cy="5054000"/>
            <a:chOff x="-1259888" y="901609"/>
            <a:chExt cx="4841288" cy="5054000"/>
          </a:xfrm>
        </p:grpSpPr>
        <p:grpSp>
          <p:nvGrpSpPr>
            <p:cNvPr id="6" name="Group 5">
              <a:extLst>
                <a:ext uri="{FF2B5EF4-FFF2-40B4-BE49-F238E27FC236}">
                  <a16:creationId xmlns:a16="http://schemas.microsoft.com/office/drawing/2014/main" id="{A2E31223-939B-D84C-4ACC-CDC6CEB64FEF}"/>
                </a:ext>
              </a:extLst>
            </p:cNvPr>
            <p:cNvGrpSpPr/>
            <p:nvPr userDrawn="1"/>
          </p:nvGrpSpPr>
          <p:grpSpPr>
            <a:xfrm>
              <a:off x="-1225468" y="901609"/>
              <a:ext cx="4806868" cy="664514"/>
              <a:chOff x="0" y="901609"/>
              <a:chExt cx="4806868" cy="664514"/>
            </a:xfrm>
          </p:grpSpPr>
          <p:cxnSp>
            <p:nvCxnSpPr>
              <p:cNvPr id="7" name="Straight Connector 6">
                <a:extLst>
                  <a:ext uri="{FF2B5EF4-FFF2-40B4-BE49-F238E27FC236}">
                    <a16:creationId xmlns:a16="http://schemas.microsoft.com/office/drawing/2014/main" id="{2DB06BED-50E6-B29E-B929-6D7717DB8E5E}"/>
                  </a:ext>
                </a:extLst>
              </p:cNvPr>
              <p:cNvCxnSpPr/>
              <p:nvPr/>
            </p:nvCxnSpPr>
            <p:spPr>
              <a:xfrm>
                <a:off x="0" y="1566123"/>
                <a:ext cx="253393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58C69F9-0B5B-5D9E-7034-C8237177065E}"/>
                  </a:ext>
                </a:extLst>
              </p:cNvPr>
              <p:cNvCxnSpPr>
                <a:cxnSpLocks/>
              </p:cNvCxnSpPr>
              <p:nvPr/>
            </p:nvCxnSpPr>
            <p:spPr>
              <a:xfrm flipV="1">
                <a:off x="2520285" y="1059987"/>
                <a:ext cx="591405" cy="506136"/>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F5F07FD-916F-9286-7ADA-4A2252FCBB28}"/>
                  </a:ext>
                </a:extLst>
              </p:cNvPr>
              <p:cNvCxnSpPr>
                <a:cxnSpLocks/>
              </p:cNvCxnSpPr>
              <p:nvPr/>
            </p:nvCxnSpPr>
            <p:spPr>
              <a:xfrm>
                <a:off x="3111690" y="1059987"/>
                <a:ext cx="13784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23A8BE15-FC97-76D3-BF6B-29B7114D4716}"/>
                  </a:ext>
                </a:extLst>
              </p:cNvPr>
              <p:cNvSpPr/>
              <p:nvPr/>
            </p:nvSpPr>
            <p:spPr>
              <a:xfrm>
                <a:off x="4490113" y="901609"/>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1" name="Group 10">
              <a:extLst>
                <a:ext uri="{FF2B5EF4-FFF2-40B4-BE49-F238E27FC236}">
                  <a16:creationId xmlns:a16="http://schemas.microsoft.com/office/drawing/2014/main" id="{04AB711F-106D-5EA6-AAFA-CF1A979FF6F9}"/>
                </a:ext>
              </a:extLst>
            </p:cNvPr>
            <p:cNvGrpSpPr/>
            <p:nvPr userDrawn="1"/>
          </p:nvGrpSpPr>
          <p:grpSpPr>
            <a:xfrm flipV="1">
              <a:off x="-1225468" y="5291095"/>
              <a:ext cx="4806868" cy="664514"/>
              <a:chOff x="0" y="1232525"/>
              <a:chExt cx="4806868" cy="664514"/>
            </a:xfrm>
          </p:grpSpPr>
          <p:cxnSp>
            <p:nvCxnSpPr>
              <p:cNvPr id="12" name="Straight Connector 11">
                <a:extLst>
                  <a:ext uri="{FF2B5EF4-FFF2-40B4-BE49-F238E27FC236}">
                    <a16:creationId xmlns:a16="http://schemas.microsoft.com/office/drawing/2014/main" id="{5660A401-E892-4348-0DC3-086E4EF0B6E4}"/>
                  </a:ext>
                </a:extLst>
              </p:cNvPr>
              <p:cNvCxnSpPr/>
              <p:nvPr/>
            </p:nvCxnSpPr>
            <p:spPr>
              <a:xfrm>
                <a:off x="0" y="1897039"/>
                <a:ext cx="253393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AFDB122-E638-017C-654A-F8EC6AB0B27F}"/>
                  </a:ext>
                </a:extLst>
              </p:cNvPr>
              <p:cNvCxnSpPr>
                <a:cxnSpLocks/>
              </p:cNvCxnSpPr>
              <p:nvPr/>
            </p:nvCxnSpPr>
            <p:spPr>
              <a:xfrm flipV="1">
                <a:off x="2520285" y="1390903"/>
                <a:ext cx="591405" cy="506136"/>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C676F38-72FE-4F76-7E67-580148C08A51}"/>
                  </a:ext>
                </a:extLst>
              </p:cNvPr>
              <p:cNvCxnSpPr>
                <a:cxnSpLocks/>
              </p:cNvCxnSpPr>
              <p:nvPr/>
            </p:nvCxnSpPr>
            <p:spPr>
              <a:xfrm>
                <a:off x="3111690" y="1390903"/>
                <a:ext cx="13784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B7E06E3C-C182-FD6B-BB7B-4847F4323944}"/>
                  </a:ext>
                </a:extLst>
              </p:cNvPr>
              <p:cNvSpPr/>
              <p:nvPr/>
            </p:nvSpPr>
            <p:spPr>
              <a:xfrm>
                <a:off x="4490113" y="1232525"/>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821F68F9-560D-A608-4130-5D9040FE3F01}"/>
                </a:ext>
              </a:extLst>
            </p:cNvPr>
            <p:cNvGrpSpPr/>
            <p:nvPr userDrawn="1"/>
          </p:nvGrpSpPr>
          <p:grpSpPr>
            <a:xfrm>
              <a:off x="-1225469" y="1860637"/>
              <a:ext cx="3835321" cy="547270"/>
              <a:chOff x="-1" y="1860637"/>
              <a:chExt cx="3835321" cy="547270"/>
            </a:xfrm>
          </p:grpSpPr>
          <p:sp>
            <p:nvSpPr>
              <p:cNvPr id="17" name="Oval 16">
                <a:extLst>
                  <a:ext uri="{FF2B5EF4-FFF2-40B4-BE49-F238E27FC236}">
                    <a16:creationId xmlns:a16="http://schemas.microsoft.com/office/drawing/2014/main" id="{A6A5574E-F30D-A49F-E874-231C445514E4}"/>
                  </a:ext>
                </a:extLst>
              </p:cNvPr>
              <p:cNvSpPr/>
              <p:nvPr/>
            </p:nvSpPr>
            <p:spPr>
              <a:xfrm>
                <a:off x="3518565" y="1860637"/>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8" name="Straight Connector 17">
                <a:extLst>
                  <a:ext uri="{FF2B5EF4-FFF2-40B4-BE49-F238E27FC236}">
                    <a16:creationId xmlns:a16="http://schemas.microsoft.com/office/drawing/2014/main" id="{1AABF66E-DE89-B1F6-062E-2BC96ADE0530}"/>
                  </a:ext>
                </a:extLst>
              </p:cNvPr>
              <p:cNvCxnSpPr/>
              <p:nvPr/>
            </p:nvCxnSpPr>
            <p:spPr>
              <a:xfrm>
                <a:off x="-1" y="2407907"/>
                <a:ext cx="1985654"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B0E2531-6E1E-6A7F-6704-D0334B1AB6C8}"/>
                  </a:ext>
                </a:extLst>
              </p:cNvPr>
              <p:cNvCxnSpPr>
                <a:cxnSpLocks/>
              </p:cNvCxnSpPr>
              <p:nvPr/>
            </p:nvCxnSpPr>
            <p:spPr>
              <a:xfrm flipV="1">
                <a:off x="1974958" y="2019015"/>
                <a:ext cx="463440" cy="388892"/>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F6A1DDC-0D65-0297-E1E5-DC4B2441C524}"/>
                  </a:ext>
                </a:extLst>
              </p:cNvPr>
              <p:cNvCxnSpPr>
                <a:cxnSpLocks/>
              </p:cNvCxnSpPr>
              <p:nvPr/>
            </p:nvCxnSpPr>
            <p:spPr>
              <a:xfrm>
                <a:off x="2438398" y="2019015"/>
                <a:ext cx="1080167"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21" name="Group 20">
              <a:extLst>
                <a:ext uri="{FF2B5EF4-FFF2-40B4-BE49-F238E27FC236}">
                  <a16:creationId xmlns:a16="http://schemas.microsoft.com/office/drawing/2014/main" id="{C25C9018-B01E-F47F-3802-C002B3E7B2AF}"/>
                </a:ext>
              </a:extLst>
            </p:cNvPr>
            <p:cNvGrpSpPr/>
            <p:nvPr userDrawn="1"/>
          </p:nvGrpSpPr>
          <p:grpSpPr>
            <a:xfrm flipV="1">
              <a:off x="-1259888" y="4408929"/>
              <a:ext cx="3835321" cy="547270"/>
              <a:chOff x="-1" y="1860637"/>
              <a:chExt cx="3835321" cy="547270"/>
            </a:xfrm>
          </p:grpSpPr>
          <p:sp>
            <p:nvSpPr>
              <p:cNvPr id="22" name="Oval 21">
                <a:extLst>
                  <a:ext uri="{FF2B5EF4-FFF2-40B4-BE49-F238E27FC236}">
                    <a16:creationId xmlns:a16="http://schemas.microsoft.com/office/drawing/2014/main" id="{17C82ECD-21F2-F43B-6992-AE7FB9F2798F}"/>
                  </a:ext>
                </a:extLst>
              </p:cNvPr>
              <p:cNvSpPr/>
              <p:nvPr/>
            </p:nvSpPr>
            <p:spPr>
              <a:xfrm>
                <a:off x="3518565" y="1860637"/>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3" name="Straight Connector 22">
                <a:extLst>
                  <a:ext uri="{FF2B5EF4-FFF2-40B4-BE49-F238E27FC236}">
                    <a16:creationId xmlns:a16="http://schemas.microsoft.com/office/drawing/2014/main" id="{99F69DC7-3AE7-E60B-2377-4B4F72314B92}"/>
                  </a:ext>
                </a:extLst>
              </p:cNvPr>
              <p:cNvCxnSpPr/>
              <p:nvPr/>
            </p:nvCxnSpPr>
            <p:spPr>
              <a:xfrm>
                <a:off x="-1" y="2407907"/>
                <a:ext cx="1985654"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E27743B-09AF-DFA3-B333-99F4D9A43DFB}"/>
                  </a:ext>
                </a:extLst>
              </p:cNvPr>
              <p:cNvCxnSpPr>
                <a:cxnSpLocks/>
              </p:cNvCxnSpPr>
              <p:nvPr/>
            </p:nvCxnSpPr>
            <p:spPr>
              <a:xfrm flipV="1">
                <a:off x="1974958" y="2019015"/>
                <a:ext cx="463440" cy="388892"/>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9F40737-164C-459C-2ABE-C4DE4A29E373}"/>
                  </a:ext>
                </a:extLst>
              </p:cNvPr>
              <p:cNvCxnSpPr>
                <a:cxnSpLocks/>
              </p:cNvCxnSpPr>
              <p:nvPr/>
            </p:nvCxnSpPr>
            <p:spPr>
              <a:xfrm>
                <a:off x="2438398" y="2019015"/>
                <a:ext cx="1080167"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26" name="Group 25">
              <a:extLst>
                <a:ext uri="{FF2B5EF4-FFF2-40B4-BE49-F238E27FC236}">
                  <a16:creationId xmlns:a16="http://schemas.microsoft.com/office/drawing/2014/main" id="{74A28006-5F76-1896-7905-6715849C97AC}"/>
                </a:ext>
              </a:extLst>
            </p:cNvPr>
            <p:cNvGrpSpPr/>
            <p:nvPr userDrawn="1"/>
          </p:nvGrpSpPr>
          <p:grpSpPr>
            <a:xfrm>
              <a:off x="-1252333" y="2715185"/>
              <a:ext cx="2776521" cy="436736"/>
              <a:chOff x="-26865" y="2715185"/>
              <a:chExt cx="2776521" cy="436736"/>
            </a:xfrm>
          </p:grpSpPr>
          <p:cxnSp>
            <p:nvCxnSpPr>
              <p:cNvPr id="27" name="Straight Connector 26">
                <a:extLst>
                  <a:ext uri="{FF2B5EF4-FFF2-40B4-BE49-F238E27FC236}">
                    <a16:creationId xmlns:a16="http://schemas.microsoft.com/office/drawing/2014/main" id="{02985FB7-4D54-A096-221C-AB21916398BD}"/>
                  </a:ext>
                </a:extLst>
              </p:cNvPr>
              <p:cNvCxnSpPr/>
              <p:nvPr/>
            </p:nvCxnSpPr>
            <p:spPr>
              <a:xfrm>
                <a:off x="-26865" y="3151921"/>
                <a:ext cx="14027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DDEC85B-E1F4-38FE-0E5C-E5850D2C995F}"/>
                  </a:ext>
                </a:extLst>
              </p:cNvPr>
              <p:cNvCxnSpPr>
                <a:cxnSpLocks/>
              </p:cNvCxnSpPr>
              <p:nvPr/>
            </p:nvCxnSpPr>
            <p:spPr>
              <a:xfrm flipV="1">
                <a:off x="1368303" y="2877197"/>
                <a:ext cx="327387" cy="274724"/>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DE6622AE-52DB-9FD4-5FA6-F8C5F2606706}"/>
                  </a:ext>
                </a:extLst>
              </p:cNvPr>
              <p:cNvCxnSpPr>
                <a:cxnSpLocks/>
              </p:cNvCxnSpPr>
              <p:nvPr/>
            </p:nvCxnSpPr>
            <p:spPr>
              <a:xfrm>
                <a:off x="1695690" y="2877197"/>
                <a:ext cx="763061"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69264108-0C61-CCC7-04EF-695A004F44BA}"/>
                  </a:ext>
                </a:extLst>
              </p:cNvPr>
              <p:cNvSpPr/>
              <p:nvPr/>
            </p:nvSpPr>
            <p:spPr>
              <a:xfrm>
                <a:off x="2432901" y="2715185"/>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1" name="Group 30">
              <a:extLst>
                <a:ext uri="{FF2B5EF4-FFF2-40B4-BE49-F238E27FC236}">
                  <a16:creationId xmlns:a16="http://schemas.microsoft.com/office/drawing/2014/main" id="{A1F8E5A4-A013-ABE4-F3E5-36BBEE45994B}"/>
                </a:ext>
              </a:extLst>
            </p:cNvPr>
            <p:cNvGrpSpPr/>
            <p:nvPr userDrawn="1"/>
          </p:nvGrpSpPr>
          <p:grpSpPr>
            <a:xfrm>
              <a:off x="-1225468" y="3843225"/>
              <a:ext cx="2802371" cy="433101"/>
              <a:chOff x="-34420" y="3843718"/>
              <a:chExt cx="2802371" cy="433101"/>
            </a:xfrm>
          </p:grpSpPr>
          <p:cxnSp>
            <p:nvCxnSpPr>
              <p:cNvPr id="32" name="Straight Connector 31">
                <a:extLst>
                  <a:ext uri="{FF2B5EF4-FFF2-40B4-BE49-F238E27FC236}">
                    <a16:creationId xmlns:a16="http://schemas.microsoft.com/office/drawing/2014/main" id="{92CA967D-77D2-F89E-9996-2B247282DA6A}"/>
                  </a:ext>
                </a:extLst>
              </p:cNvPr>
              <p:cNvCxnSpPr/>
              <p:nvPr/>
            </p:nvCxnSpPr>
            <p:spPr>
              <a:xfrm flipV="1">
                <a:off x="-34420" y="3843718"/>
                <a:ext cx="14027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D106A27-9FB0-65D0-E42B-5A9345BBE7A8}"/>
                  </a:ext>
                </a:extLst>
              </p:cNvPr>
              <p:cNvCxnSpPr>
                <a:cxnSpLocks/>
              </p:cNvCxnSpPr>
              <p:nvPr/>
            </p:nvCxnSpPr>
            <p:spPr>
              <a:xfrm>
                <a:off x="1360748" y="3843718"/>
                <a:ext cx="327387" cy="274724"/>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DA310D0-0781-F61D-3188-05A327C3E38C}"/>
                  </a:ext>
                </a:extLst>
              </p:cNvPr>
              <p:cNvCxnSpPr>
                <a:cxnSpLocks/>
              </p:cNvCxnSpPr>
              <p:nvPr/>
            </p:nvCxnSpPr>
            <p:spPr>
              <a:xfrm flipV="1">
                <a:off x="1688135" y="4118442"/>
                <a:ext cx="763061"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74C60948-61FC-2116-FCE6-F05185B2432A}"/>
                  </a:ext>
                </a:extLst>
              </p:cNvPr>
              <p:cNvSpPr/>
              <p:nvPr/>
            </p:nvSpPr>
            <p:spPr>
              <a:xfrm>
                <a:off x="2451196" y="3960064"/>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37" name="Group 36">
            <a:extLst>
              <a:ext uri="{FF2B5EF4-FFF2-40B4-BE49-F238E27FC236}">
                <a16:creationId xmlns:a16="http://schemas.microsoft.com/office/drawing/2014/main" id="{A9D55038-C512-E74F-0316-32FA44AC85DA}"/>
              </a:ext>
            </a:extLst>
          </p:cNvPr>
          <p:cNvGrpSpPr/>
          <p:nvPr userDrawn="1"/>
        </p:nvGrpSpPr>
        <p:grpSpPr>
          <a:xfrm flipH="1">
            <a:off x="8607643" y="1121391"/>
            <a:ext cx="4841288" cy="5054000"/>
            <a:chOff x="-1259888" y="901609"/>
            <a:chExt cx="4841288" cy="5054000"/>
          </a:xfrm>
        </p:grpSpPr>
        <p:grpSp>
          <p:nvGrpSpPr>
            <p:cNvPr id="38" name="Group 37">
              <a:extLst>
                <a:ext uri="{FF2B5EF4-FFF2-40B4-BE49-F238E27FC236}">
                  <a16:creationId xmlns:a16="http://schemas.microsoft.com/office/drawing/2014/main" id="{CC8D5E8A-34C2-98F5-01F2-D2CAA76A0A9E}"/>
                </a:ext>
              </a:extLst>
            </p:cNvPr>
            <p:cNvGrpSpPr/>
            <p:nvPr userDrawn="1"/>
          </p:nvGrpSpPr>
          <p:grpSpPr>
            <a:xfrm>
              <a:off x="-1225468" y="901609"/>
              <a:ext cx="4806868" cy="664514"/>
              <a:chOff x="0" y="901609"/>
              <a:chExt cx="4806868" cy="664514"/>
            </a:xfrm>
          </p:grpSpPr>
          <p:cxnSp>
            <p:nvCxnSpPr>
              <p:cNvPr id="64" name="Straight Connector 63">
                <a:extLst>
                  <a:ext uri="{FF2B5EF4-FFF2-40B4-BE49-F238E27FC236}">
                    <a16:creationId xmlns:a16="http://schemas.microsoft.com/office/drawing/2014/main" id="{E6EEF1F3-D1D1-DEB4-E491-3B5E510B766B}"/>
                  </a:ext>
                </a:extLst>
              </p:cNvPr>
              <p:cNvCxnSpPr/>
              <p:nvPr/>
            </p:nvCxnSpPr>
            <p:spPr>
              <a:xfrm>
                <a:off x="0" y="1566123"/>
                <a:ext cx="253393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6BAF104D-64C5-1843-2B4A-2AEDAF0D6175}"/>
                  </a:ext>
                </a:extLst>
              </p:cNvPr>
              <p:cNvCxnSpPr>
                <a:cxnSpLocks/>
              </p:cNvCxnSpPr>
              <p:nvPr/>
            </p:nvCxnSpPr>
            <p:spPr>
              <a:xfrm flipV="1">
                <a:off x="2520285" y="1059987"/>
                <a:ext cx="591405" cy="506136"/>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591F5277-EE93-31FB-AAD8-F64F97837DDA}"/>
                  </a:ext>
                </a:extLst>
              </p:cNvPr>
              <p:cNvCxnSpPr>
                <a:cxnSpLocks/>
              </p:cNvCxnSpPr>
              <p:nvPr/>
            </p:nvCxnSpPr>
            <p:spPr>
              <a:xfrm>
                <a:off x="3111690" y="1059987"/>
                <a:ext cx="13784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67" name="Oval 66">
                <a:extLst>
                  <a:ext uri="{FF2B5EF4-FFF2-40B4-BE49-F238E27FC236}">
                    <a16:creationId xmlns:a16="http://schemas.microsoft.com/office/drawing/2014/main" id="{36A6A4EA-512C-BD8D-6200-C1B6D161AF96}"/>
                  </a:ext>
                </a:extLst>
              </p:cNvPr>
              <p:cNvSpPr/>
              <p:nvPr/>
            </p:nvSpPr>
            <p:spPr>
              <a:xfrm>
                <a:off x="4490113" y="901609"/>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9" name="Group 38">
              <a:extLst>
                <a:ext uri="{FF2B5EF4-FFF2-40B4-BE49-F238E27FC236}">
                  <a16:creationId xmlns:a16="http://schemas.microsoft.com/office/drawing/2014/main" id="{48417325-5CBC-9245-EBBF-5495BB114BB9}"/>
                </a:ext>
              </a:extLst>
            </p:cNvPr>
            <p:cNvGrpSpPr/>
            <p:nvPr userDrawn="1"/>
          </p:nvGrpSpPr>
          <p:grpSpPr>
            <a:xfrm flipV="1">
              <a:off x="-1225468" y="5291095"/>
              <a:ext cx="4806868" cy="664514"/>
              <a:chOff x="0" y="1232525"/>
              <a:chExt cx="4806868" cy="664514"/>
            </a:xfrm>
          </p:grpSpPr>
          <p:cxnSp>
            <p:nvCxnSpPr>
              <p:cNvPr id="60" name="Straight Connector 59">
                <a:extLst>
                  <a:ext uri="{FF2B5EF4-FFF2-40B4-BE49-F238E27FC236}">
                    <a16:creationId xmlns:a16="http://schemas.microsoft.com/office/drawing/2014/main" id="{2ABA872F-CF9E-97F0-0BEB-43E95F81970F}"/>
                  </a:ext>
                </a:extLst>
              </p:cNvPr>
              <p:cNvCxnSpPr/>
              <p:nvPr/>
            </p:nvCxnSpPr>
            <p:spPr>
              <a:xfrm>
                <a:off x="0" y="1897039"/>
                <a:ext cx="253393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CE558871-BCDE-178B-024F-81DBE95811F1}"/>
                  </a:ext>
                </a:extLst>
              </p:cNvPr>
              <p:cNvCxnSpPr>
                <a:cxnSpLocks/>
              </p:cNvCxnSpPr>
              <p:nvPr/>
            </p:nvCxnSpPr>
            <p:spPr>
              <a:xfrm flipV="1">
                <a:off x="2520285" y="1390903"/>
                <a:ext cx="591405" cy="506136"/>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13BB9F5-0BB8-705B-E8A1-5FA6735325E4}"/>
                  </a:ext>
                </a:extLst>
              </p:cNvPr>
              <p:cNvCxnSpPr>
                <a:cxnSpLocks/>
              </p:cNvCxnSpPr>
              <p:nvPr/>
            </p:nvCxnSpPr>
            <p:spPr>
              <a:xfrm>
                <a:off x="3111690" y="1390903"/>
                <a:ext cx="13784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63" name="Oval 62">
                <a:extLst>
                  <a:ext uri="{FF2B5EF4-FFF2-40B4-BE49-F238E27FC236}">
                    <a16:creationId xmlns:a16="http://schemas.microsoft.com/office/drawing/2014/main" id="{2DF72871-077F-48BE-91AF-DE72A1841D14}"/>
                  </a:ext>
                </a:extLst>
              </p:cNvPr>
              <p:cNvSpPr/>
              <p:nvPr/>
            </p:nvSpPr>
            <p:spPr>
              <a:xfrm>
                <a:off x="4490113" y="1232525"/>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0" name="Group 39">
              <a:extLst>
                <a:ext uri="{FF2B5EF4-FFF2-40B4-BE49-F238E27FC236}">
                  <a16:creationId xmlns:a16="http://schemas.microsoft.com/office/drawing/2014/main" id="{0917CABE-75B7-599D-4246-DCB5968A10A9}"/>
                </a:ext>
              </a:extLst>
            </p:cNvPr>
            <p:cNvGrpSpPr/>
            <p:nvPr userDrawn="1"/>
          </p:nvGrpSpPr>
          <p:grpSpPr>
            <a:xfrm>
              <a:off x="-1225469" y="1860637"/>
              <a:ext cx="3835321" cy="547270"/>
              <a:chOff x="-1" y="1860637"/>
              <a:chExt cx="3835321" cy="547270"/>
            </a:xfrm>
          </p:grpSpPr>
          <p:sp>
            <p:nvSpPr>
              <p:cNvPr id="56" name="Oval 55">
                <a:extLst>
                  <a:ext uri="{FF2B5EF4-FFF2-40B4-BE49-F238E27FC236}">
                    <a16:creationId xmlns:a16="http://schemas.microsoft.com/office/drawing/2014/main" id="{98A88CE2-C346-6A1C-2ECA-F96ED3759F52}"/>
                  </a:ext>
                </a:extLst>
              </p:cNvPr>
              <p:cNvSpPr/>
              <p:nvPr/>
            </p:nvSpPr>
            <p:spPr>
              <a:xfrm>
                <a:off x="3518565" y="1860637"/>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7" name="Straight Connector 56">
                <a:extLst>
                  <a:ext uri="{FF2B5EF4-FFF2-40B4-BE49-F238E27FC236}">
                    <a16:creationId xmlns:a16="http://schemas.microsoft.com/office/drawing/2014/main" id="{5A2C42DA-B857-1726-C8D9-FE4710E5AF27}"/>
                  </a:ext>
                </a:extLst>
              </p:cNvPr>
              <p:cNvCxnSpPr/>
              <p:nvPr/>
            </p:nvCxnSpPr>
            <p:spPr>
              <a:xfrm>
                <a:off x="-1" y="2407907"/>
                <a:ext cx="1985654"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022A1339-07A9-9E34-F0B5-0FC956E053B1}"/>
                  </a:ext>
                </a:extLst>
              </p:cNvPr>
              <p:cNvCxnSpPr>
                <a:cxnSpLocks/>
              </p:cNvCxnSpPr>
              <p:nvPr/>
            </p:nvCxnSpPr>
            <p:spPr>
              <a:xfrm flipV="1">
                <a:off x="1974958" y="2019015"/>
                <a:ext cx="463440" cy="388892"/>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39CB6646-AD5A-592F-1BBF-6F86BE47C2E5}"/>
                  </a:ext>
                </a:extLst>
              </p:cNvPr>
              <p:cNvCxnSpPr>
                <a:cxnSpLocks/>
              </p:cNvCxnSpPr>
              <p:nvPr/>
            </p:nvCxnSpPr>
            <p:spPr>
              <a:xfrm>
                <a:off x="2438398" y="2019015"/>
                <a:ext cx="1080167"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D2335E1C-3065-23F6-E27F-3F0198899BD3}"/>
                </a:ext>
              </a:extLst>
            </p:cNvPr>
            <p:cNvGrpSpPr/>
            <p:nvPr userDrawn="1"/>
          </p:nvGrpSpPr>
          <p:grpSpPr>
            <a:xfrm flipV="1">
              <a:off x="-1259888" y="4408929"/>
              <a:ext cx="3835321" cy="547270"/>
              <a:chOff x="-1" y="1860637"/>
              <a:chExt cx="3835321" cy="547270"/>
            </a:xfrm>
          </p:grpSpPr>
          <p:sp>
            <p:nvSpPr>
              <p:cNvPr id="52" name="Oval 51">
                <a:extLst>
                  <a:ext uri="{FF2B5EF4-FFF2-40B4-BE49-F238E27FC236}">
                    <a16:creationId xmlns:a16="http://schemas.microsoft.com/office/drawing/2014/main" id="{0054D5F9-BD76-DFA5-747D-63210423AF11}"/>
                  </a:ext>
                </a:extLst>
              </p:cNvPr>
              <p:cNvSpPr/>
              <p:nvPr/>
            </p:nvSpPr>
            <p:spPr>
              <a:xfrm>
                <a:off x="3518565" y="1860637"/>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3" name="Straight Connector 52">
                <a:extLst>
                  <a:ext uri="{FF2B5EF4-FFF2-40B4-BE49-F238E27FC236}">
                    <a16:creationId xmlns:a16="http://schemas.microsoft.com/office/drawing/2014/main" id="{CCE92875-704E-A1B5-07E6-FAEFE45DBA51}"/>
                  </a:ext>
                </a:extLst>
              </p:cNvPr>
              <p:cNvCxnSpPr/>
              <p:nvPr/>
            </p:nvCxnSpPr>
            <p:spPr>
              <a:xfrm>
                <a:off x="-1" y="2407907"/>
                <a:ext cx="1985654"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465DD13-4162-48B0-8660-1DA77169F84E}"/>
                  </a:ext>
                </a:extLst>
              </p:cNvPr>
              <p:cNvCxnSpPr>
                <a:cxnSpLocks/>
              </p:cNvCxnSpPr>
              <p:nvPr/>
            </p:nvCxnSpPr>
            <p:spPr>
              <a:xfrm flipV="1">
                <a:off x="1974958" y="2019015"/>
                <a:ext cx="463440" cy="388892"/>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85D16174-2600-C069-974A-6FEA86E0360D}"/>
                  </a:ext>
                </a:extLst>
              </p:cNvPr>
              <p:cNvCxnSpPr>
                <a:cxnSpLocks/>
              </p:cNvCxnSpPr>
              <p:nvPr/>
            </p:nvCxnSpPr>
            <p:spPr>
              <a:xfrm>
                <a:off x="2438398" y="2019015"/>
                <a:ext cx="1080167"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273999E9-4737-2309-371C-9E0670D1FA16}"/>
                </a:ext>
              </a:extLst>
            </p:cNvPr>
            <p:cNvGrpSpPr/>
            <p:nvPr userDrawn="1"/>
          </p:nvGrpSpPr>
          <p:grpSpPr>
            <a:xfrm>
              <a:off x="-1252333" y="2715185"/>
              <a:ext cx="2776521" cy="436736"/>
              <a:chOff x="-26865" y="2715185"/>
              <a:chExt cx="2776521" cy="436736"/>
            </a:xfrm>
          </p:grpSpPr>
          <p:cxnSp>
            <p:nvCxnSpPr>
              <p:cNvPr id="48" name="Straight Connector 47">
                <a:extLst>
                  <a:ext uri="{FF2B5EF4-FFF2-40B4-BE49-F238E27FC236}">
                    <a16:creationId xmlns:a16="http://schemas.microsoft.com/office/drawing/2014/main" id="{F8BEE6AC-D79B-8E2A-ABF5-4EEEA5212958}"/>
                  </a:ext>
                </a:extLst>
              </p:cNvPr>
              <p:cNvCxnSpPr/>
              <p:nvPr/>
            </p:nvCxnSpPr>
            <p:spPr>
              <a:xfrm>
                <a:off x="-26865" y="3151921"/>
                <a:ext cx="14027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D71D58E6-0CF0-201A-6AC4-AC76E73B91AC}"/>
                  </a:ext>
                </a:extLst>
              </p:cNvPr>
              <p:cNvCxnSpPr>
                <a:cxnSpLocks/>
              </p:cNvCxnSpPr>
              <p:nvPr/>
            </p:nvCxnSpPr>
            <p:spPr>
              <a:xfrm flipV="1">
                <a:off x="1368303" y="2877197"/>
                <a:ext cx="327387" cy="274724"/>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3F8ECCF-CC37-3AD1-B56C-A8D4EAB0F408}"/>
                  </a:ext>
                </a:extLst>
              </p:cNvPr>
              <p:cNvCxnSpPr>
                <a:cxnSpLocks/>
              </p:cNvCxnSpPr>
              <p:nvPr/>
            </p:nvCxnSpPr>
            <p:spPr>
              <a:xfrm>
                <a:off x="1695690" y="2877197"/>
                <a:ext cx="763061"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51" name="Oval 50">
                <a:extLst>
                  <a:ext uri="{FF2B5EF4-FFF2-40B4-BE49-F238E27FC236}">
                    <a16:creationId xmlns:a16="http://schemas.microsoft.com/office/drawing/2014/main" id="{31674892-B2C7-136E-8594-C11B8E269F87}"/>
                  </a:ext>
                </a:extLst>
              </p:cNvPr>
              <p:cNvSpPr/>
              <p:nvPr/>
            </p:nvSpPr>
            <p:spPr>
              <a:xfrm>
                <a:off x="2432901" y="2715185"/>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3" name="Group 42">
              <a:extLst>
                <a:ext uri="{FF2B5EF4-FFF2-40B4-BE49-F238E27FC236}">
                  <a16:creationId xmlns:a16="http://schemas.microsoft.com/office/drawing/2014/main" id="{831C3464-516C-C4D2-7CEC-A8FAE9B21FCD}"/>
                </a:ext>
              </a:extLst>
            </p:cNvPr>
            <p:cNvGrpSpPr/>
            <p:nvPr userDrawn="1"/>
          </p:nvGrpSpPr>
          <p:grpSpPr>
            <a:xfrm>
              <a:off x="-1225468" y="3843225"/>
              <a:ext cx="2802371" cy="433101"/>
              <a:chOff x="-34420" y="3843718"/>
              <a:chExt cx="2802371" cy="433101"/>
            </a:xfrm>
          </p:grpSpPr>
          <p:cxnSp>
            <p:nvCxnSpPr>
              <p:cNvPr id="44" name="Straight Connector 43">
                <a:extLst>
                  <a:ext uri="{FF2B5EF4-FFF2-40B4-BE49-F238E27FC236}">
                    <a16:creationId xmlns:a16="http://schemas.microsoft.com/office/drawing/2014/main" id="{408CCADE-8B1D-0E30-0A68-1F46B13BC757}"/>
                  </a:ext>
                </a:extLst>
              </p:cNvPr>
              <p:cNvCxnSpPr/>
              <p:nvPr/>
            </p:nvCxnSpPr>
            <p:spPr>
              <a:xfrm flipV="1">
                <a:off x="-34420" y="3843718"/>
                <a:ext cx="14027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F817E267-84D9-FC0C-E5D5-1DD3288DCC70}"/>
                  </a:ext>
                </a:extLst>
              </p:cNvPr>
              <p:cNvCxnSpPr>
                <a:cxnSpLocks/>
              </p:cNvCxnSpPr>
              <p:nvPr/>
            </p:nvCxnSpPr>
            <p:spPr>
              <a:xfrm>
                <a:off x="1360748" y="3843718"/>
                <a:ext cx="327387" cy="274724"/>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CA383401-6B48-1369-8E23-310FBDF1E0DF}"/>
                  </a:ext>
                </a:extLst>
              </p:cNvPr>
              <p:cNvCxnSpPr>
                <a:cxnSpLocks/>
              </p:cNvCxnSpPr>
              <p:nvPr/>
            </p:nvCxnSpPr>
            <p:spPr>
              <a:xfrm flipV="1">
                <a:off x="1688135" y="4118442"/>
                <a:ext cx="763061"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715E2EA8-3EC1-AFA6-AC3A-1F5D01C1902E}"/>
                  </a:ext>
                </a:extLst>
              </p:cNvPr>
              <p:cNvSpPr/>
              <p:nvPr/>
            </p:nvSpPr>
            <p:spPr>
              <a:xfrm>
                <a:off x="2451196" y="3960064"/>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69" name="Oval 68">
            <a:extLst>
              <a:ext uri="{FF2B5EF4-FFF2-40B4-BE49-F238E27FC236}">
                <a16:creationId xmlns:a16="http://schemas.microsoft.com/office/drawing/2014/main" id="{18EDBFE5-F6A7-D377-B524-2A5E293A8580}"/>
              </a:ext>
            </a:extLst>
          </p:cNvPr>
          <p:cNvSpPr/>
          <p:nvPr userDrawn="1"/>
        </p:nvSpPr>
        <p:spPr>
          <a:xfrm>
            <a:off x="11924591" y="6583140"/>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F24298E1-B4F3-31E6-9C4D-5AE100CD89B6}"/>
              </a:ext>
            </a:extLst>
          </p:cNvPr>
          <p:cNvSpPr>
            <a:spLocks noGrp="1"/>
          </p:cNvSpPr>
          <p:nvPr>
            <p:ph type="sldNum" sz="quarter" idx="12"/>
          </p:nvPr>
        </p:nvSpPr>
        <p:spPr>
          <a:xfrm>
            <a:off x="11900400" y="6566400"/>
            <a:ext cx="291600" cy="291600"/>
          </a:xfrm>
        </p:spPr>
        <p:txBody>
          <a:bodyPr/>
          <a:lstStyle>
            <a:lvl1pPr algn="ctr">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sp>
        <p:nvSpPr>
          <p:cNvPr id="70" name="TextBox 69">
            <a:extLst>
              <a:ext uri="{FF2B5EF4-FFF2-40B4-BE49-F238E27FC236}">
                <a16:creationId xmlns:a16="http://schemas.microsoft.com/office/drawing/2014/main" id="{03E32705-3D72-A324-09E4-62DB4F73E8B8}"/>
              </a:ext>
            </a:extLst>
          </p:cNvPr>
          <p:cNvSpPr txBox="1"/>
          <p:nvPr userDrawn="1"/>
        </p:nvSpPr>
        <p:spPr>
          <a:xfrm>
            <a:off x="4702630" y="640081"/>
            <a:ext cx="3028822" cy="646331"/>
          </a:xfrm>
          <a:prstGeom prst="rect">
            <a:avLst/>
          </a:prstGeom>
          <a:gradFill>
            <a:gsLst>
              <a:gs pos="0">
                <a:srgbClr val="0072FF"/>
              </a:gs>
              <a:gs pos="100000">
                <a:srgbClr val="00C6FF"/>
              </a:gs>
            </a:gsLst>
            <a:path path="shape">
              <a:fillToRect l="50000" t="50000" r="50000" b="50000"/>
            </a:path>
          </a:gradFill>
        </p:spPr>
        <p:txBody>
          <a:bodyPr wrap="square" rtlCol="0" anchor="ctr">
            <a:spAutoFit/>
          </a:bodyPr>
          <a:lstStyle/>
          <a:p>
            <a:pPr algn="ctr"/>
            <a:r>
              <a:rPr lang="en-US" sz="3600" b="1">
                <a:solidFill>
                  <a:schemeClr val="bg1"/>
                </a:solidFill>
                <a:latin typeface="Times New Roman" panose="02020603050405020304" pitchFamily="18" charset="0"/>
                <a:cs typeface="Times New Roman" panose="02020603050405020304" pitchFamily="18" charset="0"/>
              </a:rPr>
              <a:t>MỤC TIÊU</a:t>
            </a:r>
            <a:endParaRPr lang="en-VN" sz="3600" b="1" dirty="0">
              <a:solidFill>
                <a:schemeClr val="bg1"/>
              </a:solidFill>
              <a:latin typeface="Times New Roman" panose="02020603050405020304" pitchFamily="18" charset="0"/>
              <a:cs typeface="Times New Roman" panose="02020603050405020304" pitchFamily="18" charset="0"/>
            </a:endParaRPr>
          </a:p>
        </p:txBody>
      </p:sp>
      <p:sp>
        <p:nvSpPr>
          <p:cNvPr id="73" name="Text Placeholder 72">
            <a:extLst>
              <a:ext uri="{FF2B5EF4-FFF2-40B4-BE49-F238E27FC236}">
                <a16:creationId xmlns:a16="http://schemas.microsoft.com/office/drawing/2014/main" id="{76C3F59F-1B16-EF53-7B37-4235433DF423}"/>
              </a:ext>
            </a:extLst>
          </p:cNvPr>
          <p:cNvSpPr>
            <a:spLocks noGrp="1"/>
          </p:cNvSpPr>
          <p:nvPr>
            <p:ph type="body" sz="quarter" idx="13" hasCustomPrompt="1"/>
          </p:nvPr>
        </p:nvSpPr>
        <p:spPr>
          <a:xfrm>
            <a:off x="2735144" y="1286346"/>
            <a:ext cx="6721714" cy="4699000"/>
          </a:xfrm>
        </p:spPr>
        <p:txBody>
          <a:bodyPr anchor="ctr">
            <a:normAutofit/>
          </a:bodyPr>
          <a:lstStyle>
            <a:lvl1pPr marL="514350" indent="-514350" algn="just">
              <a:buFont typeface="+mj-lt"/>
              <a:buAutoNum type="arabicPeriod"/>
              <a:defRPr sz="2200">
                <a:latin typeface="Arial" panose="020B0604020202020204" pitchFamily="34" charset="0"/>
                <a:cs typeface="Arial" panose="020B0604020202020204" pitchFamily="34" charset="0"/>
              </a:defRPr>
            </a:lvl1pPr>
            <a:lvl2pPr marL="914400" indent="-457200" algn="ctr">
              <a:buFont typeface="+mj-lt"/>
              <a:buAutoNum type="arabicPeriod"/>
              <a:defRPr>
                <a:latin typeface="Arial" panose="020B0604020202020204" pitchFamily="34" charset="0"/>
                <a:cs typeface="Arial" panose="020B0604020202020204" pitchFamily="34" charset="0"/>
              </a:defRPr>
            </a:lvl2pPr>
            <a:lvl3pPr marL="1371600" indent="-457200" algn="ctr">
              <a:buFont typeface="+mj-lt"/>
              <a:buAutoNum type="arabicPeriod"/>
              <a:defRPr>
                <a:latin typeface="Arial" panose="020B0604020202020204" pitchFamily="34" charset="0"/>
                <a:cs typeface="Arial" panose="020B0604020202020204" pitchFamily="34" charset="0"/>
              </a:defRPr>
            </a:lvl3pPr>
            <a:lvl4pPr marL="1714500" indent="-342900" algn="ctr">
              <a:buFont typeface="+mj-lt"/>
              <a:buAutoNum type="arabicPeriod"/>
              <a:defRPr>
                <a:latin typeface="Arial" panose="020B0604020202020204" pitchFamily="34" charset="0"/>
                <a:cs typeface="Arial" panose="020B0604020202020204" pitchFamily="34" charset="0"/>
              </a:defRPr>
            </a:lvl4pPr>
            <a:lvl5pPr marL="2171700" indent="-342900" algn="ctr">
              <a:buFont typeface="+mj-lt"/>
              <a:buAutoNum type="arabicPeriod"/>
              <a:defRPr>
                <a:latin typeface="Arial" panose="020B0604020202020204" pitchFamily="34" charset="0"/>
                <a:cs typeface="Arial" panose="020B0604020202020204" pitchFamily="34" charset="0"/>
              </a:defRPr>
            </a:lvl5pPr>
          </a:lstStyle>
          <a:p>
            <a:pPr lvl="0"/>
            <a:r>
              <a:rPr lang="en-US" dirty="0" err="1"/>
              <a:t>Mục</a:t>
            </a:r>
            <a:r>
              <a:rPr lang="en-US" dirty="0"/>
              <a:t> 1</a:t>
            </a:r>
          </a:p>
          <a:p>
            <a:pPr lvl="0"/>
            <a:r>
              <a:rPr lang="en-US" dirty="0" err="1"/>
              <a:t>Mục</a:t>
            </a:r>
            <a:r>
              <a:rPr lang="en-US" dirty="0"/>
              <a:t> 2</a:t>
            </a:r>
          </a:p>
          <a:p>
            <a:pPr lvl="0"/>
            <a:r>
              <a:rPr lang="en-US" dirty="0" err="1"/>
              <a:t>Mục</a:t>
            </a:r>
            <a:r>
              <a:rPr lang="en-US" dirty="0"/>
              <a:t> 3</a:t>
            </a:r>
          </a:p>
          <a:p>
            <a:pPr lvl="0"/>
            <a:r>
              <a:rPr lang="en-US" dirty="0" err="1"/>
              <a:t>Mục</a:t>
            </a:r>
            <a:r>
              <a:rPr lang="en-US" dirty="0"/>
              <a:t> 4</a:t>
            </a:r>
          </a:p>
          <a:p>
            <a:pPr lvl="0"/>
            <a:r>
              <a:rPr lang="en-US" dirty="0" err="1"/>
              <a:t>Mục</a:t>
            </a:r>
            <a:r>
              <a:rPr lang="en-US" dirty="0"/>
              <a:t> 5</a:t>
            </a:r>
          </a:p>
        </p:txBody>
      </p:sp>
      <p:sp>
        <p:nvSpPr>
          <p:cNvPr id="75" name="Isosceles Triangle 12">
            <a:extLst>
              <a:ext uri="{FF2B5EF4-FFF2-40B4-BE49-F238E27FC236}">
                <a16:creationId xmlns:a16="http://schemas.microsoft.com/office/drawing/2014/main" id="{A388E1C1-619D-B3DE-405E-FEBD285E8A4D}"/>
              </a:ext>
            </a:extLst>
          </p:cNvPr>
          <p:cNvSpPr/>
          <p:nvPr userDrawn="1"/>
        </p:nvSpPr>
        <p:spPr>
          <a:xfrm rot="10800000">
            <a:off x="0" y="0"/>
            <a:ext cx="715617" cy="616911"/>
          </a:xfrm>
          <a:prstGeom prst="triangle">
            <a:avLst>
              <a:gd name="adj" fmla="val 100000"/>
            </a:avLst>
          </a:prstGeom>
          <a:solidFill>
            <a:srgbClr val="007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6" name="Group 75">
            <a:extLst>
              <a:ext uri="{FF2B5EF4-FFF2-40B4-BE49-F238E27FC236}">
                <a16:creationId xmlns:a16="http://schemas.microsoft.com/office/drawing/2014/main" id="{7C853EEA-59DB-F0D6-265D-88168C2394BB}"/>
              </a:ext>
            </a:extLst>
          </p:cNvPr>
          <p:cNvGrpSpPr/>
          <p:nvPr userDrawn="1"/>
        </p:nvGrpSpPr>
        <p:grpSpPr>
          <a:xfrm>
            <a:off x="58527" y="40944"/>
            <a:ext cx="2869771" cy="886519"/>
            <a:chOff x="44879" y="27296"/>
            <a:chExt cx="2869771" cy="886519"/>
          </a:xfrm>
          <a:solidFill>
            <a:srgbClr val="0072FF"/>
          </a:solidFill>
        </p:grpSpPr>
        <p:cxnSp>
          <p:nvCxnSpPr>
            <p:cNvPr id="77" name="Straight Connector 76">
              <a:extLst>
                <a:ext uri="{FF2B5EF4-FFF2-40B4-BE49-F238E27FC236}">
                  <a16:creationId xmlns:a16="http://schemas.microsoft.com/office/drawing/2014/main" id="{F437A5D6-1DC7-D389-82D2-23162AC05FBF}"/>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896068C2-8F0E-EB5D-CA9A-7015104FFBD1}"/>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C8D9F136-81C9-C695-8C54-BACD26A69D63}"/>
                </a:ext>
              </a:extLst>
            </p:cNvPr>
            <p:cNvCxnSpPr>
              <a:cxnSpLocks/>
            </p:cNvCxnSpPr>
            <p:nvPr/>
          </p:nvCxnSpPr>
          <p:spPr>
            <a:xfrm flipV="1">
              <a:off x="52214" y="654128"/>
              <a:ext cx="0" cy="25968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pic>
        <p:nvPicPr>
          <p:cNvPr id="86" name="Picture 85" descr="A picture containing clipart, vector graphics&#10;&#10;Description automatically generated">
            <a:extLst>
              <a:ext uri="{FF2B5EF4-FFF2-40B4-BE49-F238E27FC236}">
                <a16:creationId xmlns:a16="http://schemas.microsoft.com/office/drawing/2014/main" id="{59A81B3C-3C09-2267-567B-AD3F47296CD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12638" y="362637"/>
            <a:ext cx="544288" cy="450213"/>
          </a:xfrm>
          <a:prstGeom prst="rect">
            <a:avLst/>
          </a:prstGeom>
        </p:spPr>
      </p:pic>
      <p:sp>
        <p:nvSpPr>
          <p:cNvPr id="2" name="Date Placeholder 1">
            <a:extLst>
              <a:ext uri="{FF2B5EF4-FFF2-40B4-BE49-F238E27FC236}">
                <a16:creationId xmlns:a16="http://schemas.microsoft.com/office/drawing/2014/main" id="{D1B4C13D-5A18-5AEA-36B7-4E32F182BE34}"/>
              </a:ext>
            </a:extLst>
          </p:cNvPr>
          <p:cNvSpPr>
            <a:spLocks noGrp="1"/>
          </p:cNvSpPr>
          <p:nvPr>
            <p:ph type="dt" sz="half" idx="14"/>
          </p:nvPr>
        </p:nvSpPr>
        <p:spPr>
          <a:xfrm>
            <a:off x="796022" y="6454635"/>
            <a:ext cx="2132276" cy="266840"/>
          </a:xfrm>
        </p:spPr>
        <p:txBody>
          <a:bodyPr/>
          <a:lstStyle>
            <a:lvl1pPr>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pPr/>
              <a:t>October 10, 2024</a:t>
            </a:fld>
            <a:endParaRPr lang="en-US" dirty="0"/>
          </a:p>
        </p:txBody>
      </p:sp>
    </p:spTree>
    <p:extLst>
      <p:ext uri="{BB962C8B-B14F-4D97-AF65-F5344CB8AC3E}">
        <p14:creationId xmlns:p14="http://schemas.microsoft.com/office/powerpoint/2010/main" val="42336695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Mục lục">
    <p:spTree>
      <p:nvGrpSpPr>
        <p:cNvPr id="1" name=""/>
        <p:cNvGrpSpPr/>
        <p:nvPr/>
      </p:nvGrpSpPr>
      <p:grpSpPr>
        <a:xfrm>
          <a:off x="0" y="0"/>
          <a:ext cx="0" cy="0"/>
          <a:chOff x="0" y="0"/>
          <a:chExt cx="0" cy="0"/>
        </a:xfrm>
      </p:grpSpPr>
      <p:sp>
        <p:nvSpPr>
          <p:cNvPr id="80" name="Isosceles Triangle 12">
            <a:extLst>
              <a:ext uri="{FF2B5EF4-FFF2-40B4-BE49-F238E27FC236}">
                <a16:creationId xmlns:a16="http://schemas.microsoft.com/office/drawing/2014/main" id="{72826670-EA95-0D41-31A4-F445474455F7}"/>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1" name="Group 80">
            <a:extLst>
              <a:ext uri="{FF2B5EF4-FFF2-40B4-BE49-F238E27FC236}">
                <a16:creationId xmlns:a16="http://schemas.microsoft.com/office/drawing/2014/main" id="{FC178CED-135F-0B63-CD69-F01713607F73}"/>
              </a:ext>
            </a:extLst>
          </p:cNvPr>
          <p:cNvGrpSpPr/>
          <p:nvPr userDrawn="1"/>
        </p:nvGrpSpPr>
        <p:grpSpPr>
          <a:xfrm flipH="1" flipV="1">
            <a:off x="9263702" y="5930537"/>
            <a:ext cx="2869771" cy="886519"/>
            <a:chOff x="44879" y="27296"/>
            <a:chExt cx="2869771" cy="886519"/>
          </a:xfrm>
          <a:solidFill>
            <a:srgbClr val="0072FF"/>
          </a:solidFill>
        </p:grpSpPr>
        <p:cxnSp>
          <p:nvCxnSpPr>
            <p:cNvPr id="82" name="Straight Connector 81">
              <a:extLst>
                <a:ext uri="{FF2B5EF4-FFF2-40B4-BE49-F238E27FC236}">
                  <a16:creationId xmlns:a16="http://schemas.microsoft.com/office/drawing/2014/main" id="{D0441D2A-FC76-0844-7EA5-B632F99E2E0D}"/>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E0C48DFD-25B4-6AF8-8C94-3C8B50B23C18}"/>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0CA6305E-4BEE-7CC0-EE96-38938F764389}"/>
                </a:ext>
              </a:extLst>
            </p:cNvPr>
            <p:cNvCxnSpPr>
              <a:cxnSpLocks/>
            </p:cNvCxnSpPr>
            <p:nvPr/>
          </p:nvCxnSpPr>
          <p:spPr>
            <a:xfrm flipH="1" flipV="1">
              <a:off x="52214" y="654128"/>
              <a:ext cx="0" cy="25968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4" name="Footer Placeholder 3">
            <a:extLst>
              <a:ext uri="{FF2B5EF4-FFF2-40B4-BE49-F238E27FC236}">
                <a16:creationId xmlns:a16="http://schemas.microsoft.com/office/drawing/2014/main" id="{745F02F9-19CB-F108-6F35-1A02C9BECF5E}"/>
              </a:ext>
            </a:extLst>
          </p:cNvPr>
          <p:cNvSpPr>
            <a:spLocks noGrp="1"/>
          </p:cNvSpPr>
          <p:nvPr>
            <p:ph type="ftr" sz="quarter" idx="11"/>
          </p:nvPr>
        </p:nvSpPr>
        <p:spPr>
          <a:xfrm>
            <a:off x="3465443" y="6466114"/>
            <a:ext cx="5261114" cy="255361"/>
          </a:xfrm>
        </p:spPr>
        <p:txBody>
          <a:bodyPr/>
          <a:lstStyle>
            <a:lvl1pPr>
              <a:defRPr sz="1100">
                <a:latin typeface="Arial" panose="020B0604020202020204" pitchFamily="34" charset="0"/>
                <a:cs typeface="Arial" panose="020B0604020202020204" pitchFamily="34" charset="0"/>
              </a:defRPr>
            </a:lvl1pPr>
          </a:lstStyle>
          <a:p>
            <a:r>
              <a:rPr lang="vi-VN" dirty="0"/>
              <a:t>Thực hiện bởi Trường Đại học Công nghệ Thông tin, ĐHQG-HCM</a:t>
            </a:r>
            <a:endParaRPr lang="en-VN" dirty="0"/>
          </a:p>
        </p:txBody>
      </p:sp>
      <p:grpSp>
        <p:nvGrpSpPr>
          <p:cNvPr id="36" name="Group 35">
            <a:extLst>
              <a:ext uri="{FF2B5EF4-FFF2-40B4-BE49-F238E27FC236}">
                <a16:creationId xmlns:a16="http://schemas.microsoft.com/office/drawing/2014/main" id="{11E5AAB4-F14E-4F9C-E123-7635A7EF6275}"/>
              </a:ext>
            </a:extLst>
          </p:cNvPr>
          <p:cNvGrpSpPr/>
          <p:nvPr userDrawn="1"/>
        </p:nvGrpSpPr>
        <p:grpSpPr>
          <a:xfrm>
            <a:off x="-1259888" y="1121391"/>
            <a:ext cx="4841288" cy="5054000"/>
            <a:chOff x="-1259888" y="901609"/>
            <a:chExt cx="4841288" cy="5054000"/>
          </a:xfrm>
        </p:grpSpPr>
        <p:grpSp>
          <p:nvGrpSpPr>
            <p:cNvPr id="6" name="Group 5">
              <a:extLst>
                <a:ext uri="{FF2B5EF4-FFF2-40B4-BE49-F238E27FC236}">
                  <a16:creationId xmlns:a16="http://schemas.microsoft.com/office/drawing/2014/main" id="{A2E31223-939B-D84C-4ACC-CDC6CEB64FEF}"/>
                </a:ext>
              </a:extLst>
            </p:cNvPr>
            <p:cNvGrpSpPr/>
            <p:nvPr userDrawn="1"/>
          </p:nvGrpSpPr>
          <p:grpSpPr>
            <a:xfrm>
              <a:off x="-1225468" y="901609"/>
              <a:ext cx="4806868" cy="664514"/>
              <a:chOff x="0" y="901609"/>
              <a:chExt cx="4806868" cy="664514"/>
            </a:xfrm>
          </p:grpSpPr>
          <p:cxnSp>
            <p:nvCxnSpPr>
              <p:cNvPr id="7" name="Straight Connector 6">
                <a:extLst>
                  <a:ext uri="{FF2B5EF4-FFF2-40B4-BE49-F238E27FC236}">
                    <a16:creationId xmlns:a16="http://schemas.microsoft.com/office/drawing/2014/main" id="{2DB06BED-50E6-B29E-B929-6D7717DB8E5E}"/>
                  </a:ext>
                </a:extLst>
              </p:cNvPr>
              <p:cNvCxnSpPr/>
              <p:nvPr/>
            </p:nvCxnSpPr>
            <p:spPr>
              <a:xfrm>
                <a:off x="0" y="1566123"/>
                <a:ext cx="253393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58C69F9-0B5B-5D9E-7034-C8237177065E}"/>
                  </a:ext>
                </a:extLst>
              </p:cNvPr>
              <p:cNvCxnSpPr>
                <a:cxnSpLocks/>
              </p:cNvCxnSpPr>
              <p:nvPr/>
            </p:nvCxnSpPr>
            <p:spPr>
              <a:xfrm flipV="1">
                <a:off x="2520285" y="1059987"/>
                <a:ext cx="591405" cy="506136"/>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F5F07FD-916F-9286-7ADA-4A2252FCBB28}"/>
                  </a:ext>
                </a:extLst>
              </p:cNvPr>
              <p:cNvCxnSpPr>
                <a:cxnSpLocks/>
              </p:cNvCxnSpPr>
              <p:nvPr/>
            </p:nvCxnSpPr>
            <p:spPr>
              <a:xfrm>
                <a:off x="3111690" y="1059987"/>
                <a:ext cx="13784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23A8BE15-FC97-76D3-BF6B-29B7114D4716}"/>
                  </a:ext>
                </a:extLst>
              </p:cNvPr>
              <p:cNvSpPr/>
              <p:nvPr/>
            </p:nvSpPr>
            <p:spPr>
              <a:xfrm>
                <a:off x="4490113" y="901609"/>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1" name="Group 10">
              <a:extLst>
                <a:ext uri="{FF2B5EF4-FFF2-40B4-BE49-F238E27FC236}">
                  <a16:creationId xmlns:a16="http://schemas.microsoft.com/office/drawing/2014/main" id="{04AB711F-106D-5EA6-AAFA-CF1A979FF6F9}"/>
                </a:ext>
              </a:extLst>
            </p:cNvPr>
            <p:cNvGrpSpPr/>
            <p:nvPr userDrawn="1"/>
          </p:nvGrpSpPr>
          <p:grpSpPr>
            <a:xfrm flipV="1">
              <a:off x="-1225468" y="5291095"/>
              <a:ext cx="4806868" cy="664514"/>
              <a:chOff x="0" y="1232525"/>
              <a:chExt cx="4806868" cy="664514"/>
            </a:xfrm>
          </p:grpSpPr>
          <p:cxnSp>
            <p:nvCxnSpPr>
              <p:cNvPr id="12" name="Straight Connector 11">
                <a:extLst>
                  <a:ext uri="{FF2B5EF4-FFF2-40B4-BE49-F238E27FC236}">
                    <a16:creationId xmlns:a16="http://schemas.microsoft.com/office/drawing/2014/main" id="{5660A401-E892-4348-0DC3-086E4EF0B6E4}"/>
                  </a:ext>
                </a:extLst>
              </p:cNvPr>
              <p:cNvCxnSpPr/>
              <p:nvPr/>
            </p:nvCxnSpPr>
            <p:spPr>
              <a:xfrm>
                <a:off x="0" y="1897039"/>
                <a:ext cx="253393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AFDB122-E638-017C-654A-F8EC6AB0B27F}"/>
                  </a:ext>
                </a:extLst>
              </p:cNvPr>
              <p:cNvCxnSpPr>
                <a:cxnSpLocks/>
              </p:cNvCxnSpPr>
              <p:nvPr/>
            </p:nvCxnSpPr>
            <p:spPr>
              <a:xfrm flipV="1">
                <a:off x="2520285" y="1390903"/>
                <a:ext cx="591405" cy="506136"/>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C676F38-72FE-4F76-7E67-580148C08A51}"/>
                  </a:ext>
                </a:extLst>
              </p:cNvPr>
              <p:cNvCxnSpPr>
                <a:cxnSpLocks/>
              </p:cNvCxnSpPr>
              <p:nvPr/>
            </p:nvCxnSpPr>
            <p:spPr>
              <a:xfrm>
                <a:off x="3111690" y="1390903"/>
                <a:ext cx="13784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B7E06E3C-C182-FD6B-BB7B-4847F4323944}"/>
                  </a:ext>
                </a:extLst>
              </p:cNvPr>
              <p:cNvSpPr/>
              <p:nvPr/>
            </p:nvSpPr>
            <p:spPr>
              <a:xfrm>
                <a:off x="4490113" y="1232525"/>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821F68F9-560D-A608-4130-5D9040FE3F01}"/>
                </a:ext>
              </a:extLst>
            </p:cNvPr>
            <p:cNvGrpSpPr/>
            <p:nvPr userDrawn="1"/>
          </p:nvGrpSpPr>
          <p:grpSpPr>
            <a:xfrm>
              <a:off x="-1225469" y="1860637"/>
              <a:ext cx="3835321" cy="547270"/>
              <a:chOff x="-1" y="1860637"/>
              <a:chExt cx="3835321" cy="547270"/>
            </a:xfrm>
          </p:grpSpPr>
          <p:sp>
            <p:nvSpPr>
              <p:cNvPr id="17" name="Oval 16">
                <a:extLst>
                  <a:ext uri="{FF2B5EF4-FFF2-40B4-BE49-F238E27FC236}">
                    <a16:creationId xmlns:a16="http://schemas.microsoft.com/office/drawing/2014/main" id="{A6A5574E-F30D-A49F-E874-231C445514E4}"/>
                  </a:ext>
                </a:extLst>
              </p:cNvPr>
              <p:cNvSpPr/>
              <p:nvPr/>
            </p:nvSpPr>
            <p:spPr>
              <a:xfrm>
                <a:off x="3518565" y="1860637"/>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8" name="Straight Connector 17">
                <a:extLst>
                  <a:ext uri="{FF2B5EF4-FFF2-40B4-BE49-F238E27FC236}">
                    <a16:creationId xmlns:a16="http://schemas.microsoft.com/office/drawing/2014/main" id="{1AABF66E-DE89-B1F6-062E-2BC96ADE0530}"/>
                  </a:ext>
                </a:extLst>
              </p:cNvPr>
              <p:cNvCxnSpPr/>
              <p:nvPr/>
            </p:nvCxnSpPr>
            <p:spPr>
              <a:xfrm>
                <a:off x="-1" y="2407907"/>
                <a:ext cx="1985654"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B0E2531-6E1E-6A7F-6704-D0334B1AB6C8}"/>
                  </a:ext>
                </a:extLst>
              </p:cNvPr>
              <p:cNvCxnSpPr>
                <a:cxnSpLocks/>
              </p:cNvCxnSpPr>
              <p:nvPr/>
            </p:nvCxnSpPr>
            <p:spPr>
              <a:xfrm flipV="1">
                <a:off x="1974958" y="2019015"/>
                <a:ext cx="463440" cy="388892"/>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F6A1DDC-0D65-0297-E1E5-DC4B2441C524}"/>
                  </a:ext>
                </a:extLst>
              </p:cNvPr>
              <p:cNvCxnSpPr>
                <a:cxnSpLocks/>
              </p:cNvCxnSpPr>
              <p:nvPr/>
            </p:nvCxnSpPr>
            <p:spPr>
              <a:xfrm>
                <a:off x="2438398" y="2019015"/>
                <a:ext cx="1080167"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21" name="Group 20">
              <a:extLst>
                <a:ext uri="{FF2B5EF4-FFF2-40B4-BE49-F238E27FC236}">
                  <a16:creationId xmlns:a16="http://schemas.microsoft.com/office/drawing/2014/main" id="{C25C9018-B01E-F47F-3802-C002B3E7B2AF}"/>
                </a:ext>
              </a:extLst>
            </p:cNvPr>
            <p:cNvGrpSpPr/>
            <p:nvPr userDrawn="1"/>
          </p:nvGrpSpPr>
          <p:grpSpPr>
            <a:xfrm flipV="1">
              <a:off x="-1259888" y="4408929"/>
              <a:ext cx="3835321" cy="547270"/>
              <a:chOff x="-1" y="1860637"/>
              <a:chExt cx="3835321" cy="547270"/>
            </a:xfrm>
          </p:grpSpPr>
          <p:sp>
            <p:nvSpPr>
              <p:cNvPr id="22" name="Oval 21">
                <a:extLst>
                  <a:ext uri="{FF2B5EF4-FFF2-40B4-BE49-F238E27FC236}">
                    <a16:creationId xmlns:a16="http://schemas.microsoft.com/office/drawing/2014/main" id="{17C82ECD-21F2-F43B-6992-AE7FB9F2798F}"/>
                  </a:ext>
                </a:extLst>
              </p:cNvPr>
              <p:cNvSpPr/>
              <p:nvPr/>
            </p:nvSpPr>
            <p:spPr>
              <a:xfrm>
                <a:off x="3518565" y="1860637"/>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3" name="Straight Connector 22">
                <a:extLst>
                  <a:ext uri="{FF2B5EF4-FFF2-40B4-BE49-F238E27FC236}">
                    <a16:creationId xmlns:a16="http://schemas.microsoft.com/office/drawing/2014/main" id="{99F69DC7-3AE7-E60B-2377-4B4F72314B92}"/>
                  </a:ext>
                </a:extLst>
              </p:cNvPr>
              <p:cNvCxnSpPr/>
              <p:nvPr/>
            </p:nvCxnSpPr>
            <p:spPr>
              <a:xfrm>
                <a:off x="-1" y="2407907"/>
                <a:ext cx="1985654"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E27743B-09AF-DFA3-B333-99F4D9A43DFB}"/>
                  </a:ext>
                </a:extLst>
              </p:cNvPr>
              <p:cNvCxnSpPr>
                <a:cxnSpLocks/>
              </p:cNvCxnSpPr>
              <p:nvPr/>
            </p:nvCxnSpPr>
            <p:spPr>
              <a:xfrm flipV="1">
                <a:off x="1974958" y="2019015"/>
                <a:ext cx="463440" cy="388892"/>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9F40737-164C-459C-2ABE-C4DE4A29E373}"/>
                  </a:ext>
                </a:extLst>
              </p:cNvPr>
              <p:cNvCxnSpPr>
                <a:cxnSpLocks/>
              </p:cNvCxnSpPr>
              <p:nvPr/>
            </p:nvCxnSpPr>
            <p:spPr>
              <a:xfrm>
                <a:off x="2438398" y="2019015"/>
                <a:ext cx="1080167"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26" name="Group 25">
              <a:extLst>
                <a:ext uri="{FF2B5EF4-FFF2-40B4-BE49-F238E27FC236}">
                  <a16:creationId xmlns:a16="http://schemas.microsoft.com/office/drawing/2014/main" id="{74A28006-5F76-1896-7905-6715849C97AC}"/>
                </a:ext>
              </a:extLst>
            </p:cNvPr>
            <p:cNvGrpSpPr/>
            <p:nvPr userDrawn="1"/>
          </p:nvGrpSpPr>
          <p:grpSpPr>
            <a:xfrm>
              <a:off x="-1252333" y="2715185"/>
              <a:ext cx="2776521" cy="436736"/>
              <a:chOff x="-26865" y="2715185"/>
              <a:chExt cx="2776521" cy="436736"/>
            </a:xfrm>
          </p:grpSpPr>
          <p:cxnSp>
            <p:nvCxnSpPr>
              <p:cNvPr id="27" name="Straight Connector 26">
                <a:extLst>
                  <a:ext uri="{FF2B5EF4-FFF2-40B4-BE49-F238E27FC236}">
                    <a16:creationId xmlns:a16="http://schemas.microsoft.com/office/drawing/2014/main" id="{02985FB7-4D54-A096-221C-AB21916398BD}"/>
                  </a:ext>
                </a:extLst>
              </p:cNvPr>
              <p:cNvCxnSpPr/>
              <p:nvPr/>
            </p:nvCxnSpPr>
            <p:spPr>
              <a:xfrm>
                <a:off x="-26865" y="3151921"/>
                <a:ext cx="14027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DDEC85B-E1F4-38FE-0E5C-E5850D2C995F}"/>
                  </a:ext>
                </a:extLst>
              </p:cNvPr>
              <p:cNvCxnSpPr>
                <a:cxnSpLocks/>
              </p:cNvCxnSpPr>
              <p:nvPr/>
            </p:nvCxnSpPr>
            <p:spPr>
              <a:xfrm flipV="1">
                <a:off x="1368303" y="2877197"/>
                <a:ext cx="327387" cy="274724"/>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DE6622AE-52DB-9FD4-5FA6-F8C5F2606706}"/>
                  </a:ext>
                </a:extLst>
              </p:cNvPr>
              <p:cNvCxnSpPr>
                <a:cxnSpLocks/>
              </p:cNvCxnSpPr>
              <p:nvPr/>
            </p:nvCxnSpPr>
            <p:spPr>
              <a:xfrm>
                <a:off x="1695690" y="2877197"/>
                <a:ext cx="763061"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69264108-0C61-CCC7-04EF-695A004F44BA}"/>
                  </a:ext>
                </a:extLst>
              </p:cNvPr>
              <p:cNvSpPr/>
              <p:nvPr/>
            </p:nvSpPr>
            <p:spPr>
              <a:xfrm>
                <a:off x="2432901" y="2715185"/>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1" name="Group 30">
              <a:extLst>
                <a:ext uri="{FF2B5EF4-FFF2-40B4-BE49-F238E27FC236}">
                  <a16:creationId xmlns:a16="http://schemas.microsoft.com/office/drawing/2014/main" id="{A1F8E5A4-A013-ABE4-F3E5-36BBEE45994B}"/>
                </a:ext>
              </a:extLst>
            </p:cNvPr>
            <p:cNvGrpSpPr/>
            <p:nvPr userDrawn="1"/>
          </p:nvGrpSpPr>
          <p:grpSpPr>
            <a:xfrm>
              <a:off x="-1225468" y="3843225"/>
              <a:ext cx="2802371" cy="433101"/>
              <a:chOff x="-34420" y="3843718"/>
              <a:chExt cx="2802371" cy="433101"/>
            </a:xfrm>
          </p:grpSpPr>
          <p:cxnSp>
            <p:nvCxnSpPr>
              <p:cNvPr id="32" name="Straight Connector 31">
                <a:extLst>
                  <a:ext uri="{FF2B5EF4-FFF2-40B4-BE49-F238E27FC236}">
                    <a16:creationId xmlns:a16="http://schemas.microsoft.com/office/drawing/2014/main" id="{92CA967D-77D2-F89E-9996-2B247282DA6A}"/>
                  </a:ext>
                </a:extLst>
              </p:cNvPr>
              <p:cNvCxnSpPr/>
              <p:nvPr/>
            </p:nvCxnSpPr>
            <p:spPr>
              <a:xfrm flipV="1">
                <a:off x="-34420" y="3843718"/>
                <a:ext cx="14027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D106A27-9FB0-65D0-E42B-5A9345BBE7A8}"/>
                  </a:ext>
                </a:extLst>
              </p:cNvPr>
              <p:cNvCxnSpPr>
                <a:cxnSpLocks/>
              </p:cNvCxnSpPr>
              <p:nvPr/>
            </p:nvCxnSpPr>
            <p:spPr>
              <a:xfrm>
                <a:off x="1360748" y="3843718"/>
                <a:ext cx="327387" cy="274724"/>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DA310D0-0781-F61D-3188-05A327C3E38C}"/>
                  </a:ext>
                </a:extLst>
              </p:cNvPr>
              <p:cNvCxnSpPr>
                <a:cxnSpLocks/>
              </p:cNvCxnSpPr>
              <p:nvPr/>
            </p:nvCxnSpPr>
            <p:spPr>
              <a:xfrm flipV="1">
                <a:off x="1688135" y="4118442"/>
                <a:ext cx="763061"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74C60948-61FC-2116-FCE6-F05185B2432A}"/>
                  </a:ext>
                </a:extLst>
              </p:cNvPr>
              <p:cNvSpPr/>
              <p:nvPr/>
            </p:nvSpPr>
            <p:spPr>
              <a:xfrm>
                <a:off x="2451196" y="3960064"/>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37" name="Group 36">
            <a:extLst>
              <a:ext uri="{FF2B5EF4-FFF2-40B4-BE49-F238E27FC236}">
                <a16:creationId xmlns:a16="http://schemas.microsoft.com/office/drawing/2014/main" id="{A9D55038-C512-E74F-0316-32FA44AC85DA}"/>
              </a:ext>
            </a:extLst>
          </p:cNvPr>
          <p:cNvGrpSpPr/>
          <p:nvPr userDrawn="1"/>
        </p:nvGrpSpPr>
        <p:grpSpPr>
          <a:xfrm flipH="1">
            <a:off x="8607643" y="1121391"/>
            <a:ext cx="4841288" cy="5054000"/>
            <a:chOff x="-1259888" y="901609"/>
            <a:chExt cx="4841288" cy="5054000"/>
          </a:xfrm>
        </p:grpSpPr>
        <p:grpSp>
          <p:nvGrpSpPr>
            <p:cNvPr id="38" name="Group 37">
              <a:extLst>
                <a:ext uri="{FF2B5EF4-FFF2-40B4-BE49-F238E27FC236}">
                  <a16:creationId xmlns:a16="http://schemas.microsoft.com/office/drawing/2014/main" id="{CC8D5E8A-34C2-98F5-01F2-D2CAA76A0A9E}"/>
                </a:ext>
              </a:extLst>
            </p:cNvPr>
            <p:cNvGrpSpPr/>
            <p:nvPr userDrawn="1"/>
          </p:nvGrpSpPr>
          <p:grpSpPr>
            <a:xfrm>
              <a:off x="-1225468" y="901609"/>
              <a:ext cx="4806868" cy="664514"/>
              <a:chOff x="0" y="901609"/>
              <a:chExt cx="4806868" cy="664514"/>
            </a:xfrm>
          </p:grpSpPr>
          <p:cxnSp>
            <p:nvCxnSpPr>
              <p:cNvPr id="64" name="Straight Connector 63">
                <a:extLst>
                  <a:ext uri="{FF2B5EF4-FFF2-40B4-BE49-F238E27FC236}">
                    <a16:creationId xmlns:a16="http://schemas.microsoft.com/office/drawing/2014/main" id="{E6EEF1F3-D1D1-DEB4-E491-3B5E510B766B}"/>
                  </a:ext>
                </a:extLst>
              </p:cNvPr>
              <p:cNvCxnSpPr/>
              <p:nvPr/>
            </p:nvCxnSpPr>
            <p:spPr>
              <a:xfrm>
                <a:off x="0" y="1566123"/>
                <a:ext cx="253393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6BAF104D-64C5-1843-2B4A-2AEDAF0D6175}"/>
                  </a:ext>
                </a:extLst>
              </p:cNvPr>
              <p:cNvCxnSpPr>
                <a:cxnSpLocks/>
              </p:cNvCxnSpPr>
              <p:nvPr/>
            </p:nvCxnSpPr>
            <p:spPr>
              <a:xfrm flipV="1">
                <a:off x="2520285" y="1059987"/>
                <a:ext cx="591405" cy="506136"/>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591F5277-EE93-31FB-AAD8-F64F97837DDA}"/>
                  </a:ext>
                </a:extLst>
              </p:cNvPr>
              <p:cNvCxnSpPr>
                <a:cxnSpLocks/>
              </p:cNvCxnSpPr>
              <p:nvPr/>
            </p:nvCxnSpPr>
            <p:spPr>
              <a:xfrm>
                <a:off x="3111690" y="1059987"/>
                <a:ext cx="13784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67" name="Oval 66">
                <a:extLst>
                  <a:ext uri="{FF2B5EF4-FFF2-40B4-BE49-F238E27FC236}">
                    <a16:creationId xmlns:a16="http://schemas.microsoft.com/office/drawing/2014/main" id="{36A6A4EA-512C-BD8D-6200-C1B6D161AF96}"/>
                  </a:ext>
                </a:extLst>
              </p:cNvPr>
              <p:cNvSpPr/>
              <p:nvPr/>
            </p:nvSpPr>
            <p:spPr>
              <a:xfrm>
                <a:off x="4490113" y="901609"/>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9" name="Group 38">
              <a:extLst>
                <a:ext uri="{FF2B5EF4-FFF2-40B4-BE49-F238E27FC236}">
                  <a16:creationId xmlns:a16="http://schemas.microsoft.com/office/drawing/2014/main" id="{48417325-5CBC-9245-EBBF-5495BB114BB9}"/>
                </a:ext>
              </a:extLst>
            </p:cNvPr>
            <p:cNvGrpSpPr/>
            <p:nvPr userDrawn="1"/>
          </p:nvGrpSpPr>
          <p:grpSpPr>
            <a:xfrm flipV="1">
              <a:off x="-1225468" y="5291095"/>
              <a:ext cx="4806868" cy="664514"/>
              <a:chOff x="0" y="1232525"/>
              <a:chExt cx="4806868" cy="664514"/>
            </a:xfrm>
          </p:grpSpPr>
          <p:cxnSp>
            <p:nvCxnSpPr>
              <p:cNvPr id="60" name="Straight Connector 59">
                <a:extLst>
                  <a:ext uri="{FF2B5EF4-FFF2-40B4-BE49-F238E27FC236}">
                    <a16:creationId xmlns:a16="http://schemas.microsoft.com/office/drawing/2014/main" id="{2ABA872F-CF9E-97F0-0BEB-43E95F81970F}"/>
                  </a:ext>
                </a:extLst>
              </p:cNvPr>
              <p:cNvCxnSpPr/>
              <p:nvPr/>
            </p:nvCxnSpPr>
            <p:spPr>
              <a:xfrm>
                <a:off x="0" y="1897039"/>
                <a:ext cx="253393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CE558871-BCDE-178B-024F-81DBE95811F1}"/>
                  </a:ext>
                </a:extLst>
              </p:cNvPr>
              <p:cNvCxnSpPr>
                <a:cxnSpLocks/>
              </p:cNvCxnSpPr>
              <p:nvPr/>
            </p:nvCxnSpPr>
            <p:spPr>
              <a:xfrm flipV="1">
                <a:off x="2520285" y="1390903"/>
                <a:ext cx="591405" cy="506136"/>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13BB9F5-0BB8-705B-E8A1-5FA6735325E4}"/>
                  </a:ext>
                </a:extLst>
              </p:cNvPr>
              <p:cNvCxnSpPr>
                <a:cxnSpLocks/>
              </p:cNvCxnSpPr>
              <p:nvPr/>
            </p:nvCxnSpPr>
            <p:spPr>
              <a:xfrm>
                <a:off x="3111690" y="1390903"/>
                <a:ext cx="13784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63" name="Oval 62">
                <a:extLst>
                  <a:ext uri="{FF2B5EF4-FFF2-40B4-BE49-F238E27FC236}">
                    <a16:creationId xmlns:a16="http://schemas.microsoft.com/office/drawing/2014/main" id="{2DF72871-077F-48BE-91AF-DE72A1841D14}"/>
                  </a:ext>
                </a:extLst>
              </p:cNvPr>
              <p:cNvSpPr/>
              <p:nvPr/>
            </p:nvSpPr>
            <p:spPr>
              <a:xfrm>
                <a:off x="4490113" y="1232525"/>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0" name="Group 39">
              <a:extLst>
                <a:ext uri="{FF2B5EF4-FFF2-40B4-BE49-F238E27FC236}">
                  <a16:creationId xmlns:a16="http://schemas.microsoft.com/office/drawing/2014/main" id="{0917CABE-75B7-599D-4246-DCB5968A10A9}"/>
                </a:ext>
              </a:extLst>
            </p:cNvPr>
            <p:cNvGrpSpPr/>
            <p:nvPr userDrawn="1"/>
          </p:nvGrpSpPr>
          <p:grpSpPr>
            <a:xfrm>
              <a:off x="-1225469" y="1860637"/>
              <a:ext cx="3835321" cy="547270"/>
              <a:chOff x="-1" y="1860637"/>
              <a:chExt cx="3835321" cy="547270"/>
            </a:xfrm>
          </p:grpSpPr>
          <p:sp>
            <p:nvSpPr>
              <p:cNvPr id="56" name="Oval 55">
                <a:extLst>
                  <a:ext uri="{FF2B5EF4-FFF2-40B4-BE49-F238E27FC236}">
                    <a16:creationId xmlns:a16="http://schemas.microsoft.com/office/drawing/2014/main" id="{98A88CE2-C346-6A1C-2ECA-F96ED3759F52}"/>
                  </a:ext>
                </a:extLst>
              </p:cNvPr>
              <p:cNvSpPr/>
              <p:nvPr/>
            </p:nvSpPr>
            <p:spPr>
              <a:xfrm>
                <a:off x="3518565" y="1860637"/>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7" name="Straight Connector 56">
                <a:extLst>
                  <a:ext uri="{FF2B5EF4-FFF2-40B4-BE49-F238E27FC236}">
                    <a16:creationId xmlns:a16="http://schemas.microsoft.com/office/drawing/2014/main" id="{5A2C42DA-B857-1726-C8D9-FE4710E5AF27}"/>
                  </a:ext>
                </a:extLst>
              </p:cNvPr>
              <p:cNvCxnSpPr/>
              <p:nvPr/>
            </p:nvCxnSpPr>
            <p:spPr>
              <a:xfrm>
                <a:off x="-1" y="2407907"/>
                <a:ext cx="1985654"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022A1339-07A9-9E34-F0B5-0FC956E053B1}"/>
                  </a:ext>
                </a:extLst>
              </p:cNvPr>
              <p:cNvCxnSpPr>
                <a:cxnSpLocks/>
              </p:cNvCxnSpPr>
              <p:nvPr/>
            </p:nvCxnSpPr>
            <p:spPr>
              <a:xfrm flipV="1">
                <a:off x="1974958" y="2019015"/>
                <a:ext cx="463440" cy="388892"/>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39CB6646-AD5A-592F-1BBF-6F86BE47C2E5}"/>
                  </a:ext>
                </a:extLst>
              </p:cNvPr>
              <p:cNvCxnSpPr>
                <a:cxnSpLocks/>
              </p:cNvCxnSpPr>
              <p:nvPr/>
            </p:nvCxnSpPr>
            <p:spPr>
              <a:xfrm>
                <a:off x="2438398" y="2019015"/>
                <a:ext cx="1080167"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D2335E1C-3065-23F6-E27F-3F0198899BD3}"/>
                </a:ext>
              </a:extLst>
            </p:cNvPr>
            <p:cNvGrpSpPr/>
            <p:nvPr userDrawn="1"/>
          </p:nvGrpSpPr>
          <p:grpSpPr>
            <a:xfrm flipV="1">
              <a:off x="-1259888" y="4408929"/>
              <a:ext cx="3835321" cy="547270"/>
              <a:chOff x="-1" y="1860637"/>
              <a:chExt cx="3835321" cy="547270"/>
            </a:xfrm>
          </p:grpSpPr>
          <p:sp>
            <p:nvSpPr>
              <p:cNvPr id="52" name="Oval 51">
                <a:extLst>
                  <a:ext uri="{FF2B5EF4-FFF2-40B4-BE49-F238E27FC236}">
                    <a16:creationId xmlns:a16="http://schemas.microsoft.com/office/drawing/2014/main" id="{0054D5F9-BD76-DFA5-747D-63210423AF11}"/>
                  </a:ext>
                </a:extLst>
              </p:cNvPr>
              <p:cNvSpPr/>
              <p:nvPr/>
            </p:nvSpPr>
            <p:spPr>
              <a:xfrm>
                <a:off x="3518565" y="1860637"/>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3" name="Straight Connector 52">
                <a:extLst>
                  <a:ext uri="{FF2B5EF4-FFF2-40B4-BE49-F238E27FC236}">
                    <a16:creationId xmlns:a16="http://schemas.microsoft.com/office/drawing/2014/main" id="{CCE92875-704E-A1B5-07E6-FAEFE45DBA51}"/>
                  </a:ext>
                </a:extLst>
              </p:cNvPr>
              <p:cNvCxnSpPr/>
              <p:nvPr/>
            </p:nvCxnSpPr>
            <p:spPr>
              <a:xfrm>
                <a:off x="-1" y="2407907"/>
                <a:ext cx="1985654"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465DD13-4162-48B0-8660-1DA77169F84E}"/>
                  </a:ext>
                </a:extLst>
              </p:cNvPr>
              <p:cNvCxnSpPr>
                <a:cxnSpLocks/>
              </p:cNvCxnSpPr>
              <p:nvPr/>
            </p:nvCxnSpPr>
            <p:spPr>
              <a:xfrm flipV="1">
                <a:off x="1974958" y="2019015"/>
                <a:ext cx="463440" cy="388892"/>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85D16174-2600-C069-974A-6FEA86E0360D}"/>
                  </a:ext>
                </a:extLst>
              </p:cNvPr>
              <p:cNvCxnSpPr>
                <a:cxnSpLocks/>
              </p:cNvCxnSpPr>
              <p:nvPr/>
            </p:nvCxnSpPr>
            <p:spPr>
              <a:xfrm>
                <a:off x="2438398" y="2019015"/>
                <a:ext cx="1080167"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273999E9-4737-2309-371C-9E0670D1FA16}"/>
                </a:ext>
              </a:extLst>
            </p:cNvPr>
            <p:cNvGrpSpPr/>
            <p:nvPr userDrawn="1"/>
          </p:nvGrpSpPr>
          <p:grpSpPr>
            <a:xfrm>
              <a:off x="-1252333" y="2715185"/>
              <a:ext cx="2776521" cy="436736"/>
              <a:chOff x="-26865" y="2715185"/>
              <a:chExt cx="2776521" cy="436736"/>
            </a:xfrm>
          </p:grpSpPr>
          <p:cxnSp>
            <p:nvCxnSpPr>
              <p:cNvPr id="48" name="Straight Connector 47">
                <a:extLst>
                  <a:ext uri="{FF2B5EF4-FFF2-40B4-BE49-F238E27FC236}">
                    <a16:creationId xmlns:a16="http://schemas.microsoft.com/office/drawing/2014/main" id="{F8BEE6AC-D79B-8E2A-ABF5-4EEEA5212958}"/>
                  </a:ext>
                </a:extLst>
              </p:cNvPr>
              <p:cNvCxnSpPr/>
              <p:nvPr/>
            </p:nvCxnSpPr>
            <p:spPr>
              <a:xfrm>
                <a:off x="-26865" y="3151921"/>
                <a:ext cx="14027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D71D58E6-0CF0-201A-6AC4-AC76E73B91AC}"/>
                  </a:ext>
                </a:extLst>
              </p:cNvPr>
              <p:cNvCxnSpPr>
                <a:cxnSpLocks/>
              </p:cNvCxnSpPr>
              <p:nvPr/>
            </p:nvCxnSpPr>
            <p:spPr>
              <a:xfrm flipV="1">
                <a:off x="1368303" y="2877197"/>
                <a:ext cx="327387" cy="274724"/>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3F8ECCF-CC37-3AD1-B56C-A8D4EAB0F408}"/>
                  </a:ext>
                </a:extLst>
              </p:cNvPr>
              <p:cNvCxnSpPr>
                <a:cxnSpLocks/>
              </p:cNvCxnSpPr>
              <p:nvPr/>
            </p:nvCxnSpPr>
            <p:spPr>
              <a:xfrm>
                <a:off x="1695690" y="2877197"/>
                <a:ext cx="763061"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51" name="Oval 50">
                <a:extLst>
                  <a:ext uri="{FF2B5EF4-FFF2-40B4-BE49-F238E27FC236}">
                    <a16:creationId xmlns:a16="http://schemas.microsoft.com/office/drawing/2014/main" id="{31674892-B2C7-136E-8594-C11B8E269F87}"/>
                  </a:ext>
                </a:extLst>
              </p:cNvPr>
              <p:cNvSpPr/>
              <p:nvPr/>
            </p:nvSpPr>
            <p:spPr>
              <a:xfrm>
                <a:off x="2432901" y="2715185"/>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3" name="Group 42">
              <a:extLst>
                <a:ext uri="{FF2B5EF4-FFF2-40B4-BE49-F238E27FC236}">
                  <a16:creationId xmlns:a16="http://schemas.microsoft.com/office/drawing/2014/main" id="{831C3464-516C-C4D2-7CEC-A8FAE9B21FCD}"/>
                </a:ext>
              </a:extLst>
            </p:cNvPr>
            <p:cNvGrpSpPr/>
            <p:nvPr userDrawn="1"/>
          </p:nvGrpSpPr>
          <p:grpSpPr>
            <a:xfrm>
              <a:off x="-1225468" y="3843225"/>
              <a:ext cx="2802371" cy="433101"/>
              <a:chOff x="-34420" y="3843718"/>
              <a:chExt cx="2802371" cy="433101"/>
            </a:xfrm>
          </p:grpSpPr>
          <p:cxnSp>
            <p:nvCxnSpPr>
              <p:cNvPr id="44" name="Straight Connector 43">
                <a:extLst>
                  <a:ext uri="{FF2B5EF4-FFF2-40B4-BE49-F238E27FC236}">
                    <a16:creationId xmlns:a16="http://schemas.microsoft.com/office/drawing/2014/main" id="{408CCADE-8B1D-0E30-0A68-1F46B13BC757}"/>
                  </a:ext>
                </a:extLst>
              </p:cNvPr>
              <p:cNvCxnSpPr/>
              <p:nvPr/>
            </p:nvCxnSpPr>
            <p:spPr>
              <a:xfrm flipV="1">
                <a:off x="-34420" y="3843718"/>
                <a:ext cx="14027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F817E267-84D9-FC0C-E5D5-1DD3288DCC70}"/>
                  </a:ext>
                </a:extLst>
              </p:cNvPr>
              <p:cNvCxnSpPr>
                <a:cxnSpLocks/>
              </p:cNvCxnSpPr>
              <p:nvPr/>
            </p:nvCxnSpPr>
            <p:spPr>
              <a:xfrm>
                <a:off x="1360748" y="3843718"/>
                <a:ext cx="327387" cy="274724"/>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CA383401-6B48-1369-8E23-310FBDF1E0DF}"/>
                  </a:ext>
                </a:extLst>
              </p:cNvPr>
              <p:cNvCxnSpPr>
                <a:cxnSpLocks/>
              </p:cNvCxnSpPr>
              <p:nvPr/>
            </p:nvCxnSpPr>
            <p:spPr>
              <a:xfrm flipV="1">
                <a:off x="1688135" y="4118442"/>
                <a:ext cx="763061"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715E2EA8-3EC1-AFA6-AC3A-1F5D01C1902E}"/>
                  </a:ext>
                </a:extLst>
              </p:cNvPr>
              <p:cNvSpPr/>
              <p:nvPr/>
            </p:nvSpPr>
            <p:spPr>
              <a:xfrm>
                <a:off x="2451196" y="3960064"/>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69" name="Oval 68">
            <a:extLst>
              <a:ext uri="{FF2B5EF4-FFF2-40B4-BE49-F238E27FC236}">
                <a16:creationId xmlns:a16="http://schemas.microsoft.com/office/drawing/2014/main" id="{18EDBFE5-F6A7-D377-B524-2A5E293A8580}"/>
              </a:ext>
            </a:extLst>
          </p:cNvPr>
          <p:cNvSpPr/>
          <p:nvPr userDrawn="1"/>
        </p:nvSpPr>
        <p:spPr>
          <a:xfrm>
            <a:off x="11924591" y="6583140"/>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F24298E1-B4F3-31E6-9C4D-5AE100CD89B6}"/>
              </a:ext>
            </a:extLst>
          </p:cNvPr>
          <p:cNvSpPr>
            <a:spLocks noGrp="1"/>
          </p:cNvSpPr>
          <p:nvPr>
            <p:ph type="sldNum" sz="quarter" idx="12"/>
          </p:nvPr>
        </p:nvSpPr>
        <p:spPr>
          <a:xfrm>
            <a:off x="11900400" y="6566400"/>
            <a:ext cx="291600" cy="291600"/>
          </a:xfrm>
        </p:spPr>
        <p:txBody>
          <a:bodyPr/>
          <a:lstStyle>
            <a:lvl1pPr algn="ctr">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sp>
        <p:nvSpPr>
          <p:cNvPr id="70" name="TextBox 69">
            <a:extLst>
              <a:ext uri="{FF2B5EF4-FFF2-40B4-BE49-F238E27FC236}">
                <a16:creationId xmlns:a16="http://schemas.microsoft.com/office/drawing/2014/main" id="{03E32705-3D72-A324-09E4-62DB4F73E8B8}"/>
              </a:ext>
            </a:extLst>
          </p:cNvPr>
          <p:cNvSpPr txBox="1"/>
          <p:nvPr userDrawn="1"/>
        </p:nvSpPr>
        <p:spPr>
          <a:xfrm>
            <a:off x="4702630" y="640081"/>
            <a:ext cx="3028822" cy="646331"/>
          </a:xfrm>
          <a:prstGeom prst="rect">
            <a:avLst/>
          </a:prstGeom>
          <a:gradFill>
            <a:gsLst>
              <a:gs pos="0">
                <a:srgbClr val="0072FF"/>
              </a:gs>
              <a:gs pos="100000">
                <a:srgbClr val="00C6FF"/>
              </a:gs>
            </a:gsLst>
            <a:path path="shape">
              <a:fillToRect l="50000" t="50000" r="50000" b="50000"/>
            </a:path>
          </a:gradFill>
        </p:spPr>
        <p:txBody>
          <a:bodyPr wrap="square" rtlCol="0" anchor="ctr">
            <a:spAutoFit/>
          </a:bodyPr>
          <a:lstStyle/>
          <a:p>
            <a:pPr algn="ctr"/>
            <a:r>
              <a:rPr lang="en-VN" sz="3600" b="1" dirty="0">
                <a:solidFill>
                  <a:schemeClr val="bg1"/>
                </a:solidFill>
                <a:latin typeface="Times New Roman" panose="02020603050405020304" pitchFamily="18" charset="0"/>
                <a:cs typeface="Times New Roman" panose="02020603050405020304" pitchFamily="18" charset="0"/>
              </a:rPr>
              <a:t>NỘI DUNG</a:t>
            </a:r>
          </a:p>
        </p:txBody>
      </p:sp>
      <p:sp>
        <p:nvSpPr>
          <p:cNvPr id="73" name="Text Placeholder 72">
            <a:extLst>
              <a:ext uri="{FF2B5EF4-FFF2-40B4-BE49-F238E27FC236}">
                <a16:creationId xmlns:a16="http://schemas.microsoft.com/office/drawing/2014/main" id="{76C3F59F-1B16-EF53-7B37-4235433DF423}"/>
              </a:ext>
            </a:extLst>
          </p:cNvPr>
          <p:cNvSpPr>
            <a:spLocks noGrp="1"/>
          </p:cNvSpPr>
          <p:nvPr>
            <p:ph type="body" sz="quarter" idx="13" hasCustomPrompt="1"/>
          </p:nvPr>
        </p:nvSpPr>
        <p:spPr>
          <a:xfrm>
            <a:off x="2735144" y="1286346"/>
            <a:ext cx="6721714" cy="4699000"/>
          </a:xfrm>
        </p:spPr>
        <p:txBody>
          <a:bodyPr anchor="ctr">
            <a:normAutofit/>
          </a:bodyPr>
          <a:lstStyle>
            <a:lvl1pPr marL="514350" indent="-514350" algn="just">
              <a:buFont typeface="+mj-lt"/>
              <a:buAutoNum type="arabicPeriod"/>
              <a:defRPr sz="2200">
                <a:latin typeface="Arial" panose="020B0604020202020204" pitchFamily="34" charset="0"/>
                <a:cs typeface="Arial" panose="020B0604020202020204" pitchFamily="34" charset="0"/>
              </a:defRPr>
            </a:lvl1pPr>
            <a:lvl2pPr marL="914400" indent="-457200" algn="ctr">
              <a:buFont typeface="+mj-lt"/>
              <a:buAutoNum type="arabicPeriod"/>
              <a:defRPr>
                <a:latin typeface="Arial" panose="020B0604020202020204" pitchFamily="34" charset="0"/>
                <a:cs typeface="Arial" panose="020B0604020202020204" pitchFamily="34" charset="0"/>
              </a:defRPr>
            </a:lvl2pPr>
            <a:lvl3pPr marL="1371600" indent="-457200" algn="ctr">
              <a:buFont typeface="+mj-lt"/>
              <a:buAutoNum type="arabicPeriod"/>
              <a:defRPr>
                <a:latin typeface="Arial" panose="020B0604020202020204" pitchFamily="34" charset="0"/>
                <a:cs typeface="Arial" panose="020B0604020202020204" pitchFamily="34" charset="0"/>
              </a:defRPr>
            </a:lvl3pPr>
            <a:lvl4pPr marL="1714500" indent="-342900" algn="ctr">
              <a:buFont typeface="+mj-lt"/>
              <a:buAutoNum type="arabicPeriod"/>
              <a:defRPr>
                <a:latin typeface="Arial" panose="020B0604020202020204" pitchFamily="34" charset="0"/>
                <a:cs typeface="Arial" panose="020B0604020202020204" pitchFamily="34" charset="0"/>
              </a:defRPr>
            </a:lvl4pPr>
            <a:lvl5pPr marL="2171700" indent="-342900" algn="ctr">
              <a:buFont typeface="+mj-lt"/>
              <a:buAutoNum type="arabicPeriod"/>
              <a:defRPr>
                <a:latin typeface="Arial" panose="020B0604020202020204" pitchFamily="34" charset="0"/>
                <a:cs typeface="Arial" panose="020B0604020202020204" pitchFamily="34" charset="0"/>
              </a:defRPr>
            </a:lvl5pPr>
          </a:lstStyle>
          <a:p>
            <a:pPr lvl="0"/>
            <a:r>
              <a:rPr lang="en-US" dirty="0" err="1"/>
              <a:t>Mục</a:t>
            </a:r>
            <a:r>
              <a:rPr lang="en-US" dirty="0"/>
              <a:t> 1</a:t>
            </a:r>
          </a:p>
          <a:p>
            <a:pPr lvl="0"/>
            <a:r>
              <a:rPr lang="en-US" dirty="0" err="1"/>
              <a:t>Mục</a:t>
            </a:r>
            <a:r>
              <a:rPr lang="en-US" dirty="0"/>
              <a:t> 2</a:t>
            </a:r>
          </a:p>
          <a:p>
            <a:pPr lvl="0"/>
            <a:r>
              <a:rPr lang="en-US" dirty="0" err="1"/>
              <a:t>Mục</a:t>
            </a:r>
            <a:r>
              <a:rPr lang="en-US" dirty="0"/>
              <a:t> 3</a:t>
            </a:r>
          </a:p>
          <a:p>
            <a:pPr lvl="0"/>
            <a:r>
              <a:rPr lang="en-US" dirty="0" err="1"/>
              <a:t>Mục</a:t>
            </a:r>
            <a:r>
              <a:rPr lang="en-US" dirty="0"/>
              <a:t> 4</a:t>
            </a:r>
          </a:p>
          <a:p>
            <a:pPr lvl="0"/>
            <a:r>
              <a:rPr lang="en-US" dirty="0" err="1"/>
              <a:t>Mục</a:t>
            </a:r>
            <a:r>
              <a:rPr lang="en-US" dirty="0"/>
              <a:t> 5</a:t>
            </a:r>
          </a:p>
        </p:txBody>
      </p:sp>
      <p:sp>
        <p:nvSpPr>
          <p:cNvPr id="75" name="Isosceles Triangle 12">
            <a:extLst>
              <a:ext uri="{FF2B5EF4-FFF2-40B4-BE49-F238E27FC236}">
                <a16:creationId xmlns:a16="http://schemas.microsoft.com/office/drawing/2014/main" id="{A388E1C1-619D-B3DE-405E-FEBD285E8A4D}"/>
              </a:ext>
            </a:extLst>
          </p:cNvPr>
          <p:cNvSpPr/>
          <p:nvPr userDrawn="1"/>
        </p:nvSpPr>
        <p:spPr>
          <a:xfrm rot="10800000">
            <a:off x="0" y="0"/>
            <a:ext cx="715617" cy="616911"/>
          </a:xfrm>
          <a:prstGeom prst="triangle">
            <a:avLst>
              <a:gd name="adj" fmla="val 100000"/>
            </a:avLst>
          </a:prstGeom>
          <a:solidFill>
            <a:srgbClr val="007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6" name="Group 75">
            <a:extLst>
              <a:ext uri="{FF2B5EF4-FFF2-40B4-BE49-F238E27FC236}">
                <a16:creationId xmlns:a16="http://schemas.microsoft.com/office/drawing/2014/main" id="{7C853EEA-59DB-F0D6-265D-88168C2394BB}"/>
              </a:ext>
            </a:extLst>
          </p:cNvPr>
          <p:cNvGrpSpPr/>
          <p:nvPr userDrawn="1"/>
        </p:nvGrpSpPr>
        <p:grpSpPr>
          <a:xfrm>
            <a:off x="58527" y="40944"/>
            <a:ext cx="2869771" cy="886519"/>
            <a:chOff x="44879" y="27296"/>
            <a:chExt cx="2869771" cy="886519"/>
          </a:xfrm>
          <a:solidFill>
            <a:srgbClr val="0072FF"/>
          </a:solidFill>
        </p:grpSpPr>
        <p:cxnSp>
          <p:nvCxnSpPr>
            <p:cNvPr id="77" name="Straight Connector 76">
              <a:extLst>
                <a:ext uri="{FF2B5EF4-FFF2-40B4-BE49-F238E27FC236}">
                  <a16:creationId xmlns:a16="http://schemas.microsoft.com/office/drawing/2014/main" id="{F437A5D6-1DC7-D389-82D2-23162AC05FBF}"/>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896068C2-8F0E-EB5D-CA9A-7015104FFBD1}"/>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C8D9F136-81C9-C695-8C54-BACD26A69D63}"/>
                </a:ext>
              </a:extLst>
            </p:cNvPr>
            <p:cNvCxnSpPr>
              <a:cxnSpLocks/>
            </p:cNvCxnSpPr>
            <p:nvPr/>
          </p:nvCxnSpPr>
          <p:spPr>
            <a:xfrm flipV="1">
              <a:off x="52214" y="654128"/>
              <a:ext cx="0" cy="25968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pic>
        <p:nvPicPr>
          <p:cNvPr id="86" name="Picture 85" descr="A picture containing clipart, vector graphics&#10;&#10;Description automatically generated">
            <a:extLst>
              <a:ext uri="{FF2B5EF4-FFF2-40B4-BE49-F238E27FC236}">
                <a16:creationId xmlns:a16="http://schemas.microsoft.com/office/drawing/2014/main" id="{59A81B3C-3C09-2267-567B-AD3F47296CD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12638" y="362637"/>
            <a:ext cx="544288" cy="450213"/>
          </a:xfrm>
          <a:prstGeom prst="rect">
            <a:avLst/>
          </a:prstGeom>
        </p:spPr>
      </p:pic>
      <p:sp>
        <p:nvSpPr>
          <p:cNvPr id="2" name="Date Placeholder 1">
            <a:extLst>
              <a:ext uri="{FF2B5EF4-FFF2-40B4-BE49-F238E27FC236}">
                <a16:creationId xmlns:a16="http://schemas.microsoft.com/office/drawing/2014/main" id="{D1B4C13D-5A18-5AEA-36B7-4E32F182BE34}"/>
              </a:ext>
            </a:extLst>
          </p:cNvPr>
          <p:cNvSpPr>
            <a:spLocks noGrp="1"/>
          </p:cNvSpPr>
          <p:nvPr>
            <p:ph type="dt" sz="half" idx="14"/>
          </p:nvPr>
        </p:nvSpPr>
        <p:spPr>
          <a:xfrm>
            <a:off x="796022" y="6454635"/>
            <a:ext cx="2132276" cy="266840"/>
          </a:xfrm>
        </p:spPr>
        <p:txBody>
          <a:bodyPr/>
          <a:lstStyle>
            <a:lvl1pPr>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pPr/>
              <a:t>October 10, 2024</a:t>
            </a:fld>
            <a:endParaRPr lang="en-US" dirty="0"/>
          </a:p>
        </p:txBody>
      </p:sp>
    </p:spTree>
    <p:extLst>
      <p:ext uri="{BB962C8B-B14F-4D97-AF65-F5344CB8AC3E}">
        <p14:creationId xmlns:p14="http://schemas.microsoft.com/office/powerpoint/2010/main" val="10274836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êu đề chương">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76021CEA-9826-5DD2-8F9F-FCB0E58DFFA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 y="-1"/>
            <a:ext cx="12192001" cy="6854889"/>
          </a:xfrm>
          <a:prstGeom prst="rect">
            <a:avLst/>
          </a:prstGeom>
        </p:spPr>
      </p:pic>
      <p:sp>
        <p:nvSpPr>
          <p:cNvPr id="7" name="Rectangle 6">
            <a:extLst>
              <a:ext uri="{FF2B5EF4-FFF2-40B4-BE49-F238E27FC236}">
                <a16:creationId xmlns:a16="http://schemas.microsoft.com/office/drawing/2014/main" id="{70A8EA08-4ACD-C298-69F2-2D88060DD062}"/>
              </a:ext>
            </a:extLst>
          </p:cNvPr>
          <p:cNvSpPr/>
          <p:nvPr userDrawn="1"/>
        </p:nvSpPr>
        <p:spPr>
          <a:xfrm>
            <a:off x="0" y="0"/>
            <a:ext cx="12192000" cy="6858000"/>
          </a:xfrm>
          <a:prstGeom prst="rect">
            <a:avLst/>
          </a:prstGeom>
          <a:gradFill flip="none" rotWithShape="1">
            <a:gsLst>
              <a:gs pos="0">
                <a:srgbClr val="0A4671">
                  <a:alpha val="75000"/>
                </a:srgbClr>
              </a:gs>
              <a:gs pos="100000">
                <a:srgbClr val="0A4671"/>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8" name="Rectangle 7">
            <a:extLst>
              <a:ext uri="{FF2B5EF4-FFF2-40B4-BE49-F238E27FC236}">
                <a16:creationId xmlns:a16="http://schemas.microsoft.com/office/drawing/2014/main" id="{050A66F8-E091-9C03-CD6B-317D0180ADDD}"/>
              </a:ext>
            </a:extLst>
          </p:cNvPr>
          <p:cNvSpPr/>
          <p:nvPr userDrawn="1"/>
        </p:nvSpPr>
        <p:spPr>
          <a:xfrm>
            <a:off x="16026" y="4629289"/>
            <a:ext cx="434350" cy="346950"/>
          </a:xfrm>
          <a:prstGeom prst="rect">
            <a:avLst/>
          </a:prstGeom>
          <a:solidFill>
            <a:srgbClr val="00F7FF"/>
          </a:solid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6A5F01B-1418-7515-A2D9-40BE42BE32BD}"/>
              </a:ext>
            </a:extLst>
          </p:cNvPr>
          <p:cNvSpPr/>
          <p:nvPr userDrawn="1"/>
        </p:nvSpPr>
        <p:spPr>
          <a:xfrm>
            <a:off x="16026" y="5005641"/>
            <a:ext cx="434350" cy="346950"/>
          </a:xfrm>
          <a:prstGeom prst="rect">
            <a:avLst/>
          </a:prstGeom>
          <a:solidFill>
            <a:srgbClr val="00F7FF"/>
          </a:solid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EA161D7-9C70-83EF-EE51-E59464E9FF79}"/>
              </a:ext>
            </a:extLst>
          </p:cNvPr>
          <p:cNvSpPr/>
          <p:nvPr userDrawn="1"/>
        </p:nvSpPr>
        <p:spPr>
          <a:xfrm>
            <a:off x="16026" y="5381993"/>
            <a:ext cx="434350" cy="346950"/>
          </a:xfrm>
          <a:prstGeom prst="rect">
            <a:avLst/>
          </a:prstGeom>
          <a:solidFill>
            <a:srgbClr val="00F7FF"/>
          </a:solid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794F566-E8F9-197C-FC4C-0E96F2163AA2}"/>
              </a:ext>
            </a:extLst>
          </p:cNvPr>
          <p:cNvSpPr/>
          <p:nvPr userDrawn="1"/>
        </p:nvSpPr>
        <p:spPr>
          <a:xfrm>
            <a:off x="16026" y="5758345"/>
            <a:ext cx="434350" cy="346950"/>
          </a:xfrm>
          <a:prstGeom prst="rect">
            <a:avLst/>
          </a:prstGeom>
          <a:no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E20CF87-B708-06C0-11BA-20052748E49F}"/>
              </a:ext>
            </a:extLst>
          </p:cNvPr>
          <p:cNvSpPr/>
          <p:nvPr userDrawn="1"/>
        </p:nvSpPr>
        <p:spPr>
          <a:xfrm>
            <a:off x="16026" y="6134697"/>
            <a:ext cx="434350" cy="346950"/>
          </a:xfrm>
          <a:prstGeom prst="rect">
            <a:avLst/>
          </a:prstGeom>
          <a:no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2E2ADF-9658-9B1B-7EA8-E37B1FC3CB44}"/>
              </a:ext>
            </a:extLst>
          </p:cNvPr>
          <p:cNvSpPr/>
          <p:nvPr userDrawn="1"/>
        </p:nvSpPr>
        <p:spPr>
          <a:xfrm>
            <a:off x="16026" y="6511050"/>
            <a:ext cx="434350" cy="346950"/>
          </a:xfrm>
          <a:prstGeom prst="rect">
            <a:avLst/>
          </a:prstGeom>
          <a:no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Isosceles Triangle 12">
            <a:extLst>
              <a:ext uri="{FF2B5EF4-FFF2-40B4-BE49-F238E27FC236}">
                <a16:creationId xmlns:a16="http://schemas.microsoft.com/office/drawing/2014/main" id="{A49F0DD3-DC56-8398-42AE-9819F17BDE3D}"/>
              </a:ext>
            </a:extLst>
          </p:cNvPr>
          <p:cNvSpPr/>
          <p:nvPr userDrawn="1"/>
        </p:nvSpPr>
        <p:spPr>
          <a:xfrm rot="10800000">
            <a:off x="0" y="0"/>
            <a:ext cx="715617" cy="616911"/>
          </a:xfrm>
          <a:prstGeom prst="triangle">
            <a:avLst>
              <a:gd name="adj" fmla="val 100000"/>
            </a:avLst>
          </a:prstGeom>
          <a:solidFill>
            <a:srgbClr val="00F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8033CAF6-1926-D8C9-805D-C62294874052}"/>
              </a:ext>
            </a:extLst>
          </p:cNvPr>
          <p:cNvGrpSpPr/>
          <p:nvPr userDrawn="1"/>
        </p:nvGrpSpPr>
        <p:grpSpPr>
          <a:xfrm>
            <a:off x="58527" y="40944"/>
            <a:ext cx="2869771" cy="1563379"/>
            <a:chOff x="44879" y="27296"/>
            <a:chExt cx="2869771" cy="1563379"/>
          </a:xfrm>
          <a:solidFill>
            <a:srgbClr val="0072FF"/>
          </a:solidFill>
        </p:grpSpPr>
        <p:cxnSp>
          <p:nvCxnSpPr>
            <p:cNvPr id="20" name="Straight Connector 19">
              <a:extLst>
                <a:ext uri="{FF2B5EF4-FFF2-40B4-BE49-F238E27FC236}">
                  <a16:creationId xmlns:a16="http://schemas.microsoft.com/office/drawing/2014/main" id="{70625E9E-73EA-1C70-6330-DACC8A9A20A2}"/>
                </a:ext>
              </a:extLst>
            </p:cNvPr>
            <p:cNvCxnSpPr>
              <a:cxnSpLocks/>
            </p:cNvCxnSpPr>
            <p:nvPr/>
          </p:nvCxnSpPr>
          <p:spPr>
            <a:xfrm flipH="1">
              <a:off x="766351" y="34631"/>
              <a:ext cx="2148299" cy="0"/>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225C7FE-6858-40F1-0A49-2AD56C0D4925}"/>
                </a:ext>
              </a:extLst>
            </p:cNvPr>
            <p:cNvCxnSpPr>
              <a:cxnSpLocks/>
            </p:cNvCxnSpPr>
            <p:nvPr/>
          </p:nvCxnSpPr>
          <p:spPr>
            <a:xfrm flipH="1">
              <a:off x="44879" y="27296"/>
              <a:ext cx="737495" cy="644210"/>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8FBED07-28E7-32D7-F629-E50519173585}"/>
                </a:ext>
              </a:extLst>
            </p:cNvPr>
            <p:cNvCxnSpPr>
              <a:cxnSpLocks/>
            </p:cNvCxnSpPr>
            <p:nvPr/>
          </p:nvCxnSpPr>
          <p:spPr>
            <a:xfrm flipV="1">
              <a:off x="52214" y="654128"/>
              <a:ext cx="0" cy="936547"/>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grpSp>
      <p:sp>
        <p:nvSpPr>
          <p:cNvPr id="23" name="Isosceles Triangle 12">
            <a:extLst>
              <a:ext uri="{FF2B5EF4-FFF2-40B4-BE49-F238E27FC236}">
                <a16:creationId xmlns:a16="http://schemas.microsoft.com/office/drawing/2014/main" id="{5DB9FA21-5387-C238-85F9-516A2379F6C0}"/>
              </a:ext>
            </a:extLst>
          </p:cNvPr>
          <p:cNvSpPr/>
          <p:nvPr userDrawn="1"/>
        </p:nvSpPr>
        <p:spPr>
          <a:xfrm rot="10800000" flipH="1" flipV="1">
            <a:off x="11476383" y="6241089"/>
            <a:ext cx="715617" cy="616911"/>
          </a:xfrm>
          <a:prstGeom prst="triangle">
            <a:avLst>
              <a:gd name="adj" fmla="val 100000"/>
            </a:avLst>
          </a:prstGeom>
          <a:solidFill>
            <a:srgbClr val="00F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DFCC0B98-57DA-D911-8CE1-C15A09E2C7EC}"/>
              </a:ext>
            </a:extLst>
          </p:cNvPr>
          <p:cNvGrpSpPr/>
          <p:nvPr userDrawn="1"/>
        </p:nvGrpSpPr>
        <p:grpSpPr>
          <a:xfrm flipH="1" flipV="1">
            <a:off x="9263702" y="5253677"/>
            <a:ext cx="2869771" cy="1563379"/>
            <a:chOff x="44879" y="27296"/>
            <a:chExt cx="2869771" cy="1563379"/>
          </a:xfrm>
          <a:solidFill>
            <a:srgbClr val="0072FF"/>
          </a:solidFill>
        </p:grpSpPr>
        <p:cxnSp>
          <p:nvCxnSpPr>
            <p:cNvPr id="25" name="Straight Connector 24">
              <a:extLst>
                <a:ext uri="{FF2B5EF4-FFF2-40B4-BE49-F238E27FC236}">
                  <a16:creationId xmlns:a16="http://schemas.microsoft.com/office/drawing/2014/main" id="{8B160133-C90F-5924-8C1C-D5FAECA895FD}"/>
                </a:ext>
              </a:extLst>
            </p:cNvPr>
            <p:cNvCxnSpPr>
              <a:cxnSpLocks/>
            </p:cNvCxnSpPr>
            <p:nvPr/>
          </p:nvCxnSpPr>
          <p:spPr>
            <a:xfrm flipH="1">
              <a:off x="766351" y="34631"/>
              <a:ext cx="2148299" cy="0"/>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C5892685-43A4-5ED1-12EC-FAE1547CC149}"/>
                </a:ext>
              </a:extLst>
            </p:cNvPr>
            <p:cNvCxnSpPr>
              <a:cxnSpLocks/>
            </p:cNvCxnSpPr>
            <p:nvPr/>
          </p:nvCxnSpPr>
          <p:spPr>
            <a:xfrm flipH="1">
              <a:off x="44879" y="27296"/>
              <a:ext cx="737495" cy="644210"/>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92B5B59-89DB-8D47-B8D4-6475631C5C47}"/>
                </a:ext>
              </a:extLst>
            </p:cNvPr>
            <p:cNvCxnSpPr>
              <a:cxnSpLocks/>
            </p:cNvCxnSpPr>
            <p:nvPr/>
          </p:nvCxnSpPr>
          <p:spPr>
            <a:xfrm flipV="1">
              <a:off x="52214" y="654128"/>
              <a:ext cx="0" cy="936547"/>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grpSp>
      <p:sp>
        <p:nvSpPr>
          <p:cNvPr id="29" name="Oval 28">
            <a:extLst>
              <a:ext uri="{FF2B5EF4-FFF2-40B4-BE49-F238E27FC236}">
                <a16:creationId xmlns:a16="http://schemas.microsoft.com/office/drawing/2014/main" id="{D48BE0DC-C12B-7B32-5521-E1BCC5CB89B7}"/>
              </a:ext>
            </a:extLst>
          </p:cNvPr>
          <p:cNvSpPr/>
          <p:nvPr/>
        </p:nvSpPr>
        <p:spPr>
          <a:xfrm>
            <a:off x="11928738" y="6583150"/>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31" name="Freeform 30">
            <a:extLst>
              <a:ext uri="{FF2B5EF4-FFF2-40B4-BE49-F238E27FC236}">
                <a16:creationId xmlns:a16="http://schemas.microsoft.com/office/drawing/2014/main" id="{F5D728B6-8658-2A5A-4406-097B8D68238B}"/>
              </a:ext>
            </a:extLst>
          </p:cNvPr>
          <p:cNvSpPr/>
          <p:nvPr userDrawn="1"/>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chemeClr val="bg1"/>
          </a:solidFill>
          <a:ln w="2090" cap="flat">
            <a:noFill/>
            <a:prstDash val="solid"/>
            <a:miter/>
          </a:ln>
        </p:spPr>
        <p:txBody>
          <a:bodyPr rtlCol="0" anchor="ctr"/>
          <a:lstStyle/>
          <a:p>
            <a:endParaRPr lang="en-VN"/>
          </a:p>
        </p:txBody>
      </p:sp>
      <p:sp>
        <p:nvSpPr>
          <p:cNvPr id="5" name="Slide Number Placeholder 4">
            <a:extLst>
              <a:ext uri="{FF2B5EF4-FFF2-40B4-BE49-F238E27FC236}">
                <a16:creationId xmlns:a16="http://schemas.microsoft.com/office/drawing/2014/main" id="{BB42E132-2B15-1D22-000B-D9DC548D1B2D}"/>
              </a:ext>
            </a:extLst>
          </p:cNvPr>
          <p:cNvSpPr>
            <a:spLocks noGrp="1"/>
          </p:cNvSpPr>
          <p:nvPr userDrawn="1">
            <p:ph type="sldNum" sz="quarter" idx="12"/>
          </p:nvPr>
        </p:nvSpPr>
        <p:spPr>
          <a:xfrm>
            <a:off x="11899392" y="6542216"/>
            <a:ext cx="292608" cy="315784"/>
          </a:xfrm>
        </p:spPr>
        <p:txBody>
          <a:bodyPr/>
          <a:lstStyle>
            <a:lvl1pPr marL="0" algn="ctr" defTabSz="914400" rtl="0" eaLnBrk="1" latinLnBrk="0" hangingPunct="1">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sp>
        <p:nvSpPr>
          <p:cNvPr id="33" name="Text Placeholder 32">
            <a:extLst>
              <a:ext uri="{FF2B5EF4-FFF2-40B4-BE49-F238E27FC236}">
                <a16:creationId xmlns:a16="http://schemas.microsoft.com/office/drawing/2014/main" id="{16FB8E2A-4378-29FE-41E3-42BAD72ADA63}"/>
              </a:ext>
            </a:extLst>
          </p:cNvPr>
          <p:cNvSpPr>
            <a:spLocks noGrp="1"/>
          </p:cNvSpPr>
          <p:nvPr userDrawn="1">
            <p:ph type="body" sz="quarter" idx="13" hasCustomPrompt="1"/>
          </p:nvPr>
        </p:nvSpPr>
        <p:spPr>
          <a:xfrm>
            <a:off x="1470930" y="2095027"/>
            <a:ext cx="6264164" cy="884656"/>
          </a:xfrm>
        </p:spPr>
        <p:txBody>
          <a:bodyPr anchor="ctr">
            <a:normAutofit/>
          </a:bodyPr>
          <a:lstStyle>
            <a:lvl1pPr marL="0" indent="0" algn="l" defTabSz="914400" rtl="0" eaLnBrk="1" latinLnBrk="0" hangingPunct="1">
              <a:buNone/>
              <a:defRPr lang="en-VN" sz="4400" b="1" kern="1200" spc="100" dirty="0">
                <a:solidFill>
                  <a:srgbClr val="00F7FF"/>
                </a:solidFill>
                <a:effectLst>
                  <a:innerShdw blurRad="114300">
                    <a:srgbClr val="0072FF"/>
                  </a:innerShdw>
                </a:effectLst>
                <a:latin typeface="Arial" panose="020B0604020202020204" pitchFamily="34" charset="0"/>
                <a:ea typeface="+mn-ea"/>
                <a:cs typeface="Arial" panose="020B0604020202020204" pitchFamily="34" charset="0"/>
              </a:defRPr>
            </a:lvl1pPr>
          </a:lstStyle>
          <a:p>
            <a:pPr lvl="0"/>
            <a:r>
              <a:rPr lang="en-VN" dirty="0"/>
              <a:t>TÊN MỤC</a:t>
            </a:r>
          </a:p>
        </p:txBody>
      </p:sp>
      <p:sp>
        <p:nvSpPr>
          <p:cNvPr id="35" name="Text Placeholder 34">
            <a:extLst>
              <a:ext uri="{FF2B5EF4-FFF2-40B4-BE49-F238E27FC236}">
                <a16:creationId xmlns:a16="http://schemas.microsoft.com/office/drawing/2014/main" id="{5224296A-39BF-05BD-6DFB-8046C021F7C6}"/>
              </a:ext>
            </a:extLst>
          </p:cNvPr>
          <p:cNvSpPr>
            <a:spLocks noGrp="1"/>
          </p:cNvSpPr>
          <p:nvPr userDrawn="1">
            <p:ph type="body" sz="quarter" idx="14" hasCustomPrompt="1"/>
          </p:nvPr>
        </p:nvSpPr>
        <p:spPr>
          <a:xfrm>
            <a:off x="1470930" y="3169159"/>
            <a:ext cx="8913813" cy="695175"/>
          </a:xfrm>
        </p:spPr>
        <p:txBody>
          <a:bodyPr anchor="ctr">
            <a:normAutofit/>
          </a:bodyPr>
          <a:lstStyle>
            <a:lvl1pPr marL="0" indent="0" algn="l" defTabSz="914400" rtl="0" eaLnBrk="1" latinLnBrk="0" hangingPunct="1">
              <a:buNone/>
              <a:defRPr lang="en-VN" sz="2800" b="1" kern="1200" spc="100" dirty="0">
                <a:solidFill>
                  <a:schemeClr val="bg1"/>
                </a:solidFill>
                <a:latin typeface="Times New Roman" panose="02020603050405020304" pitchFamily="18" charset="0"/>
                <a:ea typeface="+mn-ea"/>
                <a:cs typeface="Times New Roman" panose="02020603050405020304" pitchFamily="18" charset="0"/>
              </a:defRPr>
            </a:lvl1pPr>
          </a:lstStyle>
          <a:p>
            <a:pPr lvl="0"/>
            <a:r>
              <a:rPr lang="en-VN" dirty="0"/>
              <a:t>1.x. TÊN MỤC CON (NẾU CÓ)</a:t>
            </a:r>
          </a:p>
        </p:txBody>
      </p:sp>
      <p:sp>
        <p:nvSpPr>
          <p:cNvPr id="37" name="Text Placeholder 36">
            <a:extLst>
              <a:ext uri="{FF2B5EF4-FFF2-40B4-BE49-F238E27FC236}">
                <a16:creationId xmlns:a16="http://schemas.microsoft.com/office/drawing/2014/main" id="{BE1131F0-02AD-0F75-0384-22C665D9450D}"/>
              </a:ext>
            </a:extLst>
          </p:cNvPr>
          <p:cNvSpPr>
            <a:spLocks noGrp="1"/>
          </p:cNvSpPr>
          <p:nvPr userDrawn="1">
            <p:ph type="body" sz="quarter" idx="15" hasCustomPrompt="1"/>
          </p:nvPr>
        </p:nvSpPr>
        <p:spPr>
          <a:xfrm>
            <a:off x="1470930" y="4137397"/>
            <a:ext cx="7147030" cy="916698"/>
          </a:xfrm>
        </p:spPr>
        <p:txBody>
          <a:bodyPr anchor="ctr">
            <a:normAutofit/>
          </a:bodyPr>
          <a:lstStyle>
            <a:lvl1pPr marL="0" indent="0" algn="l" defTabSz="914400" rtl="0" eaLnBrk="1" latinLnBrk="0" hangingPunct="1">
              <a:lnSpc>
                <a:spcPct val="150000"/>
              </a:lnSpc>
              <a:buNone/>
              <a:defRPr lang="en-US" sz="1000" kern="1200" spc="100" dirty="0" smtClean="0">
                <a:solidFill>
                  <a:schemeClr val="bg1">
                    <a:lumMod val="95000"/>
                  </a:schemeClr>
                </a:solidFill>
                <a:latin typeface="Times New Roman" panose="02020603050405020304" pitchFamily="18" charset="0"/>
                <a:ea typeface="+mn-ea"/>
                <a:cs typeface="Times New Roman" panose="02020603050405020304" pitchFamily="18" charset="0"/>
              </a:defRPr>
            </a:lvl1pPr>
          </a:lstStyle>
          <a:p>
            <a:pPr lvl="0"/>
            <a:r>
              <a:rPr lang="en-VN" dirty="0"/>
              <a:t>(Tóm tắt mục nếu có) </a:t>
            </a:r>
            <a:r>
              <a:rPr lang="en-US" dirty="0"/>
              <a:t>Lorem ipsum dolor sit amet, consectetuer adipiscing elit. Maecenas porttitor congue massa. Fusce posuere, magna sed pulvinar ultricies, purus lectus malesuada libero, sit amet commodo magna eros quis </a:t>
            </a:r>
            <a:r>
              <a:rPr lang="en-US" dirty="0" err="1"/>
              <a:t>urna</a:t>
            </a:r>
            <a:r>
              <a:rPr lang="en-US" dirty="0"/>
              <a:t>.</a:t>
            </a:r>
          </a:p>
        </p:txBody>
      </p:sp>
      <p:sp>
        <p:nvSpPr>
          <p:cNvPr id="39" name="Text Placeholder 38">
            <a:extLst>
              <a:ext uri="{FF2B5EF4-FFF2-40B4-BE49-F238E27FC236}">
                <a16:creationId xmlns:a16="http://schemas.microsoft.com/office/drawing/2014/main" id="{9E2EB23E-8F15-CEEB-55D8-12309376C6F8}"/>
              </a:ext>
            </a:extLst>
          </p:cNvPr>
          <p:cNvSpPr>
            <a:spLocks noGrp="1"/>
          </p:cNvSpPr>
          <p:nvPr>
            <p:ph type="body" sz="quarter" idx="16" hasCustomPrompt="1"/>
          </p:nvPr>
        </p:nvSpPr>
        <p:spPr>
          <a:xfrm>
            <a:off x="8896576" y="5231902"/>
            <a:ext cx="2521280" cy="1577819"/>
          </a:xfrm>
        </p:spPr>
        <p:txBody>
          <a:bodyPr>
            <a:normAutofit/>
          </a:bodyPr>
          <a:lstStyle>
            <a:lvl1pPr marL="0" indent="0" algn="r" defTabSz="914400" rtl="0" eaLnBrk="1" latinLnBrk="0" hangingPunct="1">
              <a:buNone/>
              <a:defRPr lang="en-VN" sz="12000" b="1" kern="1200" spc="100" dirty="0">
                <a:solidFill>
                  <a:srgbClr val="00F7FF"/>
                </a:solidFill>
                <a:effectLst>
                  <a:innerShdw blurRad="114300">
                    <a:srgbClr val="0072FF"/>
                  </a:innerShdw>
                </a:effectLst>
                <a:latin typeface="Arial" panose="020B0604020202020204" pitchFamily="34" charset="0"/>
                <a:ea typeface="+mn-ea"/>
                <a:cs typeface="Arial" panose="020B0604020202020204" pitchFamily="34" charset="0"/>
              </a:defRPr>
            </a:lvl1pPr>
          </a:lstStyle>
          <a:p>
            <a:pPr lvl="0"/>
            <a:r>
              <a:rPr lang="en-VN" dirty="0"/>
              <a:t>01.</a:t>
            </a:r>
          </a:p>
        </p:txBody>
      </p:sp>
      <p:cxnSp>
        <p:nvCxnSpPr>
          <p:cNvPr id="41" name="Straight Connector 40">
            <a:extLst>
              <a:ext uri="{FF2B5EF4-FFF2-40B4-BE49-F238E27FC236}">
                <a16:creationId xmlns:a16="http://schemas.microsoft.com/office/drawing/2014/main" id="{88382EF5-131E-F7DD-C939-044C31C113C7}"/>
              </a:ext>
            </a:extLst>
          </p:cNvPr>
          <p:cNvCxnSpPr/>
          <p:nvPr userDrawn="1"/>
        </p:nvCxnSpPr>
        <p:spPr>
          <a:xfrm>
            <a:off x="1574156" y="2979683"/>
            <a:ext cx="3565003" cy="0"/>
          </a:xfrm>
          <a:prstGeom prst="line">
            <a:avLst/>
          </a:prstGeom>
          <a:ln w="25400" cap="rnd">
            <a:solidFill>
              <a:srgbClr val="00F7FF"/>
            </a:solidFill>
            <a:round/>
          </a:ln>
        </p:spPr>
        <p:style>
          <a:lnRef idx="1">
            <a:schemeClr val="accent1"/>
          </a:lnRef>
          <a:fillRef idx="0">
            <a:schemeClr val="accent1"/>
          </a:fillRef>
          <a:effectRef idx="0">
            <a:schemeClr val="accent1"/>
          </a:effectRef>
          <a:fontRef idx="minor">
            <a:schemeClr val="tx1"/>
          </a:fontRef>
        </p:style>
      </p:cxnSp>
      <p:sp>
        <p:nvSpPr>
          <p:cNvPr id="2" name="Date Placeholder 1">
            <a:extLst>
              <a:ext uri="{FF2B5EF4-FFF2-40B4-BE49-F238E27FC236}">
                <a16:creationId xmlns:a16="http://schemas.microsoft.com/office/drawing/2014/main" id="{91C15ADC-6970-920B-F52B-57201C4697FC}"/>
              </a:ext>
            </a:extLst>
          </p:cNvPr>
          <p:cNvSpPr>
            <a:spLocks noGrp="1"/>
          </p:cNvSpPr>
          <p:nvPr>
            <p:ph type="dt" sz="half" idx="17"/>
          </p:nvPr>
        </p:nvSpPr>
        <p:spPr>
          <a:xfrm>
            <a:off x="838200" y="6481647"/>
            <a:ext cx="2090098" cy="239828"/>
          </a:xfrm>
        </p:spPr>
        <p:txBody>
          <a:bodyPr/>
          <a:lstStyle>
            <a:lvl1pPr marL="0" algn="ctr" defTabSz="914400" rtl="0" eaLnBrk="1" latinLnBrk="0" hangingPunct="1">
              <a:defRPr lang="en-US" sz="1100" kern="1200" smtClean="0">
                <a:solidFill>
                  <a:schemeClr val="bg1">
                    <a:lumMod val="8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pPr/>
              <a:t>October 10, 2024</a:t>
            </a:fld>
            <a:endParaRPr lang="en-US" dirty="0"/>
          </a:p>
        </p:txBody>
      </p:sp>
      <p:sp>
        <p:nvSpPr>
          <p:cNvPr id="3" name="Footer Placeholder 2">
            <a:extLst>
              <a:ext uri="{FF2B5EF4-FFF2-40B4-BE49-F238E27FC236}">
                <a16:creationId xmlns:a16="http://schemas.microsoft.com/office/drawing/2014/main" id="{DDBDDEB0-1D95-2535-D22B-34266EA304CC}"/>
              </a:ext>
            </a:extLst>
          </p:cNvPr>
          <p:cNvSpPr>
            <a:spLocks noGrp="1"/>
          </p:cNvSpPr>
          <p:nvPr>
            <p:ph type="ftr" sz="quarter" idx="18"/>
          </p:nvPr>
        </p:nvSpPr>
        <p:spPr>
          <a:xfrm>
            <a:off x="3677478" y="6481647"/>
            <a:ext cx="4475922" cy="239828"/>
          </a:xfrm>
        </p:spPr>
        <p:txBody>
          <a:bodyPr/>
          <a:lstStyle>
            <a:lvl1pPr marL="0" algn="ctr" defTabSz="914400" rtl="0" eaLnBrk="1" latinLnBrk="0" hangingPunct="1">
              <a:defRPr lang="vi-VN" sz="1100" kern="1200" smtClean="0">
                <a:solidFill>
                  <a:schemeClr val="bg1">
                    <a:lumMod val="85000"/>
                  </a:schemeClr>
                </a:solidFill>
                <a:latin typeface="Arial" panose="020B0604020202020204" pitchFamily="34" charset="0"/>
                <a:ea typeface="+mn-ea"/>
                <a:cs typeface="Arial" panose="020B0604020202020204" pitchFamily="34" charset="0"/>
              </a:defRPr>
            </a:lvl1pPr>
          </a:lstStyle>
          <a:p>
            <a:r>
              <a:rPr lang="vi-VN"/>
              <a:t>Thực hiện bởi Trường Đại học Công nghệ Thông tin, ĐHQG-HCM</a:t>
            </a:r>
            <a:endParaRPr lang="vi-VN" dirty="0"/>
          </a:p>
        </p:txBody>
      </p:sp>
    </p:spTree>
    <p:extLst>
      <p:ext uri="{BB962C8B-B14F-4D97-AF65-F5344CB8AC3E}">
        <p14:creationId xmlns:p14="http://schemas.microsoft.com/office/powerpoint/2010/main" val="17559124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Mẫu nội dung 1">
    <p:spTree>
      <p:nvGrpSpPr>
        <p:cNvPr id="1" name=""/>
        <p:cNvGrpSpPr/>
        <p:nvPr/>
      </p:nvGrpSpPr>
      <p:grpSpPr>
        <a:xfrm>
          <a:off x="0" y="0"/>
          <a:ext cx="0" cy="0"/>
          <a:chOff x="0" y="0"/>
          <a:chExt cx="0" cy="0"/>
        </a:xfrm>
      </p:grpSpPr>
      <p:sp>
        <p:nvSpPr>
          <p:cNvPr id="22" name="Freeform 21">
            <a:extLst>
              <a:ext uri="{FF2B5EF4-FFF2-40B4-BE49-F238E27FC236}">
                <a16:creationId xmlns:a16="http://schemas.microsoft.com/office/drawing/2014/main" id="{D6D55076-2521-0210-0FB5-E329AB53FF7F}"/>
              </a:ext>
            </a:extLst>
          </p:cNvPr>
          <p:cNvSpPr/>
          <p:nvPr userDrawn="1"/>
        </p:nvSpPr>
        <p:spPr>
          <a:xfrm rot="10800000">
            <a:off x="-2" y="0"/>
            <a:ext cx="12192000" cy="6858000"/>
          </a:xfrm>
          <a:custGeom>
            <a:avLst/>
            <a:gdLst>
              <a:gd name="connsiteX0" fmla="*/ 0 w 12192000"/>
              <a:gd name="connsiteY0" fmla="*/ 616911 h 6858000"/>
              <a:gd name="connsiteX1" fmla="*/ 0 w 12192000"/>
              <a:gd name="connsiteY1" fmla="*/ 0 h 6858000"/>
              <a:gd name="connsiteX2" fmla="*/ 715617 w 12192000"/>
              <a:gd name="connsiteY2" fmla="*/ 0 h 6858000"/>
              <a:gd name="connsiteX3" fmla="*/ 12192000 w 12192000"/>
              <a:gd name="connsiteY3" fmla="*/ 6858000 h 6858000"/>
              <a:gd name="connsiteX4" fmla="*/ 11476383 w 12192000"/>
              <a:gd name="connsiteY4" fmla="*/ 6858000 h 6858000"/>
              <a:gd name="connsiteX5" fmla="*/ 12192000 w 12192000"/>
              <a:gd name="connsiteY5" fmla="*/ 624108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616911"/>
                </a:moveTo>
                <a:lnTo>
                  <a:pt x="0" y="0"/>
                </a:lnTo>
                <a:lnTo>
                  <a:pt x="715617" y="0"/>
                </a:lnTo>
                <a:close/>
                <a:moveTo>
                  <a:pt x="12192000" y="6858000"/>
                </a:moveTo>
                <a:lnTo>
                  <a:pt x="11476383" y="6858000"/>
                </a:lnTo>
                <a:lnTo>
                  <a:pt x="12192000" y="6241089"/>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Isosceles Triangle 12">
            <a:extLst>
              <a:ext uri="{FF2B5EF4-FFF2-40B4-BE49-F238E27FC236}">
                <a16:creationId xmlns:a16="http://schemas.microsoft.com/office/drawing/2014/main" id="{C8EDB823-A30A-47C8-25D2-A9B8E2AED349}"/>
              </a:ext>
            </a:extLst>
          </p:cNvPr>
          <p:cNvSpPr/>
          <p:nvPr userDrawn="1"/>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8E509037-4CE1-ED5D-C6FC-8CA081A0A39F}"/>
              </a:ext>
            </a:extLst>
          </p:cNvPr>
          <p:cNvGrpSpPr/>
          <p:nvPr userDrawn="1"/>
        </p:nvGrpSpPr>
        <p:grpSpPr>
          <a:xfrm>
            <a:off x="58527" y="40944"/>
            <a:ext cx="2869771" cy="1563379"/>
            <a:chOff x="44879" y="27296"/>
            <a:chExt cx="2869771" cy="1563379"/>
          </a:xfrm>
          <a:solidFill>
            <a:srgbClr val="0072FF"/>
          </a:solidFill>
        </p:grpSpPr>
        <p:cxnSp>
          <p:nvCxnSpPr>
            <p:cNvPr id="9" name="Straight Connector 8">
              <a:extLst>
                <a:ext uri="{FF2B5EF4-FFF2-40B4-BE49-F238E27FC236}">
                  <a16:creationId xmlns:a16="http://schemas.microsoft.com/office/drawing/2014/main" id="{70B4ADA5-DE61-CAE3-8EC7-FC27E8BC1D55}"/>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E7213C0-7CE0-59BB-B719-DC871B564E8C}"/>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4AE7820-5FA4-F879-12FF-D34B0A957EF6}"/>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2" name="Isosceles Triangle 12">
            <a:extLst>
              <a:ext uri="{FF2B5EF4-FFF2-40B4-BE49-F238E27FC236}">
                <a16:creationId xmlns:a16="http://schemas.microsoft.com/office/drawing/2014/main" id="{17B543D4-758D-BD1C-FCD1-D6196FEF3479}"/>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F00BFBF3-F42E-C38E-AF17-FD619F663C49}"/>
              </a:ext>
            </a:extLst>
          </p:cNvPr>
          <p:cNvGrpSpPr/>
          <p:nvPr userDrawn="1"/>
        </p:nvGrpSpPr>
        <p:grpSpPr>
          <a:xfrm flipH="1" flipV="1">
            <a:off x="9263702" y="5253677"/>
            <a:ext cx="2869771" cy="1563379"/>
            <a:chOff x="44879" y="27296"/>
            <a:chExt cx="2869771" cy="1563379"/>
          </a:xfrm>
          <a:solidFill>
            <a:srgbClr val="0072FF"/>
          </a:solidFill>
        </p:grpSpPr>
        <p:cxnSp>
          <p:nvCxnSpPr>
            <p:cNvPr id="14" name="Straight Connector 13">
              <a:extLst>
                <a:ext uri="{FF2B5EF4-FFF2-40B4-BE49-F238E27FC236}">
                  <a16:creationId xmlns:a16="http://schemas.microsoft.com/office/drawing/2014/main" id="{72E22F67-0343-EE26-97E1-B065633E3FF9}"/>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69246E-D1BA-1A1E-722A-214AD903B192}"/>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5B20816-E2A4-5501-1802-D77B2C234103}"/>
                </a:ext>
              </a:extLst>
            </p:cNvPr>
            <p:cNvCxnSpPr>
              <a:cxnSpLocks/>
            </p:cNvCxnSpPr>
            <p:nvPr/>
          </p:nvCxnSpPr>
          <p:spPr>
            <a:xfrm flipV="1">
              <a:off x="52214" y="654128"/>
              <a:ext cx="0" cy="93654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17" name="Oval 16">
            <a:extLst>
              <a:ext uri="{FF2B5EF4-FFF2-40B4-BE49-F238E27FC236}">
                <a16:creationId xmlns:a16="http://schemas.microsoft.com/office/drawing/2014/main" id="{352054BC-1463-3EF3-7931-D0745EFC8FB2}"/>
              </a:ext>
            </a:extLst>
          </p:cNvPr>
          <p:cNvSpPr/>
          <p:nvPr userDrawn="1"/>
        </p:nvSpPr>
        <p:spPr>
          <a:xfrm>
            <a:off x="11924323" y="6588855"/>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6B7BE735-40A7-63BD-ABCF-0C393CEC8682}"/>
              </a:ext>
            </a:extLst>
          </p:cNvPr>
          <p:cNvSpPr>
            <a:spLocks noGrp="1"/>
          </p:cNvSpPr>
          <p:nvPr>
            <p:ph type="title"/>
          </p:nvPr>
        </p:nvSpPr>
        <p:spPr>
          <a:xfrm>
            <a:off x="1142797" y="150069"/>
            <a:ext cx="10515600" cy="895682"/>
          </a:xfrm>
        </p:spPr>
        <p:txBody>
          <a:bodyPr/>
          <a:lstStyle/>
          <a:p>
            <a:r>
              <a:rPr lang="en-US" dirty="0"/>
              <a:t>Click to edit Master title style</a:t>
            </a:r>
            <a:endParaRPr lang="en-VN" dirty="0"/>
          </a:p>
        </p:txBody>
      </p:sp>
      <p:sp>
        <p:nvSpPr>
          <p:cNvPr id="3" name="Content Placeholder 2">
            <a:extLst>
              <a:ext uri="{FF2B5EF4-FFF2-40B4-BE49-F238E27FC236}">
                <a16:creationId xmlns:a16="http://schemas.microsoft.com/office/drawing/2014/main" id="{1923943F-B5CB-101B-ED28-FD0D9E84E1C1}"/>
              </a:ext>
            </a:extLst>
          </p:cNvPr>
          <p:cNvSpPr>
            <a:spLocks noGrp="1"/>
          </p:cNvSpPr>
          <p:nvPr>
            <p:ph idx="1"/>
          </p:nvPr>
        </p:nvSpPr>
        <p:spPr>
          <a:xfrm>
            <a:off x="1142797" y="1195821"/>
            <a:ext cx="10515600" cy="5160527"/>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VN" dirty="0"/>
          </a:p>
        </p:txBody>
      </p:sp>
      <p:sp>
        <p:nvSpPr>
          <p:cNvPr id="5" name="Footer Placeholder 4">
            <a:extLst>
              <a:ext uri="{FF2B5EF4-FFF2-40B4-BE49-F238E27FC236}">
                <a16:creationId xmlns:a16="http://schemas.microsoft.com/office/drawing/2014/main" id="{A269E902-5084-53A0-D082-6066977D82D2}"/>
              </a:ext>
            </a:extLst>
          </p:cNvPr>
          <p:cNvSpPr>
            <a:spLocks noGrp="1"/>
          </p:cNvSpPr>
          <p:nvPr>
            <p:ph type="ftr" sz="quarter" idx="11"/>
          </p:nvPr>
        </p:nvSpPr>
        <p:spPr>
          <a:xfrm>
            <a:off x="3644348" y="6475620"/>
            <a:ext cx="4903304" cy="263110"/>
          </a:xfrm>
        </p:spPr>
        <p:txBody>
          <a:bodyPr/>
          <a:lstStyle>
            <a:lvl1pPr marL="0" algn="ctr" defTabSz="914400" rtl="0" eaLnBrk="1" latinLnBrk="0" hangingPunct="1">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dirty="0"/>
              <a:t>Thực hiện bởi Trường Đại học Công nghệ Thông tin, ĐHQG-HCM</a:t>
            </a:r>
            <a:endParaRPr lang="en-VN" dirty="0"/>
          </a:p>
        </p:txBody>
      </p:sp>
      <p:sp>
        <p:nvSpPr>
          <p:cNvPr id="6" name="Slide Number Placeholder 5">
            <a:extLst>
              <a:ext uri="{FF2B5EF4-FFF2-40B4-BE49-F238E27FC236}">
                <a16:creationId xmlns:a16="http://schemas.microsoft.com/office/drawing/2014/main" id="{30B647E7-265A-EC77-C304-8D4B5EFE754E}"/>
              </a:ext>
            </a:extLst>
          </p:cNvPr>
          <p:cNvSpPr>
            <a:spLocks noGrp="1"/>
          </p:cNvSpPr>
          <p:nvPr>
            <p:ph type="sldNum" sz="quarter" idx="12"/>
          </p:nvPr>
        </p:nvSpPr>
        <p:spPr>
          <a:xfrm>
            <a:off x="11895481" y="6560013"/>
            <a:ext cx="291600" cy="291600"/>
          </a:xfrm>
        </p:spPr>
        <p:txBody>
          <a:bodyPr/>
          <a:lstStyle>
            <a:lvl1pPr algn="ctr">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sp>
        <p:nvSpPr>
          <p:cNvPr id="23" name="Rectangle 22">
            <a:extLst>
              <a:ext uri="{FF2B5EF4-FFF2-40B4-BE49-F238E27FC236}">
                <a16:creationId xmlns:a16="http://schemas.microsoft.com/office/drawing/2014/main" id="{A13CBF57-2F7D-2F8B-E033-48DD98A5DC35}"/>
              </a:ext>
            </a:extLst>
          </p:cNvPr>
          <p:cNvSpPr/>
          <p:nvPr userDrawn="1"/>
        </p:nvSpPr>
        <p:spPr>
          <a:xfrm>
            <a:off x="16026" y="4629289"/>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CD65719-8246-A233-C1B4-DB819BF7BDF6}"/>
              </a:ext>
            </a:extLst>
          </p:cNvPr>
          <p:cNvSpPr/>
          <p:nvPr userDrawn="1"/>
        </p:nvSpPr>
        <p:spPr>
          <a:xfrm>
            <a:off x="16026" y="5005641"/>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1304AFD-95A6-09D5-127B-FE511B7DAAFF}"/>
              </a:ext>
            </a:extLst>
          </p:cNvPr>
          <p:cNvSpPr/>
          <p:nvPr userDrawn="1"/>
        </p:nvSpPr>
        <p:spPr>
          <a:xfrm>
            <a:off x="16026" y="5381993"/>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790A148C-3EA2-CE72-6D2A-813DD2AE8F6A}"/>
              </a:ext>
            </a:extLst>
          </p:cNvPr>
          <p:cNvSpPr/>
          <p:nvPr userDrawn="1"/>
        </p:nvSpPr>
        <p:spPr>
          <a:xfrm>
            <a:off x="16026" y="5758345"/>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F847E55-C751-3276-D97D-327FE6F09B70}"/>
              </a:ext>
            </a:extLst>
          </p:cNvPr>
          <p:cNvSpPr/>
          <p:nvPr userDrawn="1"/>
        </p:nvSpPr>
        <p:spPr>
          <a:xfrm>
            <a:off x="16026" y="6134697"/>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4BC8C50-583B-E3C0-3421-61D6D2869653}"/>
              </a:ext>
            </a:extLst>
          </p:cNvPr>
          <p:cNvSpPr/>
          <p:nvPr userDrawn="1"/>
        </p:nvSpPr>
        <p:spPr>
          <a:xfrm>
            <a:off x="16026" y="6511050"/>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Picture 28" descr="A picture containing clipart, vector graphics&#10;&#10;Description automatically generated">
            <a:extLst>
              <a:ext uri="{FF2B5EF4-FFF2-40B4-BE49-F238E27FC236}">
                <a16:creationId xmlns:a16="http://schemas.microsoft.com/office/drawing/2014/main" id="{EDF99A97-3339-5B0A-DF0C-FBEE5263900F}"/>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12638" y="362637"/>
            <a:ext cx="544288" cy="450213"/>
          </a:xfrm>
          <a:prstGeom prst="rect">
            <a:avLst/>
          </a:prstGeom>
        </p:spPr>
      </p:pic>
      <p:sp>
        <p:nvSpPr>
          <p:cNvPr id="4" name="Date Placeholder 3">
            <a:extLst>
              <a:ext uri="{FF2B5EF4-FFF2-40B4-BE49-F238E27FC236}">
                <a16:creationId xmlns:a16="http://schemas.microsoft.com/office/drawing/2014/main" id="{85952F19-40DF-B11E-2E00-94556129CFC5}"/>
              </a:ext>
            </a:extLst>
          </p:cNvPr>
          <p:cNvSpPr>
            <a:spLocks noGrp="1"/>
          </p:cNvSpPr>
          <p:nvPr>
            <p:ph type="dt" sz="half" idx="13"/>
          </p:nvPr>
        </p:nvSpPr>
        <p:spPr>
          <a:xfrm>
            <a:off x="838200" y="6458365"/>
            <a:ext cx="2090098" cy="263110"/>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pPr/>
              <a:t>October 10, 2024</a:t>
            </a:fld>
            <a:endParaRPr lang="en-US" dirty="0"/>
          </a:p>
        </p:txBody>
      </p:sp>
    </p:spTree>
    <p:extLst>
      <p:ext uri="{BB962C8B-B14F-4D97-AF65-F5344CB8AC3E}">
        <p14:creationId xmlns:p14="http://schemas.microsoft.com/office/powerpoint/2010/main" val="8646508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Mẫu nội dung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75E2B-3264-B7AA-B33F-4F514D4416A1}"/>
              </a:ext>
            </a:extLst>
          </p:cNvPr>
          <p:cNvSpPr>
            <a:spLocks noGrp="1"/>
          </p:cNvSpPr>
          <p:nvPr>
            <p:ph type="title"/>
          </p:nvPr>
        </p:nvSpPr>
        <p:spPr>
          <a:xfrm>
            <a:off x="838200" y="914804"/>
            <a:ext cx="10515600" cy="978614"/>
          </a:xfrm>
        </p:spPr>
        <p:txBody>
          <a:bodyPr/>
          <a:lstStyle/>
          <a:p>
            <a:r>
              <a:rPr lang="en-US"/>
              <a:t>Click to edit Master title style</a:t>
            </a:r>
            <a:endParaRPr lang="en-VN"/>
          </a:p>
        </p:txBody>
      </p:sp>
      <p:sp>
        <p:nvSpPr>
          <p:cNvPr id="3" name="Content Placeholder 2">
            <a:extLst>
              <a:ext uri="{FF2B5EF4-FFF2-40B4-BE49-F238E27FC236}">
                <a16:creationId xmlns:a16="http://schemas.microsoft.com/office/drawing/2014/main" id="{D663BF43-5431-28A4-4A9C-84A3FDAFF031}"/>
              </a:ext>
            </a:extLst>
          </p:cNvPr>
          <p:cNvSpPr>
            <a:spLocks noGrp="1"/>
          </p:cNvSpPr>
          <p:nvPr>
            <p:ph sz="half" idx="1"/>
          </p:nvPr>
        </p:nvSpPr>
        <p:spPr>
          <a:xfrm>
            <a:off x="838200" y="2028355"/>
            <a:ext cx="5181600" cy="435133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VN" dirty="0"/>
          </a:p>
        </p:txBody>
      </p:sp>
      <p:sp>
        <p:nvSpPr>
          <p:cNvPr id="4" name="Content Placeholder 3">
            <a:extLst>
              <a:ext uri="{FF2B5EF4-FFF2-40B4-BE49-F238E27FC236}">
                <a16:creationId xmlns:a16="http://schemas.microsoft.com/office/drawing/2014/main" id="{14B97936-93F6-FD89-211F-FC49B02B5734}"/>
              </a:ext>
            </a:extLst>
          </p:cNvPr>
          <p:cNvSpPr>
            <a:spLocks noGrp="1"/>
          </p:cNvSpPr>
          <p:nvPr>
            <p:ph sz="half" idx="2"/>
          </p:nvPr>
        </p:nvSpPr>
        <p:spPr>
          <a:xfrm>
            <a:off x="6172200" y="2028355"/>
            <a:ext cx="5181600" cy="435133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6" name="Footer Placeholder 5">
            <a:extLst>
              <a:ext uri="{FF2B5EF4-FFF2-40B4-BE49-F238E27FC236}">
                <a16:creationId xmlns:a16="http://schemas.microsoft.com/office/drawing/2014/main" id="{CECF69EC-AF21-6413-B0C6-09E3D2808EC9}"/>
              </a:ext>
            </a:extLst>
          </p:cNvPr>
          <p:cNvSpPr>
            <a:spLocks noGrp="1"/>
          </p:cNvSpPr>
          <p:nvPr>
            <p:ph type="ftr" sz="quarter" idx="11"/>
          </p:nvPr>
        </p:nvSpPr>
        <p:spPr>
          <a:xfrm>
            <a:off x="3535017" y="6481647"/>
            <a:ext cx="5121966" cy="239828"/>
          </a:xfrm>
        </p:spPr>
        <p:txBody>
          <a:bodyPr/>
          <a:lstStyle>
            <a:lvl1pPr>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dirty="0"/>
              <a:t>Thực hiện bởi Trường Đại học Công nghệ Thông tin, ĐHQG-HCM</a:t>
            </a:r>
            <a:endParaRPr lang="en-VN" dirty="0"/>
          </a:p>
        </p:txBody>
      </p:sp>
      <p:sp>
        <p:nvSpPr>
          <p:cNvPr id="10" name="Freeform 9">
            <a:extLst>
              <a:ext uri="{FF2B5EF4-FFF2-40B4-BE49-F238E27FC236}">
                <a16:creationId xmlns:a16="http://schemas.microsoft.com/office/drawing/2014/main" id="{43873188-0611-6A2D-B3B7-E844F601E758}"/>
              </a:ext>
            </a:extLst>
          </p:cNvPr>
          <p:cNvSpPr/>
          <p:nvPr userDrawn="1"/>
        </p:nvSpPr>
        <p:spPr>
          <a:xfrm rot="10800000">
            <a:off x="-2" y="0"/>
            <a:ext cx="12192000" cy="6858000"/>
          </a:xfrm>
          <a:custGeom>
            <a:avLst/>
            <a:gdLst>
              <a:gd name="connsiteX0" fmla="*/ 0 w 12192000"/>
              <a:gd name="connsiteY0" fmla="*/ 616911 h 6858000"/>
              <a:gd name="connsiteX1" fmla="*/ 0 w 12192000"/>
              <a:gd name="connsiteY1" fmla="*/ 0 h 6858000"/>
              <a:gd name="connsiteX2" fmla="*/ 715617 w 12192000"/>
              <a:gd name="connsiteY2" fmla="*/ 0 h 6858000"/>
              <a:gd name="connsiteX3" fmla="*/ 12192000 w 12192000"/>
              <a:gd name="connsiteY3" fmla="*/ 6858000 h 6858000"/>
              <a:gd name="connsiteX4" fmla="*/ 11476383 w 12192000"/>
              <a:gd name="connsiteY4" fmla="*/ 6858000 h 6858000"/>
              <a:gd name="connsiteX5" fmla="*/ 12192000 w 12192000"/>
              <a:gd name="connsiteY5" fmla="*/ 624108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616911"/>
                </a:moveTo>
                <a:lnTo>
                  <a:pt x="0" y="0"/>
                </a:lnTo>
                <a:lnTo>
                  <a:pt x="715617" y="0"/>
                </a:lnTo>
                <a:close/>
                <a:moveTo>
                  <a:pt x="12192000" y="6858000"/>
                </a:moveTo>
                <a:lnTo>
                  <a:pt x="11476383" y="6858000"/>
                </a:lnTo>
                <a:lnTo>
                  <a:pt x="12192000" y="6241089"/>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Isosceles Triangle 12">
            <a:extLst>
              <a:ext uri="{FF2B5EF4-FFF2-40B4-BE49-F238E27FC236}">
                <a16:creationId xmlns:a16="http://schemas.microsoft.com/office/drawing/2014/main" id="{400BFBC5-D436-63D0-74FC-6A07673AEE42}"/>
              </a:ext>
            </a:extLst>
          </p:cNvPr>
          <p:cNvSpPr/>
          <p:nvPr userDrawn="1"/>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2739C28B-61DE-71CF-E56C-5EDD4BA30029}"/>
              </a:ext>
            </a:extLst>
          </p:cNvPr>
          <p:cNvGrpSpPr/>
          <p:nvPr userDrawn="1"/>
        </p:nvGrpSpPr>
        <p:grpSpPr>
          <a:xfrm>
            <a:off x="58527" y="40944"/>
            <a:ext cx="2869771" cy="1563379"/>
            <a:chOff x="44879" y="27296"/>
            <a:chExt cx="2869771" cy="1563379"/>
          </a:xfrm>
          <a:solidFill>
            <a:srgbClr val="0072FF"/>
          </a:solidFill>
        </p:grpSpPr>
        <p:cxnSp>
          <p:nvCxnSpPr>
            <p:cNvPr id="13" name="Straight Connector 12">
              <a:extLst>
                <a:ext uri="{FF2B5EF4-FFF2-40B4-BE49-F238E27FC236}">
                  <a16:creationId xmlns:a16="http://schemas.microsoft.com/office/drawing/2014/main" id="{258FC900-2C32-ED18-13F9-130B2DF50383}"/>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D4FACA0-AFAE-D152-410A-170D637D3357}"/>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C5F4754-527C-AE63-2C13-4F23BF87556C}"/>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6" name="Isosceles Triangle 12">
            <a:extLst>
              <a:ext uri="{FF2B5EF4-FFF2-40B4-BE49-F238E27FC236}">
                <a16:creationId xmlns:a16="http://schemas.microsoft.com/office/drawing/2014/main" id="{07F91C74-ED4C-0A16-32E0-004F48F54DEB}"/>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FC5ACEEF-4425-1088-FA6F-A273B4DE887C}"/>
              </a:ext>
            </a:extLst>
          </p:cNvPr>
          <p:cNvGrpSpPr/>
          <p:nvPr userDrawn="1"/>
        </p:nvGrpSpPr>
        <p:grpSpPr>
          <a:xfrm flipH="1" flipV="1">
            <a:off x="9263702" y="5253677"/>
            <a:ext cx="2869771" cy="1563379"/>
            <a:chOff x="44879" y="27296"/>
            <a:chExt cx="2869771" cy="1563379"/>
          </a:xfrm>
          <a:solidFill>
            <a:srgbClr val="0072FF"/>
          </a:solidFill>
        </p:grpSpPr>
        <p:cxnSp>
          <p:nvCxnSpPr>
            <p:cNvPr id="18" name="Straight Connector 17">
              <a:extLst>
                <a:ext uri="{FF2B5EF4-FFF2-40B4-BE49-F238E27FC236}">
                  <a16:creationId xmlns:a16="http://schemas.microsoft.com/office/drawing/2014/main" id="{ED3CB0EA-66BA-01B6-70C4-D5330A4D257B}"/>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FE5A466E-AA55-B549-D160-0442C43CF551}"/>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68CFF73-AB26-6C8F-FB32-54601A35ABA4}"/>
                </a:ext>
              </a:extLst>
            </p:cNvPr>
            <p:cNvCxnSpPr>
              <a:cxnSpLocks/>
            </p:cNvCxnSpPr>
            <p:nvPr/>
          </p:nvCxnSpPr>
          <p:spPr>
            <a:xfrm flipV="1">
              <a:off x="52214" y="654128"/>
              <a:ext cx="0" cy="93654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21" name="Oval 20">
            <a:extLst>
              <a:ext uri="{FF2B5EF4-FFF2-40B4-BE49-F238E27FC236}">
                <a16:creationId xmlns:a16="http://schemas.microsoft.com/office/drawing/2014/main" id="{318E1593-E5CD-3AE1-93DE-5F387C82F4F6}"/>
              </a:ext>
            </a:extLst>
          </p:cNvPr>
          <p:cNvSpPr/>
          <p:nvPr userDrawn="1"/>
        </p:nvSpPr>
        <p:spPr>
          <a:xfrm>
            <a:off x="11928288" y="6592262"/>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22" name="Rectangle 21">
            <a:extLst>
              <a:ext uri="{FF2B5EF4-FFF2-40B4-BE49-F238E27FC236}">
                <a16:creationId xmlns:a16="http://schemas.microsoft.com/office/drawing/2014/main" id="{D2C202E4-A0E1-2253-7874-62B7B89FFCA9}"/>
              </a:ext>
            </a:extLst>
          </p:cNvPr>
          <p:cNvSpPr/>
          <p:nvPr userDrawn="1"/>
        </p:nvSpPr>
        <p:spPr>
          <a:xfrm>
            <a:off x="16026" y="4629289"/>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C58EC501-80CF-6C51-5383-56852B541437}"/>
              </a:ext>
            </a:extLst>
          </p:cNvPr>
          <p:cNvSpPr/>
          <p:nvPr userDrawn="1"/>
        </p:nvSpPr>
        <p:spPr>
          <a:xfrm>
            <a:off x="16026" y="5005641"/>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BF5FA64-88FB-ECEF-001B-760404721A90}"/>
              </a:ext>
            </a:extLst>
          </p:cNvPr>
          <p:cNvSpPr/>
          <p:nvPr userDrawn="1"/>
        </p:nvSpPr>
        <p:spPr>
          <a:xfrm>
            <a:off x="16026" y="5381993"/>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9108B137-1E4C-27A2-6C24-2EBFE5E125B6}"/>
              </a:ext>
            </a:extLst>
          </p:cNvPr>
          <p:cNvSpPr/>
          <p:nvPr userDrawn="1"/>
        </p:nvSpPr>
        <p:spPr>
          <a:xfrm>
            <a:off x="16026" y="5758345"/>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F1EE92B3-2829-E731-1ABB-AE81C101058A}"/>
              </a:ext>
            </a:extLst>
          </p:cNvPr>
          <p:cNvSpPr/>
          <p:nvPr userDrawn="1"/>
        </p:nvSpPr>
        <p:spPr>
          <a:xfrm>
            <a:off x="16026" y="6134697"/>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713D946B-F6D0-FA25-B029-CFF45E1960C8}"/>
              </a:ext>
            </a:extLst>
          </p:cNvPr>
          <p:cNvSpPr/>
          <p:nvPr userDrawn="1"/>
        </p:nvSpPr>
        <p:spPr>
          <a:xfrm>
            <a:off x="16026" y="6511050"/>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Picture 27" descr="A picture containing clipart, vector graphics&#10;&#10;Description automatically generated">
            <a:extLst>
              <a:ext uri="{FF2B5EF4-FFF2-40B4-BE49-F238E27FC236}">
                <a16:creationId xmlns:a16="http://schemas.microsoft.com/office/drawing/2014/main" id="{0CAA0DB2-C26C-AB0D-0115-266290CA1090}"/>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12638" y="362637"/>
            <a:ext cx="544288" cy="450213"/>
          </a:xfrm>
          <a:prstGeom prst="rect">
            <a:avLst/>
          </a:prstGeom>
        </p:spPr>
      </p:pic>
      <p:sp>
        <p:nvSpPr>
          <p:cNvPr id="7" name="Slide Number Placeholder 6">
            <a:extLst>
              <a:ext uri="{FF2B5EF4-FFF2-40B4-BE49-F238E27FC236}">
                <a16:creationId xmlns:a16="http://schemas.microsoft.com/office/drawing/2014/main" id="{D11060A1-174E-8F45-E778-6645800D6C72}"/>
              </a:ext>
            </a:extLst>
          </p:cNvPr>
          <p:cNvSpPr>
            <a:spLocks noGrp="1"/>
          </p:cNvSpPr>
          <p:nvPr>
            <p:ph type="sldNum" sz="quarter" idx="12"/>
          </p:nvPr>
        </p:nvSpPr>
        <p:spPr>
          <a:xfrm>
            <a:off x="11899446" y="6563420"/>
            <a:ext cx="291600" cy="291600"/>
          </a:xfrm>
        </p:spPr>
        <p:txBody>
          <a:bodyPr/>
          <a:lstStyle>
            <a:lvl1pPr marL="0" algn="ctr" defTabSz="914400" rtl="0" eaLnBrk="1" latinLnBrk="0" hangingPunct="1">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sp>
        <p:nvSpPr>
          <p:cNvPr id="5" name="Date Placeholder 4">
            <a:extLst>
              <a:ext uri="{FF2B5EF4-FFF2-40B4-BE49-F238E27FC236}">
                <a16:creationId xmlns:a16="http://schemas.microsoft.com/office/drawing/2014/main" id="{D35DB78F-AE91-A123-68A6-7B8F206075C0}"/>
              </a:ext>
            </a:extLst>
          </p:cNvPr>
          <p:cNvSpPr>
            <a:spLocks noGrp="1"/>
          </p:cNvSpPr>
          <p:nvPr>
            <p:ph type="dt" sz="half" idx="13"/>
          </p:nvPr>
        </p:nvSpPr>
        <p:spPr>
          <a:xfrm>
            <a:off x="838200" y="6481647"/>
            <a:ext cx="2090098" cy="239828"/>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pPr/>
              <a:t>October 10, 2024</a:t>
            </a:fld>
            <a:endParaRPr lang="en-US" dirty="0"/>
          </a:p>
        </p:txBody>
      </p:sp>
    </p:spTree>
    <p:extLst>
      <p:ext uri="{BB962C8B-B14F-4D97-AF65-F5344CB8AC3E}">
        <p14:creationId xmlns:p14="http://schemas.microsoft.com/office/powerpoint/2010/main" val="23069757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Mẫu nội dung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C37E1-287C-992F-926C-6BE139038F7A}"/>
              </a:ext>
            </a:extLst>
          </p:cNvPr>
          <p:cNvSpPr>
            <a:spLocks noGrp="1"/>
          </p:cNvSpPr>
          <p:nvPr>
            <p:ph type="title"/>
          </p:nvPr>
        </p:nvSpPr>
        <p:spPr>
          <a:xfrm>
            <a:off x="839788" y="812850"/>
            <a:ext cx="10515600" cy="1045464"/>
          </a:xfrm>
        </p:spPr>
        <p:txBody>
          <a:bodyPr/>
          <a:lstStyle/>
          <a:p>
            <a:r>
              <a:rPr lang="en-US" dirty="0"/>
              <a:t>Click to edit Master title style</a:t>
            </a:r>
            <a:endParaRPr lang="en-VN" dirty="0"/>
          </a:p>
        </p:txBody>
      </p:sp>
      <p:sp>
        <p:nvSpPr>
          <p:cNvPr id="3" name="Text Placeholder 2">
            <a:extLst>
              <a:ext uri="{FF2B5EF4-FFF2-40B4-BE49-F238E27FC236}">
                <a16:creationId xmlns:a16="http://schemas.microsoft.com/office/drawing/2014/main" id="{6C453A4A-EE94-A702-F0E2-603C1150FA32}"/>
              </a:ext>
            </a:extLst>
          </p:cNvPr>
          <p:cNvSpPr>
            <a:spLocks noGrp="1"/>
          </p:cNvSpPr>
          <p:nvPr>
            <p:ph type="body" idx="1"/>
          </p:nvPr>
        </p:nvSpPr>
        <p:spPr>
          <a:xfrm>
            <a:off x="839788" y="1848789"/>
            <a:ext cx="5157787" cy="823912"/>
          </a:xfrm>
        </p:spPr>
        <p:txBody>
          <a:bodyPr anchor="b"/>
          <a:lstStyle>
            <a:lvl1pPr marL="0" indent="0">
              <a:buNone/>
              <a:defRPr sz="2400" b="1">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7B8F5AF-E6EF-4CF4-8B05-BF3FDB4C6885}"/>
              </a:ext>
            </a:extLst>
          </p:cNvPr>
          <p:cNvSpPr>
            <a:spLocks noGrp="1"/>
          </p:cNvSpPr>
          <p:nvPr>
            <p:ph sz="half" idx="2"/>
          </p:nvPr>
        </p:nvSpPr>
        <p:spPr>
          <a:xfrm>
            <a:off x="839788" y="2672701"/>
            <a:ext cx="5157787" cy="368458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5" name="Text Placeholder 4">
            <a:extLst>
              <a:ext uri="{FF2B5EF4-FFF2-40B4-BE49-F238E27FC236}">
                <a16:creationId xmlns:a16="http://schemas.microsoft.com/office/drawing/2014/main" id="{1BFCC438-C0ED-1F8F-4BB6-689F30C8CC53}"/>
              </a:ext>
            </a:extLst>
          </p:cNvPr>
          <p:cNvSpPr>
            <a:spLocks noGrp="1"/>
          </p:cNvSpPr>
          <p:nvPr>
            <p:ph type="body" sz="quarter" idx="3"/>
          </p:nvPr>
        </p:nvSpPr>
        <p:spPr>
          <a:xfrm>
            <a:off x="6172200" y="1848789"/>
            <a:ext cx="5183188" cy="823912"/>
          </a:xfrm>
        </p:spPr>
        <p:txBody>
          <a:bodyPr anchor="b"/>
          <a:lstStyle>
            <a:lvl1pPr marL="0" indent="0">
              <a:buNone/>
              <a:defRPr sz="2400" b="1">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F689F5A-2C2F-0B8F-615C-B41C7F2B19E1}"/>
              </a:ext>
            </a:extLst>
          </p:cNvPr>
          <p:cNvSpPr>
            <a:spLocks noGrp="1"/>
          </p:cNvSpPr>
          <p:nvPr>
            <p:ph sz="quarter" idx="4"/>
          </p:nvPr>
        </p:nvSpPr>
        <p:spPr>
          <a:xfrm>
            <a:off x="6172200" y="2672701"/>
            <a:ext cx="5183188" cy="368458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8" name="Footer Placeholder 7">
            <a:extLst>
              <a:ext uri="{FF2B5EF4-FFF2-40B4-BE49-F238E27FC236}">
                <a16:creationId xmlns:a16="http://schemas.microsoft.com/office/drawing/2014/main" id="{C3D7DFAC-60B5-9BD1-8D23-4494639CC2E8}"/>
              </a:ext>
            </a:extLst>
          </p:cNvPr>
          <p:cNvSpPr>
            <a:spLocks noGrp="1"/>
          </p:cNvSpPr>
          <p:nvPr>
            <p:ph type="ftr" sz="quarter" idx="11"/>
          </p:nvPr>
        </p:nvSpPr>
        <p:spPr>
          <a:xfrm>
            <a:off x="3533429" y="6481647"/>
            <a:ext cx="5125142" cy="239828"/>
          </a:xfrm>
        </p:spPr>
        <p:txBody>
          <a:bodyPr/>
          <a:lstStyle>
            <a:lvl1pPr>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dirty="0"/>
              <a:t>Thực hiện bởi Trường Đại học Công nghệ Thông tin, ĐHQG-HCM</a:t>
            </a:r>
            <a:endParaRPr lang="en-VN" dirty="0"/>
          </a:p>
        </p:txBody>
      </p:sp>
      <p:sp>
        <p:nvSpPr>
          <p:cNvPr id="10" name="Freeform 9">
            <a:extLst>
              <a:ext uri="{FF2B5EF4-FFF2-40B4-BE49-F238E27FC236}">
                <a16:creationId xmlns:a16="http://schemas.microsoft.com/office/drawing/2014/main" id="{B75C2D9D-4765-3FD3-75BD-4E4DFF9C7F0D}"/>
              </a:ext>
            </a:extLst>
          </p:cNvPr>
          <p:cNvSpPr/>
          <p:nvPr userDrawn="1"/>
        </p:nvSpPr>
        <p:spPr>
          <a:xfrm rot="10800000">
            <a:off x="-2" y="0"/>
            <a:ext cx="12192000" cy="6858000"/>
          </a:xfrm>
          <a:custGeom>
            <a:avLst/>
            <a:gdLst>
              <a:gd name="connsiteX0" fmla="*/ 0 w 12192000"/>
              <a:gd name="connsiteY0" fmla="*/ 616911 h 6858000"/>
              <a:gd name="connsiteX1" fmla="*/ 0 w 12192000"/>
              <a:gd name="connsiteY1" fmla="*/ 0 h 6858000"/>
              <a:gd name="connsiteX2" fmla="*/ 715617 w 12192000"/>
              <a:gd name="connsiteY2" fmla="*/ 0 h 6858000"/>
              <a:gd name="connsiteX3" fmla="*/ 12192000 w 12192000"/>
              <a:gd name="connsiteY3" fmla="*/ 6858000 h 6858000"/>
              <a:gd name="connsiteX4" fmla="*/ 11476383 w 12192000"/>
              <a:gd name="connsiteY4" fmla="*/ 6858000 h 6858000"/>
              <a:gd name="connsiteX5" fmla="*/ 12192000 w 12192000"/>
              <a:gd name="connsiteY5" fmla="*/ 624108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616911"/>
                </a:moveTo>
                <a:lnTo>
                  <a:pt x="0" y="0"/>
                </a:lnTo>
                <a:lnTo>
                  <a:pt x="715617" y="0"/>
                </a:lnTo>
                <a:close/>
                <a:moveTo>
                  <a:pt x="12192000" y="6858000"/>
                </a:moveTo>
                <a:lnTo>
                  <a:pt x="11476383" y="6858000"/>
                </a:lnTo>
                <a:lnTo>
                  <a:pt x="12192000" y="6241089"/>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Isosceles Triangle 12">
            <a:extLst>
              <a:ext uri="{FF2B5EF4-FFF2-40B4-BE49-F238E27FC236}">
                <a16:creationId xmlns:a16="http://schemas.microsoft.com/office/drawing/2014/main" id="{3AD591D0-42C1-C83D-D97B-315279CAEE49}"/>
              </a:ext>
            </a:extLst>
          </p:cNvPr>
          <p:cNvSpPr/>
          <p:nvPr userDrawn="1"/>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BC49EA05-357C-0347-C6CD-EE67C566EBD0}"/>
              </a:ext>
            </a:extLst>
          </p:cNvPr>
          <p:cNvGrpSpPr/>
          <p:nvPr userDrawn="1"/>
        </p:nvGrpSpPr>
        <p:grpSpPr>
          <a:xfrm>
            <a:off x="58527" y="40944"/>
            <a:ext cx="2869771" cy="1563379"/>
            <a:chOff x="44879" y="27296"/>
            <a:chExt cx="2869771" cy="1563379"/>
          </a:xfrm>
          <a:solidFill>
            <a:srgbClr val="0072FF"/>
          </a:solidFill>
        </p:grpSpPr>
        <p:cxnSp>
          <p:nvCxnSpPr>
            <p:cNvPr id="13" name="Straight Connector 12">
              <a:extLst>
                <a:ext uri="{FF2B5EF4-FFF2-40B4-BE49-F238E27FC236}">
                  <a16:creationId xmlns:a16="http://schemas.microsoft.com/office/drawing/2014/main" id="{F63A430E-1EF6-53ED-B258-E65C14BBC4CE}"/>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2BC14D-AC20-6673-4A8D-7DE3FE988F33}"/>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61FFA6F-2FC8-1174-B8D5-60E8BE001CF3}"/>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6" name="Isosceles Triangle 12">
            <a:extLst>
              <a:ext uri="{FF2B5EF4-FFF2-40B4-BE49-F238E27FC236}">
                <a16:creationId xmlns:a16="http://schemas.microsoft.com/office/drawing/2014/main" id="{39240330-79C3-21F6-446A-3E039AFD3A39}"/>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CBDA796D-C2B0-5287-F4C3-E9C3DEA3FFEF}"/>
              </a:ext>
            </a:extLst>
          </p:cNvPr>
          <p:cNvGrpSpPr/>
          <p:nvPr userDrawn="1"/>
        </p:nvGrpSpPr>
        <p:grpSpPr>
          <a:xfrm flipH="1" flipV="1">
            <a:off x="9263702" y="5253677"/>
            <a:ext cx="2869771" cy="1563379"/>
            <a:chOff x="44879" y="27296"/>
            <a:chExt cx="2869771" cy="1563379"/>
          </a:xfrm>
          <a:solidFill>
            <a:srgbClr val="0072FF"/>
          </a:solidFill>
        </p:grpSpPr>
        <p:cxnSp>
          <p:nvCxnSpPr>
            <p:cNvPr id="18" name="Straight Connector 17">
              <a:extLst>
                <a:ext uri="{FF2B5EF4-FFF2-40B4-BE49-F238E27FC236}">
                  <a16:creationId xmlns:a16="http://schemas.microsoft.com/office/drawing/2014/main" id="{701CD2C9-117E-7A90-F02C-95AB5B37723A}"/>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3E69259-DC90-479A-D797-34F04F64243B}"/>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57EE3B6-EE34-8496-104E-9B1F8F51B2DE}"/>
                </a:ext>
              </a:extLst>
            </p:cNvPr>
            <p:cNvCxnSpPr>
              <a:cxnSpLocks/>
            </p:cNvCxnSpPr>
            <p:nvPr/>
          </p:nvCxnSpPr>
          <p:spPr>
            <a:xfrm flipV="1">
              <a:off x="52214" y="654128"/>
              <a:ext cx="0" cy="93654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21" name="Oval 20">
            <a:extLst>
              <a:ext uri="{FF2B5EF4-FFF2-40B4-BE49-F238E27FC236}">
                <a16:creationId xmlns:a16="http://schemas.microsoft.com/office/drawing/2014/main" id="{C6B6596A-8077-EEBC-4221-61CB055E23C4}"/>
              </a:ext>
            </a:extLst>
          </p:cNvPr>
          <p:cNvSpPr/>
          <p:nvPr userDrawn="1"/>
        </p:nvSpPr>
        <p:spPr>
          <a:xfrm>
            <a:off x="11920781" y="6595999"/>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22" name="Rectangle 21">
            <a:extLst>
              <a:ext uri="{FF2B5EF4-FFF2-40B4-BE49-F238E27FC236}">
                <a16:creationId xmlns:a16="http://schemas.microsoft.com/office/drawing/2014/main" id="{8E0195D6-5215-7209-4E44-3598DDF6BF73}"/>
              </a:ext>
            </a:extLst>
          </p:cNvPr>
          <p:cNvSpPr/>
          <p:nvPr userDrawn="1"/>
        </p:nvSpPr>
        <p:spPr>
          <a:xfrm>
            <a:off x="16026" y="4629289"/>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C34F9F4C-59B6-44A2-8089-C9632F72F016}"/>
              </a:ext>
            </a:extLst>
          </p:cNvPr>
          <p:cNvSpPr/>
          <p:nvPr userDrawn="1"/>
        </p:nvSpPr>
        <p:spPr>
          <a:xfrm>
            <a:off x="16026" y="5005641"/>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D39E34E-2D5A-7F18-3D5E-F38434C35041}"/>
              </a:ext>
            </a:extLst>
          </p:cNvPr>
          <p:cNvSpPr/>
          <p:nvPr userDrawn="1"/>
        </p:nvSpPr>
        <p:spPr>
          <a:xfrm>
            <a:off x="16026" y="5381993"/>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66B4D7BA-684B-4CA9-75B2-7C633D5F5824}"/>
              </a:ext>
            </a:extLst>
          </p:cNvPr>
          <p:cNvSpPr/>
          <p:nvPr userDrawn="1"/>
        </p:nvSpPr>
        <p:spPr>
          <a:xfrm>
            <a:off x="16026" y="5758345"/>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EEEF9AF2-8C75-A883-C6CC-39115A1F8615}"/>
              </a:ext>
            </a:extLst>
          </p:cNvPr>
          <p:cNvSpPr/>
          <p:nvPr userDrawn="1"/>
        </p:nvSpPr>
        <p:spPr>
          <a:xfrm>
            <a:off x="16026" y="6134697"/>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9E365D23-7485-954D-5E3D-2DB7FDD1011D}"/>
              </a:ext>
            </a:extLst>
          </p:cNvPr>
          <p:cNvSpPr/>
          <p:nvPr userDrawn="1"/>
        </p:nvSpPr>
        <p:spPr>
          <a:xfrm>
            <a:off x="16026" y="6511050"/>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Picture 27" descr="A picture containing clipart, vector graphics&#10;&#10;Description automatically generated">
            <a:extLst>
              <a:ext uri="{FF2B5EF4-FFF2-40B4-BE49-F238E27FC236}">
                <a16:creationId xmlns:a16="http://schemas.microsoft.com/office/drawing/2014/main" id="{9491656A-A1BE-90F8-B747-D9FA28F4494A}"/>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12638" y="362637"/>
            <a:ext cx="544288" cy="450213"/>
          </a:xfrm>
          <a:prstGeom prst="rect">
            <a:avLst/>
          </a:prstGeom>
        </p:spPr>
      </p:pic>
      <p:sp>
        <p:nvSpPr>
          <p:cNvPr id="9" name="Slide Number Placeholder 8">
            <a:extLst>
              <a:ext uri="{FF2B5EF4-FFF2-40B4-BE49-F238E27FC236}">
                <a16:creationId xmlns:a16="http://schemas.microsoft.com/office/drawing/2014/main" id="{67CFCA39-DA8E-D2BC-F038-9C53D5D95746}"/>
              </a:ext>
            </a:extLst>
          </p:cNvPr>
          <p:cNvSpPr>
            <a:spLocks noGrp="1"/>
          </p:cNvSpPr>
          <p:nvPr>
            <p:ph type="sldNum" sz="quarter" idx="12"/>
          </p:nvPr>
        </p:nvSpPr>
        <p:spPr>
          <a:xfrm>
            <a:off x="11891939" y="6567157"/>
            <a:ext cx="291600" cy="291600"/>
          </a:xfrm>
        </p:spPr>
        <p:txBody>
          <a:bodyPr/>
          <a:lstStyle>
            <a:lvl1pPr marL="0" algn="ctr" defTabSz="914400" rtl="0" eaLnBrk="1" latinLnBrk="0" hangingPunct="1">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sp>
        <p:nvSpPr>
          <p:cNvPr id="7" name="Date Placeholder 6">
            <a:extLst>
              <a:ext uri="{FF2B5EF4-FFF2-40B4-BE49-F238E27FC236}">
                <a16:creationId xmlns:a16="http://schemas.microsoft.com/office/drawing/2014/main" id="{9EC1AA4D-B13B-AA0A-E780-09B8CC670664}"/>
              </a:ext>
            </a:extLst>
          </p:cNvPr>
          <p:cNvSpPr>
            <a:spLocks noGrp="1"/>
          </p:cNvSpPr>
          <p:nvPr>
            <p:ph type="dt" sz="half" idx="13"/>
          </p:nvPr>
        </p:nvSpPr>
        <p:spPr>
          <a:xfrm>
            <a:off x="838200" y="6481647"/>
            <a:ext cx="2090098" cy="239828"/>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pPr/>
              <a:t>October 10, 2024</a:t>
            </a:fld>
            <a:endParaRPr lang="en-US" dirty="0"/>
          </a:p>
        </p:txBody>
      </p:sp>
    </p:spTree>
    <p:extLst>
      <p:ext uri="{BB962C8B-B14F-4D97-AF65-F5344CB8AC3E}">
        <p14:creationId xmlns:p14="http://schemas.microsoft.com/office/powerpoint/2010/main" val="18676272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Mẫu nội dung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451A8-C849-9E82-96FE-C28448A63035}"/>
              </a:ext>
            </a:extLst>
          </p:cNvPr>
          <p:cNvSpPr>
            <a:spLocks noGrp="1"/>
          </p:cNvSpPr>
          <p:nvPr>
            <p:ph type="title"/>
          </p:nvPr>
        </p:nvSpPr>
        <p:spPr>
          <a:xfrm>
            <a:off x="839788" y="794059"/>
            <a:ext cx="3932237" cy="1600200"/>
          </a:xfrm>
        </p:spPr>
        <p:txBody>
          <a:bodyPr anchor="b"/>
          <a:lstStyle>
            <a:lvl1pPr>
              <a:defRPr sz="3200"/>
            </a:lvl1pPr>
          </a:lstStyle>
          <a:p>
            <a:r>
              <a:rPr lang="en-US"/>
              <a:t>Click to edit Master title style</a:t>
            </a:r>
            <a:endParaRPr lang="en-VN"/>
          </a:p>
        </p:txBody>
      </p:sp>
      <p:sp>
        <p:nvSpPr>
          <p:cNvPr id="3" name="Content Placeholder 2">
            <a:extLst>
              <a:ext uri="{FF2B5EF4-FFF2-40B4-BE49-F238E27FC236}">
                <a16:creationId xmlns:a16="http://schemas.microsoft.com/office/drawing/2014/main" id="{A9A510C4-25DA-E657-8490-3BBA6C9F1EC2}"/>
              </a:ext>
            </a:extLst>
          </p:cNvPr>
          <p:cNvSpPr>
            <a:spLocks noGrp="1"/>
          </p:cNvSpPr>
          <p:nvPr>
            <p:ph idx="1"/>
          </p:nvPr>
        </p:nvSpPr>
        <p:spPr>
          <a:xfrm>
            <a:off x="5183188" y="1332222"/>
            <a:ext cx="6172200" cy="4873625"/>
          </a:xfrm>
        </p:spPr>
        <p:txBody>
          <a:bodyPr/>
          <a:lstStyle>
            <a:lvl1pPr>
              <a:defRPr sz="3200">
                <a:latin typeface="Arial" panose="020B0604020202020204" pitchFamily="34" charset="0"/>
                <a:cs typeface="Arial" panose="020B0604020202020204" pitchFamily="34" charset="0"/>
              </a:defRPr>
            </a:lvl1pPr>
            <a:lvl2pPr>
              <a:defRPr sz="2800">
                <a:latin typeface="Arial" panose="020B0604020202020204" pitchFamily="34" charset="0"/>
                <a:cs typeface="Arial" panose="020B0604020202020204" pitchFamily="34" charset="0"/>
              </a:defRPr>
            </a:lvl2pPr>
            <a:lvl3pPr>
              <a:defRPr sz="2400">
                <a:latin typeface="Arial" panose="020B0604020202020204" pitchFamily="34" charset="0"/>
                <a:cs typeface="Arial" panose="020B0604020202020204" pitchFamily="34" charset="0"/>
              </a:defRPr>
            </a:lvl3pPr>
            <a:lvl4pPr>
              <a:defRPr sz="2000">
                <a:latin typeface="Arial" panose="020B0604020202020204" pitchFamily="34" charset="0"/>
                <a:cs typeface="Arial" panose="020B0604020202020204" pitchFamily="34" charset="0"/>
              </a:defRPr>
            </a:lvl4pPr>
            <a:lvl5pPr>
              <a:defRPr sz="2000">
                <a:latin typeface="Arial" panose="020B0604020202020204" pitchFamily="34" charset="0"/>
                <a:cs typeface="Arial" panose="020B0604020202020204" pitchFamily="34"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Text Placeholder 3">
            <a:extLst>
              <a:ext uri="{FF2B5EF4-FFF2-40B4-BE49-F238E27FC236}">
                <a16:creationId xmlns:a16="http://schemas.microsoft.com/office/drawing/2014/main" id="{6AAD4FDC-90BC-2A18-9D26-88E9016BDCFE}"/>
              </a:ext>
            </a:extLst>
          </p:cNvPr>
          <p:cNvSpPr>
            <a:spLocks noGrp="1"/>
          </p:cNvSpPr>
          <p:nvPr>
            <p:ph type="body" sz="half" idx="2"/>
          </p:nvPr>
        </p:nvSpPr>
        <p:spPr>
          <a:xfrm>
            <a:off x="839788" y="2394259"/>
            <a:ext cx="3932237" cy="3811588"/>
          </a:xfrm>
        </p:spPr>
        <p:txBody>
          <a:bodyPr/>
          <a:lstStyle>
            <a:lvl1pPr marL="0" indent="0">
              <a:buNone/>
              <a:defRPr sz="1600">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6" name="Footer Placeholder 5">
            <a:extLst>
              <a:ext uri="{FF2B5EF4-FFF2-40B4-BE49-F238E27FC236}">
                <a16:creationId xmlns:a16="http://schemas.microsoft.com/office/drawing/2014/main" id="{5525D253-E1CB-6DD3-1298-626DE84CCF40}"/>
              </a:ext>
            </a:extLst>
          </p:cNvPr>
          <p:cNvSpPr>
            <a:spLocks noGrp="1"/>
          </p:cNvSpPr>
          <p:nvPr>
            <p:ph type="ftr" sz="quarter" idx="11"/>
          </p:nvPr>
        </p:nvSpPr>
        <p:spPr>
          <a:xfrm>
            <a:off x="3564835" y="6481647"/>
            <a:ext cx="5062330" cy="239828"/>
          </a:xfrm>
        </p:spPr>
        <p:txBody>
          <a:bodyPr/>
          <a:lstStyle>
            <a:lvl1pPr>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dirty="0"/>
              <a:t>Thực hiện bởi Trường Đại học Công nghệ Thông tin, ĐHQG-HCM</a:t>
            </a:r>
            <a:endParaRPr lang="en-VN" dirty="0"/>
          </a:p>
        </p:txBody>
      </p:sp>
      <p:sp>
        <p:nvSpPr>
          <p:cNvPr id="8" name="Freeform 7">
            <a:extLst>
              <a:ext uri="{FF2B5EF4-FFF2-40B4-BE49-F238E27FC236}">
                <a16:creationId xmlns:a16="http://schemas.microsoft.com/office/drawing/2014/main" id="{9D2646A9-20B2-4E9D-002E-A164C93A765E}"/>
              </a:ext>
            </a:extLst>
          </p:cNvPr>
          <p:cNvSpPr/>
          <p:nvPr userDrawn="1"/>
        </p:nvSpPr>
        <p:spPr>
          <a:xfrm rot="10800000">
            <a:off x="-2" y="0"/>
            <a:ext cx="12192000" cy="6858000"/>
          </a:xfrm>
          <a:custGeom>
            <a:avLst/>
            <a:gdLst>
              <a:gd name="connsiteX0" fmla="*/ 0 w 12192000"/>
              <a:gd name="connsiteY0" fmla="*/ 616911 h 6858000"/>
              <a:gd name="connsiteX1" fmla="*/ 0 w 12192000"/>
              <a:gd name="connsiteY1" fmla="*/ 0 h 6858000"/>
              <a:gd name="connsiteX2" fmla="*/ 715617 w 12192000"/>
              <a:gd name="connsiteY2" fmla="*/ 0 h 6858000"/>
              <a:gd name="connsiteX3" fmla="*/ 12192000 w 12192000"/>
              <a:gd name="connsiteY3" fmla="*/ 6858000 h 6858000"/>
              <a:gd name="connsiteX4" fmla="*/ 11476383 w 12192000"/>
              <a:gd name="connsiteY4" fmla="*/ 6858000 h 6858000"/>
              <a:gd name="connsiteX5" fmla="*/ 12192000 w 12192000"/>
              <a:gd name="connsiteY5" fmla="*/ 624108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616911"/>
                </a:moveTo>
                <a:lnTo>
                  <a:pt x="0" y="0"/>
                </a:lnTo>
                <a:lnTo>
                  <a:pt x="715617" y="0"/>
                </a:lnTo>
                <a:close/>
                <a:moveTo>
                  <a:pt x="12192000" y="6858000"/>
                </a:moveTo>
                <a:lnTo>
                  <a:pt x="11476383" y="6858000"/>
                </a:lnTo>
                <a:lnTo>
                  <a:pt x="12192000" y="6241089"/>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Isosceles Triangle 12">
            <a:extLst>
              <a:ext uri="{FF2B5EF4-FFF2-40B4-BE49-F238E27FC236}">
                <a16:creationId xmlns:a16="http://schemas.microsoft.com/office/drawing/2014/main" id="{E3DA3820-010F-54E6-12EE-340FD2FE0CB9}"/>
              </a:ext>
            </a:extLst>
          </p:cNvPr>
          <p:cNvSpPr/>
          <p:nvPr userDrawn="1"/>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9C01C7F-55E1-F2CB-795D-14ADA6F747EF}"/>
              </a:ext>
            </a:extLst>
          </p:cNvPr>
          <p:cNvGrpSpPr/>
          <p:nvPr userDrawn="1"/>
        </p:nvGrpSpPr>
        <p:grpSpPr>
          <a:xfrm>
            <a:off x="58527" y="40944"/>
            <a:ext cx="2869771" cy="1563379"/>
            <a:chOff x="44879" y="27296"/>
            <a:chExt cx="2869771" cy="1563379"/>
          </a:xfrm>
          <a:solidFill>
            <a:srgbClr val="0072FF"/>
          </a:solidFill>
        </p:grpSpPr>
        <p:cxnSp>
          <p:nvCxnSpPr>
            <p:cNvPr id="11" name="Straight Connector 10">
              <a:extLst>
                <a:ext uri="{FF2B5EF4-FFF2-40B4-BE49-F238E27FC236}">
                  <a16:creationId xmlns:a16="http://schemas.microsoft.com/office/drawing/2014/main" id="{27EFB461-265B-447E-AE53-F0AB83B5002D}"/>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A811A0C-899E-BD2A-2B6B-F76A3CDCA121}"/>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4B5CB31-1B06-6224-B8E2-D0F08CE59076}"/>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4" name="Isosceles Triangle 12">
            <a:extLst>
              <a:ext uri="{FF2B5EF4-FFF2-40B4-BE49-F238E27FC236}">
                <a16:creationId xmlns:a16="http://schemas.microsoft.com/office/drawing/2014/main" id="{EBCAC4CC-6B14-0AD9-B30D-7B94535D4473}"/>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AABFA2BC-06E9-F841-D06E-DEBB7129CD94}"/>
              </a:ext>
            </a:extLst>
          </p:cNvPr>
          <p:cNvGrpSpPr/>
          <p:nvPr userDrawn="1"/>
        </p:nvGrpSpPr>
        <p:grpSpPr>
          <a:xfrm flipH="1" flipV="1">
            <a:off x="9263702" y="5253677"/>
            <a:ext cx="2869771" cy="1563379"/>
            <a:chOff x="44879" y="27296"/>
            <a:chExt cx="2869771" cy="1563379"/>
          </a:xfrm>
          <a:solidFill>
            <a:srgbClr val="0072FF"/>
          </a:solidFill>
        </p:grpSpPr>
        <p:cxnSp>
          <p:nvCxnSpPr>
            <p:cNvPr id="16" name="Straight Connector 15">
              <a:extLst>
                <a:ext uri="{FF2B5EF4-FFF2-40B4-BE49-F238E27FC236}">
                  <a16:creationId xmlns:a16="http://schemas.microsoft.com/office/drawing/2014/main" id="{FC8E81B6-D5AC-F9AA-7729-98A69A809FE3}"/>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EFB5E89-FF82-2441-3C96-2E40FFE648D5}"/>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562BEED6-4AFE-006D-2D1B-6B7FF1399D30}"/>
                </a:ext>
              </a:extLst>
            </p:cNvPr>
            <p:cNvCxnSpPr>
              <a:cxnSpLocks/>
            </p:cNvCxnSpPr>
            <p:nvPr/>
          </p:nvCxnSpPr>
          <p:spPr>
            <a:xfrm flipV="1">
              <a:off x="52214" y="654128"/>
              <a:ext cx="0" cy="93654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19" name="Oval 18">
            <a:extLst>
              <a:ext uri="{FF2B5EF4-FFF2-40B4-BE49-F238E27FC236}">
                <a16:creationId xmlns:a16="http://schemas.microsoft.com/office/drawing/2014/main" id="{F3765DC4-E546-6CB3-C32B-5002168C1885}"/>
              </a:ext>
            </a:extLst>
          </p:cNvPr>
          <p:cNvSpPr/>
          <p:nvPr userDrawn="1"/>
        </p:nvSpPr>
        <p:spPr>
          <a:xfrm>
            <a:off x="11928288" y="6594127"/>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20" name="Rectangle 19">
            <a:extLst>
              <a:ext uri="{FF2B5EF4-FFF2-40B4-BE49-F238E27FC236}">
                <a16:creationId xmlns:a16="http://schemas.microsoft.com/office/drawing/2014/main" id="{704CF68F-86DE-9DE4-02A9-28AFB5A5AAFF}"/>
              </a:ext>
            </a:extLst>
          </p:cNvPr>
          <p:cNvSpPr/>
          <p:nvPr userDrawn="1"/>
        </p:nvSpPr>
        <p:spPr>
          <a:xfrm>
            <a:off x="16026" y="4629289"/>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970D253A-5ACF-E7B4-CB94-7CE385706947}"/>
              </a:ext>
            </a:extLst>
          </p:cNvPr>
          <p:cNvSpPr/>
          <p:nvPr userDrawn="1"/>
        </p:nvSpPr>
        <p:spPr>
          <a:xfrm>
            <a:off x="16026" y="5005641"/>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B412634D-8462-7774-CD62-1BCCD3C66D98}"/>
              </a:ext>
            </a:extLst>
          </p:cNvPr>
          <p:cNvSpPr/>
          <p:nvPr userDrawn="1"/>
        </p:nvSpPr>
        <p:spPr>
          <a:xfrm>
            <a:off x="16026" y="5381993"/>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9DE8F499-81C5-DFD9-74F8-F76C0953643C}"/>
              </a:ext>
            </a:extLst>
          </p:cNvPr>
          <p:cNvSpPr/>
          <p:nvPr userDrawn="1"/>
        </p:nvSpPr>
        <p:spPr>
          <a:xfrm>
            <a:off x="16026" y="5758345"/>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2323D2CF-0CBB-FBC2-6960-BFB0F1C90BFA}"/>
              </a:ext>
            </a:extLst>
          </p:cNvPr>
          <p:cNvSpPr/>
          <p:nvPr userDrawn="1"/>
        </p:nvSpPr>
        <p:spPr>
          <a:xfrm>
            <a:off x="16026" y="6134697"/>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EAADE3BD-9DA6-DD92-09E2-110656AC1B47}"/>
              </a:ext>
            </a:extLst>
          </p:cNvPr>
          <p:cNvSpPr/>
          <p:nvPr userDrawn="1"/>
        </p:nvSpPr>
        <p:spPr>
          <a:xfrm>
            <a:off x="16026" y="6511050"/>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descr="A picture containing clipart, vector graphics&#10;&#10;Description automatically generated">
            <a:extLst>
              <a:ext uri="{FF2B5EF4-FFF2-40B4-BE49-F238E27FC236}">
                <a16:creationId xmlns:a16="http://schemas.microsoft.com/office/drawing/2014/main" id="{1B5C196E-D0AE-CCC2-7ED7-5FD1F3D44B4E}"/>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12638" y="362637"/>
            <a:ext cx="544288" cy="450213"/>
          </a:xfrm>
          <a:prstGeom prst="rect">
            <a:avLst/>
          </a:prstGeom>
        </p:spPr>
      </p:pic>
      <p:sp>
        <p:nvSpPr>
          <p:cNvPr id="7" name="Slide Number Placeholder 6">
            <a:extLst>
              <a:ext uri="{FF2B5EF4-FFF2-40B4-BE49-F238E27FC236}">
                <a16:creationId xmlns:a16="http://schemas.microsoft.com/office/drawing/2014/main" id="{3BE365E8-16C7-CA1B-5178-544D2DD77227}"/>
              </a:ext>
            </a:extLst>
          </p:cNvPr>
          <p:cNvSpPr>
            <a:spLocks noGrp="1"/>
          </p:cNvSpPr>
          <p:nvPr>
            <p:ph type="sldNum" sz="quarter" idx="12"/>
          </p:nvPr>
        </p:nvSpPr>
        <p:spPr>
          <a:xfrm>
            <a:off x="11899446" y="6565285"/>
            <a:ext cx="291600" cy="291600"/>
          </a:xfrm>
        </p:spPr>
        <p:txBody>
          <a:bodyPr/>
          <a:lstStyle>
            <a:lvl1pPr algn="ctr">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sp>
        <p:nvSpPr>
          <p:cNvPr id="5" name="Date Placeholder 4">
            <a:extLst>
              <a:ext uri="{FF2B5EF4-FFF2-40B4-BE49-F238E27FC236}">
                <a16:creationId xmlns:a16="http://schemas.microsoft.com/office/drawing/2014/main" id="{F4A2DD06-FBE3-7873-A44C-AF7E41B47032}"/>
              </a:ext>
            </a:extLst>
          </p:cNvPr>
          <p:cNvSpPr>
            <a:spLocks noGrp="1"/>
          </p:cNvSpPr>
          <p:nvPr>
            <p:ph type="dt" sz="half" idx="13"/>
          </p:nvPr>
        </p:nvSpPr>
        <p:spPr>
          <a:xfrm>
            <a:off x="838200" y="6481647"/>
            <a:ext cx="2090098" cy="239828"/>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pPr/>
              <a:t>October 10, 2024</a:t>
            </a:fld>
            <a:endParaRPr lang="en-US" dirty="0"/>
          </a:p>
        </p:txBody>
      </p:sp>
    </p:spTree>
    <p:extLst>
      <p:ext uri="{BB962C8B-B14F-4D97-AF65-F5344CB8AC3E}">
        <p14:creationId xmlns:p14="http://schemas.microsoft.com/office/powerpoint/2010/main" val="26870224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Mẫu nội dung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E29DC-55F0-F47B-3718-A35859CDD6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VN"/>
          </a:p>
        </p:txBody>
      </p:sp>
      <p:sp>
        <p:nvSpPr>
          <p:cNvPr id="3" name="Picture Placeholder 2">
            <a:extLst>
              <a:ext uri="{FF2B5EF4-FFF2-40B4-BE49-F238E27FC236}">
                <a16:creationId xmlns:a16="http://schemas.microsoft.com/office/drawing/2014/main" id="{298E4A4A-E817-C827-E00E-45BE2297F8F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VN"/>
          </a:p>
        </p:txBody>
      </p:sp>
      <p:sp>
        <p:nvSpPr>
          <p:cNvPr id="4" name="Text Placeholder 3">
            <a:extLst>
              <a:ext uri="{FF2B5EF4-FFF2-40B4-BE49-F238E27FC236}">
                <a16:creationId xmlns:a16="http://schemas.microsoft.com/office/drawing/2014/main" id="{DD1CBCD9-BF05-A0CA-F591-8757A370E53A}"/>
              </a:ext>
            </a:extLst>
          </p:cNvPr>
          <p:cNvSpPr>
            <a:spLocks noGrp="1"/>
          </p:cNvSpPr>
          <p:nvPr>
            <p:ph type="body" sz="half" idx="2"/>
          </p:nvPr>
        </p:nvSpPr>
        <p:spPr>
          <a:xfrm>
            <a:off x="839788" y="2057400"/>
            <a:ext cx="3932237" cy="3811588"/>
          </a:xfrm>
        </p:spPr>
        <p:txBody>
          <a:bodyPr/>
          <a:lstStyle>
            <a:lvl1pPr marL="0" indent="0">
              <a:buNone/>
              <a:defRPr sz="1600">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6" name="Footer Placeholder 5">
            <a:extLst>
              <a:ext uri="{FF2B5EF4-FFF2-40B4-BE49-F238E27FC236}">
                <a16:creationId xmlns:a16="http://schemas.microsoft.com/office/drawing/2014/main" id="{46EB012B-14DB-4805-E51C-850F8761054D}"/>
              </a:ext>
            </a:extLst>
          </p:cNvPr>
          <p:cNvSpPr>
            <a:spLocks noGrp="1"/>
          </p:cNvSpPr>
          <p:nvPr>
            <p:ph type="ftr" sz="quarter" idx="11"/>
          </p:nvPr>
        </p:nvSpPr>
        <p:spPr>
          <a:xfrm>
            <a:off x="3485322" y="6481647"/>
            <a:ext cx="5221356" cy="239828"/>
          </a:xfrm>
        </p:spPr>
        <p:txBody>
          <a:bodyPr/>
          <a:lstStyle>
            <a:lvl1pPr>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dirty="0"/>
              <a:t>Thực hiện bởi Trường Đại học Công nghệ Thông tin, ĐHQG-HCM</a:t>
            </a:r>
            <a:endParaRPr lang="en-VN" dirty="0"/>
          </a:p>
        </p:txBody>
      </p:sp>
      <p:sp>
        <p:nvSpPr>
          <p:cNvPr id="8" name="Freeform 7">
            <a:extLst>
              <a:ext uri="{FF2B5EF4-FFF2-40B4-BE49-F238E27FC236}">
                <a16:creationId xmlns:a16="http://schemas.microsoft.com/office/drawing/2014/main" id="{091CF413-55DD-58D0-694A-0DD1DC5F0CCF}"/>
              </a:ext>
            </a:extLst>
          </p:cNvPr>
          <p:cNvSpPr/>
          <p:nvPr userDrawn="1"/>
        </p:nvSpPr>
        <p:spPr>
          <a:xfrm rot="10800000">
            <a:off x="-2" y="0"/>
            <a:ext cx="12192000" cy="6858000"/>
          </a:xfrm>
          <a:custGeom>
            <a:avLst/>
            <a:gdLst>
              <a:gd name="connsiteX0" fmla="*/ 0 w 12192000"/>
              <a:gd name="connsiteY0" fmla="*/ 616911 h 6858000"/>
              <a:gd name="connsiteX1" fmla="*/ 0 w 12192000"/>
              <a:gd name="connsiteY1" fmla="*/ 0 h 6858000"/>
              <a:gd name="connsiteX2" fmla="*/ 715617 w 12192000"/>
              <a:gd name="connsiteY2" fmla="*/ 0 h 6858000"/>
              <a:gd name="connsiteX3" fmla="*/ 12192000 w 12192000"/>
              <a:gd name="connsiteY3" fmla="*/ 6858000 h 6858000"/>
              <a:gd name="connsiteX4" fmla="*/ 11476383 w 12192000"/>
              <a:gd name="connsiteY4" fmla="*/ 6858000 h 6858000"/>
              <a:gd name="connsiteX5" fmla="*/ 12192000 w 12192000"/>
              <a:gd name="connsiteY5" fmla="*/ 624108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616911"/>
                </a:moveTo>
                <a:lnTo>
                  <a:pt x="0" y="0"/>
                </a:lnTo>
                <a:lnTo>
                  <a:pt x="715617" y="0"/>
                </a:lnTo>
                <a:close/>
                <a:moveTo>
                  <a:pt x="12192000" y="6858000"/>
                </a:moveTo>
                <a:lnTo>
                  <a:pt x="11476383" y="6858000"/>
                </a:lnTo>
                <a:lnTo>
                  <a:pt x="12192000" y="6241089"/>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Isosceles Triangle 12">
            <a:extLst>
              <a:ext uri="{FF2B5EF4-FFF2-40B4-BE49-F238E27FC236}">
                <a16:creationId xmlns:a16="http://schemas.microsoft.com/office/drawing/2014/main" id="{D0838B7F-C9B8-5774-F077-530355943B43}"/>
              </a:ext>
            </a:extLst>
          </p:cNvPr>
          <p:cNvSpPr/>
          <p:nvPr userDrawn="1"/>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8BB0766C-1141-EF46-A49F-1355FBAABD0F}"/>
              </a:ext>
            </a:extLst>
          </p:cNvPr>
          <p:cNvGrpSpPr/>
          <p:nvPr userDrawn="1"/>
        </p:nvGrpSpPr>
        <p:grpSpPr>
          <a:xfrm>
            <a:off x="58527" y="40944"/>
            <a:ext cx="2869771" cy="1563379"/>
            <a:chOff x="44879" y="27296"/>
            <a:chExt cx="2869771" cy="1563379"/>
          </a:xfrm>
          <a:solidFill>
            <a:srgbClr val="0072FF"/>
          </a:solidFill>
        </p:grpSpPr>
        <p:cxnSp>
          <p:nvCxnSpPr>
            <p:cNvPr id="11" name="Straight Connector 10">
              <a:extLst>
                <a:ext uri="{FF2B5EF4-FFF2-40B4-BE49-F238E27FC236}">
                  <a16:creationId xmlns:a16="http://schemas.microsoft.com/office/drawing/2014/main" id="{4ABF3C35-2161-E4C8-E673-CCF35A0B4807}"/>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2348080-E29C-4997-A409-76FA41D3C43A}"/>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4D9E9411-6A6B-5C7F-F0EE-071A0DBF0D05}"/>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4" name="Isosceles Triangle 12">
            <a:extLst>
              <a:ext uri="{FF2B5EF4-FFF2-40B4-BE49-F238E27FC236}">
                <a16:creationId xmlns:a16="http://schemas.microsoft.com/office/drawing/2014/main" id="{DC674C23-BC8F-9996-69A1-8E7ABD8C60C2}"/>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07C409ED-36BC-003F-845E-497279365061}"/>
              </a:ext>
            </a:extLst>
          </p:cNvPr>
          <p:cNvGrpSpPr/>
          <p:nvPr userDrawn="1"/>
        </p:nvGrpSpPr>
        <p:grpSpPr>
          <a:xfrm flipH="1" flipV="1">
            <a:off x="9263702" y="5253677"/>
            <a:ext cx="2869771" cy="1563379"/>
            <a:chOff x="44879" y="27296"/>
            <a:chExt cx="2869771" cy="1563379"/>
          </a:xfrm>
          <a:solidFill>
            <a:srgbClr val="0072FF"/>
          </a:solidFill>
        </p:grpSpPr>
        <p:cxnSp>
          <p:nvCxnSpPr>
            <p:cNvPr id="16" name="Straight Connector 15">
              <a:extLst>
                <a:ext uri="{FF2B5EF4-FFF2-40B4-BE49-F238E27FC236}">
                  <a16:creationId xmlns:a16="http://schemas.microsoft.com/office/drawing/2014/main" id="{F7C05C62-5535-F81F-976D-9A335041D158}"/>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F420A0D-917B-C624-28A3-C0C824C2B226}"/>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6367E11-6F4E-99ED-4B0B-7522FA43F7E0}"/>
                </a:ext>
              </a:extLst>
            </p:cNvPr>
            <p:cNvCxnSpPr>
              <a:cxnSpLocks/>
            </p:cNvCxnSpPr>
            <p:nvPr/>
          </p:nvCxnSpPr>
          <p:spPr>
            <a:xfrm flipV="1">
              <a:off x="52214" y="654128"/>
              <a:ext cx="0" cy="93654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19" name="Oval 18">
            <a:extLst>
              <a:ext uri="{FF2B5EF4-FFF2-40B4-BE49-F238E27FC236}">
                <a16:creationId xmlns:a16="http://schemas.microsoft.com/office/drawing/2014/main" id="{3CB33257-2B8E-6873-E8FD-C4F8FF8DCD25}"/>
              </a:ext>
            </a:extLst>
          </p:cNvPr>
          <p:cNvSpPr/>
          <p:nvPr userDrawn="1"/>
        </p:nvSpPr>
        <p:spPr>
          <a:xfrm>
            <a:off x="11929297" y="6593855"/>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20" name="Rectangle 19">
            <a:extLst>
              <a:ext uri="{FF2B5EF4-FFF2-40B4-BE49-F238E27FC236}">
                <a16:creationId xmlns:a16="http://schemas.microsoft.com/office/drawing/2014/main" id="{30AFF6BE-7E65-931F-E1CD-6187FEE7D4EE}"/>
              </a:ext>
            </a:extLst>
          </p:cNvPr>
          <p:cNvSpPr/>
          <p:nvPr userDrawn="1"/>
        </p:nvSpPr>
        <p:spPr>
          <a:xfrm>
            <a:off x="16026" y="4629289"/>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8494812A-A981-DB3F-4202-2EDAAEB9815A}"/>
              </a:ext>
            </a:extLst>
          </p:cNvPr>
          <p:cNvSpPr/>
          <p:nvPr userDrawn="1"/>
        </p:nvSpPr>
        <p:spPr>
          <a:xfrm>
            <a:off x="16026" y="5005641"/>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CA980ED-F1D8-2698-18CD-9DC6DEFF348A}"/>
              </a:ext>
            </a:extLst>
          </p:cNvPr>
          <p:cNvSpPr/>
          <p:nvPr userDrawn="1"/>
        </p:nvSpPr>
        <p:spPr>
          <a:xfrm>
            <a:off x="16026" y="5381993"/>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257A1BEE-0967-806A-FED8-28BE6225F412}"/>
              </a:ext>
            </a:extLst>
          </p:cNvPr>
          <p:cNvSpPr/>
          <p:nvPr userDrawn="1"/>
        </p:nvSpPr>
        <p:spPr>
          <a:xfrm>
            <a:off x="16026" y="5758345"/>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9B33D227-3B6F-CC84-F43C-7FBDC74D7027}"/>
              </a:ext>
            </a:extLst>
          </p:cNvPr>
          <p:cNvSpPr/>
          <p:nvPr userDrawn="1"/>
        </p:nvSpPr>
        <p:spPr>
          <a:xfrm>
            <a:off x="16026" y="6134697"/>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5F350F5-BC8F-5B4F-FA94-F5A886F3859E}"/>
              </a:ext>
            </a:extLst>
          </p:cNvPr>
          <p:cNvSpPr/>
          <p:nvPr userDrawn="1"/>
        </p:nvSpPr>
        <p:spPr>
          <a:xfrm>
            <a:off x="16026" y="6511050"/>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descr="A picture containing clipart, vector graphics&#10;&#10;Description automatically generated">
            <a:extLst>
              <a:ext uri="{FF2B5EF4-FFF2-40B4-BE49-F238E27FC236}">
                <a16:creationId xmlns:a16="http://schemas.microsoft.com/office/drawing/2014/main" id="{1159E91D-76B6-E388-6E9A-90AF56327829}"/>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12638" y="362637"/>
            <a:ext cx="544288" cy="450213"/>
          </a:xfrm>
          <a:prstGeom prst="rect">
            <a:avLst/>
          </a:prstGeom>
        </p:spPr>
      </p:pic>
      <p:sp>
        <p:nvSpPr>
          <p:cNvPr id="7" name="Slide Number Placeholder 6">
            <a:extLst>
              <a:ext uri="{FF2B5EF4-FFF2-40B4-BE49-F238E27FC236}">
                <a16:creationId xmlns:a16="http://schemas.microsoft.com/office/drawing/2014/main" id="{7401E60B-49E0-F1AF-2056-D979BF688F24}"/>
              </a:ext>
            </a:extLst>
          </p:cNvPr>
          <p:cNvSpPr>
            <a:spLocks noGrp="1"/>
          </p:cNvSpPr>
          <p:nvPr>
            <p:ph type="sldNum" sz="quarter" idx="12"/>
          </p:nvPr>
        </p:nvSpPr>
        <p:spPr>
          <a:xfrm>
            <a:off x="11900455" y="6565013"/>
            <a:ext cx="291600" cy="291600"/>
          </a:xfrm>
        </p:spPr>
        <p:txBody>
          <a:bodyPr/>
          <a:lstStyle>
            <a:lvl1pPr marL="0" algn="ctr" defTabSz="914400" rtl="0" eaLnBrk="1" latinLnBrk="0" hangingPunct="1">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sp>
        <p:nvSpPr>
          <p:cNvPr id="5" name="Date Placeholder 4">
            <a:extLst>
              <a:ext uri="{FF2B5EF4-FFF2-40B4-BE49-F238E27FC236}">
                <a16:creationId xmlns:a16="http://schemas.microsoft.com/office/drawing/2014/main" id="{2B42D31F-1378-BD90-39BE-0040CC48E6CF}"/>
              </a:ext>
            </a:extLst>
          </p:cNvPr>
          <p:cNvSpPr>
            <a:spLocks noGrp="1"/>
          </p:cNvSpPr>
          <p:nvPr>
            <p:ph type="dt" sz="half" idx="13"/>
          </p:nvPr>
        </p:nvSpPr>
        <p:spPr>
          <a:xfrm>
            <a:off x="838200" y="6481647"/>
            <a:ext cx="2090098" cy="239828"/>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pPr/>
              <a:t>October 10, 2024</a:t>
            </a:fld>
            <a:endParaRPr lang="en-US" dirty="0"/>
          </a:p>
        </p:txBody>
      </p:sp>
    </p:spTree>
    <p:extLst>
      <p:ext uri="{BB962C8B-B14F-4D97-AF65-F5344CB8AC3E}">
        <p14:creationId xmlns:p14="http://schemas.microsoft.com/office/powerpoint/2010/main" val="7164233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Trang trốn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8FCF4205-FE69-B110-BFEC-96C243E846C8}"/>
              </a:ext>
            </a:extLst>
          </p:cNvPr>
          <p:cNvSpPr>
            <a:spLocks noGrp="1"/>
          </p:cNvSpPr>
          <p:nvPr>
            <p:ph type="ftr" sz="quarter" idx="11"/>
          </p:nvPr>
        </p:nvSpPr>
        <p:spPr>
          <a:xfrm>
            <a:off x="3684104" y="6481647"/>
            <a:ext cx="4823792" cy="239828"/>
          </a:xfrm>
        </p:spPr>
        <p:txBody>
          <a:bodyPr/>
          <a:lstStyle>
            <a:lvl1pPr>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dirty="0"/>
              <a:t>Thực hiện bởi Trường Đại học Công nghệ Thông tin, ĐHQG-HCM</a:t>
            </a:r>
            <a:endParaRPr lang="en-VN" dirty="0"/>
          </a:p>
        </p:txBody>
      </p:sp>
      <p:sp>
        <p:nvSpPr>
          <p:cNvPr id="5" name="Freeform 4">
            <a:extLst>
              <a:ext uri="{FF2B5EF4-FFF2-40B4-BE49-F238E27FC236}">
                <a16:creationId xmlns:a16="http://schemas.microsoft.com/office/drawing/2014/main" id="{7B001B7A-ACFD-E95F-12D9-19AAE5D26050}"/>
              </a:ext>
            </a:extLst>
          </p:cNvPr>
          <p:cNvSpPr/>
          <p:nvPr userDrawn="1"/>
        </p:nvSpPr>
        <p:spPr>
          <a:xfrm rot="10800000">
            <a:off x="-2" y="0"/>
            <a:ext cx="12192000" cy="6858000"/>
          </a:xfrm>
          <a:custGeom>
            <a:avLst/>
            <a:gdLst>
              <a:gd name="connsiteX0" fmla="*/ 0 w 12192000"/>
              <a:gd name="connsiteY0" fmla="*/ 616911 h 6858000"/>
              <a:gd name="connsiteX1" fmla="*/ 0 w 12192000"/>
              <a:gd name="connsiteY1" fmla="*/ 0 h 6858000"/>
              <a:gd name="connsiteX2" fmla="*/ 715617 w 12192000"/>
              <a:gd name="connsiteY2" fmla="*/ 0 h 6858000"/>
              <a:gd name="connsiteX3" fmla="*/ 12192000 w 12192000"/>
              <a:gd name="connsiteY3" fmla="*/ 6858000 h 6858000"/>
              <a:gd name="connsiteX4" fmla="*/ 11476383 w 12192000"/>
              <a:gd name="connsiteY4" fmla="*/ 6858000 h 6858000"/>
              <a:gd name="connsiteX5" fmla="*/ 12192000 w 12192000"/>
              <a:gd name="connsiteY5" fmla="*/ 624108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616911"/>
                </a:moveTo>
                <a:lnTo>
                  <a:pt x="0" y="0"/>
                </a:lnTo>
                <a:lnTo>
                  <a:pt x="715617" y="0"/>
                </a:lnTo>
                <a:close/>
                <a:moveTo>
                  <a:pt x="12192000" y="6858000"/>
                </a:moveTo>
                <a:lnTo>
                  <a:pt x="11476383" y="6858000"/>
                </a:lnTo>
                <a:lnTo>
                  <a:pt x="12192000" y="6241089"/>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Isosceles Triangle 12">
            <a:extLst>
              <a:ext uri="{FF2B5EF4-FFF2-40B4-BE49-F238E27FC236}">
                <a16:creationId xmlns:a16="http://schemas.microsoft.com/office/drawing/2014/main" id="{EC54FC6D-4EA2-05B8-622E-978CA44EE451}"/>
              </a:ext>
            </a:extLst>
          </p:cNvPr>
          <p:cNvSpPr/>
          <p:nvPr userDrawn="1"/>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686BFCC2-A4FC-FD21-E540-274D8A5E86A6}"/>
              </a:ext>
            </a:extLst>
          </p:cNvPr>
          <p:cNvGrpSpPr/>
          <p:nvPr userDrawn="1"/>
        </p:nvGrpSpPr>
        <p:grpSpPr>
          <a:xfrm>
            <a:off x="58527" y="40944"/>
            <a:ext cx="2869771" cy="1563379"/>
            <a:chOff x="44879" y="27296"/>
            <a:chExt cx="2869771" cy="1563379"/>
          </a:xfrm>
          <a:solidFill>
            <a:srgbClr val="0072FF"/>
          </a:solidFill>
        </p:grpSpPr>
        <p:cxnSp>
          <p:nvCxnSpPr>
            <p:cNvPr id="8" name="Straight Connector 7">
              <a:extLst>
                <a:ext uri="{FF2B5EF4-FFF2-40B4-BE49-F238E27FC236}">
                  <a16:creationId xmlns:a16="http://schemas.microsoft.com/office/drawing/2014/main" id="{FE02FF7A-C97B-6315-EE50-502DD70172C7}"/>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FBB8E8B-5D54-0BE8-2B45-A52136DC7C14}"/>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26865F1-6407-106A-3054-46BDFFCABBCE}"/>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1" name="Isosceles Triangle 12">
            <a:extLst>
              <a:ext uri="{FF2B5EF4-FFF2-40B4-BE49-F238E27FC236}">
                <a16:creationId xmlns:a16="http://schemas.microsoft.com/office/drawing/2014/main" id="{F7A0C3F8-4035-744F-55A7-EA06C1D5C7EA}"/>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CC9E4668-1010-687F-A942-6C4D5A705103}"/>
              </a:ext>
            </a:extLst>
          </p:cNvPr>
          <p:cNvGrpSpPr/>
          <p:nvPr userDrawn="1"/>
        </p:nvGrpSpPr>
        <p:grpSpPr>
          <a:xfrm flipH="1" flipV="1">
            <a:off x="9263702" y="5253677"/>
            <a:ext cx="2869771" cy="1563379"/>
            <a:chOff x="44879" y="27296"/>
            <a:chExt cx="2869771" cy="1563379"/>
          </a:xfrm>
          <a:solidFill>
            <a:srgbClr val="0072FF"/>
          </a:solidFill>
        </p:grpSpPr>
        <p:cxnSp>
          <p:nvCxnSpPr>
            <p:cNvPr id="13" name="Straight Connector 12">
              <a:extLst>
                <a:ext uri="{FF2B5EF4-FFF2-40B4-BE49-F238E27FC236}">
                  <a16:creationId xmlns:a16="http://schemas.microsoft.com/office/drawing/2014/main" id="{5C38CE8D-69BB-4124-0995-8FFFD3591CF4}"/>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67A915F-DF8B-DE38-6935-2EF2855BD441}"/>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9EE0435-0ACC-2AB8-1B9F-A6029A49FCEA}"/>
                </a:ext>
              </a:extLst>
            </p:cNvPr>
            <p:cNvCxnSpPr>
              <a:cxnSpLocks/>
            </p:cNvCxnSpPr>
            <p:nvPr/>
          </p:nvCxnSpPr>
          <p:spPr>
            <a:xfrm flipV="1">
              <a:off x="52214" y="654128"/>
              <a:ext cx="0" cy="93654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16" name="Oval 15">
            <a:extLst>
              <a:ext uri="{FF2B5EF4-FFF2-40B4-BE49-F238E27FC236}">
                <a16:creationId xmlns:a16="http://schemas.microsoft.com/office/drawing/2014/main" id="{193E2330-6133-BE87-4D2E-C83A58844D20}"/>
              </a:ext>
            </a:extLst>
          </p:cNvPr>
          <p:cNvSpPr/>
          <p:nvPr userDrawn="1"/>
        </p:nvSpPr>
        <p:spPr>
          <a:xfrm>
            <a:off x="11926541" y="6589084"/>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A037ACE3-8FB7-24F0-3868-FE9125A2AECB}"/>
              </a:ext>
            </a:extLst>
          </p:cNvPr>
          <p:cNvSpPr/>
          <p:nvPr userDrawn="1"/>
        </p:nvSpPr>
        <p:spPr>
          <a:xfrm>
            <a:off x="16026" y="4629289"/>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CA5D02D-0007-4DC9-960D-BEF3BFABF7BF}"/>
              </a:ext>
            </a:extLst>
          </p:cNvPr>
          <p:cNvSpPr/>
          <p:nvPr userDrawn="1"/>
        </p:nvSpPr>
        <p:spPr>
          <a:xfrm>
            <a:off x="16026" y="5005641"/>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0C732A1-B62D-CEEA-BA05-6809BA51F8BD}"/>
              </a:ext>
            </a:extLst>
          </p:cNvPr>
          <p:cNvSpPr/>
          <p:nvPr userDrawn="1"/>
        </p:nvSpPr>
        <p:spPr>
          <a:xfrm>
            <a:off x="16026" y="5381993"/>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F4BF2B8-4151-6AB5-64CB-17CA8871FA1F}"/>
              </a:ext>
            </a:extLst>
          </p:cNvPr>
          <p:cNvSpPr/>
          <p:nvPr userDrawn="1"/>
        </p:nvSpPr>
        <p:spPr>
          <a:xfrm>
            <a:off x="16026" y="5758345"/>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0EAEE115-474E-0C83-1F8A-40C90DC3E1A5}"/>
              </a:ext>
            </a:extLst>
          </p:cNvPr>
          <p:cNvSpPr/>
          <p:nvPr userDrawn="1"/>
        </p:nvSpPr>
        <p:spPr>
          <a:xfrm>
            <a:off x="16026" y="6134697"/>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18BB15EA-009D-0AD0-1DD5-9E5E43B737E1}"/>
              </a:ext>
            </a:extLst>
          </p:cNvPr>
          <p:cNvSpPr/>
          <p:nvPr userDrawn="1"/>
        </p:nvSpPr>
        <p:spPr>
          <a:xfrm>
            <a:off x="16026" y="6511050"/>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Picture 22" descr="A picture containing clipart, vector graphics&#10;&#10;Description automatically generated">
            <a:extLst>
              <a:ext uri="{FF2B5EF4-FFF2-40B4-BE49-F238E27FC236}">
                <a16:creationId xmlns:a16="http://schemas.microsoft.com/office/drawing/2014/main" id="{0750E473-BE75-9843-7989-024278E0E268}"/>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12638" y="362637"/>
            <a:ext cx="544288" cy="450213"/>
          </a:xfrm>
          <a:prstGeom prst="rect">
            <a:avLst/>
          </a:prstGeom>
        </p:spPr>
      </p:pic>
      <p:sp>
        <p:nvSpPr>
          <p:cNvPr id="4" name="Slide Number Placeholder 3">
            <a:extLst>
              <a:ext uri="{FF2B5EF4-FFF2-40B4-BE49-F238E27FC236}">
                <a16:creationId xmlns:a16="http://schemas.microsoft.com/office/drawing/2014/main" id="{807543E0-8536-7E05-8D77-79C6CEA07DB9}"/>
              </a:ext>
            </a:extLst>
          </p:cNvPr>
          <p:cNvSpPr>
            <a:spLocks noGrp="1"/>
          </p:cNvSpPr>
          <p:nvPr>
            <p:ph type="sldNum" sz="quarter" idx="12"/>
          </p:nvPr>
        </p:nvSpPr>
        <p:spPr>
          <a:xfrm>
            <a:off x="11897699" y="6560242"/>
            <a:ext cx="291600" cy="291600"/>
          </a:xfrm>
        </p:spPr>
        <p:txBody>
          <a:bodyPr/>
          <a:lstStyle>
            <a:lvl1pPr algn="ctr">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sp>
        <p:nvSpPr>
          <p:cNvPr id="2" name="Date Placeholder 1">
            <a:extLst>
              <a:ext uri="{FF2B5EF4-FFF2-40B4-BE49-F238E27FC236}">
                <a16:creationId xmlns:a16="http://schemas.microsoft.com/office/drawing/2014/main" id="{90AD0C70-2015-36A0-DCB1-0E2322D0D364}"/>
              </a:ext>
            </a:extLst>
          </p:cNvPr>
          <p:cNvSpPr>
            <a:spLocks noGrp="1"/>
          </p:cNvSpPr>
          <p:nvPr>
            <p:ph type="dt" sz="half" idx="13"/>
          </p:nvPr>
        </p:nvSpPr>
        <p:spPr>
          <a:xfrm>
            <a:off x="838200" y="6481647"/>
            <a:ext cx="2148299" cy="239828"/>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pPr/>
              <a:t>October 10, 2024</a:t>
            </a:fld>
            <a:endParaRPr lang="en-US" dirty="0"/>
          </a:p>
        </p:txBody>
      </p:sp>
    </p:spTree>
    <p:extLst>
      <p:ext uri="{BB962C8B-B14F-4D97-AF65-F5344CB8AC3E}">
        <p14:creationId xmlns:p14="http://schemas.microsoft.com/office/powerpoint/2010/main" val="1119857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BCB126-07C1-993D-D40F-CC928946B4B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1. TÊN MỤC</a:t>
            </a:r>
            <a:endParaRPr lang="en-VN" dirty="0"/>
          </a:p>
        </p:txBody>
      </p:sp>
      <p:sp>
        <p:nvSpPr>
          <p:cNvPr id="3" name="Text Placeholder 2">
            <a:extLst>
              <a:ext uri="{FF2B5EF4-FFF2-40B4-BE49-F238E27FC236}">
                <a16:creationId xmlns:a16="http://schemas.microsoft.com/office/drawing/2014/main" id="{B5BBBD58-B33F-3C47-5551-9A2A2CE2775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83F5A01D-3EDB-1F54-F4EE-AFD1EF9962F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6CDDB1B-AAE9-1649-A755-11FADEB7E97E}" type="datetime4">
              <a:rPr lang="en-US" smtClean="0"/>
              <a:t>October 10, 2024</a:t>
            </a:fld>
            <a:endParaRPr lang="en-VN"/>
          </a:p>
        </p:txBody>
      </p:sp>
      <p:sp>
        <p:nvSpPr>
          <p:cNvPr id="5" name="Footer Placeholder 4">
            <a:extLst>
              <a:ext uri="{FF2B5EF4-FFF2-40B4-BE49-F238E27FC236}">
                <a16:creationId xmlns:a16="http://schemas.microsoft.com/office/drawing/2014/main" id="{F95D1C7E-53C3-CE2D-B996-7F97021382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vi-VN"/>
              <a:t>Thực hiện bởi Trường Đại học Công nghệ Thông tin, ĐHQG-HCM</a:t>
            </a:r>
            <a:endParaRPr lang="en-VN"/>
          </a:p>
        </p:txBody>
      </p:sp>
      <p:sp>
        <p:nvSpPr>
          <p:cNvPr id="6" name="Slide Number Placeholder 5">
            <a:extLst>
              <a:ext uri="{FF2B5EF4-FFF2-40B4-BE49-F238E27FC236}">
                <a16:creationId xmlns:a16="http://schemas.microsoft.com/office/drawing/2014/main" id="{1A91A76A-6303-F16B-A578-8E129753AC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B0B3AC-44A8-D142-AAF6-9A453466E1A4}" type="slidenum">
              <a:rPr lang="en-VN" smtClean="0"/>
              <a:t>‹#›</a:t>
            </a:fld>
            <a:endParaRPr lang="en-VN"/>
          </a:p>
        </p:txBody>
      </p:sp>
    </p:spTree>
    <p:extLst>
      <p:ext uri="{BB962C8B-B14F-4D97-AF65-F5344CB8AC3E}">
        <p14:creationId xmlns:p14="http://schemas.microsoft.com/office/powerpoint/2010/main" val="1204367988"/>
      </p:ext>
    </p:extLst>
  </p:cSld>
  <p:clrMap bg1="lt1" tx1="dk1" bg2="lt2" tx2="dk2" accent1="accent1" accent2="accent2" accent3="accent3" accent4="accent4" accent5="accent5" accent6="accent6" hlink="hlink" folHlink="folHlink"/>
  <p:sldLayoutIdLst>
    <p:sldLayoutId id="2147483649" r:id="rId1"/>
    <p:sldLayoutId id="2147483662" r:id="rId2"/>
    <p:sldLayoutId id="2147483664" r:id="rId3"/>
    <p:sldLayoutId id="2147483663" r:id="rId4"/>
    <p:sldLayoutId id="2147483650" r:id="rId5"/>
    <p:sldLayoutId id="2147483652" r:id="rId6"/>
    <p:sldLayoutId id="2147483653" r:id="rId7"/>
    <p:sldLayoutId id="2147483656" r:id="rId8"/>
    <p:sldLayoutId id="2147483657" r:id="rId9"/>
    <p:sldLayoutId id="2147483655" r:id="rId10"/>
  </p:sldLayoutIdLst>
  <p:hf hdr="0"/>
  <p:txStyles>
    <p:titleStyle>
      <a:lvl1pPr algn="l" defTabSz="914400" rtl="0" eaLnBrk="1" latinLnBrk="0" hangingPunct="1">
        <a:lnSpc>
          <a:spcPct val="90000"/>
        </a:lnSpc>
        <a:spcBef>
          <a:spcPct val="0"/>
        </a:spcBef>
        <a:buNone/>
        <a:defRPr sz="4000" b="1" kern="1200">
          <a:gradFill flip="none" rotWithShape="1">
            <a:gsLst>
              <a:gs pos="0">
                <a:srgbClr val="0072FF"/>
              </a:gs>
              <a:gs pos="100000">
                <a:srgbClr val="00C6FF"/>
              </a:gs>
            </a:gsLst>
            <a:lin ang="2700000" scaled="1"/>
            <a:tileRect/>
          </a:gradFill>
          <a:effectLst>
            <a:innerShdw blurRad="114300">
              <a:schemeClr val="bg1"/>
            </a:innerShdw>
          </a:effectLst>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5.xml"/><Relationship Id="rId4" Type="http://schemas.openxmlformats.org/officeDocument/2006/relationships/image" Target="../media/image6.jpeg"/></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video" Target="../media/media1.webm"/><Relationship Id="rId1" Type="http://schemas.microsoft.com/office/2007/relationships/media" Target="../media/media1.webm"/><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8" Type="http://schemas.openxmlformats.org/officeDocument/2006/relationships/image" Target="../media/image18.jpeg"/><Relationship Id="rId3" Type="http://schemas.openxmlformats.org/officeDocument/2006/relationships/image" Target="../media/image13.jpeg"/><Relationship Id="rId7"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5.xml"/><Relationship Id="rId6" Type="http://schemas.openxmlformats.org/officeDocument/2006/relationships/image" Target="../media/image16.png"/><Relationship Id="rId5" Type="http://schemas.openxmlformats.org/officeDocument/2006/relationships/image" Target="../media/image15.jpeg"/><Relationship Id="rId4" Type="http://schemas.openxmlformats.org/officeDocument/2006/relationships/image" Target="../media/image14.jpeg"/></Relationships>
</file>

<file path=ppt/slides/_rels/slide2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5.xml"/><Relationship Id="rId5" Type="http://schemas.openxmlformats.org/officeDocument/2006/relationships/image" Target="../media/image23.jpeg"/><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5.xml"/><Relationship Id="rId5" Type="http://schemas.openxmlformats.org/officeDocument/2006/relationships/image" Target="../media/image29.gif"/><Relationship Id="rId4" Type="http://schemas.openxmlformats.org/officeDocument/2006/relationships/image" Target="../media/image28.jpeg"/></Relationships>
</file>

<file path=ppt/slides/_rels/slide25.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33.jpeg"/><Relationship Id="rId5" Type="http://schemas.openxmlformats.org/officeDocument/2006/relationships/image" Target="../media/image32.jpeg"/><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3" Type="http://schemas.openxmlformats.org/officeDocument/2006/relationships/hyperlink" Target="https://en.wikipedia.org/wiki/Integrated_circuit#cite_note-82" TargetMode="External"/><Relationship Id="rId2" Type="http://schemas.openxmlformats.org/officeDocument/2006/relationships/hyperlink" Target="https://en.wikipedia.org/wiki/Transistor_count" TargetMode="External"/><Relationship Id="rId1" Type="http://schemas.openxmlformats.org/officeDocument/2006/relationships/slideLayout" Target="../slideLayouts/slideLayout5.xml"/><Relationship Id="rId6" Type="http://schemas.openxmlformats.org/officeDocument/2006/relationships/hyperlink" Target="https://en.wikipedia.org/wiki/Very_large-scale_integration" TargetMode="External"/><Relationship Id="rId5" Type="http://schemas.openxmlformats.org/officeDocument/2006/relationships/hyperlink" Target="https://en.wikipedia.org/wiki/Integrated_circuit#cite_note-83" TargetMode="External"/><Relationship Id="rId4" Type="http://schemas.openxmlformats.org/officeDocument/2006/relationships/hyperlink" Target="https://en.wikipedia.org/wiki/Logic_gate" TargetMode="External"/></Relationships>
</file>

<file path=ppt/slides/_rels/slide27.xml.rels><?xml version="1.0" encoding="UTF-8" standalone="yes"?>
<Relationships xmlns="http://schemas.openxmlformats.org/package/2006/relationships"><Relationship Id="rId8" Type="http://schemas.openxmlformats.org/officeDocument/2006/relationships/image" Target="../media/image36.jpeg"/><Relationship Id="rId3" Type="http://schemas.openxmlformats.org/officeDocument/2006/relationships/hyperlink" Target="https://www.livescience.com/20718-computer-history.html" TargetMode="External"/><Relationship Id="rId7" Type="http://schemas.openxmlformats.org/officeDocument/2006/relationships/image" Target="../media/image35.jpe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34.jpeg"/><Relationship Id="rId5" Type="http://schemas.openxmlformats.org/officeDocument/2006/relationships/hyperlink" Target="https://laodong.vn/cong-nghe/thoi-dai-cua-may-tinh-luong-tu-dang-toi-gan-1206129.ldo" TargetMode="External"/><Relationship Id="rId4" Type="http://schemas.openxmlformats.org/officeDocument/2006/relationships/hyperlink" Target="https://www.amazon.com/Brief-History-Computing-Gerard-ORegan/dp/3030665984?tag=georiot-us-default-20&amp;ascsubtag=livescience-row-1070176377221728500-20&amp;geniuslink=true"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5.xml"/><Relationship Id="rId4" Type="http://schemas.openxmlformats.org/officeDocument/2006/relationships/image" Target="../media/image39.jpeg"/></Relationships>
</file>

<file path=ppt/slides/_rels/slide31.xml.rels><?xml version="1.0" encoding="UTF-8" standalone="yes"?>
<Relationships xmlns="http://schemas.openxmlformats.org/package/2006/relationships"><Relationship Id="rId3" Type="http://schemas.openxmlformats.org/officeDocument/2006/relationships/hyperlink" Target="https://surfacepro.vn/bai-viet/8-sieu-may-tinh-manh-nhat-the-gioi.html" TargetMode="External"/><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42.jpeg"/><Relationship Id="rId5" Type="http://schemas.openxmlformats.org/officeDocument/2006/relationships/image" Target="../media/image41.jpeg"/><Relationship Id="rId4" Type="http://schemas.openxmlformats.org/officeDocument/2006/relationships/image" Target="../media/image40.jpeg"/></Relationships>
</file>

<file path=ppt/slides/_rels/slide32.xml.rels><?xml version="1.0" encoding="UTF-8" standalone="yes"?>
<Relationships xmlns="http://schemas.openxmlformats.org/package/2006/relationships"><Relationship Id="rId3" Type="http://schemas.openxmlformats.org/officeDocument/2006/relationships/hyperlink" Target="https://vnexpress.net/10-sieu-may-tinh-manh-nhat-the-gioi-4611149.html#:~:text=Fugaku%20(Nh%E1%BA%ADt%20B%E1%BA%A3n),c%E1%BB%A9u%20Covid%2D19%20n%C4%83m%202021." TargetMode="External"/><Relationship Id="rId2" Type="http://schemas.openxmlformats.org/officeDocument/2006/relationships/hyperlink" Target="https://www.sieuthimaychu.vn/index.php/May_Chu/Server/" TargetMode="External"/><Relationship Id="rId1" Type="http://schemas.openxmlformats.org/officeDocument/2006/relationships/slideLayout" Target="../slideLayouts/slideLayout5.xml"/><Relationship Id="rId6" Type="http://schemas.openxmlformats.org/officeDocument/2006/relationships/image" Target="../media/image44.jpeg"/><Relationship Id="rId5" Type="http://schemas.openxmlformats.org/officeDocument/2006/relationships/image" Target="../media/image43.jpeg"/><Relationship Id="rId4" Type="http://schemas.openxmlformats.org/officeDocument/2006/relationships/hyperlink" Target="https://cloud.z.com/vn/news/datacenter/" TargetMode="External"/></Relationships>
</file>

<file path=ppt/slides/_rels/slide33.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45.jpeg"/><Relationship Id="rId1" Type="http://schemas.openxmlformats.org/officeDocument/2006/relationships/slideLayout" Target="../slideLayouts/slideLayout5.xml"/><Relationship Id="rId4" Type="http://schemas.openxmlformats.org/officeDocument/2006/relationships/image" Target="../media/image4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image" Target="../media/image53.jpeg"/><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image" Target="../media/image55.jpeg"/><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image" Target="../media/image57.jpeg"/><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B88DCF8-0D88-9852-95C4-4F568F0A7200}"/>
              </a:ext>
            </a:extLst>
          </p:cNvPr>
          <p:cNvSpPr>
            <a:spLocks noGrp="1"/>
          </p:cNvSpPr>
          <p:nvPr>
            <p:ph type="sldNum" sz="quarter" idx="12"/>
          </p:nvPr>
        </p:nvSpPr>
        <p:spPr/>
        <p:txBody>
          <a:bodyPr/>
          <a:lstStyle/>
          <a:p>
            <a:fld id="{D8B0B3AC-44A8-D142-AAF6-9A453466E1A4}" type="slidenum">
              <a:rPr lang="en-VN" smtClean="0"/>
              <a:pPr/>
              <a:t>1</a:t>
            </a:fld>
            <a:endParaRPr lang="en-VN" dirty="0"/>
          </a:p>
        </p:txBody>
      </p:sp>
      <p:sp>
        <p:nvSpPr>
          <p:cNvPr id="7" name="Text Placeholder 6">
            <a:extLst>
              <a:ext uri="{FF2B5EF4-FFF2-40B4-BE49-F238E27FC236}">
                <a16:creationId xmlns:a16="http://schemas.microsoft.com/office/drawing/2014/main" id="{11F55CA5-843C-3510-DCA9-291216FC7646}"/>
              </a:ext>
            </a:extLst>
          </p:cNvPr>
          <p:cNvSpPr>
            <a:spLocks noGrp="1"/>
          </p:cNvSpPr>
          <p:nvPr>
            <p:ph type="body" sz="quarter" idx="13"/>
          </p:nvPr>
        </p:nvSpPr>
        <p:spPr/>
        <p:txBody>
          <a:bodyPr>
            <a:normAutofit fontScale="77500" lnSpcReduction="20000"/>
          </a:bodyPr>
          <a:lstStyle/>
          <a:p>
            <a:r>
              <a:rPr lang="en-US"/>
              <a:t>TỔ CHỨC VÀ CẤU TRÚC MÁY TÍNH II</a:t>
            </a:r>
            <a:endParaRPr lang="en-VN" dirty="0"/>
          </a:p>
        </p:txBody>
      </p:sp>
      <p:sp>
        <p:nvSpPr>
          <p:cNvPr id="8" name="Text Placeholder 7">
            <a:extLst>
              <a:ext uri="{FF2B5EF4-FFF2-40B4-BE49-F238E27FC236}">
                <a16:creationId xmlns:a16="http://schemas.microsoft.com/office/drawing/2014/main" id="{A2113BCF-E52A-540A-4540-2833CA1A0E44}"/>
              </a:ext>
            </a:extLst>
          </p:cNvPr>
          <p:cNvSpPr>
            <a:spLocks noGrp="1"/>
          </p:cNvSpPr>
          <p:nvPr>
            <p:ph type="body" sz="quarter" idx="14"/>
          </p:nvPr>
        </p:nvSpPr>
        <p:spPr/>
        <p:txBody>
          <a:bodyPr/>
          <a:lstStyle/>
          <a:p>
            <a:r>
              <a:rPr lang="en-US"/>
              <a:t>CHƯƠNG 0: GIỚI THIỆU MÔN HỌC</a:t>
            </a:r>
            <a:endParaRPr lang="en-VN"/>
          </a:p>
        </p:txBody>
      </p:sp>
      <p:sp>
        <p:nvSpPr>
          <p:cNvPr id="9" name="Text Placeholder 8">
            <a:extLst>
              <a:ext uri="{FF2B5EF4-FFF2-40B4-BE49-F238E27FC236}">
                <a16:creationId xmlns:a16="http://schemas.microsoft.com/office/drawing/2014/main" id="{4F41A4B7-48D3-1CAE-C056-FDAD586D0469}"/>
              </a:ext>
            </a:extLst>
          </p:cNvPr>
          <p:cNvSpPr>
            <a:spLocks noGrp="1"/>
          </p:cNvSpPr>
          <p:nvPr>
            <p:ph type="body" sz="quarter" idx="15"/>
          </p:nvPr>
        </p:nvSpPr>
        <p:spPr/>
        <p:txBody>
          <a:bodyPr/>
          <a:lstStyle/>
          <a:p>
            <a:r>
              <a:rPr lang="en-US"/>
              <a:t>PHAN ĐÌNH DUY</a:t>
            </a:r>
            <a:endParaRPr lang="en-VN"/>
          </a:p>
        </p:txBody>
      </p:sp>
      <p:sp>
        <p:nvSpPr>
          <p:cNvPr id="10" name="Text Placeholder 9">
            <a:extLst>
              <a:ext uri="{FF2B5EF4-FFF2-40B4-BE49-F238E27FC236}">
                <a16:creationId xmlns:a16="http://schemas.microsoft.com/office/drawing/2014/main" id="{A673612D-1002-64DC-D3C2-F4E546D79283}"/>
              </a:ext>
            </a:extLst>
          </p:cNvPr>
          <p:cNvSpPr>
            <a:spLocks noGrp="1"/>
          </p:cNvSpPr>
          <p:nvPr>
            <p:ph type="body" sz="quarter" idx="16"/>
          </p:nvPr>
        </p:nvSpPr>
        <p:spPr/>
        <p:txBody>
          <a:bodyPr/>
          <a:lstStyle/>
          <a:p>
            <a:r>
              <a:rPr lang="en-US" dirty="0" err="1"/>
              <a:t>Trình</a:t>
            </a:r>
            <a:r>
              <a:rPr lang="en-US" dirty="0"/>
              <a:t> </a:t>
            </a:r>
            <a:r>
              <a:rPr lang="en-US" dirty="0" err="1"/>
              <a:t>bày</a:t>
            </a:r>
            <a:r>
              <a:rPr lang="en-US" dirty="0"/>
              <a:t> </a:t>
            </a:r>
            <a:r>
              <a:rPr lang="en-US" dirty="0" err="1"/>
              <a:t>các</a:t>
            </a:r>
            <a:r>
              <a:rPr lang="en-US" dirty="0"/>
              <a:t> </a:t>
            </a:r>
            <a:r>
              <a:rPr lang="en-US" dirty="0" err="1"/>
              <a:t>thông</a:t>
            </a:r>
            <a:r>
              <a:rPr lang="en-US" dirty="0"/>
              <a:t> tin </a:t>
            </a:r>
            <a:r>
              <a:rPr lang="en-US" dirty="0" err="1"/>
              <a:t>về</a:t>
            </a:r>
            <a:r>
              <a:rPr lang="en-US" dirty="0"/>
              <a:t> </a:t>
            </a:r>
            <a:r>
              <a:rPr lang="en-US" dirty="0" err="1"/>
              <a:t>giảng</a:t>
            </a:r>
            <a:r>
              <a:rPr lang="en-US" dirty="0"/>
              <a:t> </a:t>
            </a:r>
            <a:r>
              <a:rPr lang="en-US" dirty="0" err="1"/>
              <a:t>viên</a:t>
            </a:r>
            <a:r>
              <a:rPr lang="en-US" dirty="0"/>
              <a:t> </a:t>
            </a:r>
            <a:r>
              <a:rPr lang="en-US" dirty="0" err="1"/>
              <a:t>giảng</a:t>
            </a:r>
            <a:r>
              <a:rPr lang="en-US" dirty="0"/>
              <a:t> </a:t>
            </a:r>
            <a:r>
              <a:rPr lang="en-US" dirty="0" err="1"/>
              <a:t>dạy</a:t>
            </a:r>
            <a:r>
              <a:rPr lang="en-US" dirty="0"/>
              <a:t>, </a:t>
            </a:r>
            <a:r>
              <a:rPr lang="en-US" dirty="0" err="1"/>
              <a:t>lý</a:t>
            </a:r>
            <a:r>
              <a:rPr lang="en-US" dirty="0"/>
              <a:t> do </a:t>
            </a:r>
            <a:r>
              <a:rPr lang="en-US" dirty="0" err="1"/>
              <a:t>học</a:t>
            </a:r>
            <a:r>
              <a:rPr lang="en-US" dirty="0"/>
              <a:t> </a:t>
            </a:r>
            <a:r>
              <a:rPr lang="en-US" dirty="0" err="1"/>
              <a:t>môn</a:t>
            </a:r>
            <a:r>
              <a:rPr lang="en-US" dirty="0"/>
              <a:t> </a:t>
            </a:r>
            <a:r>
              <a:rPr lang="en-US" dirty="0" err="1"/>
              <a:t>học</a:t>
            </a:r>
            <a:r>
              <a:rPr lang="en-US" dirty="0"/>
              <a:t> </a:t>
            </a:r>
            <a:r>
              <a:rPr lang="en-US" dirty="0" err="1"/>
              <a:t>này</a:t>
            </a:r>
            <a:r>
              <a:rPr lang="en-US" dirty="0"/>
              <a:t>, </a:t>
            </a:r>
            <a:r>
              <a:rPr lang="en-US" dirty="0" err="1"/>
              <a:t>chuẩn</a:t>
            </a:r>
            <a:r>
              <a:rPr lang="en-US" dirty="0"/>
              <a:t> </a:t>
            </a:r>
            <a:r>
              <a:rPr lang="en-US" dirty="0" err="1"/>
              <a:t>đầu</a:t>
            </a:r>
            <a:r>
              <a:rPr lang="en-US" dirty="0"/>
              <a:t> </a:t>
            </a:r>
            <a:r>
              <a:rPr lang="en-US" dirty="0" err="1"/>
              <a:t>ra</a:t>
            </a:r>
            <a:r>
              <a:rPr lang="en-US" dirty="0"/>
              <a:t> </a:t>
            </a:r>
            <a:r>
              <a:rPr lang="en-US" dirty="0" err="1"/>
              <a:t>môn</a:t>
            </a:r>
            <a:r>
              <a:rPr lang="en-US" dirty="0"/>
              <a:t> </a:t>
            </a:r>
            <a:r>
              <a:rPr lang="en-US" dirty="0" err="1"/>
              <a:t>học</a:t>
            </a:r>
            <a:r>
              <a:rPr lang="en-US" dirty="0"/>
              <a:t>, </a:t>
            </a:r>
            <a:r>
              <a:rPr lang="en-US" dirty="0" err="1"/>
              <a:t>các</a:t>
            </a:r>
            <a:r>
              <a:rPr lang="en-US" dirty="0"/>
              <a:t> </a:t>
            </a:r>
            <a:r>
              <a:rPr lang="en-US" dirty="0" err="1"/>
              <a:t>nội</a:t>
            </a:r>
            <a:r>
              <a:rPr lang="en-US" dirty="0"/>
              <a:t> dung </a:t>
            </a:r>
            <a:r>
              <a:rPr lang="en-US" dirty="0" err="1"/>
              <a:t>sẽ</a:t>
            </a:r>
            <a:r>
              <a:rPr lang="en-US" dirty="0"/>
              <a:t> </a:t>
            </a:r>
            <a:r>
              <a:rPr lang="en-US" dirty="0" err="1"/>
              <a:t>học</a:t>
            </a:r>
            <a:r>
              <a:rPr lang="en-US" dirty="0"/>
              <a:t>, </a:t>
            </a:r>
            <a:r>
              <a:rPr lang="en-US" dirty="0" err="1"/>
              <a:t>các</a:t>
            </a:r>
            <a:r>
              <a:rPr lang="en-US" dirty="0"/>
              <a:t> </a:t>
            </a:r>
            <a:r>
              <a:rPr lang="en-US" dirty="0" err="1"/>
              <a:t>thành</a:t>
            </a:r>
            <a:r>
              <a:rPr lang="en-US" dirty="0"/>
              <a:t> </a:t>
            </a:r>
            <a:r>
              <a:rPr lang="en-US" dirty="0" err="1"/>
              <a:t>phần</a:t>
            </a:r>
            <a:r>
              <a:rPr lang="en-US" dirty="0"/>
              <a:t> </a:t>
            </a:r>
            <a:r>
              <a:rPr lang="en-US" dirty="0" err="1"/>
              <a:t>điểm</a:t>
            </a:r>
            <a:r>
              <a:rPr lang="en-US" dirty="0"/>
              <a:t> </a:t>
            </a:r>
            <a:r>
              <a:rPr lang="en-US" dirty="0" err="1"/>
              <a:t>đánh</a:t>
            </a:r>
            <a:r>
              <a:rPr lang="en-US" dirty="0"/>
              <a:t> </a:t>
            </a:r>
            <a:r>
              <a:rPr lang="en-US" dirty="0" err="1"/>
              <a:t>giá</a:t>
            </a:r>
            <a:r>
              <a:rPr lang="en-US" dirty="0"/>
              <a:t> </a:t>
            </a:r>
            <a:r>
              <a:rPr lang="en-US" dirty="0" err="1"/>
              <a:t>môn</a:t>
            </a:r>
            <a:r>
              <a:rPr lang="en-US" dirty="0"/>
              <a:t> </a:t>
            </a:r>
            <a:r>
              <a:rPr lang="en-US" dirty="0" err="1"/>
              <a:t>học</a:t>
            </a:r>
            <a:r>
              <a:rPr lang="en-US" dirty="0"/>
              <a:t>, </a:t>
            </a:r>
            <a:r>
              <a:rPr lang="en-US" dirty="0" err="1"/>
              <a:t>đề</a:t>
            </a:r>
            <a:r>
              <a:rPr lang="en-US" dirty="0"/>
              <a:t> </a:t>
            </a:r>
            <a:r>
              <a:rPr lang="en-US" dirty="0" err="1"/>
              <a:t>cương</a:t>
            </a:r>
            <a:r>
              <a:rPr lang="en-US" dirty="0"/>
              <a:t> </a:t>
            </a:r>
            <a:r>
              <a:rPr lang="en-US" dirty="0" err="1"/>
              <a:t>môn</a:t>
            </a:r>
            <a:r>
              <a:rPr lang="en-US" dirty="0"/>
              <a:t> </a:t>
            </a:r>
            <a:r>
              <a:rPr lang="en-US" dirty="0" err="1"/>
              <a:t>học</a:t>
            </a:r>
            <a:endParaRPr lang="en-VN" dirty="0"/>
          </a:p>
        </p:txBody>
      </p:sp>
      <p:sp>
        <p:nvSpPr>
          <p:cNvPr id="2" name="Footer Placeholder 1">
            <a:extLst>
              <a:ext uri="{FF2B5EF4-FFF2-40B4-BE49-F238E27FC236}">
                <a16:creationId xmlns:a16="http://schemas.microsoft.com/office/drawing/2014/main" id="{2D72110C-D077-8C1D-3057-3378C02C490F}"/>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Tree>
    <p:extLst>
      <p:ext uri="{BB962C8B-B14F-4D97-AF65-F5344CB8AC3E}">
        <p14:creationId xmlns:p14="http://schemas.microsoft.com/office/powerpoint/2010/main" val="34733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EB6FCBF-4D71-BDAD-8392-99213DE0C5AA}"/>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2" name="Slide Number Placeholder 1">
            <a:extLst>
              <a:ext uri="{FF2B5EF4-FFF2-40B4-BE49-F238E27FC236}">
                <a16:creationId xmlns:a16="http://schemas.microsoft.com/office/drawing/2014/main" id="{9A9BD337-3CBD-0719-2FDF-03E1A46887FD}"/>
              </a:ext>
            </a:extLst>
          </p:cNvPr>
          <p:cNvSpPr>
            <a:spLocks noGrp="1"/>
          </p:cNvSpPr>
          <p:nvPr>
            <p:ph type="sldNum" sz="quarter" idx="12"/>
          </p:nvPr>
        </p:nvSpPr>
        <p:spPr/>
        <p:txBody>
          <a:bodyPr/>
          <a:lstStyle/>
          <a:p>
            <a:fld id="{D8B0B3AC-44A8-D142-AAF6-9A453466E1A4}" type="slidenum">
              <a:rPr lang="en-VN" smtClean="0"/>
              <a:pPr/>
              <a:t>2</a:t>
            </a:fld>
            <a:endParaRPr lang="en-VN" dirty="0"/>
          </a:p>
        </p:txBody>
      </p:sp>
      <p:sp>
        <p:nvSpPr>
          <p:cNvPr id="5" name="Text Placeholder 4">
            <a:extLst>
              <a:ext uri="{FF2B5EF4-FFF2-40B4-BE49-F238E27FC236}">
                <a16:creationId xmlns:a16="http://schemas.microsoft.com/office/drawing/2014/main" id="{CFBD77E0-7814-E542-0144-95AEF5C06AD5}"/>
              </a:ext>
            </a:extLst>
          </p:cNvPr>
          <p:cNvSpPr>
            <a:spLocks noGrp="1"/>
          </p:cNvSpPr>
          <p:nvPr>
            <p:ph type="body" sz="quarter" idx="13"/>
          </p:nvPr>
        </p:nvSpPr>
        <p:spPr/>
        <p:txBody>
          <a:bodyPr/>
          <a:lstStyle/>
          <a:p>
            <a:pPr>
              <a:spcAft>
                <a:spcPts val="1000"/>
              </a:spcAft>
              <a:buFont typeface="Wingdings" pitchFamily="2" charset="2"/>
              <a:buAutoNum type="arabicPeriod"/>
            </a:pPr>
            <a:r>
              <a:rPr lang="en-US" sz="2800"/>
              <a:t>Thông tin về giảng viên</a:t>
            </a:r>
          </a:p>
          <a:p>
            <a:pPr>
              <a:spcAft>
                <a:spcPts val="1000"/>
              </a:spcAft>
              <a:buFont typeface="Wingdings" pitchFamily="2" charset="2"/>
              <a:buAutoNum type="arabicPeriod"/>
            </a:pPr>
            <a:r>
              <a:rPr lang="en-US" sz="2800"/>
              <a:t>Giới thiệu môn học.</a:t>
            </a:r>
          </a:p>
          <a:p>
            <a:pPr>
              <a:spcAft>
                <a:spcPts val="1000"/>
              </a:spcAft>
              <a:buFont typeface="Wingdings" pitchFamily="2" charset="2"/>
              <a:buAutoNum type="arabicPeriod"/>
            </a:pPr>
            <a:r>
              <a:rPr lang="en-US" sz="2800"/>
              <a:t>Chuẩn đầu ra môn học.</a:t>
            </a:r>
          </a:p>
          <a:p>
            <a:pPr>
              <a:spcAft>
                <a:spcPts val="1000"/>
              </a:spcAft>
              <a:buFont typeface="Wingdings" pitchFamily="2" charset="2"/>
              <a:buAutoNum type="arabicPeriod"/>
            </a:pPr>
            <a:r>
              <a:rPr lang="en-US" sz="2800"/>
              <a:t>Nội dung môn học.</a:t>
            </a:r>
          </a:p>
          <a:p>
            <a:pPr>
              <a:spcAft>
                <a:spcPts val="1000"/>
              </a:spcAft>
              <a:buFont typeface="Wingdings" pitchFamily="2" charset="2"/>
              <a:buAutoNum type="arabicPeriod"/>
            </a:pPr>
            <a:r>
              <a:rPr lang="en-US" sz="2800"/>
              <a:t>Các thành phần đánh giá môn học</a:t>
            </a:r>
          </a:p>
          <a:p>
            <a:pPr>
              <a:spcAft>
                <a:spcPts val="1000"/>
              </a:spcAft>
              <a:buFont typeface="Wingdings" pitchFamily="2" charset="2"/>
              <a:buAutoNum type="arabicPeriod"/>
            </a:pPr>
            <a:r>
              <a:rPr lang="en-US" sz="2800"/>
              <a:t>Tài liệu học tập và tham khảo</a:t>
            </a:r>
          </a:p>
          <a:p>
            <a:pPr>
              <a:spcAft>
                <a:spcPts val="1000"/>
              </a:spcAft>
              <a:buFont typeface="Wingdings" pitchFamily="2" charset="2"/>
              <a:buAutoNum type="arabicPeriod"/>
            </a:pPr>
            <a:r>
              <a:rPr lang="en-US" sz="2800"/>
              <a:t>Đề cương môn học</a:t>
            </a:r>
            <a:endParaRPr lang="en-US" dirty="0"/>
          </a:p>
        </p:txBody>
      </p:sp>
    </p:spTree>
    <p:extLst>
      <p:ext uri="{BB962C8B-B14F-4D97-AF65-F5344CB8AC3E}">
        <p14:creationId xmlns:p14="http://schemas.microsoft.com/office/powerpoint/2010/main" val="4135665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r>
              <a:rPr lang="en-US"/>
              <a:t>Thông tin về giảng viên</a:t>
            </a:r>
            <a:endParaRPr lang="en-VN" dirty="0"/>
          </a:p>
        </p:txBody>
      </p:sp>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p:txBody>
          <a:bodyPr/>
          <a:lstStyle/>
          <a:p>
            <a:r>
              <a:rPr lang="en-US" dirty="0" err="1"/>
              <a:t>Giảng</a:t>
            </a:r>
            <a:r>
              <a:rPr lang="en-US" dirty="0"/>
              <a:t> </a:t>
            </a:r>
            <a:r>
              <a:rPr lang="en-US" dirty="0" err="1"/>
              <a:t>viên</a:t>
            </a:r>
            <a:r>
              <a:rPr lang="en-US" dirty="0"/>
              <a:t> </a:t>
            </a:r>
            <a:r>
              <a:rPr lang="en-US" dirty="0" err="1"/>
              <a:t>phụ</a:t>
            </a:r>
            <a:r>
              <a:rPr lang="en-US" dirty="0"/>
              <a:t> </a:t>
            </a:r>
            <a:r>
              <a:rPr lang="en-US" dirty="0" err="1"/>
              <a:t>trách</a:t>
            </a:r>
            <a:r>
              <a:rPr lang="en-US" dirty="0"/>
              <a:t>:</a:t>
            </a:r>
          </a:p>
          <a:p>
            <a:pPr lvl="1"/>
            <a:r>
              <a:rPr lang="en-US" dirty="0" err="1"/>
              <a:t>ThS</a:t>
            </a:r>
            <a:r>
              <a:rPr lang="en-US" dirty="0"/>
              <a:t>. Phan </a:t>
            </a:r>
            <a:r>
              <a:rPr lang="en-US" dirty="0" err="1"/>
              <a:t>Đình</a:t>
            </a:r>
            <a:r>
              <a:rPr lang="en-US" dirty="0"/>
              <a:t> </a:t>
            </a:r>
            <a:r>
              <a:rPr lang="en-US" dirty="0" err="1"/>
              <a:t>Duy</a:t>
            </a:r>
            <a:endParaRPr lang="en-US" dirty="0"/>
          </a:p>
          <a:p>
            <a:pPr lvl="1"/>
            <a:r>
              <a:rPr lang="en-US" dirty="0" err="1"/>
              <a:t>Giảng</a:t>
            </a:r>
            <a:r>
              <a:rPr lang="en-US" dirty="0"/>
              <a:t> </a:t>
            </a:r>
            <a:r>
              <a:rPr lang="en-US" dirty="0" err="1"/>
              <a:t>viên</a:t>
            </a:r>
            <a:r>
              <a:rPr lang="en-US" dirty="0"/>
              <a:t> Khoa </a:t>
            </a:r>
            <a:r>
              <a:rPr lang="en-US" dirty="0" err="1"/>
              <a:t>Kỹ</a:t>
            </a:r>
            <a:r>
              <a:rPr lang="en-US" dirty="0"/>
              <a:t> </a:t>
            </a:r>
            <a:r>
              <a:rPr lang="en-US" dirty="0" err="1"/>
              <a:t>thuật</a:t>
            </a:r>
            <a:r>
              <a:rPr lang="en-US" dirty="0"/>
              <a:t> </a:t>
            </a:r>
            <a:r>
              <a:rPr lang="en-US" dirty="0" err="1"/>
              <a:t>Máy</a:t>
            </a:r>
            <a:r>
              <a:rPr lang="en-US" dirty="0"/>
              <a:t> </a:t>
            </a:r>
            <a:r>
              <a:rPr lang="en-US" dirty="0" err="1"/>
              <a:t>tính</a:t>
            </a:r>
            <a:r>
              <a:rPr lang="en-US" dirty="0"/>
              <a:t> </a:t>
            </a:r>
          </a:p>
          <a:p>
            <a:pPr lvl="1"/>
            <a:r>
              <a:rPr lang="en-US" dirty="0" err="1"/>
              <a:t>Giảng</a:t>
            </a:r>
            <a:r>
              <a:rPr lang="en-US" dirty="0"/>
              <a:t> </a:t>
            </a:r>
            <a:r>
              <a:rPr lang="en-US" dirty="0" err="1"/>
              <a:t>dạy</a:t>
            </a:r>
            <a:r>
              <a:rPr lang="en-US" dirty="0"/>
              <a:t> </a:t>
            </a:r>
            <a:r>
              <a:rPr lang="en-US" err="1"/>
              <a:t>các</a:t>
            </a:r>
            <a:r>
              <a:rPr lang="en-US"/>
              <a:t> môn học: Nhập môn mạch số, Kiến </a:t>
            </a:r>
            <a:r>
              <a:rPr lang="en-US" dirty="0" err="1"/>
              <a:t>trúc</a:t>
            </a:r>
            <a:r>
              <a:rPr lang="en-US" dirty="0"/>
              <a:t> </a:t>
            </a:r>
            <a:r>
              <a:rPr lang="en-US" dirty="0" err="1"/>
              <a:t>máy</a:t>
            </a:r>
            <a:r>
              <a:rPr lang="en-US" dirty="0"/>
              <a:t> </a:t>
            </a:r>
            <a:r>
              <a:rPr lang="en-US" dirty="0" err="1"/>
              <a:t>tính</a:t>
            </a:r>
            <a:r>
              <a:rPr lang="en-US" dirty="0"/>
              <a:t>, </a:t>
            </a:r>
            <a:r>
              <a:rPr lang="en-US" dirty="0" err="1"/>
              <a:t>Tổ</a:t>
            </a:r>
            <a:r>
              <a:rPr lang="en-US" dirty="0"/>
              <a:t> </a:t>
            </a:r>
            <a:r>
              <a:rPr lang="en-US" dirty="0" err="1"/>
              <a:t>chức</a:t>
            </a:r>
            <a:r>
              <a:rPr lang="en-US" dirty="0"/>
              <a:t> </a:t>
            </a:r>
            <a:r>
              <a:rPr lang="en-US" dirty="0" err="1"/>
              <a:t>và</a:t>
            </a:r>
            <a:r>
              <a:rPr lang="en-US" dirty="0"/>
              <a:t> </a:t>
            </a:r>
            <a:r>
              <a:rPr lang="en-US" dirty="0" err="1"/>
              <a:t>cấu</a:t>
            </a:r>
            <a:r>
              <a:rPr lang="en-US" dirty="0"/>
              <a:t> </a:t>
            </a:r>
            <a:r>
              <a:rPr lang="en-US" dirty="0" err="1"/>
              <a:t>trúc</a:t>
            </a:r>
            <a:r>
              <a:rPr lang="en-US" dirty="0"/>
              <a:t> </a:t>
            </a:r>
            <a:r>
              <a:rPr lang="en-US" dirty="0" err="1"/>
              <a:t>máy</a:t>
            </a:r>
            <a:r>
              <a:rPr lang="en-US" dirty="0"/>
              <a:t> </a:t>
            </a:r>
            <a:r>
              <a:rPr lang="en-US" dirty="0" err="1"/>
              <a:t>tính</a:t>
            </a:r>
            <a:r>
              <a:rPr lang="en-US" dirty="0"/>
              <a:t> 2, </a:t>
            </a:r>
            <a:r>
              <a:rPr lang="en-US" dirty="0" err="1"/>
              <a:t>Hệ</a:t>
            </a:r>
            <a:r>
              <a:rPr lang="en-US" dirty="0"/>
              <a:t> </a:t>
            </a:r>
            <a:r>
              <a:rPr lang="en-US" dirty="0" err="1"/>
              <a:t>điều</a:t>
            </a:r>
            <a:r>
              <a:rPr lang="en-US" dirty="0"/>
              <a:t> </a:t>
            </a:r>
            <a:r>
              <a:rPr lang="en-US" dirty="0" err="1"/>
              <a:t>hành</a:t>
            </a:r>
            <a:r>
              <a:rPr lang="en-US" dirty="0"/>
              <a:t>, Vi </a:t>
            </a:r>
            <a:r>
              <a:rPr lang="en-US" dirty="0" err="1"/>
              <a:t>xử</a:t>
            </a:r>
            <a:r>
              <a:rPr lang="en-US" dirty="0"/>
              <a:t> </a:t>
            </a:r>
            <a:r>
              <a:rPr lang="en-US" dirty="0" err="1"/>
              <a:t>lý</a:t>
            </a:r>
            <a:r>
              <a:rPr lang="en-US" dirty="0"/>
              <a:t> – Vi </a:t>
            </a:r>
            <a:r>
              <a:rPr lang="en-US" dirty="0" err="1"/>
              <a:t>điều</a:t>
            </a:r>
            <a:r>
              <a:rPr lang="en-US" dirty="0"/>
              <a:t> </a:t>
            </a:r>
            <a:r>
              <a:rPr lang="en-US" dirty="0" err="1"/>
              <a:t>khiển</a:t>
            </a:r>
            <a:r>
              <a:rPr lang="en-US" dirty="0"/>
              <a:t>, </a:t>
            </a:r>
            <a:r>
              <a:rPr lang="en-US" dirty="0" err="1"/>
              <a:t>Trí</a:t>
            </a:r>
            <a:r>
              <a:rPr lang="en-US" dirty="0"/>
              <a:t> </a:t>
            </a:r>
            <a:r>
              <a:rPr lang="en-US" dirty="0" err="1"/>
              <a:t>tuệ</a:t>
            </a:r>
            <a:r>
              <a:rPr lang="en-US" dirty="0"/>
              <a:t> </a:t>
            </a:r>
            <a:r>
              <a:rPr lang="en-US" dirty="0" err="1"/>
              <a:t>nhân</a:t>
            </a:r>
            <a:r>
              <a:rPr lang="en-US" dirty="0"/>
              <a:t> </a:t>
            </a:r>
            <a:r>
              <a:rPr lang="en-US" dirty="0" err="1"/>
              <a:t>tạo</a:t>
            </a:r>
            <a:r>
              <a:rPr lang="en-US" dirty="0"/>
              <a:t> </a:t>
            </a:r>
            <a:r>
              <a:rPr lang="en-US" dirty="0" err="1"/>
              <a:t>cho</a:t>
            </a:r>
            <a:r>
              <a:rPr lang="en-US" dirty="0"/>
              <a:t> IoT</a:t>
            </a:r>
          </a:p>
          <a:p>
            <a:pPr lvl="1"/>
            <a:r>
              <a:rPr lang="en-US" dirty="0" err="1"/>
              <a:t>Hướng</a:t>
            </a:r>
            <a:r>
              <a:rPr lang="en-US" dirty="0"/>
              <a:t> </a:t>
            </a:r>
            <a:r>
              <a:rPr lang="en-US" dirty="0" err="1"/>
              <a:t>nghiên</a:t>
            </a:r>
            <a:r>
              <a:rPr lang="en-US" dirty="0"/>
              <a:t> </a:t>
            </a:r>
            <a:r>
              <a:rPr lang="en-US" dirty="0" err="1"/>
              <a:t>cứu</a:t>
            </a:r>
            <a:r>
              <a:rPr lang="en-US" dirty="0"/>
              <a:t>: </a:t>
            </a:r>
            <a:r>
              <a:rPr lang="en-US" dirty="0" err="1"/>
              <a:t>Máy</a:t>
            </a:r>
            <a:r>
              <a:rPr lang="en-US" dirty="0"/>
              <a:t> </a:t>
            </a:r>
            <a:r>
              <a:rPr lang="en-US" dirty="0" err="1"/>
              <a:t>học</a:t>
            </a:r>
            <a:r>
              <a:rPr lang="en-US" dirty="0"/>
              <a:t>, </a:t>
            </a:r>
            <a:r>
              <a:rPr lang="en-US" dirty="0" err="1"/>
              <a:t>Các</a:t>
            </a:r>
            <a:r>
              <a:rPr lang="en-US" dirty="0"/>
              <a:t> </a:t>
            </a:r>
            <a:r>
              <a:rPr lang="en-US" dirty="0" err="1"/>
              <a:t>hệ</a:t>
            </a:r>
            <a:r>
              <a:rPr lang="en-US" dirty="0"/>
              <a:t> </a:t>
            </a:r>
            <a:r>
              <a:rPr lang="en-US" dirty="0" err="1"/>
              <a:t>thống</a:t>
            </a:r>
            <a:r>
              <a:rPr lang="en-US" dirty="0"/>
              <a:t> </a:t>
            </a:r>
            <a:r>
              <a:rPr lang="en-US" dirty="0" err="1"/>
              <a:t>nhúng</a:t>
            </a:r>
            <a:r>
              <a:rPr lang="en-US" dirty="0"/>
              <a:t> </a:t>
            </a:r>
            <a:r>
              <a:rPr lang="en-US" dirty="0" err="1"/>
              <a:t>và</a:t>
            </a:r>
            <a:r>
              <a:rPr lang="en-US" dirty="0"/>
              <a:t> </a:t>
            </a:r>
            <a:r>
              <a:rPr lang="en-US" dirty="0" err="1"/>
              <a:t>ứng</a:t>
            </a:r>
            <a:r>
              <a:rPr lang="en-US" dirty="0"/>
              <a:t> </a:t>
            </a:r>
            <a:r>
              <a:rPr lang="en-US" dirty="0" err="1"/>
              <a:t>dụng</a:t>
            </a:r>
            <a:r>
              <a:rPr lang="en-US" dirty="0"/>
              <a:t>, AI for IoT, AI for Embedded System</a:t>
            </a:r>
          </a:p>
          <a:p>
            <a:pPr lvl="1"/>
            <a:r>
              <a:rPr lang="en-US" dirty="0"/>
              <a:t>Email: </a:t>
            </a:r>
            <a:r>
              <a:rPr lang="en-US" dirty="0" err="1"/>
              <a:t>duypd@uit.edu.vn</a:t>
            </a:r>
            <a:endParaRPr lang="en-US" dirty="0"/>
          </a:p>
          <a:p>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3</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Tree>
    <p:extLst>
      <p:ext uri="{BB962C8B-B14F-4D97-AF65-F5344CB8AC3E}">
        <p14:creationId xmlns:p14="http://schemas.microsoft.com/office/powerpoint/2010/main" val="3792549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r>
              <a:rPr lang="en-US"/>
              <a:t>Giới thiệu môn học</a:t>
            </a:r>
            <a:endParaRPr lang="en-VN" dirty="0"/>
          </a:p>
        </p:txBody>
      </p:sp>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p:txBody>
          <a:bodyPr/>
          <a:lstStyle/>
          <a:p>
            <a:r>
              <a:rPr lang="vi-VN"/>
              <a:t>Môn học này trình bày kiến thức cơ bản về </a:t>
            </a:r>
            <a:r>
              <a:rPr lang="en-US"/>
              <a:t>tổ chức và cấu</a:t>
            </a:r>
            <a:r>
              <a:rPr lang="vi-VN"/>
              <a:t> trúc máy tính bao gồm:</a:t>
            </a:r>
            <a:endParaRPr lang="en-US"/>
          </a:p>
          <a:p>
            <a:pPr lvl="1">
              <a:buFont typeface="Wingdings" panose="05000000000000000000" pitchFamily="2" charset="2"/>
              <a:buChar char="§"/>
            </a:pPr>
            <a:r>
              <a:rPr lang="en-US"/>
              <a:t>L</a:t>
            </a:r>
            <a:r>
              <a:rPr lang="vi-VN"/>
              <a:t>ịch sử </a:t>
            </a:r>
            <a:r>
              <a:rPr lang="en-US"/>
              <a:t>và công nghệ </a:t>
            </a:r>
            <a:r>
              <a:rPr lang="vi-VN"/>
              <a:t>máy</a:t>
            </a:r>
            <a:r>
              <a:rPr lang="en-US"/>
              <a:t> </a:t>
            </a:r>
            <a:r>
              <a:rPr lang="vi-VN"/>
              <a:t>tính</a:t>
            </a:r>
            <a:r>
              <a:rPr lang="en-US"/>
              <a:t>.</a:t>
            </a:r>
          </a:p>
          <a:p>
            <a:pPr lvl="1">
              <a:buFont typeface="Wingdings" panose="05000000000000000000" pitchFamily="2" charset="2"/>
              <a:buChar char="§"/>
              <a:tabLst>
                <a:tab pos="540385" algn="l"/>
              </a:tabLst>
            </a:pPr>
            <a:r>
              <a:rPr lang="en-US"/>
              <a:t>Chức năng và nguyên lý hoạt động của các bộ phận trong máy tính.</a:t>
            </a:r>
          </a:p>
          <a:p>
            <a:pPr lvl="1">
              <a:buFont typeface="Wingdings" panose="05000000000000000000" pitchFamily="2" charset="2"/>
              <a:buChar char="§"/>
              <a:tabLst>
                <a:tab pos="540385" algn="l"/>
              </a:tabLst>
            </a:pPr>
            <a:r>
              <a:rPr lang="en-US"/>
              <a:t>Cách biểu diễn dữ liệu, tính toán trong máy tính.</a:t>
            </a:r>
          </a:p>
          <a:p>
            <a:pPr lvl="1">
              <a:buFont typeface="Wingdings" panose="05000000000000000000" pitchFamily="2" charset="2"/>
              <a:buChar char="§"/>
              <a:tabLst>
                <a:tab pos="540385" algn="l"/>
              </a:tabLst>
            </a:pPr>
            <a:r>
              <a:rPr lang="en-US"/>
              <a:t>Cách phân tích các mạch số cơ bản.</a:t>
            </a:r>
          </a:p>
          <a:p>
            <a:pPr lvl="1">
              <a:buFont typeface="Wingdings" panose="05000000000000000000" pitchFamily="2" charset="2"/>
              <a:buChar char="§"/>
              <a:tabLst>
                <a:tab pos="540385" algn="l"/>
              </a:tabLst>
            </a:pPr>
            <a:r>
              <a:rPr lang="en-US"/>
              <a:t>Kiến trúc bộ lệnh, lập trình hợp ngữ.</a:t>
            </a:r>
          </a:p>
          <a:p>
            <a:pPr lvl="1">
              <a:buFont typeface="Wingdings" panose="05000000000000000000" pitchFamily="2" charset="2"/>
              <a:buChar char="§"/>
              <a:tabLst>
                <a:tab pos="540385" algn="l"/>
              </a:tabLst>
            </a:pPr>
            <a:r>
              <a:rPr lang="en-US"/>
              <a:t>Các vấn đề liên quan tới nguyên lý hoạt động của bộ xử lý.</a:t>
            </a:r>
          </a:p>
          <a:p>
            <a:pPr lvl="1">
              <a:buFont typeface="Wingdings" panose="05000000000000000000" pitchFamily="2" charset="2"/>
              <a:buChar char="§"/>
              <a:tabLst>
                <a:tab pos="540385" algn="l"/>
              </a:tabLst>
            </a:pPr>
            <a:r>
              <a:rPr lang="en-US"/>
              <a:t>Hiệu suất của máy tính</a:t>
            </a:r>
            <a:endParaRPr lang="en-US"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4</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Tree>
    <p:extLst>
      <p:ext uri="{BB962C8B-B14F-4D97-AF65-F5344CB8AC3E}">
        <p14:creationId xmlns:p14="http://schemas.microsoft.com/office/powerpoint/2010/main" val="130406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r>
              <a:rPr lang="en-US"/>
              <a:t>Giới thiệu môn học</a:t>
            </a:r>
            <a:endParaRPr lang="en-VN" dirty="0"/>
          </a:p>
        </p:txBody>
      </p:sp>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p:txBody>
          <a:bodyPr>
            <a:normAutofit/>
          </a:bodyPr>
          <a:lstStyle/>
          <a:p>
            <a:r>
              <a:rPr lang="en-US"/>
              <a:t>Số tín chỉ: </a:t>
            </a:r>
          </a:p>
          <a:p>
            <a:pPr lvl="1"/>
            <a:r>
              <a:rPr lang="en-US"/>
              <a:t>Lý thuyết: 3</a:t>
            </a:r>
          </a:p>
          <a:p>
            <a:pPr lvl="1"/>
            <a:r>
              <a:rPr lang="en-US"/>
              <a:t>Thực hành: 1</a:t>
            </a:r>
          </a:p>
          <a:p>
            <a:pPr lvl="1"/>
            <a:r>
              <a:rPr lang="en-US"/>
              <a:t>Tự học: 6.</a:t>
            </a:r>
          </a:p>
          <a:p>
            <a:r>
              <a:rPr lang="en-US"/>
              <a:t>Phụ trách: Khoa Kỹ thuật Máy tính.</a:t>
            </a:r>
          </a:p>
          <a:p>
            <a:r>
              <a:rPr lang="en-US"/>
              <a:t>Mã môn học: IT012.</a:t>
            </a:r>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5</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Tree>
    <p:extLst>
      <p:ext uri="{BB962C8B-B14F-4D97-AF65-F5344CB8AC3E}">
        <p14:creationId xmlns:p14="http://schemas.microsoft.com/office/powerpoint/2010/main" val="1899518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r>
              <a:rPr lang="en-US" dirty="0" err="1"/>
              <a:t>Chuẩn</a:t>
            </a:r>
            <a:r>
              <a:rPr lang="en-US" dirty="0"/>
              <a:t> </a:t>
            </a:r>
            <a:r>
              <a:rPr lang="en-US" dirty="0" err="1"/>
              <a:t>đầu</a:t>
            </a:r>
            <a:r>
              <a:rPr lang="en-US" dirty="0"/>
              <a:t> </a:t>
            </a:r>
            <a:r>
              <a:rPr lang="en-US" dirty="0" err="1"/>
              <a:t>ra</a:t>
            </a:r>
            <a:r>
              <a:rPr lang="en-US" dirty="0"/>
              <a:t> </a:t>
            </a:r>
            <a:r>
              <a:rPr lang="en-US" dirty="0" err="1"/>
              <a:t>môn</a:t>
            </a:r>
            <a:r>
              <a:rPr lang="en-US" dirty="0"/>
              <a:t> </a:t>
            </a:r>
            <a:r>
              <a:rPr lang="en-US" dirty="0" err="1"/>
              <a:t>học</a:t>
            </a:r>
            <a:endParaRPr lang="en-VN" dirty="0"/>
          </a:p>
        </p:txBody>
      </p:sp>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p:txBody>
          <a:bodyPr>
            <a:normAutofit/>
          </a:bodyPr>
          <a:lstStyle/>
          <a:p>
            <a:r>
              <a:rPr lang="vi-VN" dirty="0"/>
              <a:t>Nắm vững kiến thức nền tảng v</a:t>
            </a:r>
            <a:r>
              <a:rPr lang="en-US" dirty="0" err="1"/>
              <a:t>ề</a:t>
            </a:r>
            <a:r>
              <a:rPr lang="vi-VN" dirty="0"/>
              <a:t> lĩnh vực CNTT</a:t>
            </a:r>
            <a:endParaRPr lang="en-US" dirty="0"/>
          </a:p>
          <a:p>
            <a:pPr lvl="1"/>
            <a:r>
              <a:rPr lang="en-US" dirty="0" err="1"/>
              <a:t>Chức</a:t>
            </a:r>
            <a:r>
              <a:rPr lang="en-US" dirty="0"/>
              <a:t> </a:t>
            </a:r>
            <a:r>
              <a:rPr lang="en-US" dirty="0" err="1"/>
              <a:t>năng</a:t>
            </a:r>
            <a:r>
              <a:rPr lang="en-US" dirty="0"/>
              <a:t> </a:t>
            </a:r>
            <a:r>
              <a:rPr lang="en-US" dirty="0" err="1"/>
              <a:t>và</a:t>
            </a:r>
            <a:r>
              <a:rPr lang="en-US" dirty="0"/>
              <a:t> </a:t>
            </a:r>
            <a:r>
              <a:rPr lang="en-US" dirty="0" err="1"/>
              <a:t>nguyên</a:t>
            </a:r>
            <a:r>
              <a:rPr lang="en-US" dirty="0"/>
              <a:t> </a:t>
            </a:r>
            <a:r>
              <a:rPr lang="en-US" dirty="0" err="1"/>
              <a:t>lý</a:t>
            </a:r>
            <a:r>
              <a:rPr lang="en-US" dirty="0"/>
              <a:t> </a:t>
            </a:r>
            <a:r>
              <a:rPr lang="en-US" dirty="0" err="1"/>
              <a:t>hoạt</a:t>
            </a:r>
            <a:r>
              <a:rPr lang="en-US" dirty="0"/>
              <a:t> </a:t>
            </a:r>
            <a:r>
              <a:rPr lang="en-US" dirty="0" err="1"/>
              <a:t>động</a:t>
            </a:r>
            <a:r>
              <a:rPr lang="en-US" dirty="0"/>
              <a:t> </a:t>
            </a:r>
            <a:r>
              <a:rPr lang="en-US" dirty="0" err="1"/>
              <a:t>của</a:t>
            </a:r>
            <a:r>
              <a:rPr lang="en-US" dirty="0"/>
              <a:t> </a:t>
            </a:r>
            <a:r>
              <a:rPr lang="en-US" dirty="0" err="1"/>
              <a:t>các</a:t>
            </a:r>
            <a:r>
              <a:rPr lang="en-US" dirty="0"/>
              <a:t> bộ </a:t>
            </a:r>
            <a:r>
              <a:rPr lang="en-US" dirty="0" err="1"/>
              <a:t>phận</a:t>
            </a:r>
            <a:r>
              <a:rPr lang="en-US" dirty="0"/>
              <a:t> </a:t>
            </a:r>
            <a:r>
              <a:rPr lang="en-US" dirty="0" err="1"/>
              <a:t>trong</a:t>
            </a:r>
            <a:r>
              <a:rPr lang="en-US" dirty="0"/>
              <a:t> </a:t>
            </a:r>
            <a:r>
              <a:rPr lang="en-US" dirty="0" err="1"/>
              <a:t>máy</a:t>
            </a:r>
            <a:r>
              <a:rPr lang="en-US" dirty="0"/>
              <a:t> </a:t>
            </a:r>
            <a:r>
              <a:rPr lang="en-US" dirty="0" err="1"/>
              <a:t>tính</a:t>
            </a:r>
            <a:endParaRPr lang="en-US" dirty="0"/>
          </a:p>
          <a:p>
            <a:pPr lvl="1"/>
            <a:r>
              <a:rPr lang="en-US" dirty="0" err="1"/>
              <a:t>Cách</a:t>
            </a:r>
            <a:r>
              <a:rPr lang="en-US" dirty="0"/>
              <a:t> </a:t>
            </a:r>
            <a:r>
              <a:rPr lang="en-US" dirty="0" err="1"/>
              <a:t>biểu</a:t>
            </a:r>
            <a:r>
              <a:rPr lang="en-US" dirty="0"/>
              <a:t> </a:t>
            </a:r>
            <a:r>
              <a:rPr lang="en-US" dirty="0" err="1"/>
              <a:t>diễn</a:t>
            </a:r>
            <a:r>
              <a:rPr lang="en-US" dirty="0"/>
              <a:t> </a:t>
            </a:r>
            <a:r>
              <a:rPr lang="en-US" dirty="0" err="1"/>
              <a:t>dữ</a:t>
            </a:r>
            <a:r>
              <a:rPr lang="en-US" dirty="0"/>
              <a:t> </a:t>
            </a:r>
            <a:r>
              <a:rPr lang="en-US" dirty="0" err="1"/>
              <a:t>liệu</a:t>
            </a:r>
            <a:r>
              <a:rPr lang="en-US" dirty="0"/>
              <a:t>, </a:t>
            </a:r>
            <a:r>
              <a:rPr lang="en-US" dirty="0" err="1"/>
              <a:t>tính</a:t>
            </a:r>
            <a:r>
              <a:rPr lang="en-US" dirty="0"/>
              <a:t> </a:t>
            </a:r>
            <a:r>
              <a:rPr lang="en-US" dirty="0" err="1"/>
              <a:t>toán</a:t>
            </a:r>
            <a:r>
              <a:rPr lang="en-US" dirty="0"/>
              <a:t> </a:t>
            </a:r>
            <a:r>
              <a:rPr lang="en-US" dirty="0" err="1"/>
              <a:t>trong</a:t>
            </a:r>
            <a:r>
              <a:rPr lang="en-US" dirty="0"/>
              <a:t> </a:t>
            </a:r>
            <a:r>
              <a:rPr lang="en-US" dirty="0" err="1"/>
              <a:t>máy</a:t>
            </a:r>
            <a:r>
              <a:rPr lang="en-US" dirty="0"/>
              <a:t> </a:t>
            </a:r>
            <a:r>
              <a:rPr lang="en-US" dirty="0" err="1"/>
              <a:t>tính</a:t>
            </a:r>
            <a:endParaRPr lang="en-US" dirty="0"/>
          </a:p>
          <a:p>
            <a:pPr lvl="1"/>
            <a:r>
              <a:rPr lang="en-US" dirty="0" err="1"/>
              <a:t>Cách</a:t>
            </a:r>
            <a:r>
              <a:rPr lang="en-US" dirty="0"/>
              <a:t> </a:t>
            </a:r>
            <a:r>
              <a:rPr lang="en-US" dirty="0" err="1"/>
              <a:t>phân</a:t>
            </a:r>
            <a:r>
              <a:rPr lang="en-US" dirty="0"/>
              <a:t> </a:t>
            </a:r>
            <a:r>
              <a:rPr lang="en-US" dirty="0" err="1"/>
              <a:t>tích</a:t>
            </a:r>
            <a:r>
              <a:rPr lang="en-US" dirty="0"/>
              <a:t> </a:t>
            </a:r>
            <a:r>
              <a:rPr lang="en-US" dirty="0" err="1"/>
              <a:t>các</a:t>
            </a:r>
            <a:r>
              <a:rPr lang="en-US" dirty="0"/>
              <a:t> </a:t>
            </a:r>
            <a:r>
              <a:rPr lang="en-US" dirty="0" err="1"/>
              <a:t>mạch</a:t>
            </a:r>
            <a:r>
              <a:rPr lang="en-US" dirty="0"/>
              <a:t> </a:t>
            </a:r>
            <a:r>
              <a:rPr lang="en-US" dirty="0" err="1"/>
              <a:t>số</a:t>
            </a:r>
            <a:r>
              <a:rPr lang="en-US" dirty="0"/>
              <a:t> </a:t>
            </a:r>
            <a:r>
              <a:rPr lang="en-US" dirty="0" err="1"/>
              <a:t>cơ</a:t>
            </a:r>
            <a:r>
              <a:rPr lang="en-US" dirty="0"/>
              <a:t> </a:t>
            </a:r>
            <a:r>
              <a:rPr lang="en-US" dirty="0" err="1"/>
              <a:t>bản</a:t>
            </a:r>
            <a:endParaRPr lang="en-US" dirty="0"/>
          </a:p>
          <a:p>
            <a:pPr lvl="1"/>
            <a:r>
              <a:rPr lang="en-US" dirty="0" err="1"/>
              <a:t>Kiến</a:t>
            </a:r>
            <a:r>
              <a:rPr lang="en-US" dirty="0"/>
              <a:t> </a:t>
            </a:r>
            <a:r>
              <a:rPr lang="en-US" dirty="0" err="1"/>
              <a:t>trúc</a:t>
            </a:r>
            <a:r>
              <a:rPr lang="en-US" dirty="0"/>
              <a:t> </a:t>
            </a:r>
            <a:r>
              <a:rPr lang="en-US" dirty="0" err="1"/>
              <a:t>tập</a:t>
            </a:r>
            <a:r>
              <a:rPr lang="en-US" dirty="0"/>
              <a:t> </a:t>
            </a:r>
            <a:r>
              <a:rPr lang="en-US" dirty="0" err="1"/>
              <a:t>lệnh</a:t>
            </a:r>
            <a:r>
              <a:rPr lang="en-US" dirty="0"/>
              <a:t>, </a:t>
            </a:r>
            <a:r>
              <a:rPr lang="en-US" dirty="0" err="1"/>
              <a:t>lập</a:t>
            </a:r>
            <a:r>
              <a:rPr lang="en-US" dirty="0"/>
              <a:t> </a:t>
            </a:r>
            <a:r>
              <a:rPr lang="en-US" dirty="0" err="1"/>
              <a:t>trình</a:t>
            </a:r>
            <a:r>
              <a:rPr lang="en-US" dirty="0"/>
              <a:t> </a:t>
            </a:r>
            <a:r>
              <a:rPr lang="en-US" dirty="0" err="1"/>
              <a:t>hợp</a:t>
            </a:r>
            <a:r>
              <a:rPr lang="en-US" dirty="0"/>
              <a:t> </a:t>
            </a:r>
            <a:r>
              <a:rPr lang="en-US" dirty="0" err="1"/>
              <a:t>ngữ</a:t>
            </a:r>
            <a:endParaRPr lang="en-US" dirty="0"/>
          </a:p>
          <a:p>
            <a:pPr lvl="1"/>
            <a:r>
              <a:rPr lang="en-US" dirty="0" err="1"/>
              <a:t>Các</a:t>
            </a:r>
            <a:r>
              <a:rPr lang="en-US" dirty="0"/>
              <a:t> </a:t>
            </a:r>
            <a:r>
              <a:rPr lang="en-US" dirty="0" err="1"/>
              <a:t>vấn</a:t>
            </a:r>
            <a:r>
              <a:rPr lang="en-US" dirty="0"/>
              <a:t> </a:t>
            </a:r>
            <a:r>
              <a:rPr lang="en-US" dirty="0" err="1"/>
              <a:t>đề</a:t>
            </a:r>
            <a:r>
              <a:rPr lang="en-US" dirty="0"/>
              <a:t> </a:t>
            </a:r>
            <a:r>
              <a:rPr lang="en-US" dirty="0" err="1"/>
              <a:t>liên</a:t>
            </a:r>
            <a:r>
              <a:rPr lang="en-US" dirty="0"/>
              <a:t> </a:t>
            </a:r>
            <a:r>
              <a:rPr lang="en-US" dirty="0" err="1"/>
              <a:t>quan</a:t>
            </a:r>
            <a:r>
              <a:rPr lang="en-US" dirty="0"/>
              <a:t> </a:t>
            </a:r>
            <a:r>
              <a:rPr lang="en-US" dirty="0" err="1"/>
              <a:t>tới</a:t>
            </a:r>
            <a:r>
              <a:rPr lang="en-US" dirty="0"/>
              <a:t> </a:t>
            </a:r>
            <a:r>
              <a:rPr lang="en-US" dirty="0" err="1"/>
              <a:t>nguyên</a:t>
            </a:r>
            <a:r>
              <a:rPr lang="en-US" dirty="0"/>
              <a:t> </a:t>
            </a:r>
            <a:r>
              <a:rPr lang="en-US" dirty="0" err="1"/>
              <a:t>lý</a:t>
            </a:r>
            <a:r>
              <a:rPr lang="en-US" dirty="0"/>
              <a:t> </a:t>
            </a:r>
            <a:r>
              <a:rPr lang="en-US" dirty="0" err="1"/>
              <a:t>hoạt</a:t>
            </a:r>
            <a:r>
              <a:rPr lang="en-US" dirty="0"/>
              <a:t> </a:t>
            </a:r>
            <a:r>
              <a:rPr lang="en-US" dirty="0" err="1"/>
              <a:t>động</a:t>
            </a:r>
            <a:r>
              <a:rPr lang="en-US" dirty="0"/>
              <a:t> </a:t>
            </a:r>
            <a:r>
              <a:rPr lang="en-US" dirty="0" err="1"/>
              <a:t>của</a:t>
            </a:r>
            <a:r>
              <a:rPr lang="en-US" dirty="0"/>
              <a:t> bộ </a:t>
            </a:r>
            <a:r>
              <a:rPr lang="en-US" dirty="0" err="1"/>
              <a:t>xử</a:t>
            </a:r>
            <a:r>
              <a:rPr lang="en-US" dirty="0"/>
              <a:t> </a:t>
            </a:r>
            <a:r>
              <a:rPr lang="en-US" dirty="0" err="1"/>
              <a:t>lý</a:t>
            </a:r>
            <a:endParaRPr lang="en-US" dirty="0"/>
          </a:p>
          <a:p>
            <a:r>
              <a:rPr lang="en-US"/>
              <a:t>Đ</a:t>
            </a:r>
            <a:r>
              <a:rPr lang="vi-VN"/>
              <a:t>ọc </a:t>
            </a:r>
            <a:r>
              <a:rPr lang="vi-VN" dirty="0"/>
              <a:t>hiểu được tài liệu bằng ngoại ngữ</a:t>
            </a:r>
            <a:endParaRPr lang="en-US"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6</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Tree>
    <p:extLst>
      <p:ext uri="{BB962C8B-B14F-4D97-AF65-F5344CB8AC3E}">
        <p14:creationId xmlns:p14="http://schemas.microsoft.com/office/powerpoint/2010/main" val="990581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r>
              <a:rPr lang="en-US"/>
              <a:t>Nội dung môn học - lý thuyết</a:t>
            </a:r>
            <a:endParaRPr lang="en-VN" dirty="0"/>
          </a:p>
        </p:txBody>
      </p:sp>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p:txBody>
          <a:bodyPr>
            <a:normAutofit/>
          </a:bodyPr>
          <a:lstStyle/>
          <a:p>
            <a:pPr algn="just">
              <a:spcBef>
                <a:spcPts val="0"/>
              </a:spcBef>
              <a:buSzPts val="2600"/>
              <a:buFont typeface="Wingdings" panose="05000000000000000000" pitchFamily="2" charset="2"/>
              <a:buChar char="Ø"/>
            </a:pPr>
            <a:r>
              <a:rPr lang="vi-VN"/>
              <a:t>Chương 1: Tổng quan về máy tính</a:t>
            </a:r>
          </a:p>
          <a:p>
            <a:pPr algn="just">
              <a:spcBef>
                <a:spcPts val="520"/>
              </a:spcBef>
              <a:buSzPts val="2600"/>
              <a:buFont typeface="Wingdings" panose="05000000000000000000" pitchFamily="2" charset="2"/>
              <a:buChar char="Ø"/>
            </a:pPr>
            <a:r>
              <a:rPr lang="vi-VN"/>
              <a:t>Chương 2: Biểu diễn thông tin</a:t>
            </a:r>
          </a:p>
          <a:p>
            <a:pPr algn="just">
              <a:spcBef>
                <a:spcPts val="520"/>
              </a:spcBef>
              <a:buSzPts val="2600"/>
              <a:buFont typeface="Wingdings" panose="05000000000000000000" pitchFamily="2" charset="2"/>
              <a:buChar char="Ø"/>
            </a:pPr>
            <a:r>
              <a:rPr lang="vi-VN"/>
              <a:t>Chương 3: Đại số Boolean</a:t>
            </a:r>
          </a:p>
          <a:p>
            <a:pPr algn="just">
              <a:spcBef>
                <a:spcPts val="520"/>
              </a:spcBef>
              <a:buSzPts val="2600"/>
              <a:buFont typeface="Wingdings" panose="05000000000000000000" pitchFamily="2" charset="2"/>
              <a:buChar char="Ø"/>
            </a:pPr>
            <a:r>
              <a:rPr lang="vi-VN"/>
              <a:t>Chương 4: Mạch số</a:t>
            </a:r>
          </a:p>
          <a:p>
            <a:pPr algn="just">
              <a:spcBef>
                <a:spcPts val="520"/>
              </a:spcBef>
              <a:buSzPts val="2600"/>
              <a:buFont typeface="Wingdings" panose="05000000000000000000" pitchFamily="2" charset="2"/>
              <a:buChar char="Ø"/>
            </a:pPr>
            <a:r>
              <a:rPr lang="vi-VN"/>
              <a:t>Chương 5: Ứng dụng mạch số</a:t>
            </a:r>
          </a:p>
          <a:p>
            <a:pPr algn="just">
              <a:spcBef>
                <a:spcPts val="520"/>
              </a:spcBef>
              <a:buSzPts val="2600"/>
              <a:buFont typeface="Wingdings" panose="05000000000000000000" pitchFamily="2" charset="2"/>
              <a:buChar char="Ø"/>
            </a:pPr>
            <a:r>
              <a:rPr lang="vi-VN"/>
              <a:t>Chương 6: Kiến trúc tập lệnh</a:t>
            </a:r>
          </a:p>
          <a:p>
            <a:pPr algn="just">
              <a:spcBef>
                <a:spcPts val="520"/>
              </a:spcBef>
              <a:buSzPts val="2600"/>
              <a:buFont typeface="Wingdings" panose="05000000000000000000" pitchFamily="2" charset="2"/>
              <a:buChar char="Ø"/>
            </a:pPr>
            <a:r>
              <a:rPr lang="vi-VN"/>
              <a:t>Chương 7: Biên dịch chương trình</a:t>
            </a:r>
          </a:p>
          <a:p>
            <a:pPr algn="just">
              <a:spcBef>
                <a:spcPts val="520"/>
              </a:spcBef>
              <a:buSzPts val="2600"/>
              <a:buFont typeface="Wingdings" panose="05000000000000000000" pitchFamily="2" charset="2"/>
              <a:buChar char="Ø"/>
            </a:pPr>
            <a:r>
              <a:rPr lang="vi-VN"/>
              <a:t>Chương 8: Bộ xử lý</a:t>
            </a:r>
          </a:p>
          <a:p>
            <a:pPr algn="just">
              <a:spcBef>
                <a:spcPts val="520"/>
              </a:spcBef>
              <a:buSzPts val="2600"/>
              <a:buFont typeface="Wingdings" panose="05000000000000000000" pitchFamily="2" charset="2"/>
              <a:buChar char="Ø"/>
            </a:pPr>
            <a:r>
              <a:rPr lang="vi-VN"/>
              <a:t>Chương 9: Hiệu suất máy tính</a:t>
            </a:r>
            <a:endParaRPr lang="vi-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7</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Tree>
    <p:extLst>
      <p:ext uri="{BB962C8B-B14F-4D97-AF65-F5344CB8AC3E}">
        <p14:creationId xmlns:p14="http://schemas.microsoft.com/office/powerpoint/2010/main" val="3430076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r>
              <a:rPr lang="en-US"/>
              <a:t>Các thành phần đánh giá môn học</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8</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graphicFrame>
        <p:nvGraphicFramePr>
          <p:cNvPr id="8" name="Table 7">
            <a:extLst>
              <a:ext uri="{FF2B5EF4-FFF2-40B4-BE49-F238E27FC236}">
                <a16:creationId xmlns:a16="http://schemas.microsoft.com/office/drawing/2014/main" id="{9EEC874B-082F-74E1-22D1-AC6C31CD0565}"/>
              </a:ext>
            </a:extLst>
          </p:cNvPr>
          <p:cNvGraphicFramePr>
            <a:graphicFrameLocks noGrp="1"/>
          </p:cNvGraphicFramePr>
          <p:nvPr>
            <p:extLst>
              <p:ext uri="{D42A27DB-BD31-4B8C-83A1-F6EECF244321}">
                <p14:modId xmlns:p14="http://schemas.microsoft.com/office/powerpoint/2010/main" val="3845225882"/>
              </p:ext>
            </p:extLst>
          </p:nvPr>
        </p:nvGraphicFramePr>
        <p:xfrm>
          <a:off x="2391084" y="1880609"/>
          <a:ext cx="7088197" cy="3203496"/>
        </p:xfrm>
        <a:graphic>
          <a:graphicData uri="http://schemas.openxmlformats.org/drawingml/2006/table">
            <a:tbl>
              <a:tblPr firstRow="1" bandRow="1"/>
              <a:tblGrid>
                <a:gridCol w="3918277">
                  <a:extLst>
                    <a:ext uri="{9D8B030D-6E8A-4147-A177-3AD203B41FA5}">
                      <a16:colId xmlns:a16="http://schemas.microsoft.com/office/drawing/2014/main" val="1610933824"/>
                    </a:ext>
                  </a:extLst>
                </a:gridCol>
                <a:gridCol w="3169920">
                  <a:extLst>
                    <a:ext uri="{9D8B030D-6E8A-4147-A177-3AD203B41FA5}">
                      <a16:colId xmlns:a16="http://schemas.microsoft.com/office/drawing/2014/main" val="705709168"/>
                    </a:ext>
                  </a:extLst>
                </a:gridCol>
              </a:tblGrid>
              <a:tr h="1014650">
                <a:tc>
                  <a:txBody>
                    <a:bodyPr/>
                    <a:lstStyle/>
                    <a:p>
                      <a:pPr marL="0" marR="0" algn="ctr">
                        <a:lnSpc>
                          <a:spcPct val="115000"/>
                        </a:lnSpc>
                        <a:spcBef>
                          <a:spcPts val="600"/>
                        </a:spcBef>
                        <a:spcAft>
                          <a:spcPts val="0"/>
                        </a:spcAft>
                      </a:pPr>
                      <a:r>
                        <a:rPr lang="en-US" sz="2600" b="1" dirty="0" err="1">
                          <a:effectLst/>
                        </a:rPr>
                        <a:t>Thành</a:t>
                      </a:r>
                      <a:r>
                        <a:rPr lang="en-US" sz="2600" b="1" dirty="0">
                          <a:effectLst/>
                        </a:rPr>
                        <a:t> </a:t>
                      </a:r>
                      <a:r>
                        <a:rPr lang="en-US" sz="2600" b="1" dirty="0" err="1">
                          <a:effectLst/>
                        </a:rPr>
                        <a:t>phần</a:t>
                      </a:r>
                      <a:r>
                        <a:rPr lang="en-US" sz="2600" b="1" dirty="0">
                          <a:effectLst/>
                        </a:rPr>
                        <a:t> </a:t>
                      </a:r>
                      <a:r>
                        <a:rPr lang="en-US" sz="2600" b="1" dirty="0" err="1">
                          <a:effectLst/>
                        </a:rPr>
                        <a:t>đánh</a:t>
                      </a:r>
                      <a:r>
                        <a:rPr lang="en-US" sz="2600" b="1" dirty="0">
                          <a:effectLst/>
                        </a:rPr>
                        <a:t> </a:t>
                      </a:r>
                      <a:r>
                        <a:rPr lang="en-US" sz="2600" b="1" dirty="0" err="1">
                          <a:effectLst/>
                        </a:rPr>
                        <a:t>giá</a:t>
                      </a:r>
                      <a:endParaRPr lang="en-US" sz="2600" b="1" dirty="0">
                        <a:effectLst/>
                        <a:latin typeface="Times New Roman" panose="02020603050405020304" pitchFamily="18" charset="0"/>
                        <a:ea typeface="Times New Roman" panose="02020603050405020304" pitchFamily="18" charset="0"/>
                      </a:endParaRPr>
                    </a:p>
                  </a:txBody>
                  <a:tcPr marL="138250" marR="138250" marT="0" marB="0" anchor="ctr"/>
                </a:tc>
                <a:tc>
                  <a:txBody>
                    <a:bodyPr/>
                    <a:lstStyle/>
                    <a:p>
                      <a:pPr marL="0" marR="0" algn="ctr">
                        <a:lnSpc>
                          <a:spcPct val="115000"/>
                        </a:lnSpc>
                        <a:spcBef>
                          <a:spcPts val="600"/>
                        </a:spcBef>
                        <a:spcAft>
                          <a:spcPts val="0"/>
                        </a:spcAft>
                        <a:tabLst>
                          <a:tab pos="3268980" algn="l"/>
                        </a:tabLst>
                      </a:pPr>
                      <a:r>
                        <a:rPr lang="en-US" sz="2600" b="1" dirty="0" err="1">
                          <a:effectLst/>
                        </a:rPr>
                        <a:t>Tỷ</a:t>
                      </a:r>
                      <a:r>
                        <a:rPr lang="en-US" sz="2600" b="1" dirty="0">
                          <a:effectLst/>
                        </a:rPr>
                        <a:t> </a:t>
                      </a:r>
                      <a:r>
                        <a:rPr lang="en-US" sz="2600" b="1" dirty="0" err="1">
                          <a:effectLst/>
                        </a:rPr>
                        <a:t>lệ</a:t>
                      </a:r>
                      <a:r>
                        <a:rPr lang="en-US" sz="2600" b="1" dirty="0">
                          <a:effectLst/>
                        </a:rPr>
                        <a:t> (%) </a:t>
                      </a:r>
                      <a:endParaRPr lang="en-US" sz="2600" b="1" dirty="0">
                        <a:effectLst/>
                        <a:latin typeface="Times New Roman" panose="02020603050405020304" pitchFamily="18" charset="0"/>
                        <a:ea typeface="Times New Roman" panose="02020603050405020304" pitchFamily="18" charset="0"/>
                      </a:endParaRPr>
                    </a:p>
                  </a:txBody>
                  <a:tcPr marL="138250" marR="138250" marT="0" marB="0" anchor="ctr"/>
                </a:tc>
                <a:extLst>
                  <a:ext uri="{0D108BD9-81ED-4DB2-BD59-A6C34878D82A}">
                    <a16:rowId xmlns:a16="http://schemas.microsoft.com/office/drawing/2014/main" val="2163520569"/>
                  </a:ext>
                </a:extLst>
              </a:tr>
              <a:tr h="666301">
                <a:tc>
                  <a:txBody>
                    <a:bodyPr/>
                    <a:lstStyle/>
                    <a:p>
                      <a:pPr marL="0" marR="0" algn="l">
                        <a:lnSpc>
                          <a:spcPct val="115000"/>
                        </a:lnSpc>
                        <a:spcBef>
                          <a:spcPts val="600"/>
                        </a:spcBef>
                        <a:spcAft>
                          <a:spcPts val="0"/>
                        </a:spcAft>
                      </a:pPr>
                      <a:r>
                        <a:rPr lang="en-US" sz="2600" dirty="0">
                          <a:effectLst/>
                        </a:rPr>
                        <a:t>A1. </a:t>
                      </a:r>
                      <a:r>
                        <a:rPr lang="en-US" sz="2600" dirty="0" err="1">
                          <a:effectLst/>
                        </a:rPr>
                        <a:t>Quá</a:t>
                      </a:r>
                      <a:r>
                        <a:rPr lang="en-US" sz="2600" dirty="0">
                          <a:effectLst/>
                        </a:rPr>
                        <a:t> </a:t>
                      </a:r>
                      <a:r>
                        <a:rPr lang="en-US" sz="2600" dirty="0" err="1">
                          <a:effectLst/>
                        </a:rPr>
                        <a:t>trình</a:t>
                      </a:r>
                      <a:endParaRPr lang="en-US" sz="2600" dirty="0">
                        <a:effectLst/>
                        <a:latin typeface="Times New Roman" panose="02020603050405020304" pitchFamily="18" charset="0"/>
                        <a:ea typeface="Times New Roman" panose="02020603050405020304" pitchFamily="18" charset="0"/>
                      </a:endParaRPr>
                    </a:p>
                  </a:txBody>
                  <a:tcPr marL="138250" marR="138250" marT="0" marB="0"/>
                </a:tc>
                <a:tc>
                  <a:txBody>
                    <a:bodyPr/>
                    <a:lstStyle/>
                    <a:p>
                      <a:pPr marL="0" marR="0" algn="l">
                        <a:lnSpc>
                          <a:spcPct val="115000"/>
                        </a:lnSpc>
                        <a:spcBef>
                          <a:spcPts val="600"/>
                        </a:spcBef>
                        <a:spcAft>
                          <a:spcPts val="0"/>
                        </a:spcAft>
                        <a:tabLst>
                          <a:tab pos="3268980" algn="l"/>
                        </a:tabLst>
                      </a:pPr>
                      <a:r>
                        <a:rPr lang="en-US" sz="2600">
                          <a:effectLst/>
                        </a:rPr>
                        <a:t>10</a:t>
                      </a:r>
                      <a:r>
                        <a:rPr lang="en-US" sz="2600" dirty="0">
                          <a:effectLst/>
                        </a:rPr>
                        <a:t>%</a:t>
                      </a:r>
                      <a:endParaRPr lang="en-US" sz="2600" dirty="0">
                        <a:effectLst/>
                        <a:latin typeface="Times New Roman" panose="02020603050405020304" pitchFamily="18" charset="0"/>
                        <a:ea typeface="Times New Roman" panose="02020603050405020304" pitchFamily="18" charset="0"/>
                      </a:endParaRPr>
                    </a:p>
                  </a:txBody>
                  <a:tcPr marL="138250" marR="138250" marT="0" marB="0"/>
                </a:tc>
                <a:extLst>
                  <a:ext uri="{0D108BD9-81ED-4DB2-BD59-A6C34878D82A}">
                    <a16:rowId xmlns:a16="http://schemas.microsoft.com/office/drawing/2014/main" val="2352225599"/>
                  </a:ext>
                </a:extLst>
              </a:tr>
              <a:tr h="507515">
                <a:tc>
                  <a:txBody>
                    <a:bodyPr/>
                    <a:lstStyle/>
                    <a:p>
                      <a:pPr marL="0" marR="0" algn="l">
                        <a:lnSpc>
                          <a:spcPct val="115000"/>
                        </a:lnSpc>
                        <a:spcBef>
                          <a:spcPts val="600"/>
                        </a:spcBef>
                        <a:spcAft>
                          <a:spcPts val="0"/>
                        </a:spcAft>
                      </a:pPr>
                      <a:r>
                        <a:rPr lang="en-US" sz="2600" dirty="0">
                          <a:effectLst/>
                        </a:rPr>
                        <a:t>A2. </a:t>
                      </a:r>
                      <a:r>
                        <a:rPr lang="en-US" sz="2600" dirty="0" err="1">
                          <a:effectLst/>
                        </a:rPr>
                        <a:t>Giữa</a:t>
                      </a:r>
                      <a:r>
                        <a:rPr lang="en-US" sz="2600" dirty="0">
                          <a:effectLst/>
                        </a:rPr>
                        <a:t> </a:t>
                      </a:r>
                      <a:r>
                        <a:rPr lang="en-US" sz="2600" dirty="0" err="1">
                          <a:effectLst/>
                        </a:rPr>
                        <a:t>kỳ</a:t>
                      </a:r>
                      <a:endParaRPr lang="en-US" sz="2600" dirty="0">
                        <a:effectLst/>
                        <a:latin typeface="Times New Roman" panose="02020603050405020304" pitchFamily="18" charset="0"/>
                        <a:ea typeface="Times New Roman" panose="02020603050405020304" pitchFamily="18" charset="0"/>
                      </a:endParaRPr>
                    </a:p>
                  </a:txBody>
                  <a:tcPr marL="138250" marR="138250" marT="0" marB="0"/>
                </a:tc>
                <a:tc>
                  <a:txBody>
                    <a:bodyPr/>
                    <a:lstStyle/>
                    <a:p>
                      <a:pPr marL="0" marR="0" algn="l">
                        <a:lnSpc>
                          <a:spcPct val="115000"/>
                        </a:lnSpc>
                        <a:spcBef>
                          <a:spcPts val="600"/>
                        </a:spcBef>
                        <a:spcAft>
                          <a:spcPts val="0"/>
                        </a:spcAft>
                        <a:tabLst>
                          <a:tab pos="3268980" algn="l"/>
                        </a:tabLst>
                      </a:pPr>
                      <a:r>
                        <a:rPr lang="en-US" sz="2600">
                          <a:effectLst/>
                        </a:rPr>
                        <a:t>20%</a:t>
                      </a:r>
                      <a:endParaRPr lang="en-US" sz="2600" dirty="0">
                        <a:effectLst/>
                        <a:latin typeface="Times New Roman" panose="02020603050405020304" pitchFamily="18" charset="0"/>
                        <a:ea typeface="Times New Roman" panose="02020603050405020304" pitchFamily="18" charset="0"/>
                      </a:endParaRPr>
                    </a:p>
                  </a:txBody>
                  <a:tcPr marL="138250" marR="138250" marT="0" marB="0"/>
                </a:tc>
                <a:extLst>
                  <a:ext uri="{0D108BD9-81ED-4DB2-BD59-A6C34878D82A}">
                    <a16:rowId xmlns:a16="http://schemas.microsoft.com/office/drawing/2014/main" val="906282046"/>
                  </a:ext>
                </a:extLst>
              </a:tr>
              <a:tr h="507515">
                <a:tc>
                  <a:txBody>
                    <a:bodyPr/>
                    <a:lstStyle/>
                    <a:p>
                      <a:pPr marL="0" marR="0" algn="l">
                        <a:lnSpc>
                          <a:spcPct val="115000"/>
                        </a:lnSpc>
                        <a:spcBef>
                          <a:spcPts val="600"/>
                        </a:spcBef>
                        <a:spcAft>
                          <a:spcPts val="0"/>
                        </a:spcAft>
                      </a:pPr>
                      <a:r>
                        <a:rPr lang="en-US" sz="2600" dirty="0">
                          <a:effectLst/>
                        </a:rPr>
                        <a:t>A3. </a:t>
                      </a:r>
                      <a:r>
                        <a:rPr lang="en-US" sz="2600" dirty="0" err="1">
                          <a:effectLst/>
                        </a:rPr>
                        <a:t>Thực</a:t>
                      </a:r>
                      <a:r>
                        <a:rPr lang="en-US" sz="2600" dirty="0">
                          <a:effectLst/>
                        </a:rPr>
                        <a:t> </a:t>
                      </a:r>
                      <a:r>
                        <a:rPr lang="en-US" sz="2600" dirty="0" err="1">
                          <a:effectLst/>
                        </a:rPr>
                        <a:t>hành</a:t>
                      </a:r>
                      <a:endParaRPr lang="en-US" sz="2600" dirty="0">
                        <a:effectLst/>
                        <a:latin typeface="Times New Roman" panose="02020603050405020304" pitchFamily="18" charset="0"/>
                        <a:ea typeface="Times New Roman" panose="02020603050405020304" pitchFamily="18" charset="0"/>
                      </a:endParaRPr>
                    </a:p>
                  </a:txBody>
                  <a:tcPr marL="138250" marR="138250" marT="0" marB="0"/>
                </a:tc>
                <a:tc>
                  <a:txBody>
                    <a:bodyPr/>
                    <a:lstStyle/>
                    <a:p>
                      <a:pPr marL="0" marR="0" lvl="0" indent="0" algn="l" defTabSz="914400" rtl="0" eaLnBrk="1" fontAlgn="auto" latinLnBrk="0" hangingPunct="1">
                        <a:lnSpc>
                          <a:spcPct val="115000"/>
                        </a:lnSpc>
                        <a:spcBef>
                          <a:spcPts val="600"/>
                        </a:spcBef>
                        <a:spcAft>
                          <a:spcPts val="0"/>
                        </a:spcAft>
                        <a:buClrTx/>
                        <a:buSzTx/>
                        <a:buFontTx/>
                        <a:buNone/>
                        <a:tabLst>
                          <a:tab pos="3268980" algn="l"/>
                        </a:tabLst>
                        <a:defRPr/>
                      </a:pPr>
                      <a:r>
                        <a:rPr lang="en-US" sz="2600">
                          <a:effectLst/>
                        </a:rPr>
                        <a:t>20%</a:t>
                      </a:r>
                      <a:endParaRPr lang="en-US" sz="2600" dirty="0">
                        <a:effectLst/>
                        <a:latin typeface="Times New Roman" panose="02020603050405020304" pitchFamily="18" charset="0"/>
                        <a:ea typeface="Times New Roman" panose="02020603050405020304" pitchFamily="18" charset="0"/>
                      </a:endParaRPr>
                    </a:p>
                  </a:txBody>
                  <a:tcPr marL="138250" marR="138250" marT="0" marB="0"/>
                </a:tc>
                <a:extLst>
                  <a:ext uri="{0D108BD9-81ED-4DB2-BD59-A6C34878D82A}">
                    <a16:rowId xmlns:a16="http://schemas.microsoft.com/office/drawing/2014/main" val="1222699142"/>
                  </a:ext>
                </a:extLst>
              </a:tr>
              <a:tr h="507515">
                <a:tc>
                  <a:txBody>
                    <a:bodyPr/>
                    <a:lstStyle/>
                    <a:p>
                      <a:pPr marL="0" marR="0" algn="l">
                        <a:lnSpc>
                          <a:spcPct val="115000"/>
                        </a:lnSpc>
                        <a:spcBef>
                          <a:spcPts val="600"/>
                        </a:spcBef>
                        <a:spcAft>
                          <a:spcPts val="0"/>
                        </a:spcAft>
                      </a:pPr>
                      <a:r>
                        <a:rPr lang="en-US" sz="2600" dirty="0">
                          <a:effectLst/>
                        </a:rPr>
                        <a:t>A4. </a:t>
                      </a:r>
                      <a:r>
                        <a:rPr lang="en-US" sz="2600" dirty="0" err="1">
                          <a:effectLst/>
                        </a:rPr>
                        <a:t>Cuối</a:t>
                      </a:r>
                      <a:r>
                        <a:rPr lang="en-US" sz="2600" dirty="0">
                          <a:effectLst/>
                        </a:rPr>
                        <a:t> </a:t>
                      </a:r>
                      <a:r>
                        <a:rPr lang="en-US" sz="2600" dirty="0" err="1">
                          <a:effectLst/>
                        </a:rPr>
                        <a:t>kỳ</a:t>
                      </a:r>
                      <a:r>
                        <a:rPr lang="en-US" sz="2600" dirty="0">
                          <a:effectLst/>
                        </a:rPr>
                        <a:t> </a:t>
                      </a:r>
                      <a:endParaRPr lang="en-US" sz="2600" dirty="0">
                        <a:effectLst/>
                        <a:latin typeface="Times New Roman" panose="02020603050405020304" pitchFamily="18" charset="0"/>
                        <a:ea typeface="Times New Roman" panose="02020603050405020304" pitchFamily="18" charset="0"/>
                      </a:endParaRPr>
                    </a:p>
                  </a:txBody>
                  <a:tcPr marL="138250" marR="138250" marT="0" marB="0"/>
                </a:tc>
                <a:tc>
                  <a:txBody>
                    <a:bodyPr/>
                    <a:lstStyle/>
                    <a:p>
                      <a:pPr marL="0" marR="0" algn="l">
                        <a:lnSpc>
                          <a:spcPct val="115000"/>
                        </a:lnSpc>
                        <a:spcBef>
                          <a:spcPts val="600"/>
                        </a:spcBef>
                        <a:spcAft>
                          <a:spcPts val="0"/>
                        </a:spcAft>
                        <a:tabLst>
                          <a:tab pos="3268980" algn="l"/>
                        </a:tabLst>
                      </a:pPr>
                      <a:r>
                        <a:rPr lang="en-US" sz="2600" dirty="0">
                          <a:effectLst/>
                        </a:rPr>
                        <a:t>50%</a:t>
                      </a:r>
                      <a:endParaRPr lang="en-US" sz="2600" dirty="0">
                        <a:effectLst/>
                        <a:latin typeface="Times New Roman" panose="02020603050405020304" pitchFamily="18" charset="0"/>
                        <a:ea typeface="Times New Roman" panose="02020603050405020304" pitchFamily="18" charset="0"/>
                      </a:endParaRPr>
                    </a:p>
                  </a:txBody>
                  <a:tcPr marL="138250" marR="138250" marT="0" marB="0"/>
                </a:tc>
                <a:extLst>
                  <a:ext uri="{0D108BD9-81ED-4DB2-BD59-A6C34878D82A}">
                    <a16:rowId xmlns:a16="http://schemas.microsoft.com/office/drawing/2014/main" val="1874882218"/>
                  </a:ext>
                </a:extLst>
              </a:tr>
            </a:tbl>
          </a:graphicData>
        </a:graphic>
      </p:graphicFrame>
    </p:spTree>
    <p:extLst>
      <p:ext uri="{BB962C8B-B14F-4D97-AF65-F5344CB8AC3E}">
        <p14:creationId xmlns:p14="http://schemas.microsoft.com/office/powerpoint/2010/main" val="8971303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r>
              <a:rPr lang="en-US"/>
              <a:t>Tài liệu học tập và tham khảo</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9</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pic>
        <p:nvPicPr>
          <p:cNvPr id="3" name="Picture 6">
            <a:extLst>
              <a:ext uri="{FF2B5EF4-FFF2-40B4-BE49-F238E27FC236}">
                <a16:creationId xmlns:a16="http://schemas.microsoft.com/office/drawing/2014/main" id="{3036290D-C194-EC9E-EC39-AD6933403D8E}"/>
              </a:ext>
            </a:extLst>
          </p:cNvPr>
          <p:cNvPicPr>
            <a:picLocks noChangeAspect="1" noChangeArrowheads="1"/>
          </p:cNvPicPr>
          <p:nvPr/>
        </p:nvPicPr>
        <p:blipFill>
          <a:blip r:embed="rId2"/>
          <a:srcRect t="4482" b="4482"/>
          <a:stretch/>
        </p:blipFill>
        <p:spPr bwMode="auto">
          <a:xfrm>
            <a:off x="4688152" y="1460109"/>
            <a:ext cx="2815695" cy="3937781"/>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6" name="Picture 4" descr="Thiết kế luận lý số | Ban điều hành công tác giáo trình">
            <a:extLst>
              <a:ext uri="{FF2B5EF4-FFF2-40B4-BE49-F238E27FC236}">
                <a16:creationId xmlns:a16="http://schemas.microsoft.com/office/drawing/2014/main" id="{E9B43EF4-9A96-6751-13A5-1860ECC94A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9362" y="1502890"/>
            <a:ext cx="2783830" cy="3852219"/>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7" name="Picture 4" descr="Computer Organization and Design: The Hardware/Software Interface">
            <a:extLst>
              <a:ext uri="{FF2B5EF4-FFF2-40B4-BE49-F238E27FC236}">
                <a16:creationId xmlns:a16="http://schemas.microsoft.com/office/drawing/2014/main" id="{73A05916-DA3D-0F0A-72EA-07B47D32FC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08807" y="1501340"/>
            <a:ext cx="3124914" cy="3851998"/>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1389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r>
              <a:rPr lang="en-US" dirty="0" err="1"/>
              <a:t>Đề</a:t>
            </a:r>
            <a:r>
              <a:rPr lang="en-US" dirty="0"/>
              <a:t> </a:t>
            </a:r>
            <a:r>
              <a:rPr lang="en-US" dirty="0" err="1"/>
              <a:t>cương</a:t>
            </a:r>
            <a:r>
              <a:rPr lang="en-US" dirty="0"/>
              <a:t> </a:t>
            </a:r>
            <a:r>
              <a:rPr lang="en-US" dirty="0" err="1"/>
              <a:t>môn</a:t>
            </a:r>
            <a:r>
              <a:rPr lang="en-US" dirty="0"/>
              <a:t> </a:t>
            </a:r>
            <a:r>
              <a:rPr lang="en-US" dirty="0" err="1"/>
              <a:t>học</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10</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pic>
        <p:nvPicPr>
          <p:cNvPr id="3" name="Picture 2">
            <a:extLst>
              <a:ext uri="{FF2B5EF4-FFF2-40B4-BE49-F238E27FC236}">
                <a16:creationId xmlns:a16="http://schemas.microsoft.com/office/drawing/2014/main" id="{E64475D7-A27C-AEF8-0E90-252B50C0AF9A}"/>
              </a:ext>
            </a:extLst>
          </p:cNvPr>
          <p:cNvPicPr>
            <a:picLocks noChangeAspect="1"/>
          </p:cNvPicPr>
          <p:nvPr/>
        </p:nvPicPr>
        <p:blipFill>
          <a:blip r:embed="rId2"/>
          <a:stretch>
            <a:fillRect/>
          </a:stretch>
        </p:blipFill>
        <p:spPr>
          <a:xfrm>
            <a:off x="2514397" y="1255875"/>
            <a:ext cx="7772400" cy="5482855"/>
          </a:xfrm>
          <a:prstGeom prst="rect">
            <a:avLst/>
          </a:prstGeom>
        </p:spPr>
      </p:pic>
    </p:spTree>
    <p:extLst>
      <p:ext uri="{BB962C8B-B14F-4D97-AF65-F5344CB8AC3E}">
        <p14:creationId xmlns:p14="http://schemas.microsoft.com/office/powerpoint/2010/main" val="4012436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029A7D1-7AA0-4E29-8A04-79138B2FBE65}"/>
              </a:ext>
            </a:extLst>
          </p:cNvPr>
          <p:cNvSpPr>
            <a:spLocks noGrp="1"/>
          </p:cNvSpPr>
          <p:nvPr>
            <p:ph type="title"/>
          </p:nvPr>
        </p:nvSpPr>
        <p:spPr/>
        <p:txBody>
          <a:bodyPr>
            <a:normAutofit/>
          </a:bodyPr>
          <a:lstStyle/>
          <a:p>
            <a:r>
              <a:rPr kumimoji="1" lang="en-US"/>
              <a:t>Quy </a:t>
            </a:r>
            <a:r>
              <a:rPr kumimoji="1" lang="en-US" dirty="0" err="1"/>
              <a:t>định</a:t>
            </a:r>
            <a:r>
              <a:rPr kumimoji="1" lang="en-US" dirty="0"/>
              <a:t> </a:t>
            </a:r>
            <a:r>
              <a:rPr kumimoji="1" lang="en-US" dirty="0" err="1"/>
              <a:t>môn</a:t>
            </a:r>
            <a:r>
              <a:rPr kumimoji="1" lang="en-US" dirty="0"/>
              <a:t> </a:t>
            </a:r>
            <a:r>
              <a:rPr kumimoji="1" lang="en-US" dirty="0" err="1"/>
              <a:t>học</a:t>
            </a:r>
            <a:endParaRPr kumimoji="1" lang="en-US" dirty="0"/>
          </a:p>
        </p:txBody>
      </p:sp>
      <p:sp>
        <p:nvSpPr>
          <p:cNvPr id="14" name="Content Placeholder 2">
            <a:extLst>
              <a:ext uri="{FF2B5EF4-FFF2-40B4-BE49-F238E27FC236}">
                <a16:creationId xmlns:a16="http://schemas.microsoft.com/office/drawing/2014/main" id="{8784778B-84B4-4EAB-98CD-85943FB34DF5}"/>
              </a:ext>
            </a:extLst>
          </p:cNvPr>
          <p:cNvSpPr>
            <a:spLocks noGrp="1"/>
          </p:cNvSpPr>
          <p:nvPr>
            <p:ph idx="1"/>
          </p:nvPr>
        </p:nvSpPr>
        <p:spPr>
          <a:xfrm>
            <a:off x="715410" y="1195821"/>
            <a:ext cx="11110197" cy="5160527"/>
          </a:xfrm>
        </p:spPr>
        <p:txBody>
          <a:bodyPr>
            <a:noAutofit/>
          </a:bodyPr>
          <a:lstStyle/>
          <a:p>
            <a:r>
              <a:rPr lang="vi-VN" altLang="en-US" sz="3000">
                <a:solidFill>
                  <a:srgbClr val="FF0000"/>
                </a:solidFill>
              </a:rPr>
              <a:t>Sinh viên cần in slide bài giảng </a:t>
            </a:r>
            <a:r>
              <a:rPr lang="vi-VN" altLang="en-US" sz="3000"/>
              <a:t>và đọc ở nhà trước khi lên lớp.</a:t>
            </a:r>
            <a:endParaRPr lang="en-US" altLang="en-US" sz="3000"/>
          </a:p>
          <a:p>
            <a:r>
              <a:rPr lang="en-US" altLang="en-US" sz="3000"/>
              <a:t>Đi học đúng giờ. </a:t>
            </a:r>
          </a:p>
          <a:p>
            <a:r>
              <a:rPr lang="vi-VN" altLang="en-US" sz="3000"/>
              <a:t>Chủ động mạnh dạn trả lời câu hỏi từ giảng viên và xung phong lên bảng sửa bài tập, đặt câu hỏi khi có thắc mắc.</a:t>
            </a:r>
            <a:endParaRPr lang="en-US" altLang="en-US" sz="3000"/>
          </a:p>
          <a:p>
            <a:r>
              <a:rPr lang="en-US" altLang="en-US" sz="3000"/>
              <a:t>N</a:t>
            </a:r>
            <a:r>
              <a:rPr lang="vi-VN" altLang="en-US" sz="3000"/>
              <a:t>ếu còn chưa hiểu nội dung kiến thức nào có thể gửi email để hỏi hoặc hỏi vào buổi học tiếp theo</a:t>
            </a:r>
            <a:r>
              <a:rPr lang="en-US" altLang="en-US" sz="3000"/>
              <a:t>.</a:t>
            </a:r>
          </a:p>
          <a:p>
            <a:r>
              <a:rPr lang="vi-VN" sz="3000">
                <a:solidFill>
                  <a:srgbClr val="FF0000"/>
                </a:solidFill>
              </a:rPr>
              <a:t>Không sử dụng điện thoại</a:t>
            </a:r>
            <a:r>
              <a:rPr lang="en-US" sz="3000">
                <a:solidFill>
                  <a:srgbClr val="FF0000"/>
                </a:solidFill>
              </a:rPr>
              <a:t>/laptop</a:t>
            </a:r>
            <a:r>
              <a:rPr lang="vi-VN" sz="3000">
                <a:solidFill>
                  <a:srgbClr val="FF0000"/>
                </a:solidFill>
              </a:rPr>
              <a:t> vào mục đích riêng trong giờ học</a:t>
            </a:r>
            <a:r>
              <a:rPr lang="en-US" altLang="en-US" sz="3000"/>
              <a:t>	</a:t>
            </a:r>
            <a:endParaRPr kumimoji="1" lang="en-US" sz="3000"/>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prstGeom prst="rect">
            <a:avLst/>
          </a:prstGeom>
          <a:noFill/>
          <a:ln w="9525">
            <a:noFill/>
            <a:miter lim="800000"/>
            <a:headEnd/>
            <a:tailEnd/>
          </a:ln>
          <a:effectLst/>
        </p:spPr>
        <p:txBody>
          <a:bodyPr wrap="square" anchor="t">
            <a:normAutofit/>
          </a:bodyPr>
          <a:lstStyle/>
          <a:p>
            <a:pPr>
              <a:spcAft>
                <a:spcPts val="600"/>
              </a:spcAft>
            </a:pPr>
            <a:r>
              <a:rPr kumimoji="1" lang="vi-VN" altLang="ja-JP"/>
              <a:t>Thực hiện bởi Trường Đại học Công nghệ Thông tin, ĐHQG-HCM</a:t>
            </a:r>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prstGeom prst="rect">
            <a:avLst/>
          </a:prstGeom>
          <a:noFill/>
          <a:ln w="9525">
            <a:noFill/>
            <a:miter lim="800000"/>
            <a:headEnd/>
            <a:tailEnd/>
          </a:ln>
          <a:effectLst/>
        </p:spPr>
        <p:txBody>
          <a:bodyPr wrap="square" anchor="t">
            <a:normAutofit/>
          </a:bodyPr>
          <a:lstStyle/>
          <a:p>
            <a:pPr>
              <a:spcAft>
                <a:spcPts val="600"/>
              </a:spcAft>
            </a:pPr>
            <a:fld id="{800C8475-47C1-49C9-BEE5-594F8CF4D71F}" type="slidenum">
              <a:rPr kumimoji="1" lang="ja-JP" altLang="en-US" smtClean="0"/>
              <a:pPr>
                <a:spcAft>
                  <a:spcPts val="600"/>
                </a:spcAft>
              </a:pPr>
              <a:t>11</a:t>
            </a:fld>
            <a:endParaRPr kumimoji="1" lang="ja-JP" altLang="en-US"/>
          </a:p>
        </p:txBody>
      </p:sp>
    </p:spTree>
    <p:extLst>
      <p:ext uri="{BB962C8B-B14F-4D97-AF65-F5344CB8AC3E}">
        <p14:creationId xmlns:p14="http://schemas.microsoft.com/office/powerpoint/2010/main" val="18066587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B88DCF8-0D88-9852-95C4-4F568F0A7200}"/>
              </a:ext>
            </a:extLst>
          </p:cNvPr>
          <p:cNvSpPr>
            <a:spLocks noGrp="1"/>
          </p:cNvSpPr>
          <p:nvPr>
            <p:ph type="sldNum" sz="quarter" idx="12"/>
          </p:nvPr>
        </p:nvSpPr>
        <p:spPr/>
        <p:txBody>
          <a:bodyPr/>
          <a:lstStyle/>
          <a:p>
            <a:fld id="{D8B0B3AC-44A8-D142-AAF6-9A453466E1A4}" type="slidenum">
              <a:rPr lang="en-VN" smtClean="0"/>
              <a:pPr/>
              <a:t>12</a:t>
            </a:fld>
            <a:endParaRPr lang="en-VN" dirty="0"/>
          </a:p>
        </p:txBody>
      </p:sp>
      <p:sp>
        <p:nvSpPr>
          <p:cNvPr id="7" name="Text Placeholder 6">
            <a:extLst>
              <a:ext uri="{FF2B5EF4-FFF2-40B4-BE49-F238E27FC236}">
                <a16:creationId xmlns:a16="http://schemas.microsoft.com/office/drawing/2014/main" id="{11F55CA5-843C-3510-DCA9-291216FC7646}"/>
              </a:ext>
            </a:extLst>
          </p:cNvPr>
          <p:cNvSpPr>
            <a:spLocks noGrp="1"/>
          </p:cNvSpPr>
          <p:nvPr>
            <p:ph type="body" sz="quarter" idx="13"/>
          </p:nvPr>
        </p:nvSpPr>
        <p:spPr/>
        <p:txBody>
          <a:bodyPr>
            <a:normAutofit fontScale="77500" lnSpcReduction="20000"/>
          </a:bodyPr>
          <a:lstStyle/>
          <a:p>
            <a:r>
              <a:rPr lang="en-US"/>
              <a:t>TỔ CHỨC VÀ CẤU TRÚC MÁY TÍNH II</a:t>
            </a:r>
            <a:endParaRPr lang="en-VN" dirty="0"/>
          </a:p>
        </p:txBody>
      </p:sp>
      <p:sp>
        <p:nvSpPr>
          <p:cNvPr id="8" name="Text Placeholder 7">
            <a:extLst>
              <a:ext uri="{FF2B5EF4-FFF2-40B4-BE49-F238E27FC236}">
                <a16:creationId xmlns:a16="http://schemas.microsoft.com/office/drawing/2014/main" id="{A2113BCF-E52A-540A-4540-2833CA1A0E44}"/>
              </a:ext>
            </a:extLst>
          </p:cNvPr>
          <p:cNvSpPr>
            <a:spLocks noGrp="1"/>
          </p:cNvSpPr>
          <p:nvPr>
            <p:ph type="body" sz="quarter" idx="14"/>
          </p:nvPr>
        </p:nvSpPr>
        <p:spPr/>
        <p:txBody>
          <a:bodyPr/>
          <a:lstStyle/>
          <a:p>
            <a:r>
              <a:rPr lang="en-US"/>
              <a:t>CHƯƠNG 1: TỔNG QUAN VỀ MÁY TÍNH</a:t>
            </a:r>
            <a:endParaRPr lang="en-VN"/>
          </a:p>
        </p:txBody>
      </p:sp>
      <p:sp>
        <p:nvSpPr>
          <p:cNvPr id="9" name="Text Placeholder 8">
            <a:extLst>
              <a:ext uri="{FF2B5EF4-FFF2-40B4-BE49-F238E27FC236}">
                <a16:creationId xmlns:a16="http://schemas.microsoft.com/office/drawing/2014/main" id="{4F41A4B7-48D3-1CAE-C056-FDAD586D0469}"/>
              </a:ext>
            </a:extLst>
          </p:cNvPr>
          <p:cNvSpPr>
            <a:spLocks noGrp="1"/>
          </p:cNvSpPr>
          <p:nvPr>
            <p:ph type="body" sz="quarter" idx="15"/>
          </p:nvPr>
        </p:nvSpPr>
        <p:spPr/>
        <p:txBody>
          <a:bodyPr/>
          <a:lstStyle/>
          <a:p>
            <a:r>
              <a:rPr lang="en-US"/>
              <a:t>PHAN ĐÌNH DUY</a:t>
            </a:r>
            <a:endParaRPr lang="en-VN"/>
          </a:p>
        </p:txBody>
      </p:sp>
      <p:sp>
        <p:nvSpPr>
          <p:cNvPr id="10" name="Text Placeholder 9">
            <a:extLst>
              <a:ext uri="{FF2B5EF4-FFF2-40B4-BE49-F238E27FC236}">
                <a16:creationId xmlns:a16="http://schemas.microsoft.com/office/drawing/2014/main" id="{A673612D-1002-64DC-D3C2-F4E546D79283}"/>
              </a:ext>
            </a:extLst>
          </p:cNvPr>
          <p:cNvSpPr>
            <a:spLocks noGrp="1"/>
          </p:cNvSpPr>
          <p:nvPr>
            <p:ph type="body" sz="quarter" idx="16"/>
          </p:nvPr>
        </p:nvSpPr>
        <p:spPr/>
        <p:txBody>
          <a:bodyPr/>
          <a:lstStyle/>
          <a:p>
            <a:r>
              <a:rPr lang="en-US"/>
              <a:t>Trình bày các thông tin giới thiệu chung về máy tính, lịch sử phát triển máy tính, phân loại máy tính, và các thành phần bên trong máy tính</a:t>
            </a:r>
            <a:endParaRPr lang="en-VN"/>
          </a:p>
        </p:txBody>
      </p:sp>
      <p:sp>
        <p:nvSpPr>
          <p:cNvPr id="2" name="Footer Placeholder 1">
            <a:extLst>
              <a:ext uri="{FF2B5EF4-FFF2-40B4-BE49-F238E27FC236}">
                <a16:creationId xmlns:a16="http://schemas.microsoft.com/office/drawing/2014/main" id="{2D72110C-D077-8C1D-3057-3378C02C490F}"/>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Tree>
    <p:extLst>
      <p:ext uri="{BB962C8B-B14F-4D97-AF65-F5344CB8AC3E}">
        <p14:creationId xmlns:p14="http://schemas.microsoft.com/office/powerpoint/2010/main" val="29806574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A9BD337-3CBD-0719-2FDF-03E1A46887FD}"/>
              </a:ext>
            </a:extLst>
          </p:cNvPr>
          <p:cNvSpPr>
            <a:spLocks noGrp="1"/>
          </p:cNvSpPr>
          <p:nvPr>
            <p:ph type="sldNum" sz="quarter" idx="12"/>
          </p:nvPr>
        </p:nvSpPr>
        <p:spPr/>
        <p:txBody>
          <a:bodyPr/>
          <a:lstStyle/>
          <a:p>
            <a:fld id="{D8B0B3AC-44A8-D142-AAF6-9A453466E1A4}" type="slidenum">
              <a:rPr lang="en-VN" smtClean="0"/>
              <a:pPr/>
              <a:t>13</a:t>
            </a:fld>
            <a:endParaRPr lang="en-VN" dirty="0"/>
          </a:p>
        </p:txBody>
      </p:sp>
      <p:sp>
        <p:nvSpPr>
          <p:cNvPr id="3" name="Text Placeholder 2">
            <a:extLst>
              <a:ext uri="{FF2B5EF4-FFF2-40B4-BE49-F238E27FC236}">
                <a16:creationId xmlns:a16="http://schemas.microsoft.com/office/drawing/2014/main" id="{2B4CC069-E19E-B22C-6D85-1188A3E8F06F}"/>
              </a:ext>
            </a:extLst>
          </p:cNvPr>
          <p:cNvSpPr>
            <a:spLocks noGrp="1"/>
          </p:cNvSpPr>
          <p:nvPr>
            <p:ph type="body" sz="quarter" idx="13"/>
          </p:nvPr>
        </p:nvSpPr>
        <p:spPr/>
        <p:txBody>
          <a:bodyPr/>
          <a:lstStyle/>
          <a:p>
            <a:r>
              <a:rPr lang="en-US" sz="2800">
                <a:solidFill>
                  <a:srgbClr val="0033CC"/>
                </a:solidFill>
              </a:rPr>
              <a:t>Giới thiệu các khái niệm cơ bản về máy tính và các công nghệ liên quan</a:t>
            </a:r>
            <a:endParaRPr lang="en-VN" dirty="0"/>
          </a:p>
        </p:txBody>
      </p:sp>
      <p:sp>
        <p:nvSpPr>
          <p:cNvPr id="4" name="Footer Placeholder 3">
            <a:extLst>
              <a:ext uri="{FF2B5EF4-FFF2-40B4-BE49-F238E27FC236}">
                <a16:creationId xmlns:a16="http://schemas.microsoft.com/office/drawing/2014/main" id="{9EB6FCBF-4D71-BDAD-8392-99213DE0C5AA}"/>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Tree>
    <p:extLst>
      <p:ext uri="{BB962C8B-B14F-4D97-AF65-F5344CB8AC3E}">
        <p14:creationId xmlns:p14="http://schemas.microsoft.com/office/powerpoint/2010/main" val="2759920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EB6FCBF-4D71-BDAD-8392-99213DE0C5AA}"/>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2" name="Slide Number Placeholder 1">
            <a:extLst>
              <a:ext uri="{FF2B5EF4-FFF2-40B4-BE49-F238E27FC236}">
                <a16:creationId xmlns:a16="http://schemas.microsoft.com/office/drawing/2014/main" id="{9A9BD337-3CBD-0719-2FDF-03E1A46887FD}"/>
              </a:ext>
            </a:extLst>
          </p:cNvPr>
          <p:cNvSpPr>
            <a:spLocks noGrp="1"/>
          </p:cNvSpPr>
          <p:nvPr>
            <p:ph type="sldNum" sz="quarter" idx="12"/>
          </p:nvPr>
        </p:nvSpPr>
        <p:spPr/>
        <p:txBody>
          <a:bodyPr/>
          <a:lstStyle/>
          <a:p>
            <a:fld id="{D8B0B3AC-44A8-D142-AAF6-9A453466E1A4}" type="slidenum">
              <a:rPr lang="en-VN" smtClean="0"/>
              <a:pPr/>
              <a:t>14</a:t>
            </a:fld>
            <a:endParaRPr lang="en-VN" dirty="0"/>
          </a:p>
        </p:txBody>
      </p:sp>
      <p:sp>
        <p:nvSpPr>
          <p:cNvPr id="5" name="Text Placeholder 4">
            <a:extLst>
              <a:ext uri="{FF2B5EF4-FFF2-40B4-BE49-F238E27FC236}">
                <a16:creationId xmlns:a16="http://schemas.microsoft.com/office/drawing/2014/main" id="{CFBD77E0-7814-E542-0144-95AEF5C06AD5}"/>
              </a:ext>
            </a:extLst>
          </p:cNvPr>
          <p:cNvSpPr>
            <a:spLocks noGrp="1"/>
          </p:cNvSpPr>
          <p:nvPr>
            <p:ph type="body" sz="quarter" idx="13"/>
          </p:nvPr>
        </p:nvSpPr>
        <p:spPr/>
        <p:txBody>
          <a:bodyPr/>
          <a:lstStyle/>
          <a:p>
            <a:pPr>
              <a:spcAft>
                <a:spcPts val="3600"/>
              </a:spcAft>
            </a:pPr>
            <a:r>
              <a:rPr lang="en-US" sz="2800" b="1" dirty="0" err="1"/>
              <a:t>Lịch</a:t>
            </a:r>
            <a:r>
              <a:rPr lang="en-US" sz="2800" b="1" dirty="0"/>
              <a:t> </a:t>
            </a:r>
            <a:r>
              <a:rPr lang="en-US" sz="2800" b="1" dirty="0" err="1"/>
              <a:t>sử</a:t>
            </a:r>
            <a:r>
              <a:rPr lang="en-US" sz="2800" b="1" dirty="0"/>
              <a:t> </a:t>
            </a:r>
            <a:r>
              <a:rPr lang="en-US" sz="2800" b="1" dirty="0" err="1"/>
              <a:t>phát</a:t>
            </a:r>
            <a:r>
              <a:rPr lang="en-US" sz="2800" b="1" dirty="0"/>
              <a:t> </a:t>
            </a:r>
            <a:r>
              <a:rPr lang="en-US" sz="2800" b="1" dirty="0" err="1"/>
              <a:t>triển</a:t>
            </a:r>
            <a:r>
              <a:rPr lang="en-US" sz="2800" b="1" dirty="0"/>
              <a:t> </a:t>
            </a:r>
            <a:r>
              <a:rPr lang="en-US" sz="2800" b="1" dirty="0" err="1"/>
              <a:t>của</a:t>
            </a:r>
            <a:r>
              <a:rPr lang="en-US" sz="2800" b="1" dirty="0"/>
              <a:t> </a:t>
            </a:r>
            <a:r>
              <a:rPr lang="en-US" sz="2800" b="1" dirty="0" err="1"/>
              <a:t>máy</a:t>
            </a:r>
            <a:r>
              <a:rPr lang="en-US" sz="2800" b="1" dirty="0"/>
              <a:t> </a:t>
            </a:r>
            <a:r>
              <a:rPr lang="en-US" sz="2800" b="1" dirty="0" err="1"/>
              <a:t>tính</a:t>
            </a:r>
            <a:r>
              <a:rPr lang="en-US" sz="2800" b="1" dirty="0"/>
              <a:t>.</a:t>
            </a:r>
          </a:p>
          <a:p>
            <a:pPr>
              <a:spcAft>
                <a:spcPts val="3600"/>
              </a:spcAft>
            </a:pPr>
            <a:r>
              <a:rPr lang="en-US" sz="2800" b="1" dirty="0" err="1"/>
              <a:t>Phân</a:t>
            </a:r>
            <a:r>
              <a:rPr lang="en-US" sz="2800" b="1" dirty="0"/>
              <a:t> </a:t>
            </a:r>
            <a:r>
              <a:rPr lang="en-US" sz="2800" b="1" dirty="0" err="1"/>
              <a:t>loại</a:t>
            </a:r>
            <a:r>
              <a:rPr lang="en-US" sz="2800" b="1" dirty="0"/>
              <a:t> </a:t>
            </a:r>
            <a:r>
              <a:rPr lang="en-US" sz="2800" b="1" dirty="0" err="1"/>
              <a:t>máy</a:t>
            </a:r>
            <a:r>
              <a:rPr lang="en-US" sz="2800" b="1" dirty="0"/>
              <a:t> </a:t>
            </a:r>
            <a:r>
              <a:rPr lang="en-US" sz="2800" b="1" dirty="0" err="1"/>
              <a:t>tính</a:t>
            </a:r>
            <a:r>
              <a:rPr lang="en-US" sz="2800" b="1" dirty="0"/>
              <a:t>.</a:t>
            </a:r>
          </a:p>
          <a:p>
            <a:pPr>
              <a:spcAft>
                <a:spcPts val="3600"/>
              </a:spcAft>
            </a:pPr>
            <a:r>
              <a:rPr lang="en-US" sz="2800" b="1" dirty="0" err="1"/>
              <a:t>Các</a:t>
            </a:r>
            <a:r>
              <a:rPr lang="en-US" sz="2800" b="1" dirty="0"/>
              <a:t> </a:t>
            </a:r>
            <a:r>
              <a:rPr lang="en-US" sz="2800" b="1" dirty="0" err="1"/>
              <a:t>lớp</a:t>
            </a:r>
            <a:r>
              <a:rPr lang="en-US" sz="2800" b="1" dirty="0"/>
              <a:t> </a:t>
            </a:r>
            <a:r>
              <a:rPr lang="en-US" sz="2800" b="1" dirty="0" err="1"/>
              <a:t>thực</a:t>
            </a:r>
            <a:r>
              <a:rPr lang="en-US" sz="2800" b="1" dirty="0"/>
              <a:t> </a:t>
            </a:r>
            <a:r>
              <a:rPr lang="en-US" sz="2800" b="1" dirty="0" err="1"/>
              <a:t>thi</a:t>
            </a:r>
            <a:r>
              <a:rPr lang="en-US" sz="2800" b="1" dirty="0"/>
              <a:t> </a:t>
            </a:r>
            <a:r>
              <a:rPr lang="en-US" sz="2800" b="1" dirty="0" err="1"/>
              <a:t>bên</a:t>
            </a:r>
            <a:r>
              <a:rPr lang="en-US" sz="2800" b="1" dirty="0"/>
              <a:t> </a:t>
            </a:r>
            <a:r>
              <a:rPr lang="en-US" sz="2800" b="1" dirty="0" err="1"/>
              <a:t>trong</a:t>
            </a:r>
            <a:r>
              <a:rPr lang="en-US" sz="2800" b="1" dirty="0"/>
              <a:t> </a:t>
            </a:r>
            <a:r>
              <a:rPr lang="en-US" sz="2800" b="1" dirty="0" err="1"/>
              <a:t>máy</a:t>
            </a:r>
            <a:r>
              <a:rPr lang="en-US" sz="2800" b="1" dirty="0"/>
              <a:t> </a:t>
            </a:r>
            <a:r>
              <a:rPr lang="en-US" sz="2800" b="1" dirty="0" err="1"/>
              <a:t>tính</a:t>
            </a:r>
            <a:r>
              <a:rPr lang="en-US" sz="2800" b="1" dirty="0"/>
              <a:t>.</a:t>
            </a:r>
          </a:p>
          <a:p>
            <a:pPr>
              <a:spcAft>
                <a:spcPts val="3600"/>
              </a:spcAft>
            </a:pPr>
            <a:r>
              <a:rPr lang="en-US" sz="2800" b="1" dirty="0" err="1"/>
              <a:t>Các</a:t>
            </a:r>
            <a:r>
              <a:rPr lang="en-US" sz="2800" b="1" dirty="0"/>
              <a:t> </a:t>
            </a:r>
            <a:r>
              <a:rPr lang="en-US" sz="2800" b="1" dirty="0" err="1"/>
              <a:t>chức</a:t>
            </a:r>
            <a:r>
              <a:rPr lang="en-US" sz="2800" b="1" dirty="0"/>
              <a:t> </a:t>
            </a:r>
            <a:r>
              <a:rPr lang="en-US" sz="2800" b="1" dirty="0" err="1"/>
              <a:t>năng</a:t>
            </a:r>
            <a:r>
              <a:rPr lang="en-US" sz="2800" b="1" dirty="0"/>
              <a:t> </a:t>
            </a:r>
            <a:r>
              <a:rPr lang="en-US" sz="2800" b="1" dirty="0" err="1"/>
              <a:t>và</a:t>
            </a:r>
            <a:r>
              <a:rPr lang="en-US" sz="2800" b="1" dirty="0"/>
              <a:t> </a:t>
            </a:r>
            <a:r>
              <a:rPr lang="en-US" sz="2800" b="1" dirty="0" err="1"/>
              <a:t>thành</a:t>
            </a:r>
            <a:r>
              <a:rPr lang="en-US" sz="2800" b="1" dirty="0"/>
              <a:t> </a:t>
            </a:r>
            <a:r>
              <a:rPr lang="en-US" sz="2800" b="1" dirty="0" err="1"/>
              <a:t>phần</a:t>
            </a:r>
            <a:r>
              <a:rPr lang="en-US" sz="2800" b="1" dirty="0"/>
              <a:t> c</a:t>
            </a:r>
            <a:r>
              <a:rPr lang="vi-VN" sz="2800" b="1" dirty="0"/>
              <a:t>ơ</a:t>
            </a:r>
            <a:r>
              <a:rPr lang="en-US" sz="2800" b="1" dirty="0"/>
              <a:t> </a:t>
            </a:r>
            <a:r>
              <a:rPr lang="en-US" sz="2800" b="1" dirty="0" err="1"/>
              <a:t>bản</a:t>
            </a:r>
            <a:r>
              <a:rPr lang="en-US" sz="2800" b="1" dirty="0"/>
              <a:t> </a:t>
            </a:r>
            <a:r>
              <a:rPr lang="en-US" sz="2800" b="1" dirty="0" err="1"/>
              <a:t>của</a:t>
            </a:r>
            <a:r>
              <a:rPr lang="en-US" sz="2800" b="1" dirty="0"/>
              <a:t> </a:t>
            </a:r>
            <a:r>
              <a:rPr lang="en-US" sz="2800" b="1" dirty="0" err="1"/>
              <a:t>máy</a:t>
            </a:r>
            <a:r>
              <a:rPr lang="en-US" sz="2800" b="1" dirty="0"/>
              <a:t> </a:t>
            </a:r>
            <a:r>
              <a:rPr lang="en-US" sz="2800" b="1" dirty="0" err="1"/>
              <a:t>tính</a:t>
            </a:r>
            <a:r>
              <a:rPr lang="en-US" sz="2800" b="1" dirty="0"/>
              <a:t>.</a:t>
            </a:r>
            <a:endParaRPr lang="en-US" dirty="0"/>
          </a:p>
        </p:txBody>
      </p:sp>
    </p:spTree>
    <p:extLst>
      <p:ext uri="{BB962C8B-B14F-4D97-AF65-F5344CB8AC3E}">
        <p14:creationId xmlns:p14="http://schemas.microsoft.com/office/powerpoint/2010/main" val="2219057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2138E7-0BF8-4FBE-AB49-4184E532FD1F}"/>
              </a:ext>
            </a:extLst>
          </p:cNvPr>
          <p:cNvSpPr>
            <a:spLocks noGrp="1"/>
          </p:cNvSpPr>
          <p:nvPr>
            <p:ph type="sldNum" sz="quarter" idx="12"/>
          </p:nvPr>
        </p:nvSpPr>
        <p:spPr/>
        <p:txBody>
          <a:bodyPr/>
          <a:lstStyle/>
          <a:p>
            <a:fld id="{D8B0B3AC-44A8-D142-AAF6-9A453466E1A4}" type="slidenum">
              <a:rPr lang="en-VN" smtClean="0"/>
              <a:pPr/>
              <a:t>15</a:t>
            </a:fld>
            <a:endParaRPr lang="en-VN" dirty="0"/>
          </a:p>
        </p:txBody>
      </p:sp>
      <p:sp>
        <p:nvSpPr>
          <p:cNvPr id="7" name="Text Placeholder 6">
            <a:extLst>
              <a:ext uri="{FF2B5EF4-FFF2-40B4-BE49-F238E27FC236}">
                <a16:creationId xmlns:a16="http://schemas.microsoft.com/office/drawing/2014/main" id="{0602C380-9011-23F7-8E4B-E195C0DFFBC9}"/>
              </a:ext>
            </a:extLst>
          </p:cNvPr>
          <p:cNvSpPr>
            <a:spLocks noGrp="1"/>
          </p:cNvSpPr>
          <p:nvPr>
            <p:ph type="body" sz="quarter" idx="13"/>
          </p:nvPr>
        </p:nvSpPr>
        <p:spPr>
          <a:xfrm>
            <a:off x="1470929" y="2095027"/>
            <a:ext cx="7918398" cy="884656"/>
          </a:xfrm>
        </p:spPr>
        <p:txBody>
          <a:bodyPr>
            <a:normAutofit fontScale="85000" lnSpcReduction="10000"/>
          </a:bodyPr>
          <a:lstStyle/>
          <a:p>
            <a:r>
              <a:rPr lang="en-US"/>
              <a:t>Lịch sử phát triển của máy tính</a:t>
            </a:r>
            <a:endParaRPr lang="en-VN"/>
          </a:p>
        </p:txBody>
      </p:sp>
      <p:sp>
        <p:nvSpPr>
          <p:cNvPr id="8" name="Text Placeholder 7">
            <a:extLst>
              <a:ext uri="{FF2B5EF4-FFF2-40B4-BE49-F238E27FC236}">
                <a16:creationId xmlns:a16="http://schemas.microsoft.com/office/drawing/2014/main" id="{883EE24F-70E8-C3FA-399B-07DCA2C415CE}"/>
              </a:ext>
            </a:extLst>
          </p:cNvPr>
          <p:cNvSpPr>
            <a:spLocks noGrp="1"/>
          </p:cNvSpPr>
          <p:nvPr>
            <p:ph type="body" sz="quarter" idx="14"/>
          </p:nvPr>
        </p:nvSpPr>
        <p:spPr/>
        <p:txBody>
          <a:bodyPr/>
          <a:lstStyle/>
          <a:p>
            <a:endParaRPr lang="vi-VN" sz="2800" dirty="0"/>
          </a:p>
        </p:txBody>
      </p:sp>
      <p:sp>
        <p:nvSpPr>
          <p:cNvPr id="9" name="Text Placeholder 8">
            <a:extLst>
              <a:ext uri="{FF2B5EF4-FFF2-40B4-BE49-F238E27FC236}">
                <a16:creationId xmlns:a16="http://schemas.microsoft.com/office/drawing/2014/main" id="{7F04BBE0-C7C7-D804-DD85-D99BEB36007C}"/>
              </a:ext>
            </a:extLst>
          </p:cNvPr>
          <p:cNvSpPr>
            <a:spLocks noGrp="1"/>
          </p:cNvSpPr>
          <p:nvPr>
            <p:ph type="body" sz="quarter" idx="15"/>
          </p:nvPr>
        </p:nvSpPr>
        <p:spPr/>
        <p:txBody>
          <a:bodyPr/>
          <a:lstStyle/>
          <a:p>
            <a:endParaRPr lang="en-VN"/>
          </a:p>
        </p:txBody>
      </p:sp>
      <p:sp>
        <p:nvSpPr>
          <p:cNvPr id="10" name="Text Placeholder 9">
            <a:extLst>
              <a:ext uri="{FF2B5EF4-FFF2-40B4-BE49-F238E27FC236}">
                <a16:creationId xmlns:a16="http://schemas.microsoft.com/office/drawing/2014/main" id="{3C2CDC7B-AFE9-6C1F-2CD6-AA61695C23FD}"/>
              </a:ext>
            </a:extLst>
          </p:cNvPr>
          <p:cNvSpPr>
            <a:spLocks noGrp="1"/>
          </p:cNvSpPr>
          <p:nvPr>
            <p:ph type="body" sz="quarter" idx="16"/>
          </p:nvPr>
        </p:nvSpPr>
        <p:spPr/>
        <p:txBody>
          <a:bodyPr>
            <a:normAutofit lnSpcReduction="10000"/>
          </a:bodyPr>
          <a:lstStyle/>
          <a:p>
            <a:r>
              <a:rPr lang="en-VN" dirty="0"/>
              <a:t>1</a:t>
            </a:r>
          </a:p>
        </p:txBody>
      </p:sp>
    </p:spTree>
    <p:extLst>
      <p:ext uri="{BB962C8B-B14F-4D97-AF65-F5344CB8AC3E}">
        <p14:creationId xmlns:p14="http://schemas.microsoft.com/office/powerpoint/2010/main" val="17045684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r>
              <a:rPr lang="en-US"/>
              <a:t>Lịch sử phát triển của máy tính</a:t>
            </a:r>
            <a:endParaRPr lang="en-VN" dirty="0"/>
          </a:p>
        </p:txBody>
      </p:sp>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p:txBody>
          <a:bodyPr/>
          <a:lstStyle/>
          <a:p>
            <a:pPr>
              <a:lnSpc>
                <a:spcPct val="150000"/>
              </a:lnSpc>
            </a:pPr>
            <a:r>
              <a:rPr lang="en-US" dirty="0" err="1"/>
              <a:t>Thế</a:t>
            </a:r>
            <a:r>
              <a:rPr lang="en-US" dirty="0"/>
              <a:t> </a:t>
            </a:r>
            <a:r>
              <a:rPr lang="en-US" dirty="0" err="1"/>
              <a:t>hệ</a:t>
            </a:r>
            <a:r>
              <a:rPr lang="en-US" dirty="0"/>
              <a:t> 0: </a:t>
            </a:r>
            <a:r>
              <a:rPr lang="en-US" dirty="0" err="1"/>
              <a:t>Máy</a:t>
            </a:r>
            <a:r>
              <a:rPr lang="en-US" dirty="0"/>
              <a:t> </a:t>
            </a:r>
            <a:r>
              <a:rPr lang="en-US" dirty="0" err="1"/>
              <a:t>chuyển</a:t>
            </a:r>
            <a:r>
              <a:rPr lang="en-US" dirty="0"/>
              <a:t> </a:t>
            </a:r>
            <a:r>
              <a:rPr lang="en-US" dirty="0" err="1"/>
              <a:t>động</a:t>
            </a:r>
            <a:r>
              <a:rPr lang="en-US" dirty="0"/>
              <a:t> </a:t>
            </a:r>
            <a:r>
              <a:rPr lang="en-US" dirty="0" err="1"/>
              <a:t>cơ</a:t>
            </a:r>
            <a:r>
              <a:rPr lang="en-US" dirty="0"/>
              <a:t> </a:t>
            </a:r>
            <a:r>
              <a:rPr lang="en-US" dirty="0" err="1"/>
              <a:t>học</a:t>
            </a:r>
            <a:endParaRPr lang="en-US" dirty="0"/>
          </a:p>
          <a:p>
            <a:pPr>
              <a:lnSpc>
                <a:spcPct val="150000"/>
              </a:lnSpc>
            </a:pPr>
            <a:r>
              <a:rPr lang="en-US" dirty="0" err="1"/>
              <a:t>Thế</a:t>
            </a:r>
            <a:r>
              <a:rPr lang="en-US" dirty="0"/>
              <a:t> </a:t>
            </a:r>
            <a:r>
              <a:rPr lang="en-US" dirty="0" err="1"/>
              <a:t>hệ</a:t>
            </a:r>
            <a:r>
              <a:rPr lang="en-US" dirty="0"/>
              <a:t> 1: </a:t>
            </a:r>
            <a:r>
              <a:rPr lang="en-US" dirty="0" err="1"/>
              <a:t>Máy</a:t>
            </a:r>
            <a:r>
              <a:rPr lang="en-US" dirty="0"/>
              <a:t> </a:t>
            </a:r>
            <a:r>
              <a:rPr lang="en-US" dirty="0" err="1"/>
              <a:t>tính</a:t>
            </a:r>
            <a:r>
              <a:rPr lang="en-US" dirty="0"/>
              <a:t> </a:t>
            </a:r>
            <a:r>
              <a:rPr lang="en-US" dirty="0" err="1"/>
              <a:t>sử</a:t>
            </a:r>
            <a:r>
              <a:rPr lang="en-US" dirty="0"/>
              <a:t> </a:t>
            </a:r>
            <a:r>
              <a:rPr lang="en-US" dirty="0" err="1"/>
              <a:t>dụng</a:t>
            </a:r>
            <a:r>
              <a:rPr lang="en-US" dirty="0"/>
              <a:t> </a:t>
            </a:r>
            <a:r>
              <a:rPr lang="en-US" dirty="0" err="1"/>
              <a:t>đèn</a:t>
            </a:r>
            <a:r>
              <a:rPr lang="en-US" dirty="0"/>
              <a:t> </a:t>
            </a:r>
            <a:r>
              <a:rPr lang="en-US" dirty="0" err="1"/>
              <a:t>chân</a:t>
            </a:r>
            <a:r>
              <a:rPr lang="en-US" dirty="0"/>
              <a:t> </a:t>
            </a:r>
            <a:r>
              <a:rPr lang="en-US" dirty="0" err="1"/>
              <a:t>không</a:t>
            </a:r>
            <a:endParaRPr lang="en-US" dirty="0"/>
          </a:p>
          <a:p>
            <a:pPr>
              <a:lnSpc>
                <a:spcPct val="150000"/>
              </a:lnSpc>
            </a:pPr>
            <a:r>
              <a:rPr lang="en-US" dirty="0" err="1"/>
              <a:t>Thế</a:t>
            </a:r>
            <a:r>
              <a:rPr lang="en-US" dirty="0"/>
              <a:t> </a:t>
            </a:r>
            <a:r>
              <a:rPr lang="en-US" dirty="0" err="1"/>
              <a:t>hệ</a:t>
            </a:r>
            <a:r>
              <a:rPr lang="en-US" dirty="0"/>
              <a:t> 2: </a:t>
            </a:r>
            <a:r>
              <a:rPr lang="en-US" dirty="0" err="1"/>
              <a:t>Máy</a:t>
            </a:r>
            <a:r>
              <a:rPr lang="en-US" dirty="0"/>
              <a:t> </a:t>
            </a:r>
            <a:r>
              <a:rPr lang="en-US" dirty="0" err="1"/>
              <a:t>tính</a:t>
            </a:r>
            <a:r>
              <a:rPr lang="en-US" dirty="0"/>
              <a:t> </a:t>
            </a:r>
            <a:r>
              <a:rPr lang="en-US" dirty="0" err="1"/>
              <a:t>sử</a:t>
            </a:r>
            <a:r>
              <a:rPr lang="en-US" dirty="0"/>
              <a:t> </a:t>
            </a:r>
            <a:r>
              <a:rPr lang="en-US" dirty="0" err="1"/>
              <a:t>dụng</a:t>
            </a:r>
            <a:r>
              <a:rPr lang="en-US" dirty="0"/>
              <a:t> transistor</a:t>
            </a:r>
          </a:p>
          <a:p>
            <a:pPr>
              <a:lnSpc>
                <a:spcPct val="150000"/>
              </a:lnSpc>
            </a:pPr>
            <a:r>
              <a:rPr lang="en-US" dirty="0" err="1"/>
              <a:t>Thế</a:t>
            </a:r>
            <a:r>
              <a:rPr lang="en-US" dirty="0"/>
              <a:t> </a:t>
            </a:r>
            <a:r>
              <a:rPr lang="en-US" dirty="0" err="1"/>
              <a:t>hệ</a:t>
            </a:r>
            <a:r>
              <a:rPr lang="en-US" dirty="0"/>
              <a:t> 3: </a:t>
            </a:r>
            <a:r>
              <a:rPr lang="en-US" dirty="0" err="1"/>
              <a:t>Máy</a:t>
            </a:r>
            <a:r>
              <a:rPr lang="en-US" dirty="0"/>
              <a:t> </a:t>
            </a:r>
            <a:r>
              <a:rPr lang="en-US" dirty="0" err="1"/>
              <a:t>tính</a:t>
            </a:r>
            <a:r>
              <a:rPr lang="en-US" dirty="0"/>
              <a:t> </a:t>
            </a:r>
            <a:r>
              <a:rPr lang="en-US" dirty="0" err="1"/>
              <a:t>sử</a:t>
            </a:r>
            <a:r>
              <a:rPr lang="en-US" dirty="0"/>
              <a:t> </a:t>
            </a:r>
            <a:r>
              <a:rPr lang="en-US" dirty="0" err="1"/>
              <a:t>dụng</a:t>
            </a:r>
            <a:r>
              <a:rPr lang="en-US" dirty="0"/>
              <a:t> </a:t>
            </a:r>
            <a:r>
              <a:rPr lang="en-US" dirty="0" err="1"/>
              <a:t>công</a:t>
            </a:r>
            <a:r>
              <a:rPr lang="en-US" dirty="0"/>
              <a:t> </a:t>
            </a:r>
            <a:r>
              <a:rPr lang="en-US" dirty="0" err="1"/>
              <a:t>nghệ</a:t>
            </a:r>
            <a:r>
              <a:rPr lang="en-US" dirty="0"/>
              <a:t> </a:t>
            </a:r>
            <a:r>
              <a:rPr lang="en-US" dirty="0" err="1"/>
              <a:t>mạch</a:t>
            </a:r>
            <a:r>
              <a:rPr lang="en-US" dirty="0"/>
              <a:t> </a:t>
            </a:r>
            <a:r>
              <a:rPr lang="en-US" dirty="0" err="1"/>
              <a:t>tích</a:t>
            </a:r>
            <a:r>
              <a:rPr lang="en-US" dirty="0"/>
              <a:t> </a:t>
            </a:r>
            <a:r>
              <a:rPr lang="en-US" dirty="0" err="1"/>
              <a:t>hợp</a:t>
            </a:r>
            <a:endParaRPr lang="en-US" dirty="0"/>
          </a:p>
          <a:p>
            <a:pPr>
              <a:lnSpc>
                <a:spcPct val="150000"/>
              </a:lnSpc>
            </a:pPr>
            <a:r>
              <a:rPr lang="en-US" dirty="0" err="1"/>
              <a:t>Thế</a:t>
            </a:r>
            <a:r>
              <a:rPr lang="en-US" dirty="0"/>
              <a:t> </a:t>
            </a:r>
            <a:r>
              <a:rPr lang="en-US" dirty="0" err="1"/>
              <a:t>hệ</a:t>
            </a:r>
            <a:r>
              <a:rPr lang="en-US" dirty="0"/>
              <a:t> 4: </a:t>
            </a:r>
            <a:r>
              <a:rPr lang="en-US" dirty="0" err="1"/>
              <a:t>Máy</a:t>
            </a:r>
            <a:r>
              <a:rPr lang="en-US" dirty="0"/>
              <a:t> </a:t>
            </a:r>
            <a:r>
              <a:rPr lang="en-US" dirty="0" err="1"/>
              <a:t>tính</a:t>
            </a:r>
            <a:r>
              <a:rPr lang="en-US" dirty="0"/>
              <a:t> </a:t>
            </a:r>
            <a:r>
              <a:rPr lang="en-US" dirty="0" err="1"/>
              <a:t>sử</a:t>
            </a:r>
            <a:r>
              <a:rPr lang="en-US" dirty="0"/>
              <a:t> </a:t>
            </a:r>
            <a:r>
              <a:rPr lang="en-US" dirty="0" err="1"/>
              <a:t>dụng</a:t>
            </a:r>
            <a:r>
              <a:rPr lang="en-US" dirty="0"/>
              <a:t> </a:t>
            </a:r>
            <a:r>
              <a:rPr lang="en-US" dirty="0" err="1"/>
              <a:t>công</a:t>
            </a:r>
            <a:r>
              <a:rPr lang="en-US" dirty="0"/>
              <a:t> </a:t>
            </a:r>
            <a:r>
              <a:rPr lang="en-US" dirty="0" err="1"/>
              <a:t>nghệ</a:t>
            </a:r>
            <a:r>
              <a:rPr lang="en-US" dirty="0"/>
              <a:t> VLSI</a:t>
            </a:r>
          </a:p>
          <a:p>
            <a:pPr marL="0" indent="0">
              <a:lnSpc>
                <a:spcPct val="150000"/>
              </a:lnSpc>
              <a:buNone/>
            </a:pPr>
            <a:r>
              <a:rPr lang="en-US">
                <a:sym typeface="Wingdings" panose="05000000000000000000" pitchFamily="2" charset="2"/>
              </a:rPr>
              <a:t></a:t>
            </a:r>
            <a:r>
              <a:rPr lang="en-US"/>
              <a:t>Thế </a:t>
            </a:r>
            <a:r>
              <a:rPr lang="en-US" dirty="0" err="1"/>
              <a:t>hệ</a:t>
            </a:r>
            <a:r>
              <a:rPr lang="en-US" dirty="0"/>
              <a:t> 5: </a:t>
            </a:r>
            <a:r>
              <a:rPr lang="en-US" dirty="0" err="1"/>
              <a:t>Máy</a:t>
            </a:r>
            <a:r>
              <a:rPr lang="en-US" dirty="0"/>
              <a:t> </a:t>
            </a:r>
            <a:r>
              <a:rPr lang="en-US" dirty="0" err="1"/>
              <a:t>tính</a:t>
            </a:r>
            <a:r>
              <a:rPr lang="en-US" dirty="0"/>
              <a:t> </a:t>
            </a:r>
            <a:r>
              <a:rPr lang="en-US" dirty="0" err="1"/>
              <a:t>lượng</a:t>
            </a:r>
            <a:r>
              <a:rPr lang="en-US" dirty="0"/>
              <a:t> </a:t>
            </a:r>
            <a:r>
              <a:rPr lang="en-US" dirty="0" err="1"/>
              <a:t>tử</a:t>
            </a:r>
            <a:endParaRPr lang="vi-VN" dirty="0"/>
          </a:p>
          <a:p>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16</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Tree>
    <p:extLst>
      <p:ext uri="{BB962C8B-B14F-4D97-AF65-F5344CB8AC3E}">
        <p14:creationId xmlns:p14="http://schemas.microsoft.com/office/powerpoint/2010/main" val="2492640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r>
              <a:rPr lang="vi-VN" altLang="ja-JP"/>
              <a:t>Thế hệ 0: Máy chuyển động cơ học</a:t>
            </a:r>
            <a:endParaRPr lang="vi-VN" altLang="ja-JP" dirty="0" err="1"/>
          </a:p>
        </p:txBody>
      </p:sp>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a:xfrm>
            <a:off x="771609" y="1195821"/>
            <a:ext cx="4448091" cy="5160527"/>
          </a:xfrm>
        </p:spPr>
        <p:txBody>
          <a:bodyPr/>
          <a:lstStyle/>
          <a:p>
            <a:pPr marL="0" indent="0">
              <a:buNone/>
            </a:pPr>
            <a:r>
              <a:rPr lang="en-US"/>
              <a:t>Ví dụ: Máy sai phân No.2</a:t>
            </a:r>
          </a:p>
          <a:p>
            <a:pPr>
              <a:buFontTx/>
              <a:buChar char="-"/>
            </a:pPr>
            <a:r>
              <a:rPr lang="en-US" sz="2800"/>
              <a:t>Ra đời năm 1849.</a:t>
            </a:r>
          </a:p>
          <a:p>
            <a:pPr>
              <a:buFontTx/>
              <a:buChar char="-"/>
            </a:pPr>
            <a:r>
              <a:rPr lang="en-US" sz="2800"/>
              <a:t>Kết quả tính toán dựa trên các bảng tra.</a:t>
            </a:r>
          </a:p>
          <a:p>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17</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pic>
        <p:nvPicPr>
          <p:cNvPr id="7" name="Picture 6" descr="A picture containing indoor, floor, wall, room&#10;&#10;Description automatically generated">
            <a:extLst>
              <a:ext uri="{FF2B5EF4-FFF2-40B4-BE49-F238E27FC236}">
                <a16:creationId xmlns:a16="http://schemas.microsoft.com/office/drawing/2014/main" id="{D60B64F7-DB53-7FC3-4AF5-8282D8B8AF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74912" y="1278745"/>
            <a:ext cx="5745479" cy="5012932"/>
          </a:xfrm>
          <a:prstGeom prst="rect">
            <a:avLst/>
          </a:prstGeom>
        </p:spPr>
      </p:pic>
      <p:pic>
        <p:nvPicPr>
          <p:cNvPr id="8" name="Picture 2">
            <a:extLst>
              <a:ext uri="{FF2B5EF4-FFF2-40B4-BE49-F238E27FC236}">
                <a16:creationId xmlns:a16="http://schemas.microsoft.com/office/drawing/2014/main" id="{DD04069D-E6A5-D5F4-3FE5-C695842011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8312" y="3225335"/>
            <a:ext cx="4174683" cy="31310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56350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r>
              <a:rPr lang="vi-VN" altLang="ja-JP"/>
              <a:t>Thế hệ 0: Máy chuyển động cơ học</a:t>
            </a:r>
            <a:endParaRPr lang="vi-VN" altLang="ja-JP" dirty="0" err="1"/>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18</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pic>
        <p:nvPicPr>
          <p:cNvPr id="10" name="Babbage_Engine_Demonstration_pt._3.webm.720p.vp9">
            <a:hlinkClick r:id="" action="ppaction://media"/>
            <a:extLst>
              <a:ext uri="{FF2B5EF4-FFF2-40B4-BE49-F238E27FC236}">
                <a16:creationId xmlns:a16="http://schemas.microsoft.com/office/drawing/2014/main" id="{EC86330D-4401-A382-4B43-C9C5FBB367A1}"/>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1341120" y="1050023"/>
            <a:ext cx="9432177" cy="5306330"/>
          </a:xfrm>
        </p:spPr>
      </p:pic>
    </p:spTree>
    <p:extLst>
      <p:ext uri="{BB962C8B-B14F-4D97-AF65-F5344CB8AC3E}">
        <p14:creationId xmlns:p14="http://schemas.microsoft.com/office/powerpoint/2010/main" val="416628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3157"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10"/>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10"/>
                                        </p:tgtEl>
                                      </p:cBhvr>
                                    </p:cmd>
                                  </p:childTnLst>
                                </p:cTn>
                              </p:par>
                            </p:childTnLst>
                          </p:cTn>
                        </p:par>
                      </p:childTnLst>
                    </p:cTn>
                  </p:par>
                </p:childTnLst>
              </p:cTn>
              <p:nextCondLst>
                <p:cond evt="onClick" delay="0">
                  <p:tgtEl>
                    <p:spTgt spid="10"/>
                  </p:tgtEl>
                </p:cond>
              </p:nextCondLst>
            </p:seq>
            <p:video>
              <p:cMediaNode vol="80000">
                <p:cTn id="12" fill="hold" display="0">
                  <p:stCondLst>
                    <p:cond delay="indefinite"/>
                  </p:stCondLst>
                </p:cTn>
                <p:tgtEl>
                  <p:spTgt spid="10"/>
                </p:tgtEl>
              </p:cMediaNode>
            </p:vide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a:bodyPr>
          <a:lstStyle/>
          <a:p>
            <a:r>
              <a:rPr lang="en-US" altLang="ja-JP" sz="3400"/>
              <a:t>Thế hệ 1: Máy tính sử dụng công nghệ đèn chân không</a:t>
            </a:r>
            <a:endParaRPr lang="en-VN" sz="3400" dirty="0"/>
          </a:p>
        </p:txBody>
      </p:sp>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a:xfrm>
            <a:off x="1142797" y="1195821"/>
            <a:ext cx="5471363" cy="5160527"/>
          </a:xfrm>
        </p:spPr>
        <p:txBody>
          <a:bodyPr>
            <a:normAutofit/>
          </a:bodyPr>
          <a:lstStyle/>
          <a:p>
            <a:pPr marL="0" indent="0">
              <a:buNone/>
            </a:pPr>
            <a:r>
              <a:rPr lang="en-US"/>
              <a:t>Ví dụ: Máy EDVAC</a:t>
            </a:r>
          </a:p>
          <a:p>
            <a:pPr>
              <a:buFontTx/>
              <a:buChar char="-"/>
            </a:pPr>
            <a:r>
              <a:rPr lang="en-US" sz="2800"/>
              <a:t>Ra đời năm 1949</a:t>
            </a:r>
          </a:p>
          <a:p>
            <a:pPr>
              <a:buFontTx/>
              <a:buChar char="-"/>
            </a:pPr>
            <a:r>
              <a:rPr lang="en-US" sz="2800"/>
              <a:t>2500 đèn chân không</a:t>
            </a:r>
          </a:p>
          <a:p>
            <a:pPr>
              <a:buFontTx/>
              <a:buChar char="-"/>
            </a:pPr>
            <a:r>
              <a:rPr lang="en-US" sz="2800"/>
              <a:t>Phép toán: +, -, *, /</a:t>
            </a:r>
          </a:p>
          <a:p>
            <a:pPr>
              <a:buFontTx/>
              <a:buChar char="-"/>
            </a:pPr>
            <a:r>
              <a:rPr lang="en-US" sz="2800"/>
              <a:t>Kích th</a:t>
            </a:r>
            <a:r>
              <a:rPr lang="vi-VN" sz="2800"/>
              <a:t>ư</a:t>
            </a:r>
            <a:r>
              <a:rPr lang="en-US" sz="2800"/>
              <a:t>ớc: 45m</a:t>
            </a:r>
            <a:r>
              <a:rPr lang="en-US" sz="2800" baseline="30000"/>
              <a:t>2</a:t>
            </a:r>
            <a:r>
              <a:rPr lang="en-US" sz="2800"/>
              <a:t>, nặng 7.8 tấn</a:t>
            </a:r>
          </a:p>
          <a:p>
            <a:pPr>
              <a:buFontTx/>
              <a:buChar char="-"/>
            </a:pPr>
            <a:r>
              <a:rPr lang="en-US" sz="2800"/>
              <a:t>Giá: 500,000 USD</a:t>
            </a:r>
            <a:endParaRPr lang="en-US" sz="2800"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19</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pic>
        <p:nvPicPr>
          <p:cNvPr id="6" name="Picture 5" descr="A person standing at a train station&#10;&#10;Description automatically generated">
            <a:extLst>
              <a:ext uri="{FF2B5EF4-FFF2-40B4-BE49-F238E27FC236}">
                <a16:creationId xmlns:a16="http://schemas.microsoft.com/office/drawing/2014/main" id="{7F274230-C5EB-5518-52C8-5B142F891C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39425" y="1313716"/>
            <a:ext cx="3785775" cy="4607023"/>
          </a:xfrm>
          <a:prstGeom prst="rect">
            <a:avLst/>
          </a:prstGeom>
        </p:spPr>
      </p:pic>
      <p:pic>
        <p:nvPicPr>
          <p:cNvPr id="1026" name="Picture 2">
            <a:extLst>
              <a:ext uri="{FF2B5EF4-FFF2-40B4-BE49-F238E27FC236}">
                <a16:creationId xmlns:a16="http://schemas.microsoft.com/office/drawing/2014/main" id="{D7B681D4-2D28-9C02-DDAC-28502A11F3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5731" y="4255060"/>
            <a:ext cx="4917233" cy="23049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64514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a:bodyPr>
          <a:lstStyle/>
          <a:p>
            <a:r>
              <a:rPr lang="en-US" altLang="ja-JP" sz="3400" dirty="0" err="1"/>
              <a:t>Công</a:t>
            </a:r>
            <a:r>
              <a:rPr lang="en-US" altLang="ja-JP" sz="3400" dirty="0"/>
              <a:t> </a:t>
            </a:r>
            <a:r>
              <a:rPr lang="en-US" altLang="ja-JP" sz="3400" dirty="0" err="1"/>
              <a:t>nghệ</a:t>
            </a:r>
            <a:r>
              <a:rPr lang="en-US" altLang="ja-JP" sz="3400" dirty="0"/>
              <a:t> </a:t>
            </a:r>
            <a:r>
              <a:rPr lang="en-US" altLang="ja-JP" sz="3400" dirty="0" err="1"/>
              <a:t>đèn</a:t>
            </a:r>
            <a:r>
              <a:rPr lang="en-US" altLang="ja-JP" sz="3400" dirty="0"/>
              <a:t> </a:t>
            </a:r>
            <a:r>
              <a:rPr lang="en-US" altLang="ja-JP" sz="3400" dirty="0" err="1"/>
              <a:t>chân</a:t>
            </a:r>
            <a:r>
              <a:rPr lang="en-US" altLang="ja-JP" sz="3400" dirty="0"/>
              <a:t> </a:t>
            </a:r>
            <a:r>
              <a:rPr lang="en-US" altLang="ja-JP" sz="3400" dirty="0" err="1"/>
              <a:t>không</a:t>
            </a:r>
            <a:endParaRPr lang="en-VN" sz="3400" dirty="0"/>
          </a:p>
        </p:txBody>
      </p:sp>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a:xfrm>
            <a:off x="533603" y="949157"/>
            <a:ext cx="7370062" cy="972235"/>
          </a:xfrm>
        </p:spPr>
        <p:txBody>
          <a:bodyPr>
            <a:normAutofit/>
          </a:bodyPr>
          <a:lstStyle/>
          <a:p>
            <a:pPr marL="0" indent="0" algn="l">
              <a:buNone/>
            </a:pPr>
            <a:r>
              <a:rPr lang="en-US" b="1" i="0" dirty="0" err="1">
                <a:effectLst/>
                <a:latin typeface="var( --e-global-typography-ecf5e98-font-family )"/>
              </a:rPr>
              <a:t>Bóng</a:t>
            </a:r>
            <a:r>
              <a:rPr lang="en-US" b="1" i="0" dirty="0">
                <a:effectLst/>
                <a:latin typeface="var( --e-global-typography-ecf5e98-font-family )"/>
              </a:rPr>
              <a:t> </a:t>
            </a:r>
            <a:r>
              <a:rPr lang="en-US" b="1" i="0" dirty="0" err="1">
                <a:effectLst/>
                <a:latin typeface="var( --e-global-typography-ecf5e98-font-family )"/>
              </a:rPr>
              <a:t>đèn</a:t>
            </a:r>
            <a:r>
              <a:rPr lang="en-US" b="1" i="0" dirty="0">
                <a:effectLst/>
                <a:latin typeface="var( --e-global-typography-ecf5e98-font-family )"/>
              </a:rPr>
              <a:t> </a:t>
            </a:r>
            <a:r>
              <a:rPr lang="en-US" b="1" i="0" dirty="0" err="1">
                <a:effectLst/>
                <a:latin typeface="var( --e-global-typography-ecf5e98-font-family )"/>
              </a:rPr>
              <a:t>chân</a:t>
            </a:r>
            <a:r>
              <a:rPr lang="en-US" b="1" i="0" dirty="0">
                <a:effectLst/>
                <a:latin typeface="var( --e-global-typography-ecf5e98-font-family )"/>
              </a:rPr>
              <a:t> </a:t>
            </a:r>
            <a:r>
              <a:rPr lang="en-US" b="1" i="0" dirty="0" err="1">
                <a:effectLst/>
                <a:latin typeface="var( --e-global-typography-ecf5e98-font-family )"/>
              </a:rPr>
              <a:t>không</a:t>
            </a:r>
            <a:r>
              <a:rPr lang="en-US" b="1" i="0" dirty="0">
                <a:effectLst/>
                <a:latin typeface="var( --e-global-typography-ecf5e98-font-family )"/>
              </a:rPr>
              <a:t> – “</a:t>
            </a:r>
            <a:r>
              <a:rPr lang="en-US" b="1" i="0" dirty="0" err="1">
                <a:effectLst/>
                <a:latin typeface="var( --e-global-typography-ecf5e98-font-family )"/>
              </a:rPr>
              <a:t>vũ</a:t>
            </a:r>
            <a:r>
              <a:rPr lang="en-US" b="1" i="0" dirty="0">
                <a:effectLst/>
                <a:latin typeface="var( --e-global-typography-ecf5e98-font-family )"/>
              </a:rPr>
              <a:t> </a:t>
            </a:r>
            <a:r>
              <a:rPr lang="en-US" b="1" i="0" dirty="0" err="1">
                <a:effectLst/>
                <a:latin typeface="var( --e-global-typography-ecf5e98-font-family )"/>
              </a:rPr>
              <a:t>khí</a:t>
            </a:r>
            <a:r>
              <a:rPr lang="en-US" b="1" i="0" dirty="0">
                <a:effectLst/>
                <a:latin typeface="var( --e-global-typography-ecf5e98-font-family )"/>
              </a:rPr>
              <a:t>” </a:t>
            </a:r>
            <a:r>
              <a:rPr lang="en-US" b="1" i="0" dirty="0" err="1">
                <a:effectLst/>
                <a:latin typeface="var( --e-global-typography-ecf5e98-font-family )"/>
              </a:rPr>
              <a:t>tuyệt</a:t>
            </a:r>
            <a:r>
              <a:rPr lang="en-US" b="1" i="0" dirty="0">
                <a:effectLst/>
                <a:latin typeface="var( --e-global-typography-ecf5e98-font-family )"/>
              </a:rPr>
              <a:t> </a:t>
            </a:r>
            <a:r>
              <a:rPr lang="en-US" b="1" i="0" dirty="0" err="1">
                <a:effectLst/>
                <a:latin typeface="var( --e-global-typography-ecf5e98-font-family )"/>
              </a:rPr>
              <a:t>vời</a:t>
            </a:r>
            <a:r>
              <a:rPr lang="en-US" b="1" i="0" dirty="0">
                <a:effectLst/>
                <a:latin typeface="var( --e-global-typography-ecf5e98-font-family )"/>
              </a:rPr>
              <a:t> </a:t>
            </a:r>
            <a:r>
              <a:rPr lang="en-US" b="1" i="0" dirty="0" err="1">
                <a:effectLst/>
                <a:latin typeface="var( --e-global-typography-ecf5e98-font-family )"/>
              </a:rPr>
              <a:t>của</a:t>
            </a:r>
            <a:r>
              <a:rPr lang="en-US" b="1" i="0" dirty="0">
                <a:effectLst/>
                <a:latin typeface="var( --e-global-typography-ecf5e98-font-family )"/>
              </a:rPr>
              <a:t> Audio Research, </a:t>
            </a:r>
            <a:r>
              <a:rPr lang="en-US" b="1" i="0" dirty="0" err="1">
                <a:effectLst/>
                <a:latin typeface="var( --e-global-typography-ecf5e98-font-family )"/>
              </a:rPr>
              <a:t>cho</a:t>
            </a:r>
            <a:r>
              <a:rPr lang="en-US" b="1" i="0" dirty="0">
                <a:effectLst/>
                <a:latin typeface="var( --e-global-typography-ecf5e98-font-family )"/>
              </a:rPr>
              <a:t> </a:t>
            </a:r>
            <a:r>
              <a:rPr lang="en-US" b="1" i="0" dirty="0" err="1">
                <a:effectLst/>
                <a:latin typeface="var( --e-global-typography-ecf5e98-font-family )"/>
              </a:rPr>
              <a:t>chất</a:t>
            </a:r>
            <a:r>
              <a:rPr lang="en-US" b="1" i="0" dirty="0">
                <a:effectLst/>
                <a:latin typeface="var( --e-global-typography-ecf5e98-font-family )"/>
              </a:rPr>
              <a:t> </a:t>
            </a:r>
            <a:r>
              <a:rPr lang="en-US" b="1" i="0" dirty="0" err="1">
                <a:effectLst/>
                <a:latin typeface="var( --e-global-typography-ecf5e98-font-family )"/>
              </a:rPr>
              <a:t>âm</a:t>
            </a:r>
            <a:r>
              <a:rPr lang="en-US" b="1" i="0" dirty="0">
                <a:effectLst/>
                <a:latin typeface="var( --e-global-typography-ecf5e98-font-family )"/>
              </a:rPr>
              <a:t> </a:t>
            </a:r>
            <a:r>
              <a:rPr lang="en-US" b="1" i="0" dirty="0" err="1">
                <a:effectLst/>
                <a:latin typeface="var( --e-global-typography-ecf5e98-font-family )"/>
              </a:rPr>
              <a:t>tinh</a:t>
            </a:r>
            <a:r>
              <a:rPr lang="en-US" b="1" i="0" dirty="0">
                <a:effectLst/>
                <a:latin typeface="var( --e-global-typography-ecf5e98-font-family )"/>
              </a:rPr>
              <a:t> </a:t>
            </a:r>
            <a:r>
              <a:rPr lang="en-US" b="1" i="0" dirty="0" err="1">
                <a:effectLst/>
                <a:latin typeface="var( --e-global-typography-ecf5e98-font-family )"/>
              </a:rPr>
              <a:t>khiết</a:t>
            </a:r>
            <a:r>
              <a:rPr lang="en-US" b="1" i="0" dirty="0">
                <a:effectLst/>
                <a:latin typeface="var( --e-global-typography-ecf5e98-font-family )"/>
              </a:rPr>
              <a:t> </a:t>
            </a:r>
            <a:r>
              <a:rPr lang="en-US" b="1" i="0" dirty="0" err="1">
                <a:effectLst/>
                <a:latin typeface="var( --e-global-typography-ecf5e98-font-family )"/>
              </a:rPr>
              <a:t>nhất</a:t>
            </a:r>
            <a:endParaRPr lang="en-US" b="1" i="0" dirty="0">
              <a:effectLst/>
              <a:latin typeface="var( --e-global-typography-ecf5e98-font-family )"/>
            </a:endParaRPr>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20</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pic>
        <p:nvPicPr>
          <p:cNvPr id="2050" name="Picture 2">
            <a:extLst>
              <a:ext uri="{FF2B5EF4-FFF2-40B4-BE49-F238E27FC236}">
                <a16:creationId xmlns:a16="http://schemas.microsoft.com/office/drawing/2014/main" id="{C55BECE9-2831-1F42-DA06-B131300A80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70979" y="3563250"/>
            <a:ext cx="3824502" cy="2550062"/>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AF8CCEC3-2CAD-B71B-F403-FE2A2810EEC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47803" y="4294263"/>
            <a:ext cx="2873365" cy="1917352"/>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Thiết kế cao cấp">
            <a:extLst>
              <a:ext uri="{FF2B5EF4-FFF2-40B4-BE49-F238E27FC236}">
                <a16:creationId xmlns:a16="http://schemas.microsoft.com/office/drawing/2014/main" id="{6AFCABDE-3FCE-6738-5ACD-2908ACB7C80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70979" y="726235"/>
            <a:ext cx="3824502" cy="2390314"/>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a:extLst>
              <a:ext uri="{FF2B5EF4-FFF2-40B4-BE49-F238E27FC236}">
                <a16:creationId xmlns:a16="http://schemas.microsoft.com/office/drawing/2014/main" id="{2F533633-C941-6C77-4971-E141639CD21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10510" y="1810213"/>
            <a:ext cx="2275041" cy="2354668"/>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a:extLst>
              <a:ext uri="{FF2B5EF4-FFF2-40B4-BE49-F238E27FC236}">
                <a16:creationId xmlns:a16="http://schemas.microsoft.com/office/drawing/2014/main" id="{1A147AE2-0636-A5BF-651A-024E02E568E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62458" y="1810213"/>
            <a:ext cx="2283243" cy="2363156"/>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Công nghệ sản xuất bóng bán dẫn bằng hút chân không">
            <a:extLst>
              <a:ext uri="{FF2B5EF4-FFF2-40B4-BE49-F238E27FC236}">
                <a16:creationId xmlns:a16="http://schemas.microsoft.com/office/drawing/2014/main" id="{A07F04B4-AFB4-ED71-89EF-3E09EE977CA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94295" y="4266465"/>
            <a:ext cx="4028855" cy="22091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96601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a:bodyPr>
          <a:lstStyle/>
          <a:p>
            <a:r>
              <a:rPr lang="en-US" altLang="ja-JP" sz="3600"/>
              <a:t>Thế hệ 2: Máy tính sử dụng transistor</a:t>
            </a:r>
            <a:endParaRPr lang="en-VN" sz="3600" dirty="0"/>
          </a:p>
        </p:txBody>
      </p:sp>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a:xfrm>
            <a:off x="1142797" y="1195821"/>
            <a:ext cx="5471363" cy="5160527"/>
          </a:xfrm>
        </p:spPr>
        <p:txBody>
          <a:bodyPr>
            <a:normAutofit/>
          </a:bodyPr>
          <a:lstStyle/>
          <a:p>
            <a:pPr marL="0" indent="0">
              <a:buNone/>
            </a:pPr>
            <a:r>
              <a:rPr lang="en-US" dirty="0" err="1"/>
              <a:t>Ví</a:t>
            </a:r>
            <a:r>
              <a:rPr lang="en-US" dirty="0"/>
              <a:t> </a:t>
            </a:r>
            <a:r>
              <a:rPr lang="en-US" dirty="0" err="1"/>
              <a:t>dụ</a:t>
            </a:r>
            <a:r>
              <a:rPr lang="en-US" dirty="0"/>
              <a:t>: </a:t>
            </a:r>
            <a:r>
              <a:rPr lang="en-US" dirty="0" err="1"/>
              <a:t>Máy</a:t>
            </a:r>
            <a:r>
              <a:rPr lang="en-US" dirty="0"/>
              <a:t> IBM 7094</a:t>
            </a:r>
          </a:p>
          <a:p>
            <a:pPr>
              <a:buFontTx/>
              <a:buChar char="-"/>
            </a:pPr>
            <a:r>
              <a:rPr lang="en-US" sz="2800" dirty="0"/>
              <a:t>Ra </a:t>
            </a:r>
            <a:r>
              <a:rPr lang="en-US" sz="2800" dirty="0" err="1"/>
              <a:t>đời</a:t>
            </a:r>
            <a:r>
              <a:rPr lang="en-US" sz="2800" dirty="0"/>
              <a:t> </a:t>
            </a:r>
            <a:r>
              <a:rPr lang="en-US" sz="2800" dirty="0" err="1"/>
              <a:t>năm</a:t>
            </a:r>
            <a:r>
              <a:rPr lang="en-US" sz="2800" dirty="0"/>
              <a:t> 1962</a:t>
            </a:r>
          </a:p>
          <a:p>
            <a:pPr>
              <a:buFontTx/>
              <a:buChar char="-"/>
            </a:pPr>
            <a:r>
              <a:rPr lang="en-US" sz="2800" dirty="0"/>
              <a:t>Bộ </a:t>
            </a:r>
            <a:r>
              <a:rPr lang="en-US" sz="2800" dirty="0" err="1"/>
              <a:t>nhớ</a:t>
            </a:r>
            <a:r>
              <a:rPr lang="en-US" sz="2800" dirty="0"/>
              <a:t>: 32 K word (16 bit)</a:t>
            </a:r>
          </a:p>
          <a:p>
            <a:pPr>
              <a:buFontTx/>
              <a:buChar char="-"/>
            </a:pPr>
            <a:r>
              <a:rPr lang="en-US" sz="2800" dirty="0"/>
              <a:t>Chu </a:t>
            </a:r>
            <a:r>
              <a:rPr lang="en-US" sz="2800" dirty="0" err="1"/>
              <a:t>kỳ</a:t>
            </a:r>
            <a:r>
              <a:rPr lang="en-US" sz="2800" dirty="0"/>
              <a:t>: 2 µs</a:t>
            </a:r>
          </a:p>
          <a:p>
            <a:pPr>
              <a:buFontTx/>
              <a:buChar char="-"/>
            </a:pPr>
            <a:r>
              <a:rPr lang="en-US" sz="2800" dirty="0" err="1"/>
              <a:t>Giá</a:t>
            </a:r>
            <a:r>
              <a:rPr lang="en-US" sz="2800" dirty="0"/>
              <a:t>: ~3 </a:t>
            </a:r>
            <a:r>
              <a:rPr lang="en-US" sz="2800" dirty="0" err="1"/>
              <a:t>triệu</a:t>
            </a:r>
            <a:r>
              <a:rPr lang="en-US" sz="2800" dirty="0"/>
              <a:t> USD</a:t>
            </a:r>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21</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pic>
        <p:nvPicPr>
          <p:cNvPr id="7" name="Picture 6" descr="A picture containing indoor&#10;&#10;Description automatically generated">
            <a:extLst>
              <a:ext uri="{FF2B5EF4-FFF2-40B4-BE49-F238E27FC236}">
                <a16:creationId xmlns:a16="http://schemas.microsoft.com/office/drawing/2014/main" id="{83AE3E9B-9775-8015-EF88-CE5571D99B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71259" y="1581472"/>
            <a:ext cx="5266831" cy="4339267"/>
          </a:xfrm>
          <a:prstGeom prst="rect">
            <a:avLst/>
          </a:prstGeom>
        </p:spPr>
      </p:pic>
      <p:pic>
        <p:nvPicPr>
          <p:cNvPr id="4098" name="Picture 2" descr="How IBM 7094 Gave NASA Computing Superiority in the 1960s">
            <a:extLst>
              <a:ext uri="{FF2B5EF4-FFF2-40B4-BE49-F238E27FC236}">
                <a16:creationId xmlns:a16="http://schemas.microsoft.com/office/drawing/2014/main" id="{3FD36C90-5982-1CE4-83B7-334F8A4B5A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3693" y="3712459"/>
            <a:ext cx="5407049" cy="2703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61043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a:bodyPr>
          <a:lstStyle/>
          <a:p>
            <a:r>
              <a:rPr lang="en-US" altLang="ja-JP" sz="3600" dirty="0" err="1"/>
              <a:t>Công</a:t>
            </a:r>
            <a:r>
              <a:rPr lang="en-US" altLang="ja-JP" sz="3600" dirty="0"/>
              <a:t> </a:t>
            </a:r>
            <a:r>
              <a:rPr lang="en-US" altLang="ja-JP" sz="3600" dirty="0" err="1"/>
              <a:t>nghệ</a:t>
            </a:r>
            <a:r>
              <a:rPr lang="en-US" altLang="ja-JP" sz="3600" dirty="0"/>
              <a:t> transistor</a:t>
            </a:r>
            <a:endParaRPr lang="en-VN" sz="3600"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22</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pic>
        <p:nvPicPr>
          <p:cNvPr id="3074" name="Picture 2" descr="Transistor Là Gì ? Phân Loại - Cấu Tạo - Nguyên Lý - Cách Mắc">
            <a:extLst>
              <a:ext uri="{FF2B5EF4-FFF2-40B4-BE49-F238E27FC236}">
                <a16:creationId xmlns:a16="http://schemas.microsoft.com/office/drawing/2014/main" id="{CFF042E3-7326-330A-78CC-781E898450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9517" y="1403569"/>
            <a:ext cx="3759200" cy="215900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MOSFET là gì ? - Hiểu rõ Transistor hiệu ứng trường trong 5 phút">
            <a:extLst>
              <a:ext uri="{FF2B5EF4-FFF2-40B4-BE49-F238E27FC236}">
                <a16:creationId xmlns:a16="http://schemas.microsoft.com/office/drawing/2014/main" id="{44E38AEA-5BD7-906D-CE6F-980EDAB0BF0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54845" y="1192048"/>
            <a:ext cx="7286436" cy="47410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Eniac - Picture of American Computer &amp; Robotics Museum, Bozeman -  Tripadvisor">
            <a:extLst>
              <a:ext uri="{FF2B5EF4-FFF2-40B4-BE49-F238E27FC236}">
                <a16:creationId xmlns:a16="http://schemas.microsoft.com/office/drawing/2014/main" id="{E4C86AEF-C716-80A7-8812-D6DFC04627E1}"/>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2157" t="32097" r="28966" b="42099"/>
          <a:stretch/>
        </p:blipFill>
        <p:spPr bwMode="auto">
          <a:xfrm>
            <a:off x="779517" y="3696385"/>
            <a:ext cx="3759200" cy="26454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95030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r>
              <a:rPr lang="en-US" altLang="ja-JP" sz="3600"/>
              <a:t>Thế hệ 3: Máy tính sử dụng công nghệ mạch tích hợp</a:t>
            </a:r>
            <a:endParaRPr lang="en-VN" sz="3600" dirty="0"/>
          </a:p>
        </p:txBody>
      </p:sp>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a:xfrm>
            <a:off x="1142797" y="1195821"/>
            <a:ext cx="5471363" cy="5160527"/>
          </a:xfrm>
        </p:spPr>
        <p:txBody>
          <a:bodyPr>
            <a:normAutofit/>
          </a:bodyPr>
          <a:lstStyle/>
          <a:p>
            <a:pPr marL="0" indent="0">
              <a:buNone/>
            </a:pPr>
            <a:r>
              <a:rPr lang="en-US"/>
              <a:t>Ví dụ: IBM System/360/22</a:t>
            </a:r>
          </a:p>
          <a:p>
            <a:pPr>
              <a:buFontTx/>
              <a:buChar char="-"/>
            </a:pPr>
            <a:r>
              <a:rPr lang="en-US" sz="2800"/>
              <a:t>Ra đời năm 1971</a:t>
            </a:r>
          </a:p>
          <a:p>
            <a:pPr>
              <a:buFontTx/>
              <a:buChar char="-"/>
            </a:pPr>
            <a:r>
              <a:rPr lang="en-US" sz="2800"/>
              <a:t>Chu kỳ: 0.75 µs</a:t>
            </a:r>
          </a:p>
          <a:p>
            <a:pPr>
              <a:buFontTx/>
              <a:buChar char="-"/>
            </a:pPr>
            <a:r>
              <a:rPr lang="en-US" sz="2800"/>
              <a:t>Giá: 246,000 USD</a:t>
            </a:r>
          </a:p>
          <a:p>
            <a:pPr>
              <a:buFontTx/>
              <a:buChar char="-"/>
            </a:pPr>
            <a:r>
              <a:rPr lang="en-US" sz="2800"/>
              <a:t>Nặng 680 kg</a:t>
            </a:r>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23</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pic>
        <p:nvPicPr>
          <p:cNvPr id="6" name="Picture 5" descr="A person standing in front of a computer&#10;&#10;Description automatically generated">
            <a:extLst>
              <a:ext uri="{FF2B5EF4-FFF2-40B4-BE49-F238E27FC236}">
                <a16:creationId xmlns:a16="http://schemas.microsoft.com/office/drawing/2014/main" id="{A3DE0B71-4F28-BBEB-3832-631FEA5DEE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35320" y="1195820"/>
            <a:ext cx="5874390" cy="4763019"/>
          </a:xfrm>
          <a:prstGeom prst="rect">
            <a:avLst/>
          </a:prstGeom>
        </p:spPr>
      </p:pic>
      <p:pic>
        <p:nvPicPr>
          <p:cNvPr id="5122" name="Picture 2" descr="Vi điều khiển họ AVR">
            <a:extLst>
              <a:ext uri="{FF2B5EF4-FFF2-40B4-BE49-F238E27FC236}">
                <a16:creationId xmlns:a16="http://schemas.microsoft.com/office/drawing/2014/main" id="{AB53CE2C-EF11-3498-BC2E-ED821AAF6B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08234" y="3907078"/>
            <a:ext cx="3150715" cy="25993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54991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a:bodyPr>
          <a:lstStyle/>
          <a:p>
            <a:r>
              <a:rPr lang="en-US" altLang="ja-JP" sz="3600" dirty="0" err="1"/>
              <a:t>Công</a:t>
            </a:r>
            <a:r>
              <a:rPr lang="en-US" altLang="ja-JP" sz="3600" dirty="0"/>
              <a:t> </a:t>
            </a:r>
            <a:r>
              <a:rPr lang="en-US" altLang="ja-JP" sz="3600" dirty="0" err="1"/>
              <a:t>nghệ</a:t>
            </a:r>
            <a:r>
              <a:rPr lang="en-US" altLang="ja-JP" sz="3600" dirty="0"/>
              <a:t> </a:t>
            </a:r>
            <a:r>
              <a:rPr lang="en-US" altLang="ja-JP" sz="3600" dirty="0" err="1"/>
              <a:t>mạch</a:t>
            </a:r>
            <a:r>
              <a:rPr lang="en-US" altLang="ja-JP" sz="3600" dirty="0"/>
              <a:t> </a:t>
            </a:r>
            <a:r>
              <a:rPr lang="en-US" altLang="ja-JP" sz="3600" dirty="0" err="1"/>
              <a:t>tích</a:t>
            </a:r>
            <a:r>
              <a:rPr lang="en-US" altLang="ja-JP" sz="3600" dirty="0"/>
              <a:t> </a:t>
            </a:r>
            <a:r>
              <a:rPr lang="en-US" altLang="ja-JP" sz="3600" dirty="0" err="1"/>
              <a:t>hợp</a:t>
            </a:r>
            <a:endParaRPr lang="en-VN" sz="3600"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24</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pic>
        <p:nvPicPr>
          <p:cNvPr id="7170" name="Picture 2" descr="Phân loại IC">
            <a:extLst>
              <a:ext uri="{FF2B5EF4-FFF2-40B4-BE49-F238E27FC236}">
                <a16:creationId xmlns:a16="http://schemas.microsoft.com/office/drawing/2014/main" id="{CD56D659-E53B-AD75-125A-1C3E3AA31D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3382" y="923501"/>
            <a:ext cx="5421877" cy="2606497"/>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IC là gì? Cấu tạo và vai trò của IC trong các thiết bị Mới Cập Nhật">
            <a:extLst>
              <a:ext uri="{FF2B5EF4-FFF2-40B4-BE49-F238E27FC236}">
                <a16:creationId xmlns:a16="http://schemas.microsoft.com/office/drawing/2014/main" id="{AA592D9E-2F8C-4AF4-B46F-FADFC1F504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2797" y="3309109"/>
            <a:ext cx="5402462" cy="3298066"/>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descr="Chuyên trang thực hành điện tử, sửa chữa điện tử gia dụng, tự học điện  tử!!: Phân loại linh kiện điện tử">
            <a:extLst>
              <a:ext uri="{FF2B5EF4-FFF2-40B4-BE49-F238E27FC236}">
                <a16:creationId xmlns:a16="http://schemas.microsoft.com/office/drawing/2014/main" id="{49FAEF16-8AE5-55F6-DA7B-68405BCFE27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63893" y="495216"/>
            <a:ext cx="4294504" cy="3034782"/>
          </a:xfrm>
          <a:prstGeom prst="rect">
            <a:avLst/>
          </a:prstGeom>
          <a:noFill/>
          <a:extLst>
            <a:ext uri="{909E8E84-426E-40DD-AFC4-6F175D3DCCD1}">
              <a14:hiddenFill xmlns:a14="http://schemas.microsoft.com/office/drawing/2010/main">
                <a:solidFill>
                  <a:srgbClr val="FFFFFF"/>
                </a:solidFill>
              </a14:hiddenFill>
            </a:ext>
          </a:extLst>
        </p:spPr>
      </p:pic>
      <p:pic>
        <p:nvPicPr>
          <p:cNvPr id="7176" name="Picture 8">
            <a:extLst>
              <a:ext uri="{FF2B5EF4-FFF2-40B4-BE49-F238E27FC236}">
                <a16:creationId xmlns:a16="http://schemas.microsoft.com/office/drawing/2014/main" id="{1CD2BF6A-0E89-9993-9E0C-6EE82DB050D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82668" y="3924848"/>
            <a:ext cx="4858613" cy="25507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5257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a:bodyPr>
          <a:lstStyle/>
          <a:p>
            <a:r>
              <a:rPr lang="en-US" altLang="ja-JP" sz="3600"/>
              <a:t>Thế hệ 4: Máy tính sử dụng công nghệ VLSI</a:t>
            </a:r>
            <a:endParaRPr lang="en-VN" sz="3600" dirty="0"/>
          </a:p>
        </p:txBody>
      </p:sp>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a:xfrm>
            <a:off x="1142797" y="935915"/>
            <a:ext cx="5107371" cy="5420433"/>
          </a:xfrm>
        </p:spPr>
        <p:txBody>
          <a:bodyPr>
            <a:normAutofit/>
          </a:bodyPr>
          <a:lstStyle/>
          <a:p>
            <a:pPr marL="0" indent="0">
              <a:buNone/>
            </a:pPr>
            <a:r>
              <a:rPr lang="en-US" dirty="0" err="1"/>
              <a:t>Ví</a:t>
            </a:r>
            <a:r>
              <a:rPr lang="en-US" dirty="0"/>
              <a:t> </a:t>
            </a:r>
            <a:r>
              <a:rPr lang="en-US" dirty="0" err="1"/>
              <a:t>dụ</a:t>
            </a:r>
            <a:r>
              <a:rPr lang="en-US" dirty="0"/>
              <a:t>: </a:t>
            </a:r>
            <a:r>
              <a:rPr lang="en-US" dirty="0" err="1"/>
              <a:t>Siêu</a:t>
            </a:r>
            <a:r>
              <a:rPr lang="en-US" dirty="0"/>
              <a:t> </a:t>
            </a:r>
            <a:r>
              <a:rPr lang="en-US" dirty="0" err="1"/>
              <a:t>máy</a:t>
            </a:r>
            <a:r>
              <a:rPr lang="en-US" dirty="0"/>
              <a:t> </a:t>
            </a:r>
            <a:r>
              <a:rPr lang="en-US" dirty="0" err="1"/>
              <a:t>tính</a:t>
            </a:r>
            <a:r>
              <a:rPr lang="en-US" dirty="0"/>
              <a:t> IBM Summit</a:t>
            </a:r>
          </a:p>
          <a:p>
            <a:pPr>
              <a:buFontTx/>
              <a:buChar char="-"/>
            </a:pPr>
            <a:r>
              <a:rPr lang="en-US" sz="2400" dirty="0"/>
              <a:t>Ra </a:t>
            </a:r>
            <a:r>
              <a:rPr lang="en-US" sz="2400" dirty="0" err="1"/>
              <a:t>đời</a:t>
            </a:r>
            <a:r>
              <a:rPr lang="en-US" sz="2400" dirty="0"/>
              <a:t> </a:t>
            </a:r>
            <a:r>
              <a:rPr lang="en-US" sz="2400" dirty="0" err="1"/>
              <a:t>năm</a:t>
            </a:r>
            <a:r>
              <a:rPr lang="en-US" sz="2400" dirty="0"/>
              <a:t> 2018</a:t>
            </a:r>
          </a:p>
          <a:p>
            <a:pPr>
              <a:buFontTx/>
              <a:buChar char="-"/>
            </a:pPr>
            <a:r>
              <a:rPr lang="en-US" sz="2400" dirty="0" err="1"/>
              <a:t>Tốc</a:t>
            </a:r>
            <a:r>
              <a:rPr lang="en-US" sz="2400" dirty="0"/>
              <a:t> </a:t>
            </a:r>
            <a:r>
              <a:rPr lang="en-US" sz="2400" dirty="0" err="1"/>
              <a:t>độ</a:t>
            </a:r>
            <a:r>
              <a:rPr lang="en-US" sz="2400" dirty="0"/>
              <a:t>: 148.6 petaflops</a:t>
            </a:r>
          </a:p>
          <a:p>
            <a:pPr marL="0" indent="0">
              <a:buNone/>
            </a:pPr>
            <a:r>
              <a:rPr lang="en-US" dirty="0" err="1"/>
              <a:t>Ví</a:t>
            </a:r>
            <a:r>
              <a:rPr lang="en-US" dirty="0"/>
              <a:t> </a:t>
            </a:r>
            <a:r>
              <a:rPr lang="en-US" dirty="0" err="1"/>
              <a:t>dụ</a:t>
            </a:r>
            <a:r>
              <a:rPr lang="en-US" dirty="0"/>
              <a:t>: MacBook Pro 15’ 2019</a:t>
            </a:r>
          </a:p>
          <a:p>
            <a:pPr>
              <a:buFontTx/>
              <a:buChar char="-"/>
            </a:pPr>
            <a:r>
              <a:rPr lang="en-US" sz="2400" dirty="0" err="1"/>
              <a:t>Tốc</a:t>
            </a:r>
            <a:r>
              <a:rPr lang="en-US" sz="2400" dirty="0"/>
              <a:t> </a:t>
            </a:r>
            <a:r>
              <a:rPr lang="en-US" sz="2400" dirty="0" err="1"/>
              <a:t>độ</a:t>
            </a:r>
            <a:r>
              <a:rPr lang="en-US" sz="2400" dirty="0"/>
              <a:t>: 2.6 </a:t>
            </a:r>
            <a:r>
              <a:rPr lang="en-US" sz="2400" dirty="0" err="1"/>
              <a:t>Ghz</a:t>
            </a:r>
            <a:endParaRPr lang="en-US" sz="2400" dirty="0"/>
          </a:p>
          <a:p>
            <a:pPr>
              <a:buFontTx/>
              <a:buChar char="-"/>
            </a:pPr>
            <a:r>
              <a:rPr lang="en-US" sz="2400" dirty="0" err="1"/>
              <a:t>Giá</a:t>
            </a:r>
            <a:r>
              <a:rPr lang="en-US" sz="2400" dirty="0"/>
              <a:t>: 2,399 USD</a:t>
            </a:r>
            <a:endParaRPr lang="en-US"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25</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dirty="0"/>
              <a:t>Thực hiện bởi Trường Đại học Công nghệ Thông tin, ĐHQG-HCM</a:t>
            </a:r>
            <a:endParaRPr lang="en-VN" dirty="0"/>
          </a:p>
        </p:txBody>
      </p:sp>
      <p:pic>
        <p:nvPicPr>
          <p:cNvPr id="6" name="Picture 5" descr="A close up of a computer&#10;&#10;Description automatically generated">
            <a:extLst>
              <a:ext uri="{FF2B5EF4-FFF2-40B4-BE49-F238E27FC236}">
                <a16:creationId xmlns:a16="http://schemas.microsoft.com/office/drawing/2014/main" id="{BF0A295F-6D79-8129-CF6E-3C61B58657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93748" y="4395261"/>
            <a:ext cx="2808780" cy="2211914"/>
          </a:xfrm>
          <a:prstGeom prst="rect">
            <a:avLst/>
          </a:prstGeom>
        </p:spPr>
      </p:pic>
      <p:pic>
        <p:nvPicPr>
          <p:cNvPr id="8194" name="Picture 2" descr="Delta Sigma Chipus">
            <a:extLst>
              <a:ext uri="{FF2B5EF4-FFF2-40B4-BE49-F238E27FC236}">
                <a16:creationId xmlns:a16="http://schemas.microsoft.com/office/drawing/2014/main" id="{CA69BFED-B790-D41F-B866-C2D09CF68A8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25470" y="4395261"/>
            <a:ext cx="2287805" cy="2272553"/>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Apple chính thức ra mắt thế hệ chip M2">
            <a:extLst>
              <a:ext uri="{FF2B5EF4-FFF2-40B4-BE49-F238E27FC236}">
                <a16:creationId xmlns:a16="http://schemas.microsoft.com/office/drawing/2014/main" id="{F007030B-FABB-E23C-683C-B083E2C8520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88159" y="4273553"/>
            <a:ext cx="4324017" cy="2432260"/>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descr="Apple chính thức ra mắt thế hệ chip M2">
            <a:extLst>
              <a:ext uri="{FF2B5EF4-FFF2-40B4-BE49-F238E27FC236}">
                <a16:creationId xmlns:a16="http://schemas.microsoft.com/office/drawing/2014/main" id="{E436227E-7068-97D7-6931-B12CED9B311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43121" y="1017910"/>
            <a:ext cx="5598160" cy="31489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54954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31596-B33A-BDBE-2183-6E94D03AAB4A}"/>
              </a:ext>
            </a:extLst>
          </p:cNvPr>
          <p:cNvSpPr>
            <a:spLocks noGrp="1"/>
          </p:cNvSpPr>
          <p:nvPr>
            <p:ph type="title"/>
          </p:nvPr>
        </p:nvSpPr>
        <p:spPr/>
        <p:txBody>
          <a:bodyPr/>
          <a:lstStyle/>
          <a:p>
            <a:r>
              <a:rPr lang="en-VN" dirty="0"/>
              <a:t>Phân loại mạch tích hợp</a:t>
            </a:r>
          </a:p>
        </p:txBody>
      </p:sp>
      <p:sp>
        <p:nvSpPr>
          <p:cNvPr id="4" name="Footer Placeholder 3">
            <a:extLst>
              <a:ext uri="{FF2B5EF4-FFF2-40B4-BE49-F238E27FC236}">
                <a16:creationId xmlns:a16="http://schemas.microsoft.com/office/drawing/2014/main" id="{E37E8014-F95F-FC07-E9A1-5F9C7372EECE}"/>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0B2D79B1-188C-E45E-D115-BD4450E1901B}"/>
              </a:ext>
            </a:extLst>
          </p:cNvPr>
          <p:cNvSpPr>
            <a:spLocks noGrp="1"/>
          </p:cNvSpPr>
          <p:nvPr>
            <p:ph type="sldNum" sz="quarter" idx="12"/>
          </p:nvPr>
        </p:nvSpPr>
        <p:spPr/>
        <p:txBody>
          <a:bodyPr/>
          <a:lstStyle/>
          <a:p>
            <a:fld id="{D8B0B3AC-44A8-D142-AAF6-9A453466E1A4}" type="slidenum">
              <a:rPr lang="en-VN" smtClean="0"/>
              <a:pPr/>
              <a:t>26</a:t>
            </a:fld>
            <a:endParaRPr lang="en-VN" dirty="0"/>
          </a:p>
        </p:txBody>
      </p:sp>
      <p:sp>
        <p:nvSpPr>
          <p:cNvPr id="6" name="Date Placeholder 5">
            <a:extLst>
              <a:ext uri="{FF2B5EF4-FFF2-40B4-BE49-F238E27FC236}">
                <a16:creationId xmlns:a16="http://schemas.microsoft.com/office/drawing/2014/main" id="{96278095-D660-752B-D9EE-B2F2C95D2CC3}"/>
              </a:ext>
            </a:extLst>
          </p:cNvPr>
          <p:cNvSpPr>
            <a:spLocks noGrp="1"/>
          </p:cNvSpPr>
          <p:nvPr>
            <p:ph type="dt" sz="half" idx="13"/>
          </p:nvPr>
        </p:nvSpPr>
        <p:spPr/>
        <p:txBody>
          <a:bodyPr/>
          <a:lstStyle/>
          <a:p>
            <a:fld id="{46CDDB1B-AAE9-1649-A755-11FADEB7E97E}" type="datetime4">
              <a:rPr lang="en-US" smtClean="0"/>
              <a:pPr/>
              <a:t>October 10, 2024</a:t>
            </a:fld>
            <a:endParaRPr lang="en-US" dirty="0"/>
          </a:p>
        </p:txBody>
      </p:sp>
      <p:graphicFrame>
        <p:nvGraphicFramePr>
          <p:cNvPr id="7" name="Table 6">
            <a:extLst>
              <a:ext uri="{FF2B5EF4-FFF2-40B4-BE49-F238E27FC236}">
                <a16:creationId xmlns:a16="http://schemas.microsoft.com/office/drawing/2014/main" id="{B495A152-012C-1D42-C15D-15042579256D}"/>
              </a:ext>
            </a:extLst>
          </p:cNvPr>
          <p:cNvGraphicFramePr>
            <a:graphicFrameLocks noGrp="1"/>
          </p:cNvGraphicFramePr>
          <p:nvPr>
            <p:extLst>
              <p:ext uri="{D42A27DB-BD31-4B8C-83A1-F6EECF244321}">
                <p14:modId xmlns:p14="http://schemas.microsoft.com/office/powerpoint/2010/main" val="873414439"/>
              </p:ext>
            </p:extLst>
          </p:nvPr>
        </p:nvGraphicFramePr>
        <p:xfrm>
          <a:off x="995855" y="1899378"/>
          <a:ext cx="10515600" cy="2194560"/>
        </p:xfrm>
        <a:graphic>
          <a:graphicData uri="http://schemas.openxmlformats.org/drawingml/2006/table">
            <a:tbl>
              <a:tblPr/>
              <a:tblGrid>
                <a:gridCol w="1358590">
                  <a:extLst>
                    <a:ext uri="{9D8B030D-6E8A-4147-A177-3AD203B41FA5}">
                      <a16:colId xmlns:a16="http://schemas.microsoft.com/office/drawing/2014/main" val="25787888"/>
                    </a:ext>
                  </a:extLst>
                </a:gridCol>
                <a:gridCol w="2999678">
                  <a:extLst>
                    <a:ext uri="{9D8B030D-6E8A-4147-A177-3AD203B41FA5}">
                      <a16:colId xmlns:a16="http://schemas.microsoft.com/office/drawing/2014/main" val="1447582804"/>
                    </a:ext>
                  </a:extLst>
                </a:gridCol>
                <a:gridCol w="947854">
                  <a:extLst>
                    <a:ext uri="{9D8B030D-6E8A-4147-A177-3AD203B41FA5}">
                      <a16:colId xmlns:a16="http://schemas.microsoft.com/office/drawing/2014/main" val="320493211"/>
                    </a:ext>
                  </a:extLst>
                </a:gridCol>
                <a:gridCol w="2442117">
                  <a:extLst>
                    <a:ext uri="{9D8B030D-6E8A-4147-A177-3AD203B41FA5}">
                      <a16:colId xmlns:a16="http://schemas.microsoft.com/office/drawing/2014/main" val="2595636052"/>
                    </a:ext>
                  </a:extLst>
                </a:gridCol>
                <a:gridCol w="2767361">
                  <a:extLst>
                    <a:ext uri="{9D8B030D-6E8A-4147-A177-3AD203B41FA5}">
                      <a16:colId xmlns:a16="http://schemas.microsoft.com/office/drawing/2014/main" val="2039002368"/>
                    </a:ext>
                  </a:extLst>
                </a:gridCol>
              </a:tblGrid>
              <a:tr h="0">
                <a:tc>
                  <a:txBody>
                    <a:bodyPr/>
                    <a:lstStyle/>
                    <a:p>
                      <a:pPr algn="ctr"/>
                      <a:r>
                        <a:rPr lang="en-US" sz="1800" dirty="0">
                          <a:effectLst/>
                        </a:rPr>
                        <a:t>Acronym</a:t>
                      </a:r>
                    </a:p>
                  </a:txBody>
                  <a:tcPr marR="160020"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EAECF0"/>
                    </a:solidFill>
                  </a:tcPr>
                </a:tc>
                <a:tc>
                  <a:txBody>
                    <a:bodyPr/>
                    <a:lstStyle/>
                    <a:p>
                      <a:pPr algn="ctr"/>
                      <a:r>
                        <a:rPr lang="en-US" sz="1800">
                          <a:effectLst/>
                        </a:rPr>
                        <a:t>Name</a:t>
                      </a:r>
                    </a:p>
                  </a:txBody>
                  <a:tcPr marR="160020"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EAECF0"/>
                    </a:solidFill>
                  </a:tcPr>
                </a:tc>
                <a:tc>
                  <a:txBody>
                    <a:bodyPr/>
                    <a:lstStyle/>
                    <a:p>
                      <a:pPr algn="ctr"/>
                      <a:r>
                        <a:rPr lang="en-US" sz="1800">
                          <a:effectLst/>
                        </a:rPr>
                        <a:t>Year</a:t>
                      </a:r>
                    </a:p>
                  </a:txBody>
                  <a:tcPr marR="160020"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EAECF0"/>
                    </a:solidFill>
                  </a:tcPr>
                </a:tc>
                <a:tc>
                  <a:txBody>
                    <a:bodyPr/>
                    <a:lstStyle/>
                    <a:p>
                      <a:pPr algn="ctr"/>
                      <a:r>
                        <a:rPr lang="en-US" sz="1800" u="none" strike="noStrike">
                          <a:solidFill>
                            <a:srgbClr val="0645AD"/>
                          </a:solidFill>
                          <a:effectLst/>
                          <a:hlinkClick r:id="rId2" tooltip="Transistor count"/>
                        </a:rPr>
                        <a:t>Transistor count</a:t>
                      </a:r>
                      <a:r>
                        <a:rPr lang="en-US" sz="1800" b="0" i="0" u="none" strike="noStrike" baseline="30000">
                          <a:solidFill>
                            <a:srgbClr val="0645AD"/>
                          </a:solidFill>
                          <a:effectLst/>
                          <a:hlinkClick r:id="rId3"/>
                        </a:rPr>
                        <a:t>[82]</a:t>
                      </a:r>
                      <a:endParaRPr lang="en-US" sz="1800">
                        <a:effectLst/>
                      </a:endParaRPr>
                    </a:p>
                  </a:txBody>
                  <a:tcPr marR="160020"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EAECF0"/>
                    </a:solidFill>
                  </a:tcPr>
                </a:tc>
                <a:tc>
                  <a:txBody>
                    <a:bodyPr/>
                    <a:lstStyle/>
                    <a:p>
                      <a:pPr algn="ctr"/>
                      <a:r>
                        <a:rPr lang="en-US" sz="1800" u="none" strike="noStrike">
                          <a:solidFill>
                            <a:srgbClr val="0645AD"/>
                          </a:solidFill>
                          <a:effectLst/>
                          <a:hlinkClick r:id="rId4" tooltip="Logic gate"/>
                        </a:rPr>
                        <a:t>Logic gates</a:t>
                      </a:r>
                      <a:r>
                        <a:rPr lang="en-US" sz="1800">
                          <a:effectLst/>
                        </a:rPr>
                        <a:t> number</a:t>
                      </a:r>
                      <a:r>
                        <a:rPr lang="en-US" sz="1800" b="0" i="0" u="none" strike="noStrike" baseline="30000">
                          <a:solidFill>
                            <a:srgbClr val="0645AD"/>
                          </a:solidFill>
                          <a:effectLst/>
                          <a:hlinkClick r:id="rId5"/>
                        </a:rPr>
                        <a:t>[83]</a:t>
                      </a:r>
                      <a:endParaRPr lang="en-US" sz="1800">
                        <a:effectLst/>
                      </a:endParaRPr>
                    </a:p>
                  </a:txBody>
                  <a:tcPr marR="160020"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EAECF0"/>
                    </a:solidFill>
                  </a:tcPr>
                </a:tc>
                <a:extLst>
                  <a:ext uri="{0D108BD9-81ED-4DB2-BD59-A6C34878D82A}">
                    <a16:rowId xmlns:a16="http://schemas.microsoft.com/office/drawing/2014/main" val="1867679480"/>
                  </a:ext>
                </a:extLst>
              </a:tr>
              <a:tr h="0">
                <a:tc>
                  <a:txBody>
                    <a:bodyPr/>
                    <a:lstStyle/>
                    <a:p>
                      <a:r>
                        <a:rPr lang="en-US" sz="1800">
                          <a:effectLst/>
                        </a:rPr>
                        <a:t>SSI</a:t>
                      </a:r>
                    </a:p>
                  </a:txBody>
                  <a:tcPr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r>
                        <a:rPr lang="en-US" sz="1800" i="1">
                          <a:effectLst/>
                        </a:rPr>
                        <a:t>small-scale integration</a:t>
                      </a:r>
                      <a:endParaRPr lang="en-US" sz="1800">
                        <a:effectLst/>
                      </a:endParaRPr>
                    </a:p>
                  </a:txBody>
                  <a:tcPr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r>
                        <a:rPr lang="en-US" sz="1800">
                          <a:effectLst/>
                        </a:rPr>
                        <a:t>1964</a:t>
                      </a:r>
                    </a:p>
                  </a:txBody>
                  <a:tcPr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r>
                        <a:rPr lang="en-US" sz="1800">
                          <a:effectLst/>
                        </a:rPr>
                        <a:t>1 to 10</a:t>
                      </a:r>
                    </a:p>
                  </a:txBody>
                  <a:tcPr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r>
                        <a:rPr lang="en-US" sz="1800">
                          <a:effectLst/>
                        </a:rPr>
                        <a:t>1 to 12</a:t>
                      </a:r>
                    </a:p>
                  </a:txBody>
                  <a:tcPr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3485340263"/>
                  </a:ext>
                </a:extLst>
              </a:tr>
              <a:tr h="0">
                <a:tc>
                  <a:txBody>
                    <a:bodyPr/>
                    <a:lstStyle/>
                    <a:p>
                      <a:r>
                        <a:rPr lang="en-US" sz="1800">
                          <a:effectLst/>
                        </a:rPr>
                        <a:t>MSI</a:t>
                      </a:r>
                    </a:p>
                  </a:txBody>
                  <a:tcPr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r>
                        <a:rPr lang="en-US" sz="1800" i="1">
                          <a:effectLst/>
                        </a:rPr>
                        <a:t>medium-scale integration</a:t>
                      </a:r>
                      <a:endParaRPr lang="en-US" sz="1800">
                        <a:effectLst/>
                      </a:endParaRPr>
                    </a:p>
                  </a:txBody>
                  <a:tcPr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r>
                        <a:rPr lang="en-US" sz="1800">
                          <a:effectLst/>
                        </a:rPr>
                        <a:t>1968</a:t>
                      </a:r>
                    </a:p>
                  </a:txBody>
                  <a:tcPr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r>
                        <a:rPr lang="en-US" sz="1800">
                          <a:effectLst/>
                        </a:rPr>
                        <a:t>10 to 500</a:t>
                      </a:r>
                    </a:p>
                  </a:txBody>
                  <a:tcPr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r>
                        <a:rPr lang="en-US" sz="1800">
                          <a:effectLst/>
                        </a:rPr>
                        <a:t>13 to 99</a:t>
                      </a:r>
                    </a:p>
                  </a:txBody>
                  <a:tcPr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308830732"/>
                  </a:ext>
                </a:extLst>
              </a:tr>
              <a:tr h="0">
                <a:tc>
                  <a:txBody>
                    <a:bodyPr/>
                    <a:lstStyle/>
                    <a:p>
                      <a:r>
                        <a:rPr lang="en-US" sz="1800">
                          <a:effectLst/>
                        </a:rPr>
                        <a:t>LSI</a:t>
                      </a:r>
                    </a:p>
                  </a:txBody>
                  <a:tcPr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r>
                        <a:rPr lang="en-US" sz="1800" i="1">
                          <a:effectLst/>
                        </a:rPr>
                        <a:t>large-scale integration</a:t>
                      </a:r>
                      <a:endParaRPr lang="en-US" sz="1800">
                        <a:effectLst/>
                      </a:endParaRPr>
                    </a:p>
                  </a:txBody>
                  <a:tcPr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r>
                        <a:rPr lang="en-US" sz="1800">
                          <a:effectLst/>
                        </a:rPr>
                        <a:t>1971</a:t>
                      </a:r>
                    </a:p>
                  </a:txBody>
                  <a:tcPr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r>
                        <a:rPr lang="en-US" sz="1800">
                          <a:effectLst/>
                        </a:rPr>
                        <a:t>500 to 20 000</a:t>
                      </a:r>
                    </a:p>
                  </a:txBody>
                  <a:tcPr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r>
                        <a:rPr lang="en-US" sz="1800">
                          <a:effectLst/>
                        </a:rPr>
                        <a:t>100 to 9999</a:t>
                      </a:r>
                    </a:p>
                  </a:txBody>
                  <a:tcPr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3999071713"/>
                  </a:ext>
                </a:extLst>
              </a:tr>
              <a:tr h="0">
                <a:tc>
                  <a:txBody>
                    <a:bodyPr/>
                    <a:lstStyle/>
                    <a:p>
                      <a:r>
                        <a:rPr lang="en-US" sz="1800">
                          <a:effectLst/>
                        </a:rPr>
                        <a:t>VLSI</a:t>
                      </a:r>
                    </a:p>
                  </a:txBody>
                  <a:tcPr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r>
                        <a:rPr lang="en-US" sz="1800" i="1" u="none" strike="noStrike">
                          <a:solidFill>
                            <a:srgbClr val="0645AD"/>
                          </a:solidFill>
                          <a:effectLst/>
                          <a:hlinkClick r:id="rId6" tooltip="Very large-scale integration"/>
                        </a:rPr>
                        <a:t>very large-scale integration</a:t>
                      </a:r>
                      <a:endParaRPr lang="en-US" sz="1800">
                        <a:effectLst/>
                      </a:endParaRPr>
                    </a:p>
                  </a:txBody>
                  <a:tcPr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r>
                        <a:rPr lang="en-US" sz="1800">
                          <a:effectLst/>
                        </a:rPr>
                        <a:t>1980</a:t>
                      </a:r>
                    </a:p>
                  </a:txBody>
                  <a:tcPr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r>
                        <a:rPr lang="en-US" sz="1800">
                          <a:effectLst/>
                        </a:rPr>
                        <a:t>20 000 to 1 000 000</a:t>
                      </a:r>
                    </a:p>
                  </a:txBody>
                  <a:tcPr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r>
                        <a:rPr lang="en-US" sz="1800">
                          <a:effectLst/>
                        </a:rPr>
                        <a:t>10 000 to 99 999</a:t>
                      </a:r>
                    </a:p>
                  </a:txBody>
                  <a:tcPr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3418205274"/>
                  </a:ext>
                </a:extLst>
              </a:tr>
              <a:tr h="0">
                <a:tc>
                  <a:txBody>
                    <a:bodyPr/>
                    <a:lstStyle/>
                    <a:p>
                      <a:r>
                        <a:rPr lang="en-US" sz="1800">
                          <a:effectLst/>
                        </a:rPr>
                        <a:t>ULSI</a:t>
                      </a:r>
                    </a:p>
                  </a:txBody>
                  <a:tcPr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r>
                        <a:rPr lang="en-US" sz="1800" i="1" dirty="0">
                          <a:effectLst/>
                        </a:rPr>
                        <a:t>ultra-large-scale integration</a:t>
                      </a:r>
                      <a:endParaRPr lang="en-US" sz="1800" dirty="0">
                        <a:effectLst/>
                      </a:endParaRPr>
                    </a:p>
                  </a:txBody>
                  <a:tcPr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r>
                        <a:rPr lang="en-US" sz="1800">
                          <a:effectLst/>
                        </a:rPr>
                        <a:t>1984</a:t>
                      </a:r>
                    </a:p>
                  </a:txBody>
                  <a:tcPr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r>
                        <a:rPr lang="en-US" sz="1800">
                          <a:effectLst/>
                        </a:rPr>
                        <a:t>1 000 000 and more</a:t>
                      </a:r>
                    </a:p>
                  </a:txBody>
                  <a:tcPr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r>
                        <a:rPr lang="en-US" sz="1800" dirty="0">
                          <a:effectLst/>
                        </a:rPr>
                        <a:t>100 000 and more</a:t>
                      </a:r>
                    </a:p>
                  </a:txBody>
                  <a:tcPr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1967833996"/>
                  </a:ext>
                </a:extLst>
              </a:tr>
            </a:tbl>
          </a:graphicData>
        </a:graphic>
      </p:graphicFrame>
    </p:spTree>
    <p:extLst>
      <p:ext uri="{BB962C8B-B14F-4D97-AF65-F5344CB8AC3E}">
        <p14:creationId xmlns:p14="http://schemas.microsoft.com/office/powerpoint/2010/main" val="18994191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r>
              <a:rPr lang="en-US"/>
              <a:t>Một số tài liệu tham khảo thêm</a:t>
            </a:r>
            <a:endParaRPr lang="en-VN" dirty="0"/>
          </a:p>
        </p:txBody>
      </p:sp>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p:txBody>
          <a:bodyPr>
            <a:normAutofit/>
          </a:bodyPr>
          <a:lstStyle/>
          <a:p>
            <a:r>
              <a:rPr lang="vi-VN">
                <a:hlinkClick r:id="rId3"/>
              </a:rPr>
              <a:t>https://www.livescience.com/20718-computer-history.html</a:t>
            </a:r>
            <a:endParaRPr lang="en-US"/>
          </a:p>
          <a:p>
            <a:r>
              <a:rPr lang="vi-VN">
                <a:hlinkClick r:id="rId4"/>
              </a:rPr>
              <a:t>https://www.amazon.com/Brief-History-Computing-Gerard-ORegan/dp/3030665984?tag=georiot-us-default-20&amp;ascsubtag=livescience-row-1070176377221728500-20&amp;geniuslink=true</a:t>
            </a:r>
            <a:endParaRPr lang="en-US"/>
          </a:p>
          <a:p>
            <a:r>
              <a:rPr lang="en-US">
                <a:hlinkClick r:id="rId5"/>
              </a:rPr>
              <a:t>https://laodong.vn/cong-nghe/thoi-dai-cua-may-tinh-luong-tu-dang-toi-gan-1206129.ldo</a:t>
            </a:r>
            <a:endParaRPr lang="en-US"/>
          </a:p>
          <a:p>
            <a:endParaRPr lang="en-US"/>
          </a:p>
          <a:p>
            <a:endParaRPr lang="vi-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27</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pic>
        <p:nvPicPr>
          <p:cNvPr id="1026" name="Picture 2" descr="Thời đại của máy tính lượng tử đang tới gần">
            <a:extLst>
              <a:ext uri="{FF2B5EF4-FFF2-40B4-BE49-F238E27FC236}">
                <a16:creationId xmlns:a16="http://schemas.microsoft.com/office/drawing/2014/main" id="{EDED40B4-86A4-8545-92AD-7841450A18B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47652" y="4220193"/>
            <a:ext cx="3205716" cy="213615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ấu tạo của chip lượng tử Eagle. Ảnh: IBM">
            <a:extLst>
              <a:ext uri="{FF2B5EF4-FFF2-40B4-BE49-F238E27FC236}">
                <a16:creationId xmlns:a16="http://schemas.microsoft.com/office/drawing/2014/main" id="{BE53387A-425E-95D2-4B6F-83358CF67D8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02346" y="4220193"/>
            <a:ext cx="3560258" cy="213615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Chip máy tính lượng tử Tunnel Falls chứa 12 qubit của Intel.">
            <a:extLst>
              <a:ext uri="{FF2B5EF4-FFF2-40B4-BE49-F238E27FC236}">
                <a16:creationId xmlns:a16="http://schemas.microsoft.com/office/drawing/2014/main" id="{DC488829-CFDA-BDC4-37D5-EE8CD6185EC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71979" y="4220192"/>
            <a:ext cx="3745319" cy="21361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43648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2138E7-0BF8-4FBE-AB49-4184E532FD1F}"/>
              </a:ext>
            </a:extLst>
          </p:cNvPr>
          <p:cNvSpPr>
            <a:spLocks noGrp="1"/>
          </p:cNvSpPr>
          <p:nvPr>
            <p:ph type="sldNum" sz="quarter" idx="12"/>
          </p:nvPr>
        </p:nvSpPr>
        <p:spPr/>
        <p:txBody>
          <a:bodyPr/>
          <a:lstStyle/>
          <a:p>
            <a:fld id="{D8B0B3AC-44A8-D142-AAF6-9A453466E1A4}" type="slidenum">
              <a:rPr lang="en-VN" smtClean="0"/>
              <a:pPr/>
              <a:t>28</a:t>
            </a:fld>
            <a:endParaRPr lang="en-VN" dirty="0"/>
          </a:p>
        </p:txBody>
      </p:sp>
      <p:sp>
        <p:nvSpPr>
          <p:cNvPr id="7" name="Text Placeholder 6">
            <a:extLst>
              <a:ext uri="{FF2B5EF4-FFF2-40B4-BE49-F238E27FC236}">
                <a16:creationId xmlns:a16="http://schemas.microsoft.com/office/drawing/2014/main" id="{0602C380-9011-23F7-8E4B-E195C0DFFBC9}"/>
              </a:ext>
            </a:extLst>
          </p:cNvPr>
          <p:cNvSpPr>
            <a:spLocks noGrp="1"/>
          </p:cNvSpPr>
          <p:nvPr>
            <p:ph type="body" sz="quarter" idx="13"/>
          </p:nvPr>
        </p:nvSpPr>
        <p:spPr>
          <a:xfrm>
            <a:off x="1470929" y="2095027"/>
            <a:ext cx="7918398" cy="884656"/>
          </a:xfrm>
        </p:spPr>
        <p:txBody>
          <a:bodyPr>
            <a:normAutofit/>
          </a:bodyPr>
          <a:lstStyle/>
          <a:p>
            <a:r>
              <a:rPr lang="en-US"/>
              <a:t>Phân loại máy tính</a:t>
            </a:r>
            <a:endParaRPr lang="en-VN" dirty="0"/>
          </a:p>
        </p:txBody>
      </p:sp>
      <p:sp>
        <p:nvSpPr>
          <p:cNvPr id="8" name="Text Placeholder 7">
            <a:extLst>
              <a:ext uri="{FF2B5EF4-FFF2-40B4-BE49-F238E27FC236}">
                <a16:creationId xmlns:a16="http://schemas.microsoft.com/office/drawing/2014/main" id="{883EE24F-70E8-C3FA-399B-07DCA2C415CE}"/>
              </a:ext>
            </a:extLst>
          </p:cNvPr>
          <p:cNvSpPr>
            <a:spLocks noGrp="1"/>
          </p:cNvSpPr>
          <p:nvPr>
            <p:ph type="body" sz="quarter" idx="14"/>
          </p:nvPr>
        </p:nvSpPr>
        <p:spPr/>
        <p:txBody>
          <a:bodyPr/>
          <a:lstStyle/>
          <a:p>
            <a:endParaRPr lang="vi-VN" sz="2800" dirty="0"/>
          </a:p>
        </p:txBody>
      </p:sp>
      <p:sp>
        <p:nvSpPr>
          <p:cNvPr id="9" name="Text Placeholder 8">
            <a:extLst>
              <a:ext uri="{FF2B5EF4-FFF2-40B4-BE49-F238E27FC236}">
                <a16:creationId xmlns:a16="http://schemas.microsoft.com/office/drawing/2014/main" id="{7F04BBE0-C7C7-D804-DD85-D99BEB36007C}"/>
              </a:ext>
            </a:extLst>
          </p:cNvPr>
          <p:cNvSpPr>
            <a:spLocks noGrp="1"/>
          </p:cNvSpPr>
          <p:nvPr>
            <p:ph type="body" sz="quarter" idx="15"/>
          </p:nvPr>
        </p:nvSpPr>
        <p:spPr/>
        <p:txBody>
          <a:bodyPr/>
          <a:lstStyle/>
          <a:p>
            <a:endParaRPr lang="en-VN"/>
          </a:p>
        </p:txBody>
      </p:sp>
      <p:sp>
        <p:nvSpPr>
          <p:cNvPr id="10" name="Text Placeholder 9">
            <a:extLst>
              <a:ext uri="{FF2B5EF4-FFF2-40B4-BE49-F238E27FC236}">
                <a16:creationId xmlns:a16="http://schemas.microsoft.com/office/drawing/2014/main" id="{3C2CDC7B-AFE9-6C1F-2CD6-AA61695C23FD}"/>
              </a:ext>
            </a:extLst>
          </p:cNvPr>
          <p:cNvSpPr>
            <a:spLocks noGrp="1"/>
          </p:cNvSpPr>
          <p:nvPr>
            <p:ph type="body" sz="quarter" idx="16"/>
          </p:nvPr>
        </p:nvSpPr>
        <p:spPr/>
        <p:txBody>
          <a:bodyPr>
            <a:normAutofit lnSpcReduction="10000"/>
          </a:bodyPr>
          <a:lstStyle/>
          <a:p>
            <a:r>
              <a:rPr lang="en-VN" dirty="0"/>
              <a:t>2</a:t>
            </a:r>
          </a:p>
        </p:txBody>
      </p:sp>
    </p:spTree>
    <p:extLst>
      <p:ext uri="{BB962C8B-B14F-4D97-AF65-F5344CB8AC3E}">
        <p14:creationId xmlns:p14="http://schemas.microsoft.com/office/powerpoint/2010/main" val="37058444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r>
              <a:rPr lang="en-US"/>
              <a:t>Phân loại máy tính</a:t>
            </a:r>
            <a:endParaRPr lang="en-VN" dirty="0"/>
          </a:p>
        </p:txBody>
      </p:sp>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p:txBody>
          <a:bodyPr>
            <a:normAutofit/>
          </a:bodyPr>
          <a:lstStyle/>
          <a:p>
            <a:pPr marL="0" indent="0">
              <a:lnSpc>
                <a:spcPct val="90000"/>
              </a:lnSpc>
              <a:buNone/>
              <a:defRPr/>
            </a:pPr>
            <a:r>
              <a:rPr lang="en-US"/>
              <a:t>Máy tính được sử dụng trong 3 lớp ứng dụng chính:</a:t>
            </a:r>
          </a:p>
          <a:p>
            <a:pPr marL="0" indent="0">
              <a:lnSpc>
                <a:spcPct val="90000"/>
              </a:lnSpc>
              <a:buNone/>
              <a:defRPr/>
            </a:pPr>
            <a:endParaRPr lang="en-US"/>
          </a:p>
          <a:p>
            <a:pPr marL="742950">
              <a:lnSpc>
                <a:spcPct val="90000"/>
              </a:lnSpc>
              <a:defRPr/>
            </a:pPr>
            <a:r>
              <a:rPr lang="en-US" sz="2400"/>
              <a:t>Máy tính cá nhân (Personal computers)</a:t>
            </a:r>
          </a:p>
          <a:p>
            <a:pPr marL="742950">
              <a:lnSpc>
                <a:spcPct val="90000"/>
              </a:lnSpc>
              <a:defRPr/>
            </a:pPr>
            <a:endParaRPr lang="en-US" sz="2400"/>
          </a:p>
          <a:p>
            <a:pPr marL="742950">
              <a:lnSpc>
                <a:spcPct val="90000"/>
              </a:lnSpc>
              <a:defRPr/>
            </a:pPr>
            <a:r>
              <a:rPr lang="en-US" sz="2400"/>
              <a:t>Máy chủ (Servers)</a:t>
            </a:r>
          </a:p>
          <a:p>
            <a:pPr marL="742950">
              <a:lnSpc>
                <a:spcPct val="90000"/>
              </a:lnSpc>
              <a:defRPr/>
            </a:pPr>
            <a:endParaRPr lang="en-US" sz="2400"/>
          </a:p>
          <a:p>
            <a:pPr marL="742950">
              <a:lnSpc>
                <a:spcPct val="90000"/>
              </a:lnSpc>
              <a:defRPr/>
            </a:pPr>
            <a:r>
              <a:rPr lang="en-US" sz="2400"/>
              <a:t>Máy tính nhúng (Embedded computers)</a:t>
            </a:r>
            <a:endParaRPr lang="en-US" sz="2400"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29</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Tree>
    <p:extLst>
      <p:ext uri="{BB962C8B-B14F-4D97-AF65-F5344CB8AC3E}">
        <p14:creationId xmlns:p14="http://schemas.microsoft.com/office/powerpoint/2010/main" val="31687750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pPr>
              <a:lnSpc>
                <a:spcPct val="90000"/>
              </a:lnSpc>
              <a:defRPr/>
            </a:pPr>
            <a:r>
              <a:rPr lang="en-US" b="1"/>
              <a:t>Máy tính cá nhân</a:t>
            </a:r>
          </a:p>
        </p:txBody>
      </p:sp>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a:xfrm>
            <a:off x="1142797" y="1195821"/>
            <a:ext cx="10843463" cy="2416059"/>
          </a:xfrm>
        </p:spPr>
        <p:txBody>
          <a:bodyPr>
            <a:normAutofit/>
          </a:bodyPr>
          <a:lstStyle/>
          <a:p>
            <a:pPr marL="228600" lvl="1">
              <a:spcBef>
                <a:spcPts val="1000"/>
              </a:spcBef>
              <a:defRPr/>
            </a:pPr>
            <a:r>
              <a:rPr lang="en-US" sz="2800"/>
              <a:t>Kích th</a:t>
            </a:r>
            <a:r>
              <a:rPr lang="vi-VN" sz="2800"/>
              <a:t>ư</a:t>
            </a:r>
            <a:r>
              <a:rPr lang="en-US" sz="2800"/>
              <a:t>ớc: nhỏ gọn</a:t>
            </a:r>
          </a:p>
          <a:p>
            <a:pPr marL="228600" lvl="1">
              <a:spcBef>
                <a:spcPts val="1000"/>
              </a:spcBef>
              <a:defRPr/>
            </a:pPr>
            <a:r>
              <a:rPr lang="en-US" sz="2800"/>
              <a:t>Tốc độ: lên đến 238,310 MIPS ở 3.0 GHz </a:t>
            </a:r>
          </a:p>
          <a:p>
            <a:pPr marL="228600" lvl="1">
              <a:spcBef>
                <a:spcPts val="1000"/>
              </a:spcBef>
              <a:defRPr/>
            </a:pPr>
            <a:r>
              <a:rPr lang="en-US" sz="2800"/>
              <a:t>Khả năng xử lý: đa dụng cho các ứng dụng văn phòng, học tập, giải trí.</a:t>
            </a:r>
          </a:p>
          <a:p>
            <a:pPr marL="228600" lvl="1">
              <a:spcBef>
                <a:spcPts val="1000"/>
              </a:spcBef>
              <a:defRPr/>
            </a:pPr>
            <a:r>
              <a:rPr lang="en-US" sz="2800"/>
              <a:t>Ví dụ: Máy tính để bàn, Máy tính xách tay</a:t>
            </a:r>
          </a:p>
          <a:p>
            <a:endParaRPr lang="vi-VN" sz="2000"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30</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pic>
        <p:nvPicPr>
          <p:cNvPr id="7" name="Picture 2">
            <a:extLst>
              <a:ext uri="{FF2B5EF4-FFF2-40B4-BE49-F238E27FC236}">
                <a16:creationId xmlns:a16="http://schemas.microsoft.com/office/drawing/2014/main" id="{EC7B406D-CD89-3AB6-154A-A14CAAC276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97850" y="3123195"/>
            <a:ext cx="3415719" cy="341571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FD09A7F6-6EE6-E34E-57C1-3E22DFA7FA50}"/>
              </a:ext>
            </a:extLst>
          </p:cNvPr>
          <p:cNvPicPr>
            <a:picLocks noChangeAspect="1"/>
          </p:cNvPicPr>
          <p:nvPr/>
        </p:nvPicPr>
        <p:blipFill rotWithShape="1">
          <a:blip r:embed="rId3"/>
          <a:srcRect l="26778" t="5821" r="18856" b="4659"/>
          <a:stretch/>
        </p:blipFill>
        <p:spPr>
          <a:xfrm>
            <a:off x="919683" y="4047533"/>
            <a:ext cx="2821358" cy="1992434"/>
          </a:xfrm>
          <a:prstGeom prst="rect">
            <a:avLst/>
          </a:prstGeom>
        </p:spPr>
      </p:pic>
      <p:pic>
        <p:nvPicPr>
          <p:cNvPr id="9" name="Picture 4" descr="PC Asus All in One E5202WH (i3-11100B/4GB RAM/512GB SSD/21.5 inch Full HD/WL+BT/K+M/Win 11) (E5202WHAK-BA019W)">
            <a:extLst>
              <a:ext uri="{FF2B5EF4-FFF2-40B4-BE49-F238E27FC236}">
                <a16:creationId xmlns:a16="http://schemas.microsoft.com/office/drawing/2014/main" id="{EC84E06D-5AA3-23FB-0F69-6D13D3F42DC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63385" y="3909491"/>
            <a:ext cx="2286523" cy="22865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47819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pPr>
              <a:lnSpc>
                <a:spcPct val="90000"/>
              </a:lnSpc>
              <a:defRPr/>
            </a:pPr>
            <a:r>
              <a:rPr lang="en-US" b="1">
                <a:hlinkClick r:id="rId3"/>
              </a:rPr>
              <a:t>Máy chủ</a:t>
            </a:r>
            <a:endParaRPr lang="en-US" b="1"/>
          </a:p>
        </p:txBody>
      </p:sp>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a:xfrm>
            <a:off x="1056300" y="987275"/>
            <a:ext cx="10515600" cy="5160527"/>
          </a:xfrm>
        </p:spPr>
        <p:txBody>
          <a:bodyPr/>
          <a:lstStyle/>
          <a:p>
            <a:r>
              <a:rPr lang="vi-VN" sz="2200"/>
              <a:t>Kích </a:t>
            </a:r>
            <a:r>
              <a:rPr lang="vi-VN" sz="2200" dirty="0"/>
              <a:t>thước lớn.</a:t>
            </a:r>
          </a:p>
          <a:p>
            <a:r>
              <a:rPr lang="vi-VN" sz="2200" dirty="0"/>
              <a:t>Tốc độ: lên đến 148.6 petaflops</a:t>
            </a:r>
          </a:p>
          <a:p>
            <a:r>
              <a:rPr lang="vi-VN" sz="2200" dirty="0"/>
              <a:t>Khả năng xử lý: tính toán với tốc độ siêu nhanh, độ chính xác cực lớn.</a:t>
            </a:r>
          </a:p>
          <a:p>
            <a:r>
              <a:rPr lang="vi-VN" sz="2200" dirty="0"/>
              <a:t>Khả năng lưu trữ dữ liệu: cực lớn.</a:t>
            </a:r>
          </a:p>
          <a:p>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31</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pic>
        <p:nvPicPr>
          <p:cNvPr id="10242" name="Picture 2" descr="Hàng nghìn con chip và ống dẫn nước làm mát bên trong siêu máy tính Frontier. Ảnh: ORNL">
            <a:extLst>
              <a:ext uri="{FF2B5EF4-FFF2-40B4-BE49-F238E27FC236}">
                <a16:creationId xmlns:a16="http://schemas.microsoft.com/office/drawing/2014/main" id="{AD90E30D-8C0C-2B7D-2946-654BD0C079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524" y="3534032"/>
            <a:ext cx="3480487" cy="257720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6E8FC50F-E160-D1BB-AD37-57FB9C724450}"/>
              </a:ext>
            </a:extLst>
          </p:cNvPr>
          <p:cNvSpPr txBox="1"/>
          <p:nvPr/>
        </p:nvSpPr>
        <p:spPr>
          <a:xfrm>
            <a:off x="760571" y="2664965"/>
            <a:ext cx="3595856" cy="923330"/>
          </a:xfrm>
          <a:prstGeom prst="rect">
            <a:avLst/>
          </a:prstGeom>
          <a:noFill/>
        </p:spPr>
        <p:txBody>
          <a:bodyPr wrap="none" rtlCol="0">
            <a:spAutoFit/>
          </a:bodyPr>
          <a:lstStyle/>
          <a:p>
            <a:pPr algn="ctr"/>
            <a:r>
              <a:rPr lang="en-US" b="0" i="0" dirty="0">
                <a:solidFill>
                  <a:srgbClr val="222222"/>
                </a:solidFill>
                <a:effectLst/>
                <a:latin typeface="arial" panose="020B0604020202020204" pitchFamily="34" charset="0"/>
              </a:rPr>
              <a:t>Frontier </a:t>
            </a:r>
            <a:r>
              <a:rPr lang="en-US" b="0" i="0" dirty="0" err="1">
                <a:solidFill>
                  <a:srgbClr val="222222"/>
                </a:solidFill>
                <a:effectLst/>
                <a:latin typeface="arial" panose="020B0604020202020204" pitchFamily="34" charset="0"/>
              </a:rPr>
              <a:t>đã</a:t>
            </a:r>
            <a:r>
              <a:rPr lang="en-US" b="0" i="0" dirty="0">
                <a:solidFill>
                  <a:srgbClr val="222222"/>
                </a:solidFill>
                <a:effectLst/>
                <a:latin typeface="arial" panose="020B0604020202020204" pitchFamily="34" charset="0"/>
              </a:rPr>
              <a:t> </a:t>
            </a:r>
            <a:r>
              <a:rPr lang="en-US" b="0" i="0" dirty="0" err="1">
                <a:solidFill>
                  <a:srgbClr val="222222"/>
                </a:solidFill>
                <a:effectLst/>
                <a:latin typeface="arial" panose="020B0604020202020204" pitchFamily="34" charset="0"/>
              </a:rPr>
              <a:t>đạt</a:t>
            </a:r>
            <a:r>
              <a:rPr lang="en-US" b="0" i="0" dirty="0">
                <a:solidFill>
                  <a:srgbClr val="222222"/>
                </a:solidFill>
                <a:effectLst/>
                <a:latin typeface="arial" panose="020B0604020202020204" pitchFamily="34" charset="0"/>
              </a:rPr>
              <a:t> 1,102 exaflop</a:t>
            </a:r>
          </a:p>
          <a:p>
            <a:r>
              <a:rPr lang="en-US" b="0" i="0" dirty="0" err="1">
                <a:solidFill>
                  <a:srgbClr val="222222"/>
                </a:solidFill>
                <a:effectLst/>
                <a:latin typeface="arial" panose="020B0604020202020204" pitchFamily="34" charset="0"/>
              </a:rPr>
              <a:t>tức</a:t>
            </a:r>
            <a:r>
              <a:rPr lang="en-US" b="0" i="0" dirty="0">
                <a:solidFill>
                  <a:srgbClr val="222222"/>
                </a:solidFill>
                <a:effectLst/>
                <a:latin typeface="arial" panose="020B0604020202020204" pitchFamily="34" charset="0"/>
              </a:rPr>
              <a:t> 1,102 </a:t>
            </a:r>
            <a:r>
              <a:rPr lang="en-US" b="0" i="0" dirty="0" err="1">
                <a:solidFill>
                  <a:srgbClr val="222222"/>
                </a:solidFill>
                <a:effectLst/>
                <a:latin typeface="arial" panose="020B0604020202020204" pitchFamily="34" charset="0"/>
              </a:rPr>
              <a:t>tỷ</a:t>
            </a:r>
            <a:r>
              <a:rPr lang="en-US" b="0" i="0" dirty="0">
                <a:solidFill>
                  <a:srgbClr val="222222"/>
                </a:solidFill>
                <a:effectLst/>
                <a:latin typeface="arial" panose="020B0604020202020204" pitchFamily="34" charset="0"/>
              </a:rPr>
              <a:t> </a:t>
            </a:r>
            <a:r>
              <a:rPr lang="en-US" b="0" i="0" dirty="0" err="1">
                <a:solidFill>
                  <a:srgbClr val="222222"/>
                </a:solidFill>
                <a:effectLst/>
                <a:latin typeface="arial" panose="020B0604020202020204" pitchFamily="34" charset="0"/>
              </a:rPr>
              <a:t>tỷ</a:t>
            </a:r>
            <a:r>
              <a:rPr lang="en-US" b="0" i="0" dirty="0">
                <a:solidFill>
                  <a:srgbClr val="222222"/>
                </a:solidFill>
                <a:effectLst/>
                <a:latin typeface="arial" panose="020B0604020202020204" pitchFamily="34" charset="0"/>
              </a:rPr>
              <a:t> </a:t>
            </a:r>
            <a:r>
              <a:rPr lang="en-US" b="0" i="0" dirty="0" err="1">
                <a:solidFill>
                  <a:srgbClr val="222222"/>
                </a:solidFill>
                <a:effectLst/>
                <a:latin typeface="arial" panose="020B0604020202020204" pitchFamily="34" charset="0"/>
              </a:rPr>
              <a:t>phép</a:t>
            </a:r>
            <a:r>
              <a:rPr lang="en-US" b="0" i="0" dirty="0">
                <a:solidFill>
                  <a:srgbClr val="222222"/>
                </a:solidFill>
                <a:effectLst/>
                <a:latin typeface="arial" panose="020B0604020202020204" pitchFamily="34" charset="0"/>
              </a:rPr>
              <a:t> </a:t>
            </a:r>
            <a:r>
              <a:rPr lang="en-US" b="0" i="0" dirty="0" err="1">
                <a:solidFill>
                  <a:srgbClr val="222222"/>
                </a:solidFill>
                <a:effectLst/>
                <a:latin typeface="arial" panose="020B0604020202020204" pitchFamily="34" charset="0"/>
              </a:rPr>
              <a:t>tính</a:t>
            </a:r>
            <a:r>
              <a:rPr lang="en-US" b="0" i="0" dirty="0">
                <a:solidFill>
                  <a:srgbClr val="222222"/>
                </a:solidFill>
                <a:effectLst/>
                <a:latin typeface="arial" panose="020B0604020202020204" pitchFamily="34" charset="0"/>
              </a:rPr>
              <a:t> </a:t>
            </a:r>
            <a:r>
              <a:rPr lang="en-US" b="0" i="0" dirty="0" err="1">
                <a:solidFill>
                  <a:srgbClr val="222222"/>
                </a:solidFill>
                <a:effectLst/>
                <a:latin typeface="arial" panose="020B0604020202020204" pitchFamily="34" charset="0"/>
              </a:rPr>
              <a:t>mỗi</a:t>
            </a:r>
            <a:r>
              <a:rPr lang="en-US" b="0" i="0" dirty="0">
                <a:solidFill>
                  <a:srgbClr val="222222"/>
                </a:solidFill>
                <a:effectLst/>
                <a:latin typeface="arial" panose="020B0604020202020204" pitchFamily="34" charset="0"/>
              </a:rPr>
              <a:t> </a:t>
            </a:r>
            <a:r>
              <a:rPr lang="en-US" b="0" i="0" dirty="0" err="1">
                <a:solidFill>
                  <a:srgbClr val="222222"/>
                </a:solidFill>
                <a:effectLst/>
                <a:latin typeface="arial" panose="020B0604020202020204" pitchFamily="34" charset="0"/>
              </a:rPr>
              <a:t>giây</a:t>
            </a:r>
            <a:endParaRPr lang="en-US" b="0" i="0" dirty="0">
              <a:solidFill>
                <a:srgbClr val="222222"/>
              </a:solidFill>
              <a:effectLst/>
              <a:latin typeface="arial" panose="020B0604020202020204" pitchFamily="34" charset="0"/>
            </a:endParaRPr>
          </a:p>
          <a:p>
            <a:pPr algn="ctr"/>
            <a:r>
              <a:rPr lang="en-US" dirty="0">
                <a:solidFill>
                  <a:srgbClr val="222222"/>
                </a:solidFill>
                <a:latin typeface="arial" panose="020B0604020202020204" pitchFamily="34" charset="0"/>
              </a:rPr>
              <a:t>8.730.112 </a:t>
            </a:r>
            <a:r>
              <a:rPr lang="en-US" dirty="0" err="1">
                <a:solidFill>
                  <a:srgbClr val="222222"/>
                </a:solidFill>
                <a:latin typeface="arial" panose="020B0604020202020204" pitchFamily="34" charset="0"/>
              </a:rPr>
              <a:t>lõi</a:t>
            </a:r>
            <a:r>
              <a:rPr lang="en-US" dirty="0">
                <a:solidFill>
                  <a:srgbClr val="222222"/>
                </a:solidFill>
                <a:latin typeface="arial" panose="020B0604020202020204" pitchFamily="34" charset="0"/>
              </a:rPr>
              <a:t> – 600 </a:t>
            </a:r>
            <a:r>
              <a:rPr lang="en-US" dirty="0" err="1">
                <a:solidFill>
                  <a:srgbClr val="222222"/>
                </a:solidFill>
                <a:latin typeface="arial" panose="020B0604020202020204" pitchFamily="34" charset="0"/>
              </a:rPr>
              <a:t>triệu</a:t>
            </a:r>
            <a:r>
              <a:rPr lang="en-US" dirty="0">
                <a:solidFill>
                  <a:srgbClr val="222222"/>
                </a:solidFill>
                <a:latin typeface="arial" panose="020B0604020202020204" pitchFamily="34" charset="0"/>
              </a:rPr>
              <a:t> USD</a:t>
            </a:r>
            <a:endParaRPr lang="en-VN" dirty="0"/>
          </a:p>
        </p:txBody>
      </p:sp>
      <p:pic>
        <p:nvPicPr>
          <p:cNvPr id="10244" name="Picture 4" descr="Fugaku">
            <a:extLst>
              <a:ext uri="{FF2B5EF4-FFF2-40B4-BE49-F238E27FC236}">
                <a16:creationId xmlns:a16="http://schemas.microsoft.com/office/drawing/2014/main" id="{9F7A9ACB-8235-452A-DAAB-A0A97CD21DF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60382" y="3492367"/>
            <a:ext cx="3480487" cy="257720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BB582862-A7C7-0E2B-F917-33E2FB292519}"/>
              </a:ext>
            </a:extLst>
          </p:cNvPr>
          <p:cNvSpPr txBox="1"/>
          <p:nvPr/>
        </p:nvSpPr>
        <p:spPr>
          <a:xfrm>
            <a:off x="4716276" y="2846035"/>
            <a:ext cx="3467680" cy="646331"/>
          </a:xfrm>
          <a:prstGeom prst="rect">
            <a:avLst/>
          </a:prstGeom>
          <a:noFill/>
        </p:spPr>
        <p:txBody>
          <a:bodyPr wrap="none" rtlCol="0">
            <a:spAutoFit/>
          </a:bodyPr>
          <a:lstStyle/>
          <a:p>
            <a:pPr algn="ctr"/>
            <a:r>
              <a:rPr lang="vi-VN" b="0" i="0" dirty="0">
                <a:effectLst/>
                <a:latin typeface="Arial" panose="020B0604020202020204" pitchFamily="34" charset="0"/>
              </a:rPr>
              <a:t>Fugaku tại Trung tâm Khoa học </a:t>
            </a:r>
          </a:p>
          <a:p>
            <a:pPr algn="ctr"/>
            <a:r>
              <a:rPr lang="vi-VN" b="0" i="0" dirty="0">
                <a:effectLst/>
                <a:latin typeface="Arial" panose="020B0604020202020204" pitchFamily="34" charset="0"/>
              </a:rPr>
              <a:t>Máy tính RIKEN (442 petaflop)</a:t>
            </a:r>
            <a:endParaRPr lang="en-VN" dirty="0"/>
          </a:p>
        </p:txBody>
      </p:sp>
      <p:pic>
        <p:nvPicPr>
          <p:cNvPr id="10246" name="Picture 6" descr="Sieu may tinh manh nhat chau Au - LUMI ra mat tai Phan Lan hinh anh 1">
            <a:extLst>
              <a:ext uri="{FF2B5EF4-FFF2-40B4-BE49-F238E27FC236}">
                <a16:creationId xmlns:a16="http://schemas.microsoft.com/office/drawing/2014/main" id="{55C6A05B-EE8C-1E76-26D2-2C455BB4E6B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48779" y="3533419"/>
            <a:ext cx="3267060" cy="253615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52D97B82-EBB4-7D4B-1962-754051807A28}"/>
              </a:ext>
            </a:extLst>
          </p:cNvPr>
          <p:cNvSpPr txBox="1"/>
          <p:nvPr/>
        </p:nvSpPr>
        <p:spPr>
          <a:xfrm>
            <a:off x="8498125" y="2803465"/>
            <a:ext cx="3168367" cy="646331"/>
          </a:xfrm>
          <a:prstGeom prst="rect">
            <a:avLst/>
          </a:prstGeom>
          <a:noFill/>
        </p:spPr>
        <p:txBody>
          <a:bodyPr wrap="none" rtlCol="0">
            <a:spAutoFit/>
          </a:bodyPr>
          <a:lstStyle/>
          <a:p>
            <a:pPr algn="ctr"/>
            <a:r>
              <a:rPr lang="en-US" b="0" i="0">
                <a:effectLst/>
                <a:latin typeface="Arial" panose="020B0604020202020204" pitchFamily="34" charset="0"/>
              </a:rPr>
              <a:t>Lumi</a:t>
            </a:r>
            <a:r>
              <a:rPr lang="vi-VN" b="0" i="0">
                <a:effectLst/>
                <a:latin typeface="Arial" panose="020B0604020202020204" pitchFamily="34" charset="0"/>
              </a:rPr>
              <a:t> </a:t>
            </a:r>
            <a:r>
              <a:rPr lang="vi-VN" b="0" i="0" dirty="0">
                <a:effectLst/>
                <a:latin typeface="Arial" panose="020B0604020202020204" pitchFamily="34" charset="0"/>
              </a:rPr>
              <a:t>tại </a:t>
            </a:r>
            <a:r>
              <a:rPr lang="en-US" b="0" i="0" dirty="0" err="1">
                <a:solidFill>
                  <a:srgbClr val="333333"/>
                </a:solidFill>
                <a:effectLst/>
                <a:latin typeface="Roboto" panose="02000000000000000000" pitchFamily="2" charset="0"/>
              </a:rPr>
              <a:t>Kajaani</a:t>
            </a:r>
            <a:r>
              <a:rPr lang="en-US" b="0" i="0" dirty="0">
                <a:solidFill>
                  <a:srgbClr val="333333"/>
                </a:solidFill>
                <a:effectLst/>
                <a:latin typeface="Roboto" panose="02000000000000000000" pitchFamily="2" charset="0"/>
              </a:rPr>
              <a:t> (</a:t>
            </a:r>
            <a:r>
              <a:rPr lang="en-US" b="0" i="0" dirty="0" err="1">
                <a:solidFill>
                  <a:srgbClr val="333333"/>
                </a:solidFill>
                <a:effectLst/>
                <a:latin typeface="Roboto" panose="02000000000000000000" pitchFamily="2" charset="0"/>
              </a:rPr>
              <a:t>Phần</a:t>
            </a:r>
            <a:r>
              <a:rPr lang="en-US" b="0" i="0" dirty="0">
                <a:solidFill>
                  <a:srgbClr val="333333"/>
                </a:solidFill>
                <a:effectLst/>
                <a:latin typeface="Roboto" panose="02000000000000000000" pitchFamily="2" charset="0"/>
              </a:rPr>
              <a:t> Lan) </a:t>
            </a:r>
          </a:p>
          <a:p>
            <a:pPr algn="ctr"/>
            <a:r>
              <a:rPr lang="vi-VN" b="0" i="0" dirty="0">
                <a:effectLst/>
                <a:latin typeface="Arial" panose="020B0604020202020204" pitchFamily="34" charset="0"/>
              </a:rPr>
              <a:t>(151,9 petaflop) 1.110.144 lõi</a:t>
            </a:r>
            <a:endParaRPr lang="en-VN" dirty="0"/>
          </a:p>
        </p:txBody>
      </p:sp>
    </p:spTree>
    <p:extLst>
      <p:ext uri="{BB962C8B-B14F-4D97-AF65-F5344CB8AC3E}">
        <p14:creationId xmlns:p14="http://schemas.microsoft.com/office/powerpoint/2010/main" val="3650715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pPr>
              <a:lnSpc>
                <a:spcPct val="90000"/>
              </a:lnSpc>
              <a:defRPr/>
            </a:pPr>
            <a:r>
              <a:rPr lang="en-US" b="1"/>
              <a:t>Máy chủ (tt)</a:t>
            </a:r>
          </a:p>
        </p:txBody>
      </p:sp>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p:txBody>
          <a:bodyPr/>
          <a:lstStyle/>
          <a:p>
            <a:r>
              <a:rPr lang="vi-VN" sz="2200" dirty="0">
                <a:hlinkClick r:id="rId2"/>
              </a:rPr>
              <a:t>Low-end servers</a:t>
            </a:r>
            <a:r>
              <a:rPr lang="vi-VN" sz="2200" dirty="0"/>
              <a:t>: Ứng dụng lưu trữ, doanh nghiệp nhỏ,  dịch </a:t>
            </a:r>
            <a:r>
              <a:rPr lang="vi-VN" sz="2200"/>
              <a:t>vụ web</a:t>
            </a:r>
            <a:r>
              <a:rPr lang="en-US" sz="2200"/>
              <a:t>.</a:t>
            </a:r>
            <a:endParaRPr lang="vi-VN" sz="2200" dirty="0"/>
          </a:p>
          <a:p>
            <a:r>
              <a:rPr lang="vi-VN" sz="2200" dirty="0">
                <a:hlinkClick r:id="rId3"/>
              </a:rPr>
              <a:t>Supercomputers</a:t>
            </a:r>
            <a:r>
              <a:rPr lang="vi-VN" sz="2200" dirty="0"/>
              <a:t>:</a:t>
            </a:r>
          </a:p>
          <a:p>
            <a:pPr lvl="1"/>
            <a:r>
              <a:rPr lang="vi-VN" sz="1800" dirty="0"/>
              <a:t>Tính toán kĩ thuật và khoa học phức tạp với hiệu năng cao nhất.</a:t>
            </a:r>
          </a:p>
          <a:p>
            <a:pPr lvl="1"/>
            <a:r>
              <a:rPr lang="vi-VN" sz="1800" dirty="0"/>
              <a:t>Hàng trăm đến hàng ngàn bộ xử lý, bộ nhớ kích cỡ gigabytes đến terabytes và khả năng lưu trữ dữ liệu terabytes đến petabytes, chi phí hàng triệu đến hàng trăm triệu đôla.</a:t>
            </a:r>
          </a:p>
          <a:p>
            <a:r>
              <a:rPr lang="vi-VN" sz="2200" dirty="0">
                <a:hlinkClick r:id="rId4"/>
              </a:rPr>
              <a:t>Datacenter</a:t>
            </a:r>
            <a:r>
              <a:rPr lang="vi-VN" sz="2200" dirty="0"/>
              <a:t>: được sử dụng bởi những công ty như eBay, Google cũng chứa hàng ngàn bộ xử lý, với bộ nhớ hàng terabytes, và khả năng lưu trữ hàng petabytes. Datacenter thường được xem như là các cụm máy tính lớn.</a:t>
            </a:r>
          </a:p>
          <a:p>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32</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pic>
        <p:nvPicPr>
          <p:cNvPr id="11266" name="Picture 2" descr="Small Business Server Buyer's Guide on STH - Q4 2012 - Low-End Server">
            <a:extLst>
              <a:ext uri="{FF2B5EF4-FFF2-40B4-BE49-F238E27FC236}">
                <a16:creationId xmlns:a16="http://schemas.microsoft.com/office/drawing/2014/main" id="{696C27B9-FE29-2792-45E2-8225C4647BD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7703" y="4342348"/>
            <a:ext cx="5233289" cy="2014000"/>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descr="Data Center of Viettel IDC - YouTube">
            <a:extLst>
              <a:ext uri="{FF2B5EF4-FFF2-40B4-BE49-F238E27FC236}">
                <a16:creationId xmlns:a16="http://schemas.microsoft.com/office/drawing/2014/main" id="{FC7CDB0B-1A07-CAE3-31A1-9F474DC3067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79046" y="4234989"/>
            <a:ext cx="3962165" cy="22287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12260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pPr>
              <a:lnSpc>
                <a:spcPct val="90000"/>
              </a:lnSpc>
              <a:defRPr/>
            </a:pPr>
            <a:r>
              <a:rPr lang="en-US" b="1"/>
              <a:t>Máy tính nhúng</a:t>
            </a:r>
            <a:endParaRPr lang="en-US" b="1" dirty="0"/>
          </a:p>
        </p:txBody>
      </p:sp>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a:xfrm>
            <a:off x="1142797" y="1195821"/>
            <a:ext cx="5517083" cy="5160527"/>
          </a:xfrm>
        </p:spPr>
        <p:txBody>
          <a:bodyPr/>
          <a:lstStyle/>
          <a:p>
            <a:r>
              <a:rPr lang="en-US" sz="2200" dirty="0"/>
              <a:t> </a:t>
            </a:r>
            <a:r>
              <a:rPr lang="vi-VN" sz="2200" dirty="0"/>
              <a:t>Kích thước nhỏ gọn, được tích hợp bên trong một thiết bị: máy giặt, xe hơi, điện thoại, …</a:t>
            </a:r>
          </a:p>
          <a:p>
            <a:r>
              <a:rPr lang="vi-VN" sz="2200" dirty="0"/>
              <a:t>Tốc độ xử lý: không cần cao (thường dưới 400 Mhz).</a:t>
            </a:r>
          </a:p>
          <a:p>
            <a:r>
              <a:rPr lang="vi-VN" sz="2200" dirty="0"/>
              <a:t>Khả năng xử lý: được tối ưu cho một số chức năng cụ thể.</a:t>
            </a:r>
          </a:p>
          <a:p>
            <a:r>
              <a:rPr lang="vi-VN" sz="2200" dirty="0"/>
              <a:t>Ví dụ: Raspberry Pi</a:t>
            </a:r>
          </a:p>
          <a:p>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33</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pic>
        <p:nvPicPr>
          <p:cNvPr id="12290" name="Picture 2" descr="Máy tính AI NVIDIA Jetson Nano Developer Kit B01 – Hshop.vn">
            <a:extLst>
              <a:ext uri="{FF2B5EF4-FFF2-40B4-BE49-F238E27FC236}">
                <a16:creationId xmlns:a16="http://schemas.microsoft.com/office/drawing/2014/main" id="{F55E74A0-80B1-BE7D-6E2A-946270395E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61189" y="119270"/>
            <a:ext cx="3925812" cy="2705248"/>
          </a:xfrm>
          <a:prstGeom prst="rect">
            <a:avLst/>
          </a:prstGeom>
          <a:noFill/>
          <a:extLst>
            <a:ext uri="{909E8E84-426E-40DD-AFC4-6F175D3DCCD1}">
              <a14:hiddenFill xmlns:a14="http://schemas.microsoft.com/office/drawing/2010/main">
                <a:solidFill>
                  <a:srgbClr val="FFFFFF"/>
                </a:solidFill>
              </a14:hiddenFill>
            </a:ext>
          </a:extLst>
        </p:spPr>
      </p:pic>
      <p:pic>
        <p:nvPicPr>
          <p:cNvPr id="12292" name="Picture 4" descr="Official Original Raspberry Pi 4 Model B Dev Board or 4b Kit(G) RAM 1GB 2GB  4GB 8GB Core CPU 1.5Ghz 3 Speeder Than Pi 3B+">
            <a:extLst>
              <a:ext uri="{FF2B5EF4-FFF2-40B4-BE49-F238E27FC236}">
                <a16:creationId xmlns:a16="http://schemas.microsoft.com/office/drawing/2014/main" id="{418D7389-7666-E27E-387C-2BEEE5BB55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1189" y="2874328"/>
            <a:ext cx="4098806" cy="3831485"/>
          </a:xfrm>
          <a:prstGeom prst="rect">
            <a:avLst/>
          </a:prstGeom>
          <a:noFill/>
          <a:extLst>
            <a:ext uri="{909E8E84-426E-40DD-AFC4-6F175D3DCCD1}">
              <a14:hiddenFill xmlns:a14="http://schemas.microsoft.com/office/drawing/2010/main">
                <a:solidFill>
                  <a:srgbClr val="FFFFFF"/>
                </a:solidFill>
              </a14:hiddenFill>
            </a:ext>
          </a:extLst>
        </p:spPr>
      </p:pic>
      <p:pic>
        <p:nvPicPr>
          <p:cNvPr id="12294" name="Picture 6" descr="IoT ESP32 Workshop">
            <a:extLst>
              <a:ext uri="{FF2B5EF4-FFF2-40B4-BE49-F238E27FC236}">
                <a16:creationId xmlns:a16="http://schemas.microsoft.com/office/drawing/2014/main" id="{8ADBDFD8-6059-A026-E4A8-9FBBEAB2587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5478" y="4320631"/>
            <a:ext cx="3775192" cy="20357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10119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2138E7-0BF8-4FBE-AB49-4184E532FD1F}"/>
              </a:ext>
            </a:extLst>
          </p:cNvPr>
          <p:cNvSpPr>
            <a:spLocks noGrp="1"/>
          </p:cNvSpPr>
          <p:nvPr>
            <p:ph type="sldNum" sz="quarter" idx="12"/>
          </p:nvPr>
        </p:nvSpPr>
        <p:spPr/>
        <p:txBody>
          <a:bodyPr/>
          <a:lstStyle/>
          <a:p>
            <a:fld id="{D8B0B3AC-44A8-D142-AAF6-9A453466E1A4}" type="slidenum">
              <a:rPr lang="en-VN" smtClean="0"/>
              <a:pPr/>
              <a:t>34</a:t>
            </a:fld>
            <a:endParaRPr lang="en-VN" dirty="0"/>
          </a:p>
        </p:txBody>
      </p:sp>
      <p:sp>
        <p:nvSpPr>
          <p:cNvPr id="7" name="Text Placeholder 6">
            <a:extLst>
              <a:ext uri="{FF2B5EF4-FFF2-40B4-BE49-F238E27FC236}">
                <a16:creationId xmlns:a16="http://schemas.microsoft.com/office/drawing/2014/main" id="{0602C380-9011-23F7-8E4B-E195C0DFFBC9}"/>
              </a:ext>
            </a:extLst>
          </p:cNvPr>
          <p:cNvSpPr>
            <a:spLocks noGrp="1"/>
          </p:cNvSpPr>
          <p:nvPr>
            <p:ph type="body" sz="quarter" idx="13"/>
          </p:nvPr>
        </p:nvSpPr>
        <p:spPr>
          <a:xfrm>
            <a:off x="1470928" y="2095027"/>
            <a:ext cx="8831311" cy="884656"/>
          </a:xfrm>
        </p:spPr>
        <p:txBody>
          <a:bodyPr>
            <a:normAutofit fontScale="85000" lnSpcReduction="10000"/>
          </a:bodyPr>
          <a:lstStyle/>
          <a:p>
            <a:r>
              <a:rPr lang="en-US" sz="4400"/>
              <a:t>Các lớp thực thi bên trong máy tính</a:t>
            </a:r>
            <a:endParaRPr lang="en-VN" dirty="0"/>
          </a:p>
        </p:txBody>
      </p:sp>
      <p:sp>
        <p:nvSpPr>
          <p:cNvPr id="8" name="Text Placeholder 7">
            <a:extLst>
              <a:ext uri="{FF2B5EF4-FFF2-40B4-BE49-F238E27FC236}">
                <a16:creationId xmlns:a16="http://schemas.microsoft.com/office/drawing/2014/main" id="{883EE24F-70E8-C3FA-399B-07DCA2C415CE}"/>
              </a:ext>
            </a:extLst>
          </p:cNvPr>
          <p:cNvSpPr>
            <a:spLocks noGrp="1"/>
          </p:cNvSpPr>
          <p:nvPr>
            <p:ph type="body" sz="quarter" idx="14"/>
          </p:nvPr>
        </p:nvSpPr>
        <p:spPr/>
        <p:txBody>
          <a:bodyPr/>
          <a:lstStyle/>
          <a:p>
            <a:endParaRPr lang="vi-VN" sz="2800" dirty="0"/>
          </a:p>
        </p:txBody>
      </p:sp>
      <p:sp>
        <p:nvSpPr>
          <p:cNvPr id="9" name="Text Placeholder 8">
            <a:extLst>
              <a:ext uri="{FF2B5EF4-FFF2-40B4-BE49-F238E27FC236}">
                <a16:creationId xmlns:a16="http://schemas.microsoft.com/office/drawing/2014/main" id="{7F04BBE0-C7C7-D804-DD85-D99BEB36007C}"/>
              </a:ext>
            </a:extLst>
          </p:cNvPr>
          <p:cNvSpPr>
            <a:spLocks noGrp="1"/>
          </p:cNvSpPr>
          <p:nvPr>
            <p:ph type="body" sz="quarter" idx="15"/>
          </p:nvPr>
        </p:nvSpPr>
        <p:spPr/>
        <p:txBody>
          <a:bodyPr/>
          <a:lstStyle/>
          <a:p>
            <a:endParaRPr lang="en-VN"/>
          </a:p>
        </p:txBody>
      </p:sp>
      <p:sp>
        <p:nvSpPr>
          <p:cNvPr id="10" name="Text Placeholder 9">
            <a:extLst>
              <a:ext uri="{FF2B5EF4-FFF2-40B4-BE49-F238E27FC236}">
                <a16:creationId xmlns:a16="http://schemas.microsoft.com/office/drawing/2014/main" id="{3C2CDC7B-AFE9-6C1F-2CD6-AA61695C23FD}"/>
              </a:ext>
            </a:extLst>
          </p:cNvPr>
          <p:cNvSpPr>
            <a:spLocks noGrp="1"/>
          </p:cNvSpPr>
          <p:nvPr>
            <p:ph type="body" sz="quarter" idx="16"/>
          </p:nvPr>
        </p:nvSpPr>
        <p:spPr/>
        <p:txBody>
          <a:bodyPr>
            <a:normAutofit lnSpcReduction="10000"/>
          </a:bodyPr>
          <a:lstStyle/>
          <a:p>
            <a:r>
              <a:rPr lang="en-VN" dirty="0"/>
              <a:t>3</a:t>
            </a:r>
          </a:p>
        </p:txBody>
      </p:sp>
    </p:spTree>
    <p:extLst>
      <p:ext uri="{BB962C8B-B14F-4D97-AF65-F5344CB8AC3E}">
        <p14:creationId xmlns:p14="http://schemas.microsoft.com/office/powerpoint/2010/main" val="30887663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r>
              <a:rPr lang="en-US" sz="4000"/>
              <a:t>Các lớp thực thi bên trong máy tính</a:t>
            </a:r>
            <a:endParaRPr lang="en-VN" dirty="0"/>
          </a:p>
        </p:txBody>
      </p:sp>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a:xfrm>
            <a:off x="1142797" y="1195821"/>
            <a:ext cx="8184083" cy="5160527"/>
          </a:xfrm>
        </p:spPr>
        <p:txBody>
          <a:bodyPr>
            <a:normAutofit/>
          </a:bodyPr>
          <a:lstStyle/>
          <a:p>
            <a:r>
              <a:rPr lang="en-US" altLang="en-US"/>
              <a:t>Phần mềm ứng dụng</a:t>
            </a:r>
          </a:p>
          <a:p>
            <a:pPr lvl="1"/>
            <a:r>
              <a:rPr lang="en-US" altLang="en-US"/>
              <a:t>Đ</a:t>
            </a:r>
            <a:r>
              <a:rPr lang="vi-VN" altLang="en-US"/>
              <a:t>ư</a:t>
            </a:r>
            <a:r>
              <a:rPr lang="en-US" altLang="en-US"/>
              <a:t>ợc viết bằng ngôn ngữ cấp cao (HLL)</a:t>
            </a:r>
          </a:p>
          <a:p>
            <a:r>
              <a:rPr lang="en-US" altLang="en-US"/>
              <a:t>Phần mềm hệ thống</a:t>
            </a:r>
          </a:p>
          <a:p>
            <a:pPr lvl="1"/>
            <a:r>
              <a:rPr lang="en-US" altLang="en-US"/>
              <a:t>Trình biên dịch: chuyển từ mã HLL sang mã máy</a:t>
            </a:r>
          </a:p>
          <a:p>
            <a:pPr lvl="1"/>
            <a:r>
              <a:rPr lang="en-US" altLang="en-US"/>
              <a:t>Hệ điều hành: Microsoft, Linux, MacOS </a:t>
            </a:r>
          </a:p>
          <a:p>
            <a:pPr lvl="2"/>
            <a:r>
              <a:rPr lang="en-US" altLang="en-US"/>
              <a:t>Xử lý nhập/xuất: bàn phím, màn hình, …</a:t>
            </a:r>
          </a:p>
          <a:p>
            <a:pPr lvl="2"/>
            <a:r>
              <a:rPr lang="en-US" altLang="en-US"/>
              <a:t>Quản lý bộ nhớ</a:t>
            </a:r>
          </a:p>
          <a:p>
            <a:pPr lvl="2"/>
            <a:r>
              <a:rPr lang="en-US" altLang="en-US"/>
              <a:t>Lập lịch và chia sẻ tài nguyên cho nhiều ch</a:t>
            </a:r>
            <a:r>
              <a:rPr lang="vi-VN" altLang="en-US"/>
              <a:t>ư</a:t>
            </a:r>
            <a:r>
              <a:rPr lang="en-US" altLang="en-US"/>
              <a:t>ơng trình chạy cùng lúc</a:t>
            </a:r>
          </a:p>
          <a:p>
            <a:r>
              <a:rPr lang="en-US" altLang="en-US"/>
              <a:t>Phần cứng</a:t>
            </a:r>
          </a:p>
          <a:p>
            <a:pPr lvl="1"/>
            <a:r>
              <a:rPr lang="en-US" altLang="en-US"/>
              <a:t>Bộ xử lý, Bộ nhớ, Các bộ điều khiển I/O</a:t>
            </a:r>
            <a:endParaRPr lang="en-US"/>
          </a:p>
          <a:p>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35</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pic>
        <p:nvPicPr>
          <p:cNvPr id="6" name="Picture 2">
            <a:extLst>
              <a:ext uri="{FF2B5EF4-FFF2-40B4-BE49-F238E27FC236}">
                <a16:creationId xmlns:a16="http://schemas.microsoft.com/office/drawing/2014/main" id="{50B510B8-6BEF-FA3E-B4AE-1F61D3ADB660}"/>
              </a:ext>
            </a:extLst>
          </p:cNvPr>
          <p:cNvPicPr>
            <a:picLocks noChangeAspect="1" noChangeArrowheads="1"/>
          </p:cNvPicPr>
          <p:nvPr/>
        </p:nvPicPr>
        <p:blipFill rotWithShape="1">
          <a:blip r:embed="rId2" cstate="print"/>
          <a:srcRect l="11111" r="18182"/>
          <a:stretch/>
        </p:blipFill>
        <p:spPr bwMode="auto">
          <a:xfrm>
            <a:off x="8758081" y="295199"/>
            <a:ext cx="3429000" cy="3705301"/>
          </a:xfrm>
          <a:prstGeom prst="rect">
            <a:avLst/>
          </a:prstGeom>
          <a:noFill/>
          <a:ln w="9525">
            <a:noFill/>
            <a:miter lim="800000"/>
            <a:headEnd/>
            <a:tailEnd/>
          </a:ln>
        </p:spPr>
      </p:pic>
    </p:spTree>
    <p:extLst>
      <p:ext uri="{BB962C8B-B14F-4D97-AF65-F5344CB8AC3E}">
        <p14:creationId xmlns:p14="http://schemas.microsoft.com/office/powerpoint/2010/main" val="9623015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r>
              <a:rPr lang="en-US" sz="4000"/>
              <a:t>Các lớp thực thi bên trong máy tính (tt)</a:t>
            </a:r>
            <a:endParaRPr lang="en-VN" dirty="0"/>
          </a:p>
        </p:txBody>
      </p:sp>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a:xfrm>
            <a:off x="1142797" y="1195821"/>
            <a:ext cx="5799023" cy="5160527"/>
          </a:xfrm>
        </p:spPr>
        <p:txBody>
          <a:bodyPr>
            <a:normAutofit/>
          </a:bodyPr>
          <a:lstStyle/>
          <a:p>
            <a:pPr>
              <a:lnSpc>
                <a:spcPct val="90000"/>
              </a:lnSpc>
            </a:pPr>
            <a:r>
              <a:rPr lang="en-US" altLang="en-US"/>
              <a:t>Ngôn ngữ cấp cao</a:t>
            </a:r>
          </a:p>
          <a:p>
            <a:pPr lvl="1">
              <a:lnSpc>
                <a:spcPct val="90000"/>
              </a:lnSpc>
            </a:pPr>
            <a:r>
              <a:rPr lang="en-US" altLang="en-US"/>
              <a:t>Gần ngôn ngữ tự nhiên của con ng</a:t>
            </a:r>
            <a:r>
              <a:rPr lang="vi-VN" altLang="en-US"/>
              <a:t>ư</a:t>
            </a:r>
            <a:r>
              <a:rPr lang="en-US" altLang="en-US"/>
              <a:t>ời</a:t>
            </a:r>
          </a:p>
          <a:p>
            <a:pPr lvl="1">
              <a:lnSpc>
                <a:spcPct val="90000"/>
              </a:lnSpc>
            </a:pPr>
            <a:r>
              <a:rPr lang="en-US" altLang="en-US"/>
              <a:t>Tốc độ viết nhanh và linh động trong việc sửa chữa</a:t>
            </a:r>
            <a:endParaRPr lang="en-AU" altLang="en-US"/>
          </a:p>
          <a:p>
            <a:pPr>
              <a:lnSpc>
                <a:spcPct val="90000"/>
              </a:lnSpc>
            </a:pPr>
            <a:r>
              <a:rPr lang="en-US" altLang="en-US"/>
              <a:t>Hợp ngữ (Assembly)</a:t>
            </a:r>
          </a:p>
          <a:p>
            <a:pPr lvl="1">
              <a:lnSpc>
                <a:spcPct val="90000"/>
              </a:lnSpc>
            </a:pPr>
            <a:r>
              <a:rPr lang="en-US" altLang="en-US"/>
              <a:t>Sử dụng các từ gợi nhớ thay cho các mã máy</a:t>
            </a:r>
          </a:p>
          <a:p>
            <a:pPr>
              <a:lnSpc>
                <a:spcPct val="90000"/>
              </a:lnSpc>
            </a:pPr>
            <a:r>
              <a:rPr lang="en-US" altLang="en-US"/>
              <a:t>Mã máy (Machine code)</a:t>
            </a:r>
          </a:p>
          <a:p>
            <a:pPr lvl="1">
              <a:lnSpc>
                <a:spcPct val="90000"/>
              </a:lnSpc>
            </a:pPr>
            <a:r>
              <a:rPr lang="en-US" altLang="en-US"/>
              <a:t>Nhị phân (bits)</a:t>
            </a:r>
          </a:p>
          <a:p>
            <a:pPr lvl="1">
              <a:lnSpc>
                <a:spcPct val="90000"/>
              </a:lnSpc>
            </a:pPr>
            <a:r>
              <a:rPr lang="en-US" altLang="en-US"/>
              <a:t>Mã hóa lệnh và dữ liệu</a:t>
            </a:r>
            <a:endParaRPr lang="en-US"/>
          </a:p>
          <a:p>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36</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pic>
        <p:nvPicPr>
          <p:cNvPr id="7" name="Picture 2">
            <a:extLst>
              <a:ext uri="{FF2B5EF4-FFF2-40B4-BE49-F238E27FC236}">
                <a16:creationId xmlns:a16="http://schemas.microsoft.com/office/drawing/2014/main" id="{E3E242AE-2491-A7DA-F392-6F4D745F4B3A}"/>
              </a:ext>
            </a:extLst>
          </p:cNvPr>
          <p:cNvPicPr>
            <a:picLocks noChangeAspect="1" noChangeArrowheads="1"/>
          </p:cNvPicPr>
          <p:nvPr/>
        </p:nvPicPr>
        <p:blipFill>
          <a:blip r:embed="rId2" cstate="print"/>
          <a:srcRect/>
          <a:stretch>
            <a:fillRect/>
          </a:stretch>
        </p:blipFill>
        <p:spPr bwMode="auto">
          <a:xfrm>
            <a:off x="7757160" y="1045751"/>
            <a:ext cx="3575810" cy="5173927"/>
          </a:xfrm>
          <a:prstGeom prst="rect">
            <a:avLst/>
          </a:prstGeom>
          <a:noFill/>
          <a:ln w="9525">
            <a:noFill/>
            <a:miter lim="800000"/>
            <a:headEnd/>
            <a:tailEnd/>
          </a:ln>
        </p:spPr>
      </p:pic>
    </p:spTree>
    <p:extLst>
      <p:ext uri="{BB962C8B-B14F-4D97-AF65-F5344CB8AC3E}">
        <p14:creationId xmlns:p14="http://schemas.microsoft.com/office/powerpoint/2010/main" val="776449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2138E7-0BF8-4FBE-AB49-4184E532FD1F}"/>
              </a:ext>
            </a:extLst>
          </p:cNvPr>
          <p:cNvSpPr>
            <a:spLocks noGrp="1"/>
          </p:cNvSpPr>
          <p:nvPr>
            <p:ph type="sldNum" sz="quarter" idx="12"/>
          </p:nvPr>
        </p:nvSpPr>
        <p:spPr/>
        <p:txBody>
          <a:bodyPr/>
          <a:lstStyle/>
          <a:p>
            <a:fld id="{D8B0B3AC-44A8-D142-AAF6-9A453466E1A4}" type="slidenum">
              <a:rPr lang="en-VN" smtClean="0"/>
              <a:pPr/>
              <a:t>37</a:t>
            </a:fld>
            <a:endParaRPr lang="en-VN" dirty="0"/>
          </a:p>
        </p:txBody>
      </p:sp>
      <p:sp>
        <p:nvSpPr>
          <p:cNvPr id="7" name="Text Placeholder 6">
            <a:extLst>
              <a:ext uri="{FF2B5EF4-FFF2-40B4-BE49-F238E27FC236}">
                <a16:creationId xmlns:a16="http://schemas.microsoft.com/office/drawing/2014/main" id="{0602C380-9011-23F7-8E4B-E195C0DFFBC9}"/>
              </a:ext>
            </a:extLst>
          </p:cNvPr>
          <p:cNvSpPr>
            <a:spLocks noGrp="1"/>
          </p:cNvSpPr>
          <p:nvPr>
            <p:ph type="body" sz="quarter" idx="13"/>
          </p:nvPr>
        </p:nvSpPr>
        <p:spPr>
          <a:xfrm>
            <a:off x="1470928" y="2095027"/>
            <a:ext cx="8526511" cy="884656"/>
          </a:xfrm>
        </p:spPr>
        <p:txBody>
          <a:bodyPr>
            <a:normAutofit fontScale="77500" lnSpcReduction="20000"/>
          </a:bodyPr>
          <a:lstStyle/>
          <a:p>
            <a:r>
              <a:rPr lang="en-US"/>
              <a:t>Các thành phần c</a:t>
            </a:r>
            <a:r>
              <a:rPr lang="vi-VN"/>
              <a:t>ơ</a:t>
            </a:r>
            <a:r>
              <a:rPr lang="en-US"/>
              <a:t> bản của máy tính</a:t>
            </a:r>
            <a:endParaRPr lang="en-VN" dirty="0"/>
          </a:p>
        </p:txBody>
      </p:sp>
      <p:sp>
        <p:nvSpPr>
          <p:cNvPr id="8" name="Text Placeholder 7">
            <a:extLst>
              <a:ext uri="{FF2B5EF4-FFF2-40B4-BE49-F238E27FC236}">
                <a16:creationId xmlns:a16="http://schemas.microsoft.com/office/drawing/2014/main" id="{883EE24F-70E8-C3FA-399B-07DCA2C415CE}"/>
              </a:ext>
            </a:extLst>
          </p:cNvPr>
          <p:cNvSpPr>
            <a:spLocks noGrp="1"/>
          </p:cNvSpPr>
          <p:nvPr>
            <p:ph type="body" sz="quarter" idx="14"/>
          </p:nvPr>
        </p:nvSpPr>
        <p:spPr/>
        <p:txBody>
          <a:bodyPr/>
          <a:lstStyle/>
          <a:p>
            <a:endParaRPr lang="vi-VN" sz="2800" dirty="0"/>
          </a:p>
        </p:txBody>
      </p:sp>
      <p:sp>
        <p:nvSpPr>
          <p:cNvPr id="9" name="Text Placeholder 8">
            <a:extLst>
              <a:ext uri="{FF2B5EF4-FFF2-40B4-BE49-F238E27FC236}">
                <a16:creationId xmlns:a16="http://schemas.microsoft.com/office/drawing/2014/main" id="{7F04BBE0-C7C7-D804-DD85-D99BEB36007C}"/>
              </a:ext>
            </a:extLst>
          </p:cNvPr>
          <p:cNvSpPr>
            <a:spLocks noGrp="1"/>
          </p:cNvSpPr>
          <p:nvPr>
            <p:ph type="body" sz="quarter" idx="15"/>
          </p:nvPr>
        </p:nvSpPr>
        <p:spPr/>
        <p:txBody>
          <a:bodyPr/>
          <a:lstStyle/>
          <a:p>
            <a:endParaRPr lang="en-VN"/>
          </a:p>
        </p:txBody>
      </p:sp>
      <p:sp>
        <p:nvSpPr>
          <p:cNvPr id="10" name="Text Placeholder 9">
            <a:extLst>
              <a:ext uri="{FF2B5EF4-FFF2-40B4-BE49-F238E27FC236}">
                <a16:creationId xmlns:a16="http://schemas.microsoft.com/office/drawing/2014/main" id="{3C2CDC7B-AFE9-6C1F-2CD6-AA61695C23FD}"/>
              </a:ext>
            </a:extLst>
          </p:cNvPr>
          <p:cNvSpPr>
            <a:spLocks noGrp="1"/>
          </p:cNvSpPr>
          <p:nvPr>
            <p:ph type="body" sz="quarter" idx="16"/>
          </p:nvPr>
        </p:nvSpPr>
        <p:spPr/>
        <p:txBody>
          <a:bodyPr>
            <a:normAutofit lnSpcReduction="10000"/>
          </a:bodyPr>
          <a:lstStyle/>
          <a:p>
            <a:r>
              <a:rPr lang="en-VN" dirty="0"/>
              <a:t>4</a:t>
            </a:r>
          </a:p>
        </p:txBody>
      </p:sp>
    </p:spTree>
    <p:extLst>
      <p:ext uri="{BB962C8B-B14F-4D97-AF65-F5344CB8AC3E}">
        <p14:creationId xmlns:p14="http://schemas.microsoft.com/office/powerpoint/2010/main" val="13297138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r>
              <a:rPr lang="en-US"/>
              <a:t>Các thành phần c</a:t>
            </a:r>
            <a:r>
              <a:rPr lang="vi-VN"/>
              <a:t>ơ</a:t>
            </a:r>
            <a:r>
              <a:rPr lang="en-US"/>
              <a:t> bản của máy tính</a:t>
            </a:r>
            <a:endParaRPr lang="en-VN" dirty="0"/>
          </a:p>
        </p:txBody>
      </p:sp>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a:xfrm>
            <a:off x="1142797" y="1195821"/>
            <a:ext cx="4488383" cy="5160527"/>
          </a:xfrm>
        </p:spPr>
        <p:txBody>
          <a:bodyPr>
            <a:noAutofit/>
          </a:bodyPr>
          <a:lstStyle/>
          <a:p>
            <a:r>
              <a:rPr lang="vi-VN" sz="2600"/>
              <a:t>Ngõ nhập (input) ghi dữ liệu vào bộ nhớ và ngõ xuất (output) đọc dữ liệu ra từ bộ nhớ. </a:t>
            </a:r>
          </a:p>
          <a:p>
            <a:r>
              <a:rPr lang="vi-VN" sz="2600"/>
              <a:t>Bộ nhớ (Memory): Lưu trữ chương trình đang chạy và dữ liệu cần bởi chương trình đó.</a:t>
            </a:r>
          </a:p>
          <a:p>
            <a:r>
              <a:rPr lang="vi-VN" sz="2600"/>
              <a:t>Bộ xử lý (Processor): Nhận lệnh và dữ liệu từ bộ nhớ để xử lý. </a:t>
            </a:r>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38</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pic>
        <p:nvPicPr>
          <p:cNvPr id="6" name="Picture 2">
            <a:extLst>
              <a:ext uri="{FF2B5EF4-FFF2-40B4-BE49-F238E27FC236}">
                <a16:creationId xmlns:a16="http://schemas.microsoft.com/office/drawing/2014/main" id="{F7342FCC-A871-82DE-2198-D3DE6B618B61}"/>
              </a:ext>
            </a:extLst>
          </p:cNvPr>
          <p:cNvPicPr>
            <a:picLocks noChangeAspect="1" noChangeArrowheads="1"/>
          </p:cNvPicPr>
          <p:nvPr/>
        </p:nvPicPr>
        <p:blipFill>
          <a:blip r:embed="rId2" cstate="print"/>
          <a:srcRect/>
          <a:stretch>
            <a:fillRect/>
          </a:stretch>
        </p:blipFill>
        <p:spPr bwMode="auto">
          <a:xfrm>
            <a:off x="6096000" y="960120"/>
            <a:ext cx="5705475" cy="4486275"/>
          </a:xfrm>
          <a:prstGeom prst="rect">
            <a:avLst/>
          </a:prstGeom>
          <a:noFill/>
          <a:ln w="9525">
            <a:noFill/>
            <a:miter lim="800000"/>
            <a:headEnd/>
            <a:tailEnd/>
          </a:ln>
        </p:spPr>
      </p:pic>
    </p:spTree>
    <p:extLst>
      <p:ext uri="{BB962C8B-B14F-4D97-AF65-F5344CB8AC3E}">
        <p14:creationId xmlns:p14="http://schemas.microsoft.com/office/powerpoint/2010/main" val="18999573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r>
              <a:rPr lang="en-US"/>
              <a:t>Các thành phần c</a:t>
            </a:r>
            <a:r>
              <a:rPr lang="vi-VN"/>
              <a:t>ơ</a:t>
            </a:r>
            <a:r>
              <a:rPr lang="en-US"/>
              <a:t> bản của máy tính</a:t>
            </a:r>
            <a:endParaRPr lang="en-VN" dirty="0"/>
          </a:p>
        </p:txBody>
      </p:sp>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a:xfrm>
            <a:off x="1142797" y="1195821"/>
            <a:ext cx="4488383" cy="5160527"/>
          </a:xfrm>
        </p:spPr>
        <p:txBody>
          <a:bodyPr>
            <a:noAutofit/>
          </a:bodyPr>
          <a:lstStyle/>
          <a:p>
            <a:pPr marL="0" indent="0">
              <a:buNone/>
            </a:pPr>
            <a:r>
              <a:rPr lang="vi-VN" sz="2600" dirty="0"/>
              <a:t>Bộ xử lý (Processor)</a:t>
            </a:r>
          </a:p>
          <a:p>
            <a:r>
              <a:rPr lang="vi-VN" sz="2600" dirty="0"/>
              <a:t>Khối đường dữ liệu (Datapath)</a:t>
            </a:r>
          </a:p>
          <a:p>
            <a:pPr lvl="1"/>
            <a:r>
              <a:rPr lang="vi-VN" sz="2200" dirty="0"/>
              <a:t>Tính toán</a:t>
            </a:r>
          </a:p>
          <a:p>
            <a:r>
              <a:rPr lang="vi-VN" sz="2600" dirty="0"/>
              <a:t>Khối điều khiển (Controller)</a:t>
            </a:r>
          </a:p>
          <a:p>
            <a:pPr lvl="1"/>
            <a:r>
              <a:rPr lang="vi-VN" sz="2200" dirty="0"/>
              <a:t>Điều khiển Datapath, Bộ nhớ và I/</a:t>
            </a:r>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39</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pic>
        <p:nvPicPr>
          <p:cNvPr id="7" name="Picture 6">
            <a:extLst>
              <a:ext uri="{FF2B5EF4-FFF2-40B4-BE49-F238E27FC236}">
                <a16:creationId xmlns:a16="http://schemas.microsoft.com/office/drawing/2014/main" id="{85F31053-4F64-C13C-3480-C12BBBDFE210}"/>
              </a:ext>
            </a:extLst>
          </p:cNvPr>
          <p:cNvPicPr>
            <a:picLocks noChangeAspect="1"/>
          </p:cNvPicPr>
          <p:nvPr/>
        </p:nvPicPr>
        <p:blipFill>
          <a:blip r:embed="rId2"/>
          <a:stretch>
            <a:fillRect/>
          </a:stretch>
        </p:blipFill>
        <p:spPr>
          <a:xfrm>
            <a:off x="5776270" y="1195821"/>
            <a:ext cx="6119211" cy="4766220"/>
          </a:xfrm>
          <a:prstGeom prst="rect">
            <a:avLst/>
          </a:prstGeom>
        </p:spPr>
      </p:pic>
    </p:spTree>
    <p:extLst>
      <p:ext uri="{BB962C8B-B14F-4D97-AF65-F5344CB8AC3E}">
        <p14:creationId xmlns:p14="http://schemas.microsoft.com/office/powerpoint/2010/main" val="32282073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r>
              <a:rPr lang="en-US"/>
              <a:t>Các thành phần c</a:t>
            </a:r>
            <a:r>
              <a:rPr lang="vi-VN"/>
              <a:t>ơ</a:t>
            </a:r>
            <a:r>
              <a:rPr lang="en-US"/>
              <a:t> bản của máy tính (tt)</a:t>
            </a:r>
            <a:endParaRPr lang="en-VN" dirty="0"/>
          </a:p>
        </p:txBody>
      </p:sp>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a:xfrm>
            <a:off x="1142797" y="1195821"/>
            <a:ext cx="5418023" cy="5160527"/>
          </a:xfrm>
        </p:spPr>
        <p:txBody>
          <a:bodyPr>
            <a:noAutofit/>
          </a:bodyPr>
          <a:lstStyle/>
          <a:p>
            <a:r>
              <a:rPr lang="vi-VN" sz="2600"/>
              <a:t>Thùng máy (Case) chứa bộ xử lý và các thiết bị I/O khác</a:t>
            </a:r>
          </a:p>
          <a:p>
            <a:r>
              <a:rPr lang="vi-VN" sz="2600"/>
              <a:t>Các thành phần ngoại vi (peripherals hoặc I/O) thường gặp của máy tính gồm:</a:t>
            </a:r>
          </a:p>
          <a:p>
            <a:r>
              <a:rPr lang="vi-VN" sz="2600"/>
              <a:t>Thiết bị nhập (Input device): chuột (mouse), bàn phím (keyboard)</a:t>
            </a:r>
          </a:p>
          <a:p>
            <a:r>
              <a:rPr lang="vi-VN" sz="2600"/>
              <a:t> Thiết bị xuất (Output device): màn hình (screen)</a:t>
            </a:r>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40</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pic>
        <p:nvPicPr>
          <p:cNvPr id="7" name="Picture 2">
            <a:extLst>
              <a:ext uri="{FF2B5EF4-FFF2-40B4-BE49-F238E27FC236}">
                <a16:creationId xmlns:a16="http://schemas.microsoft.com/office/drawing/2014/main" id="{35FE0598-D9F0-B96D-B8E3-5B8E89052C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44407" y="1696218"/>
            <a:ext cx="5547593" cy="41597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33081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r>
              <a:rPr lang="en-US"/>
              <a:t>Các thành phần c</a:t>
            </a:r>
            <a:r>
              <a:rPr lang="vi-VN"/>
              <a:t>ơ</a:t>
            </a:r>
            <a:r>
              <a:rPr lang="en-US"/>
              <a:t> bản của máy tính (tt)</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41</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9" name="TextBox 8">
            <a:extLst>
              <a:ext uri="{FF2B5EF4-FFF2-40B4-BE49-F238E27FC236}">
                <a16:creationId xmlns:a16="http://schemas.microsoft.com/office/drawing/2014/main" id="{424C7339-452D-044B-F3E9-32826BA47B79}"/>
              </a:ext>
            </a:extLst>
          </p:cNvPr>
          <p:cNvSpPr txBox="1"/>
          <p:nvPr/>
        </p:nvSpPr>
        <p:spPr>
          <a:xfrm>
            <a:off x="859483" y="5446414"/>
            <a:ext cx="3999813" cy="523220"/>
          </a:xfrm>
          <a:prstGeom prst="rect">
            <a:avLst/>
          </a:prstGeom>
          <a:noFill/>
        </p:spPr>
        <p:txBody>
          <a:bodyPr wrap="none">
            <a:spAutoFit/>
          </a:bodyPr>
          <a:lstStyle/>
          <a:p>
            <a:pPr>
              <a:defRPr/>
            </a:pPr>
            <a:r>
              <a:rPr lang="en-US" sz="2800" dirty="0" err="1">
                <a:latin typeface="+mn-lt"/>
              </a:rPr>
              <a:t>Bên</a:t>
            </a:r>
            <a:r>
              <a:rPr lang="en-US" sz="2800" dirty="0">
                <a:latin typeface="+mn-lt"/>
              </a:rPr>
              <a:t> </a:t>
            </a:r>
            <a:r>
              <a:rPr lang="en-US" sz="2800" dirty="0" err="1">
                <a:latin typeface="+mn-lt"/>
              </a:rPr>
              <a:t>trong</a:t>
            </a:r>
            <a:r>
              <a:rPr lang="en-US" sz="2800" dirty="0">
                <a:latin typeface="+mn-lt"/>
              </a:rPr>
              <a:t> </a:t>
            </a:r>
            <a:r>
              <a:rPr lang="en-US" sz="2800" dirty="0" err="1">
                <a:latin typeface="+mn-lt"/>
              </a:rPr>
              <a:t>máy</a:t>
            </a:r>
            <a:r>
              <a:rPr lang="en-US" sz="2800" dirty="0">
                <a:latin typeface="+mn-lt"/>
              </a:rPr>
              <a:t> </a:t>
            </a:r>
            <a:r>
              <a:rPr lang="en-US" sz="2800" dirty="0" err="1">
                <a:latin typeface="+mn-lt"/>
              </a:rPr>
              <a:t>tính</a:t>
            </a:r>
            <a:r>
              <a:rPr lang="en-US" sz="2800" dirty="0">
                <a:latin typeface="+mn-lt"/>
              </a:rPr>
              <a:t> </a:t>
            </a:r>
            <a:r>
              <a:rPr lang="en-US" sz="2800" dirty="0" err="1">
                <a:latin typeface="+mn-lt"/>
              </a:rPr>
              <a:t>để</a:t>
            </a:r>
            <a:r>
              <a:rPr lang="en-US" sz="2800" dirty="0">
                <a:latin typeface="+mn-lt"/>
              </a:rPr>
              <a:t> </a:t>
            </a:r>
            <a:r>
              <a:rPr lang="en-US" sz="2800" dirty="0" err="1">
                <a:latin typeface="+mn-lt"/>
              </a:rPr>
              <a:t>bàn</a:t>
            </a:r>
            <a:endParaRPr lang="en-US" sz="2800" dirty="0">
              <a:latin typeface="+mn-lt"/>
            </a:endParaRPr>
          </a:p>
        </p:txBody>
      </p:sp>
      <p:pic>
        <p:nvPicPr>
          <p:cNvPr id="10" name="Picture 2" descr="Káº¿t quáº£ hÃ¬nh áº£nh cho cÃ¡c bá» pháº­n trong case mÃ¡y tÃ­nh">
            <a:extLst>
              <a:ext uri="{FF2B5EF4-FFF2-40B4-BE49-F238E27FC236}">
                <a16:creationId xmlns:a16="http://schemas.microsoft.com/office/drawing/2014/main" id="{DCE10B7E-D5B4-6E8A-104E-E2DAC6C8BB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7240" y="1116084"/>
            <a:ext cx="4164301" cy="357021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Káº¿t quáº£ hÃ¬nh áº£nh cho cÃ¡c bá» pháº­n trong case mÃ¡y tÃ­nh">
            <a:extLst>
              <a:ext uri="{FF2B5EF4-FFF2-40B4-BE49-F238E27FC236}">
                <a16:creationId xmlns:a16="http://schemas.microsoft.com/office/drawing/2014/main" id="{F0EFFC02-6AB6-E5B2-2FDE-D583652B47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9057" y="2142713"/>
            <a:ext cx="6149340" cy="39031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98892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r>
              <a:rPr lang="en-US"/>
              <a:t>Các thành phần c</a:t>
            </a:r>
            <a:r>
              <a:rPr lang="vi-VN"/>
              <a:t>ơ</a:t>
            </a:r>
            <a:r>
              <a:rPr lang="en-US"/>
              <a:t> bản của máy tính (tt)</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42</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9" name="TextBox 8">
            <a:extLst>
              <a:ext uri="{FF2B5EF4-FFF2-40B4-BE49-F238E27FC236}">
                <a16:creationId xmlns:a16="http://schemas.microsoft.com/office/drawing/2014/main" id="{424C7339-452D-044B-F3E9-32826BA47B79}"/>
              </a:ext>
            </a:extLst>
          </p:cNvPr>
          <p:cNvSpPr txBox="1"/>
          <p:nvPr/>
        </p:nvSpPr>
        <p:spPr>
          <a:xfrm>
            <a:off x="760628" y="1925974"/>
            <a:ext cx="4240776" cy="523220"/>
          </a:xfrm>
          <a:prstGeom prst="rect">
            <a:avLst/>
          </a:prstGeom>
          <a:noFill/>
        </p:spPr>
        <p:txBody>
          <a:bodyPr wrap="none">
            <a:spAutoFit/>
          </a:bodyPr>
          <a:lstStyle/>
          <a:p>
            <a:pPr>
              <a:defRPr/>
            </a:pPr>
            <a:r>
              <a:rPr lang="en-US" sz="2800" dirty="0" err="1">
                <a:latin typeface="+mn-lt"/>
              </a:rPr>
              <a:t>Bên</a:t>
            </a:r>
            <a:r>
              <a:rPr lang="en-US" sz="2800" dirty="0">
                <a:latin typeface="+mn-lt"/>
              </a:rPr>
              <a:t> </a:t>
            </a:r>
            <a:r>
              <a:rPr lang="en-US" sz="2800" dirty="0" err="1">
                <a:latin typeface="+mn-lt"/>
              </a:rPr>
              <a:t>trong</a:t>
            </a:r>
            <a:r>
              <a:rPr lang="en-US" sz="2800" dirty="0">
                <a:latin typeface="+mn-lt"/>
              </a:rPr>
              <a:t> </a:t>
            </a:r>
            <a:r>
              <a:rPr lang="en-US" sz="2800" dirty="0" err="1">
                <a:latin typeface="+mn-lt"/>
              </a:rPr>
              <a:t>máy</a:t>
            </a:r>
            <a:r>
              <a:rPr lang="en-US" sz="2800" dirty="0">
                <a:latin typeface="+mn-lt"/>
              </a:rPr>
              <a:t> </a:t>
            </a:r>
            <a:r>
              <a:rPr lang="en-US" sz="2800" err="1">
                <a:latin typeface="+mn-lt"/>
              </a:rPr>
              <a:t>tính</a:t>
            </a:r>
            <a:r>
              <a:rPr lang="en-US" sz="2800">
                <a:latin typeface="+mn-lt"/>
              </a:rPr>
              <a:t> xách tay</a:t>
            </a:r>
            <a:endParaRPr lang="en-US" sz="2800" dirty="0">
              <a:latin typeface="+mn-lt"/>
            </a:endParaRPr>
          </a:p>
        </p:txBody>
      </p:sp>
      <p:pic>
        <p:nvPicPr>
          <p:cNvPr id="3" name="Picture 2" descr="Káº¿t quáº£ hÃ¬nh áº£nh cho hardware components of laptop">
            <a:extLst>
              <a:ext uri="{FF2B5EF4-FFF2-40B4-BE49-F238E27FC236}">
                <a16:creationId xmlns:a16="http://schemas.microsoft.com/office/drawing/2014/main" id="{DC13EA3E-0CD1-A863-F375-9B4E21D40B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51120" y="960893"/>
            <a:ext cx="6583680" cy="5514727"/>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Máy tính laptop Dell giá rẻ, trả góp 04/2023 - Thegioididong.com">
            <a:extLst>
              <a:ext uri="{FF2B5EF4-FFF2-40B4-BE49-F238E27FC236}">
                <a16:creationId xmlns:a16="http://schemas.microsoft.com/office/drawing/2014/main" id="{2174A4FB-B786-FF1A-32AE-528E0EC2F5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9963" y="3441067"/>
            <a:ext cx="4111441" cy="27409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1406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pPr algn="just" eaLnBrk="1" hangingPunct="1">
              <a:lnSpc>
                <a:spcPct val="90000"/>
              </a:lnSpc>
              <a:spcAft>
                <a:spcPts val="1000"/>
              </a:spcAft>
              <a:defRPr/>
            </a:pPr>
            <a:r>
              <a:rPr lang="en-US" b="1"/>
              <a:t>Bên trong thùng máy</a:t>
            </a:r>
            <a:endParaRPr lang="en-US" b="1" dirty="0"/>
          </a:p>
        </p:txBody>
      </p:sp>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p:txBody>
          <a:bodyPr>
            <a:normAutofit fontScale="92500" lnSpcReduction="10000"/>
          </a:bodyPr>
          <a:lstStyle/>
          <a:p>
            <a:r>
              <a:rPr lang="vi-VN"/>
              <a:t>Board mạch chủ (Mother-board/Main-board): Là một bảng mạch bằng plastic, chứa các khối mạch tích hợp (Integrated circuits hay chips), gồm có bộ xử lý, cache, bộ nhớ và kết nối cho các thiết bị I/O.</a:t>
            </a:r>
          </a:p>
          <a:p>
            <a:pPr lvl="1"/>
            <a:r>
              <a:rPr lang="vi-VN"/>
              <a:t>Mạch tích hợp (Integrated circuits): Còn được gọi là chip, chứa đựng hàng chục đến hàng triệu transistors.</a:t>
            </a:r>
          </a:p>
          <a:p>
            <a:r>
              <a:rPr lang="vi-VN"/>
              <a:t>Bộ nhớ (Memory): Là vùng lưu trữ chứa đựng chương trình đang chạy và chứa dữ liệu mà chương trình đang chạy cần dùng</a:t>
            </a:r>
          </a:p>
          <a:p>
            <a:pPr lvl="1"/>
            <a:r>
              <a:rPr lang="vi-VN"/>
              <a:t>RAM (Random access memory): Khác với các bộ nhớ truy cập tuần tự, như đĩa từ (magnetic tapes - sequential access memory),  thời gian truy cập vào bất kì vị trí nào trong bộ nhớ RAM cơ bản là như nhau.</a:t>
            </a:r>
          </a:p>
          <a:p>
            <a:pPr lvl="1"/>
            <a:r>
              <a:rPr lang="vi-VN"/>
              <a:t>DRAM (Dynamic random access memory), SRAM (Static random access memory ), flash.</a:t>
            </a:r>
          </a:p>
          <a:p>
            <a:pPr lvl="1"/>
            <a:r>
              <a:rPr lang="vi-VN"/>
              <a:t>DIMM (dual inline memory module): Một board nhỏ chứa chip DRAM trên cả hai mặt của board. SIMM (single inline memory module) có DRAM chỉ trên một mặt.</a:t>
            </a:r>
            <a:endParaRPr lang="vi-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43</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Tree>
    <p:extLst>
      <p:ext uri="{BB962C8B-B14F-4D97-AF65-F5344CB8AC3E}">
        <p14:creationId xmlns:p14="http://schemas.microsoft.com/office/powerpoint/2010/main" val="29387739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pPr algn="just" eaLnBrk="1" hangingPunct="1">
              <a:lnSpc>
                <a:spcPct val="90000"/>
              </a:lnSpc>
              <a:spcAft>
                <a:spcPts val="1000"/>
              </a:spcAft>
              <a:defRPr/>
            </a:pPr>
            <a:r>
              <a:rPr lang="en-US" b="1" dirty="0" err="1"/>
              <a:t>Phân</a:t>
            </a:r>
            <a:r>
              <a:rPr lang="en-US" b="1" dirty="0"/>
              <a:t> </a:t>
            </a:r>
            <a:r>
              <a:rPr lang="en-US" b="1" dirty="0" err="1"/>
              <a:t>cấp</a:t>
            </a:r>
            <a:r>
              <a:rPr lang="en-US" b="1" dirty="0"/>
              <a:t> bộ </a:t>
            </a:r>
            <a:r>
              <a:rPr lang="en-US" b="1" dirty="0" err="1"/>
              <a:t>nhớ</a:t>
            </a:r>
            <a:endParaRPr lang="en-US" b="1"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44</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pic>
        <p:nvPicPr>
          <p:cNvPr id="8" name="Picture 2">
            <a:extLst>
              <a:ext uri="{FF2B5EF4-FFF2-40B4-BE49-F238E27FC236}">
                <a16:creationId xmlns:a16="http://schemas.microsoft.com/office/drawing/2014/main" id="{05081388-8EEF-C8CB-174C-1BB5DF60E7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51768" y="1045751"/>
            <a:ext cx="6705600" cy="527157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Káº¿t quáº£ hÃ¬nh áº£nh cho ssd hdd">
            <a:extLst>
              <a:ext uri="{FF2B5EF4-FFF2-40B4-BE49-F238E27FC236}">
                <a16:creationId xmlns:a16="http://schemas.microsoft.com/office/drawing/2014/main" id="{900B5E9F-174A-BF92-F410-7F4B8A940D9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92314" y="934816"/>
            <a:ext cx="3032143" cy="1940361"/>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Straight Arrow Connector 9">
            <a:extLst>
              <a:ext uri="{FF2B5EF4-FFF2-40B4-BE49-F238E27FC236}">
                <a16:creationId xmlns:a16="http://schemas.microsoft.com/office/drawing/2014/main" id="{164068D7-216D-2202-4E40-F710B59C84F5}"/>
              </a:ext>
            </a:extLst>
          </p:cNvPr>
          <p:cNvCxnSpPr/>
          <p:nvPr/>
        </p:nvCxnSpPr>
        <p:spPr>
          <a:xfrm flipV="1">
            <a:off x="7043057" y="2992216"/>
            <a:ext cx="1752600" cy="175260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290758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pPr algn="just" eaLnBrk="1" hangingPunct="1">
              <a:lnSpc>
                <a:spcPct val="90000"/>
              </a:lnSpc>
              <a:spcAft>
                <a:spcPts val="1000"/>
              </a:spcAft>
              <a:defRPr/>
            </a:pPr>
            <a:r>
              <a:rPr lang="en-US" b="1" dirty="0" err="1"/>
              <a:t>Bên</a:t>
            </a:r>
            <a:r>
              <a:rPr lang="en-US" b="1" dirty="0"/>
              <a:t> </a:t>
            </a:r>
            <a:r>
              <a:rPr lang="en-US" b="1" dirty="0" err="1"/>
              <a:t>trong</a:t>
            </a:r>
            <a:r>
              <a:rPr lang="en-US" b="1" dirty="0"/>
              <a:t> </a:t>
            </a:r>
            <a:r>
              <a:rPr lang="en-US" b="1" dirty="0" err="1"/>
              <a:t>thùng</a:t>
            </a:r>
            <a:r>
              <a:rPr lang="en-US" b="1" dirty="0"/>
              <a:t> </a:t>
            </a:r>
            <a:r>
              <a:rPr lang="en-US" b="1" dirty="0" err="1"/>
              <a:t>máy</a:t>
            </a:r>
            <a:r>
              <a:rPr lang="en-US" b="1" dirty="0"/>
              <a:t> (</a:t>
            </a:r>
            <a:r>
              <a:rPr lang="en-US" b="1" dirty="0" err="1"/>
              <a:t>tt</a:t>
            </a:r>
            <a:r>
              <a:rPr lang="en-US" b="1" dirty="0"/>
              <a:t>)</a:t>
            </a:r>
          </a:p>
        </p:txBody>
      </p:sp>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p:txBody>
          <a:bodyPr>
            <a:normAutofit fontScale="92500" lnSpcReduction="10000"/>
          </a:bodyPr>
          <a:lstStyle/>
          <a:p>
            <a:pPr marL="234950" indent="-234950" algn="just" eaLnBrk="1" hangingPunct="1">
              <a:lnSpc>
                <a:spcPct val="90000"/>
              </a:lnSpc>
              <a:spcAft>
                <a:spcPts val="2400"/>
              </a:spcAft>
              <a:buFont typeface="Arial" pitchFamily="34" charset="0"/>
              <a:buChar char="•"/>
              <a:defRPr/>
            </a:pPr>
            <a:r>
              <a:rPr lang="en-US" sz="2800" b="1" dirty="0" err="1"/>
              <a:t>Đơn</a:t>
            </a:r>
            <a:r>
              <a:rPr lang="en-US" sz="2800" b="1" dirty="0"/>
              <a:t> </a:t>
            </a:r>
            <a:r>
              <a:rPr lang="en-US" sz="2800" b="1" dirty="0" err="1"/>
              <a:t>vị</a:t>
            </a:r>
            <a:r>
              <a:rPr lang="en-US" sz="2800" b="1" dirty="0"/>
              <a:t> </a:t>
            </a:r>
            <a:r>
              <a:rPr lang="en-US" sz="2800" b="1" dirty="0" err="1"/>
              <a:t>xử</a:t>
            </a:r>
            <a:r>
              <a:rPr lang="en-US" sz="2800" b="1" dirty="0"/>
              <a:t> </a:t>
            </a:r>
            <a:r>
              <a:rPr lang="en-US" sz="2800" b="1" dirty="0" err="1"/>
              <a:t>lý</a:t>
            </a:r>
            <a:r>
              <a:rPr lang="en-US" sz="2800" b="1" dirty="0"/>
              <a:t> </a:t>
            </a:r>
            <a:r>
              <a:rPr lang="en-US" sz="2800" b="1" dirty="0" err="1"/>
              <a:t>trung</a:t>
            </a:r>
            <a:r>
              <a:rPr lang="en-US" sz="2800" b="1" dirty="0"/>
              <a:t> </a:t>
            </a:r>
            <a:r>
              <a:rPr lang="en-US" sz="2800" b="1" dirty="0" err="1"/>
              <a:t>tâm</a:t>
            </a:r>
            <a:r>
              <a:rPr lang="en-US" sz="2800" b="1" dirty="0"/>
              <a:t> (Central processor unit - CPU)</a:t>
            </a:r>
            <a:r>
              <a:rPr lang="en-US" sz="2800" dirty="0"/>
              <a:t>: </a:t>
            </a:r>
            <a:r>
              <a:rPr lang="en-US" sz="2800" dirty="0" err="1"/>
              <a:t>cũng</a:t>
            </a:r>
            <a:r>
              <a:rPr lang="en-US" sz="2800" dirty="0"/>
              <a:t> </a:t>
            </a:r>
            <a:r>
              <a:rPr lang="en-US" sz="2800" dirty="0" err="1"/>
              <a:t>gọi</a:t>
            </a:r>
            <a:r>
              <a:rPr lang="en-US" sz="2800" dirty="0"/>
              <a:t> </a:t>
            </a:r>
            <a:r>
              <a:rPr lang="en-US" sz="2800" dirty="0" err="1"/>
              <a:t>là</a:t>
            </a:r>
            <a:r>
              <a:rPr lang="en-US" sz="2800" dirty="0"/>
              <a:t> bộ </a:t>
            </a:r>
            <a:r>
              <a:rPr lang="en-US" sz="2800" dirty="0" err="1"/>
              <a:t>xử</a:t>
            </a:r>
            <a:r>
              <a:rPr lang="en-US" sz="2800" dirty="0"/>
              <a:t> </a:t>
            </a:r>
            <a:r>
              <a:rPr lang="en-US" sz="2800" dirty="0" err="1"/>
              <a:t>lý</a:t>
            </a:r>
            <a:r>
              <a:rPr lang="en-US" sz="2800" dirty="0"/>
              <a:t> (Processor), bộ </a:t>
            </a:r>
            <a:r>
              <a:rPr lang="en-US" sz="2800" dirty="0" err="1"/>
              <a:t>phận</a:t>
            </a:r>
            <a:r>
              <a:rPr lang="en-US" sz="2800" dirty="0"/>
              <a:t> </a:t>
            </a:r>
            <a:r>
              <a:rPr lang="en-US" sz="2800" dirty="0" err="1"/>
              <a:t>xử</a:t>
            </a:r>
            <a:r>
              <a:rPr lang="en-US" sz="2800" dirty="0"/>
              <a:t> </a:t>
            </a:r>
            <a:r>
              <a:rPr lang="en-US" sz="2800" dirty="0" err="1"/>
              <a:t>lý</a:t>
            </a:r>
            <a:r>
              <a:rPr lang="en-US" sz="2800" dirty="0"/>
              <a:t> </a:t>
            </a:r>
            <a:r>
              <a:rPr lang="en-US" sz="2800" dirty="0" err="1"/>
              <a:t>chính</a:t>
            </a:r>
            <a:r>
              <a:rPr lang="en-US" sz="2800" dirty="0"/>
              <a:t> </a:t>
            </a:r>
            <a:r>
              <a:rPr lang="en-US" sz="2800" dirty="0" err="1"/>
              <a:t>của</a:t>
            </a:r>
            <a:r>
              <a:rPr lang="en-US" sz="2800" dirty="0"/>
              <a:t> </a:t>
            </a:r>
            <a:r>
              <a:rPr lang="en-US" sz="2800" dirty="0" err="1"/>
              <a:t>máy</a:t>
            </a:r>
            <a:r>
              <a:rPr lang="en-US" sz="2800" dirty="0"/>
              <a:t> </a:t>
            </a:r>
            <a:r>
              <a:rPr lang="en-US" sz="2800" dirty="0" err="1"/>
              <a:t>tính</a:t>
            </a:r>
            <a:r>
              <a:rPr lang="en-US" sz="2800" dirty="0"/>
              <a:t>, </a:t>
            </a:r>
            <a:r>
              <a:rPr lang="en-US" sz="2800" dirty="0" err="1"/>
              <a:t>chứa</a:t>
            </a:r>
            <a:r>
              <a:rPr lang="en-US" sz="2800" dirty="0"/>
              <a:t> </a:t>
            </a:r>
            <a:r>
              <a:rPr lang="en-US" sz="2800" dirty="0" err="1"/>
              <a:t>đường</a:t>
            </a:r>
            <a:r>
              <a:rPr lang="en-US" sz="2800" dirty="0"/>
              <a:t> </a:t>
            </a:r>
            <a:r>
              <a:rPr lang="en-US" sz="2800" dirty="0" err="1"/>
              <a:t>dữ</a:t>
            </a:r>
            <a:r>
              <a:rPr lang="en-US" sz="2800" dirty="0"/>
              <a:t> </a:t>
            </a:r>
            <a:r>
              <a:rPr lang="en-US" sz="2800" dirty="0" err="1"/>
              <a:t>liệu</a:t>
            </a:r>
            <a:r>
              <a:rPr lang="en-US" sz="2800" dirty="0"/>
              <a:t> (data path) </a:t>
            </a:r>
            <a:r>
              <a:rPr lang="en-US" sz="2800" dirty="0" err="1"/>
              <a:t>và</a:t>
            </a:r>
            <a:r>
              <a:rPr lang="en-US" sz="2800" dirty="0"/>
              <a:t> </a:t>
            </a:r>
            <a:r>
              <a:rPr lang="en-US" sz="2800" dirty="0" err="1"/>
              <a:t>khối</a:t>
            </a:r>
            <a:r>
              <a:rPr lang="en-US" sz="2800" dirty="0"/>
              <a:t> </a:t>
            </a:r>
            <a:r>
              <a:rPr lang="en-US" sz="2800" dirty="0" err="1"/>
              <a:t>điều</a:t>
            </a:r>
            <a:r>
              <a:rPr lang="en-US" sz="2800" dirty="0"/>
              <a:t> </a:t>
            </a:r>
            <a:r>
              <a:rPr lang="en-US" sz="2800" dirty="0" err="1"/>
              <a:t>khiển</a:t>
            </a:r>
            <a:r>
              <a:rPr lang="en-US" sz="2800" dirty="0"/>
              <a:t> (control), </a:t>
            </a:r>
            <a:r>
              <a:rPr lang="en-US" sz="2800" dirty="0" err="1"/>
              <a:t>thực</a:t>
            </a:r>
            <a:r>
              <a:rPr lang="en-US" sz="2800" dirty="0"/>
              <a:t> </a:t>
            </a:r>
            <a:r>
              <a:rPr lang="en-US" sz="2800" dirty="0" err="1"/>
              <a:t>hiện</a:t>
            </a:r>
            <a:r>
              <a:rPr lang="en-US" sz="2800" dirty="0"/>
              <a:t> </a:t>
            </a:r>
            <a:r>
              <a:rPr lang="en-US" sz="2800" dirty="0" err="1"/>
              <a:t>các</a:t>
            </a:r>
            <a:r>
              <a:rPr lang="en-US" sz="2800" dirty="0"/>
              <a:t> </a:t>
            </a:r>
            <a:r>
              <a:rPr lang="en-US" sz="2800" dirty="0" err="1"/>
              <a:t>thao</a:t>
            </a:r>
            <a:r>
              <a:rPr lang="en-US" sz="2800" dirty="0"/>
              <a:t> </a:t>
            </a:r>
            <a:r>
              <a:rPr lang="en-US" sz="2800" dirty="0" err="1"/>
              <a:t>tác</a:t>
            </a:r>
            <a:r>
              <a:rPr lang="en-US" sz="2800" dirty="0"/>
              <a:t> </a:t>
            </a:r>
            <a:r>
              <a:rPr lang="en-US" sz="2800" dirty="0" err="1"/>
              <a:t>nh</a:t>
            </a:r>
            <a:r>
              <a:rPr lang="vi-VN" sz="2800" dirty="0"/>
              <a:t>ư</a:t>
            </a:r>
            <a:r>
              <a:rPr lang="en-US" sz="2800" dirty="0"/>
              <a:t> </a:t>
            </a:r>
            <a:r>
              <a:rPr lang="en-US" sz="2800" dirty="0" err="1"/>
              <a:t>cộng</a:t>
            </a:r>
            <a:r>
              <a:rPr lang="en-US" sz="2800" dirty="0"/>
              <a:t>, </a:t>
            </a:r>
            <a:r>
              <a:rPr lang="en-US" sz="2800" dirty="0" err="1"/>
              <a:t>kiểm</a:t>
            </a:r>
            <a:r>
              <a:rPr lang="en-US" sz="2800" dirty="0"/>
              <a:t> </a:t>
            </a:r>
            <a:r>
              <a:rPr lang="en-US" sz="2800" dirty="0" err="1"/>
              <a:t>tra</a:t>
            </a:r>
            <a:r>
              <a:rPr lang="en-US" sz="2800" dirty="0"/>
              <a:t> </a:t>
            </a:r>
            <a:r>
              <a:rPr lang="en-US" sz="2800" dirty="0" err="1"/>
              <a:t>số</a:t>
            </a:r>
            <a:r>
              <a:rPr lang="en-US" sz="2800" dirty="0"/>
              <a:t>, </a:t>
            </a:r>
            <a:r>
              <a:rPr lang="en-US" sz="2800" dirty="0" err="1"/>
              <a:t>kích</a:t>
            </a:r>
            <a:r>
              <a:rPr lang="en-US" sz="2800" dirty="0"/>
              <a:t> </a:t>
            </a:r>
            <a:r>
              <a:rPr lang="en-US" sz="2800" dirty="0" err="1"/>
              <a:t>hoạt</a:t>
            </a:r>
            <a:r>
              <a:rPr lang="en-US" sz="2800" dirty="0"/>
              <a:t> </a:t>
            </a:r>
            <a:r>
              <a:rPr lang="en-US" sz="2800" dirty="0" err="1"/>
              <a:t>các</a:t>
            </a:r>
            <a:r>
              <a:rPr lang="en-US" sz="2800" dirty="0"/>
              <a:t> </a:t>
            </a:r>
            <a:r>
              <a:rPr lang="en-US" sz="2800" dirty="0" err="1"/>
              <a:t>thiết</a:t>
            </a:r>
            <a:r>
              <a:rPr lang="en-US" sz="2800" dirty="0"/>
              <a:t> </a:t>
            </a:r>
            <a:r>
              <a:rPr lang="en-US" sz="2800" dirty="0" err="1"/>
              <a:t>bị</a:t>
            </a:r>
            <a:r>
              <a:rPr lang="en-US" sz="2800" dirty="0"/>
              <a:t> I/O, … </a:t>
            </a:r>
          </a:p>
          <a:p>
            <a:pPr marL="738188" algn="just" eaLnBrk="1" hangingPunct="1">
              <a:lnSpc>
                <a:spcPct val="90000"/>
              </a:lnSpc>
              <a:spcBef>
                <a:spcPts val="300"/>
              </a:spcBef>
              <a:spcAft>
                <a:spcPts val="2400"/>
              </a:spcAft>
              <a:buFont typeface="Wingdings" panose="05000000000000000000" pitchFamily="2" charset="2"/>
              <a:buChar char="ü"/>
              <a:defRPr/>
            </a:pPr>
            <a:r>
              <a:rPr lang="en-US" sz="2800" b="1" dirty="0"/>
              <a:t>Datapath</a:t>
            </a:r>
            <a:r>
              <a:rPr lang="en-US" sz="2800" dirty="0"/>
              <a:t>: </a:t>
            </a:r>
            <a:r>
              <a:rPr lang="en-US" sz="2800" dirty="0" err="1"/>
              <a:t>Thành</a:t>
            </a:r>
            <a:r>
              <a:rPr lang="en-US" sz="2800" dirty="0"/>
              <a:t> </a:t>
            </a:r>
            <a:r>
              <a:rPr lang="en-US" sz="2800" dirty="0" err="1"/>
              <a:t>phần</a:t>
            </a:r>
            <a:r>
              <a:rPr lang="en-US" sz="2800" dirty="0"/>
              <a:t> </a:t>
            </a:r>
            <a:r>
              <a:rPr lang="en-US" sz="2800" dirty="0" err="1"/>
              <a:t>của</a:t>
            </a:r>
            <a:r>
              <a:rPr lang="en-US" sz="2800" dirty="0"/>
              <a:t> bộ </a:t>
            </a:r>
            <a:r>
              <a:rPr lang="en-US" sz="2800" dirty="0" err="1"/>
              <a:t>xử</a:t>
            </a:r>
            <a:r>
              <a:rPr lang="en-US" sz="2800" dirty="0"/>
              <a:t> </a:t>
            </a:r>
            <a:r>
              <a:rPr lang="en-US" sz="2800" dirty="0" err="1"/>
              <a:t>lý</a:t>
            </a:r>
            <a:r>
              <a:rPr lang="en-US" sz="2800" dirty="0"/>
              <a:t>, </a:t>
            </a:r>
            <a:r>
              <a:rPr lang="en-US" sz="2800" dirty="0" err="1"/>
              <a:t>thực</a:t>
            </a:r>
            <a:r>
              <a:rPr lang="en-US" sz="2800" dirty="0"/>
              <a:t> </a:t>
            </a:r>
            <a:r>
              <a:rPr lang="en-US" sz="2800" dirty="0" err="1"/>
              <a:t>hiện</a:t>
            </a:r>
            <a:r>
              <a:rPr lang="en-US" sz="2800" dirty="0"/>
              <a:t> </a:t>
            </a:r>
            <a:r>
              <a:rPr lang="en-US" sz="2800" dirty="0" err="1"/>
              <a:t>các</a:t>
            </a:r>
            <a:r>
              <a:rPr lang="en-US" sz="2800" dirty="0"/>
              <a:t> </a:t>
            </a:r>
            <a:r>
              <a:rPr lang="en-US" sz="2800" dirty="0" err="1"/>
              <a:t>tính</a:t>
            </a:r>
            <a:r>
              <a:rPr lang="en-US" sz="2800" dirty="0"/>
              <a:t> </a:t>
            </a:r>
            <a:r>
              <a:rPr lang="en-US" sz="2800" dirty="0" err="1"/>
              <a:t>toán</a:t>
            </a:r>
            <a:r>
              <a:rPr lang="en-US" sz="2800" dirty="0"/>
              <a:t> </a:t>
            </a:r>
            <a:r>
              <a:rPr lang="en-US" sz="2800" dirty="0" err="1"/>
              <a:t>toán</a:t>
            </a:r>
            <a:r>
              <a:rPr lang="en-US" sz="2800" dirty="0"/>
              <a:t> </a:t>
            </a:r>
            <a:r>
              <a:rPr lang="en-US" sz="2800" dirty="0" err="1"/>
              <a:t>học</a:t>
            </a:r>
            <a:endParaRPr lang="en-US" sz="2800" dirty="0"/>
          </a:p>
          <a:p>
            <a:pPr marL="738188" algn="just" eaLnBrk="1" hangingPunct="1">
              <a:lnSpc>
                <a:spcPct val="90000"/>
              </a:lnSpc>
              <a:spcBef>
                <a:spcPts val="300"/>
              </a:spcBef>
              <a:spcAft>
                <a:spcPts val="1000"/>
              </a:spcAft>
              <a:buFont typeface="Wingdings" panose="05000000000000000000" pitchFamily="2" charset="2"/>
              <a:buChar char="ü"/>
              <a:defRPr/>
            </a:pPr>
            <a:r>
              <a:rPr lang="en-US" sz="2800" b="1" dirty="0"/>
              <a:t>Control</a:t>
            </a:r>
            <a:r>
              <a:rPr lang="en-US" sz="2800" dirty="0"/>
              <a:t>: </a:t>
            </a:r>
            <a:r>
              <a:rPr lang="en-US" sz="2800" dirty="0" err="1"/>
              <a:t>Thành</a:t>
            </a:r>
            <a:r>
              <a:rPr lang="en-US" sz="2800" dirty="0"/>
              <a:t> </a:t>
            </a:r>
            <a:r>
              <a:rPr lang="en-US" sz="2800" dirty="0" err="1"/>
              <a:t>phần</a:t>
            </a:r>
            <a:r>
              <a:rPr lang="en-US" sz="2800" dirty="0"/>
              <a:t> </a:t>
            </a:r>
            <a:r>
              <a:rPr lang="en-US" sz="2800" dirty="0" err="1"/>
              <a:t>của</a:t>
            </a:r>
            <a:r>
              <a:rPr lang="en-US" sz="2800" dirty="0"/>
              <a:t> bộ </a:t>
            </a:r>
            <a:r>
              <a:rPr lang="en-US" sz="2800" dirty="0" err="1"/>
              <a:t>xử</a:t>
            </a:r>
            <a:r>
              <a:rPr lang="en-US" sz="2800" dirty="0"/>
              <a:t> </a:t>
            </a:r>
            <a:r>
              <a:rPr lang="en-US" sz="2800" dirty="0" err="1"/>
              <a:t>lý</a:t>
            </a:r>
            <a:r>
              <a:rPr lang="en-US" sz="2800" dirty="0"/>
              <a:t>, </a:t>
            </a:r>
            <a:r>
              <a:rPr lang="en-US" sz="2800" dirty="0" err="1"/>
              <a:t>điều</a:t>
            </a:r>
            <a:r>
              <a:rPr lang="en-US" sz="2800" dirty="0"/>
              <a:t> </a:t>
            </a:r>
            <a:r>
              <a:rPr lang="en-US" sz="2800" dirty="0" err="1"/>
              <a:t>khiển</a:t>
            </a:r>
            <a:r>
              <a:rPr lang="en-US" sz="2800" dirty="0"/>
              <a:t> </a:t>
            </a:r>
            <a:r>
              <a:rPr lang="en-US" sz="2800" dirty="0" err="1"/>
              <a:t>đường</a:t>
            </a:r>
            <a:r>
              <a:rPr lang="en-US" sz="2800" dirty="0"/>
              <a:t> </a:t>
            </a:r>
            <a:r>
              <a:rPr lang="en-US" sz="2800" dirty="0" err="1"/>
              <a:t>dữ</a:t>
            </a:r>
            <a:r>
              <a:rPr lang="en-US" sz="2800" dirty="0"/>
              <a:t> </a:t>
            </a:r>
            <a:r>
              <a:rPr lang="en-US" sz="2800" dirty="0" err="1"/>
              <a:t>liệu</a:t>
            </a:r>
            <a:r>
              <a:rPr lang="en-US" sz="2800" dirty="0"/>
              <a:t>, bộ </a:t>
            </a:r>
            <a:r>
              <a:rPr lang="en-US" sz="2800" dirty="0" err="1"/>
              <a:t>nhớ</a:t>
            </a:r>
            <a:r>
              <a:rPr lang="en-US" sz="2800" dirty="0"/>
              <a:t>, </a:t>
            </a:r>
            <a:r>
              <a:rPr lang="en-US" sz="2800" dirty="0" err="1"/>
              <a:t>và</a:t>
            </a:r>
            <a:r>
              <a:rPr lang="en-US" sz="2800" dirty="0"/>
              <a:t> </a:t>
            </a:r>
            <a:r>
              <a:rPr lang="en-US" sz="2800" dirty="0" err="1"/>
              <a:t>các</a:t>
            </a:r>
            <a:r>
              <a:rPr lang="en-US" sz="2800" dirty="0"/>
              <a:t> </a:t>
            </a:r>
            <a:r>
              <a:rPr lang="en-US" sz="2800" dirty="0" err="1"/>
              <a:t>thiết</a:t>
            </a:r>
            <a:r>
              <a:rPr lang="en-US" sz="2800" dirty="0"/>
              <a:t> </a:t>
            </a:r>
            <a:r>
              <a:rPr lang="en-US" sz="2800" dirty="0" err="1"/>
              <a:t>bị</a:t>
            </a:r>
            <a:r>
              <a:rPr lang="en-US" sz="2800" dirty="0"/>
              <a:t> I/O </a:t>
            </a:r>
            <a:r>
              <a:rPr lang="en-US" sz="2800" dirty="0" err="1"/>
              <a:t>tùy</a:t>
            </a:r>
            <a:r>
              <a:rPr lang="en-US" sz="2800" dirty="0"/>
              <a:t> </a:t>
            </a:r>
            <a:r>
              <a:rPr lang="en-US" sz="2800" dirty="0" err="1"/>
              <a:t>theo</a:t>
            </a:r>
            <a:r>
              <a:rPr lang="en-US" sz="2800" dirty="0"/>
              <a:t> </a:t>
            </a:r>
            <a:r>
              <a:rPr lang="en-US" sz="2800" dirty="0" err="1"/>
              <a:t>lệnh</a:t>
            </a:r>
            <a:r>
              <a:rPr lang="en-US" sz="2800" dirty="0"/>
              <a:t> </a:t>
            </a:r>
            <a:r>
              <a:rPr lang="en-US" sz="2800" dirty="0" err="1"/>
              <a:t>nào</a:t>
            </a:r>
            <a:r>
              <a:rPr lang="en-US" sz="2800" dirty="0"/>
              <a:t> </a:t>
            </a:r>
            <a:r>
              <a:rPr lang="en-US" sz="2800" dirty="0" err="1"/>
              <a:t>đang</a:t>
            </a:r>
            <a:r>
              <a:rPr lang="en-US" sz="2800" dirty="0"/>
              <a:t> </a:t>
            </a:r>
            <a:r>
              <a:rPr lang="en-US" sz="2800" dirty="0" err="1"/>
              <a:t>thực</a:t>
            </a:r>
            <a:r>
              <a:rPr lang="en-US" sz="2800" dirty="0"/>
              <a:t> </a:t>
            </a:r>
            <a:r>
              <a:rPr lang="en-US" sz="2800" dirty="0" err="1"/>
              <a:t>thi</a:t>
            </a:r>
            <a:r>
              <a:rPr lang="en-US" sz="2800" dirty="0"/>
              <a:t> </a:t>
            </a:r>
            <a:r>
              <a:rPr lang="en-US" sz="2800" dirty="0" err="1"/>
              <a:t>của</a:t>
            </a:r>
            <a:r>
              <a:rPr lang="en-US" sz="2800" dirty="0"/>
              <a:t> </a:t>
            </a:r>
            <a:r>
              <a:rPr lang="en-US" sz="2800" dirty="0" err="1"/>
              <a:t>chương</a:t>
            </a:r>
            <a:r>
              <a:rPr lang="en-US" sz="2800" dirty="0"/>
              <a:t> </a:t>
            </a:r>
            <a:r>
              <a:rPr lang="en-US" sz="2800" dirty="0" err="1"/>
              <a:t>trình</a:t>
            </a:r>
            <a:r>
              <a:rPr lang="en-US" sz="2800" dirty="0"/>
              <a:t>.</a:t>
            </a:r>
          </a:p>
          <a:p>
            <a:pPr marL="285750" indent="171450" algn="just" eaLnBrk="1" hangingPunct="1">
              <a:lnSpc>
                <a:spcPct val="90000"/>
              </a:lnSpc>
              <a:spcBef>
                <a:spcPts val="1000"/>
              </a:spcBef>
              <a:spcAft>
                <a:spcPts val="1000"/>
              </a:spcAft>
              <a:buFont typeface="Wingdings" pitchFamily="2" charset="2"/>
              <a:buChar char="è"/>
              <a:defRPr/>
            </a:pPr>
            <a:r>
              <a:rPr lang="en-US" sz="2800" dirty="0">
                <a:sym typeface="Wingdings" pitchFamily="2" charset="2"/>
              </a:rPr>
              <a:t> </a:t>
            </a:r>
            <a:r>
              <a:rPr lang="en-US" sz="2800" dirty="0" err="1">
                <a:sym typeface="Wingdings" pitchFamily="2" charset="2"/>
              </a:rPr>
              <a:t>Khối</a:t>
            </a:r>
            <a:r>
              <a:rPr lang="en-US" sz="2800" dirty="0">
                <a:sym typeface="Wingdings" pitchFamily="2" charset="2"/>
              </a:rPr>
              <a:t> Datapath </a:t>
            </a:r>
            <a:r>
              <a:rPr lang="en-US" sz="2800" dirty="0" err="1">
                <a:sym typeface="Wingdings" pitchFamily="2" charset="2"/>
              </a:rPr>
              <a:t>thực</a:t>
            </a:r>
            <a:r>
              <a:rPr lang="en-US" sz="2800" dirty="0">
                <a:sym typeface="Wingdings" pitchFamily="2" charset="2"/>
              </a:rPr>
              <a:t> </a:t>
            </a:r>
            <a:r>
              <a:rPr lang="en-US" sz="2800" dirty="0" err="1">
                <a:sym typeface="Wingdings" pitchFamily="2" charset="2"/>
              </a:rPr>
              <a:t>hiện</a:t>
            </a:r>
            <a:r>
              <a:rPr lang="en-US" sz="2800" dirty="0">
                <a:sym typeface="Wingdings" pitchFamily="2" charset="2"/>
              </a:rPr>
              <a:t> </a:t>
            </a:r>
            <a:r>
              <a:rPr lang="en-US" sz="2800" dirty="0" err="1">
                <a:sym typeface="Wingdings" pitchFamily="2" charset="2"/>
              </a:rPr>
              <a:t>các</a:t>
            </a:r>
            <a:r>
              <a:rPr lang="en-US" sz="2800" dirty="0">
                <a:sym typeface="Wingdings" pitchFamily="2" charset="2"/>
              </a:rPr>
              <a:t> </a:t>
            </a:r>
            <a:r>
              <a:rPr lang="en-US" sz="2800" dirty="0" err="1">
                <a:sym typeface="Wingdings" pitchFamily="2" charset="2"/>
              </a:rPr>
              <a:t>tính</a:t>
            </a:r>
            <a:r>
              <a:rPr lang="en-US" sz="2800" dirty="0">
                <a:sym typeface="Wingdings" pitchFamily="2" charset="2"/>
              </a:rPr>
              <a:t> </a:t>
            </a:r>
            <a:r>
              <a:rPr lang="en-US" sz="2800" dirty="0" err="1">
                <a:sym typeface="Wingdings" pitchFamily="2" charset="2"/>
              </a:rPr>
              <a:t>toán</a:t>
            </a:r>
            <a:r>
              <a:rPr lang="en-US" sz="2800" dirty="0">
                <a:sym typeface="Wingdings" pitchFamily="2" charset="2"/>
              </a:rPr>
              <a:t> </a:t>
            </a:r>
            <a:r>
              <a:rPr lang="en-US" sz="2800" dirty="0" err="1">
                <a:sym typeface="Wingdings" pitchFamily="2" charset="2"/>
              </a:rPr>
              <a:t>toán</a:t>
            </a:r>
            <a:r>
              <a:rPr lang="en-US" sz="2800" dirty="0">
                <a:sym typeface="Wingdings" pitchFamily="2" charset="2"/>
              </a:rPr>
              <a:t> </a:t>
            </a:r>
            <a:r>
              <a:rPr lang="en-US" sz="2800" dirty="0" err="1">
                <a:sym typeface="Wingdings" pitchFamily="2" charset="2"/>
              </a:rPr>
              <a:t>học</a:t>
            </a:r>
            <a:r>
              <a:rPr lang="en-US" sz="2800" dirty="0">
                <a:sym typeface="Wingdings" pitchFamily="2" charset="2"/>
              </a:rPr>
              <a:t> </a:t>
            </a:r>
            <a:r>
              <a:rPr lang="en-US" sz="2800" dirty="0" err="1">
                <a:sym typeface="Wingdings" pitchFamily="2" charset="2"/>
              </a:rPr>
              <a:t>và</a:t>
            </a:r>
            <a:r>
              <a:rPr lang="en-US" sz="2800" dirty="0">
                <a:sym typeface="Wingdings" pitchFamily="2" charset="2"/>
              </a:rPr>
              <a:t> </a:t>
            </a:r>
            <a:r>
              <a:rPr lang="en-US" sz="2800" dirty="0" err="1">
                <a:sym typeface="Wingdings" pitchFamily="2" charset="2"/>
              </a:rPr>
              <a:t>khối</a:t>
            </a:r>
            <a:r>
              <a:rPr lang="en-US" sz="2800" dirty="0">
                <a:sym typeface="Wingdings" pitchFamily="2" charset="2"/>
              </a:rPr>
              <a:t> Control </a:t>
            </a:r>
            <a:r>
              <a:rPr lang="en-US" sz="2800" dirty="0" err="1">
                <a:sym typeface="Wingdings" pitchFamily="2" charset="2"/>
              </a:rPr>
              <a:t>sẽ</a:t>
            </a:r>
            <a:r>
              <a:rPr lang="en-US" sz="2800" dirty="0">
                <a:sym typeface="Wingdings" pitchFamily="2" charset="2"/>
              </a:rPr>
              <a:t> </a:t>
            </a:r>
            <a:r>
              <a:rPr lang="en-US" sz="2800" dirty="0" err="1">
                <a:sym typeface="Wingdings" pitchFamily="2" charset="2"/>
              </a:rPr>
              <a:t>điều</a:t>
            </a:r>
            <a:r>
              <a:rPr lang="en-US" sz="2800" dirty="0">
                <a:sym typeface="Wingdings" pitchFamily="2" charset="2"/>
              </a:rPr>
              <a:t> </a:t>
            </a:r>
            <a:r>
              <a:rPr lang="en-US" sz="2800" dirty="0" err="1">
                <a:sym typeface="Wingdings" pitchFamily="2" charset="2"/>
              </a:rPr>
              <a:t>khiển</a:t>
            </a:r>
            <a:r>
              <a:rPr lang="en-US" sz="2800" dirty="0">
                <a:sym typeface="Wingdings" pitchFamily="2" charset="2"/>
              </a:rPr>
              <a:t> </a:t>
            </a:r>
            <a:r>
              <a:rPr lang="en-US" sz="2800" dirty="0" err="1">
                <a:sym typeface="Wingdings" pitchFamily="2" charset="2"/>
              </a:rPr>
              <a:t>đường</a:t>
            </a:r>
            <a:r>
              <a:rPr lang="en-US" sz="2800" dirty="0">
                <a:sym typeface="Wingdings" pitchFamily="2" charset="2"/>
              </a:rPr>
              <a:t> </a:t>
            </a:r>
            <a:r>
              <a:rPr lang="en-US" sz="2800" dirty="0" err="1">
                <a:sym typeface="Wingdings" pitchFamily="2" charset="2"/>
              </a:rPr>
              <a:t>dữ</a:t>
            </a:r>
            <a:r>
              <a:rPr lang="en-US" sz="2800" dirty="0">
                <a:sym typeface="Wingdings" pitchFamily="2" charset="2"/>
              </a:rPr>
              <a:t> </a:t>
            </a:r>
            <a:r>
              <a:rPr lang="en-US" sz="2800" dirty="0" err="1">
                <a:sym typeface="Wingdings" pitchFamily="2" charset="2"/>
              </a:rPr>
              <a:t>liệu</a:t>
            </a:r>
            <a:r>
              <a:rPr lang="en-US" sz="2800" dirty="0">
                <a:sym typeface="Wingdings" pitchFamily="2" charset="2"/>
              </a:rPr>
              <a:t>, bộ </a:t>
            </a:r>
            <a:r>
              <a:rPr lang="en-US" sz="2800" dirty="0" err="1">
                <a:sym typeface="Wingdings" pitchFamily="2" charset="2"/>
              </a:rPr>
              <a:t>nhớ</a:t>
            </a:r>
            <a:r>
              <a:rPr lang="en-US" sz="2800" dirty="0">
                <a:sym typeface="Wingdings" pitchFamily="2" charset="2"/>
              </a:rPr>
              <a:t> </a:t>
            </a:r>
            <a:r>
              <a:rPr lang="en-US" sz="2800" dirty="0" err="1">
                <a:sym typeface="Wingdings" pitchFamily="2" charset="2"/>
              </a:rPr>
              <a:t>và</a:t>
            </a:r>
            <a:r>
              <a:rPr lang="en-US" sz="2800" dirty="0">
                <a:sym typeface="Wingdings" pitchFamily="2" charset="2"/>
              </a:rPr>
              <a:t> </a:t>
            </a:r>
            <a:r>
              <a:rPr lang="en-US" sz="2800" dirty="0" err="1">
                <a:sym typeface="Wingdings" pitchFamily="2" charset="2"/>
              </a:rPr>
              <a:t>các</a:t>
            </a:r>
            <a:r>
              <a:rPr lang="en-US" sz="2800" dirty="0">
                <a:sym typeface="Wingdings" pitchFamily="2" charset="2"/>
              </a:rPr>
              <a:t> </a:t>
            </a:r>
            <a:r>
              <a:rPr lang="en-US" sz="2800" dirty="0" err="1">
                <a:sym typeface="Wingdings" pitchFamily="2" charset="2"/>
              </a:rPr>
              <a:t>thiết</a:t>
            </a:r>
            <a:r>
              <a:rPr lang="en-US" sz="2800" dirty="0">
                <a:sym typeface="Wingdings" pitchFamily="2" charset="2"/>
              </a:rPr>
              <a:t> </a:t>
            </a:r>
            <a:r>
              <a:rPr lang="en-US" sz="2800" dirty="0" err="1">
                <a:sym typeface="Wingdings" pitchFamily="2" charset="2"/>
              </a:rPr>
              <a:t>bị</a:t>
            </a:r>
            <a:r>
              <a:rPr lang="en-US" sz="2800" dirty="0">
                <a:sym typeface="Wingdings" pitchFamily="2" charset="2"/>
              </a:rPr>
              <a:t> I/O </a:t>
            </a:r>
            <a:r>
              <a:rPr lang="en-US" sz="2800" dirty="0" err="1">
                <a:sym typeface="Wingdings" pitchFamily="2" charset="2"/>
              </a:rPr>
              <a:t>những</a:t>
            </a:r>
            <a:r>
              <a:rPr lang="en-US" sz="2800" dirty="0">
                <a:sym typeface="Wingdings" pitchFamily="2" charset="2"/>
              </a:rPr>
              <a:t> </a:t>
            </a:r>
            <a:r>
              <a:rPr lang="en-US" sz="2800" dirty="0" err="1">
                <a:sym typeface="Wingdings" pitchFamily="2" charset="2"/>
              </a:rPr>
              <a:t>việc</a:t>
            </a:r>
            <a:r>
              <a:rPr lang="en-US" sz="2800" dirty="0">
                <a:sym typeface="Wingdings" pitchFamily="2" charset="2"/>
              </a:rPr>
              <a:t> </a:t>
            </a:r>
            <a:r>
              <a:rPr lang="en-US" sz="2800" dirty="0" err="1">
                <a:sym typeface="Wingdings" pitchFamily="2" charset="2"/>
              </a:rPr>
              <a:t>cần</a:t>
            </a:r>
            <a:r>
              <a:rPr lang="en-US" sz="2800" dirty="0">
                <a:sym typeface="Wingdings" pitchFamily="2" charset="2"/>
              </a:rPr>
              <a:t> </a:t>
            </a:r>
            <a:r>
              <a:rPr lang="en-US" sz="2800" dirty="0" err="1">
                <a:sym typeface="Wingdings" pitchFamily="2" charset="2"/>
              </a:rPr>
              <a:t>làm</a:t>
            </a:r>
            <a:r>
              <a:rPr lang="en-US" sz="2800" dirty="0">
                <a:sym typeface="Wingdings" pitchFamily="2" charset="2"/>
              </a:rPr>
              <a:t> </a:t>
            </a:r>
            <a:r>
              <a:rPr lang="en-US" sz="2800" dirty="0" err="1">
                <a:sym typeface="Wingdings" pitchFamily="2" charset="2"/>
              </a:rPr>
              <a:t>dựa</a:t>
            </a:r>
            <a:r>
              <a:rPr lang="en-US" sz="2800" dirty="0">
                <a:sym typeface="Wingdings" pitchFamily="2" charset="2"/>
              </a:rPr>
              <a:t> </a:t>
            </a:r>
            <a:r>
              <a:rPr lang="en-US" sz="2800" dirty="0" err="1">
                <a:sym typeface="Wingdings" pitchFamily="2" charset="2"/>
              </a:rPr>
              <a:t>trên</a:t>
            </a:r>
            <a:r>
              <a:rPr lang="en-US" sz="2800" dirty="0">
                <a:sym typeface="Wingdings" pitchFamily="2" charset="2"/>
              </a:rPr>
              <a:t> </a:t>
            </a:r>
            <a:r>
              <a:rPr lang="en-US" sz="2800" dirty="0" err="1">
                <a:sym typeface="Wingdings" pitchFamily="2" charset="2"/>
              </a:rPr>
              <a:t>yêu</a:t>
            </a:r>
            <a:r>
              <a:rPr lang="en-US" sz="2800" dirty="0">
                <a:sym typeface="Wingdings" pitchFamily="2" charset="2"/>
              </a:rPr>
              <a:t> </a:t>
            </a:r>
            <a:r>
              <a:rPr lang="en-US" sz="2800" dirty="0" err="1">
                <a:sym typeface="Wingdings" pitchFamily="2" charset="2"/>
              </a:rPr>
              <a:t>cầu</a:t>
            </a:r>
            <a:r>
              <a:rPr lang="en-US" sz="2800" dirty="0">
                <a:sym typeface="Wingdings" pitchFamily="2" charset="2"/>
              </a:rPr>
              <a:t> </a:t>
            </a:r>
            <a:r>
              <a:rPr lang="en-US" sz="2800" dirty="0" err="1">
                <a:sym typeface="Wingdings" pitchFamily="2" charset="2"/>
              </a:rPr>
              <a:t>của</a:t>
            </a:r>
            <a:r>
              <a:rPr lang="en-US" sz="2800" dirty="0">
                <a:sym typeface="Wingdings" pitchFamily="2" charset="2"/>
              </a:rPr>
              <a:t> </a:t>
            </a:r>
            <a:r>
              <a:rPr lang="en-US" sz="2800" dirty="0" err="1">
                <a:sym typeface="Wingdings" pitchFamily="2" charset="2"/>
              </a:rPr>
              <a:t>từng</a:t>
            </a:r>
            <a:r>
              <a:rPr lang="en-US" sz="2800" dirty="0">
                <a:sym typeface="Wingdings" pitchFamily="2" charset="2"/>
              </a:rPr>
              <a:t> </a:t>
            </a:r>
            <a:r>
              <a:rPr lang="en-US" sz="2800" dirty="0" err="1">
                <a:sym typeface="Wingdings" pitchFamily="2" charset="2"/>
              </a:rPr>
              <a:t>lệnh</a:t>
            </a:r>
            <a:r>
              <a:rPr lang="en-US" sz="2800" dirty="0">
                <a:sym typeface="Wingdings" pitchFamily="2" charset="2"/>
              </a:rPr>
              <a:t> </a:t>
            </a:r>
            <a:r>
              <a:rPr lang="en-US" sz="2800" dirty="0" err="1">
                <a:sym typeface="Wingdings" pitchFamily="2" charset="2"/>
              </a:rPr>
              <a:t>trong</a:t>
            </a:r>
            <a:r>
              <a:rPr lang="en-US" sz="2800" dirty="0">
                <a:sym typeface="Wingdings" pitchFamily="2" charset="2"/>
              </a:rPr>
              <a:t> </a:t>
            </a:r>
            <a:r>
              <a:rPr lang="en-US" sz="2800" dirty="0" err="1">
                <a:sym typeface="Wingdings" pitchFamily="2" charset="2"/>
              </a:rPr>
              <a:t>chương</a:t>
            </a:r>
            <a:r>
              <a:rPr lang="en-US" sz="2800" dirty="0">
                <a:sym typeface="Wingdings" pitchFamily="2" charset="2"/>
              </a:rPr>
              <a:t> </a:t>
            </a:r>
            <a:r>
              <a:rPr lang="en-US" sz="2800" dirty="0" err="1">
                <a:sym typeface="Wingdings" pitchFamily="2" charset="2"/>
              </a:rPr>
              <a:t>trình</a:t>
            </a:r>
            <a:r>
              <a:rPr lang="en-US" sz="2800" dirty="0">
                <a:sym typeface="Wingdings" pitchFamily="2" charset="2"/>
              </a:rPr>
              <a:t>. </a:t>
            </a:r>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45</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Tree>
    <p:extLst>
      <p:ext uri="{BB962C8B-B14F-4D97-AF65-F5344CB8AC3E}">
        <p14:creationId xmlns:p14="http://schemas.microsoft.com/office/powerpoint/2010/main" val="269735997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pPr algn="just" eaLnBrk="1" hangingPunct="1">
              <a:lnSpc>
                <a:spcPct val="90000"/>
              </a:lnSpc>
              <a:spcAft>
                <a:spcPts val="1000"/>
              </a:spcAft>
              <a:defRPr/>
            </a:pPr>
            <a:r>
              <a:rPr lang="en-US" b="1" dirty="0"/>
              <a:t>Bộ </a:t>
            </a:r>
            <a:r>
              <a:rPr lang="en-US" b="1" dirty="0" err="1"/>
              <a:t>xử</a:t>
            </a:r>
            <a:r>
              <a:rPr lang="en-US" b="1" dirty="0"/>
              <a:t> </a:t>
            </a:r>
            <a:r>
              <a:rPr lang="en-US" b="1" dirty="0" err="1"/>
              <a:t>lý</a:t>
            </a:r>
            <a:endParaRPr lang="en-US" b="1" dirty="0"/>
          </a:p>
        </p:txBody>
      </p:sp>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p:txBody>
          <a:bodyPr>
            <a:normAutofit/>
          </a:bodyPr>
          <a:lstStyle/>
          <a:p>
            <a:r>
              <a:rPr lang="en-US" sz="2800" dirty="0" err="1">
                <a:latin typeface="+mn-lt"/>
              </a:rPr>
              <a:t>Bên</a:t>
            </a:r>
            <a:r>
              <a:rPr lang="en-US" sz="2800" dirty="0">
                <a:latin typeface="+mn-lt"/>
              </a:rPr>
              <a:t> </a:t>
            </a:r>
            <a:r>
              <a:rPr lang="en-US" sz="2800" dirty="0" err="1">
                <a:latin typeface="+mn-lt"/>
              </a:rPr>
              <a:t>trong</a:t>
            </a:r>
            <a:r>
              <a:rPr lang="en-US" sz="2800" dirty="0">
                <a:latin typeface="+mn-lt"/>
              </a:rPr>
              <a:t> bộ vi </a:t>
            </a:r>
            <a:r>
              <a:rPr lang="en-US" sz="2800" dirty="0" err="1">
                <a:latin typeface="+mn-lt"/>
              </a:rPr>
              <a:t>xử</a:t>
            </a:r>
            <a:r>
              <a:rPr lang="en-US" sz="2800" dirty="0">
                <a:latin typeface="+mn-lt"/>
              </a:rPr>
              <a:t> </a:t>
            </a:r>
            <a:r>
              <a:rPr lang="en-US" sz="2800" dirty="0" err="1">
                <a:latin typeface="+mn-lt"/>
              </a:rPr>
              <a:t>lý</a:t>
            </a:r>
            <a:r>
              <a:rPr lang="en-US" sz="2800" dirty="0">
                <a:latin typeface="+mn-lt"/>
              </a:rPr>
              <a:t> AMD Barcelona.  </a:t>
            </a:r>
            <a:r>
              <a:rPr lang="en-US" sz="2800" dirty="0" err="1">
                <a:latin typeface="+mn-lt"/>
              </a:rPr>
              <a:t>Hình</a:t>
            </a:r>
            <a:r>
              <a:rPr lang="en-US" sz="2800" dirty="0">
                <a:latin typeface="+mn-lt"/>
              </a:rPr>
              <a:t> </a:t>
            </a:r>
            <a:r>
              <a:rPr lang="en-US" sz="2800" dirty="0" err="1">
                <a:latin typeface="+mn-lt"/>
              </a:rPr>
              <a:t>bên</a:t>
            </a:r>
            <a:r>
              <a:rPr lang="en-US" sz="2800" dirty="0">
                <a:latin typeface="+mn-lt"/>
              </a:rPr>
              <a:t> </a:t>
            </a:r>
            <a:r>
              <a:rPr lang="en-US" sz="2800" dirty="0" err="1">
                <a:latin typeface="+mn-lt"/>
              </a:rPr>
              <a:t>trái</a:t>
            </a:r>
            <a:r>
              <a:rPr lang="en-US" sz="2800" dirty="0">
                <a:latin typeface="+mn-lt"/>
              </a:rPr>
              <a:t> </a:t>
            </a:r>
            <a:r>
              <a:rPr lang="en-US" sz="2800" dirty="0" err="1">
                <a:latin typeface="+mn-lt"/>
              </a:rPr>
              <a:t>là</a:t>
            </a:r>
            <a:r>
              <a:rPr lang="en-US" sz="2800" dirty="0">
                <a:latin typeface="+mn-lt"/>
              </a:rPr>
              <a:t> </a:t>
            </a:r>
            <a:r>
              <a:rPr lang="en-US" sz="2800" dirty="0" err="1">
                <a:latin typeface="+mn-lt"/>
              </a:rPr>
              <a:t>ảnh</a:t>
            </a:r>
            <a:r>
              <a:rPr lang="en-US" sz="2800" dirty="0">
                <a:latin typeface="+mn-lt"/>
              </a:rPr>
              <a:t> vi </a:t>
            </a:r>
            <a:r>
              <a:rPr lang="en-US" sz="2800" dirty="0" err="1">
                <a:latin typeface="+mn-lt"/>
              </a:rPr>
              <a:t>mô</a:t>
            </a:r>
            <a:r>
              <a:rPr lang="en-US" sz="2800" dirty="0">
                <a:latin typeface="+mn-lt"/>
              </a:rPr>
              <a:t> </a:t>
            </a:r>
            <a:r>
              <a:rPr lang="en-US" sz="2800" dirty="0" err="1">
                <a:latin typeface="+mn-lt"/>
              </a:rPr>
              <a:t>của</a:t>
            </a:r>
            <a:r>
              <a:rPr lang="en-US" sz="2800" dirty="0">
                <a:latin typeface="+mn-lt"/>
              </a:rPr>
              <a:t> chip </a:t>
            </a:r>
            <a:r>
              <a:rPr lang="en-US" sz="2800" dirty="0" err="1">
                <a:latin typeface="+mn-lt"/>
              </a:rPr>
              <a:t>xử</a:t>
            </a:r>
            <a:r>
              <a:rPr lang="en-US" sz="2800" dirty="0">
                <a:latin typeface="+mn-lt"/>
              </a:rPr>
              <a:t> </a:t>
            </a:r>
            <a:r>
              <a:rPr lang="en-US" sz="2800" dirty="0" err="1">
                <a:latin typeface="+mn-lt"/>
              </a:rPr>
              <a:t>lý</a:t>
            </a:r>
            <a:r>
              <a:rPr lang="en-US" sz="2800" dirty="0">
                <a:latin typeface="+mn-lt"/>
              </a:rPr>
              <a:t> AMD Barcelona, </a:t>
            </a:r>
            <a:r>
              <a:rPr lang="en-US" sz="2800" dirty="0" err="1">
                <a:latin typeface="+mn-lt"/>
              </a:rPr>
              <a:t>hình</a:t>
            </a:r>
            <a:r>
              <a:rPr lang="en-US" sz="2800" dirty="0">
                <a:latin typeface="+mn-lt"/>
              </a:rPr>
              <a:t> </a:t>
            </a:r>
            <a:r>
              <a:rPr lang="en-US" sz="2800" dirty="0" err="1">
                <a:latin typeface="+mn-lt"/>
              </a:rPr>
              <a:t>bên</a:t>
            </a:r>
            <a:r>
              <a:rPr lang="en-US" sz="2800" dirty="0">
                <a:latin typeface="+mn-lt"/>
              </a:rPr>
              <a:t> </a:t>
            </a:r>
            <a:r>
              <a:rPr lang="en-US" sz="2800" dirty="0" err="1">
                <a:latin typeface="+mn-lt"/>
              </a:rPr>
              <a:t>phải</a:t>
            </a:r>
            <a:r>
              <a:rPr lang="en-US" sz="2800" dirty="0">
                <a:latin typeface="+mn-lt"/>
              </a:rPr>
              <a:t> </a:t>
            </a:r>
            <a:r>
              <a:rPr lang="en-US" sz="2800" dirty="0" err="1">
                <a:latin typeface="+mn-lt"/>
              </a:rPr>
              <a:t>thể</a:t>
            </a:r>
            <a:r>
              <a:rPr lang="en-US" sz="2800" dirty="0">
                <a:latin typeface="+mn-lt"/>
              </a:rPr>
              <a:t> </a:t>
            </a:r>
            <a:r>
              <a:rPr lang="en-US" sz="2800" dirty="0" err="1">
                <a:latin typeface="+mn-lt"/>
              </a:rPr>
              <a:t>hiện</a:t>
            </a:r>
            <a:r>
              <a:rPr lang="en-US" sz="2800" dirty="0">
                <a:latin typeface="+mn-lt"/>
              </a:rPr>
              <a:t> </a:t>
            </a:r>
            <a:r>
              <a:rPr lang="en-US" sz="2800" dirty="0" err="1">
                <a:latin typeface="+mn-lt"/>
              </a:rPr>
              <a:t>các</a:t>
            </a:r>
            <a:r>
              <a:rPr lang="en-US" sz="2800" dirty="0">
                <a:latin typeface="+mn-lt"/>
              </a:rPr>
              <a:t> </a:t>
            </a:r>
            <a:r>
              <a:rPr lang="en-US" sz="2800" dirty="0" err="1">
                <a:latin typeface="+mn-lt"/>
              </a:rPr>
              <a:t>khối</a:t>
            </a:r>
            <a:r>
              <a:rPr lang="en-US" sz="2800" dirty="0">
                <a:latin typeface="+mn-lt"/>
              </a:rPr>
              <a:t> </a:t>
            </a:r>
            <a:r>
              <a:rPr lang="en-US" sz="2800" dirty="0" err="1">
                <a:latin typeface="+mn-lt"/>
              </a:rPr>
              <a:t>chính</a:t>
            </a:r>
            <a:r>
              <a:rPr lang="en-US" sz="2800" dirty="0">
                <a:latin typeface="+mn-lt"/>
              </a:rPr>
              <a:t> </a:t>
            </a:r>
            <a:r>
              <a:rPr lang="en-US" sz="2800" dirty="0" err="1">
                <a:latin typeface="+mn-lt"/>
              </a:rPr>
              <a:t>trong</a:t>
            </a:r>
            <a:r>
              <a:rPr lang="en-US" sz="2800" dirty="0">
                <a:latin typeface="+mn-lt"/>
              </a:rPr>
              <a:t> bộ </a:t>
            </a:r>
            <a:r>
              <a:rPr lang="en-US" sz="2800" dirty="0" err="1">
                <a:latin typeface="+mn-lt"/>
              </a:rPr>
              <a:t>xử</a:t>
            </a:r>
            <a:r>
              <a:rPr lang="en-US" sz="2800" dirty="0">
                <a:latin typeface="+mn-lt"/>
              </a:rPr>
              <a:t> </a:t>
            </a:r>
            <a:r>
              <a:rPr lang="en-US" sz="2800" dirty="0" err="1">
                <a:latin typeface="+mn-lt"/>
              </a:rPr>
              <a:t>lý</a:t>
            </a:r>
            <a:r>
              <a:rPr lang="en-US" sz="2800" dirty="0">
                <a:latin typeface="+mn-lt"/>
              </a:rPr>
              <a:t>. Chip </a:t>
            </a:r>
            <a:r>
              <a:rPr lang="en-US" sz="2800" dirty="0" err="1">
                <a:latin typeface="+mn-lt"/>
              </a:rPr>
              <a:t>này</a:t>
            </a:r>
            <a:r>
              <a:rPr lang="en-US" sz="2800" dirty="0">
                <a:latin typeface="+mn-lt"/>
              </a:rPr>
              <a:t> </a:t>
            </a:r>
            <a:r>
              <a:rPr lang="en-US" sz="2800" dirty="0" err="1">
                <a:latin typeface="+mn-lt"/>
              </a:rPr>
              <a:t>có</a:t>
            </a:r>
            <a:r>
              <a:rPr lang="en-US" sz="2800" dirty="0">
                <a:latin typeface="+mn-lt"/>
              </a:rPr>
              <a:t> 4 </a:t>
            </a:r>
            <a:r>
              <a:rPr lang="en-US" sz="2800" dirty="0" err="1">
                <a:latin typeface="+mn-lt"/>
              </a:rPr>
              <a:t>nhân</a:t>
            </a:r>
            <a:r>
              <a:rPr lang="en-US" sz="2800" dirty="0">
                <a:latin typeface="+mn-lt"/>
              </a:rPr>
              <a:t> </a:t>
            </a:r>
            <a:r>
              <a:rPr lang="en-US" sz="2800" dirty="0" err="1">
                <a:latin typeface="+mn-lt"/>
              </a:rPr>
              <a:t>xử</a:t>
            </a:r>
            <a:r>
              <a:rPr lang="en-US" sz="2800" dirty="0">
                <a:latin typeface="+mn-lt"/>
              </a:rPr>
              <a:t> </a:t>
            </a:r>
            <a:r>
              <a:rPr lang="en-US" sz="2800" dirty="0" err="1">
                <a:latin typeface="+mn-lt"/>
              </a:rPr>
              <a:t>lý</a:t>
            </a:r>
            <a:r>
              <a:rPr lang="en-US" sz="2800" dirty="0">
                <a:latin typeface="+mn-lt"/>
              </a:rPr>
              <a:t>, hay </a:t>
            </a:r>
            <a:r>
              <a:rPr lang="en-US" sz="2800" dirty="0" err="1">
                <a:latin typeface="+mn-lt"/>
              </a:rPr>
              <a:t>còn</a:t>
            </a:r>
            <a:r>
              <a:rPr lang="en-US" sz="2800" dirty="0">
                <a:latin typeface="+mn-lt"/>
              </a:rPr>
              <a:t> </a:t>
            </a:r>
            <a:r>
              <a:rPr lang="en-US" sz="2800" dirty="0" err="1">
                <a:latin typeface="+mn-lt"/>
              </a:rPr>
              <a:t>gọi</a:t>
            </a:r>
            <a:r>
              <a:rPr lang="en-US" sz="2800" dirty="0">
                <a:latin typeface="+mn-lt"/>
              </a:rPr>
              <a:t> </a:t>
            </a:r>
            <a:r>
              <a:rPr lang="en-US" sz="2800" dirty="0" err="1">
                <a:latin typeface="+mn-lt"/>
              </a:rPr>
              <a:t>là</a:t>
            </a:r>
            <a:r>
              <a:rPr lang="en-US" sz="2800" dirty="0">
                <a:latin typeface="+mn-lt"/>
              </a:rPr>
              <a:t> 4 “core”. </a:t>
            </a:r>
          </a:p>
          <a:p>
            <a:endParaRPr lang="vi-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46</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pic>
        <p:nvPicPr>
          <p:cNvPr id="6" name="Picture 2">
            <a:extLst>
              <a:ext uri="{FF2B5EF4-FFF2-40B4-BE49-F238E27FC236}">
                <a16:creationId xmlns:a16="http://schemas.microsoft.com/office/drawing/2014/main" id="{A8C0E6EF-8276-D4BD-5ED5-4CCA28BC0DEE}"/>
              </a:ext>
            </a:extLst>
          </p:cNvPr>
          <p:cNvPicPr>
            <a:picLocks noChangeAspect="1" noChangeArrowheads="1"/>
          </p:cNvPicPr>
          <p:nvPr/>
        </p:nvPicPr>
        <p:blipFill rotWithShape="1">
          <a:blip r:embed="rId2" cstate="print"/>
          <a:srcRect t="3163"/>
          <a:stretch/>
        </p:blipFill>
        <p:spPr bwMode="auto">
          <a:xfrm>
            <a:off x="1824037" y="2528514"/>
            <a:ext cx="8543925" cy="3827834"/>
          </a:xfrm>
          <a:prstGeom prst="rect">
            <a:avLst/>
          </a:prstGeom>
          <a:noFill/>
          <a:ln w="9525">
            <a:noFill/>
            <a:miter lim="800000"/>
            <a:headEnd/>
            <a:tailEnd/>
          </a:ln>
        </p:spPr>
      </p:pic>
    </p:spTree>
    <p:extLst>
      <p:ext uri="{BB962C8B-B14F-4D97-AF65-F5344CB8AC3E}">
        <p14:creationId xmlns:p14="http://schemas.microsoft.com/office/powerpoint/2010/main" val="227516666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pPr algn="just" eaLnBrk="1" hangingPunct="1">
              <a:lnSpc>
                <a:spcPct val="90000"/>
              </a:lnSpc>
              <a:spcAft>
                <a:spcPts val="1000"/>
              </a:spcAft>
              <a:defRPr/>
            </a:pPr>
            <a:r>
              <a:rPr lang="en-US" b="1" dirty="0"/>
              <a:t>Bộ </a:t>
            </a:r>
            <a:r>
              <a:rPr lang="en-US" b="1" dirty="0" err="1"/>
              <a:t>xử</a:t>
            </a:r>
            <a:r>
              <a:rPr lang="en-US" b="1" dirty="0"/>
              <a:t> </a:t>
            </a:r>
            <a:r>
              <a:rPr lang="en-US" b="1" dirty="0" err="1"/>
              <a:t>lý</a:t>
            </a:r>
            <a:r>
              <a:rPr lang="en-US" b="1" dirty="0"/>
              <a:t> (</a:t>
            </a:r>
            <a:r>
              <a:rPr lang="en-US" b="1" dirty="0" err="1"/>
              <a:t>tt</a:t>
            </a:r>
            <a:r>
              <a:rPr lang="en-US" b="1" dirty="0"/>
              <a:t>)</a:t>
            </a:r>
          </a:p>
        </p:txBody>
      </p:sp>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p:txBody>
          <a:bodyPr>
            <a:normAutofit/>
          </a:bodyPr>
          <a:lstStyle/>
          <a:p>
            <a:pPr marL="0" indent="0" algn="just" eaLnBrk="1" hangingPunct="1">
              <a:lnSpc>
                <a:spcPct val="90000"/>
              </a:lnSpc>
              <a:spcAft>
                <a:spcPts val="1000"/>
              </a:spcAft>
              <a:buFont typeface="Wingdings" pitchFamily="2" charset="2"/>
              <a:buNone/>
              <a:defRPr/>
            </a:pPr>
            <a:r>
              <a:rPr lang="en-US" sz="2800" b="1" dirty="0"/>
              <a:t>Cache:</a:t>
            </a:r>
          </a:p>
          <a:p>
            <a:pPr marL="692150" indent="-234950" algn="just" eaLnBrk="1" hangingPunct="1">
              <a:lnSpc>
                <a:spcPct val="90000"/>
              </a:lnSpc>
              <a:spcAft>
                <a:spcPts val="3000"/>
              </a:spcAft>
              <a:buFont typeface="Wingdings" pitchFamily="2" charset="2"/>
              <a:buChar char="ü"/>
              <a:defRPr/>
            </a:pPr>
            <a:r>
              <a:rPr lang="en-US" sz="2800" dirty="0" err="1"/>
              <a:t>Bên</a:t>
            </a:r>
            <a:r>
              <a:rPr lang="en-US" sz="2800" dirty="0"/>
              <a:t> </a:t>
            </a:r>
            <a:r>
              <a:rPr lang="en-US" sz="2800" dirty="0" err="1"/>
              <a:t>trong</a:t>
            </a:r>
            <a:r>
              <a:rPr lang="en-US" sz="2800" dirty="0"/>
              <a:t> bộ </a:t>
            </a:r>
            <a:r>
              <a:rPr lang="en-US" sz="2800" dirty="0" err="1"/>
              <a:t>xử</a:t>
            </a:r>
            <a:r>
              <a:rPr lang="en-US" sz="2800" dirty="0"/>
              <a:t> </a:t>
            </a:r>
            <a:r>
              <a:rPr lang="en-US" sz="2800" dirty="0" err="1"/>
              <a:t>lý</a:t>
            </a:r>
            <a:r>
              <a:rPr lang="en-US" sz="2800" dirty="0"/>
              <a:t> </a:t>
            </a:r>
            <a:r>
              <a:rPr lang="en-US" sz="2800" dirty="0" err="1"/>
              <a:t>còn</a:t>
            </a:r>
            <a:r>
              <a:rPr lang="en-US" sz="2800" dirty="0"/>
              <a:t> </a:t>
            </a:r>
            <a:r>
              <a:rPr lang="en-US" sz="2800" dirty="0" err="1"/>
              <a:t>có</a:t>
            </a:r>
            <a:r>
              <a:rPr lang="en-US" sz="2800" dirty="0"/>
              <a:t> </a:t>
            </a:r>
            <a:r>
              <a:rPr lang="en-US" sz="2800" dirty="0" err="1"/>
              <a:t>một</a:t>
            </a:r>
            <a:r>
              <a:rPr lang="en-US" sz="2800" dirty="0"/>
              <a:t> </a:t>
            </a:r>
            <a:r>
              <a:rPr lang="en-US" sz="2800" dirty="0" err="1"/>
              <a:t>dạng</a:t>
            </a:r>
            <a:r>
              <a:rPr lang="en-US" sz="2800" dirty="0"/>
              <a:t> bộ </a:t>
            </a:r>
            <a:r>
              <a:rPr lang="en-US" sz="2800" dirty="0" err="1"/>
              <a:t>nhớ</a:t>
            </a:r>
            <a:r>
              <a:rPr lang="en-US" sz="2800" dirty="0"/>
              <a:t>, </a:t>
            </a:r>
            <a:r>
              <a:rPr lang="en-US" sz="2800" dirty="0" err="1"/>
              <a:t>gọi</a:t>
            </a:r>
            <a:r>
              <a:rPr lang="en-US" sz="2800" dirty="0"/>
              <a:t> </a:t>
            </a:r>
            <a:r>
              <a:rPr lang="en-US" sz="2800" dirty="0" err="1"/>
              <a:t>là</a:t>
            </a:r>
            <a:r>
              <a:rPr lang="en-US" sz="2800" dirty="0"/>
              <a:t> bộ </a:t>
            </a:r>
            <a:r>
              <a:rPr lang="en-US" sz="2800" dirty="0" err="1"/>
              <a:t>nhớ</a:t>
            </a:r>
            <a:r>
              <a:rPr lang="en-US" sz="2800" dirty="0"/>
              <a:t> </a:t>
            </a:r>
            <a:r>
              <a:rPr lang="en-US" sz="2800" dirty="0" err="1"/>
              <a:t>đệm</a:t>
            </a:r>
            <a:r>
              <a:rPr lang="en-US" sz="2800" dirty="0"/>
              <a:t> (Cache memory) </a:t>
            </a:r>
          </a:p>
          <a:p>
            <a:pPr marL="692150" indent="-234950" algn="just" eaLnBrk="1" hangingPunct="1">
              <a:lnSpc>
                <a:spcPct val="90000"/>
              </a:lnSpc>
              <a:spcAft>
                <a:spcPts val="3000"/>
              </a:spcAft>
              <a:buFont typeface="Wingdings" pitchFamily="2" charset="2"/>
              <a:buChar char="ü"/>
              <a:defRPr/>
            </a:pPr>
            <a:r>
              <a:rPr lang="en-US" sz="2800" dirty="0"/>
              <a:t>Bộ </a:t>
            </a:r>
            <a:r>
              <a:rPr lang="en-US" sz="2800" dirty="0" err="1"/>
              <a:t>nhớ</a:t>
            </a:r>
            <a:r>
              <a:rPr lang="en-US" sz="2800" dirty="0"/>
              <a:t> Cache </a:t>
            </a:r>
            <a:r>
              <a:rPr lang="en-US" sz="2800" dirty="0" err="1"/>
              <a:t>là</a:t>
            </a:r>
            <a:r>
              <a:rPr lang="en-US" sz="2800" dirty="0"/>
              <a:t> </a:t>
            </a:r>
            <a:r>
              <a:rPr lang="en-US" sz="2800" dirty="0" err="1"/>
              <a:t>một</a:t>
            </a:r>
            <a:r>
              <a:rPr lang="en-US" sz="2800" dirty="0"/>
              <a:t> bộ </a:t>
            </a:r>
            <a:r>
              <a:rPr lang="en-US" sz="2800" dirty="0" err="1"/>
              <a:t>nhớ</a:t>
            </a:r>
            <a:r>
              <a:rPr lang="en-US" sz="2800" dirty="0"/>
              <a:t> </a:t>
            </a:r>
            <a:r>
              <a:rPr lang="en-US" sz="2800" dirty="0" err="1"/>
              <a:t>nhỏ</a:t>
            </a:r>
            <a:r>
              <a:rPr lang="en-US" sz="2800" dirty="0"/>
              <a:t>, </a:t>
            </a:r>
            <a:r>
              <a:rPr lang="en-US" sz="2800" dirty="0" err="1"/>
              <a:t>nhanh</a:t>
            </a:r>
            <a:r>
              <a:rPr lang="en-US" sz="2800" dirty="0"/>
              <a:t>, </a:t>
            </a:r>
            <a:r>
              <a:rPr lang="en-US" sz="2800" dirty="0" err="1"/>
              <a:t>hoạt</a:t>
            </a:r>
            <a:r>
              <a:rPr lang="en-US" sz="2800" dirty="0"/>
              <a:t> </a:t>
            </a:r>
            <a:r>
              <a:rPr lang="en-US" sz="2800" dirty="0" err="1"/>
              <a:t>động</a:t>
            </a:r>
            <a:r>
              <a:rPr lang="en-US" sz="2800" dirty="0"/>
              <a:t> </a:t>
            </a:r>
            <a:r>
              <a:rPr lang="en-US" sz="2800" dirty="0" err="1"/>
              <a:t>như</a:t>
            </a:r>
            <a:r>
              <a:rPr lang="en-US" sz="2800" dirty="0"/>
              <a:t> </a:t>
            </a:r>
            <a:r>
              <a:rPr lang="en-US" sz="2800" dirty="0" err="1"/>
              <a:t>một</a:t>
            </a:r>
            <a:r>
              <a:rPr lang="en-US" sz="2800" dirty="0"/>
              <a:t> bộ </a:t>
            </a:r>
            <a:r>
              <a:rPr lang="en-US" sz="2800" dirty="0" err="1"/>
              <a:t>đệm</a:t>
            </a:r>
            <a:r>
              <a:rPr lang="en-US" sz="2800" dirty="0"/>
              <a:t> </a:t>
            </a:r>
            <a:r>
              <a:rPr lang="en-US" sz="2800" dirty="0" err="1"/>
              <a:t>cho</a:t>
            </a:r>
            <a:r>
              <a:rPr lang="en-US" sz="2800" dirty="0"/>
              <a:t> bộ </a:t>
            </a:r>
            <a:r>
              <a:rPr lang="en-US" sz="2800" dirty="0" err="1"/>
              <a:t>nhớ</a:t>
            </a:r>
            <a:r>
              <a:rPr lang="en-US" sz="2800" dirty="0"/>
              <a:t> DRAM. </a:t>
            </a:r>
          </a:p>
          <a:p>
            <a:pPr marL="692150" indent="-234950" algn="just" eaLnBrk="1" hangingPunct="1">
              <a:lnSpc>
                <a:spcPct val="90000"/>
              </a:lnSpc>
              <a:spcAft>
                <a:spcPts val="3000"/>
              </a:spcAft>
              <a:buFont typeface="Wingdings" pitchFamily="2" charset="2"/>
              <a:buChar char="ü"/>
              <a:defRPr/>
            </a:pPr>
            <a:r>
              <a:rPr lang="en-US" sz="2800" dirty="0"/>
              <a:t>Cache </a:t>
            </a:r>
            <a:r>
              <a:rPr lang="en-US" sz="2800" dirty="0" err="1"/>
              <a:t>được</a:t>
            </a:r>
            <a:r>
              <a:rPr lang="en-US" sz="2800" dirty="0"/>
              <a:t> </a:t>
            </a:r>
            <a:r>
              <a:rPr lang="en-US" sz="2800" dirty="0" err="1"/>
              <a:t>xây</a:t>
            </a:r>
            <a:r>
              <a:rPr lang="en-US" sz="2800" dirty="0"/>
              <a:t> </a:t>
            </a:r>
            <a:r>
              <a:rPr lang="en-US" sz="2800" dirty="0" err="1"/>
              <a:t>dựng</a:t>
            </a:r>
            <a:r>
              <a:rPr lang="en-US" sz="2800" dirty="0"/>
              <a:t> </a:t>
            </a:r>
            <a:r>
              <a:rPr lang="en-US" sz="2800" dirty="0" err="1"/>
              <a:t>trên</a:t>
            </a:r>
            <a:r>
              <a:rPr lang="en-US" sz="2800" dirty="0"/>
              <a:t> </a:t>
            </a:r>
            <a:r>
              <a:rPr lang="en-US" sz="2800" dirty="0" err="1"/>
              <a:t>một</a:t>
            </a:r>
            <a:r>
              <a:rPr lang="en-US" sz="2800" dirty="0"/>
              <a:t> </a:t>
            </a:r>
            <a:r>
              <a:rPr lang="en-US" sz="2800" dirty="0" err="1"/>
              <a:t>công</a:t>
            </a:r>
            <a:r>
              <a:rPr lang="en-US" sz="2800" dirty="0"/>
              <a:t> </a:t>
            </a:r>
            <a:r>
              <a:rPr lang="en-US" sz="2800" dirty="0" err="1"/>
              <a:t>nghệ</a:t>
            </a:r>
            <a:r>
              <a:rPr lang="en-US" sz="2800" dirty="0"/>
              <a:t> </a:t>
            </a:r>
            <a:r>
              <a:rPr lang="en-US" sz="2800" dirty="0" err="1"/>
              <a:t>thiết</a:t>
            </a:r>
            <a:r>
              <a:rPr lang="en-US" sz="2800" dirty="0"/>
              <a:t> </a:t>
            </a:r>
            <a:r>
              <a:rPr lang="en-US" sz="2800" dirty="0" err="1"/>
              <a:t>kế</a:t>
            </a:r>
            <a:r>
              <a:rPr lang="en-US" sz="2800" dirty="0"/>
              <a:t> bộ </a:t>
            </a:r>
            <a:r>
              <a:rPr lang="en-US" sz="2800" dirty="0" err="1"/>
              <a:t>nhớ</a:t>
            </a:r>
            <a:r>
              <a:rPr lang="en-US" sz="2800" dirty="0"/>
              <a:t> </a:t>
            </a:r>
            <a:r>
              <a:rPr lang="en-US" sz="2800" dirty="0" err="1"/>
              <a:t>khác</a:t>
            </a:r>
            <a:r>
              <a:rPr lang="en-US" sz="2800" dirty="0"/>
              <a:t> </a:t>
            </a:r>
            <a:r>
              <a:rPr lang="en-US" sz="2800" dirty="0" err="1"/>
              <a:t>biệt</a:t>
            </a:r>
            <a:r>
              <a:rPr lang="en-US" sz="2800" dirty="0"/>
              <a:t>, </a:t>
            </a:r>
            <a:r>
              <a:rPr lang="en-US" sz="2800" dirty="0" err="1"/>
              <a:t>dựa</a:t>
            </a:r>
            <a:r>
              <a:rPr lang="en-US" sz="2800" dirty="0"/>
              <a:t> </a:t>
            </a:r>
            <a:r>
              <a:rPr lang="en-US" sz="2800" dirty="0" err="1"/>
              <a:t>trên</a:t>
            </a:r>
            <a:r>
              <a:rPr lang="en-US" sz="2800" dirty="0"/>
              <a:t> static random access memory (SRAM). SRAM </a:t>
            </a:r>
            <a:r>
              <a:rPr lang="en-US" sz="2800" dirty="0" err="1"/>
              <a:t>có</a:t>
            </a:r>
            <a:r>
              <a:rPr lang="en-US" sz="2800" dirty="0"/>
              <a:t> </a:t>
            </a:r>
            <a:r>
              <a:rPr lang="en-US" sz="2800" dirty="0" err="1"/>
              <a:t>tốc</a:t>
            </a:r>
            <a:r>
              <a:rPr lang="en-US" sz="2800" dirty="0"/>
              <a:t> </a:t>
            </a:r>
            <a:r>
              <a:rPr lang="en-US" sz="2800" dirty="0" err="1"/>
              <a:t>độ</a:t>
            </a:r>
            <a:r>
              <a:rPr lang="en-US" sz="2800" dirty="0"/>
              <a:t> </a:t>
            </a:r>
            <a:r>
              <a:rPr lang="en-US" sz="2800" dirty="0" err="1"/>
              <a:t>truy</a:t>
            </a:r>
            <a:r>
              <a:rPr lang="en-US" sz="2800" dirty="0"/>
              <a:t> </a:t>
            </a:r>
            <a:r>
              <a:rPr lang="en-US" sz="2800" dirty="0" err="1"/>
              <a:t>cập</a:t>
            </a:r>
            <a:r>
              <a:rPr lang="en-US" sz="2800" dirty="0"/>
              <a:t> </a:t>
            </a:r>
            <a:r>
              <a:rPr lang="en-US" sz="2800" dirty="0" err="1"/>
              <a:t>nhanh</a:t>
            </a:r>
            <a:r>
              <a:rPr lang="en-US" sz="2800" dirty="0"/>
              <a:t> </a:t>
            </a:r>
            <a:r>
              <a:rPr lang="en-US" sz="2800" dirty="0" err="1"/>
              <a:t>hơn</a:t>
            </a:r>
            <a:r>
              <a:rPr lang="en-US" sz="2800" dirty="0"/>
              <a:t> </a:t>
            </a:r>
            <a:r>
              <a:rPr lang="en-US" sz="2800" dirty="0" err="1"/>
              <a:t>và</a:t>
            </a:r>
            <a:r>
              <a:rPr lang="en-US" sz="2800" dirty="0"/>
              <a:t> </a:t>
            </a:r>
            <a:r>
              <a:rPr lang="en-US" sz="2800" dirty="0" err="1"/>
              <a:t>ít</a:t>
            </a:r>
            <a:r>
              <a:rPr lang="en-US" sz="2800" dirty="0"/>
              <a:t> </a:t>
            </a:r>
            <a:r>
              <a:rPr lang="en-US" sz="2800" dirty="0" err="1"/>
              <a:t>dày</a:t>
            </a:r>
            <a:r>
              <a:rPr lang="en-US" sz="2800" dirty="0"/>
              <a:t> </a:t>
            </a:r>
            <a:r>
              <a:rPr lang="en-US" sz="2800" dirty="0" err="1"/>
              <a:t>đặc</a:t>
            </a:r>
            <a:r>
              <a:rPr lang="en-US" sz="2800" dirty="0"/>
              <a:t> </a:t>
            </a:r>
            <a:r>
              <a:rPr lang="en-US" sz="2800" dirty="0" err="1"/>
              <a:t>hơn</a:t>
            </a:r>
            <a:r>
              <a:rPr lang="en-US" sz="2800" dirty="0"/>
              <a:t>, do </a:t>
            </a:r>
            <a:r>
              <a:rPr lang="en-US" sz="2800" dirty="0" err="1"/>
              <a:t>đó</a:t>
            </a:r>
            <a:r>
              <a:rPr lang="en-US" sz="2800" dirty="0"/>
              <a:t> </a:t>
            </a:r>
            <a:r>
              <a:rPr lang="en-US" sz="2800" dirty="0" err="1"/>
              <a:t>mắc</a:t>
            </a:r>
            <a:r>
              <a:rPr lang="en-US" sz="2800" dirty="0"/>
              <a:t> </a:t>
            </a:r>
            <a:r>
              <a:rPr lang="en-US" sz="2800" dirty="0" err="1"/>
              <a:t>hơn</a:t>
            </a:r>
            <a:r>
              <a:rPr lang="en-US" sz="2800" dirty="0"/>
              <a:t> DRAM.</a:t>
            </a:r>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47</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Tree>
    <p:extLst>
      <p:ext uri="{BB962C8B-B14F-4D97-AF65-F5344CB8AC3E}">
        <p14:creationId xmlns:p14="http://schemas.microsoft.com/office/powerpoint/2010/main" val="32814811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r>
              <a:rPr lang="en-US" altLang="ja-JP" dirty="0" err="1"/>
              <a:t>Tóm</a:t>
            </a:r>
            <a:r>
              <a:rPr lang="en-US" altLang="ja-JP" dirty="0"/>
              <a:t> </a:t>
            </a:r>
            <a:r>
              <a:rPr lang="en-US" altLang="ja-JP" dirty="0" err="1"/>
              <a:t>tắt</a:t>
            </a:r>
            <a:r>
              <a:rPr lang="en-US" altLang="ja-JP" dirty="0"/>
              <a:t> </a:t>
            </a:r>
            <a:r>
              <a:rPr lang="en-US" altLang="ja-JP" dirty="0" err="1"/>
              <a:t>lại</a:t>
            </a:r>
            <a:r>
              <a:rPr lang="en-US" altLang="ja-JP" dirty="0"/>
              <a:t> </a:t>
            </a:r>
            <a:r>
              <a:rPr lang="en-US" altLang="ja-JP" dirty="0" err="1"/>
              <a:t>nội</a:t>
            </a:r>
            <a:r>
              <a:rPr lang="en-US" altLang="ja-JP" dirty="0"/>
              <a:t> dung </a:t>
            </a:r>
            <a:r>
              <a:rPr lang="en-US" altLang="ja-JP" dirty="0" err="1"/>
              <a:t>buổi</a:t>
            </a:r>
            <a:r>
              <a:rPr lang="en-US" altLang="ja-JP" dirty="0"/>
              <a:t> </a:t>
            </a:r>
            <a:r>
              <a:rPr lang="en-US" altLang="ja-JP" dirty="0" err="1"/>
              <a:t>học</a:t>
            </a:r>
            <a:endParaRPr lang="en-VN" dirty="0"/>
          </a:p>
        </p:txBody>
      </p:sp>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p:txBody>
          <a:bodyPr/>
          <a:lstStyle/>
          <a:p>
            <a:pPr>
              <a:spcAft>
                <a:spcPts val="3600"/>
              </a:spcAft>
            </a:pPr>
            <a:r>
              <a:rPr lang="en-US" sz="2800" b="1" dirty="0" err="1"/>
              <a:t>Lịch</a:t>
            </a:r>
            <a:r>
              <a:rPr lang="en-US" sz="2800" b="1" dirty="0"/>
              <a:t> </a:t>
            </a:r>
            <a:r>
              <a:rPr lang="en-US" sz="2800" b="1" dirty="0" err="1"/>
              <a:t>sử</a:t>
            </a:r>
            <a:r>
              <a:rPr lang="en-US" sz="2800" b="1" dirty="0"/>
              <a:t> </a:t>
            </a:r>
            <a:r>
              <a:rPr lang="en-US" sz="2800" b="1" dirty="0" err="1"/>
              <a:t>phát</a:t>
            </a:r>
            <a:r>
              <a:rPr lang="en-US" sz="2800" b="1" dirty="0"/>
              <a:t> </a:t>
            </a:r>
            <a:r>
              <a:rPr lang="en-US" sz="2800" b="1" dirty="0" err="1"/>
              <a:t>triển</a:t>
            </a:r>
            <a:r>
              <a:rPr lang="en-US" sz="2800" b="1" dirty="0"/>
              <a:t> </a:t>
            </a:r>
            <a:r>
              <a:rPr lang="en-US" sz="2800" b="1" dirty="0" err="1"/>
              <a:t>của</a:t>
            </a:r>
            <a:r>
              <a:rPr lang="en-US" sz="2800" b="1" dirty="0"/>
              <a:t> </a:t>
            </a:r>
            <a:r>
              <a:rPr lang="en-US" sz="2800" b="1" dirty="0" err="1"/>
              <a:t>máy</a:t>
            </a:r>
            <a:r>
              <a:rPr lang="en-US" sz="2800" b="1" dirty="0"/>
              <a:t> </a:t>
            </a:r>
            <a:r>
              <a:rPr lang="en-US" sz="2800" b="1" dirty="0" err="1"/>
              <a:t>tính</a:t>
            </a:r>
            <a:r>
              <a:rPr lang="en-US" sz="2800" b="1" dirty="0"/>
              <a:t>.</a:t>
            </a:r>
          </a:p>
          <a:p>
            <a:pPr>
              <a:spcAft>
                <a:spcPts val="3600"/>
              </a:spcAft>
            </a:pPr>
            <a:r>
              <a:rPr lang="en-US" sz="2800" b="1" dirty="0" err="1"/>
              <a:t>Phân</a:t>
            </a:r>
            <a:r>
              <a:rPr lang="en-US" sz="2800" b="1" dirty="0"/>
              <a:t> </a:t>
            </a:r>
            <a:r>
              <a:rPr lang="en-US" sz="2800" b="1" dirty="0" err="1"/>
              <a:t>loại</a:t>
            </a:r>
            <a:r>
              <a:rPr lang="en-US" sz="2800" b="1" dirty="0"/>
              <a:t> </a:t>
            </a:r>
            <a:r>
              <a:rPr lang="en-US" sz="2800" b="1" dirty="0" err="1"/>
              <a:t>máy</a:t>
            </a:r>
            <a:r>
              <a:rPr lang="en-US" sz="2800" b="1" dirty="0"/>
              <a:t> </a:t>
            </a:r>
            <a:r>
              <a:rPr lang="en-US" sz="2800" b="1" dirty="0" err="1"/>
              <a:t>tính</a:t>
            </a:r>
            <a:r>
              <a:rPr lang="en-US" sz="2800" b="1" dirty="0"/>
              <a:t>.</a:t>
            </a:r>
          </a:p>
          <a:p>
            <a:pPr>
              <a:spcAft>
                <a:spcPts val="3600"/>
              </a:spcAft>
            </a:pPr>
            <a:r>
              <a:rPr lang="en-US" sz="2800" b="1" dirty="0" err="1"/>
              <a:t>Các</a:t>
            </a:r>
            <a:r>
              <a:rPr lang="en-US" sz="2800" b="1" dirty="0"/>
              <a:t> </a:t>
            </a:r>
            <a:r>
              <a:rPr lang="en-US" sz="2800" b="1" dirty="0" err="1"/>
              <a:t>lớp</a:t>
            </a:r>
            <a:r>
              <a:rPr lang="en-US" sz="2800" b="1" dirty="0"/>
              <a:t> </a:t>
            </a:r>
            <a:r>
              <a:rPr lang="en-US" sz="2800" b="1" dirty="0" err="1"/>
              <a:t>thực</a:t>
            </a:r>
            <a:r>
              <a:rPr lang="en-US" sz="2800" b="1" dirty="0"/>
              <a:t> </a:t>
            </a:r>
            <a:r>
              <a:rPr lang="en-US" sz="2800" b="1" dirty="0" err="1"/>
              <a:t>thi</a:t>
            </a:r>
            <a:r>
              <a:rPr lang="en-US" sz="2800" b="1" dirty="0"/>
              <a:t> </a:t>
            </a:r>
            <a:r>
              <a:rPr lang="en-US" sz="2800" b="1" dirty="0" err="1"/>
              <a:t>bên</a:t>
            </a:r>
            <a:r>
              <a:rPr lang="en-US" sz="2800" b="1" dirty="0"/>
              <a:t> </a:t>
            </a:r>
            <a:r>
              <a:rPr lang="en-US" sz="2800" b="1" dirty="0" err="1"/>
              <a:t>trong</a:t>
            </a:r>
            <a:r>
              <a:rPr lang="en-US" sz="2800" b="1" dirty="0"/>
              <a:t> </a:t>
            </a:r>
            <a:r>
              <a:rPr lang="en-US" sz="2800" b="1" dirty="0" err="1"/>
              <a:t>máy</a:t>
            </a:r>
            <a:r>
              <a:rPr lang="en-US" sz="2800" b="1" dirty="0"/>
              <a:t> </a:t>
            </a:r>
            <a:r>
              <a:rPr lang="en-US" sz="2800" b="1" dirty="0" err="1"/>
              <a:t>tính</a:t>
            </a:r>
            <a:r>
              <a:rPr lang="en-US" sz="2800" b="1" dirty="0"/>
              <a:t>.</a:t>
            </a:r>
          </a:p>
          <a:p>
            <a:pPr>
              <a:spcAft>
                <a:spcPts val="3600"/>
              </a:spcAft>
            </a:pPr>
            <a:r>
              <a:rPr lang="en-US" sz="2800" b="1" dirty="0" err="1"/>
              <a:t>Các</a:t>
            </a:r>
            <a:r>
              <a:rPr lang="en-US" sz="2800" b="1" dirty="0"/>
              <a:t> </a:t>
            </a:r>
            <a:r>
              <a:rPr lang="en-US" sz="2800" b="1" dirty="0" err="1"/>
              <a:t>chức</a:t>
            </a:r>
            <a:r>
              <a:rPr lang="en-US" sz="2800" b="1" dirty="0"/>
              <a:t> </a:t>
            </a:r>
            <a:r>
              <a:rPr lang="en-US" sz="2800" b="1" dirty="0" err="1"/>
              <a:t>năng</a:t>
            </a:r>
            <a:r>
              <a:rPr lang="en-US" sz="2800" b="1" dirty="0"/>
              <a:t> </a:t>
            </a:r>
            <a:r>
              <a:rPr lang="en-US" sz="2800" b="1" dirty="0" err="1"/>
              <a:t>và</a:t>
            </a:r>
            <a:r>
              <a:rPr lang="en-US" sz="2800" b="1" dirty="0"/>
              <a:t> </a:t>
            </a:r>
            <a:r>
              <a:rPr lang="en-US" sz="2800" b="1" dirty="0" err="1"/>
              <a:t>thành</a:t>
            </a:r>
            <a:r>
              <a:rPr lang="en-US" sz="2800" b="1" dirty="0"/>
              <a:t> </a:t>
            </a:r>
            <a:r>
              <a:rPr lang="en-US" sz="2800" b="1" dirty="0" err="1"/>
              <a:t>phần</a:t>
            </a:r>
            <a:r>
              <a:rPr lang="en-US" sz="2800" b="1" dirty="0"/>
              <a:t> c</a:t>
            </a:r>
            <a:r>
              <a:rPr lang="vi-VN" sz="2800" b="1" dirty="0"/>
              <a:t>ơ</a:t>
            </a:r>
            <a:r>
              <a:rPr lang="en-US" sz="2800" b="1" dirty="0"/>
              <a:t> </a:t>
            </a:r>
            <a:r>
              <a:rPr lang="en-US" sz="2800" b="1" dirty="0" err="1"/>
              <a:t>bản</a:t>
            </a:r>
            <a:r>
              <a:rPr lang="en-US" sz="2800" b="1" dirty="0"/>
              <a:t> </a:t>
            </a:r>
            <a:r>
              <a:rPr lang="en-US" sz="2800" b="1" dirty="0" err="1"/>
              <a:t>của</a:t>
            </a:r>
            <a:r>
              <a:rPr lang="en-US" sz="2800" b="1" dirty="0"/>
              <a:t> </a:t>
            </a:r>
            <a:r>
              <a:rPr lang="en-US" sz="2800" b="1" dirty="0" err="1"/>
              <a:t>máy</a:t>
            </a:r>
            <a:r>
              <a:rPr lang="en-US" sz="2800" b="1" dirty="0"/>
              <a:t> </a:t>
            </a:r>
            <a:r>
              <a:rPr lang="en-US" sz="2800" b="1" dirty="0" err="1"/>
              <a:t>tính</a:t>
            </a:r>
            <a:r>
              <a:rPr lang="en-US" sz="2800" b="1" dirty="0"/>
              <a:t>.</a:t>
            </a:r>
            <a:endParaRPr lang="en-US" dirty="0"/>
          </a:p>
          <a:p>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48</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Tree>
    <p:extLst>
      <p:ext uri="{BB962C8B-B14F-4D97-AF65-F5344CB8AC3E}">
        <p14:creationId xmlns:p14="http://schemas.microsoft.com/office/powerpoint/2010/main" val="167123483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r>
              <a:rPr lang="en-US" dirty="0" err="1"/>
              <a:t>Câu</a:t>
            </a:r>
            <a:r>
              <a:rPr lang="en-US" dirty="0"/>
              <a:t> </a:t>
            </a:r>
            <a:r>
              <a:rPr lang="en-US" dirty="0" err="1"/>
              <a:t>hỏi</a:t>
            </a:r>
            <a:r>
              <a:rPr lang="en-US" dirty="0"/>
              <a:t> </a:t>
            </a:r>
            <a:r>
              <a:rPr lang="en-US" dirty="0" err="1"/>
              <a:t>ôn</a:t>
            </a:r>
            <a:r>
              <a:rPr lang="en-US" dirty="0"/>
              <a:t> </a:t>
            </a:r>
            <a:r>
              <a:rPr lang="en-US" dirty="0" err="1"/>
              <a:t>tập</a:t>
            </a:r>
            <a:r>
              <a:rPr lang="en-US" dirty="0"/>
              <a:t> </a:t>
            </a:r>
            <a:r>
              <a:rPr lang="en-US" dirty="0" err="1"/>
              <a:t>chương</a:t>
            </a:r>
            <a:r>
              <a:rPr lang="en-US" dirty="0"/>
              <a:t> 1</a:t>
            </a:r>
            <a:endParaRPr lang="en-VN" dirty="0"/>
          </a:p>
        </p:txBody>
      </p:sp>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p:txBody>
          <a:bodyPr/>
          <a:lstStyle/>
          <a:p>
            <a:r>
              <a:rPr lang="vi-VN" sz="2800" dirty="0"/>
              <a:t>Nêu các thành phần</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49</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Tree>
    <p:extLst>
      <p:ext uri="{BB962C8B-B14F-4D97-AF65-F5344CB8AC3E}">
        <p14:creationId xmlns:p14="http://schemas.microsoft.com/office/powerpoint/2010/main" val="5822418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D8756CC-FF80-6915-444D-795BAF1CD5A1}"/>
              </a:ext>
            </a:extLst>
          </p:cNvPr>
          <p:cNvSpPr>
            <a:spLocks noGrp="1"/>
          </p:cNvSpPr>
          <p:nvPr>
            <p:ph type="sldNum" sz="quarter" idx="12"/>
          </p:nvPr>
        </p:nvSpPr>
        <p:spPr/>
        <p:txBody>
          <a:bodyPr/>
          <a:lstStyle/>
          <a:p>
            <a:fld id="{D8B0B3AC-44A8-D142-AAF6-9A453466E1A4}" type="slidenum">
              <a:rPr lang="en-VN" smtClean="0"/>
              <a:pPr/>
              <a:t>50</a:t>
            </a:fld>
            <a:endParaRPr lang="en-VN" dirty="0"/>
          </a:p>
        </p:txBody>
      </p:sp>
      <p:sp>
        <p:nvSpPr>
          <p:cNvPr id="3" name="Footer Placeholder 2">
            <a:extLst>
              <a:ext uri="{FF2B5EF4-FFF2-40B4-BE49-F238E27FC236}">
                <a16:creationId xmlns:a16="http://schemas.microsoft.com/office/drawing/2014/main" id="{BF1000C4-9A2E-05A2-1818-684E7F995947}"/>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Title 1">
            <a:extLst>
              <a:ext uri="{FF2B5EF4-FFF2-40B4-BE49-F238E27FC236}">
                <a16:creationId xmlns:a16="http://schemas.microsoft.com/office/drawing/2014/main" id="{7A14E97F-0DB8-D467-8B0C-A879824FD45F}"/>
              </a:ext>
            </a:extLst>
          </p:cNvPr>
          <p:cNvSpPr txBox="1">
            <a:spLocks/>
          </p:cNvSpPr>
          <p:nvPr/>
        </p:nvSpPr>
        <p:spPr>
          <a:xfrm>
            <a:off x="4684910" y="1918010"/>
            <a:ext cx="4012558" cy="1100921"/>
          </a:xfrm>
          <a:prstGeom prst="rect">
            <a:avLst/>
          </a:prstGeom>
        </p:spPr>
        <p:txBody>
          <a:bodyPr/>
          <a:lstStyle>
            <a:lvl1pPr algn="l" defTabSz="914400" rtl="0" eaLnBrk="1" latinLnBrk="0" hangingPunct="1">
              <a:lnSpc>
                <a:spcPct val="90000"/>
              </a:lnSpc>
              <a:spcBef>
                <a:spcPct val="0"/>
              </a:spcBef>
              <a:buNone/>
              <a:defRPr sz="4000" b="1" kern="1200">
                <a:gradFill flip="none" rotWithShape="1">
                  <a:gsLst>
                    <a:gs pos="0">
                      <a:srgbClr val="0072FF"/>
                    </a:gs>
                    <a:gs pos="100000">
                      <a:srgbClr val="00C6FF"/>
                    </a:gs>
                  </a:gsLst>
                  <a:lin ang="2700000" scaled="1"/>
                  <a:tileRect/>
                </a:gradFill>
                <a:effectLst>
                  <a:innerShdw blurRad="114300">
                    <a:schemeClr val="bg1"/>
                  </a:innerShdw>
                </a:effectLst>
                <a:latin typeface="Times New Roman" panose="02020603050405020304" pitchFamily="18" charset="0"/>
                <a:ea typeface="+mj-ea"/>
                <a:cs typeface="Times New Roman" panose="02020603050405020304" pitchFamily="18" charset="0"/>
              </a:defRPr>
            </a:lvl1pPr>
          </a:lstStyle>
          <a:p>
            <a:r>
              <a:rPr lang="en-US" dirty="0"/>
              <a:t>THẢO LUẬN</a:t>
            </a:r>
          </a:p>
        </p:txBody>
      </p:sp>
      <p:pic>
        <p:nvPicPr>
          <p:cNvPr id="5" name="Picture 4" descr="http://data.sinhvienit.net/2013/T09/img/SinhVienIT.Net---suy-nghi.jpg">
            <a:extLst>
              <a:ext uri="{FF2B5EF4-FFF2-40B4-BE49-F238E27FC236}">
                <a16:creationId xmlns:a16="http://schemas.microsoft.com/office/drawing/2014/main" id="{91D62A03-02AF-AB7F-80A0-89E3D2490D6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95842" y="3018931"/>
            <a:ext cx="3211551" cy="24086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65609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1705</TotalTime>
  <Words>3214</Words>
  <Application>Microsoft Office PowerPoint</Application>
  <PresentationFormat>Widescreen</PresentationFormat>
  <Paragraphs>375</Paragraphs>
  <Slides>50</Slides>
  <Notes>6</Notes>
  <HiddenSlides>0</HiddenSlides>
  <MMClips>1</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50</vt:i4>
      </vt:variant>
    </vt:vector>
  </HeadingPairs>
  <TitlesOfParts>
    <vt:vector size="58" baseType="lpstr">
      <vt:lpstr>Arial</vt:lpstr>
      <vt:lpstr>Arial</vt:lpstr>
      <vt:lpstr>Calibri</vt:lpstr>
      <vt:lpstr>Roboto</vt:lpstr>
      <vt:lpstr>Times New Roman</vt:lpstr>
      <vt:lpstr>var( --e-global-typography-ecf5e98-font-family )</vt:lpstr>
      <vt:lpstr>Wingdings</vt:lpstr>
      <vt:lpstr>Office Theme</vt:lpstr>
      <vt:lpstr>PowerPoint Presentation</vt:lpstr>
      <vt:lpstr>PowerPoint Presentation</vt:lpstr>
      <vt:lpstr>Thông tin về giảng viên</vt:lpstr>
      <vt:lpstr>Giới thiệu môn học</vt:lpstr>
      <vt:lpstr>Giới thiệu môn học</vt:lpstr>
      <vt:lpstr>Chuẩn đầu ra môn học</vt:lpstr>
      <vt:lpstr>Nội dung môn học - lý thuyết</vt:lpstr>
      <vt:lpstr>Các thành phần đánh giá môn học</vt:lpstr>
      <vt:lpstr>Tài liệu học tập và tham khảo</vt:lpstr>
      <vt:lpstr>Đề cương môn học</vt:lpstr>
      <vt:lpstr>Quy định môn học</vt:lpstr>
      <vt:lpstr>PowerPoint Presentation</vt:lpstr>
      <vt:lpstr>PowerPoint Presentation</vt:lpstr>
      <vt:lpstr>PowerPoint Presentation</vt:lpstr>
      <vt:lpstr>PowerPoint Presentation</vt:lpstr>
      <vt:lpstr>Lịch sử phát triển của máy tính</vt:lpstr>
      <vt:lpstr>Thế hệ 0: Máy chuyển động cơ học</vt:lpstr>
      <vt:lpstr>Thế hệ 0: Máy chuyển động cơ học</vt:lpstr>
      <vt:lpstr>Thế hệ 1: Máy tính sử dụng công nghệ đèn chân không</vt:lpstr>
      <vt:lpstr>Công nghệ đèn chân không</vt:lpstr>
      <vt:lpstr>Thế hệ 2: Máy tính sử dụng transistor</vt:lpstr>
      <vt:lpstr>Công nghệ transistor</vt:lpstr>
      <vt:lpstr>Thế hệ 3: Máy tính sử dụng công nghệ mạch tích hợp</vt:lpstr>
      <vt:lpstr>Công nghệ mạch tích hợp</vt:lpstr>
      <vt:lpstr>Thế hệ 4: Máy tính sử dụng công nghệ VLSI</vt:lpstr>
      <vt:lpstr>Phân loại mạch tích hợp</vt:lpstr>
      <vt:lpstr>Một số tài liệu tham khảo thêm</vt:lpstr>
      <vt:lpstr>PowerPoint Presentation</vt:lpstr>
      <vt:lpstr>Phân loại máy tính</vt:lpstr>
      <vt:lpstr>Máy tính cá nhân</vt:lpstr>
      <vt:lpstr>Máy chủ</vt:lpstr>
      <vt:lpstr>Máy chủ (tt)</vt:lpstr>
      <vt:lpstr>Máy tính nhúng</vt:lpstr>
      <vt:lpstr>PowerPoint Presentation</vt:lpstr>
      <vt:lpstr>Các lớp thực thi bên trong máy tính</vt:lpstr>
      <vt:lpstr>Các lớp thực thi bên trong máy tính (tt)</vt:lpstr>
      <vt:lpstr>PowerPoint Presentation</vt:lpstr>
      <vt:lpstr>Các thành phần cơ bản của máy tính</vt:lpstr>
      <vt:lpstr>Các thành phần cơ bản của máy tính</vt:lpstr>
      <vt:lpstr>Các thành phần cơ bản của máy tính (tt)</vt:lpstr>
      <vt:lpstr>Các thành phần cơ bản của máy tính (tt)</vt:lpstr>
      <vt:lpstr>Các thành phần cơ bản của máy tính (tt)</vt:lpstr>
      <vt:lpstr>Bên trong thùng máy</vt:lpstr>
      <vt:lpstr>Phân cấp bộ nhớ</vt:lpstr>
      <vt:lpstr>Bên trong thùng máy (tt)</vt:lpstr>
      <vt:lpstr>Bộ xử lý</vt:lpstr>
      <vt:lpstr>Bộ xử lý (tt)</vt:lpstr>
      <vt:lpstr>Tóm tắt lại nội dung buổi học</vt:lpstr>
      <vt:lpstr>Câu hỏi ôn tập chương 1</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Trần Hoàng Lộc</dc:creator>
  <cp:lastModifiedBy>Phan Đình Duy</cp:lastModifiedBy>
  <cp:revision>113</cp:revision>
  <dcterms:created xsi:type="dcterms:W3CDTF">2023-03-03T01:55:04Z</dcterms:created>
  <dcterms:modified xsi:type="dcterms:W3CDTF">2024-10-10T11:38:52Z</dcterms:modified>
</cp:coreProperties>
</file>