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3"/>
  </p:notesMasterIdLst>
  <p:sldIdLst>
    <p:sldId id="314" r:id="rId2"/>
    <p:sldId id="262" r:id="rId3"/>
    <p:sldId id="269" r:id="rId4"/>
    <p:sldId id="261" r:id="rId5"/>
    <p:sldId id="345" r:id="rId6"/>
    <p:sldId id="372" r:id="rId7"/>
    <p:sldId id="295" r:id="rId8"/>
    <p:sldId id="350" r:id="rId9"/>
    <p:sldId id="351" r:id="rId10"/>
    <p:sldId id="352" r:id="rId11"/>
    <p:sldId id="271" r:id="rId12"/>
    <p:sldId id="373" r:id="rId13"/>
    <p:sldId id="328" r:id="rId14"/>
    <p:sldId id="354" r:id="rId15"/>
    <p:sldId id="357" r:id="rId16"/>
    <p:sldId id="374" r:id="rId17"/>
    <p:sldId id="375" r:id="rId18"/>
    <p:sldId id="376" r:id="rId19"/>
    <p:sldId id="377" r:id="rId20"/>
    <p:sldId id="378" r:id="rId21"/>
    <p:sldId id="379" r:id="rId22"/>
    <p:sldId id="382" r:id="rId23"/>
    <p:sldId id="383" r:id="rId24"/>
    <p:sldId id="380" r:id="rId25"/>
    <p:sldId id="381" r:id="rId26"/>
    <p:sldId id="385" r:id="rId27"/>
    <p:sldId id="386" r:id="rId28"/>
    <p:sldId id="390" r:id="rId29"/>
    <p:sldId id="387" r:id="rId30"/>
    <p:sldId id="388" r:id="rId31"/>
    <p:sldId id="389" r:id="rId32"/>
    <p:sldId id="391" r:id="rId33"/>
    <p:sldId id="392" r:id="rId34"/>
    <p:sldId id="393" r:id="rId35"/>
    <p:sldId id="394" r:id="rId36"/>
    <p:sldId id="273" r:id="rId37"/>
    <p:sldId id="395" r:id="rId38"/>
    <p:sldId id="398" r:id="rId39"/>
    <p:sldId id="396" r:id="rId40"/>
    <p:sldId id="400" r:id="rId41"/>
    <p:sldId id="401" r:id="rId42"/>
    <p:sldId id="397" r:id="rId43"/>
    <p:sldId id="399" r:id="rId44"/>
    <p:sldId id="402" r:id="rId45"/>
    <p:sldId id="403" r:id="rId46"/>
    <p:sldId id="404" r:id="rId47"/>
    <p:sldId id="405" r:id="rId48"/>
    <p:sldId id="406" r:id="rId49"/>
    <p:sldId id="407" r:id="rId50"/>
    <p:sldId id="408" r:id="rId51"/>
    <p:sldId id="409" r:id="rId52"/>
    <p:sldId id="410" r:id="rId53"/>
    <p:sldId id="411" r:id="rId54"/>
    <p:sldId id="412" r:id="rId55"/>
    <p:sldId id="413" r:id="rId56"/>
    <p:sldId id="416" r:id="rId57"/>
    <p:sldId id="417" r:id="rId58"/>
    <p:sldId id="414" r:id="rId59"/>
    <p:sldId id="418" r:id="rId60"/>
    <p:sldId id="301" r:id="rId61"/>
    <p:sldId id="415" r:id="rId62"/>
    <p:sldId id="359" r:id="rId63"/>
    <p:sldId id="419" r:id="rId64"/>
    <p:sldId id="420" r:id="rId65"/>
    <p:sldId id="421" r:id="rId66"/>
    <p:sldId id="422" r:id="rId67"/>
    <p:sldId id="423" r:id="rId68"/>
    <p:sldId id="424" r:id="rId69"/>
    <p:sldId id="361" r:id="rId70"/>
    <p:sldId id="425" r:id="rId71"/>
    <p:sldId id="426" r:id="rId72"/>
    <p:sldId id="427" r:id="rId73"/>
    <p:sldId id="302" r:id="rId74"/>
    <p:sldId id="428" r:id="rId75"/>
    <p:sldId id="429" r:id="rId76"/>
    <p:sldId id="430" r:id="rId77"/>
    <p:sldId id="431" r:id="rId78"/>
    <p:sldId id="432" r:id="rId79"/>
    <p:sldId id="433" r:id="rId80"/>
    <p:sldId id="434" r:id="rId81"/>
    <p:sldId id="435" r:id="rId82"/>
    <p:sldId id="436" r:id="rId83"/>
    <p:sldId id="437" r:id="rId84"/>
    <p:sldId id="438" r:id="rId85"/>
    <p:sldId id="439" r:id="rId86"/>
    <p:sldId id="440" r:id="rId87"/>
    <p:sldId id="441" r:id="rId88"/>
    <p:sldId id="442" r:id="rId89"/>
    <p:sldId id="443" r:id="rId90"/>
    <p:sldId id="276" r:id="rId91"/>
    <p:sldId id="268" r:id="rId92"/>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4F91"/>
    <a:srgbClr val="00C6FF"/>
    <a:srgbClr val="0072FF"/>
    <a:srgbClr val="1CB5E0"/>
    <a:srgbClr val="000046"/>
    <a:srgbClr val="00F7FF"/>
    <a:srgbClr val="0A46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68" autoAdjust="0"/>
    <p:restoredTop sz="89252" autoAdjust="0"/>
  </p:normalViewPr>
  <p:slideViewPr>
    <p:cSldViewPr snapToGrid="0">
      <p:cViewPr varScale="1">
        <p:scale>
          <a:sx n="89" d="100"/>
          <a:sy n="89" d="100"/>
        </p:scale>
        <p:origin x="571"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1B713-64C2-0949-8ADC-A04FFD1F6467}" type="datetimeFigureOut">
              <a:rPr lang="en-VN" smtClean="0"/>
              <a:t>05/13/2024</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9F204-C7F4-F140-967F-D2FA889DA617}" type="slidenum">
              <a:rPr lang="en-VN" smtClean="0"/>
              <a:t>‹#›</a:t>
            </a:fld>
            <a:endParaRPr lang="en-VN"/>
          </a:p>
        </p:txBody>
      </p:sp>
    </p:spTree>
    <p:extLst>
      <p:ext uri="{BB962C8B-B14F-4D97-AF65-F5344CB8AC3E}">
        <p14:creationId xmlns:p14="http://schemas.microsoft.com/office/powerpoint/2010/main" val="298996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Theo khái niệm “Chương trình được lưu trữ” thì chương trình (nghĩa là lệnh) được lưu trong bộ nhớ, để thực thi lệnh thì đầu tiên phải nạp lệnh từ bộ nhớ </a:t>
            </a:r>
          </a:p>
          <a:p>
            <a:pPr marL="228600" indent="-228600">
              <a:buAutoNum type="arabicPeriod"/>
            </a:pPr>
            <a:r>
              <a:rPr lang="en-US"/>
              <a:t>Sau khi lệnh đã sẵn sàng, cần phải biết thao tác của lệnh cần làm gì (giải mã opcode) và nạp các toán hạng cần thiết</a:t>
            </a:r>
          </a:p>
          <a:p>
            <a:pPr marL="228600" indent="-228600">
              <a:buAutoNum type="arabicPeriod"/>
            </a:pPr>
            <a:r>
              <a:rPr lang="en-US"/>
              <a:t>Sau khi giải mã lệnh xong thì thì bắt đầu thực thi và tính toán địa chỉ (đối với các lệnh truyền dữ liệu)</a:t>
            </a:r>
          </a:p>
          <a:p>
            <a:pPr marL="228600" indent="-228600">
              <a:buAutoNum type="arabicPeriod"/>
            </a:pPr>
            <a:r>
              <a:rPr lang="en-US"/>
              <a:t>Sau khi thực thi  hoặc tính toán địa chỉ xong thì có thể phải truy xuất bộ nhớ (đối với các lệnh truyền dữ liệu)</a:t>
            </a:r>
          </a:p>
          <a:p>
            <a:pPr marL="228600" indent="-228600">
              <a:buAutoNum type="arabicPeriod"/>
            </a:pPr>
            <a:r>
              <a:rPr lang="en-US"/>
              <a:t>Chuối cùng là lưu kết quẩ,  trong một số lệnh đặc biệt (ví dụ như beq) không lưu kết quả, nhưng về tổng quát thì sẽ có thêm công đoạn lưu kết quả</a:t>
            </a:r>
          </a:p>
          <a:p>
            <a:pPr marL="228600" indent="-228600">
              <a:buAutoNum type="arabicPeriod"/>
            </a:pPr>
            <a:r>
              <a:rPr lang="en-US"/>
              <a:t>Sau khi đã biết 1 lệnh thực thi như thế nào thì chúng ta có thể xác định được các thành phần của datapath</a:t>
            </a:r>
          </a:p>
          <a:p>
            <a:pPr marL="685800" lvl="1" indent="-228600">
              <a:buAutoNum type="arabicPeriod"/>
            </a:pPr>
            <a:r>
              <a:rPr lang="en-US"/>
              <a:t>Nạp lệnh: Cần Bộ nhớ lệnh để lưu lệnh và cần thanh ghi PC để xác định địa chỉ của lênh cần nạp</a:t>
            </a:r>
          </a:p>
          <a:p>
            <a:pPr marL="685800" lvl="1" indent="-228600">
              <a:buAutoNum type="arabicPeriod"/>
            </a:pPr>
            <a:r>
              <a:rPr lang="en-US"/>
              <a:t>Giải mã lệnh: Có 3 loại toán hạng, trong đó chỉ thao tác trực tiếp với 2 loại toán hạng</a:t>
            </a:r>
          </a:p>
          <a:p>
            <a:pPr marL="1143000" lvl="2" indent="-228600">
              <a:buAutoNum type="arabicPeriod"/>
            </a:pPr>
            <a:r>
              <a:rPr lang="en-US"/>
              <a:t>Thanh ghi: Cần tập thanh ghi</a:t>
            </a:r>
          </a:p>
          <a:p>
            <a:pPr marL="1143000" lvl="2" indent="-228600">
              <a:buAutoNum type="arabicPeriod"/>
            </a:pPr>
            <a:r>
              <a:rPr lang="en-US"/>
              <a:t>Số tức thời: Cần bộ mở rộng dấu</a:t>
            </a:r>
          </a:p>
          <a:p>
            <a:pPr marL="685800" lvl="1" indent="-228600">
              <a:buAutoNum type="arabicPeriod"/>
            </a:pPr>
            <a:r>
              <a:rPr lang="en-US"/>
              <a:t>Thực thi: Các phép toán số học và luận lý cần ALU. Phép so sánh cần Bộ so sánh</a:t>
            </a:r>
          </a:p>
          <a:p>
            <a:pPr marL="685800" lvl="1" indent="-228600">
              <a:buAutoNum type="arabicPeriod"/>
            </a:pPr>
            <a:r>
              <a:rPr lang="en-US"/>
              <a:t>Truy xuất bộ nhớ cần Bộ nhớ dữ liệu (đọc đối với các lệnh nạp, ghi đối với các lệnh lưu)</a:t>
            </a:r>
          </a:p>
          <a:p>
            <a:pPr marL="685800" lvl="1" indent="-228600">
              <a:buAutoNum type="arabicPeriod"/>
            </a:pPr>
            <a:r>
              <a:rPr lang="en-US"/>
              <a:t>Lưu kết quả, nếu lưu vào thanh ghi thì cần Tập thanh ghi</a:t>
            </a:r>
          </a:p>
          <a:p>
            <a:endParaRPr lang="en-US"/>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8</a:t>
            </a:fld>
            <a:endParaRPr lang="en-VN"/>
          </a:p>
        </p:txBody>
      </p:sp>
    </p:spTree>
    <p:extLst>
      <p:ext uri="{BB962C8B-B14F-4D97-AF65-F5344CB8AC3E}">
        <p14:creationId xmlns:p14="http://schemas.microsoft.com/office/powerpoint/2010/main" val="2516633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9</a:t>
            </a:fld>
            <a:endParaRPr lang="en-VN"/>
          </a:p>
        </p:txBody>
      </p:sp>
    </p:spTree>
    <p:extLst>
      <p:ext uri="{BB962C8B-B14F-4D97-AF65-F5344CB8AC3E}">
        <p14:creationId xmlns:p14="http://schemas.microsoft.com/office/powerpoint/2010/main" val="173394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10</a:t>
            </a:fld>
            <a:endParaRPr lang="en-VN"/>
          </a:p>
        </p:txBody>
      </p:sp>
    </p:spTree>
    <p:extLst>
      <p:ext uri="{BB962C8B-B14F-4D97-AF65-F5344CB8AC3E}">
        <p14:creationId xmlns:p14="http://schemas.microsoft.com/office/powerpoint/2010/main" val="2668558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13</a:t>
            </a:fld>
            <a:endParaRPr lang="en-VN"/>
          </a:p>
        </p:txBody>
      </p:sp>
    </p:spTree>
    <p:extLst>
      <p:ext uri="{BB962C8B-B14F-4D97-AF65-F5344CB8AC3E}">
        <p14:creationId xmlns:p14="http://schemas.microsoft.com/office/powerpoint/2010/main" val="3938471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14</a:t>
            </a:fld>
            <a:endParaRPr lang="en-VN"/>
          </a:p>
        </p:txBody>
      </p:sp>
    </p:spTree>
    <p:extLst>
      <p:ext uri="{BB962C8B-B14F-4D97-AF65-F5344CB8AC3E}">
        <p14:creationId xmlns:p14="http://schemas.microsoft.com/office/powerpoint/2010/main" val="4027016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15</a:t>
            </a:fld>
            <a:endParaRPr lang="en-VN"/>
          </a:p>
        </p:txBody>
      </p:sp>
    </p:spTree>
    <p:extLst>
      <p:ext uri="{BB962C8B-B14F-4D97-AF65-F5344CB8AC3E}">
        <p14:creationId xmlns:p14="http://schemas.microsoft.com/office/powerpoint/2010/main" val="1673038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20</a:t>
            </a:fld>
            <a:endParaRPr lang="en-VN"/>
          </a:p>
        </p:txBody>
      </p:sp>
    </p:spTree>
    <p:extLst>
      <p:ext uri="{BB962C8B-B14F-4D97-AF65-F5344CB8AC3E}">
        <p14:creationId xmlns:p14="http://schemas.microsoft.com/office/powerpoint/2010/main" val="1191100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21</a:t>
            </a:fld>
            <a:endParaRPr lang="en-VN"/>
          </a:p>
        </p:txBody>
      </p:sp>
    </p:spTree>
    <p:extLst>
      <p:ext uri="{BB962C8B-B14F-4D97-AF65-F5344CB8AC3E}">
        <p14:creationId xmlns:p14="http://schemas.microsoft.com/office/powerpoint/2010/main" val="2998138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22</a:t>
            </a:fld>
            <a:endParaRPr lang="en-VN"/>
          </a:p>
        </p:txBody>
      </p:sp>
    </p:spTree>
    <p:extLst>
      <p:ext uri="{BB962C8B-B14F-4D97-AF65-F5344CB8AC3E}">
        <p14:creationId xmlns:p14="http://schemas.microsoft.com/office/powerpoint/2010/main" val="2205948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Hình bên trái là giải mã các lệnh có định dạng R</a:t>
            </a:r>
          </a:p>
          <a:p>
            <a:pPr marL="228600" indent="-228600">
              <a:buAutoNum type="arabicPeriod"/>
            </a:pPr>
            <a:r>
              <a:rPr lang="en-US"/>
              <a:t>Hình ở giữa là giải mã các lệnh có định dạng I</a:t>
            </a:r>
          </a:p>
          <a:p>
            <a:pPr marL="228600" indent="-228600">
              <a:buAutoNum type="arabicPeriod"/>
            </a:pPr>
            <a:r>
              <a:rPr lang="en-US"/>
              <a:t>Hình bên phải là giải mã các lệnh có định dạng J</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t>Các lệnh khác nhau sẽ nạp các toán hạng khác nhau, slide chỉ minh họa 2 trường hợp nạp toán hạng</a:t>
            </a:r>
          </a:p>
          <a:p>
            <a:pPr marL="228600" indent="-228600">
              <a:buAutoNum type="arabicPeriod"/>
            </a:pPr>
            <a:r>
              <a:rPr lang="en-US"/>
              <a:t>Hình bên trái là nạp toán hạng cho các lệnh có 2 toán hạng nguồn đều là thanh ghi (chẳng hạn như lệnh add, and, …)</a:t>
            </a:r>
          </a:p>
          <a:p>
            <a:pPr marL="228600" indent="-228600">
              <a:buAutoNum type="arabicPeriod"/>
            </a:pPr>
            <a:r>
              <a:rPr lang="en-US"/>
              <a:t>Hình bên phải là nạp toán hạng cho các lệnh có 1 toán hạng nguồn là thanh ghi và 1 toán hạng nguồn là số tức thời (chẳng hạn như lệnh addi, lw, …)</a:t>
            </a:r>
          </a:p>
          <a:p>
            <a:pPr marL="685800" lvl="1" indent="-228600">
              <a:buAutoNum type="arabicPeriod"/>
            </a:pPr>
            <a:r>
              <a:rPr lang="en-US"/>
              <a:t>Vì số tức thời chỉ có 16 bit, nên cần mở rộng dấu ra thành 32 để thao tác</a:t>
            </a:r>
          </a:p>
          <a:p>
            <a:endParaRPr lang="en-US"/>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23</a:t>
            </a:fld>
            <a:endParaRPr lang="en-VN"/>
          </a:p>
        </p:txBody>
      </p:sp>
    </p:spTree>
    <p:extLst>
      <p:ext uri="{BB962C8B-B14F-4D97-AF65-F5344CB8AC3E}">
        <p14:creationId xmlns:p14="http://schemas.microsoft.com/office/powerpoint/2010/main" val="766423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24</a:t>
            </a:fld>
            <a:endParaRPr lang="en-VN"/>
          </a:p>
        </p:txBody>
      </p:sp>
    </p:spTree>
    <p:extLst>
      <p:ext uri="{BB962C8B-B14F-4D97-AF65-F5344CB8AC3E}">
        <p14:creationId xmlns:p14="http://schemas.microsoft.com/office/powerpoint/2010/main" val="2255713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25</a:t>
            </a:fld>
            <a:endParaRPr lang="en-VN"/>
          </a:p>
        </p:txBody>
      </p:sp>
    </p:spTree>
    <p:extLst>
      <p:ext uri="{BB962C8B-B14F-4D97-AF65-F5344CB8AC3E}">
        <p14:creationId xmlns:p14="http://schemas.microsoft.com/office/powerpoint/2010/main" val="3628704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26</a:t>
            </a:fld>
            <a:endParaRPr lang="en-VN"/>
          </a:p>
        </p:txBody>
      </p:sp>
    </p:spTree>
    <p:extLst>
      <p:ext uri="{BB962C8B-B14F-4D97-AF65-F5344CB8AC3E}">
        <p14:creationId xmlns:p14="http://schemas.microsoft.com/office/powerpoint/2010/main" val="30137263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27</a:t>
            </a:fld>
            <a:endParaRPr lang="en-VN"/>
          </a:p>
        </p:txBody>
      </p:sp>
    </p:spTree>
    <p:extLst>
      <p:ext uri="{BB962C8B-B14F-4D97-AF65-F5344CB8AC3E}">
        <p14:creationId xmlns:p14="http://schemas.microsoft.com/office/powerpoint/2010/main" val="16283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28</a:t>
            </a:fld>
            <a:endParaRPr lang="en-VN"/>
          </a:p>
        </p:txBody>
      </p:sp>
    </p:spTree>
    <p:extLst>
      <p:ext uri="{BB962C8B-B14F-4D97-AF65-F5344CB8AC3E}">
        <p14:creationId xmlns:p14="http://schemas.microsoft.com/office/powerpoint/2010/main" val="2053509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29</a:t>
            </a:fld>
            <a:endParaRPr lang="en-VN"/>
          </a:p>
        </p:txBody>
      </p:sp>
    </p:spTree>
    <p:extLst>
      <p:ext uri="{BB962C8B-B14F-4D97-AF65-F5344CB8AC3E}">
        <p14:creationId xmlns:p14="http://schemas.microsoft.com/office/powerpoint/2010/main" val="1943906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30</a:t>
            </a:fld>
            <a:endParaRPr lang="en-VN"/>
          </a:p>
        </p:txBody>
      </p:sp>
    </p:spTree>
    <p:extLst>
      <p:ext uri="{BB962C8B-B14F-4D97-AF65-F5344CB8AC3E}">
        <p14:creationId xmlns:p14="http://schemas.microsoft.com/office/powerpoint/2010/main" val="939360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31</a:t>
            </a:fld>
            <a:endParaRPr lang="en-VN"/>
          </a:p>
        </p:txBody>
      </p:sp>
    </p:spTree>
    <p:extLst>
      <p:ext uri="{BB962C8B-B14F-4D97-AF65-F5344CB8AC3E}">
        <p14:creationId xmlns:p14="http://schemas.microsoft.com/office/powerpoint/2010/main" val="667051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32</a:t>
            </a:fld>
            <a:endParaRPr lang="en-VN"/>
          </a:p>
        </p:txBody>
      </p:sp>
    </p:spTree>
    <p:extLst>
      <p:ext uri="{BB962C8B-B14F-4D97-AF65-F5344CB8AC3E}">
        <p14:creationId xmlns:p14="http://schemas.microsoft.com/office/powerpoint/2010/main" val="1007197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36</a:t>
            </a:fld>
            <a:endParaRPr lang="en-VN"/>
          </a:p>
        </p:txBody>
      </p:sp>
    </p:spTree>
    <p:extLst>
      <p:ext uri="{BB962C8B-B14F-4D97-AF65-F5344CB8AC3E}">
        <p14:creationId xmlns:p14="http://schemas.microsoft.com/office/powerpoint/2010/main" val="596306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37</a:t>
            </a:fld>
            <a:endParaRPr lang="en-VN"/>
          </a:p>
        </p:txBody>
      </p:sp>
    </p:spTree>
    <p:extLst>
      <p:ext uri="{BB962C8B-B14F-4D97-AF65-F5344CB8AC3E}">
        <p14:creationId xmlns:p14="http://schemas.microsoft.com/office/powerpoint/2010/main" val="30959822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38</a:t>
            </a:fld>
            <a:endParaRPr lang="en-VN"/>
          </a:p>
        </p:txBody>
      </p:sp>
    </p:spTree>
    <p:extLst>
      <p:ext uri="{BB962C8B-B14F-4D97-AF65-F5344CB8AC3E}">
        <p14:creationId xmlns:p14="http://schemas.microsoft.com/office/powerpoint/2010/main" val="38510611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39</a:t>
            </a:fld>
            <a:endParaRPr lang="en-VN"/>
          </a:p>
        </p:txBody>
      </p:sp>
    </p:spTree>
    <p:extLst>
      <p:ext uri="{BB962C8B-B14F-4D97-AF65-F5344CB8AC3E}">
        <p14:creationId xmlns:p14="http://schemas.microsoft.com/office/powerpoint/2010/main" val="2054360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40</a:t>
            </a:fld>
            <a:endParaRPr lang="en-VN"/>
          </a:p>
        </p:txBody>
      </p:sp>
    </p:spTree>
    <p:extLst>
      <p:ext uri="{BB962C8B-B14F-4D97-AF65-F5344CB8AC3E}">
        <p14:creationId xmlns:p14="http://schemas.microsoft.com/office/powerpoint/2010/main" val="13419742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41</a:t>
            </a:fld>
            <a:endParaRPr lang="en-VN"/>
          </a:p>
        </p:txBody>
      </p:sp>
    </p:spTree>
    <p:extLst>
      <p:ext uri="{BB962C8B-B14F-4D97-AF65-F5344CB8AC3E}">
        <p14:creationId xmlns:p14="http://schemas.microsoft.com/office/powerpoint/2010/main" val="25803146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42</a:t>
            </a:fld>
            <a:endParaRPr lang="en-VN"/>
          </a:p>
        </p:txBody>
      </p:sp>
    </p:spTree>
    <p:extLst>
      <p:ext uri="{BB962C8B-B14F-4D97-AF65-F5344CB8AC3E}">
        <p14:creationId xmlns:p14="http://schemas.microsoft.com/office/powerpoint/2010/main" val="2633806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43</a:t>
            </a:fld>
            <a:endParaRPr lang="en-VN"/>
          </a:p>
        </p:txBody>
      </p:sp>
    </p:spTree>
    <p:extLst>
      <p:ext uri="{BB962C8B-B14F-4D97-AF65-F5344CB8AC3E}">
        <p14:creationId xmlns:p14="http://schemas.microsoft.com/office/powerpoint/2010/main" val="1579926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45</a:t>
            </a:fld>
            <a:endParaRPr lang="en-VN"/>
          </a:p>
        </p:txBody>
      </p:sp>
    </p:spTree>
    <p:extLst>
      <p:ext uri="{BB962C8B-B14F-4D97-AF65-F5344CB8AC3E}">
        <p14:creationId xmlns:p14="http://schemas.microsoft.com/office/powerpoint/2010/main" val="6136710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53</a:t>
            </a:fld>
            <a:endParaRPr lang="en-VN"/>
          </a:p>
        </p:txBody>
      </p:sp>
    </p:spTree>
    <p:extLst>
      <p:ext uri="{BB962C8B-B14F-4D97-AF65-F5344CB8AC3E}">
        <p14:creationId xmlns:p14="http://schemas.microsoft.com/office/powerpoint/2010/main" val="3996288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Trường shamt chỉ được sử dụng cho các lệnh dịch, xoay</a:t>
            </a:r>
          </a:p>
        </p:txBody>
      </p:sp>
      <p:sp>
        <p:nvSpPr>
          <p:cNvPr id="4" name="Slide Number Placeholder 3"/>
          <p:cNvSpPr>
            <a:spLocks noGrp="1"/>
          </p:cNvSpPr>
          <p:nvPr>
            <p:ph type="sldNum" sz="quarter" idx="5"/>
          </p:nvPr>
        </p:nvSpPr>
        <p:spPr/>
        <p:txBody>
          <a:bodyPr/>
          <a:lstStyle/>
          <a:p>
            <a:fld id="{DC19F204-C7F4-F140-967F-D2FA889DA617}" type="slidenum">
              <a:rPr lang="en-VN" smtClean="0"/>
              <a:t>62</a:t>
            </a:fld>
            <a:endParaRPr lang="en-VN"/>
          </a:p>
        </p:txBody>
      </p:sp>
    </p:spTree>
    <p:extLst>
      <p:ext uri="{BB962C8B-B14F-4D97-AF65-F5344CB8AC3E}">
        <p14:creationId xmlns:p14="http://schemas.microsoft.com/office/powerpoint/2010/main" val="5428441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Trường shamt chỉ được sử dụng cho các lệnh dịch, xoay</a:t>
            </a:r>
          </a:p>
        </p:txBody>
      </p:sp>
      <p:sp>
        <p:nvSpPr>
          <p:cNvPr id="4" name="Slide Number Placeholder 3"/>
          <p:cNvSpPr>
            <a:spLocks noGrp="1"/>
          </p:cNvSpPr>
          <p:nvPr>
            <p:ph type="sldNum" sz="quarter" idx="5"/>
          </p:nvPr>
        </p:nvSpPr>
        <p:spPr/>
        <p:txBody>
          <a:bodyPr/>
          <a:lstStyle/>
          <a:p>
            <a:fld id="{DC19F204-C7F4-F140-967F-D2FA889DA617}" type="slidenum">
              <a:rPr lang="en-VN" smtClean="0"/>
              <a:t>63</a:t>
            </a:fld>
            <a:endParaRPr lang="en-VN"/>
          </a:p>
        </p:txBody>
      </p:sp>
    </p:spTree>
    <p:extLst>
      <p:ext uri="{BB962C8B-B14F-4D97-AF65-F5344CB8AC3E}">
        <p14:creationId xmlns:p14="http://schemas.microsoft.com/office/powerpoint/2010/main" val="39739384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64</a:t>
            </a:fld>
            <a:endParaRPr lang="en-VN"/>
          </a:p>
        </p:txBody>
      </p:sp>
    </p:spTree>
    <p:extLst>
      <p:ext uri="{BB962C8B-B14F-4D97-AF65-F5344CB8AC3E}">
        <p14:creationId xmlns:p14="http://schemas.microsoft.com/office/powerpoint/2010/main" val="40305808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Trường shamt chỉ được sử dụng cho các lệnh dịch, xoay</a:t>
            </a:r>
          </a:p>
        </p:txBody>
      </p:sp>
      <p:sp>
        <p:nvSpPr>
          <p:cNvPr id="4" name="Slide Number Placeholder 3"/>
          <p:cNvSpPr>
            <a:spLocks noGrp="1"/>
          </p:cNvSpPr>
          <p:nvPr>
            <p:ph type="sldNum" sz="quarter" idx="5"/>
          </p:nvPr>
        </p:nvSpPr>
        <p:spPr/>
        <p:txBody>
          <a:bodyPr/>
          <a:lstStyle/>
          <a:p>
            <a:fld id="{DC19F204-C7F4-F140-967F-D2FA889DA617}" type="slidenum">
              <a:rPr lang="en-VN" smtClean="0"/>
              <a:t>65</a:t>
            </a:fld>
            <a:endParaRPr lang="en-VN"/>
          </a:p>
        </p:txBody>
      </p:sp>
    </p:spTree>
    <p:extLst>
      <p:ext uri="{BB962C8B-B14F-4D97-AF65-F5344CB8AC3E}">
        <p14:creationId xmlns:p14="http://schemas.microsoft.com/office/powerpoint/2010/main" val="9679998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66</a:t>
            </a:fld>
            <a:endParaRPr lang="en-VN"/>
          </a:p>
        </p:txBody>
      </p:sp>
    </p:spTree>
    <p:extLst>
      <p:ext uri="{BB962C8B-B14F-4D97-AF65-F5344CB8AC3E}">
        <p14:creationId xmlns:p14="http://schemas.microsoft.com/office/powerpoint/2010/main" val="29833599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Trường shamt chỉ được sử dụng cho các lệnh dịch, xoay</a:t>
            </a:r>
          </a:p>
        </p:txBody>
      </p:sp>
      <p:sp>
        <p:nvSpPr>
          <p:cNvPr id="4" name="Slide Number Placeholder 3"/>
          <p:cNvSpPr>
            <a:spLocks noGrp="1"/>
          </p:cNvSpPr>
          <p:nvPr>
            <p:ph type="sldNum" sz="quarter" idx="5"/>
          </p:nvPr>
        </p:nvSpPr>
        <p:spPr/>
        <p:txBody>
          <a:bodyPr/>
          <a:lstStyle/>
          <a:p>
            <a:fld id="{DC19F204-C7F4-F140-967F-D2FA889DA617}" type="slidenum">
              <a:rPr lang="en-VN" smtClean="0"/>
              <a:t>67</a:t>
            </a:fld>
            <a:endParaRPr lang="en-VN"/>
          </a:p>
        </p:txBody>
      </p:sp>
    </p:spTree>
    <p:extLst>
      <p:ext uri="{BB962C8B-B14F-4D97-AF65-F5344CB8AC3E}">
        <p14:creationId xmlns:p14="http://schemas.microsoft.com/office/powerpoint/2010/main" val="23496022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68</a:t>
            </a:fld>
            <a:endParaRPr lang="en-VN"/>
          </a:p>
        </p:txBody>
      </p:sp>
    </p:spTree>
    <p:extLst>
      <p:ext uri="{BB962C8B-B14F-4D97-AF65-F5344CB8AC3E}">
        <p14:creationId xmlns:p14="http://schemas.microsoft.com/office/powerpoint/2010/main" val="6539180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Trường shamt chỉ được sử dụng cho các lệnh dịch, xoay</a:t>
            </a:r>
          </a:p>
        </p:txBody>
      </p:sp>
      <p:sp>
        <p:nvSpPr>
          <p:cNvPr id="4" name="Slide Number Placeholder 3"/>
          <p:cNvSpPr>
            <a:spLocks noGrp="1"/>
          </p:cNvSpPr>
          <p:nvPr>
            <p:ph type="sldNum" sz="quarter" idx="5"/>
          </p:nvPr>
        </p:nvSpPr>
        <p:spPr/>
        <p:txBody>
          <a:bodyPr/>
          <a:lstStyle/>
          <a:p>
            <a:fld id="{DC19F204-C7F4-F140-967F-D2FA889DA617}" type="slidenum">
              <a:rPr lang="en-VN" smtClean="0"/>
              <a:t>69</a:t>
            </a:fld>
            <a:endParaRPr lang="en-VN"/>
          </a:p>
        </p:txBody>
      </p:sp>
    </p:spTree>
    <p:extLst>
      <p:ext uri="{BB962C8B-B14F-4D97-AF65-F5344CB8AC3E}">
        <p14:creationId xmlns:p14="http://schemas.microsoft.com/office/powerpoint/2010/main" val="41462787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77</a:t>
            </a:fld>
            <a:endParaRPr lang="en-VN"/>
          </a:p>
        </p:txBody>
      </p:sp>
    </p:spTree>
    <p:extLst>
      <p:ext uri="{BB962C8B-B14F-4D97-AF65-F5344CB8AC3E}">
        <p14:creationId xmlns:p14="http://schemas.microsoft.com/office/powerpoint/2010/main" val="5684677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81</a:t>
            </a:fld>
            <a:endParaRPr lang="en-VN"/>
          </a:p>
        </p:txBody>
      </p:sp>
    </p:spTree>
    <p:extLst>
      <p:ext uri="{BB962C8B-B14F-4D97-AF65-F5344CB8AC3E}">
        <p14:creationId xmlns:p14="http://schemas.microsoft.com/office/powerpoint/2010/main" val="40364959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85</a:t>
            </a:fld>
            <a:endParaRPr lang="en-VN"/>
          </a:p>
        </p:txBody>
      </p:sp>
    </p:spTree>
    <p:extLst>
      <p:ext uri="{BB962C8B-B14F-4D97-AF65-F5344CB8AC3E}">
        <p14:creationId xmlns:p14="http://schemas.microsoft.com/office/powerpoint/2010/main" val="13387671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89</a:t>
            </a:fld>
            <a:endParaRPr lang="en-VN"/>
          </a:p>
        </p:txBody>
      </p:sp>
    </p:spTree>
    <p:extLst>
      <p:ext uri="{BB962C8B-B14F-4D97-AF65-F5344CB8AC3E}">
        <p14:creationId xmlns:p14="http://schemas.microsoft.com/office/powerpoint/2010/main" val="30606726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11894359" y="6566401"/>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gradFill>
                    <a:gsLst>
                      <a:gs pos="0">
                        <a:srgbClr val="000046"/>
                      </a:gs>
                      <a:gs pos="100000">
                        <a:srgbClr val="1CB5E0"/>
                      </a:gs>
                    </a:gsLst>
                    <a:lin ang="5400000" scaled="1"/>
                  </a:gradFill>
                </a:ln>
                <a:no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rmAutofit/>
          </a:bodyPr>
          <a:lstStyle>
            <a:lvl1pPr marL="0" indent="0" algn="ctr" defTabSz="914400" rtl="0" eaLnBrk="1" latinLnBrk="0" hangingPunct="1">
              <a:buNone/>
              <a:defRPr lang="en-VN" sz="20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7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May 13, 2024</a:t>
            </a:fld>
            <a:endParaRPr lang="en-US" dirty="0"/>
          </a:p>
        </p:txBody>
      </p:sp>
    </p:spTree>
    <p:extLst>
      <p:ext uri="{BB962C8B-B14F-4D97-AF65-F5344CB8AC3E}">
        <p14:creationId xmlns:p14="http://schemas.microsoft.com/office/powerpoint/2010/main" val="3695234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US" sz="3600" b="1">
                <a:solidFill>
                  <a:schemeClr val="bg1"/>
                </a:solidFill>
                <a:latin typeface="Times New Roman" panose="02020603050405020304" pitchFamily="18" charset="0"/>
                <a:cs typeface="Times New Roman" panose="02020603050405020304" pitchFamily="18" charset="0"/>
              </a:rPr>
              <a:t>MỤC TIÊU</a:t>
            </a: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May 13, 2024</a:t>
            </a:fld>
            <a:endParaRPr lang="en-US" dirty="0"/>
          </a:p>
        </p:txBody>
      </p:sp>
    </p:spTree>
    <p:extLst>
      <p:ext uri="{BB962C8B-B14F-4D97-AF65-F5344CB8AC3E}">
        <p14:creationId xmlns:p14="http://schemas.microsoft.com/office/powerpoint/2010/main" val="4233669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VN" sz="3600" b="1" dirty="0">
                <a:solidFill>
                  <a:schemeClr val="bg1"/>
                </a:solidFill>
                <a:latin typeface="Times New Roman" panose="02020603050405020304" pitchFamily="18" charset="0"/>
                <a:cs typeface="Times New Roman" panose="02020603050405020304" pitchFamily="18" charset="0"/>
              </a:rPr>
              <a:t>NỘI DUNG</a:t>
            </a: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May 13, 2024</a:t>
            </a:fld>
            <a:endParaRPr lang="en-US" dirty="0"/>
          </a:p>
        </p:txBody>
      </p:sp>
    </p:spTree>
    <p:extLst>
      <p:ext uri="{BB962C8B-B14F-4D97-AF65-F5344CB8AC3E}">
        <p14:creationId xmlns:p14="http://schemas.microsoft.com/office/powerpoint/2010/main" val="1027483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50A66F8-E091-9C03-CD6B-317D0180ADDD}"/>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A5F01B-1418-7515-A2D9-40BE42BE32BD}"/>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A161D7-9C70-83EF-EE51-E59464E9FF79}"/>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94F566-E8F9-197C-FC4C-0E96F2163AA2}"/>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20CF87-B708-06C0-11BA-20052748E49F}"/>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2E2ADF-9658-9B1B-7EA8-E37B1FC3CB44}"/>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D48BE0DC-C12B-7B32-5521-E1BCC5CB89B7}"/>
              </a:ext>
            </a:extLst>
          </p:cNvPr>
          <p:cNvSpPr/>
          <p:nvPr/>
        </p:nvSpPr>
        <p:spPr>
          <a:xfrm>
            <a:off x="1192873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33" name="Text Placeholder 32">
            <a:extLst>
              <a:ext uri="{FF2B5EF4-FFF2-40B4-BE49-F238E27FC236}">
                <a16:creationId xmlns:a16="http://schemas.microsoft.com/office/drawing/2014/main" id="{16FB8E2A-4378-29FE-41E3-42BAD72ADA63}"/>
              </a:ext>
            </a:extLst>
          </p:cNvPr>
          <p:cNvSpPr>
            <a:spLocks noGrp="1"/>
          </p:cNvSpPr>
          <p:nvPr userDrawn="1">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userDrawn="1">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userDrawn="1">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01.</a:t>
            </a:r>
          </a:p>
        </p:txBody>
      </p:sp>
      <p:cxnSp>
        <p:nvCxnSpPr>
          <p:cNvPr id="41" name="Straight Connector 40">
            <a:extLst>
              <a:ext uri="{FF2B5EF4-FFF2-40B4-BE49-F238E27FC236}">
                <a16:creationId xmlns:a16="http://schemas.microsoft.com/office/drawing/2014/main" id="{88382EF5-131E-F7DD-C939-044C31C113C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8382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May 13, 2024</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3677478"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1755912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Mẫu nội dung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40944"/>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F00BFBF3-F42E-C38E-AF17-FD619F663C49}"/>
              </a:ext>
            </a:extLst>
          </p:cNvPr>
          <p:cNvGrpSpPr/>
          <p:nvPr userDrawn="1"/>
        </p:nvGrpSpPr>
        <p:grpSpPr>
          <a:xfrm flipH="1" flipV="1">
            <a:off x="9263702" y="5253677"/>
            <a:ext cx="2869771" cy="1563379"/>
            <a:chOff x="44879" y="27296"/>
            <a:chExt cx="2869771" cy="1563379"/>
          </a:xfrm>
          <a:solidFill>
            <a:srgbClr val="0072FF"/>
          </a:solidFill>
        </p:grpSpPr>
        <p:cxnSp>
          <p:nvCxnSpPr>
            <p:cNvPr id="14" name="Straight Connector 13">
              <a:extLst>
                <a:ext uri="{FF2B5EF4-FFF2-40B4-BE49-F238E27FC236}">
                  <a16:creationId xmlns:a16="http://schemas.microsoft.com/office/drawing/2014/main" id="{72E22F67-0343-EE26-97E1-B065633E3FF9}"/>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69246E-D1BA-1A1E-722A-214AD903B192}"/>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B20816-E2A4-5501-1802-D77B2C234103}"/>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7" name="Oval 16">
            <a:extLst>
              <a:ext uri="{FF2B5EF4-FFF2-40B4-BE49-F238E27FC236}">
                <a16:creationId xmlns:a16="http://schemas.microsoft.com/office/drawing/2014/main" id="{352054BC-1463-3EF3-7931-D0745EFC8FB2}"/>
              </a:ext>
            </a:extLst>
          </p:cNvPr>
          <p:cNvSpPr/>
          <p:nvPr userDrawn="1"/>
        </p:nvSpPr>
        <p:spPr>
          <a:xfrm>
            <a:off x="11924323" y="6588855"/>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B7BE735-40A7-63BD-ABCF-0C393CEC8682}"/>
              </a:ext>
            </a:extLst>
          </p:cNvPr>
          <p:cNvSpPr>
            <a:spLocks noGrp="1"/>
          </p:cNvSpPr>
          <p:nvPr>
            <p:ph type="title"/>
          </p:nvPr>
        </p:nvSpPr>
        <p:spPr>
          <a:xfrm>
            <a:off x="1142797" y="150069"/>
            <a:ext cx="10515600" cy="895682"/>
          </a:xfr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p:nvPr>
        </p:nvSpPr>
        <p:spPr>
          <a:xfrm>
            <a:off x="1142797" y="1195821"/>
            <a:ext cx="10515600" cy="516052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3644348" y="6475620"/>
            <a:ext cx="4903304" cy="263110"/>
          </a:xfrm>
        </p:spPr>
        <p:txBody>
          <a:bodyPr/>
          <a:lstStyle>
            <a:lvl1pPr marL="0" algn="ctr"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11895481" y="6560013"/>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descr="A picture containing clipart, vector graphics&#10;&#10;Description automatically generated">
            <a:extLst>
              <a:ext uri="{FF2B5EF4-FFF2-40B4-BE49-F238E27FC236}">
                <a16:creationId xmlns:a16="http://schemas.microsoft.com/office/drawing/2014/main" id="{EDF99A97-3339-5B0A-DF0C-FBEE5263900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838200" y="6458365"/>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May 13, 2024</a:t>
            </a:fld>
            <a:endParaRPr lang="en-US" dirty="0"/>
          </a:p>
        </p:txBody>
      </p:sp>
    </p:spTree>
    <p:extLst>
      <p:ext uri="{BB962C8B-B14F-4D97-AF65-F5344CB8AC3E}">
        <p14:creationId xmlns:p14="http://schemas.microsoft.com/office/powerpoint/2010/main" val="864650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Mẫu nội du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75E2B-3264-B7AA-B33F-4F514D4416A1}"/>
              </a:ext>
            </a:extLst>
          </p:cNvPr>
          <p:cNvSpPr>
            <a:spLocks noGrp="1"/>
          </p:cNvSpPr>
          <p:nvPr>
            <p:ph type="title"/>
          </p:nvPr>
        </p:nvSpPr>
        <p:spPr>
          <a:xfrm>
            <a:off x="838200" y="914804"/>
            <a:ext cx="10515600" cy="978614"/>
          </a:xfrm>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D663BF43-5431-28A4-4A9C-84A3FDAFF031}"/>
              </a:ext>
            </a:extLst>
          </p:cNvPr>
          <p:cNvSpPr>
            <a:spLocks noGrp="1"/>
          </p:cNvSpPr>
          <p:nvPr>
            <p:ph sz="half" idx="1"/>
          </p:nvPr>
        </p:nvSpPr>
        <p:spPr>
          <a:xfrm>
            <a:off x="838200" y="202835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4" name="Content Placeholder 3">
            <a:extLst>
              <a:ext uri="{FF2B5EF4-FFF2-40B4-BE49-F238E27FC236}">
                <a16:creationId xmlns:a16="http://schemas.microsoft.com/office/drawing/2014/main" id="{14B97936-93F6-FD89-211F-FC49B02B5734}"/>
              </a:ext>
            </a:extLst>
          </p:cNvPr>
          <p:cNvSpPr>
            <a:spLocks noGrp="1"/>
          </p:cNvSpPr>
          <p:nvPr>
            <p:ph sz="half" idx="2"/>
          </p:nvPr>
        </p:nvSpPr>
        <p:spPr>
          <a:xfrm>
            <a:off x="6172200" y="202835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a:extLst>
              <a:ext uri="{FF2B5EF4-FFF2-40B4-BE49-F238E27FC236}">
                <a16:creationId xmlns:a16="http://schemas.microsoft.com/office/drawing/2014/main" id="{CECF69EC-AF21-6413-B0C6-09E3D2808EC9}"/>
              </a:ext>
            </a:extLst>
          </p:cNvPr>
          <p:cNvSpPr>
            <a:spLocks noGrp="1"/>
          </p:cNvSpPr>
          <p:nvPr>
            <p:ph type="ftr" sz="quarter" idx="11"/>
          </p:nvPr>
        </p:nvSpPr>
        <p:spPr>
          <a:xfrm>
            <a:off x="3535017" y="6481647"/>
            <a:ext cx="5121966"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10" name="Freeform 9">
            <a:extLst>
              <a:ext uri="{FF2B5EF4-FFF2-40B4-BE49-F238E27FC236}">
                <a16:creationId xmlns:a16="http://schemas.microsoft.com/office/drawing/2014/main" id="{43873188-0611-6A2D-B3B7-E844F601E758}"/>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Isosceles Triangle 12">
            <a:extLst>
              <a:ext uri="{FF2B5EF4-FFF2-40B4-BE49-F238E27FC236}">
                <a16:creationId xmlns:a16="http://schemas.microsoft.com/office/drawing/2014/main" id="{400BFBC5-D436-63D0-74FC-6A07673AE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739C28B-61DE-71CF-E56C-5EDD4BA30029}"/>
              </a:ext>
            </a:extLst>
          </p:cNvPr>
          <p:cNvGrpSpPr/>
          <p:nvPr userDrawn="1"/>
        </p:nvGrpSpPr>
        <p:grpSpPr>
          <a:xfrm>
            <a:off x="58527" y="40944"/>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258FC900-2C32-ED18-13F9-130B2DF50383}"/>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4FACA0-AFAE-D152-410A-170D637D3357}"/>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5F4754-527C-AE63-2C13-4F23BF87556C}"/>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6" name="Isosceles Triangle 12">
            <a:extLst>
              <a:ext uri="{FF2B5EF4-FFF2-40B4-BE49-F238E27FC236}">
                <a16:creationId xmlns:a16="http://schemas.microsoft.com/office/drawing/2014/main" id="{07F91C74-ED4C-0A16-32E0-004F48F54DEB}"/>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FC5ACEEF-4425-1088-FA6F-A273B4DE887C}"/>
              </a:ext>
            </a:extLst>
          </p:cNvPr>
          <p:cNvGrpSpPr/>
          <p:nvPr userDrawn="1"/>
        </p:nvGrpSpPr>
        <p:grpSpPr>
          <a:xfrm flipH="1" flipV="1">
            <a:off x="9263702" y="5253677"/>
            <a:ext cx="2869771" cy="1563379"/>
            <a:chOff x="44879" y="27296"/>
            <a:chExt cx="2869771" cy="1563379"/>
          </a:xfrm>
          <a:solidFill>
            <a:srgbClr val="0072FF"/>
          </a:solidFill>
        </p:grpSpPr>
        <p:cxnSp>
          <p:nvCxnSpPr>
            <p:cNvPr id="18" name="Straight Connector 17">
              <a:extLst>
                <a:ext uri="{FF2B5EF4-FFF2-40B4-BE49-F238E27FC236}">
                  <a16:creationId xmlns:a16="http://schemas.microsoft.com/office/drawing/2014/main" id="{ED3CB0EA-66BA-01B6-70C4-D5330A4D257B}"/>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E5A466E-AA55-B549-D160-0442C43CF55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68CFF73-AB26-6C8F-FB32-54601A35ABA4}"/>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21" name="Oval 20">
            <a:extLst>
              <a:ext uri="{FF2B5EF4-FFF2-40B4-BE49-F238E27FC236}">
                <a16:creationId xmlns:a16="http://schemas.microsoft.com/office/drawing/2014/main" id="{318E1593-E5CD-3AE1-93DE-5F387C82F4F6}"/>
              </a:ext>
            </a:extLst>
          </p:cNvPr>
          <p:cNvSpPr/>
          <p:nvPr userDrawn="1"/>
        </p:nvSpPr>
        <p:spPr>
          <a:xfrm>
            <a:off x="11928288" y="6592262"/>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D2C202E4-A0E1-2253-7874-62B7B89FFCA9}"/>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58EC501-80CF-6C51-5383-56852B541437}"/>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BF5FA64-88FB-ECEF-001B-760404721A90}"/>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08B137-1E4C-27A2-6C24-2EBFE5E125B6}"/>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1EE92B3-2829-E731-1ABB-AE81C101058A}"/>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13D946B-F6D0-FA25-B029-CFF45E1960C8}"/>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A picture containing clipart, vector graphics&#10;&#10;Description automatically generated">
            <a:extLst>
              <a:ext uri="{FF2B5EF4-FFF2-40B4-BE49-F238E27FC236}">
                <a16:creationId xmlns:a16="http://schemas.microsoft.com/office/drawing/2014/main" id="{0CAA0DB2-C26C-AB0D-0115-266290CA109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7" name="Slide Number Placeholder 6">
            <a:extLst>
              <a:ext uri="{FF2B5EF4-FFF2-40B4-BE49-F238E27FC236}">
                <a16:creationId xmlns:a16="http://schemas.microsoft.com/office/drawing/2014/main" id="{D11060A1-174E-8F45-E778-6645800D6C72}"/>
              </a:ext>
            </a:extLst>
          </p:cNvPr>
          <p:cNvSpPr>
            <a:spLocks noGrp="1"/>
          </p:cNvSpPr>
          <p:nvPr>
            <p:ph type="sldNum" sz="quarter" idx="12"/>
          </p:nvPr>
        </p:nvSpPr>
        <p:spPr>
          <a:xfrm>
            <a:off x="11899446" y="6563420"/>
            <a:ext cx="291600" cy="291600"/>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 name="Date Placeholder 4">
            <a:extLst>
              <a:ext uri="{FF2B5EF4-FFF2-40B4-BE49-F238E27FC236}">
                <a16:creationId xmlns:a16="http://schemas.microsoft.com/office/drawing/2014/main" id="{D35DB78F-AE91-A123-68A6-7B8F206075C0}"/>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May 13, 2024</a:t>
            </a:fld>
            <a:endParaRPr lang="en-US" dirty="0"/>
          </a:p>
        </p:txBody>
      </p:sp>
    </p:spTree>
    <p:extLst>
      <p:ext uri="{BB962C8B-B14F-4D97-AF65-F5344CB8AC3E}">
        <p14:creationId xmlns:p14="http://schemas.microsoft.com/office/powerpoint/2010/main" val="2306975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Mẫu nội dung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C37E1-287C-992F-926C-6BE139038F7A}"/>
              </a:ext>
            </a:extLst>
          </p:cNvPr>
          <p:cNvSpPr>
            <a:spLocks noGrp="1"/>
          </p:cNvSpPr>
          <p:nvPr>
            <p:ph type="title"/>
          </p:nvPr>
        </p:nvSpPr>
        <p:spPr>
          <a:xfrm>
            <a:off x="839788" y="812850"/>
            <a:ext cx="10515600" cy="1045464"/>
          </a:xfrm>
        </p:spPr>
        <p:txBody>
          <a:bodyPr/>
          <a:lstStyle/>
          <a:p>
            <a:r>
              <a:rPr lang="en-US" dirty="0"/>
              <a:t>Click to edit Master title style</a:t>
            </a:r>
            <a:endParaRPr lang="en-VN" dirty="0"/>
          </a:p>
        </p:txBody>
      </p:sp>
      <p:sp>
        <p:nvSpPr>
          <p:cNvPr id="3" name="Text Placeholder 2">
            <a:extLst>
              <a:ext uri="{FF2B5EF4-FFF2-40B4-BE49-F238E27FC236}">
                <a16:creationId xmlns:a16="http://schemas.microsoft.com/office/drawing/2014/main" id="{6C453A4A-EE94-A702-F0E2-603C1150FA32}"/>
              </a:ext>
            </a:extLst>
          </p:cNvPr>
          <p:cNvSpPr>
            <a:spLocks noGrp="1"/>
          </p:cNvSpPr>
          <p:nvPr>
            <p:ph type="body" idx="1"/>
          </p:nvPr>
        </p:nvSpPr>
        <p:spPr>
          <a:xfrm>
            <a:off x="839788" y="1848789"/>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7B8F5AF-E6EF-4CF4-8B05-BF3FDB4C6885}"/>
              </a:ext>
            </a:extLst>
          </p:cNvPr>
          <p:cNvSpPr>
            <a:spLocks noGrp="1"/>
          </p:cNvSpPr>
          <p:nvPr>
            <p:ph sz="half" idx="2"/>
          </p:nvPr>
        </p:nvSpPr>
        <p:spPr>
          <a:xfrm>
            <a:off x="839788" y="2672701"/>
            <a:ext cx="5157787"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1BFCC438-C0ED-1F8F-4BB6-689F30C8CC53}"/>
              </a:ext>
            </a:extLst>
          </p:cNvPr>
          <p:cNvSpPr>
            <a:spLocks noGrp="1"/>
          </p:cNvSpPr>
          <p:nvPr>
            <p:ph type="body" sz="quarter" idx="3"/>
          </p:nvPr>
        </p:nvSpPr>
        <p:spPr>
          <a:xfrm>
            <a:off x="6172200" y="1848789"/>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689F5A-2C2F-0B8F-615C-B41C7F2B19E1}"/>
              </a:ext>
            </a:extLst>
          </p:cNvPr>
          <p:cNvSpPr>
            <a:spLocks noGrp="1"/>
          </p:cNvSpPr>
          <p:nvPr>
            <p:ph sz="quarter" idx="4"/>
          </p:nvPr>
        </p:nvSpPr>
        <p:spPr>
          <a:xfrm>
            <a:off x="6172200" y="2672701"/>
            <a:ext cx="5183188"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8" name="Footer Placeholder 7">
            <a:extLst>
              <a:ext uri="{FF2B5EF4-FFF2-40B4-BE49-F238E27FC236}">
                <a16:creationId xmlns:a16="http://schemas.microsoft.com/office/drawing/2014/main" id="{C3D7DFAC-60B5-9BD1-8D23-4494639CC2E8}"/>
              </a:ext>
            </a:extLst>
          </p:cNvPr>
          <p:cNvSpPr>
            <a:spLocks noGrp="1"/>
          </p:cNvSpPr>
          <p:nvPr>
            <p:ph type="ftr" sz="quarter" idx="11"/>
          </p:nvPr>
        </p:nvSpPr>
        <p:spPr>
          <a:xfrm>
            <a:off x="3533429" y="6481647"/>
            <a:ext cx="5125142"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10" name="Freeform 9">
            <a:extLst>
              <a:ext uri="{FF2B5EF4-FFF2-40B4-BE49-F238E27FC236}">
                <a16:creationId xmlns:a16="http://schemas.microsoft.com/office/drawing/2014/main" id="{B75C2D9D-4765-3FD3-75BD-4E4DFF9C7F0D}"/>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Isosceles Triangle 12">
            <a:extLst>
              <a:ext uri="{FF2B5EF4-FFF2-40B4-BE49-F238E27FC236}">
                <a16:creationId xmlns:a16="http://schemas.microsoft.com/office/drawing/2014/main" id="{3AD591D0-42C1-C83D-D97B-315279CAEE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C49EA05-357C-0347-C6CD-EE67C566EBD0}"/>
              </a:ext>
            </a:extLst>
          </p:cNvPr>
          <p:cNvGrpSpPr/>
          <p:nvPr userDrawn="1"/>
        </p:nvGrpSpPr>
        <p:grpSpPr>
          <a:xfrm>
            <a:off x="58527" y="40944"/>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F63A430E-1EF6-53ED-B258-E65C14BBC4CE}"/>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2BC14D-AC20-6673-4A8D-7DE3FE988F33}"/>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61FFA6F-2FC8-1174-B8D5-60E8BE001CF3}"/>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6" name="Isosceles Triangle 12">
            <a:extLst>
              <a:ext uri="{FF2B5EF4-FFF2-40B4-BE49-F238E27FC236}">
                <a16:creationId xmlns:a16="http://schemas.microsoft.com/office/drawing/2014/main" id="{39240330-79C3-21F6-446A-3E039AFD3A3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CBDA796D-C2B0-5287-F4C3-E9C3DEA3FFEF}"/>
              </a:ext>
            </a:extLst>
          </p:cNvPr>
          <p:cNvGrpSpPr/>
          <p:nvPr userDrawn="1"/>
        </p:nvGrpSpPr>
        <p:grpSpPr>
          <a:xfrm flipH="1" flipV="1">
            <a:off x="9263702" y="5253677"/>
            <a:ext cx="2869771" cy="1563379"/>
            <a:chOff x="44879" y="27296"/>
            <a:chExt cx="2869771" cy="1563379"/>
          </a:xfrm>
          <a:solidFill>
            <a:srgbClr val="0072FF"/>
          </a:solidFill>
        </p:grpSpPr>
        <p:cxnSp>
          <p:nvCxnSpPr>
            <p:cNvPr id="18" name="Straight Connector 17">
              <a:extLst>
                <a:ext uri="{FF2B5EF4-FFF2-40B4-BE49-F238E27FC236}">
                  <a16:creationId xmlns:a16="http://schemas.microsoft.com/office/drawing/2014/main" id="{701CD2C9-117E-7A90-F02C-95AB5B37723A}"/>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3E69259-DC90-479A-D797-34F04F64243B}"/>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57EE3B6-EE34-8496-104E-9B1F8F51B2DE}"/>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21" name="Oval 20">
            <a:extLst>
              <a:ext uri="{FF2B5EF4-FFF2-40B4-BE49-F238E27FC236}">
                <a16:creationId xmlns:a16="http://schemas.microsoft.com/office/drawing/2014/main" id="{C6B6596A-8077-EEBC-4221-61CB055E23C4}"/>
              </a:ext>
            </a:extLst>
          </p:cNvPr>
          <p:cNvSpPr/>
          <p:nvPr userDrawn="1"/>
        </p:nvSpPr>
        <p:spPr>
          <a:xfrm>
            <a:off x="11920781" y="6595999"/>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8E0195D6-5215-7209-4E44-3598DDF6BF73}"/>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34F9F4C-59B6-44A2-8089-C9632F72F016}"/>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D39E34E-2D5A-7F18-3D5E-F38434C35041}"/>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6B4D7BA-684B-4CA9-75B2-7C633D5F5824}"/>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EEF9AF2-8C75-A883-C6CC-39115A1F8615}"/>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365D23-7485-954D-5E3D-2DB7FDD1011D}"/>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A picture containing clipart, vector graphics&#10;&#10;Description automatically generated">
            <a:extLst>
              <a:ext uri="{FF2B5EF4-FFF2-40B4-BE49-F238E27FC236}">
                <a16:creationId xmlns:a16="http://schemas.microsoft.com/office/drawing/2014/main" id="{9491656A-A1BE-90F8-B747-D9FA28F449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9" name="Slide Number Placeholder 8">
            <a:extLst>
              <a:ext uri="{FF2B5EF4-FFF2-40B4-BE49-F238E27FC236}">
                <a16:creationId xmlns:a16="http://schemas.microsoft.com/office/drawing/2014/main" id="{67CFCA39-DA8E-D2BC-F038-9C53D5D95746}"/>
              </a:ext>
            </a:extLst>
          </p:cNvPr>
          <p:cNvSpPr>
            <a:spLocks noGrp="1"/>
          </p:cNvSpPr>
          <p:nvPr>
            <p:ph type="sldNum" sz="quarter" idx="12"/>
          </p:nvPr>
        </p:nvSpPr>
        <p:spPr>
          <a:xfrm>
            <a:off x="11891939" y="6567157"/>
            <a:ext cx="291600" cy="291600"/>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 name="Date Placeholder 6">
            <a:extLst>
              <a:ext uri="{FF2B5EF4-FFF2-40B4-BE49-F238E27FC236}">
                <a16:creationId xmlns:a16="http://schemas.microsoft.com/office/drawing/2014/main" id="{9EC1AA4D-B13B-AA0A-E780-09B8CC670664}"/>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May 13, 2024</a:t>
            </a:fld>
            <a:endParaRPr lang="en-US" dirty="0"/>
          </a:p>
        </p:txBody>
      </p:sp>
    </p:spTree>
    <p:extLst>
      <p:ext uri="{BB962C8B-B14F-4D97-AF65-F5344CB8AC3E}">
        <p14:creationId xmlns:p14="http://schemas.microsoft.com/office/powerpoint/2010/main" val="1867627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Mẫu nội dung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451A8-C849-9E82-96FE-C28448A63035}"/>
              </a:ext>
            </a:extLst>
          </p:cNvPr>
          <p:cNvSpPr>
            <a:spLocks noGrp="1"/>
          </p:cNvSpPr>
          <p:nvPr>
            <p:ph type="title"/>
          </p:nvPr>
        </p:nvSpPr>
        <p:spPr>
          <a:xfrm>
            <a:off x="839788" y="794059"/>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A9A510C4-25DA-E657-8490-3BBA6C9F1EC2}"/>
              </a:ext>
            </a:extLst>
          </p:cNvPr>
          <p:cNvSpPr>
            <a:spLocks noGrp="1"/>
          </p:cNvSpPr>
          <p:nvPr>
            <p:ph idx="1"/>
          </p:nvPr>
        </p:nvSpPr>
        <p:spPr>
          <a:xfrm>
            <a:off x="5183188" y="1332222"/>
            <a:ext cx="6172200" cy="4873625"/>
          </a:xfrm>
        </p:spPr>
        <p:txBody>
          <a:bodyPr/>
          <a:lstStyle>
            <a:lvl1pPr>
              <a:defRPr sz="3200">
                <a:latin typeface="Arial" panose="020B0604020202020204" pitchFamily="34" charset="0"/>
                <a:cs typeface="Arial" panose="020B0604020202020204" pitchFamily="34" charset="0"/>
              </a:defRPr>
            </a:lvl1pPr>
            <a:lvl2pPr>
              <a:defRPr sz="28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6AAD4FDC-90BC-2A18-9D26-88E9016BDCFE}"/>
              </a:ext>
            </a:extLst>
          </p:cNvPr>
          <p:cNvSpPr>
            <a:spLocks noGrp="1"/>
          </p:cNvSpPr>
          <p:nvPr>
            <p:ph type="body" sz="half" idx="2"/>
          </p:nvPr>
        </p:nvSpPr>
        <p:spPr>
          <a:xfrm>
            <a:off x="839788" y="2394259"/>
            <a:ext cx="3932237" cy="3811588"/>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5525D253-E1CB-6DD3-1298-626DE84CCF40}"/>
              </a:ext>
            </a:extLst>
          </p:cNvPr>
          <p:cNvSpPr>
            <a:spLocks noGrp="1"/>
          </p:cNvSpPr>
          <p:nvPr>
            <p:ph type="ftr" sz="quarter" idx="11"/>
          </p:nvPr>
        </p:nvSpPr>
        <p:spPr>
          <a:xfrm>
            <a:off x="3564835" y="6481647"/>
            <a:ext cx="5062330"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8" name="Freeform 7">
            <a:extLst>
              <a:ext uri="{FF2B5EF4-FFF2-40B4-BE49-F238E27FC236}">
                <a16:creationId xmlns:a16="http://schemas.microsoft.com/office/drawing/2014/main" id="{9D2646A9-20B2-4E9D-002E-A164C93A765E}"/>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12">
            <a:extLst>
              <a:ext uri="{FF2B5EF4-FFF2-40B4-BE49-F238E27FC236}">
                <a16:creationId xmlns:a16="http://schemas.microsoft.com/office/drawing/2014/main" id="{E3DA3820-010F-54E6-12EE-340FD2FE0CB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9C01C7F-55E1-F2CB-795D-14ADA6F747EF}"/>
              </a:ext>
            </a:extLst>
          </p:cNvPr>
          <p:cNvGrpSpPr/>
          <p:nvPr userDrawn="1"/>
        </p:nvGrpSpPr>
        <p:grpSpPr>
          <a:xfrm>
            <a:off x="58527" y="40944"/>
            <a:ext cx="2869771" cy="1563379"/>
            <a:chOff x="44879" y="27296"/>
            <a:chExt cx="2869771" cy="1563379"/>
          </a:xfrm>
          <a:solidFill>
            <a:srgbClr val="0072FF"/>
          </a:solidFill>
        </p:grpSpPr>
        <p:cxnSp>
          <p:nvCxnSpPr>
            <p:cNvPr id="11" name="Straight Connector 10">
              <a:extLst>
                <a:ext uri="{FF2B5EF4-FFF2-40B4-BE49-F238E27FC236}">
                  <a16:creationId xmlns:a16="http://schemas.microsoft.com/office/drawing/2014/main" id="{27EFB461-265B-447E-AE53-F0AB83B5002D}"/>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811A0C-899E-BD2A-2B6B-F76A3CDCA12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4B5CB31-1B06-6224-B8E2-D0F08CE5907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Isosceles Triangle 12">
            <a:extLst>
              <a:ext uri="{FF2B5EF4-FFF2-40B4-BE49-F238E27FC236}">
                <a16:creationId xmlns:a16="http://schemas.microsoft.com/office/drawing/2014/main" id="{EBCAC4CC-6B14-0AD9-B30D-7B94535D4473}"/>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ABFA2BC-06E9-F841-D06E-DEBB7129CD94}"/>
              </a:ext>
            </a:extLst>
          </p:cNvPr>
          <p:cNvGrpSpPr/>
          <p:nvPr userDrawn="1"/>
        </p:nvGrpSpPr>
        <p:grpSpPr>
          <a:xfrm flipH="1" flipV="1">
            <a:off x="9263702" y="5253677"/>
            <a:ext cx="2869771" cy="1563379"/>
            <a:chOff x="44879" y="27296"/>
            <a:chExt cx="2869771" cy="1563379"/>
          </a:xfrm>
          <a:solidFill>
            <a:srgbClr val="0072FF"/>
          </a:solidFill>
        </p:grpSpPr>
        <p:cxnSp>
          <p:nvCxnSpPr>
            <p:cNvPr id="16" name="Straight Connector 15">
              <a:extLst>
                <a:ext uri="{FF2B5EF4-FFF2-40B4-BE49-F238E27FC236}">
                  <a16:creationId xmlns:a16="http://schemas.microsoft.com/office/drawing/2014/main" id="{FC8E81B6-D5AC-F9AA-7729-98A69A809FE3}"/>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EFB5E89-FF82-2441-3C96-2E40FFE648D5}"/>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62BEED6-4AFE-006D-2D1B-6B7FF1399D30}"/>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F3765DC4-E546-6CB3-C32B-5002168C1885}"/>
              </a:ext>
            </a:extLst>
          </p:cNvPr>
          <p:cNvSpPr/>
          <p:nvPr userDrawn="1"/>
        </p:nvSpPr>
        <p:spPr>
          <a:xfrm>
            <a:off x="11928288" y="6594127"/>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704CF68F-86DE-9DE4-02A9-28AFB5A5AAFF}"/>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70D253A-5ACF-E7B4-CB94-7CE385706947}"/>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412634D-8462-7774-CD62-1BCCD3C66D98}"/>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DE8F499-81C5-DFD9-74F8-F76C0953643C}"/>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323D2CF-0CBB-FBC2-6960-BFB0F1C90BFA}"/>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AADE3BD-9DA6-DD92-09E2-110656AC1B47}"/>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A picture containing clipart, vector graphics&#10;&#10;Description automatically generated">
            <a:extLst>
              <a:ext uri="{FF2B5EF4-FFF2-40B4-BE49-F238E27FC236}">
                <a16:creationId xmlns:a16="http://schemas.microsoft.com/office/drawing/2014/main" id="{1B5C196E-D0AE-CCC2-7ED7-5FD1F3D44B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7" name="Slide Number Placeholder 6">
            <a:extLst>
              <a:ext uri="{FF2B5EF4-FFF2-40B4-BE49-F238E27FC236}">
                <a16:creationId xmlns:a16="http://schemas.microsoft.com/office/drawing/2014/main" id="{3BE365E8-16C7-CA1B-5178-544D2DD77227}"/>
              </a:ext>
            </a:extLst>
          </p:cNvPr>
          <p:cNvSpPr>
            <a:spLocks noGrp="1"/>
          </p:cNvSpPr>
          <p:nvPr>
            <p:ph type="sldNum" sz="quarter" idx="12"/>
          </p:nvPr>
        </p:nvSpPr>
        <p:spPr>
          <a:xfrm>
            <a:off x="11899446" y="6565285"/>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 name="Date Placeholder 4">
            <a:extLst>
              <a:ext uri="{FF2B5EF4-FFF2-40B4-BE49-F238E27FC236}">
                <a16:creationId xmlns:a16="http://schemas.microsoft.com/office/drawing/2014/main" id="{F4A2DD06-FBE3-7873-A44C-AF7E41B47032}"/>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May 13, 2024</a:t>
            </a:fld>
            <a:endParaRPr lang="en-US" dirty="0"/>
          </a:p>
        </p:txBody>
      </p:sp>
    </p:spTree>
    <p:extLst>
      <p:ext uri="{BB962C8B-B14F-4D97-AF65-F5344CB8AC3E}">
        <p14:creationId xmlns:p14="http://schemas.microsoft.com/office/powerpoint/2010/main" val="2687022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Mẫu nội dung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E29DC-55F0-F47B-3718-A35859CDD6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298E4A4A-E817-C827-E00E-45BE2297F8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DD1CBCD9-BF05-A0CA-F591-8757A370E53A}"/>
              </a:ext>
            </a:extLst>
          </p:cNvPr>
          <p:cNvSpPr>
            <a:spLocks noGrp="1"/>
          </p:cNvSpPr>
          <p:nvPr>
            <p:ph type="body" sz="half" idx="2"/>
          </p:nvPr>
        </p:nvSpPr>
        <p:spPr>
          <a:xfrm>
            <a:off x="839788" y="2057400"/>
            <a:ext cx="3932237" cy="3811588"/>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46EB012B-14DB-4805-E51C-850F8761054D}"/>
              </a:ext>
            </a:extLst>
          </p:cNvPr>
          <p:cNvSpPr>
            <a:spLocks noGrp="1"/>
          </p:cNvSpPr>
          <p:nvPr>
            <p:ph type="ftr" sz="quarter" idx="11"/>
          </p:nvPr>
        </p:nvSpPr>
        <p:spPr>
          <a:xfrm>
            <a:off x="3485322" y="6481647"/>
            <a:ext cx="5221356"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8" name="Freeform 7">
            <a:extLst>
              <a:ext uri="{FF2B5EF4-FFF2-40B4-BE49-F238E27FC236}">
                <a16:creationId xmlns:a16="http://schemas.microsoft.com/office/drawing/2014/main" id="{091CF413-55DD-58D0-694A-0DD1DC5F0CC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12">
            <a:extLst>
              <a:ext uri="{FF2B5EF4-FFF2-40B4-BE49-F238E27FC236}">
                <a16:creationId xmlns:a16="http://schemas.microsoft.com/office/drawing/2014/main" id="{D0838B7F-C9B8-5774-F077-530355943B43}"/>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BB0766C-1141-EF46-A49F-1355FBAABD0F}"/>
              </a:ext>
            </a:extLst>
          </p:cNvPr>
          <p:cNvGrpSpPr/>
          <p:nvPr userDrawn="1"/>
        </p:nvGrpSpPr>
        <p:grpSpPr>
          <a:xfrm>
            <a:off x="58527" y="40944"/>
            <a:ext cx="2869771" cy="1563379"/>
            <a:chOff x="44879" y="27296"/>
            <a:chExt cx="2869771" cy="1563379"/>
          </a:xfrm>
          <a:solidFill>
            <a:srgbClr val="0072FF"/>
          </a:solidFill>
        </p:grpSpPr>
        <p:cxnSp>
          <p:nvCxnSpPr>
            <p:cNvPr id="11" name="Straight Connector 10">
              <a:extLst>
                <a:ext uri="{FF2B5EF4-FFF2-40B4-BE49-F238E27FC236}">
                  <a16:creationId xmlns:a16="http://schemas.microsoft.com/office/drawing/2014/main" id="{4ABF3C35-2161-E4C8-E673-CCF35A0B4807}"/>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348080-E29C-4997-A409-76FA41D3C43A}"/>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D9E9411-6A6B-5C7F-F0EE-071A0DBF0D05}"/>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Isosceles Triangle 12">
            <a:extLst>
              <a:ext uri="{FF2B5EF4-FFF2-40B4-BE49-F238E27FC236}">
                <a16:creationId xmlns:a16="http://schemas.microsoft.com/office/drawing/2014/main" id="{DC674C23-BC8F-9996-69A1-8E7ABD8C60C2}"/>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07C409ED-36BC-003F-845E-497279365061}"/>
              </a:ext>
            </a:extLst>
          </p:cNvPr>
          <p:cNvGrpSpPr/>
          <p:nvPr userDrawn="1"/>
        </p:nvGrpSpPr>
        <p:grpSpPr>
          <a:xfrm flipH="1" flipV="1">
            <a:off x="9263702" y="5253677"/>
            <a:ext cx="2869771" cy="1563379"/>
            <a:chOff x="44879" y="27296"/>
            <a:chExt cx="2869771" cy="1563379"/>
          </a:xfrm>
          <a:solidFill>
            <a:srgbClr val="0072FF"/>
          </a:solidFill>
        </p:grpSpPr>
        <p:cxnSp>
          <p:nvCxnSpPr>
            <p:cNvPr id="16" name="Straight Connector 15">
              <a:extLst>
                <a:ext uri="{FF2B5EF4-FFF2-40B4-BE49-F238E27FC236}">
                  <a16:creationId xmlns:a16="http://schemas.microsoft.com/office/drawing/2014/main" id="{F7C05C62-5535-F81F-976D-9A335041D158}"/>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F420A0D-917B-C624-28A3-C0C824C2B226}"/>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6367E11-6F4E-99ED-4B0B-7522FA43F7E0}"/>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3CB33257-2B8E-6873-E8FD-C4F8FF8DCD25}"/>
              </a:ext>
            </a:extLst>
          </p:cNvPr>
          <p:cNvSpPr/>
          <p:nvPr userDrawn="1"/>
        </p:nvSpPr>
        <p:spPr>
          <a:xfrm>
            <a:off x="11929297" y="6593855"/>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30AFF6BE-7E65-931F-E1CD-6187FEE7D4EE}"/>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94812A-A981-DB3F-4202-2EDAAEB9815A}"/>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CA980ED-F1D8-2698-18CD-9DC6DEFF348A}"/>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57A1BEE-0967-806A-FED8-28BE6225F412}"/>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33D227-3B6F-CC84-F43C-7FBDC74D7027}"/>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5F350F5-BC8F-5B4F-FA94-F5A886F3859E}"/>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A picture containing clipart, vector graphics&#10;&#10;Description automatically generated">
            <a:extLst>
              <a:ext uri="{FF2B5EF4-FFF2-40B4-BE49-F238E27FC236}">
                <a16:creationId xmlns:a16="http://schemas.microsoft.com/office/drawing/2014/main" id="{1159E91D-76B6-E388-6E9A-90AF5632782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7" name="Slide Number Placeholder 6">
            <a:extLst>
              <a:ext uri="{FF2B5EF4-FFF2-40B4-BE49-F238E27FC236}">
                <a16:creationId xmlns:a16="http://schemas.microsoft.com/office/drawing/2014/main" id="{7401E60B-49E0-F1AF-2056-D979BF688F24}"/>
              </a:ext>
            </a:extLst>
          </p:cNvPr>
          <p:cNvSpPr>
            <a:spLocks noGrp="1"/>
          </p:cNvSpPr>
          <p:nvPr>
            <p:ph type="sldNum" sz="quarter" idx="12"/>
          </p:nvPr>
        </p:nvSpPr>
        <p:spPr>
          <a:xfrm>
            <a:off x="11900455" y="6565013"/>
            <a:ext cx="291600" cy="291600"/>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 name="Date Placeholder 4">
            <a:extLst>
              <a:ext uri="{FF2B5EF4-FFF2-40B4-BE49-F238E27FC236}">
                <a16:creationId xmlns:a16="http://schemas.microsoft.com/office/drawing/2014/main" id="{2B42D31F-1378-BD90-39BE-0040CC48E6CF}"/>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May 13, 2024</a:t>
            </a:fld>
            <a:endParaRPr lang="en-US" dirty="0"/>
          </a:p>
        </p:txBody>
      </p:sp>
    </p:spTree>
    <p:extLst>
      <p:ext uri="{BB962C8B-B14F-4D97-AF65-F5344CB8AC3E}">
        <p14:creationId xmlns:p14="http://schemas.microsoft.com/office/powerpoint/2010/main" val="716423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rang trốn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FCF4205-FE69-B110-BFEC-96C243E846C8}"/>
              </a:ext>
            </a:extLst>
          </p:cNvPr>
          <p:cNvSpPr>
            <a:spLocks noGrp="1"/>
          </p:cNvSpPr>
          <p:nvPr>
            <p:ph type="ftr" sz="quarter" idx="11"/>
          </p:nvPr>
        </p:nvSpPr>
        <p:spPr>
          <a:xfrm>
            <a:off x="3684104" y="6481647"/>
            <a:ext cx="4823792"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5" name="Freeform 4">
            <a:extLst>
              <a:ext uri="{FF2B5EF4-FFF2-40B4-BE49-F238E27FC236}">
                <a16:creationId xmlns:a16="http://schemas.microsoft.com/office/drawing/2014/main" id="{7B001B7A-ACFD-E95F-12D9-19AAE5D26050}"/>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Isosceles Triangle 12">
            <a:extLst>
              <a:ext uri="{FF2B5EF4-FFF2-40B4-BE49-F238E27FC236}">
                <a16:creationId xmlns:a16="http://schemas.microsoft.com/office/drawing/2014/main" id="{EC54FC6D-4EA2-05B8-622E-978CA44EE451}"/>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686BFCC2-A4FC-FD21-E540-274D8A5E86A6}"/>
              </a:ext>
            </a:extLst>
          </p:cNvPr>
          <p:cNvGrpSpPr/>
          <p:nvPr userDrawn="1"/>
        </p:nvGrpSpPr>
        <p:grpSpPr>
          <a:xfrm>
            <a:off x="58527" y="40944"/>
            <a:ext cx="2869771" cy="1563379"/>
            <a:chOff x="44879" y="27296"/>
            <a:chExt cx="2869771" cy="1563379"/>
          </a:xfrm>
          <a:solidFill>
            <a:srgbClr val="0072FF"/>
          </a:solidFill>
        </p:grpSpPr>
        <p:cxnSp>
          <p:nvCxnSpPr>
            <p:cNvPr id="8" name="Straight Connector 7">
              <a:extLst>
                <a:ext uri="{FF2B5EF4-FFF2-40B4-BE49-F238E27FC236}">
                  <a16:creationId xmlns:a16="http://schemas.microsoft.com/office/drawing/2014/main" id="{FE02FF7A-C97B-6315-EE50-502DD70172C7}"/>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BB8E8B-5D54-0BE8-2B45-A52136DC7C1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6865F1-6407-106A-3054-46BDFFCABBCE}"/>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1" name="Isosceles Triangle 12">
            <a:extLst>
              <a:ext uri="{FF2B5EF4-FFF2-40B4-BE49-F238E27FC236}">
                <a16:creationId xmlns:a16="http://schemas.microsoft.com/office/drawing/2014/main" id="{F7A0C3F8-4035-744F-55A7-EA06C1D5C7EA}"/>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C9E4668-1010-687F-A942-6C4D5A705103}"/>
              </a:ext>
            </a:extLst>
          </p:cNvPr>
          <p:cNvGrpSpPr/>
          <p:nvPr userDrawn="1"/>
        </p:nvGrpSpPr>
        <p:grpSpPr>
          <a:xfrm flipH="1" flipV="1">
            <a:off x="9263702" y="5253677"/>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5C38CE8D-69BB-4124-0995-8FFFD3591CF4}"/>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67A915F-DF8B-DE38-6935-2EF2855BD44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EE0435-0ACC-2AB8-1B9F-A6029A49FCEA}"/>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6" name="Oval 15">
            <a:extLst>
              <a:ext uri="{FF2B5EF4-FFF2-40B4-BE49-F238E27FC236}">
                <a16:creationId xmlns:a16="http://schemas.microsoft.com/office/drawing/2014/main" id="{193E2330-6133-BE87-4D2E-C83A58844D20}"/>
              </a:ext>
            </a:extLst>
          </p:cNvPr>
          <p:cNvSpPr/>
          <p:nvPr userDrawn="1"/>
        </p:nvSpPr>
        <p:spPr>
          <a:xfrm>
            <a:off x="11926541" y="6589084"/>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037ACE3-8FB7-24F0-3868-FE9125A2AECB}"/>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A5D02D-0007-4DC9-960D-BEF3BFABF7BF}"/>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0C732A1-B62D-CEEA-BA05-6809BA51F8BD}"/>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4BF2B8-4151-6AB5-64CB-17CA8871FA1F}"/>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EAEE115-474E-0C83-1F8A-40C90DC3E1A5}"/>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8BB15EA-009D-0AD0-1DD5-9E5E43B737E1}"/>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picture containing clipart, vector graphics&#10;&#10;Description automatically generated">
            <a:extLst>
              <a:ext uri="{FF2B5EF4-FFF2-40B4-BE49-F238E27FC236}">
                <a16:creationId xmlns:a16="http://schemas.microsoft.com/office/drawing/2014/main" id="{0750E473-BE75-9843-7989-024278E0E2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4" name="Slide Number Placeholder 3">
            <a:extLst>
              <a:ext uri="{FF2B5EF4-FFF2-40B4-BE49-F238E27FC236}">
                <a16:creationId xmlns:a16="http://schemas.microsoft.com/office/drawing/2014/main" id="{807543E0-8536-7E05-8D77-79C6CEA07DB9}"/>
              </a:ext>
            </a:extLst>
          </p:cNvPr>
          <p:cNvSpPr>
            <a:spLocks noGrp="1"/>
          </p:cNvSpPr>
          <p:nvPr>
            <p:ph type="sldNum" sz="quarter" idx="12"/>
          </p:nvPr>
        </p:nvSpPr>
        <p:spPr>
          <a:xfrm>
            <a:off x="11897699" y="6560242"/>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2" name="Date Placeholder 1">
            <a:extLst>
              <a:ext uri="{FF2B5EF4-FFF2-40B4-BE49-F238E27FC236}">
                <a16:creationId xmlns:a16="http://schemas.microsoft.com/office/drawing/2014/main" id="{90AD0C70-2015-36A0-DCB1-0E2322D0D364}"/>
              </a:ext>
            </a:extLst>
          </p:cNvPr>
          <p:cNvSpPr>
            <a:spLocks noGrp="1"/>
          </p:cNvSpPr>
          <p:nvPr>
            <p:ph type="dt" sz="half" idx="13"/>
          </p:nvPr>
        </p:nvSpPr>
        <p:spPr>
          <a:xfrm>
            <a:off x="838200" y="6481647"/>
            <a:ext cx="2148299"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May 13, 2024</a:t>
            </a:fld>
            <a:endParaRPr lang="en-US" dirty="0"/>
          </a:p>
        </p:txBody>
      </p:sp>
    </p:spTree>
    <p:extLst>
      <p:ext uri="{BB962C8B-B14F-4D97-AF65-F5344CB8AC3E}">
        <p14:creationId xmlns:p14="http://schemas.microsoft.com/office/powerpoint/2010/main" val="111985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CB126-07C1-993D-D40F-CC928946B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1. TÊN MỤC</a:t>
            </a:r>
            <a:endParaRPr lang="en-VN" dirty="0"/>
          </a:p>
        </p:txBody>
      </p:sp>
      <p:sp>
        <p:nvSpPr>
          <p:cNvPr id="3" name="Text Placeholder 2">
            <a:extLst>
              <a:ext uri="{FF2B5EF4-FFF2-40B4-BE49-F238E27FC236}">
                <a16:creationId xmlns:a16="http://schemas.microsoft.com/office/drawing/2014/main" id="{B5BBBD58-B33F-3C47-5551-9A2A2CE27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3F5A01D-3EDB-1F54-F4EE-AFD1EF996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CDDB1B-AAE9-1649-A755-11FADEB7E97E}" type="datetime4">
              <a:rPr lang="en-US" smtClean="0"/>
              <a:t>May 13, 2024</a:t>
            </a:fld>
            <a:endParaRPr lang="en-VN"/>
          </a:p>
        </p:txBody>
      </p:sp>
      <p:sp>
        <p:nvSpPr>
          <p:cNvPr id="5" name="Footer Placeholder 4">
            <a:extLst>
              <a:ext uri="{FF2B5EF4-FFF2-40B4-BE49-F238E27FC236}">
                <a16:creationId xmlns:a16="http://schemas.microsoft.com/office/drawing/2014/main" id="{F95D1C7E-53C3-CE2D-B996-7F9702138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1A91A76A-6303-F16B-A578-8E129753A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1204367988"/>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4" r:id="rId3"/>
    <p:sldLayoutId id="2147483663" r:id="rId4"/>
    <p:sldLayoutId id="2147483650" r:id="rId5"/>
    <p:sldLayoutId id="2147483652" r:id="rId6"/>
    <p:sldLayoutId id="2147483653" r:id="rId7"/>
    <p:sldLayoutId id="2147483656" r:id="rId8"/>
    <p:sldLayoutId id="2147483657" r:id="rId9"/>
    <p:sldLayoutId id="2147483655" r:id="rId10"/>
  </p:sldLayoutIdLst>
  <p:hf hdr="0"/>
  <p:txStyles>
    <p:title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emf"/><Relationship Id="rId7" Type="http://schemas.openxmlformats.org/officeDocument/2006/relationships/image" Target="../media/image9.emf"/><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8.emf"/><Relationship Id="rId5" Type="http://schemas.openxmlformats.org/officeDocument/2006/relationships/image" Target="../media/image7.emf"/><Relationship Id="rId10" Type="http://schemas.openxmlformats.org/officeDocument/2006/relationships/image" Target="../media/image12.emf"/><Relationship Id="rId4" Type="http://schemas.openxmlformats.org/officeDocument/2006/relationships/image" Target="../media/image6.emf"/><Relationship Id="rId9" Type="http://schemas.openxmlformats.org/officeDocument/2006/relationships/image" Target="../media/image11.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8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B88DCF8-0D88-9852-95C4-4F568F0A7200}"/>
              </a:ext>
            </a:extLst>
          </p:cNvPr>
          <p:cNvSpPr>
            <a:spLocks noGrp="1"/>
          </p:cNvSpPr>
          <p:nvPr>
            <p:ph type="sldNum" sz="quarter" idx="12"/>
          </p:nvPr>
        </p:nvSpPr>
        <p:spPr/>
        <p:txBody>
          <a:bodyPr/>
          <a:lstStyle/>
          <a:p>
            <a:fld id="{D8B0B3AC-44A8-D142-AAF6-9A453466E1A4}" type="slidenum">
              <a:rPr lang="en-VN" smtClean="0"/>
              <a:pPr/>
              <a:t>1</a:t>
            </a:fld>
            <a:endParaRPr lang="en-VN" dirty="0"/>
          </a:p>
        </p:txBody>
      </p:sp>
      <p:sp>
        <p:nvSpPr>
          <p:cNvPr id="7" name="Text Placeholder 6">
            <a:extLst>
              <a:ext uri="{FF2B5EF4-FFF2-40B4-BE49-F238E27FC236}">
                <a16:creationId xmlns:a16="http://schemas.microsoft.com/office/drawing/2014/main" id="{11F55CA5-843C-3510-DCA9-291216FC7646}"/>
              </a:ext>
            </a:extLst>
          </p:cNvPr>
          <p:cNvSpPr>
            <a:spLocks noGrp="1"/>
          </p:cNvSpPr>
          <p:nvPr>
            <p:ph type="body" sz="quarter" idx="13"/>
          </p:nvPr>
        </p:nvSpPr>
        <p:spPr/>
        <p:txBody>
          <a:bodyPr>
            <a:normAutofit fontScale="77500" lnSpcReduction="20000"/>
          </a:bodyPr>
          <a:lstStyle/>
          <a:p>
            <a:r>
              <a:rPr lang="en-US"/>
              <a:t>TỔ CHỨC VÀ CẤU TRÚC MÁY TÍNH II</a:t>
            </a:r>
            <a:endParaRPr lang="en-VN" dirty="0"/>
          </a:p>
        </p:txBody>
      </p:sp>
      <p:sp>
        <p:nvSpPr>
          <p:cNvPr id="8" name="Text Placeholder 7">
            <a:extLst>
              <a:ext uri="{FF2B5EF4-FFF2-40B4-BE49-F238E27FC236}">
                <a16:creationId xmlns:a16="http://schemas.microsoft.com/office/drawing/2014/main" id="{A2113BCF-E52A-540A-4540-2833CA1A0E44}"/>
              </a:ext>
            </a:extLst>
          </p:cNvPr>
          <p:cNvSpPr>
            <a:spLocks noGrp="1"/>
          </p:cNvSpPr>
          <p:nvPr>
            <p:ph type="body" sz="quarter" idx="14"/>
          </p:nvPr>
        </p:nvSpPr>
        <p:spPr/>
        <p:txBody>
          <a:bodyPr/>
          <a:lstStyle/>
          <a:p>
            <a:r>
              <a:rPr lang="en-US" dirty="0"/>
              <a:t>CHƯƠNG 8: </a:t>
            </a:r>
            <a:r>
              <a:rPr lang="en-US" sz="2000" dirty="0"/>
              <a:t>BỘ XỬ LÝ</a:t>
            </a:r>
            <a:endParaRPr lang="en-VN" dirty="0"/>
          </a:p>
        </p:txBody>
      </p:sp>
      <p:sp>
        <p:nvSpPr>
          <p:cNvPr id="9" name="Text Placeholder 8">
            <a:extLst>
              <a:ext uri="{FF2B5EF4-FFF2-40B4-BE49-F238E27FC236}">
                <a16:creationId xmlns:a16="http://schemas.microsoft.com/office/drawing/2014/main" id="{4F41A4B7-48D3-1CAE-C056-FDAD586D0469}"/>
              </a:ext>
            </a:extLst>
          </p:cNvPr>
          <p:cNvSpPr>
            <a:spLocks noGrp="1"/>
          </p:cNvSpPr>
          <p:nvPr>
            <p:ph type="body" sz="quarter" idx="15"/>
          </p:nvPr>
        </p:nvSpPr>
        <p:spPr/>
        <p:txBody>
          <a:bodyPr/>
          <a:lstStyle/>
          <a:p>
            <a:r>
              <a:rPr lang="en-US"/>
              <a:t>PHAN ĐÌNH DUY</a:t>
            </a:r>
            <a:endParaRPr lang="en-VN"/>
          </a:p>
        </p:txBody>
      </p:sp>
      <p:sp>
        <p:nvSpPr>
          <p:cNvPr id="10" name="Text Placeholder 9">
            <a:extLst>
              <a:ext uri="{FF2B5EF4-FFF2-40B4-BE49-F238E27FC236}">
                <a16:creationId xmlns:a16="http://schemas.microsoft.com/office/drawing/2014/main" id="{A673612D-1002-64DC-D3C2-F4E546D79283}"/>
              </a:ext>
            </a:extLst>
          </p:cNvPr>
          <p:cNvSpPr>
            <a:spLocks noGrp="1"/>
          </p:cNvSpPr>
          <p:nvPr>
            <p:ph type="body" sz="quarter" idx="16"/>
          </p:nvPr>
        </p:nvSpPr>
        <p:spPr/>
        <p:txBody>
          <a:bodyPr/>
          <a:lstStyle/>
          <a:p>
            <a:r>
              <a:rPr lang="en-US" dirty="0" err="1"/>
              <a:t>Trình</a:t>
            </a:r>
            <a:r>
              <a:rPr lang="en-US" dirty="0"/>
              <a:t> </a:t>
            </a:r>
            <a:r>
              <a:rPr lang="en-US" dirty="0" err="1"/>
              <a:t>bày</a:t>
            </a:r>
            <a:r>
              <a:rPr lang="en-US" dirty="0"/>
              <a:t> </a:t>
            </a:r>
            <a:r>
              <a:rPr lang="en-US" dirty="0" err="1"/>
              <a:t>các</a:t>
            </a:r>
            <a:r>
              <a:rPr lang="en-US" dirty="0"/>
              <a:t> </a:t>
            </a:r>
            <a:r>
              <a:rPr lang="en-US" dirty="0" err="1"/>
              <a:t>kiến</a:t>
            </a:r>
            <a:r>
              <a:rPr lang="en-US" dirty="0"/>
              <a:t> </a:t>
            </a:r>
            <a:r>
              <a:rPr lang="en-US" dirty="0" err="1"/>
              <a:t>thức</a:t>
            </a:r>
            <a:r>
              <a:rPr lang="en-US" dirty="0"/>
              <a:t> </a:t>
            </a:r>
            <a:r>
              <a:rPr lang="en-US" dirty="0" err="1"/>
              <a:t>tổng</a:t>
            </a:r>
            <a:r>
              <a:rPr lang="en-US" dirty="0"/>
              <a:t> </a:t>
            </a:r>
            <a:r>
              <a:rPr lang="en-US" dirty="0" err="1"/>
              <a:t>quan</a:t>
            </a:r>
            <a:r>
              <a:rPr lang="en-US" dirty="0"/>
              <a:t> </a:t>
            </a:r>
            <a:r>
              <a:rPr lang="en-US" dirty="0" err="1"/>
              <a:t>về</a:t>
            </a:r>
            <a:r>
              <a:rPr lang="en-US" dirty="0"/>
              <a:t> bộ </a:t>
            </a:r>
            <a:r>
              <a:rPr lang="en-US" dirty="0" err="1"/>
              <a:t>xử</a:t>
            </a:r>
            <a:r>
              <a:rPr lang="en-US" dirty="0"/>
              <a:t> </a:t>
            </a:r>
            <a:r>
              <a:rPr lang="en-US" dirty="0" err="1"/>
              <a:t>lý</a:t>
            </a:r>
            <a:r>
              <a:rPr lang="en-US" dirty="0"/>
              <a:t> - CPU, </a:t>
            </a:r>
            <a:r>
              <a:rPr lang="en-US" dirty="0" err="1"/>
              <a:t>sau</a:t>
            </a:r>
            <a:r>
              <a:rPr lang="en-US" dirty="0"/>
              <a:t> </a:t>
            </a:r>
            <a:r>
              <a:rPr lang="en-US" dirty="0" err="1"/>
              <a:t>đó</a:t>
            </a:r>
            <a:r>
              <a:rPr lang="en-US" dirty="0"/>
              <a:t> </a:t>
            </a:r>
            <a:r>
              <a:rPr lang="en-US" dirty="0" err="1"/>
              <a:t>đi</a:t>
            </a:r>
            <a:r>
              <a:rPr lang="en-US" dirty="0"/>
              <a:t> </a:t>
            </a:r>
            <a:r>
              <a:rPr lang="en-US" dirty="0" err="1"/>
              <a:t>sâu</a:t>
            </a:r>
            <a:r>
              <a:rPr lang="en-US" dirty="0"/>
              <a:t> </a:t>
            </a:r>
            <a:r>
              <a:rPr lang="en-US" dirty="0" err="1"/>
              <a:t>vào</a:t>
            </a:r>
            <a:r>
              <a:rPr lang="en-US" dirty="0"/>
              <a:t> </a:t>
            </a:r>
            <a:r>
              <a:rPr lang="en-US" dirty="0" err="1"/>
              <a:t>trình</a:t>
            </a:r>
            <a:r>
              <a:rPr lang="en-US" dirty="0"/>
              <a:t> </a:t>
            </a:r>
            <a:r>
              <a:rPr lang="en-US" dirty="0" err="1"/>
              <a:t>bày</a:t>
            </a:r>
            <a:r>
              <a:rPr lang="en-US" dirty="0"/>
              <a:t> 2 </a:t>
            </a:r>
            <a:r>
              <a:rPr lang="en-US" dirty="0" err="1"/>
              <a:t>thành</a:t>
            </a:r>
            <a:r>
              <a:rPr lang="en-US" dirty="0"/>
              <a:t> </a:t>
            </a:r>
            <a:r>
              <a:rPr lang="en-US" dirty="0" err="1"/>
              <a:t>phần</a:t>
            </a:r>
            <a:r>
              <a:rPr lang="en-US" dirty="0"/>
              <a:t> </a:t>
            </a:r>
            <a:r>
              <a:rPr lang="en-US" dirty="0" err="1"/>
              <a:t>quan</a:t>
            </a:r>
            <a:r>
              <a:rPr lang="en-US" dirty="0"/>
              <a:t> </a:t>
            </a:r>
            <a:r>
              <a:rPr lang="en-US" dirty="0" err="1"/>
              <a:t>trọng</a:t>
            </a:r>
            <a:r>
              <a:rPr lang="en-US" dirty="0"/>
              <a:t> </a:t>
            </a:r>
            <a:r>
              <a:rPr lang="en-US" dirty="0" err="1"/>
              <a:t>trong</a:t>
            </a:r>
            <a:r>
              <a:rPr lang="en-US" dirty="0"/>
              <a:t> bộ </a:t>
            </a:r>
            <a:r>
              <a:rPr lang="en-US" dirty="0" err="1"/>
              <a:t>xử</a:t>
            </a:r>
            <a:r>
              <a:rPr lang="en-US" dirty="0"/>
              <a:t> </a:t>
            </a:r>
            <a:r>
              <a:rPr lang="en-US" dirty="0" err="1"/>
              <a:t>lý</a:t>
            </a:r>
            <a:r>
              <a:rPr lang="en-US" dirty="0"/>
              <a:t> </a:t>
            </a:r>
            <a:r>
              <a:rPr lang="en-US" dirty="0" err="1"/>
              <a:t>là</a:t>
            </a:r>
            <a:r>
              <a:rPr lang="en-US" dirty="0"/>
              <a:t> </a:t>
            </a:r>
            <a:r>
              <a:rPr lang="en-US" dirty="0" err="1"/>
              <a:t>datapath</a:t>
            </a:r>
            <a:r>
              <a:rPr lang="en-US" dirty="0"/>
              <a:t> </a:t>
            </a:r>
            <a:r>
              <a:rPr lang="en-US" dirty="0" err="1"/>
              <a:t>và</a:t>
            </a:r>
            <a:r>
              <a:rPr lang="en-US" dirty="0"/>
              <a:t> control, </a:t>
            </a:r>
            <a:r>
              <a:rPr lang="en-US" dirty="0" err="1"/>
              <a:t>cuối</a:t>
            </a:r>
            <a:r>
              <a:rPr lang="en-US" dirty="0"/>
              <a:t> </a:t>
            </a:r>
            <a:r>
              <a:rPr lang="en-US" dirty="0" err="1"/>
              <a:t>cùng</a:t>
            </a:r>
            <a:r>
              <a:rPr lang="en-US" dirty="0"/>
              <a:t> </a:t>
            </a:r>
            <a:r>
              <a:rPr lang="en-US" dirty="0" err="1"/>
              <a:t>sẽ</a:t>
            </a:r>
            <a:r>
              <a:rPr lang="en-US" dirty="0"/>
              <a:t> </a:t>
            </a:r>
            <a:r>
              <a:rPr lang="en-US" dirty="0" err="1"/>
              <a:t>xử</a:t>
            </a:r>
            <a:r>
              <a:rPr lang="en-US" dirty="0"/>
              <a:t> dung </a:t>
            </a:r>
            <a:r>
              <a:rPr lang="en-US" dirty="0" err="1"/>
              <a:t>datapath</a:t>
            </a:r>
            <a:r>
              <a:rPr lang="en-US" dirty="0"/>
              <a:t> </a:t>
            </a:r>
            <a:r>
              <a:rPr lang="en-US" dirty="0" err="1"/>
              <a:t>và</a:t>
            </a:r>
            <a:r>
              <a:rPr lang="en-US" dirty="0"/>
              <a:t> control </a:t>
            </a:r>
            <a:r>
              <a:rPr lang="en-US" dirty="0" err="1"/>
              <a:t>để</a:t>
            </a:r>
            <a:r>
              <a:rPr lang="en-US" dirty="0"/>
              <a:t> </a:t>
            </a:r>
            <a:r>
              <a:rPr lang="en-US" dirty="0" err="1"/>
              <a:t>thực</a:t>
            </a:r>
            <a:r>
              <a:rPr lang="en-US" dirty="0"/>
              <a:t> </a:t>
            </a:r>
            <a:r>
              <a:rPr lang="en-US" dirty="0" err="1"/>
              <a:t>thi</a:t>
            </a:r>
            <a:r>
              <a:rPr lang="en-US" dirty="0"/>
              <a:t> </a:t>
            </a:r>
            <a:r>
              <a:rPr lang="en-US" dirty="0" err="1"/>
              <a:t>các</a:t>
            </a:r>
            <a:r>
              <a:rPr lang="en-US" dirty="0"/>
              <a:t> </a:t>
            </a:r>
            <a:r>
              <a:rPr lang="en-US" dirty="0" err="1"/>
              <a:t>lệnh</a:t>
            </a:r>
            <a:r>
              <a:rPr lang="en-US" dirty="0"/>
              <a:t> </a:t>
            </a:r>
            <a:r>
              <a:rPr lang="en-US" dirty="0" err="1"/>
              <a:t>cơ</a:t>
            </a:r>
            <a:r>
              <a:rPr lang="en-US" dirty="0"/>
              <a:t> </a:t>
            </a:r>
            <a:r>
              <a:rPr lang="en-US" dirty="0" err="1"/>
              <a:t>bản</a:t>
            </a:r>
            <a:r>
              <a:rPr lang="en-US" dirty="0"/>
              <a:t> </a:t>
            </a:r>
            <a:r>
              <a:rPr lang="en-US" dirty="0" err="1"/>
              <a:t>trong</a:t>
            </a:r>
            <a:r>
              <a:rPr lang="en-US" dirty="0"/>
              <a:t> MIPS</a:t>
            </a:r>
            <a:endParaRPr lang="en-VN" dirty="0"/>
          </a:p>
        </p:txBody>
      </p:sp>
      <p:sp>
        <p:nvSpPr>
          <p:cNvPr id="2" name="Footer Placeholder 1">
            <a:extLst>
              <a:ext uri="{FF2B5EF4-FFF2-40B4-BE49-F238E27FC236}">
                <a16:creationId xmlns:a16="http://schemas.microsoft.com/office/drawing/2014/main" id="{2D72110C-D077-8C1D-3057-3378C02C490F}"/>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2980657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2</a:t>
            </a:fld>
            <a:endParaRPr lang="en-VN" dirty="0"/>
          </a:p>
        </p:txBody>
      </p:sp>
      <p:sp>
        <p:nvSpPr>
          <p:cNvPr id="3" name="Text Placeholder 2">
            <a:extLst>
              <a:ext uri="{FF2B5EF4-FFF2-40B4-BE49-F238E27FC236}">
                <a16:creationId xmlns:a16="http://schemas.microsoft.com/office/drawing/2014/main" id="{2B4CC069-E19E-B22C-6D85-1188A3E8F06F}"/>
              </a:ext>
            </a:extLst>
          </p:cNvPr>
          <p:cNvSpPr>
            <a:spLocks noGrp="1"/>
          </p:cNvSpPr>
          <p:nvPr>
            <p:ph type="body" sz="quarter" idx="13"/>
          </p:nvPr>
        </p:nvSpPr>
        <p:spPr/>
        <p:txBody>
          <a:bodyPr/>
          <a:lstStyle/>
          <a:p>
            <a:r>
              <a:rPr lang="vi-VN" dirty="0"/>
              <a:t>Biết được các kiến trúc tổng quan bộ xử lý</a:t>
            </a:r>
          </a:p>
          <a:p>
            <a:endParaRPr lang="vi-VN" dirty="0"/>
          </a:p>
          <a:p>
            <a:r>
              <a:rPr lang="vi-VN" dirty="0"/>
              <a:t>Hiểu được các thiết kế và hoạt động của datapath</a:t>
            </a:r>
          </a:p>
          <a:p>
            <a:endParaRPr lang="vi-VN" dirty="0"/>
          </a:p>
          <a:p>
            <a:r>
              <a:rPr lang="vi-VN" dirty="0"/>
              <a:t>Hiểu được quá trình thực thi lệnh</a:t>
            </a:r>
          </a:p>
          <a:p>
            <a:endParaRPr lang="vi-VN" dirty="0"/>
          </a:p>
        </p:txBody>
      </p:sp>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275992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3</a:t>
            </a:fld>
            <a:endParaRPr lang="en-VN" dirty="0"/>
          </a:p>
        </p:txBody>
      </p:sp>
      <p:sp>
        <p:nvSpPr>
          <p:cNvPr id="5" name="Text Placeholder 4">
            <a:extLst>
              <a:ext uri="{FF2B5EF4-FFF2-40B4-BE49-F238E27FC236}">
                <a16:creationId xmlns:a16="http://schemas.microsoft.com/office/drawing/2014/main" id="{CFBD77E0-7814-E542-0144-95AEF5C06AD5}"/>
              </a:ext>
            </a:extLst>
          </p:cNvPr>
          <p:cNvSpPr>
            <a:spLocks noGrp="1"/>
          </p:cNvSpPr>
          <p:nvPr>
            <p:ph type="body" sz="quarter" idx="13"/>
          </p:nvPr>
        </p:nvSpPr>
        <p:spPr/>
        <p:txBody>
          <a:bodyPr>
            <a:normAutofit/>
          </a:bodyPr>
          <a:lstStyle/>
          <a:p>
            <a:pPr>
              <a:spcAft>
                <a:spcPts val="3600"/>
              </a:spcAft>
            </a:pPr>
            <a:r>
              <a:rPr lang="en-US" sz="2800" b="1" dirty="0" err="1"/>
              <a:t>Kiến</a:t>
            </a:r>
            <a:r>
              <a:rPr lang="en-US" sz="2800" b="1" dirty="0"/>
              <a:t> </a:t>
            </a:r>
            <a:r>
              <a:rPr lang="en-US" sz="2800" b="1" dirty="0" err="1"/>
              <a:t>trúc</a:t>
            </a:r>
            <a:r>
              <a:rPr lang="en-US" sz="2800" b="1" dirty="0"/>
              <a:t> </a:t>
            </a:r>
            <a:r>
              <a:rPr lang="en-US" sz="2800" b="1" dirty="0" err="1"/>
              <a:t>tổng</a:t>
            </a:r>
            <a:r>
              <a:rPr lang="en-US" sz="2800" b="1" dirty="0"/>
              <a:t> </a:t>
            </a:r>
            <a:r>
              <a:rPr lang="en-US" sz="2800" b="1" dirty="0" err="1"/>
              <a:t>quan</a:t>
            </a:r>
            <a:r>
              <a:rPr lang="en-US" sz="2800" b="1" dirty="0"/>
              <a:t> bộ </a:t>
            </a:r>
            <a:r>
              <a:rPr lang="en-US" sz="2800" b="1" dirty="0" err="1"/>
              <a:t>xử</a:t>
            </a:r>
            <a:r>
              <a:rPr lang="en-US" sz="2800" b="1" dirty="0"/>
              <a:t> </a:t>
            </a:r>
            <a:r>
              <a:rPr lang="en-US" sz="2800" b="1" dirty="0" err="1"/>
              <a:t>lý</a:t>
            </a:r>
            <a:endParaRPr lang="en-US" sz="2800" b="1" dirty="0"/>
          </a:p>
          <a:p>
            <a:pPr>
              <a:spcAft>
                <a:spcPts val="3600"/>
              </a:spcAft>
            </a:pPr>
            <a:r>
              <a:rPr lang="en-US" sz="2800" b="1"/>
              <a:t>Datapath</a:t>
            </a:r>
          </a:p>
          <a:p>
            <a:pPr>
              <a:spcAft>
                <a:spcPts val="3600"/>
              </a:spcAft>
            </a:pPr>
            <a:r>
              <a:rPr lang="en-US" sz="2800" b="1"/>
              <a:t>Control</a:t>
            </a:r>
            <a:endParaRPr lang="en-US" sz="2800" b="1" dirty="0"/>
          </a:p>
          <a:p>
            <a:pPr>
              <a:spcAft>
                <a:spcPts val="3600"/>
              </a:spcAft>
            </a:pPr>
            <a:r>
              <a:rPr lang="en-US" sz="2800" b="1" dirty="0" err="1"/>
              <a:t>Thực</a:t>
            </a:r>
            <a:r>
              <a:rPr lang="en-US" sz="2800" b="1" dirty="0"/>
              <a:t> </a:t>
            </a:r>
            <a:r>
              <a:rPr lang="en-US" sz="2800" b="1" dirty="0" err="1"/>
              <a:t>thi</a:t>
            </a:r>
            <a:r>
              <a:rPr lang="en-US" sz="2800" b="1" dirty="0"/>
              <a:t> </a:t>
            </a:r>
            <a:r>
              <a:rPr lang="en-US" sz="2800" b="1" dirty="0" err="1"/>
              <a:t>lệnh</a:t>
            </a:r>
            <a:endParaRPr lang="en-US" sz="2800" b="1" dirty="0"/>
          </a:p>
          <a:p>
            <a:pPr>
              <a:spcAft>
                <a:spcPts val="3600"/>
              </a:spcAft>
            </a:pPr>
            <a:endParaRPr lang="en-US" sz="2800" b="1" dirty="0" err="1"/>
          </a:p>
        </p:txBody>
      </p:sp>
    </p:spTree>
    <p:extLst>
      <p:ext uri="{BB962C8B-B14F-4D97-AF65-F5344CB8AC3E}">
        <p14:creationId xmlns:p14="http://schemas.microsoft.com/office/powerpoint/2010/main" val="221905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4</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fontScale="92500"/>
          </a:bodyPr>
          <a:lstStyle/>
          <a:p>
            <a:pPr>
              <a:spcAft>
                <a:spcPts val="3600"/>
              </a:spcAft>
            </a:pPr>
            <a:r>
              <a:rPr lang="en-US" sz="4400" b="1" dirty="0" err="1"/>
              <a:t>Kiến</a:t>
            </a:r>
            <a:r>
              <a:rPr lang="en-US" sz="4400" b="1" dirty="0"/>
              <a:t> </a:t>
            </a:r>
            <a:r>
              <a:rPr lang="en-US" sz="4400" b="1" dirty="0" err="1"/>
              <a:t>trúc</a:t>
            </a:r>
            <a:r>
              <a:rPr lang="en-US" sz="4400" b="1" dirty="0"/>
              <a:t> </a:t>
            </a:r>
            <a:r>
              <a:rPr lang="en-US" sz="4400" b="1" dirty="0" err="1"/>
              <a:t>tổng</a:t>
            </a:r>
            <a:r>
              <a:rPr lang="en-US" sz="4400" b="1" dirty="0"/>
              <a:t> </a:t>
            </a:r>
            <a:r>
              <a:rPr lang="en-US" sz="4400" b="1" dirty="0" err="1"/>
              <a:t>quan</a:t>
            </a:r>
            <a:r>
              <a:rPr lang="en-US" sz="4400" b="1" dirty="0"/>
              <a:t> bộ </a:t>
            </a:r>
            <a:r>
              <a:rPr lang="en-US" sz="4400" b="1" dirty="0" err="1"/>
              <a:t>xử</a:t>
            </a:r>
            <a:r>
              <a:rPr lang="en-US" sz="4400" b="1" dirty="0"/>
              <a:t> </a:t>
            </a:r>
            <a:r>
              <a:rPr lang="en-US" sz="4400" b="1" dirty="0" err="1"/>
              <a:t>lý</a:t>
            </a:r>
            <a:endParaRPr lang="en-US" sz="4400" b="1"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1</a:t>
            </a:r>
          </a:p>
        </p:txBody>
      </p:sp>
    </p:spTree>
    <p:extLst>
      <p:ext uri="{BB962C8B-B14F-4D97-AF65-F5344CB8AC3E}">
        <p14:creationId xmlns:p14="http://schemas.microsoft.com/office/powerpoint/2010/main" val="1704568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spcAft>
                <a:spcPts val="3600"/>
              </a:spcAft>
            </a:pPr>
            <a:r>
              <a:rPr lang="en-US" sz="4000" b="1" dirty="0" err="1"/>
              <a:t>Kiến</a:t>
            </a:r>
            <a:r>
              <a:rPr lang="en-US" sz="4000" b="1" dirty="0"/>
              <a:t> </a:t>
            </a:r>
            <a:r>
              <a:rPr lang="en-US" sz="4000" b="1" dirty="0" err="1"/>
              <a:t>trúc</a:t>
            </a:r>
            <a:r>
              <a:rPr lang="en-US" sz="4000" b="1" dirty="0"/>
              <a:t> </a:t>
            </a:r>
            <a:r>
              <a:rPr lang="en-US" sz="4000" b="1" dirty="0" err="1"/>
              <a:t>tổng</a:t>
            </a:r>
            <a:r>
              <a:rPr lang="en-US" sz="4000" b="1" dirty="0"/>
              <a:t> </a:t>
            </a:r>
            <a:r>
              <a:rPr lang="en-US" sz="4000" b="1" dirty="0" err="1"/>
              <a:t>quan</a:t>
            </a:r>
            <a:r>
              <a:rPr lang="en-US" sz="4000" b="1" dirty="0"/>
              <a:t> bộ </a:t>
            </a:r>
            <a:r>
              <a:rPr lang="en-US" sz="4000" b="1" dirty="0" err="1"/>
              <a:t>xử</a:t>
            </a:r>
            <a:r>
              <a:rPr lang="en-US" sz="4000" b="1" dirty="0"/>
              <a:t> </a:t>
            </a:r>
            <a:r>
              <a:rPr lang="en-US" sz="4000" b="1" dirty="0" err="1"/>
              <a:t>lý</a:t>
            </a:r>
            <a:endParaRPr lang="en-US" sz="4000" b="1"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lnSpcReduction="10000"/>
          </a:bodyPr>
          <a:lstStyle/>
          <a:p>
            <a:pPr>
              <a:lnSpc>
                <a:spcPct val="150000"/>
              </a:lnSpc>
            </a:pPr>
            <a:r>
              <a:rPr lang="vi-VN"/>
              <a:t>Kiến trúc máy tính bao gồm 3 thành phần chính:</a:t>
            </a:r>
          </a:p>
          <a:p>
            <a:pPr lvl="1">
              <a:lnSpc>
                <a:spcPct val="150000"/>
              </a:lnSpc>
            </a:pPr>
            <a:r>
              <a:rPr lang="vi-VN"/>
              <a:t>Kiến trúc tập lệnh (ISA): Quy định máy tính có thể làm những việc gì?</a:t>
            </a:r>
          </a:p>
          <a:p>
            <a:pPr lvl="2">
              <a:lnSpc>
                <a:spcPct val="150000"/>
              </a:lnSpc>
            </a:pPr>
            <a:r>
              <a:rPr lang="vi-VN"/>
              <a:t>Lệnh</a:t>
            </a:r>
          </a:p>
          <a:p>
            <a:pPr lvl="1">
              <a:lnSpc>
                <a:spcPct val="150000"/>
              </a:lnSpc>
            </a:pPr>
            <a:r>
              <a:rPr lang="vi-VN"/>
              <a:t>Vi kiến trúc (Tổ chức phần cứng máy tính): Quy định máy tính làm việc như thế nào?</a:t>
            </a:r>
          </a:p>
          <a:p>
            <a:pPr lvl="2">
              <a:lnSpc>
                <a:spcPct val="150000"/>
              </a:lnSpc>
            </a:pPr>
            <a:r>
              <a:rPr lang="vi-VN"/>
              <a:t>Hiện thực ISA</a:t>
            </a:r>
          </a:p>
          <a:p>
            <a:pPr lvl="1">
              <a:lnSpc>
                <a:spcPct val="150000"/>
              </a:lnSpc>
            </a:pPr>
            <a:r>
              <a:rPr lang="vi-VN"/>
              <a:t>Hệ thống máy tính: Quy định các thành phần của máy tính phối hợp trong một hệ thống điện toán như thế nào?</a:t>
            </a:r>
          </a:p>
          <a:p>
            <a:pPr lvl="2">
              <a:lnSpc>
                <a:spcPct val="150000"/>
              </a:lnSpc>
            </a:pPr>
            <a:r>
              <a:rPr lang="vi-VN"/>
              <a:t>Ảo hóa, Quản lý bộ nhớ, Xử lý đồ họa…</a:t>
            </a:r>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3061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spcAft>
                <a:spcPts val="3600"/>
              </a:spcAft>
            </a:pPr>
            <a:r>
              <a:rPr lang="en-US" sz="4000" b="1" dirty="0" err="1"/>
              <a:t>Kiến</a:t>
            </a:r>
            <a:r>
              <a:rPr lang="en-US" sz="4000" b="1" dirty="0"/>
              <a:t> </a:t>
            </a:r>
            <a:r>
              <a:rPr lang="en-US" sz="4000" b="1" dirty="0" err="1"/>
              <a:t>trúc</a:t>
            </a:r>
            <a:r>
              <a:rPr lang="en-US" sz="4000" b="1" dirty="0"/>
              <a:t> </a:t>
            </a:r>
            <a:r>
              <a:rPr lang="en-US" sz="4000" b="1" dirty="0" err="1"/>
              <a:t>tổng</a:t>
            </a:r>
            <a:r>
              <a:rPr lang="en-US" sz="4000" b="1" dirty="0"/>
              <a:t> </a:t>
            </a:r>
            <a:r>
              <a:rPr lang="en-US" sz="4000" b="1" dirty="0" err="1"/>
              <a:t>quan</a:t>
            </a:r>
            <a:r>
              <a:rPr lang="en-US" sz="4000" b="1" dirty="0"/>
              <a:t> bộ </a:t>
            </a:r>
            <a:r>
              <a:rPr lang="en-US" sz="4000" b="1" err="1"/>
              <a:t>xử</a:t>
            </a:r>
            <a:r>
              <a:rPr lang="en-US" sz="4000" b="1"/>
              <a:t> lý (tt)</a:t>
            </a:r>
            <a:endParaRPr lang="en-US" sz="4000" b="1"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lnSpcReduction="10000"/>
          </a:bodyPr>
          <a:lstStyle/>
          <a:p>
            <a:pPr>
              <a:lnSpc>
                <a:spcPct val="150000"/>
              </a:lnSpc>
            </a:pPr>
            <a:r>
              <a:rPr lang="vi-VN"/>
              <a:t>Về chức năng, vi kiến trúc là một tổ chức phần cứng dùng để hiện thực tập lệnh của một máy tính.</a:t>
            </a:r>
          </a:p>
          <a:p>
            <a:pPr>
              <a:lnSpc>
                <a:spcPct val="150000"/>
              </a:lnSpc>
            </a:pPr>
            <a:r>
              <a:rPr lang="vi-VN"/>
              <a:t>Về cấu tạo, vi kiến trúc được chia thành 2 khối:</a:t>
            </a:r>
          </a:p>
          <a:p>
            <a:pPr lvl="1">
              <a:lnSpc>
                <a:spcPct val="150000"/>
              </a:lnSpc>
            </a:pPr>
            <a:r>
              <a:rPr lang="vi-VN"/>
              <a:t>Khối đường dữ liệu (datapath): Thực thi lệnh</a:t>
            </a:r>
          </a:p>
          <a:p>
            <a:pPr lvl="2">
              <a:lnSpc>
                <a:spcPct val="150000"/>
              </a:lnSpc>
            </a:pPr>
            <a:r>
              <a:rPr lang="vi-VN"/>
              <a:t>Lưu trữ: Bộ nhớ lệnh, Bộ nhớ dữ liệu, Tập thanh ghi, …</a:t>
            </a:r>
          </a:p>
          <a:p>
            <a:pPr lvl="2">
              <a:lnSpc>
                <a:spcPct val="150000"/>
              </a:lnSpc>
            </a:pPr>
            <a:r>
              <a:rPr lang="vi-VN"/>
              <a:t>Truyền/nhận: Các đường tín hiệu dữ liệu, địa chỉ, điều khiển</a:t>
            </a:r>
          </a:p>
          <a:p>
            <a:pPr lvl="2">
              <a:lnSpc>
                <a:spcPct val="150000"/>
              </a:lnSpc>
            </a:pPr>
            <a:r>
              <a:rPr lang="vi-VN"/>
              <a:t>Xử lý: ALU, Bộ so sánh, Mux, Bộ mở rộng dấu, Bộ dịch, …</a:t>
            </a:r>
          </a:p>
          <a:p>
            <a:pPr lvl="1">
              <a:lnSpc>
                <a:spcPct val="150000"/>
              </a:lnSpc>
            </a:pPr>
            <a:r>
              <a:rPr lang="vi-VN"/>
              <a:t>Khối điều khiển (control unit): Điều khiển datapath hoạt động</a:t>
            </a:r>
          </a:p>
          <a:p>
            <a:pPr lvl="2">
              <a:lnSpc>
                <a:spcPct val="150000"/>
              </a:lnSpc>
            </a:pPr>
            <a:r>
              <a:rPr lang="vi-VN"/>
              <a:t>Dựa trên opcode của lệnh và trạng thái của datapath</a:t>
            </a: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2829600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7</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a:t>Datapath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2</a:t>
            </a:r>
          </a:p>
        </p:txBody>
      </p:sp>
    </p:spTree>
    <p:extLst>
      <p:ext uri="{BB962C8B-B14F-4D97-AF65-F5344CB8AC3E}">
        <p14:creationId xmlns:p14="http://schemas.microsoft.com/office/powerpoint/2010/main" val="3705844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t>Datapath</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8</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8" name="Content Placeholder 7">
            <a:extLst>
              <a:ext uri="{FF2B5EF4-FFF2-40B4-BE49-F238E27FC236}">
                <a16:creationId xmlns:a16="http://schemas.microsoft.com/office/drawing/2014/main" id="{D7939D2F-5893-186B-8EF8-EEA06FF8D733}"/>
              </a:ext>
            </a:extLst>
          </p:cNvPr>
          <p:cNvSpPr>
            <a:spLocks noGrp="1"/>
          </p:cNvSpPr>
          <p:nvPr>
            <p:ph idx="1"/>
          </p:nvPr>
        </p:nvSpPr>
        <p:spPr/>
        <p:txBody>
          <a:bodyPr>
            <a:normAutofit fontScale="92500" lnSpcReduction="20000"/>
          </a:bodyPr>
          <a:lstStyle/>
          <a:p>
            <a:pPr>
              <a:lnSpc>
                <a:spcPct val="150000"/>
              </a:lnSpc>
            </a:pPr>
            <a:r>
              <a:rPr lang="vi-VN"/>
              <a:t>Datapath dùng để thực thi lệnh! Một lệnh thực thi như thế nào?</a:t>
            </a:r>
          </a:p>
          <a:p>
            <a:pPr lvl="1">
              <a:lnSpc>
                <a:spcPct val="150000"/>
              </a:lnSpc>
            </a:pPr>
            <a:r>
              <a:rPr lang="vi-VN"/>
              <a:t>Chu kỳ thực thi lệnh!</a:t>
            </a:r>
          </a:p>
          <a:p>
            <a:pPr>
              <a:lnSpc>
                <a:spcPct val="150000"/>
              </a:lnSpc>
            </a:pPr>
            <a:endParaRPr lang="vi-VN"/>
          </a:p>
          <a:p>
            <a:pPr>
              <a:lnSpc>
                <a:spcPct val="150000"/>
              </a:lnSpc>
            </a:pPr>
            <a:endParaRPr lang="vi-VN"/>
          </a:p>
          <a:p>
            <a:pPr>
              <a:lnSpc>
                <a:spcPct val="150000"/>
              </a:lnSpc>
            </a:pPr>
            <a:r>
              <a:rPr lang="vi-VN"/>
              <a:t>Chương này chỉ xem xét 8 lệnh trong 3 nhóm chính của tập lệnh MIPS: </a:t>
            </a:r>
          </a:p>
          <a:p>
            <a:pPr lvl="1">
              <a:lnSpc>
                <a:spcPct val="150000"/>
              </a:lnSpc>
            </a:pPr>
            <a:r>
              <a:rPr lang="vi-VN"/>
              <a:t>Nhóm lệnh tham khảo bộ nhớ (lw và sw)</a:t>
            </a:r>
          </a:p>
          <a:p>
            <a:pPr lvl="1">
              <a:lnSpc>
                <a:spcPct val="150000"/>
              </a:lnSpc>
            </a:pPr>
            <a:r>
              <a:rPr lang="vi-VN"/>
              <a:t>Nhóm lệnh liên quan đến logic và số học (add, sub, and, or và slt)</a:t>
            </a:r>
          </a:p>
          <a:p>
            <a:pPr lvl="1">
              <a:lnSpc>
                <a:spcPct val="150000"/>
              </a:lnSpc>
            </a:pPr>
            <a:r>
              <a:rPr lang="vi-VN"/>
              <a:t>Nhóm lệnh rẽ nhánh (lệnh rẽ nhánh với điều kiện bằng beq)</a:t>
            </a:r>
          </a:p>
        </p:txBody>
      </p:sp>
      <p:grpSp>
        <p:nvGrpSpPr>
          <p:cNvPr id="3" name="Group 2">
            <a:extLst>
              <a:ext uri="{FF2B5EF4-FFF2-40B4-BE49-F238E27FC236}">
                <a16:creationId xmlns:a16="http://schemas.microsoft.com/office/drawing/2014/main" id="{8A5833BD-67FA-122B-FA33-C8A4B59B970D}"/>
              </a:ext>
            </a:extLst>
          </p:cNvPr>
          <p:cNvGrpSpPr/>
          <p:nvPr/>
        </p:nvGrpSpPr>
        <p:grpSpPr>
          <a:xfrm>
            <a:off x="1807007" y="2744513"/>
            <a:ext cx="1862677" cy="745070"/>
            <a:chOff x="2790" y="198707"/>
            <a:chExt cx="2483569" cy="993427"/>
          </a:xfrm>
          <a:solidFill>
            <a:srgbClr val="00B0F0"/>
          </a:solidFill>
        </p:grpSpPr>
        <p:sp>
          <p:nvSpPr>
            <p:cNvPr id="6" name="Arrow: Chevron 5">
              <a:extLst>
                <a:ext uri="{FF2B5EF4-FFF2-40B4-BE49-F238E27FC236}">
                  <a16:creationId xmlns:a16="http://schemas.microsoft.com/office/drawing/2014/main" id="{5DD4A566-60A2-0C26-2F9E-F36590716863}"/>
                </a:ext>
              </a:extLst>
            </p:cNvPr>
            <p:cNvSpPr/>
            <p:nvPr/>
          </p:nvSpPr>
          <p:spPr>
            <a:xfrm>
              <a:off x="2790" y="198707"/>
              <a:ext cx="2483569" cy="993427"/>
            </a:xfrm>
            <a:prstGeom prst="chevron">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vi-VN"/>
            </a:p>
          </p:txBody>
        </p:sp>
        <p:sp>
          <p:nvSpPr>
            <p:cNvPr id="7" name="Arrow: Chevron 4">
              <a:extLst>
                <a:ext uri="{FF2B5EF4-FFF2-40B4-BE49-F238E27FC236}">
                  <a16:creationId xmlns:a16="http://schemas.microsoft.com/office/drawing/2014/main" id="{13B04759-39D1-33E8-538C-4EACBB0D05FB}"/>
                </a:ext>
              </a:extLst>
            </p:cNvPr>
            <p:cNvSpPr txBox="1"/>
            <p:nvPr/>
          </p:nvSpPr>
          <p:spPr>
            <a:xfrm>
              <a:off x="499504" y="198707"/>
              <a:ext cx="1490142" cy="99342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4011" tIns="28004" rIns="28004" bIns="28004" numCol="1" spcCol="1270" anchor="ctr" anchorCtr="0">
              <a:noAutofit/>
            </a:bodyPr>
            <a:lstStyle/>
            <a:p>
              <a:pPr algn="ctr" defTabSz="933450">
                <a:lnSpc>
                  <a:spcPct val="90000"/>
                </a:lnSpc>
                <a:spcBef>
                  <a:spcPct val="0"/>
                </a:spcBef>
                <a:spcAft>
                  <a:spcPct val="35000"/>
                </a:spcAft>
              </a:pPr>
              <a:r>
                <a:rPr lang="en-US" sz="2100" dirty="0" err="1">
                  <a:latin typeface="Times New Roman" panose="02020603050405020304" pitchFamily="18" charset="0"/>
                  <a:cs typeface="Times New Roman" panose="02020603050405020304" pitchFamily="18" charset="0"/>
                </a:rPr>
                <a:t>Nạp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lệnh</a:t>
              </a:r>
              <a:endParaRPr lang="en-US" sz="2100" dirty="0">
                <a:latin typeface="Times New Roman" panose="02020603050405020304" pitchFamily="18" charset="0"/>
                <a:cs typeface="Times New Roman" panose="02020603050405020304" pitchFamily="18" charset="0"/>
              </a:endParaRPr>
            </a:p>
          </p:txBody>
        </p:sp>
      </p:grpSp>
      <p:sp>
        <p:nvSpPr>
          <p:cNvPr id="9" name="Arrow: Chevron 4">
            <a:extLst>
              <a:ext uri="{FF2B5EF4-FFF2-40B4-BE49-F238E27FC236}">
                <a16:creationId xmlns:a16="http://schemas.microsoft.com/office/drawing/2014/main" id="{84E3DC07-96DB-2EEB-39C2-7B3576BD06DA}"/>
              </a:ext>
            </a:extLst>
          </p:cNvPr>
          <p:cNvSpPr txBox="1"/>
          <p:nvPr/>
        </p:nvSpPr>
        <p:spPr>
          <a:xfrm>
            <a:off x="3876742" y="2728662"/>
            <a:ext cx="1117607" cy="74507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4011" tIns="28004" rIns="28004" bIns="28004" numCol="1" spcCol="1270" anchor="ctr" anchorCtr="0">
            <a:noAutofit/>
          </a:bodyPr>
          <a:lstStyle/>
          <a:p>
            <a:pPr algn="ctr" defTabSz="933450">
              <a:lnSpc>
                <a:spcPct val="90000"/>
              </a:lnSpc>
              <a:spcBef>
                <a:spcPct val="0"/>
              </a:spcBef>
              <a:spcAft>
                <a:spcPct val="35000"/>
              </a:spcAft>
            </a:pPr>
            <a:r>
              <a:rPr lang="en-US" sz="2100" dirty="0" err="1">
                <a:latin typeface="Times New Roman" panose="02020603050405020304" pitchFamily="18" charset="0"/>
                <a:cs typeface="Times New Roman" panose="02020603050405020304" pitchFamily="18" charset="0"/>
              </a:rPr>
              <a:t>Giải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mã</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lệnh</a:t>
            </a:r>
            <a:endParaRPr lang="en-US" sz="2100" dirty="0">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47295A38-5D16-0D65-00A3-83D27C603CD3}"/>
              </a:ext>
            </a:extLst>
          </p:cNvPr>
          <p:cNvGrpSpPr/>
          <p:nvPr/>
        </p:nvGrpSpPr>
        <p:grpSpPr>
          <a:xfrm>
            <a:off x="3485862" y="2760364"/>
            <a:ext cx="1850102" cy="745070"/>
            <a:chOff x="4473215" y="198707"/>
            <a:chExt cx="2483569" cy="993427"/>
          </a:xfrm>
          <a:solidFill>
            <a:srgbClr val="00B0F0"/>
          </a:solidFill>
        </p:grpSpPr>
        <p:sp>
          <p:nvSpPr>
            <p:cNvPr id="11" name="Arrow: Chevron 10">
              <a:extLst>
                <a:ext uri="{FF2B5EF4-FFF2-40B4-BE49-F238E27FC236}">
                  <a16:creationId xmlns:a16="http://schemas.microsoft.com/office/drawing/2014/main" id="{C3EDF9FE-83E7-2ABA-D387-37D0CEDA9F7B}"/>
                </a:ext>
              </a:extLst>
            </p:cNvPr>
            <p:cNvSpPr/>
            <p:nvPr/>
          </p:nvSpPr>
          <p:spPr>
            <a:xfrm>
              <a:off x="4473215" y="198707"/>
              <a:ext cx="2483569" cy="993427"/>
            </a:xfrm>
            <a:prstGeom prst="chevron">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vi-VN"/>
            </a:p>
          </p:txBody>
        </p:sp>
        <p:sp>
          <p:nvSpPr>
            <p:cNvPr id="12" name="Arrow: Chevron 4">
              <a:extLst>
                <a:ext uri="{FF2B5EF4-FFF2-40B4-BE49-F238E27FC236}">
                  <a16:creationId xmlns:a16="http://schemas.microsoft.com/office/drawing/2014/main" id="{AC36F6CF-0B60-514C-220F-5698CF2F1665}"/>
                </a:ext>
              </a:extLst>
            </p:cNvPr>
            <p:cNvSpPr txBox="1"/>
            <p:nvPr/>
          </p:nvSpPr>
          <p:spPr>
            <a:xfrm>
              <a:off x="4969929" y="198707"/>
              <a:ext cx="1490142" cy="99342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4011" tIns="28004" rIns="28004" bIns="28004" numCol="1" spcCol="1270" anchor="ctr" anchorCtr="0">
              <a:noAutofit/>
            </a:bodyPr>
            <a:lstStyle/>
            <a:p>
              <a:pPr algn="ctr" defTabSz="933450">
                <a:lnSpc>
                  <a:spcPct val="90000"/>
                </a:lnSpc>
                <a:spcBef>
                  <a:spcPct val="0"/>
                </a:spcBef>
                <a:spcAft>
                  <a:spcPct val="35000"/>
                </a:spcAft>
              </a:pPr>
              <a:r>
                <a:rPr lang="en-US" sz="2100" dirty="0" err="1">
                  <a:latin typeface="Times New Roman" panose="02020603050405020304" pitchFamily="18" charset="0"/>
                  <a:cs typeface="Times New Roman" panose="02020603050405020304" pitchFamily="18" charset="0"/>
                </a:rPr>
                <a:t>Giải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mã</a:t>
              </a:r>
              <a:endParaRPr lang="en-US" sz="2100" dirty="0">
                <a:latin typeface="Times New Roman" panose="02020603050405020304" pitchFamily="18" charset="0"/>
                <a:cs typeface="Times New Roman" panose="02020603050405020304" pitchFamily="18" charset="0"/>
              </a:endParaRPr>
            </a:p>
          </p:txBody>
        </p:sp>
      </p:grpSp>
      <p:grpSp>
        <p:nvGrpSpPr>
          <p:cNvPr id="13" name="Group 12">
            <a:extLst>
              <a:ext uri="{FF2B5EF4-FFF2-40B4-BE49-F238E27FC236}">
                <a16:creationId xmlns:a16="http://schemas.microsoft.com/office/drawing/2014/main" id="{85F80B7D-0E36-431A-89D3-ED456F1F5885}"/>
              </a:ext>
            </a:extLst>
          </p:cNvPr>
          <p:cNvGrpSpPr/>
          <p:nvPr/>
        </p:nvGrpSpPr>
        <p:grpSpPr>
          <a:xfrm>
            <a:off x="5120443" y="2745635"/>
            <a:ext cx="1862677" cy="745070"/>
            <a:chOff x="6708427" y="198707"/>
            <a:chExt cx="2483569" cy="993427"/>
          </a:xfrm>
          <a:solidFill>
            <a:srgbClr val="00B0F0"/>
          </a:solidFill>
        </p:grpSpPr>
        <p:sp>
          <p:nvSpPr>
            <p:cNvPr id="14" name="Arrow: Chevron 13">
              <a:extLst>
                <a:ext uri="{FF2B5EF4-FFF2-40B4-BE49-F238E27FC236}">
                  <a16:creationId xmlns:a16="http://schemas.microsoft.com/office/drawing/2014/main" id="{11D9C224-8885-8CB4-C19D-4B2FB98DBA38}"/>
                </a:ext>
              </a:extLst>
            </p:cNvPr>
            <p:cNvSpPr/>
            <p:nvPr/>
          </p:nvSpPr>
          <p:spPr>
            <a:xfrm>
              <a:off x="6708427" y="198707"/>
              <a:ext cx="2483569" cy="993427"/>
            </a:xfrm>
            <a:prstGeom prst="chevron">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vi-VN"/>
            </a:p>
          </p:txBody>
        </p:sp>
        <p:sp>
          <p:nvSpPr>
            <p:cNvPr id="15" name="Arrow: Chevron 4">
              <a:extLst>
                <a:ext uri="{FF2B5EF4-FFF2-40B4-BE49-F238E27FC236}">
                  <a16:creationId xmlns:a16="http://schemas.microsoft.com/office/drawing/2014/main" id="{99758C23-91CC-361E-8A34-34167582FB67}"/>
                </a:ext>
              </a:extLst>
            </p:cNvPr>
            <p:cNvSpPr txBox="1"/>
            <p:nvPr/>
          </p:nvSpPr>
          <p:spPr>
            <a:xfrm>
              <a:off x="7205141" y="198707"/>
              <a:ext cx="1490142" cy="99342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4011" tIns="28004" rIns="28004" bIns="28004" numCol="1" spcCol="1270" anchor="ctr" anchorCtr="0">
              <a:noAutofit/>
            </a:bodyPr>
            <a:lstStyle/>
            <a:p>
              <a:pPr algn="ctr" defTabSz="933450">
                <a:lnSpc>
                  <a:spcPct val="90000"/>
                </a:lnSpc>
                <a:spcBef>
                  <a:spcPct val="0"/>
                </a:spcBef>
                <a:spcAft>
                  <a:spcPct val="35000"/>
                </a:spcAft>
              </a:pPr>
              <a:r>
                <a:rPr lang="en-US" sz="2100" dirty="0" err="1">
                  <a:latin typeface="Times New Roman" panose="02020603050405020304" pitchFamily="18" charset="0"/>
                  <a:cs typeface="Times New Roman" panose="02020603050405020304" pitchFamily="18" charset="0"/>
                </a:rPr>
                <a:t>Thực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thi</a:t>
              </a:r>
              <a:endParaRPr lang="en-US" sz="2100" dirty="0">
                <a:latin typeface="Times New Roman" panose="02020603050405020304" pitchFamily="18" charset="0"/>
                <a:cs typeface="Times New Roman" panose="02020603050405020304" pitchFamily="18" charset="0"/>
              </a:endParaRPr>
            </a:p>
          </p:txBody>
        </p:sp>
      </p:grpSp>
      <p:grpSp>
        <p:nvGrpSpPr>
          <p:cNvPr id="16" name="Group 15">
            <a:extLst>
              <a:ext uri="{FF2B5EF4-FFF2-40B4-BE49-F238E27FC236}">
                <a16:creationId xmlns:a16="http://schemas.microsoft.com/office/drawing/2014/main" id="{6C8DBBAC-5E7C-3031-1B17-48C39C8D55B1}"/>
              </a:ext>
            </a:extLst>
          </p:cNvPr>
          <p:cNvGrpSpPr/>
          <p:nvPr/>
        </p:nvGrpSpPr>
        <p:grpSpPr>
          <a:xfrm>
            <a:off x="8505917" y="2728662"/>
            <a:ext cx="1862677" cy="745070"/>
            <a:chOff x="8943640" y="198707"/>
            <a:chExt cx="2483569" cy="993427"/>
          </a:xfrm>
          <a:solidFill>
            <a:srgbClr val="00B0F0"/>
          </a:solidFill>
        </p:grpSpPr>
        <p:sp>
          <p:nvSpPr>
            <p:cNvPr id="17" name="Arrow: Chevron 16">
              <a:extLst>
                <a:ext uri="{FF2B5EF4-FFF2-40B4-BE49-F238E27FC236}">
                  <a16:creationId xmlns:a16="http://schemas.microsoft.com/office/drawing/2014/main" id="{284A0E24-C6D2-2450-3CBF-2E603DBFB034}"/>
                </a:ext>
              </a:extLst>
            </p:cNvPr>
            <p:cNvSpPr/>
            <p:nvPr/>
          </p:nvSpPr>
          <p:spPr>
            <a:xfrm>
              <a:off x="8943640" y="198707"/>
              <a:ext cx="2483569" cy="993427"/>
            </a:xfrm>
            <a:prstGeom prst="chevron">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vi-VN"/>
            </a:p>
          </p:txBody>
        </p:sp>
        <p:sp>
          <p:nvSpPr>
            <p:cNvPr id="18" name="Arrow: Chevron 4">
              <a:extLst>
                <a:ext uri="{FF2B5EF4-FFF2-40B4-BE49-F238E27FC236}">
                  <a16:creationId xmlns:a16="http://schemas.microsoft.com/office/drawing/2014/main" id="{B4B68B98-074C-633B-31E1-794CE4A8ACCD}"/>
                </a:ext>
              </a:extLst>
            </p:cNvPr>
            <p:cNvSpPr txBox="1"/>
            <p:nvPr/>
          </p:nvSpPr>
          <p:spPr>
            <a:xfrm>
              <a:off x="9440354" y="198707"/>
              <a:ext cx="1490142" cy="99342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4011" tIns="28004" rIns="28004" bIns="28004" numCol="1" spcCol="1270" anchor="ctr" anchorCtr="0">
              <a:noAutofit/>
            </a:bodyPr>
            <a:lstStyle/>
            <a:p>
              <a:pPr algn="ctr" defTabSz="933450">
                <a:lnSpc>
                  <a:spcPct val="90000"/>
                </a:lnSpc>
                <a:spcBef>
                  <a:spcPct val="0"/>
                </a:spcBef>
                <a:spcAft>
                  <a:spcPct val="35000"/>
                </a:spcAft>
              </a:pPr>
              <a:r>
                <a:rPr lang="en-US" sz="2100" dirty="0" err="1">
                  <a:latin typeface="Times New Roman" panose="02020603050405020304" pitchFamily="18" charset="0"/>
                  <a:cs typeface="Times New Roman" panose="02020603050405020304" pitchFamily="18" charset="0"/>
                </a:rPr>
                <a:t>Lưu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kết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quả</a:t>
              </a:r>
              <a:endParaRPr lang="en-US" sz="2100" dirty="0">
                <a:latin typeface="Times New Roman" panose="02020603050405020304" pitchFamily="18" charset="0"/>
                <a:cs typeface="Times New Roman" panose="02020603050405020304" pitchFamily="18" charset="0"/>
              </a:endParaRPr>
            </a:p>
          </p:txBody>
        </p:sp>
      </p:grpSp>
      <p:grpSp>
        <p:nvGrpSpPr>
          <p:cNvPr id="19" name="Group 18">
            <a:extLst>
              <a:ext uri="{FF2B5EF4-FFF2-40B4-BE49-F238E27FC236}">
                <a16:creationId xmlns:a16="http://schemas.microsoft.com/office/drawing/2014/main" id="{684E2A32-98DA-7C8D-D496-A0ECC420A756}"/>
              </a:ext>
            </a:extLst>
          </p:cNvPr>
          <p:cNvGrpSpPr/>
          <p:nvPr/>
        </p:nvGrpSpPr>
        <p:grpSpPr>
          <a:xfrm>
            <a:off x="6756882" y="2744513"/>
            <a:ext cx="1945432" cy="745070"/>
            <a:chOff x="8943640" y="198707"/>
            <a:chExt cx="2483569" cy="993427"/>
          </a:xfrm>
          <a:solidFill>
            <a:srgbClr val="00B0F0"/>
          </a:solidFill>
        </p:grpSpPr>
        <p:sp>
          <p:nvSpPr>
            <p:cNvPr id="20" name="Arrow: Chevron 19">
              <a:extLst>
                <a:ext uri="{FF2B5EF4-FFF2-40B4-BE49-F238E27FC236}">
                  <a16:creationId xmlns:a16="http://schemas.microsoft.com/office/drawing/2014/main" id="{8D078FC9-F6AD-A496-D747-458D683002FB}"/>
                </a:ext>
              </a:extLst>
            </p:cNvPr>
            <p:cNvSpPr/>
            <p:nvPr/>
          </p:nvSpPr>
          <p:spPr>
            <a:xfrm>
              <a:off x="8943640" y="198707"/>
              <a:ext cx="2483569" cy="993427"/>
            </a:xfrm>
            <a:prstGeom prst="chevron">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vi-VN"/>
            </a:p>
          </p:txBody>
        </p:sp>
        <p:sp>
          <p:nvSpPr>
            <p:cNvPr id="21" name="Arrow: Chevron 4">
              <a:extLst>
                <a:ext uri="{FF2B5EF4-FFF2-40B4-BE49-F238E27FC236}">
                  <a16:creationId xmlns:a16="http://schemas.microsoft.com/office/drawing/2014/main" id="{89EEBC5D-2071-DB0C-AFB7-D47173B9E292}"/>
                </a:ext>
              </a:extLst>
            </p:cNvPr>
            <p:cNvSpPr txBox="1"/>
            <p:nvPr/>
          </p:nvSpPr>
          <p:spPr>
            <a:xfrm>
              <a:off x="9440354" y="198707"/>
              <a:ext cx="1490142" cy="99342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4011" tIns="28004" rIns="28004" bIns="28004" numCol="1" spcCol="1270" anchor="ctr" anchorCtr="0">
              <a:noAutofit/>
            </a:bodyPr>
            <a:lstStyle/>
            <a:p>
              <a:pPr algn="ctr" defTabSz="933450">
                <a:lnSpc>
                  <a:spcPct val="90000"/>
                </a:lnSpc>
                <a:spcBef>
                  <a:spcPct val="0"/>
                </a:spcBef>
                <a:spcAft>
                  <a:spcPct val="35000"/>
                </a:spcAft>
              </a:pPr>
              <a:r>
                <a:rPr lang="en-US" sz="2100" dirty="0" err="1">
                  <a:latin typeface="Times New Roman" panose="02020603050405020304" pitchFamily="18" charset="0"/>
                  <a:cs typeface="Times New Roman" panose="02020603050405020304" pitchFamily="18" charset="0"/>
                </a:rPr>
                <a:t>Truy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xuất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Bộ</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nhớ</a:t>
              </a:r>
              <a:endParaRPr lang="en-US" sz="21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32744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xEl>
                                              <p:pRg st="4" end="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txEl>
                                              <p:pRg st="5" end="5"/>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xEl>
                                              <p:pRg st="6" end="6"/>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t>Quy trình thực thi lệnh của MIPS </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9</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graphicFrame>
        <p:nvGraphicFramePr>
          <p:cNvPr id="7" name="Table 4">
            <a:extLst>
              <a:ext uri="{FF2B5EF4-FFF2-40B4-BE49-F238E27FC236}">
                <a16:creationId xmlns:a16="http://schemas.microsoft.com/office/drawing/2014/main" id="{CDDA41D9-2526-D00C-24B6-9AC74E06FB98}"/>
              </a:ext>
            </a:extLst>
          </p:cNvPr>
          <p:cNvGraphicFramePr/>
          <p:nvPr>
            <p:extLst>
              <p:ext uri="{D42A27DB-BD31-4B8C-83A1-F6EECF244321}">
                <p14:modId xmlns:p14="http://schemas.microsoft.com/office/powerpoint/2010/main" val="1707741979"/>
              </p:ext>
            </p:extLst>
          </p:nvPr>
        </p:nvGraphicFramePr>
        <p:xfrm>
          <a:off x="1132830" y="1192071"/>
          <a:ext cx="9926340" cy="5137229"/>
        </p:xfrm>
        <a:graphic>
          <a:graphicData uri="http://schemas.openxmlformats.org/drawingml/2006/table">
            <a:tbl>
              <a:tblPr/>
              <a:tblGrid>
                <a:gridCol w="1317363">
                  <a:extLst>
                    <a:ext uri="{9D8B030D-6E8A-4147-A177-3AD203B41FA5}">
                      <a16:colId xmlns:a16="http://schemas.microsoft.com/office/drawing/2014/main" val="20000"/>
                    </a:ext>
                  </a:extLst>
                </a:gridCol>
                <a:gridCol w="2722826">
                  <a:extLst>
                    <a:ext uri="{9D8B030D-6E8A-4147-A177-3AD203B41FA5}">
                      <a16:colId xmlns:a16="http://schemas.microsoft.com/office/drawing/2014/main" val="20001"/>
                    </a:ext>
                  </a:extLst>
                </a:gridCol>
                <a:gridCol w="2783441">
                  <a:extLst>
                    <a:ext uri="{9D8B030D-6E8A-4147-A177-3AD203B41FA5}">
                      <a16:colId xmlns:a16="http://schemas.microsoft.com/office/drawing/2014/main" val="20002"/>
                    </a:ext>
                  </a:extLst>
                </a:gridCol>
                <a:gridCol w="3102710">
                  <a:extLst>
                    <a:ext uri="{9D8B030D-6E8A-4147-A177-3AD203B41FA5}">
                      <a16:colId xmlns:a16="http://schemas.microsoft.com/office/drawing/2014/main" val="20003"/>
                    </a:ext>
                  </a:extLst>
                </a:gridCol>
              </a:tblGrid>
              <a:tr h="406387">
                <a:tc>
                  <a:txBody>
                    <a:bodyPr/>
                    <a:lstStyle/>
                    <a:p>
                      <a:endParaRPr lang="en-US" sz="1400"/>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n-US" sz="1400" b="1" strike="noStrike" spc="-1">
                          <a:solidFill>
                            <a:srgbClr val="660066"/>
                          </a:solidFill>
                          <a:latin typeface="Times New Roman"/>
                          <a:ea typeface="ＭＳ Ｐゴシック"/>
                        </a:rPr>
                        <a:t>add</a:t>
                      </a:r>
                      <a:r>
                        <a:rPr lang="en-US" sz="1400" b="1" strike="noStrike" spc="-1">
                          <a:solidFill>
                            <a:srgbClr val="000000"/>
                          </a:solidFill>
                          <a:latin typeface="Times New Roman"/>
                          <a:ea typeface="ＭＳ Ｐゴシック"/>
                        </a:rPr>
                        <a:t> </a:t>
                      </a:r>
                      <a:r>
                        <a:rPr lang="en-US" sz="1400" b="1" strike="noStrike" spc="-1">
                          <a:solidFill>
                            <a:srgbClr val="C00000"/>
                          </a:solidFill>
                          <a:latin typeface="Times New Roman"/>
                          <a:ea typeface="ＭＳ Ｐゴシック"/>
                        </a:rPr>
                        <a:t>$3</a:t>
                      </a:r>
                      <a:r>
                        <a:rPr lang="en-US" sz="1400" b="1" strike="noStrike" spc="-1">
                          <a:solidFill>
                            <a:srgbClr val="000000"/>
                          </a:solidFill>
                          <a:latin typeface="Times New Roman"/>
                          <a:ea typeface="ＭＳ Ｐゴシック"/>
                        </a:rPr>
                        <a:t>, </a:t>
                      </a:r>
                      <a:r>
                        <a:rPr lang="en-US" sz="1400" b="1" strike="noStrike" spc="-1">
                          <a:solidFill>
                            <a:srgbClr val="006600"/>
                          </a:solidFill>
                          <a:latin typeface="Times New Roman"/>
                          <a:ea typeface="ＭＳ Ｐゴシック"/>
                        </a:rPr>
                        <a:t>$1</a:t>
                      </a:r>
                      <a:r>
                        <a:rPr lang="en-US" sz="1400" b="1" strike="noStrike" spc="-1">
                          <a:solidFill>
                            <a:srgbClr val="000000"/>
                          </a:solidFill>
                          <a:latin typeface="Times New Roman"/>
                          <a:ea typeface="ＭＳ Ｐゴシック"/>
                        </a:rPr>
                        <a:t>, </a:t>
                      </a:r>
                      <a:r>
                        <a:rPr lang="en-US" sz="1400" b="1" strike="noStrike" spc="-1">
                          <a:solidFill>
                            <a:srgbClr val="006600"/>
                          </a:solidFill>
                          <a:latin typeface="Times New Roman"/>
                          <a:ea typeface="ＭＳ Ｐゴシック"/>
                        </a:rPr>
                        <a:t>$2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DA52"/>
                    </a:solidFill>
                  </a:tcPr>
                </a:tc>
                <a:tc>
                  <a:txBody>
                    <a:bodyPr/>
                    <a:lstStyle/>
                    <a:p>
                      <a:pPr algn="ctr">
                        <a:lnSpc>
                          <a:spcPct val="100000"/>
                        </a:lnSpc>
                      </a:pPr>
                      <a:r>
                        <a:rPr lang="en-US" sz="1400" b="1" strike="noStrike" spc="-1">
                          <a:solidFill>
                            <a:srgbClr val="660066"/>
                          </a:solidFill>
                          <a:latin typeface="Times New Roman"/>
                          <a:ea typeface="ＭＳ Ｐゴシック"/>
                        </a:rPr>
                        <a:t>lw</a:t>
                      </a:r>
                      <a:r>
                        <a:rPr lang="en-US" sz="1400" b="1" strike="noStrike" spc="-1">
                          <a:solidFill>
                            <a:srgbClr val="000000"/>
                          </a:solidFill>
                          <a:latin typeface="Times New Roman"/>
                          <a:ea typeface="ＭＳ Ｐゴシック"/>
                        </a:rPr>
                        <a:t> </a:t>
                      </a:r>
                      <a:r>
                        <a:rPr lang="en-US" sz="1400" b="1" strike="noStrike" spc="-1">
                          <a:solidFill>
                            <a:srgbClr val="C00000"/>
                          </a:solidFill>
                          <a:latin typeface="Times New Roman"/>
                          <a:ea typeface="ＭＳ Ｐゴシック"/>
                        </a:rPr>
                        <a:t>$3</a:t>
                      </a:r>
                      <a:r>
                        <a:rPr lang="en-US" sz="1400" b="1" strike="noStrike" spc="-1">
                          <a:solidFill>
                            <a:srgbClr val="000000"/>
                          </a:solidFill>
                          <a:latin typeface="Times New Roman"/>
                          <a:ea typeface="ＭＳ Ｐゴシック"/>
                        </a:rPr>
                        <a:t>, </a:t>
                      </a:r>
                      <a:r>
                        <a:rPr lang="en-US" sz="1400" b="1" strike="noStrike" spc="-1">
                          <a:solidFill>
                            <a:srgbClr val="002060"/>
                          </a:solidFill>
                          <a:latin typeface="Times New Roman"/>
                          <a:ea typeface="ＭＳ Ｐゴシック"/>
                        </a:rPr>
                        <a:t>20</a:t>
                      </a:r>
                      <a:r>
                        <a:rPr lang="en-US" sz="1400" b="1" strike="noStrike" spc="-1">
                          <a:solidFill>
                            <a:srgbClr val="000000"/>
                          </a:solidFill>
                          <a:latin typeface="Times New Roman"/>
                          <a:ea typeface="ＭＳ Ｐゴシック"/>
                        </a:rPr>
                        <a:t>( </a:t>
                      </a:r>
                      <a:r>
                        <a:rPr lang="en-US" sz="1400" b="1" strike="noStrike" spc="-1">
                          <a:solidFill>
                            <a:srgbClr val="006600"/>
                          </a:solidFill>
                          <a:latin typeface="Times New Roman"/>
                          <a:ea typeface="ＭＳ Ｐゴシック"/>
                        </a:rPr>
                        <a:t>$1 </a:t>
                      </a:r>
                      <a:r>
                        <a:rPr lang="en-US" sz="1400" b="1" strike="noStrike" spc="-1">
                          <a:solidFill>
                            <a:srgbClr val="000000"/>
                          </a:solidFill>
                          <a:latin typeface="Times New Roman"/>
                          <a:ea typeface="ＭＳ Ｐゴシック"/>
                        </a:rPr>
                        <a:t>)</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99A6AE"/>
                    </a:solidFill>
                  </a:tcPr>
                </a:tc>
                <a:tc>
                  <a:txBody>
                    <a:bodyPr/>
                    <a:lstStyle/>
                    <a:p>
                      <a:pPr algn="ctr">
                        <a:lnSpc>
                          <a:spcPct val="100000"/>
                        </a:lnSpc>
                      </a:pPr>
                      <a:r>
                        <a:rPr lang="en-US" sz="1400" b="1" strike="noStrike" spc="-1">
                          <a:solidFill>
                            <a:srgbClr val="660066"/>
                          </a:solidFill>
                          <a:latin typeface="Times New Roman"/>
                          <a:ea typeface="ＭＳ Ｐゴシック"/>
                        </a:rPr>
                        <a:t>beq</a:t>
                      </a:r>
                      <a:r>
                        <a:rPr lang="en-US" sz="1400" b="1" strike="noStrike" spc="-1">
                          <a:solidFill>
                            <a:srgbClr val="000000"/>
                          </a:solidFill>
                          <a:latin typeface="Times New Roman"/>
                          <a:ea typeface="ＭＳ Ｐゴシック"/>
                        </a:rPr>
                        <a:t> </a:t>
                      </a:r>
                      <a:r>
                        <a:rPr lang="en-US" sz="1400" b="1" strike="noStrike" spc="-1">
                          <a:solidFill>
                            <a:srgbClr val="006600"/>
                          </a:solidFill>
                          <a:latin typeface="Times New Roman"/>
                          <a:ea typeface="ＭＳ Ｐゴシック"/>
                        </a:rPr>
                        <a:t>$1</a:t>
                      </a:r>
                      <a:r>
                        <a:rPr lang="en-US" sz="1400" b="1" strike="noStrike" spc="-1">
                          <a:solidFill>
                            <a:srgbClr val="000000"/>
                          </a:solidFill>
                          <a:latin typeface="Times New Roman"/>
                          <a:ea typeface="ＭＳ Ｐゴシック"/>
                        </a:rPr>
                        <a:t>, </a:t>
                      </a:r>
                      <a:r>
                        <a:rPr lang="en-US" sz="1400" b="1" strike="noStrike" spc="-1">
                          <a:solidFill>
                            <a:srgbClr val="006600"/>
                          </a:solidFill>
                          <a:latin typeface="Times New Roman"/>
                          <a:ea typeface="ＭＳ Ｐゴシック"/>
                        </a:rPr>
                        <a:t>$2</a:t>
                      </a:r>
                      <a:r>
                        <a:rPr lang="en-US" sz="1400" b="1" strike="noStrike" spc="-1">
                          <a:solidFill>
                            <a:srgbClr val="000000"/>
                          </a:solidFill>
                          <a:latin typeface="Times New Roman"/>
                          <a:ea typeface="ＭＳ Ｐゴシック"/>
                        </a:rPr>
                        <a:t>, </a:t>
                      </a:r>
                      <a:r>
                        <a:rPr lang="en-US" sz="1400" b="1" strike="noStrike" spc="-1">
                          <a:solidFill>
                            <a:srgbClr val="002060"/>
                          </a:solidFill>
                          <a:latin typeface="Times New Roman"/>
                          <a:ea typeface="ＭＳ Ｐゴシック"/>
                        </a:rPr>
                        <a:t>label</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BBBA1"/>
                    </a:solidFill>
                  </a:tcPr>
                </a:tc>
                <a:extLst>
                  <a:ext uri="{0D108BD9-81ED-4DB2-BD59-A6C34878D82A}">
                    <a16:rowId xmlns:a16="http://schemas.microsoft.com/office/drawing/2014/main" val="10000"/>
                  </a:ext>
                </a:extLst>
              </a:tr>
              <a:tr h="695281">
                <a:tc>
                  <a:txBody>
                    <a:bodyPr/>
                    <a:lstStyle/>
                    <a:p>
                      <a:pPr algn="ctr">
                        <a:lnSpc>
                          <a:spcPct val="100000"/>
                        </a:lnSpc>
                      </a:pPr>
                      <a:r>
                        <a:rPr lang="en-US" sz="1400" b="1" strike="noStrike" spc="-1">
                          <a:solidFill>
                            <a:srgbClr val="000000"/>
                          </a:solidFill>
                          <a:latin typeface="Times New Roman"/>
                          <a:ea typeface="ＭＳ Ｐゴシック"/>
                        </a:rPr>
                        <a:t>Fetch</a:t>
                      </a:r>
                    </a:p>
                    <a:p>
                      <a:pPr algn="ctr">
                        <a:lnSpc>
                          <a:spcPct val="100000"/>
                        </a:lnSpc>
                      </a:pPr>
                      <a:r>
                        <a:rPr lang="en-US" sz="1400" b="1" strike="noStrike" spc="-1">
                          <a:solidFill>
                            <a:srgbClr val="000000"/>
                          </a:solidFill>
                          <a:latin typeface="Times New Roman"/>
                          <a:ea typeface="ＭＳ Ｐゴシック"/>
                        </a:rPr>
                        <a:t>(Nạp lệnh)</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gn="ctr">
                        <a:lnSpc>
                          <a:spcPct val="100000"/>
                        </a:lnSpc>
                      </a:pPr>
                      <a:r>
                        <a:rPr lang="en-US" sz="1400" b="0" strike="noStrike" spc="-1" dirty="0" err="1">
                          <a:solidFill>
                            <a:srgbClr val="000000"/>
                          </a:solidFill>
                          <a:latin typeface="Times New Roman"/>
                          <a:ea typeface="ＭＳ Ｐゴシック"/>
                        </a:rPr>
                        <a:t>Đọc</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lệnh</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địa</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chỉ</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của</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lệnh</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lưu</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trong</a:t>
                      </a:r>
                      <a:r>
                        <a:rPr lang="en-US" sz="1400" b="0" strike="noStrike" spc="-1" dirty="0">
                          <a:solidFill>
                            <a:srgbClr val="000000"/>
                          </a:solidFill>
                          <a:latin typeface="Times New Roman"/>
                          <a:ea typeface="ＭＳ Ｐゴシック"/>
                        </a:rPr>
                        <a:t> thanh </a:t>
                      </a:r>
                      <a:r>
                        <a:rPr lang="en-US" sz="1400" b="0" strike="noStrike" spc="-1" dirty="0" err="1">
                          <a:solidFill>
                            <a:srgbClr val="000000"/>
                          </a:solidFill>
                          <a:latin typeface="Times New Roman"/>
                          <a:ea typeface="ＭＳ Ｐゴシック"/>
                        </a:rPr>
                        <a:t>ghi</a:t>
                      </a:r>
                      <a:r>
                        <a:rPr lang="en-US" sz="1400" b="0" strike="noStrike" spc="-1" dirty="0">
                          <a:solidFill>
                            <a:srgbClr val="000000"/>
                          </a:solidFill>
                          <a:latin typeface="Times New Roman"/>
                          <a:ea typeface="ＭＳ Ｐゴシック"/>
                        </a:rPr>
                        <a:t> PC)</a:t>
                      </a:r>
                      <a:endParaRPr lang="en-US" sz="1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E68C"/>
                    </a:solidFill>
                  </a:tcPr>
                </a:tc>
                <a:tc>
                  <a:txBody>
                    <a:bodyPr/>
                    <a:lstStyle/>
                    <a:p>
                      <a:pPr algn="ctr">
                        <a:lnSpc>
                          <a:spcPct val="100000"/>
                        </a:lnSpc>
                      </a:pPr>
                      <a:r>
                        <a:rPr lang="en-US" sz="1400" b="0" strike="noStrike" spc="-1">
                          <a:solidFill>
                            <a:srgbClr val="000000"/>
                          </a:solidFill>
                          <a:latin typeface="Times New Roman"/>
                          <a:ea typeface="ＭＳ Ｐゴシック"/>
                        </a:rPr>
                        <a:t>Đọc lệnh (địa chỉ của lệnh lưu trong thanh ghi PC)</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1D3D5"/>
                    </a:solidFill>
                  </a:tcPr>
                </a:tc>
                <a:tc>
                  <a:txBody>
                    <a:bodyPr/>
                    <a:lstStyle/>
                    <a:p>
                      <a:pPr algn="ctr">
                        <a:lnSpc>
                          <a:spcPct val="100000"/>
                        </a:lnSpc>
                      </a:pPr>
                      <a:r>
                        <a:rPr lang="en-US" sz="1400" b="0" strike="noStrike" spc="-1">
                          <a:solidFill>
                            <a:srgbClr val="000000"/>
                          </a:solidFill>
                          <a:latin typeface="Times New Roman"/>
                          <a:ea typeface="ＭＳ Ｐゴシック"/>
                        </a:rPr>
                        <a:t>Đọc lệnh (địa chỉ của lệnh lưu trong thanh ghi PC)</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DD1C1"/>
                    </a:solidFill>
                  </a:tcPr>
                </a:tc>
                <a:extLst>
                  <a:ext uri="{0D108BD9-81ED-4DB2-BD59-A6C34878D82A}">
                    <a16:rowId xmlns:a16="http://schemas.microsoft.com/office/drawing/2014/main" val="10001"/>
                  </a:ext>
                </a:extLst>
              </a:tr>
              <a:tr h="1273069">
                <a:tc>
                  <a:txBody>
                    <a:bodyPr/>
                    <a:lstStyle/>
                    <a:p>
                      <a:pPr algn="ctr">
                        <a:lnSpc>
                          <a:spcPct val="100000"/>
                        </a:lnSpc>
                      </a:pPr>
                      <a:r>
                        <a:rPr lang="en-US" sz="1400" b="1" strike="noStrike" spc="-1">
                          <a:solidFill>
                            <a:srgbClr val="000000"/>
                          </a:solidFill>
                          <a:latin typeface="Times New Roman"/>
                          <a:ea typeface="ＭＳ Ｐゴシック"/>
                        </a:rPr>
                        <a:t>Decode </a:t>
                      </a:r>
                      <a:r>
                        <a:rPr lang="en-US" sz="1400" b="0" strike="noStrike" spc="-1">
                          <a:solidFill>
                            <a:srgbClr val="000000"/>
                          </a:solidFill>
                          <a:latin typeface="Times New Roman"/>
                          <a:ea typeface="ＭＳ Ｐゴシック"/>
                        </a:rPr>
                        <a:t>&amp;</a:t>
                      </a:r>
                      <a:endParaRPr lang="en-US" sz="1400" b="0" strike="noStrike" spc="-1">
                        <a:latin typeface="Arial"/>
                      </a:endParaRPr>
                    </a:p>
                    <a:p>
                      <a:pPr algn="ctr">
                        <a:lnSpc>
                          <a:spcPct val="100000"/>
                        </a:lnSpc>
                      </a:pPr>
                      <a:r>
                        <a:rPr lang="en-US" sz="1400" b="1" strike="noStrike" spc="-1">
                          <a:solidFill>
                            <a:srgbClr val="000000"/>
                          </a:solidFill>
                          <a:latin typeface="Times New Roman"/>
                          <a:ea typeface="ＭＳ Ｐゴシック"/>
                        </a:rPr>
                        <a:t>Operand Fetch</a:t>
                      </a:r>
                    </a:p>
                    <a:p>
                      <a:pPr algn="ctr">
                        <a:lnSpc>
                          <a:spcPct val="100000"/>
                        </a:lnSpc>
                      </a:pPr>
                      <a:r>
                        <a:rPr lang="en-US" sz="1400" b="1" strike="noStrike" spc="-1">
                          <a:solidFill>
                            <a:srgbClr val="000000"/>
                          </a:solidFill>
                          <a:latin typeface="Times New Roman"/>
                          <a:ea typeface="ＭＳ Ｐゴシック"/>
                        </a:rPr>
                        <a:t>(Giải mã)</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2F2F2"/>
                    </a:solidFill>
                  </a:tcPr>
                </a:tc>
                <a:tc>
                  <a:txBody>
                    <a:bodyPr/>
                    <a:lstStyle/>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Đọc thanh ghi $1, xem như toán hạng </a:t>
                      </a:r>
                      <a:r>
                        <a:rPr lang="en-US" sz="1400" b="0" i="1" strike="noStrike" spc="-1">
                          <a:solidFill>
                            <a:srgbClr val="000000"/>
                          </a:solidFill>
                          <a:latin typeface="Times New Roman"/>
                          <a:ea typeface="ＭＳ Ｐゴシック"/>
                        </a:rPr>
                        <a:t>opr1</a:t>
                      </a:r>
                      <a:endParaRPr lang="en-US" sz="1400" b="0" strike="noStrike" spc="-1">
                        <a:latin typeface="Arial"/>
                      </a:endParaRPr>
                    </a:p>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Đọc thanh ghi $2, xem như toán hạng </a:t>
                      </a:r>
                      <a:r>
                        <a:rPr lang="en-US" sz="1400" b="0" i="1" strike="noStrike" spc="-1">
                          <a:solidFill>
                            <a:srgbClr val="000000"/>
                          </a:solidFill>
                          <a:latin typeface="Times New Roman"/>
                          <a:ea typeface="ＭＳ Ｐゴシック"/>
                        </a:rPr>
                        <a:t>opr2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3C5"/>
                    </a:solidFill>
                  </a:tcPr>
                </a:tc>
                <a:tc>
                  <a:txBody>
                    <a:bodyPr/>
                    <a:lstStyle/>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Đọc thanh ghi $1, xem như toán hạng </a:t>
                      </a:r>
                      <a:r>
                        <a:rPr lang="en-US" sz="1400" b="0" i="1" strike="noStrike" spc="-1">
                          <a:solidFill>
                            <a:srgbClr val="000000"/>
                          </a:solidFill>
                          <a:latin typeface="Times New Roman"/>
                          <a:ea typeface="ＭＳ Ｐゴシック"/>
                        </a:rPr>
                        <a:t>opr1</a:t>
                      </a:r>
                      <a:endParaRPr lang="en-US" sz="1400" b="0" strike="noStrike" spc="-1">
                        <a:latin typeface="Arial"/>
                      </a:endParaRPr>
                    </a:p>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Sử dụng </a:t>
                      </a:r>
                      <a:r>
                        <a:rPr lang="en-US" sz="1400" b="1" i="1" strike="noStrike" spc="-1">
                          <a:solidFill>
                            <a:srgbClr val="000000"/>
                          </a:solidFill>
                          <a:latin typeface="Times New Roman"/>
                          <a:ea typeface="ＭＳ Ｐゴシック"/>
                        </a:rPr>
                        <a:t>20 </a:t>
                      </a:r>
                      <a:r>
                        <a:rPr lang="en-US" sz="1400" b="0" strike="noStrike" spc="-1">
                          <a:solidFill>
                            <a:srgbClr val="000000"/>
                          </a:solidFill>
                          <a:latin typeface="Times New Roman"/>
                          <a:ea typeface="ＭＳ Ｐゴシック"/>
                        </a:rPr>
                        <a:t>như toán hạng </a:t>
                      </a:r>
                      <a:r>
                        <a:rPr lang="en-US" sz="1400" b="0" i="1" strike="noStrike" spc="-1">
                          <a:solidFill>
                            <a:srgbClr val="000000"/>
                          </a:solidFill>
                          <a:latin typeface="Times New Roman"/>
                          <a:ea typeface="ＭＳ Ｐゴシック"/>
                        </a:rPr>
                        <a:t>opr</a:t>
                      </a:r>
                      <a:r>
                        <a:rPr lang="en-US" sz="1400" b="0" strike="noStrike" spc="-1">
                          <a:solidFill>
                            <a:srgbClr val="000000"/>
                          </a:solidFill>
                          <a:latin typeface="Times New Roman"/>
                          <a:ea typeface="ＭＳ Ｐゴシック"/>
                        </a:rPr>
                        <a:t>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9EAEB"/>
                    </a:solidFill>
                  </a:tcPr>
                </a:tc>
                <a:tc>
                  <a:txBody>
                    <a:bodyPr/>
                    <a:lstStyle/>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Đọc thanh ghi $1, xem như toán hạng </a:t>
                      </a:r>
                      <a:r>
                        <a:rPr lang="en-US" sz="1400" b="0" i="1" strike="noStrike" spc="-1">
                          <a:solidFill>
                            <a:srgbClr val="000000"/>
                          </a:solidFill>
                          <a:latin typeface="Times New Roman"/>
                          <a:ea typeface="ＭＳ Ｐゴシック"/>
                        </a:rPr>
                        <a:t>opr1</a:t>
                      </a:r>
                      <a:endParaRPr lang="en-US" sz="1400" b="0" strike="noStrike" spc="-1">
                        <a:latin typeface="Arial"/>
                      </a:endParaRPr>
                    </a:p>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Đọc thanh ghi $2, xem như toán hạng </a:t>
                      </a:r>
                      <a:r>
                        <a:rPr lang="en-US" sz="1400" b="0" i="1" strike="noStrike" spc="-1">
                          <a:solidFill>
                            <a:srgbClr val="000000"/>
                          </a:solidFill>
                          <a:latin typeface="Times New Roman"/>
                          <a:ea typeface="ＭＳ Ｐゴシック"/>
                        </a:rPr>
                        <a:t>opr2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EE8E0"/>
                    </a:solidFill>
                  </a:tcPr>
                </a:tc>
                <a:extLst>
                  <a:ext uri="{0D108BD9-81ED-4DB2-BD59-A6C34878D82A}">
                    <a16:rowId xmlns:a16="http://schemas.microsoft.com/office/drawing/2014/main" val="10002"/>
                  </a:ext>
                </a:extLst>
              </a:tr>
              <a:tr h="695281">
                <a:tc>
                  <a:txBody>
                    <a:bodyPr/>
                    <a:lstStyle/>
                    <a:p>
                      <a:pPr algn="ctr">
                        <a:lnSpc>
                          <a:spcPct val="100000"/>
                        </a:lnSpc>
                      </a:pPr>
                      <a:r>
                        <a:rPr lang="en-US" sz="1400" b="1" strike="noStrike" spc="-1">
                          <a:solidFill>
                            <a:srgbClr val="000000"/>
                          </a:solidFill>
                          <a:latin typeface="Times New Roman"/>
                          <a:ea typeface="ＭＳ Ｐゴシック"/>
                        </a:rPr>
                        <a:t>ALU</a:t>
                      </a:r>
                    </a:p>
                    <a:p>
                      <a:pPr algn="ctr">
                        <a:lnSpc>
                          <a:spcPct val="100000"/>
                        </a:lnSpc>
                      </a:pPr>
                      <a:r>
                        <a:rPr lang="en-US" sz="1400" b="1" strike="noStrike" spc="-1">
                          <a:solidFill>
                            <a:srgbClr val="000000"/>
                          </a:solidFill>
                          <a:latin typeface="Times New Roman"/>
                          <a:ea typeface="ＭＳ Ｐゴシック"/>
                        </a:rPr>
                        <a:t>(Thực thi)</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nSpc>
                          <a:spcPct val="100000"/>
                        </a:lnSpc>
                      </a:pPr>
                      <a:r>
                        <a:rPr lang="en-US" sz="1400" b="0" i="1" strike="noStrike" spc="-1">
                          <a:solidFill>
                            <a:srgbClr val="000000"/>
                          </a:solidFill>
                          <a:latin typeface="Times New Roman"/>
                          <a:ea typeface="ＭＳ Ｐゴシック"/>
                        </a:rPr>
                        <a:t>Result</a:t>
                      </a:r>
                      <a:r>
                        <a:rPr lang="en-US" sz="1400" b="0" strike="noStrike" spc="-1">
                          <a:solidFill>
                            <a:srgbClr val="000000"/>
                          </a:solidFill>
                          <a:latin typeface="Times New Roman"/>
                          <a:ea typeface="ＭＳ Ｐゴシック"/>
                        </a:rPr>
                        <a:t> = </a:t>
                      </a:r>
                      <a:r>
                        <a:rPr lang="en-US" sz="1400" b="0" i="1" strike="noStrike" spc="-1">
                          <a:solidFill>
                            <a:srgbClr val="000000"/>
                          </a:solidFill>
                          <a:latin typeface="Times New Roman"/>
                          <a:ea typeface="ＭＳ Ｐゴシック"/>
                        </a:rPr>
                        <a:t>opr1</a:t>
                      </a:r>
                      <a:r>
                        <a:rPr lang="en-US" sz="1400" b="0" strike="noStrike" spc="-1">
                          <a:solidFill>
                            <a:srgbClr val="000000"/>
                          </a:solidFill>
                          <a:latin typeface="Times New Roman"/>
                          <a:ea typeface="ＭＳ Ｐゴシック"/>
                        </a:rPr>
                        <a:t> + </a:t>
                      </a:r>
                      <a:r>
                        <a:rPr lang="en-US" sz="1400" b="0" i="1" strike="noStrike" spc="-1">
                          <a:solidFill>
                            <a:srgbClr val="000000"/>
                          </a:solidFill>
                          <a:latin typeface="Times New Roman"/>
                          <a:ea typeface="ＭＳ Ｐゴシック"/>
                        </a:rPr>
                        <a:t>opr2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E68C"/>
                    </a:solidFill>
                  </a:tcPr>
                </a:tc>
                <a:tc>
                  <a:txBody>
                    <a:bodyPr/>
                    <a:lstStyle/>
                    <a:p>
                      <a:pPr>
                        <a:lnSpc>
                          <a:spcPct val="100000"/>
                        </a:lnSpc>
                      </a:pPr>
                      <a:r>
                        <a:rPr lang="en-US" sz="1400" b="0" i="1" strike="noStrike" spc="-1">
                          <a:solidFill>
                            <a:srgbClr val="000000"/>
                          </a:solidFill>
                          <a:latin typeface="Times New Roman"/>
                          <a:ea typeface="ＭＳ Ｐゴシック"/>
                        </a:rPr>
                        <a:t>MemAddr </a:t>
                      </a:r>
                      <a:r>
                        <a:rPr lang="en-US" sz="1400" b="0" strike="noStrike" spc="-1">
                          <a:solidFill>
                            <a:srgbClr val="000000"/>
                          </a:solidFill>
                          <a:latin typeface="Times New Roman"/>
                          <a:ea typeface="ＭＳ Ｐゴシック"/>
                        </a:rPr>
                        <a:t>= opr1 + opr2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1D3D5"/>
                    </a:solidFill>
                  </a:tcPr>
                </a:tc>
                <a:tc>
                  <a:txBody>
                    <a:bodyPr/>
                    <a:lstStyle/>
                    <a:p>
                      <a:pPr>
                        <a:lnSpc>
                          <a:spcPct val="100000"/>
                        </a:lnSpc>
                      </a:pPr>
                      <a:r>
                        <a:rPr lang="en-US" sz="1400" b="0" i="1" strike="noStrike" spc="-1">
                          <a:solidFill>
                            <a:srgbClr val="000000"/>
                          </a:solidFill>
                          <a:latin typeface="Times New Roman"/>
                          <a:ea typeface="ＭＳ Ｐゴシック"/>
                        </a:rPr>
                        <a:t>Taken </a:t>
                      </a:r>
                      <a:r>
                        <a:rPr lang="en-US" sz="1400" b="0" strike="noStrike" spc="-1">
                          <a:solidFill>
                            <a:srgbClr val="000000"/>
                          </a:solidFill>
                          <a:latin typeface="Times New Roman"/>
                          <a:ea typeface="ＭＳ Ｐゴシック"/>
                        </a:rPr>
                        <a:t>=  (</a:t>
                      </a:r>
                      <a:r>
                        <a:rPr lang="en-US" sz="1400" b="0" i="1" strike="noStrike" spc="-1">
                          <a:solidFill>
                            <a:srgbClr val="000000"/>
                          </a:solidFill>
                          <a:latin typeface="Times New Roman"/>
                          <a:ea typeface="ＭＳ Ｐゴシック"/>
                        </a:rPr>
                        <a:t>opr1</a:t>
                      </a:r>
                      <a:r>
                        <a:rPr lang="en-US" sz="1400" b="0" strike="noStrike" spc="-1">
                          <a:solidFill>
                            <a:srgbClr val="000000"/>
                          </a:solidFill>
                          <a:latin typeface="Times New Roman"/>
                          <a:ea typeface="ＭＳ Ｐゴシック"/>
                        </a:rPr>
                        <a:t> == </a:t>
                      </a:r>
                      <a:r>
                        <a:rPr lang="en-US" sz="1400" b="0" i="1" strike="noStrike" spc="-1">
                          <a:solidFill>
                            <a:srgbClr val="000000"/>
                          </a:solidFill>
                          <a:latin typeface="Times New Roman"/>
                          <a:ea typeface="ＭＳ Ｐゴシック"/>
                        </a:rPr>
                        <a:t>opr2</a:t>
                      </a:r>
                      <a:r>
                        <a:rPr lang="en-US" sz="1400" b="0" strike="noStrike" spc="-1">
                          <a:solidFill>
                            <a:srgbClr val="000000"/>
                          </a:solidFill>
                          <a:latin typeface="Times New Roman"/>
                          <a:ea typeface="ＭＳ Ｐゴシック"/>
                        </a:rPr>
                        <a:t> )?</a:t>
                      </a:r>
                      <a:endParaRPr lang="en-US" sz="1400" b="0" strike="noStrike" spc="-1">
                        <a:latin typeface="Arial"/>
                      </a:endParaRPr>
                    </a:p>
                    <a:p>
                      <a:pPr>
                        <a:lnSpc>
                          <a:spcPct val="100000"/>
                        </a:lnSpc>
                      </a:pPr>
                      <a:r>
                        <a:rPr lang="en-US" sz="1400" b="0" i="1" strike="noStrike" spc="-1">
                          <a:solidFill>
                            <a:srgbClr val="000000"/>
                          </a:solidFill>
                          <a:latin typeface="Times New Roman"/>
                          <a:ea typeface="ＭＳ Ｐゴシック"/>
                        </a:rPr>
                        <a:t>Target </a:t>
                      </a:r>
                      <a:r>
                        <a:rPr lang="en-US" sz="1400" b="0" strike="noStrike" spc="-1">
                          <a:solidFill>
                            <a:srgbClr val="000000"/>
                          </a:solidFill>
                          <a:latin typeface="Times New Roman"/>
                          <a:ea typeface="ＭＳ Ｐゴシック"/>
                        </a:rPr>
                        <a:t>= </a:t>
                      </a:r>
                      <a:r>
                        <a:rPr lang="en-US" sz="1400" b="1" strike="noStrike" spc="-1">
                          <a:solidFill>
                            <a:srgbClr val="000000"/>
                          </a:solidFill>
                          <a:latin typeface="Times New Roman"/>
                          <a:ea typeface="ＭＳ Ｐゴシック"/>
                        </a:rPr>
                        <a:t>PC</a:t>
                      </a:r>
                      <a:r>
                        <a:rPr lang="en-US" sz="1400" b="0" strike="noStrike" spc="-1">
                          <a:solidFill>
                            <a:srgbClr val="000000"/>
                          </a:solidFill>
                          <a:latin typeface="Times New Roman"/>
                          <a:ea typeface="ＭＳ Ｐゴシック"/>
                        </a:rPr>
                        <a:t> + Label*</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DD1C1"/>
                    </a:solidFill>
                  </a:tcPr>
                </a:tc>
                <a:extLst>
                  <a:ext uri="{0D108BD9-81ED-4DB2-BD59-A6C34878D82A}">
                    <a16:rowId xmlns:a16="http://schemas.microsoft.com/office/drawing/2014/main" val="10003"/>
                  </a:ext>
                </a:extLst>
              </a:tr>
              <a:tr h="1083035">
                <a:tc>
                  <a:txBody>
                    <a:bodyPr/>
                    <a:lstStyle/>
                    <a:p>
                      <a:pPr algn="ctr">
                        <a:lnSpc>
                          <a:spcPct val="100000"/>
                        </a:lnSpc>
                      </a:pPr>
                      <a:r>
                        <a:rPr lang="en-US" sz="1400" b="1" strike="noStrike" spc="-1">
                          <a:solidFill>
                            <a:srgbClr val="000000"/>
                          </a:solidFill>
                          <a:latin typeface="Times New Roman"/>
                          <a:ea typeface="ＭＳ Ｐゴシック"/>
                        </a:rPr>
                        <a:t>Memory</a:t>
                      </a:r>
                      <a:endParaRPr lang="en-US" sz="1400" b="0" strike="noStrike" spc="-1">
                        <a:latin typeface="Arial"/>
                      </a:endParaRPr>
                    </a:p>
                    <a:p>
                      <a:pPr algn="ctr">
                        <a:lnSpc>
                          <a:spcPct val="100000"/>
                        </a:lnSpc>
                      </a:pPr>
                      <a:r>
                        <a:rPr lang="en-US" sz="1400" b="1" strike="noStrike" spc="-1">
                          <a:solidFill>
                            <a:srgbClr val="000000"/>
                          </a:solidFill>
                          <a:latin typeface="Times New Roman"/>
                          <a:ea typeface="ＭＳ Ｐゴシック"/>
                        </a:rPr>
                        <a:t>Access</a:t>
                      </a:r>
                    </a:p>
                    <a:p>
                      <a:pPr algn="ctr">
                        <a:lnSpc>
                          <a:spcPct val="100000"/>
                        </a:lnSpc>
                      </a:pPr>
                      <a:r>
                        <a:rPr lang="en-US" sz="1400" b="1" strike="noStrike" spc="-1">
                          <a:solidFill>
                            <a:srgbClr val="000000"/>
                          </a:solidFill>
                          <a:latin typeface="Times New Roman"/>
                          <a:ea typeface="ＭＳ Ｐゴシック"/>
                        </a:rPr>
                        <a:t>(Truy xuất bộ nhớ)</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2F2F2"/>
                    </a:solidFill>
                  </a:tcPr>
                </a:tc>
                <a:tc>
                  <a:txBody>
                    <a:bodyPr/>
                    <a:lstStyle/>
                    <a:p>
                      <a:endParaRPr lang="en-US" sz="1400"/>
                    </a:p>
                  </a:txBody>
                  <a:tcPr>
                    <a:lnL w="12240">
                      <a:solidFill>
                        <a:srgbClr val="000000"/>
                      </a:solidFill>
                    </a:lnL>
                    <a:lnR w="12240">
                      <a:solidFill>
                        <a:srgbClr val="000000"/>
                      </a:solidFill>
                    </a:lnR>
                    <a:lnT w="12240">
                      <a:solidFill>
                        <a:srgbClr val="000000"/>
                      </a:solidFill>
                    </a:lnT>
                    <a:lnB w="12240">
                      <a:solidFill>
                        <a:srgbClr val="000000"/>
                      </a:solidFill>
                    </a:lnB>
                    <a:solidFill>
                      <a:srgbClr val="FFF3C5"/>
                    </a:solidFill>
                  </a:tcPr>
                </a:tc>
                <a:tc>
                  <a:txBody>
                    <a:bodyPr/>
                    <a:lstStyle/>
                    <a:p>
                      <a:pPr marL="231840" indent="-231480">
                        <a:lnSpc>
                          <a:spcPct val="100000"/>
                        </a:lnSpc>
                      </a:pPr>
                      <a:r>
                        <a:rPr lang="en-US" sz="1400" b="0" strike="noStrike" spc="-1">
                          <a:solidFill>
                            <a:srgbClr val="000000"/>
                          </a:solidFill>
                          <a:latin typeface="Times New Roman"/>
                          <a:ea typeface="ＭＳ Ｐゴシック"/>
                        </a:rPr>
                        <a:t>Sử dụng </a:t>
                      </a:r>
                      <a:r>
                        <a:rPr lang="en-US" sz="1400" b="0" i="1" strike="noStrike" spc="-1">
                          <a:solidFill>
                            <a:srgbClr val="000000"/>
                          </a:solidFill>
                          <a:latin typeface="Times New Roman"/>
                          <a:ea typeface="ＭＳ Ｐゴシック"/>
                        </a:rPr>
                        <a:t>MemAddr</a:t>
                      </a:r>
                      <a:r>
                        <a:rPr lang="en-US" sz="1400" b="0" strike="noStrike" spc="-1">
                          <a:solidFill>
                            <a:srgbClr val="000000"/>
                          </a:solidFill>
                          <a:latin typeface="Times New Roman"/>
                          <a:ea typeface="ＭＳ Ｐゴシック"/>
                        </a:rPr>
                        <a:t> để đọc dữ liệu từ bộ nhớ</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9EAEB"/>
                    </a:solidFill>
                  </a:tcPr>
                </a:tc>
                <a:tc>
                  <a:txBody>
                    <a:bodyPr/>
                    <a:lstStyle/>
                    <a:p>
                      <a:endParaRPr lang="en-US" sz="1400"/>
                    </a:p>
                  </a:txBody>
                  <a:tcPr>
                    <a:lnL w="12240">
                      <a:solidFill>
                        <a:srgbClr val="000000"/>
                      </a:solidFill>
                    </a:lnL>
                    <a:lnR w="12240">
                      <a:solidFill>
                        <a:srgbClr val="000000"/>
                      </a:solidFill>
                    </a:lnR>
                    <a:lnT w="12240">
                      <a:solidFill>
                        <a:srgbClr val="000000"/>
                      </a:solidFill>
                    </a:lnT>
                    <a:lnB w="12240">
                      <a:solidFill>
                        <a:srgbClr val="000000"/>
                      </a:solidFill>
                    </a:lnB>
                    <a:solidFill>
                      <a:srgbClr val="EEE8E0"/>
                    </a:solidFill>
                  </a:tcPr>
                </a:tc>
                <a:extLst>
                  <a:ext uri="{0D108BD9-81ED-4DB2-BD59-A6C34878D82A}">
                    <a16:rowId xmlns:a16="http://schemas.microsoft.com/office/drawing/2014/main" val="10004"/>
                  </a:ext>
                </a:extLst>
              </a:tr>
              <a:tr h="984176">
                <a:tc>
                  <a:txBody>
                    <a:bodyPr/>
                    <a:lstStyle/>
                    <a:p>
                      <a:pPr algn="ctr">
                        <a:lnSpc>
                          <a:spcPct val="100000"/>
                        </a:lnSpc>
                      </a:pPr>
                      <a:r>
                        <a:rPr lang="en-US" sz="1400" b="1" strike="noStrike" spc="-1">
                          <a:solidFill>
                            <a:srgbClr val="000000"/>
                          </a:solidFill>
                          <a:latin typeface="Times New Roman"/>
                          <a:ea typeface="ＭＳ Ｐゴシック"/>
                        </a:rPr>
                        <a:t>Result Write</a:t>
                      </a:r>
                    </a:p>
                    <a:p>
                      <a:pPr algn="ctr">
                        <a:lnSpc>
                          <a:spcPct val="100000"/>
                        </a:lnSpc>
                      </a:pPr>
                      <a:r>
                        <a:rPr lang="en-US" sz="1400" b="1" strike="noStrike" spc="-1">
                          <a:solidFill>
                            <a:srgbClr val="000000"/>
                          </a:solidFill>
                          <a:latin typeface="Times New Roman"/>
                          <a:ea typeface="ＭＳ Ｐゴシック"/>
                        </a:rPr>
                        <a:t>(Lưu kết quả)</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nSpc>
                          <a:spcPct val="100000"/>
                        </a:lnSpc>
                      </a:pPr>
                      <a:r>
                        <a:rPr lang="en-US" sz="1400" b="0" i="1" strike="noStrike" spc="-1">
                          <a:solidFill>
                            <a:srgbClr val="000000"/>
                          </a:solidFill>
                          <a:latin typeface="Times New Roman"/>
                          <a:ea typeface="ＭＳ Ｐゴシック"/>
                        </a:rPr>
                        <a:t>Result</a:t>
                      </a:r>
                      <a:r>
                        <a:rPr lang="en-US" sz="1400" b="0" strike="noStrike" spc="-1">
                          <a:solidFill>
                            <a:srgbClr val="000000"/>
                          </a:solidFill>
                          <a:latin typeface="Times New Roman"/>
                          <a:ea typeface="ＭＳ Ｐゴシック"/>
                        </a:rPr>
                        <a:t> được lưu trữ vào </a:t>
                      </a:r>
                      <a:r>
                        <a:rPr lang="en-US" sz="1400" b="1" strike="noStrike" spc="-1">
                          <a:solidFill>
                            <a:srgbClr val="000000"/>
                          </a:solidFill>
                          <a:latin typeface="Times New Roman"/>
                          <a:ea typeface="ＭＳ Ｐゴシック"/>
                        </a:rPr>
                        <a:t>$3</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E68C"/>
                    </a:solidFill>
                  </a:tcPr>
                </a:tc>
                <a:tc>
                  <a:txBody>
                    <a:bodyPr/>
                    <a:lstStyle/>
                    <a:p>
                      <a:pPr>
                        <a:lnSpc>
                          <a:spcPct val="100000"/>
                        </a:lnSpc>
                      </a:pPr>
                      <a:r>
                        <a:rPr lang="en-US" sz="1400" b="0" i="1" strike="noStrike" spc="-1" dirty="0" err="1">
                          <a:solidFill>
                            <a:srgbClr val="000000"/>
                          </a:solidFill>
                          <a:latin typeface="Times New Roman"/>
                          <a:ea typeface="ＭＳ Ｐゴシック"/>
                        </a:rPr>
                        <a:t>Dữ</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liệu</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của</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từ</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nhớ</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có</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địa</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chỉ</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MemAddr</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được</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được</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lưu</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trữ</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vào</a:t>
                      </a:r>
                      <a:r>
                        <a:rPr lang="en-US" sz="1400" b="0" i="1" strike="noStrike" spc="-1" dirty="0">
                          <a:solidFill>
                            <a:srgbClr val="000000"/>
                          </a:solidFill>
                          <a:latin typeface="Times New Roman"/>
                          <a:ea typeface="ＭＳ Ｐゴシック"/>
                        </a:rPr>
                        <a:t> </a:t>
                      </a:r>
                      <a:r>
                        <a:rPr lang="en-US" sz="1400" b="0" strike="noStrike" spc="-1" dirty="0">
                          <a:solidFill>
                            <a:srgbClr val="000000"/>
                          </a:solidFill>
                          <a:latin typeface="Times New Roman"/>
                          <a:ea typeface="ＭＳ Ｐゴシック"/>
                        </a:rPr>
                        <a:t> </a:t>
                      </a:r>
                      <a:r>
                        <a:rPr lang="en-US" sz="1400" b="1" strike="noStrike" spc="-1" dirty="0">
                          <a:solidFill>
                            <a:srgbClr val="000000"/>
                          </a:solidFill>
                          <a:latin typeface="Times New Roman"/>
                          <a:ea typeface="ＭＳ Ｐゴシック"/>
                        </a:rPr>
                        <a:t>$3</a:t>
                      </a:r>
                      <a:endParaRPr lang="en-US" sz="1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1D3D5"/>
                    </a:solidFill>
                  </a:tcPr>
                </a:tc>
                <a:tc>
                  <a:txBody>
                    <a:bodyPr/>
                    <a:lstStyle/>
                    <a:p>
                      <a:pPr>
                        <a:lnSpc>
                          <a:spcPct val="100000"/>
                        </a:lnSpc>
                      </a:pPr>
                      <a:r>
                        <a:rPr lang="en-US" sz="1400" b="0" strike="noStrike" spc="-1" dirty="0">
                          <a:solidFill>
                            <a:srgbClr val="000000"/>
                          </a:solidFill>
                          <a:latin typeface="Times New Roman"/>
                          <a:ea typeface="ＭＳ Ｐゴシック"/>
                        </a:rPr>
                        <a:t>if (</a:t>
                      </a:r>
                      <a:r>
                        <a:rPr lang="en-US" sz="1400" b="0" i="1" strike="noStrike" spc="-1" dirty="0">
                          <a:solidFill>
                            <a:srgbClr val="000000"/>
                          </a:solidFill>
                          <a:latin typeface="Times New Roman"/>
                          <a:ea typeface="ＭＳ Ｐゴシック"/>
                        </a:rPr>
                        <a:t>Taken</a:t>
                      </a:r>
                      <a:r>
                        <a:rPr lang="en-US" sz="1400" b="0" strike="noStrike" spc="-1" dirty="0">
                          <a:solidFill>
                            <a:srgbClr val="000000"/>
                          </a:solidFill>
                          <a:latin typeface="Times New Roman"/>
                          <a:ea typeface="ＭＳ Ｐゴシック"/>
                        </a:rPr>
                        <a:t>)</a:t>
                      </a:r>
                      <a:endParaRPr lang="en-US" sz="1400" b="0" strike="noStrike" spc="-1" dirty="0">
                        <a:latin typeface="Arial"/>
                      </a:endParaRPr>
                    </a:p>
                    <a:p>
                      <a:pPr>
                        <a:lnSpc>
                          <a:spcPct val="100000"/>
                        </a:lnSpc>
                      </a:pPr>
                      <a:r>
                        <a:rPr lang="en-US" sz="1400" b="0" strike="noStrike" spc="-1" dirty="0">
                          <a:solidFill>
                            <a:srgbClr val="000000"/>
                          </a:solidFill>
                          <a:latin typeface="Times New Roman"/>
                          <a:ea typeface="ＭＳ Ｐゴシック"/>
                        </a:rPr>
                        <a:t>    </a:t>
                      </a:r>
                      <a:r>
                        <a:rPr lang="en-US" sz="1400" b="1" strike="noStrike" spc="-1" dirty="0">
                          <a:solidFill>
                            <a:srgbClr val="000000"/>
                          </a:solidFill>
                          <a:latin typeface="Times New Roman"/>
                          <a:ea typeface="ＭＳ Ｐゴシック"/>
                        </a:rPr>
                        <a:t>PC</a:t>
                      </a:r>
                      <a:r>
                        <a:rPr lang="en-US" sz="1400" b="0" strike="noStrike" spc="-1" dirty="0">
                          <a:solidFill>
                            <a:srgbClr val="000000"/>
                          </a:solidFill>
                          <a:latin typeface="Times New Roman"/>
                          <a:ea typeface="ＭＳ Ｐゴシック"/>
                        </a:rPr>
                        <a:t> = </a:t>
                      </a:r>
                      <a:r>
                        <a:rPr lang="en-US" sz="1400" b="0" i="1" strike="noStrike" spc="-1" dirty="0">
                          <a:solidFill>
                            <a:srgbClr val="000000"/>
                          </a:solidFill>
                          <a:latin typeface="Times New Roman"/>
                          <a:ea typeface="ＭＳ Ｐゴシック"/>
                        </a:rPr>
                        <a:t>Target</a:t>
                      </a:r>
                      <a:endParaRPr lang="en-US" sz="1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DD1C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84566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t>Datapath (tt)</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10</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3" name="Content Placeholder 2">
            <a:extLst>
              <a:ext uri="{FF2B5EF4-FFF2-40B4-BE49-F238E27FC236}">
                <a16:creationId xmlns:a16="http://schemas.microsoft.com/office/drawing/2014/main" id="{898B30BF-5B75-2CD0-6204-B90642FEF266}"/>
              </a:ext>
            </a:extLst>
          </p:cNvPr>
          <p:cNvSpPr>
            <a:spLocks noGrp="1"/>
          </p:cNvSpPr>
          <p:nvPr>
            <p:ph idx="1"/>
          </p:nvPr>
        </p:nvSpPr>
        <p:spPr>
          <a:xfrm>
            <a:off x="598824" y="1611722"/>
            <a:ext cx="2654916" cy="3421875"/>
          </a:xfrm>
        </p:spPr>
        <p:txBody>
          <a:bodyPr>
            <a:normAutofit/>
          </a:bodyPr>
          <a:lstStyle/>
          <a:p>
            <a:pPr marL="0" indent="0">
              <a:buNone/>
            </a:pPr>
            <a:r>
              <a:rPr lang="vi-VN" dirty="0">
                <a:latin typeface="+mj-lt"/>
              </a:rPr>
              <a:t>Hình ảnh datapath của một bộ xử lý với</a:t>
            </a:r>
            <a:r>
              <a:rPr lang="en-US" dirty="0">
                <a:latin typeface="+mj-lt"/>
              </a:rPr>
              <a:t> </a:t>
            </a:r>
            <a:r>
              <a:rPr lang="vi-VN" dirty="0">
                <a:latin typeface="+mj-lt"/>
              </a:rPr>
              <a:t>8 lệnh MIPS: add, sub,</a:t>
            </a:r>
            <a:r>
              <a:rPr lang="en-US" dirty="0">
                <a:latin typeface="+mj-lt"/>
              </a:rPr>
              <a:t> </a:t>
            </a:r>
            <a:r>
              <a:rPr lang="vi-VN" dirty="0">
                <a:latin typeface="+mj-lt"/>
              </a:rPr>
              <a:t>and, or, slt, lw, sw và beq</a:t>
            </a:r>
          </a:p>
        </p:txBody>
      </p:sp>
      <p:pic>
        <p:nvPicPr>
          <p:cNvPr id="6" name="Picture 5" descr="f04-17-P374493">
            <a:extLst>
              <a:ext uri="{FF2B5EF4-FFF2-40B4-BE49-F238E27FC236}">
                <a16:creationId xmlns:a16="http://schemas.microsoft.com/office/drawing/2014/main" id="{B6E61A20-E1C9-0297-2AF8-9240F5C7C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8660" y="973323"/>
            <a:ext cx="6819900" cy="529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3562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Quy trình thực thi lệnh của MIPS</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11</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1" name="Content Placeholder 10">
            <a:extLst>
              <a:ext uri="{FF2B5EF4-FFF2-40B4-BE49-F238E27FC236}">
                <a16:creationId xmlns:a16="http://schemas.microsoft.com/office/drawing/2014/main" id="{8E51BFD1-611E-702E-CD1C-CF4CE58C1C36}"/>
              </a:ext>
            </a:extLst>
          </p:cNvPr>
          <p:cNvSpPr>
            <a:spLocks noGrp="1"/>
          </p:cNvSpPr>
          <p:nvPr>
            <p:ph idx="1"/>
          </p:nvPr>
        </p:nvSpPr>
        <p:spPr>
          <a:xfrm>
            <a:off x="1142797" y="1195821"/>
            <a:ext cx="7404855" cy="5160527"/>
          </a:xfrm>
        </p:spPr>
        <p:txBody>
          <a:bodyPr/>
          <a:lstStyle/>
          <a:p>
            <a:r>
              <a:rPr lang="vi-VN">
                <a:solidFill>
                  <a:srgbClr val="FF0000"/>
                </a:solidFill>
              </a:rPr>
              <a:t>Instruction Fetch (Nạp lệnh)</a:t>
            </a:r>
          </a:p>
          <a:p>
            <a:r>
              <a:rPr lang="vi-VN"/>
              <a:t>Instruction Decode &amp; Operand Fetch</a:t>
            </a:r>
          </a:p>
          <a:p>
            <a:pPr marL="0" indent="0">
              <a:buNone/>
            </a:pPr>
            <a:r>
              <a:rPr lang="en-US"/>
              <a:t>	</a:t>
            </a:r>
            <a:r>
              <a:rPr lang="vi-VN"/>
              <a:t>(Giải mã và lấy các toán hạng cần thiết, </a:t>
            </a:r>
            <a:endParaRPr lang="en-US"/>
          </a:p>
          <a:p>
            <a:pPr marL="0" indent="0">
              <a:buNone/>
            </a:pPr>
            <a:r>
              <a:rPr lang="en-US"/>
              <a:t>	</a:t>
            </a:r>
            <a:r>
              <a:rPr lang="vi-VN"/>
              <a:t>Gọi</a:t>
            </a:r>
            <a:r>
              <a:rPr lang="en-US"/>
              <a:t> </a:t>
            </a:r>
            <a:r>
              <a:rPr lang="vi-VN"/>
              <a:t>tắt là “Instruction Decode”)</a:t>
            </a:r>
          </a:p>
          <a:p>
            <a:r>
              <a:rPr lang="vi-VN"/>
              <a:t>ALU (Giai đoạn sử dụng ALU hay giai đoạn thực thi)</a:t>
            </a:r>
          </a:p>
          <a:p>
            <a:r>
              <a:rPr lang="vi-VN"/>
              <a:t>Memory Access (Giai đoạn truy xuất vùng nhớ)</a:t>
            </a:r>
          </a:p>
          <a:p>
            <a:r>
              <a:rPr lang="vi-VN"/>
              <a:t>Result Write (Giai đoạn ghi lại kết quả/lưu trữ)</a:t>
            </a:r>
          </a:p>
          <a:p>
            <a:endParaRPr lang="vi-VN"/>
          </a:p>
          <a:p>
            <a:endParaRPr lang="en-US"/>
          </a:p>
        </p:txBody>
      </p:sp>
      <p:grpSp>
        <p:nvGrpSpPr>
          <p:cNvPr id="14" name="Group 13">
            <a:extLst>
              <a:ext uri="{FF2B5EF4-FFF2-40B4-BE49-F238E27FC236}">
                <a16:creationId xmlns:a16="http://schemas.microsoft.com/office/drawing/2014/main" id="{35E64477-7BDC-5CAF-A892-A018CF49647C}"/>
              </a:ext>
            </a:extLst>
          </p:cNvPr>
          <p:cNvGrpSpPr/>
          <p:nvPr/>
        </p:nvGrpSpPr>
        <p:grpSpPr>
          <a:xfrm>
            <a:off x="8764130" y="1674660"/>
            <a:ext cx="2742730" cy="3796316"/>
            <a:chOff x="8726030" y="2208060"/>
            <a:chExt cx="2742730" cy="3796316"/>
          </a:xfrm>
        </p:grpSpPr>
        <p:grpSp>
          <p:nvGrpSpPr>
            <p:cNvPr id="15" name="Group 3">
              <a:extLst>
                <a:ext uri="{FF2B5EF4-FFF2-40B4-BE49-F238E27FC236}">
                  <a16:creationId xmlns:a16="http://schemas.microsoft.com/office/drawing/2014/main" id="{BAAB0B09-CF5E-AC2D-7B7D-9B3EC1152906}"/>
                </a:ext>
              </a:extLst>
            </p:cNvPr>
            <p:cNvGrpSpPr/>
            <p:nvPr/>
          </p:nvGrpSpPr>
          <p:grpSpPr>
            <a:xfrm>
              <a:off x="8726030" y="2208060"/>
              <a:ext cx="2742730" cy="3766559"/>
              <a:chOff x="420120" y="1133640"/>
              <a:chExt cx="2099520" cy="3157199"/>
            </a:xfrm>
          </p:grpSpPr>
          <p:sp>
            <p:nvSpPr>
              <p:cNvPr id="17" name="CustomShape 4">
                <a:extLst>
                  <a:ext uri="{FF2B5EF4-FFF2-40B4-BE49-F238E27FC236}">
                    <a16:creationId xmlns:a16="http://schemas.microsoft.com/office/drawing/2014/main" id="{AC664CBC-0125-59A3-A143-ADB0607A395A}"/>
                  </a:ext>
                </a:extLst>
              </p:cNvPr>
              <p:cNvSpPr/>
              <p:nvPr/>
            </p:nvSpPr>
            <p:spPr>
              <a:xfrm>
                <a:off x="1553760" y="3522600"/>
                <a:ext cx="24120" cy="1742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vi-VN"/>
              </a:p>
            </p:txBody>
          </p:sp>
          <p:sp>
            <p:nvSpPr>
              <p:cNvPr id="18" name="CustomShape 5">
                <a:extLst>
                  <a:ext uri="{FF2B5EF4-FFF2-40B4-BE49-F238E27FC236}">
                    <a16:creationId xmlns:a16="http://schemas.microsoft.com/office/drawing/2014/main" id="{8BBA7EA1-6B4C-6224-F31B-ADF1C430E0AE}"/>
                  </a:ext>
                </a:extLst>
              </p:cNvPr>
              <p:cNvSpPr/>
              <p:nvPr/>
            </p:nvSpPr>
            <p:spPr>
              <a:xfrm>
                <a:off x="993960" y="1360800"/>
                <a:ext cx="1525680" cy="28656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dirty="0">
                    <a:solidFill>
                      <a:srgbClr val="C00000"/>
                    </a:solidFill>
                    <a:latin typeface="Arial"/>
                    <a:ea typeface="ＭＳ Ｐゴシック"/>
                  </a:rPr>
                  <a:t>Fetch</a:t>
                </a:r>
                <a:endParaRPr lang="en-US" sz="1800" b="0" strike="noStrike" spc="-1" dirty="0">
                  <a:latin typeface="Arial"/>
                </a:endParaRPr>
              </a:p>
            </p:txBody>
          </p:sp>
          <p:sp>
            <p:nvSpPr>
              <p:cNvPr id="19" name="CustomShape 6">
                <a:extLst>
                  <a:ext uri="{FF2B5EF4-FFF2-40B4-BE49-F238E27FC236}">
                    <a16:creationId xmlns:a16="http://schemas.microsoft.com/office/drawing/2014/main" id="{14D3AB1E-C627-5C82-420E-3C05D6EFACED}"/>
                  </a:ext>
                </a:extLst>
              </p:cNvPr>
              <p:cNvSpPr/>
              <p:nvPr/>
            </p:nvSpPr>
            <p:spPr>
              <a:xfrm>
                <a:off x="993960" y="1871348"/>
                <a:ext cx="1525680" cy="523373"/>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a:solidFill>
                      <a:srgbClr val="006600"/>
                    </a:solidFill>
                    <a:latin typeface="Arial"/>
                    <a:ea typeface="ＭＳ Ｐゴシック"/>
                  </a:rPr>
                  <a:t>Instruction</a:t>
                </a:r>
                <a:endParaRPr lang="en-US" sz="1800" b="0" strike="noStrike" spc="-1">
                  <a:latin typeface="Arial"/>
                </a:endParaRPr>
              </a:p>
              <a:p>
                <a:pPr marL="343080" indent="-342720" algn="ctr">
                  <a:lnSpc>
                    <a:spcPct val="86000"/>
                  </a:lnSpc>
                  <a:spcBef>
                    <a:spcPts val="360"/>
                  </a:spcBef>
                </a:pPr>
                <a:r>
                  <a:rPr lang="en-US" sz="1800" b="1" i="1" strike="noStrike" spc="-1">
                    <a:solidFill>
                      <a:srgbClr val="006600"/>
                    </a:solidFill>
                    <a:latin typeface="Arial"/>
                    <a:ea typeface="ＭＳ Ｐゴシック"/>
                  </a:rPr>
                  <a:t>Decode</a:t>
                </a:r>
                <a:endParaRPr lang="en-US" sz="1800" b="0" strike="noStrike" spc="-1">
                  <a:latin typeface="Arial"/>
                </a:endParaRPr>
              </a:p>
            </p:txBody>
          </p:sp>
          <p:sp>
            <p:nvSpPr>
              <p:cNvPr id="20" name="CustomShape 7">
                <a:extLst>
                  <a:ext uri="{FF2B5EF4-FFF2-40B4-BE49-F238E27FC236}">
                    <a16:creationId xmlns:a16="http://schemas.microsoft.com/office/drawing/2014/main" id="{B7A8046A-43EC-68CD-0B51-864F829843F0}"/>
                  </a:ext>
                </a:extLst>
              </p:cNvPr>
              <p:cNvSpPr/>
              <p:nvPr/>
            </p:nvSpPr>
            <p:spPr>
              <a:xfrm>
                <a:off x="987139" y="2565360"/>
                <a:ext cx="1525680" cy="28656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dirty="0">
                    <a:solidFill>
                      <a:srgbClr val="660066"/>
                    </a:solidFill>
                    <a:latin typeface="Arial"/>
                    <a:ea typeface="ＭＳ Ｐゴシック"/>
                  </a:rPr>
                  <a:t>ALU</a:t>
                </a:r>
                <a:endParaRPr lang="en-US" sz="1800" b="0" strike="noStrike" spc="-1" dirty="0">
                  <a:latin typeface="Arial"/>
                </a:endParaRPr>
              </a:p>
            </p:txBody>
          </p:sp>
          <p:sp>
            <p:nvSpPr>
              <p:cNvPr id="21" name="CustomShape 8">
                <a:extLst>
                  <a:ext uri="{FF2B5EF4-FFF2-40B4-BE49-F238E27FC236}">
                    <a16:creationId xmlns:a16="http://schemas.microsoft.com/office/drawing/2014/main" id="{61C6B5B3-74C0-4BA4-DD13-4AF98FC3A14B}"/>
                  </a:ext>
                </a:extLst>
              </p:cNvPr>
              <p:cNvSpPr/>
              <p:nvPr/>
            </p:nvSpPr>
            <p:spPr>
              <a:xfrm>
                <a:off x="987139" y="3052734"/>
                <a:ext cx="1525680" cy="310386"/>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algn="ctr">
                  <a:lnSpc>
                    <a:spcPct val="88000"/>
                  </a:lnSpc>
                  <a:spcBef>
                    <a:spcPts val="516"/>
                  </a:spcBef>
                </a:pPr>
                <a:r>
                  <a:rPr lang="en-US" sz="1800" b="1" i="1" strike="noStrike" spc="-1">
                    <a:solidFill>
                      <a:srgbClr val="002060"/>
                    </a:solidFill>
                    <a:latin typeface="Arial"/>
                    <a:ea typeface="ＭＳ Ｐゴシック"/>
                  </a:rPr>
                  <a:t>Memory Access</a:t>
                </a:r>
                <a:endParaRPr lang="en-US" sz="1800" b="0" strike="noStrike" spc="-1">
                  <a:latin typeface="Arial"/>
                </a:endParaRPr>
              </a:p>
            </p:txBody>
          </p:sp>
          <p:sp>
            <p:nvSpPr>
              <p:cNvPr id="22" name="CustomShape 9">
                <a:extLst>
                  <a:ext uri="{FF2B5EF4-FFF2-40B4-BE49-F238E27FC236}">
                    <a16:creationId xmlns:a16="http://schemas.microsoft.com/office/drawing/2014/main" id="{CEED021A-D498-2F0E-184A-0102CDFCC047}"/>
                  </a:ext>
                </a:extLst>
              </p:cNvPr>
              <p:cNvSpPr/>
              <p:nvPr/>
            </p:nvSpPr>
            <p:spPr>
              <a:xfrm>
                <a:off x="993960" y="3591000"/>
                <a:ext cx="1525680" cy="32580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algn="ctr">
                  <a:lnSpc>
                    <a:spcPct val="100000"/>
                  </a:lnSpc>
                </a:pPr>
                <a:r>
                  <a:rPr lang="en-US" sz="1800" b="1" strike="noStrike" spc="-1">
                    <a:solidFill>
                      <a:srgbClr val="000000"/>
                    </a:solidFill>
                    <a:latin typeface="Arial"/>
                    <a:ea typeface="ＭＳ Ｐゴシック"/>
                  </a:rPr>
                  <a:t>Result Write</a:t>
                </a:r>
                <a:endParaRPr lang="en-US" sz="1800" b="0" strike="noStrike" spc="-1">
                  <a:latin typeface="Arial"/>
                </a:endParaRPr>
              </a:p>
            </p:txBody>
          </p:sp>
          <p:sp>
            <p:nvSpPr>
              <p:cNvPr id="23" name="Line 10">
                <a:extLst>
                  <a:ext uri="{FF2B5EF4-FFF2-40B4-BE49-F238E27FC236}">
                    <a16:creationId xmlns:a16="http://schemas.microsoft.com/office/drawing/2014/main" id="{B635C9D2-8A7E-7C0D-A1C3-D67A79D60B44}"/>
                  </a:ext>
                </a:extLst>
              </p:cNvPr>
              <p:cNvSpPr/>
              <p:nvPr/>
            </p:nvSpPr>
            <p:spPr>
              <a:xfrm>
                <a:off x="1749259" y="1651097"/>
                <a:ext cx="6461" cy="22025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4" name="Line 11">
                <a:extLst>
                  <a:ext uri="{FF2B5EF4-FFF2-40B4-BE49-F238E27FC236}">
                    <a16:creationId xmlns:a16="http://schemas.microsoft.com/office/drawing/2014/main" id="{C346C85A-A6ED-66D2-5106-6A7C3DD87ACF}"/>
                  </a:ext>
                </a:extLst>
              </p:cNvPr>
              <p:cNvSpPr/>
              <p:nvPr/>
            </p:nvSpPr>
            <p:spPr>
              <a:xfrm>
                <a:off x="1756440" y="2853636"/>
                <a:ext cx="360" cy="20088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5" name="Line 12">
                <a:extLst>
                  <a:ext uri="{FF2B5EF4-FFF2-40B4-BE49-F238E27FC236}">
                    <a16:creationId xmlns:a16="http://schemas.microsoft.com/office/drawing/2014/main" id="{9AFB2E00-92F9-0F43-B5A0-FE223E49D7DB}"/>
                  </a:ext>
                </a:extLst>
              </p:cNvPr>
              <p:cNvSpPr/>
              <p:nvPr/>
            </p:nvSpPr>
            <p:spPr>
              <a:xfrm>
                <a:off x="1749619" y="2385001"/>
                <a:ext cx="360" cy="1890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6" name="Line 13">
                <a:extLst>
                  <a:ext uri="{FF2B5EF4-FFF2-40B4-BE49-F238E27FC236}">
                    <a16:creationId xmlns:a16="http://schemas.microsoft.com/office/drawing/2014/main" id="{9ECDBCA4-382A-5A71-6A32-9ED44C23A6DD}"/>
                  </a:ext>
                </a:extLst>
              </p:cNvPr>
              <p:cNvSpPr/>
              <p:nvPr/>
            </p:nvSpPr>
            <p:spPr>
              <a:xfrm>
                <a:off x="1749979" y="3378600"/>
                <a:ext cx="360" cy="2124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7" name="Line 14">
                <a:extLst>
                  <a:ext uri="{FF2B5EF4-FFF2-40B4-BE49-F238E27FC236}">
                    <a16:creationId xmlns:a16="http://schemas.microsoft.com/office/drawing/2014/main" id="{6E1196F7-9D4F-8C62-DF15-190331926FE2}"/>
                  </a:ext>
                </a:extLst>
              </p:cNvPr>
              <p:cNvSpPr/>
              <p:nvPr/>
            </p:nvSpPr>
            <p:spPr>
              <a:xfrm flipH="1" flipV="1">
                <a:off x="587520" y="4284000"/>
                <a:ext cx="1162818" cy="6839"/>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8" name="Line 15">
                <a:extLst>
                  <a:ext uri="{FF2B5EF4-FFF2-40B4-BE49-F238E27FC236}">
                    <a16:creationId xmlns:a16="http://schemas.microsoft.com/office/drawing/2014/main" id="{CDDE8C76-B255-215F-5208-897C8E48BC47}"/>
                  </a:ext>
                </a:extLst>
              </p:cNvPr>
              <p:cNvSpPr/>
              <p:nvPr/>
            </p:nvSpPr>
            <p:spPr>
              <a:xfrm flipH="1" flipV="1">
                <a:off x="587160" y="1133640"/>
                <a:ext cx="360" cy="3150000"/>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9" name="Line 16">
                <a:extLst>
                  <a:ext uri="{FF2B5EF4-FFF2-40B4-BE49-F238E27FC236}">
                    <a16:creationId xmlns:a16="http://schemas.microsoft.com/office/drawing/2014/main" id="{EFD1CB40-4EFE-5CBF-78C2-230A6A77EB1D}"/>
                  </a:ext>
                </a:extLst>
              </p:cNvPr>
              <p:cNvSpPr/>
              <p:nvPr/>
            </p:nvSpPr>
            <p:spPr>
              <a:xfrm>
                <a:off x="587159" y="1140839"/>
                <a:ext cx="1163899" cy="7339"/>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0" name="Line 17">
                <a:extLst>
                  <a:ext uri="{FF2B5EF4-FFF2-40B4-BE49-F238E27FC236}">
                    <a16:creationId xmlns:a16="http://schemas.microsoft.com/office/drawing/2014/main" id="{19724794-4885-7B2C-5F91-97BE5D51862C}"/>
                  </a:ext>
                </a:extLst>
              </p:cNvPr>
              <p:cNvSpPr/>
              <p:nvPr/>
            </p:nvSpPr>
            <p:spPr>
              <a:xfrm>
                <a:off x="1751778" y="1148896"/>
                <a:ext cx="360" cy="2034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1" name="CustomShape 18">
                <a:extLst>
                  <a:ext uri="{FF2B5EF4-FFF2-40B4-BE49-F238E27FC236}">
                    <a16:creationId xmlns:a16="http://schemas.microsoft.com/office/drawing/2014/main" id="{0D0132C1-DBA3-0F71-4D85-2D55C4CB8F88}"/>
                  </a:ext>
                </a:extLst>
              </p:cNvPr>
              <p:cNvSpPr/>
              <p:nvPr/>
            </p:nvSpPr>
            <p:spPr>
              <a:xfrm rot="16200000">
                <a:off x="-201960" y="2711880"/>
                <a:ext cx="1637640" cy="39348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1" strike="noStrike" spc="-1">
                    <a:solidFill>
                      <a:srgbClr val="000000"/>
                    </a:solidFill>
                    <a:latin typeface="Times New Roman"/>
                    <a:ea typeface="ＭＳ Ｐゴシック"/>
                  </a:rPr>
                  <a:t>Next Instruction</a:t>
                </a:r>
                <a:endParaRPr lang="en-US" sz="1800" b="0" strike="noStrike" spc="-1">
                  <a:latin typeface="Arial"/>
                </a:endParaRPr>
              </a:p>
            </p:txBody>
          </p:sp>
        </p:grpSp>
        <p:sp>
          <p:nvSpPr>
            <p:cNvPr id="16" name="Line 13">
              <a:extLst>
                <a:ext uri="{FF2B5EF4-FFF2-40B4-BE49-F238E27FC236}">
                  <a16:creationId xmlns:a16="http://schemas.microsoft.com/office/drawing/2014/main" id="{92842633-75F7-1E39-8576-7D844602315B}"/>
                </a:ext>
              </a:extLst>
            </p:cNvPr>
            <p:cNvSpPr/>
            <p:nvPr/>
          </p:nvSpPr>
          <p:spPr>
            <a:xfrm>
              <a:off x="10468072" y="5534790"/>
              <a:ext cx="470" cy="469586"/>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Tree>
    <p:extLst>
      <p:ext uri="{BB962C8B-B14F-4D97-AF65-F5344CB8AC3E}">
        <p14:creationId xmlns:p14="http://schemas.microsoft.com/office/powerpoint/2010/main" val="3168775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12</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a:t>Datapath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a:t>Giai đoạn tìm nạp lệnh (Instruction Fetch)</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a:t>2</a:t>
            </a:r>
            <a:r>
              <a:rPr lang="en-US"/>
              <a:t>.1</a:t>
            </a:r>
            <a:endParaRPr lang="en-VN" dirty="0"/>
          </a:p>
        </p:txBody>
      </p:sp>
    </p:spTree>
    <p:extLst>
      <p:ext uri="{BB962C8B-B14F-4D97-AF65-F5344CB8AC3E}">
        <p14:creationId xmlns:p14="http://schemas.microsoft.com/office/powerpoint/2010/main" val="1921835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Giai đoạn tìm nạp lệnh (Instruction Fetch)</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7" name="Content Placeholder 6">
            <a:extLst>
              <a:ext uri="{FF2B5EF4-FFF2-40B4-BE49-F238E27FC236}">
                <a16:creationId xmlns:a16="http://schemas.microsoft.com/office/drawing/2014/main" id="{E0D2F02D-C586-1C12-E656-D505359F0305}"/>
              </a:ext>
            </a:extLst>
          </p:cNvPr>
          <p:cNvSpPr>
            <a:spLocks noGrp="1"/>
          </p:cNvSpPr>
          <p:nvPr>
            <p:ph idx="1"/>
          </p:nvPr>
        </p:nvSpPr>
        <p:spPr/>
        <p:txBody>
          <a:bodyPr>
            <a:normAutofit fontScale="85000" lnSpcReduction="10000"/>
          </a:bodyPr>
          <a:lstStyle/>
          <a:p>
            <a:pPr>
              <a:lnSpc>
                <a:spcPct val="200000"/>
              </a:lnSpc>
            </a:pPr>
            <a:r>
              <a:rPr lang="vi-VN"/>
              <a:t>Giai đoạn nạp lệnh:</a:t>
            </a:r>
          </a:p>
          <a:p>
            <a:pPr lvl="1">
              <a:lnSpc>
                <a:spcPct val="200000"/>
              </a:lnSpc>
            </a:pPr>
            <a:r>
              <a:rPr lang="vi-VN"/>
              <a:t>Sử dụng thanh ghi Program Counter (PC) để tìm nạp lệnh từ bộ nhớ</a:t>
            </a:r>
          </a:p>
          <a:p>
            <a:pPr lvl="2">
              <a:lnSpc>
                <a:spcPct val="200000"/>
              </a:lnSpc>
            </a:pPr>
            <a:r>
              <a:rPr lang="vi-VN"/>
              <a:t>Thanh ghi PC là một thanh ghi đặc biệt trong bộ vi xử lý</a:t>
            </a:r>
          </a:p>
          <a:p>
            <a:pPr lvl="1">
              <a:lnSpc>
                <a:spcPct val="200000"/>
              </a:lnSpc>
            </a:pPr>
            <a:r>
              <a:rPr lang="vi-VN"/>
              <a:t>Tăng giá trị trong thanh ghi PC lên 4 đơn vị để lấy địa chỉ của lệnh tiếp theo</a:t>
            </a:r>
          </a:p>
          <a:p>
            <a:pPr lvl="2">
              <a:lnSpc>
                <a:spcPct val="200000"/>
              </a:lnSpc>
            </a:pPr>
            <a:r>
              <a:rPr lang="vi-VN"/>
              <a:t>Chú ý, lệnh rẽ nhánh (branch) và lệnh nhảy (jump) là một trường hợp ngoại lệ</a:t>
            </a:r>
          </a:p>
          <a:p>
            <a:pPr>
              <a:lnSpc>
                <a:spcPct val="200000"/>
              </a:lnSpc>
            </a:pPr>
            <a:r>
              <a:rPr lang="vi-VN"/>
              <a:t>Kết quả của giai đoạn này là đầu vào cho giai đoạn tiếp theo (Decode):</a:t>
            </a:r>
          </a:p>
          <a:p>
            <a:pPr lvl="1">
              <a:lnSpc>
                <a:spcPct val="200000"/>
              </a:lnSpc>
            </a:pPr>
            <a:r>
              <a:rPr lang="vi-VN"/>
              <a:t>Kết quả của giai đoạn này là 32 bit mã máy của lệnh cần thực thi. Chuỗi 32 bits này sẽ sử dụng như đầu vào (input) cho giai đoạn tiếp theo là</a:t>
            </a:r>
          </a:p>
        </p:txBody>
      </p:sp>
    </p:spTree>
    <p:extLst>
      <p:ext uri="{BB962C8B-B14F-4D97-AF65-F5344CB8AC3E}">
        <p14:creationId xmlns:p14="http://schemas.microsoft.com/office/powerpoint/2010/main" val="1021226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Giai đoạn tìm nạp lệnh (tt)</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14</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grpSp>
        <p:nvGrpSpPr>
          <p:cNvPr id="3" name="Group 1">
            <a:extLst>
              <a:ext uri="{FF2B5EF4-FFF2-40B4-BE49-F238E27FC236}">
                <a16:creationId xmlns:a16="http://schemas.microsoft.com/office/drawing/2014/main" id="{61615002-0007-9169-9EC9-F9AD2953DA9D}"/>
              </a:ext>
            </a:extLst>
          </p:cNvPr>
          <p:cNvGrpSpPr/>
          <p:nvPr/>
        </p:nvGrpSpPr>
        <p:grpSpPr>
          <a:xfrm>
            <a:off x="2835060" y="1732740"/>
            <a:ext cx="5963400" cy="2177640"/>
            <a:chOff x="2183400" y="1196640"/>
            <a:chExt cx="5963400" cy="2177640"/>
          </a:xfrm>
        </p:grpSpPr>
        <p:sp>
          <p:nvSpPr>
            <p:cNvPr id="6" name="CustomShape 2">
              <a:extLst>
                <a:ext uri="{FF2B5EF4-FFF2-40B4-BE49-F238E27FC236}">
                  <a16:creationId xmlns:a16="http://schemas.microsoft.com/office/drawing/2014/main" id="{2328DF4E-5D7A-3CA8-1DF5-9764BFFD0FC7}"/>
                </a:ext>
              </a:extLst>
            </p:cNvPr>
            <p:cNvSpPr/>
            <p:nvPr/>
          </p:nvSpPr>
          <p:spPr>
            <a:xfrm>
              <a:off x="3287880" y="2137680"/>
              <a:ext cx="1617840" cy="119952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7" name="CustomShape 3">
              <a:extLst>
                <a:ext uri="{FF2B5EF4-FFF2-40B4-BE49-F238E27FC236}">
                  <a16:creationId xmlns:a16="http://schemas.microsoft.com/office/drawing/2014/main" id="{3C9202CB-9AEE-B831-9272-918502BF422E}"/>
                </a:ext>
              </a:extLst>
            </p:cNvPr>
            <p:cNvSpPr/>
            <p:nvPr/>
          </p:nvSpPr>
          <p:spPr>
            <a:xfrm>
              <a:off x="2459520" y="1911960"/>
              <a:ext cx="394200" cy="72000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4" name="Line 4">
              <a:extLst>
                <a:ext uri="{FF2B5EF4-FFF2-40B4-BE49-F238E27FC236}">
                  <a16:creationId xmlns:a16="http://schemas.microsoft.com/office/drawing/2014/main" id="{63147E18-9393-A21C-E62F-9B4AC790FCA0}"/>
                </a:ext>
              </a:extLst>
            </p:cNvPr>
            <p:cNvSpPr/>
            <p:nvPr/>
          </p:nvSpPr>
          <p:spPr>
            <a:xfrm>
              <a:off x="2853720" y="2287440"/>
              <a:ext cx="433800" cy="360"/>
            </a:xfrm>
            <a:prstGeom prst="line">
              <a:avLst/>
            </a:prstGeom>
            <a:ln w="381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5" name="Line 5">
              <a:extLst>
                <a:ext uri="{FF2B5EF4-FFF2-40B4-BE49-F238E27FC236}">
                  <a16:creationId xmlns:a16="http://schemas.microsoft.com/office/drawing/2014/main" id="{463052D5-2C94-E263-30DE-0F26CB69E3EB}"/>
                </a:ext>
              </a:extLst>
            </p:cNvPr>
            <p:cNvSpPr/>
            <p:nvPr/>
          </p:nvSpPr>
          <p:spPr>
            <a:xfrm flipV="1">
              <a:off x="3010680" y="1568520"/>
              <a:ext cx="360" cy="718920"/>
            </a:xfrm>
            <a:prstGeom prst="line">
              <a:avLst/>
            </a:prstGeom>
            <a:ln w="381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6" name="Line 6">
              <a:extLst>
                <a:ext uri="{FF2B5EF4-FFF2-40B4-BE49-F238E27FC236}">
                  <a16:creationId xmlns:a16="http://schemas.microsoft.com/office/drawing/2014/main" id="{A746C484-A563-C4E9-9AF6-296F73DB8612}"/>
                </a:ext>
              </a:extLst>
            </p:cNvPr>
            <p:cNvSpPr/>
            <p:nvPr/>
          </p:nvSpPr>
          <p:spPr>
            <a:xfrm>
              <a:off x="3010680" y="1568520"/>
              <a:ext cx="2485440" cy="360"/>
            </a:xfrm>
            <a:prstGeom prst="line">
              <a:avLst/>
            </a:prstGeom>
            <a:ln w="381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7" name="Line 7">
              <a:extLst>
                <a:ext uri="{FF2B5EF4-FFF2-40B4-BE49-F238E27FC236}">
                  <a16:creationId xmlns:a16="http://schemas.microsoft.com/office/drawing/2014/main" id="{4436E540-C8D8-FCBF-E698-28B0A6E36A90}"/>
                </a:ext>
              </a:extLst>
            </p:cNvPr>
            <p:cNvSpPr/>
            <p:nvPr/>
          </p:nvSpPr>
          <p:spPr>
            <a:xfrm>
              <a:off x="5496120" y="1357920"/>
              <a:ext cx="848520" cy="2430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8" name="Line 8">
              <a:extLst>
                <a:ext uri="{FF2B5EF4-FFF2-40B4-BE49-F238E27FC236}">
                  <a16:creationId xmlns:a16="http://schemas.microsoft.com/office/drawing/2014/main" id="{011E50EF-2E48-49B3-B84E-83C5D9214B08}"/>
                </a:ext>
              </a:extLst>
            </p:cNvPr>
            <p:cNvSpPr/>
            <p:nvPr/>
          </p:nvSpPr>
          <p:spPr>
            <a:xfrm>
              <a:off x="6344640" y="1600920"/>
              <a:ext cx="1440" cy="4212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9" name="Line 9">
              <a:extLst>
                <a:ext uri="{FF2B5EF4-FFF2-40B4-BE49-F238E27FC236}">
                  <a16:creationId xmlns:a16="http://schemas.microsoft.com/office/drawing/2014/main" id="{CAAC0AD2-77D1-28FD-460C-60C0C12A591E}"/>
                </a:ext>
              </a:extLst>
            </p:cNvPr>
            <p:cNvSpPr/>
            <p:nvPr/>
          </p:nvSpPr>
          <p:spPr>
            <a:xfrm flipH="1">
              <a:off x="5496120" y="2022120"/>
              <a:ext cx="848520" cy="26532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0" name="Line 10">
              <a:extLst>
                <a:ext uri="{FF2B5EF4-FFF2-40B4-BE49-F238E27FC236}">
                  <a16:creationId xmlns:a16="http://schemas.microsoft.com/office/drawing/2014/main" id="{14BFF76A-FA5E-EE0A-BE05-ECFFE1D9E77F}"/>
                </a:ext>
              </a:extLst>
            </p:cNvPr>
            <p:cNvSpPr/>
            <p:nvPr/>
          </p:nvSpPr>
          <p:spPr>
            <a:xfrm flipV="1">
              <a:off x="5496120" y="1911960"/>
              <a:ext cx="1440" cy="3754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1" name="Line 11">
              <a:extLst>
                <a:ext uri="{FF2B5EF4-FFF2-40B4-BE49-F238E27FC236}">
                  <a16:creationId xmlns:a16="http://schemas.microsoft.com/office/drawing/2014/main" id="{929A984A-DF44-834A-96F6-CA72E1CED616}"/>
                </a:ext>
              </a:extLst>
            </p:cNvPr>
            <p:cNvSpPr/>
            <p:nvPr/>
          </p:nvSpPr>
          <p:spPr>
            <a:xfrm flipV="1">
              <a:off x="5496120" y="1800360"/>
              <a:ext cx="112680" cy="1116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2" name="Line 12">
              <a:extLst>
                <a:ext uri="{FF2B5EF4-FFF2-40B4-BE49-F238E27FC236}">
                  <a16:creationId xmlns:a16="http://schemas.microsoft.com/office/drawing/2014/main" id="{3F002EC6-D6DE-39FC-164D-C5B11049324E}"/>
                </a:ext>
              </a:extLst>
            </p:cNvPr>
            <p:cNvSpPr/>
            <p:nvPr/>
          </p:nvSpPr>
          <p:spPr>
            <a:xfrm>
              <a:off x="5496120" y="1667880"/>
              <a:ext cx="112680" cy="1324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3" name="Line 13">
              <a:extLst>
                <a:ext uri="{FF2B5EF4-FFF2-40B4-BE49-F238E27FC236}">
                  <a16:creationId xmlns:a16="http://schemas.microsoft.com/office/drawing/2014/main" id="{FEACF7E0-68BB-69DF-0016-3515C82DF585}"/>
                </a:ext>
              </a:extLst>
            </p:cNvPr>
            <p:cNvSpPr/>
            <p:nvPr/>
          </p:nvSpPr>
          <p:spPr>
            <a:xfrm flipV="1">
              <a:off x="5496120" y="1357920"/>
              <a:ext cx="1440" cy="309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4" name="CustomShape 14">
              <a:extLst>
                <a:ext uri="{FF2B5EF4-FFF2-40B4-BE49-F238E27FC236}">
                  <a16:creationId xmlns:a16="http://schemas.microsoft.com/office/drawing/2014/main" id="{72848EFB-B765-491D-9611-8227A7D9F7C5}"/>
                </a:ext>
              </a:extLst>
            </p:cNvPr>
            <p:cNvSpPr/>
            <p:nvPr/>
          </p:nvSpPr>
          <p:spPr>
            <a:xfrm>
              <a:off x="5555160" y="1712520"/>
              <a:ext cx="651960" cy="2721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200" b="1" strike="noStrike" spc="-1">
                  <a:solidFill>
                    <a:srgbClr val="000000"/>
                  </a:solidFill>
                  <a:latin typeface="Verdana"/>
                  <a:ea typeface="ＭＳ Ｐゴシック"/>
                </a:rPr>
                <a:t>Add</a:t>
              </a:r>
              <a:endParaRPr lang="en-US" sz="1200" b="0" strike="noStrike" spc="-1">
                <a:latin typeface="Arial"/>
              </a:endParaRPr>
            </a:p>
          </p:txBody>
        </p:sp>
        <p:sp>
          <p:nvSpPr>
            <p:cNvPr id="25" name="Line 15">
              <a:extLst>
                <a:ext uri="{FF2B5EF4-FFF2-40B4-BE49-F238E27FC236}">
                  <a16:creationId xmlns:a16="http://schemas.microsoft.com/office/drawing/2014/main" id="{CE63B22D-6FC2-4CD6-7DC4-0D54969F4E6F}"/>
                </a:ext>
              </a:extLst>
            </p:cNvPr>
            <p:cNvSpPr/>
            <p:nvPr/>
          </p:nvSpPr>
          <p:spPr>
            <a:xfrm>
              <a:off x="5104800" y="2033280"/>
              <a:ext cx="392760" cy="360"/>
            </a:xfrm>
            <a:prstGeom prst="line">
              <a:avLst/>
            </a:prstGeom>
            <a:ln w="381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6" name="Line 16">
              <a:extLst>
                <a:ext uri="{FF2B5EF4-FFF2-40B4-BE49-F238E27FC236}">
                  <a16:creationId xmlns:a16="http://schemas.microsoft.com/office/drawing/2014/main" id="{6E28F3BF-D1BF-17AF-6C8E-46380187E82A}"/>
                </a:ext>
              </a:extLst>
            </p:cNvPr>
            <p:cNvSpPr/>
            <p:nvPr/>
          </p:nvSpPr>
          <p:spPr>
            <a:xfrm>
              <a:off x="6346080" y="1800360"/>
              <a:ext cx="373320" cy="0"/>
            </a:xfrm>
            <a:prstGeom prst="line">
              <a:avLst/>
            </a:prstGeom>
            <a:ln w="381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7" name="Line 17">
              <a:extLst>
                <a:ext uri="{FF2B5EF4-FFF2-40B4-BE49-F238E27FC236}">
                  <a16:creationId xmlns:a16="http://schemas.microsoft.com/office/drawing/2014/main" id="{8E1F16ED-435A-100E-E993-431B637E7E3B}"/>
                </a:ext>
              </a:extLst>
            </p:cNvPr>
            <p:cNvSpPr/>
            <p:nvPr/>
          </p:nvSpPr>
          <p:spPr>
            <a:xfrm flipV="1">
              <a:off x="6719400" y="1196640"/>
              <a:ext cx="720" cy="603720"/>
            </a:xfrm>
            <a:prstGeom prst="line">
              <a:avLst/>
            </a:prstGeom>
            <a:ln w="381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8" name="Line 18">
              <a:extLst>
                <a:ext uri="{FF2B5EF4-FFF2-40B4-BE49-F238E27FC236}">
                  <a16:creationId xmlns:a16="http://schemas.microsoft.com/office/drawing/2014/main" id="{30DC3E1A-3877-056B-91D0-66AE6A6C75CE}"/>
                </a:ext>
              </a:extLst>
            </p:cNvPr>
            <p:cNvSpPr/>
            <p:nvPr/>
          </p:nvSpPr>
          <p:spPr>
            <a:xfrm flipH="1">
              <a:off x="2183400" y="1196640"/>
              <a:ext cx="4536000" cy="360"/>
            </a:xfrm>
            <a:prstGeom prst="line">
              <a:avLst/>
            </a:prstGeom>
            <a:ln w="381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9" name="Line 19">
              <a:extLst>
                <a:ext uri="{FF2B5EF4-FFF2-40B4-BE49-F238E27FC236}">
                  <a16:creationId xmlns:a16="http://schemas.microsoft.com/office/drawing/2014/main" id="{9345B3CC-1D10-95BC-5B99-EA7E1F5A3145}"/>
                </a:ext>
              </a:extLst>
            </p:cNvPr>
            <p:cNvSpPr/>
            <p:nvPr/>
          </p:nvSpPr>
          <p:spPr>
            <a:xfrm>
              <a:off x="2183400" y="1196640"/>
              <a:ext cx="720" cy="1090800"/>
            </a:xfrm>
            <a:prstGeom prst="line">
              <a:avLst/>
            </a:prstGeom>
            <a:ln w="381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0" name="Line 20">
              <a:extLst>
                <a:ext uri="{FF2B5EF4-FFF2-40B4-BE49-F238E27FC236}">
                  <a16:creationId xmlns:a16="http://schemas.microsoft.com/office/drawing/2014/main" id="{3D356ACB-E6C3-F387-4A3D-ADB8F35DABBD}"/>
                </a:ext>
              </a:extLst>
            </p:cNvPr>
            <p:cNvSpPr/>
            <p:nvPr/>
          </p:nvSpPr>
          <p:spPr>
            <a:xfrm>
              <a:off x="2183400" y="2287440"/>
              <a:ext cx="275400" cy="360"/>
            </a:xfrm>
            <a:prstGeom prst="line">
              <a:avLst/>
            </a:prstGeom>
            <a:ln w="381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1" name="CustomShape 21">
              <a:extLst>
                <a:ext uri="{FF2B5EF4-FFF2-40B4-BE49-F238E27FC236}">
                  <a16:creationId xmlns:a16="http://schemas.microsoft.com/office/drawing/2014/main" id="{9CAEEAC7-9CE3-4B54-FB15-8D79CB9982EA}"/>
                </a:ext>
              </a:extLst>
            </p:cNvPr>
            <p:cNvSpPr/>
            <p:nvPr/>
          </p:nvSpPr>
          <p:spPr>
            <a:xfrm>
              <a:off x="2443680" y="2179800"/>
              <a:ext cx="403560" cy="272160"/>
            </a:xfrm>
            <a:prstGeom prst="rect">
              <a:avLst/>
            </a:prstGeom>
            <a:noFill/>
            <a:ln w="381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strike="noStrike" spc="-1">
                  <a:solidFill>
                    <a:srgbClr val="000000"/>
                  </a:solidFill>
                  <a:latin typeface="Verdana"/>
                  <a:ea typeface="ＭＳ Ｐゴシック"/>
                </a:rPr>
                <a:t>PC</a:t>
              </a:r>
              <a:endParaRPr lang="en-US" sz="1200" b="0" strike="noStrike" spc="-1">
                <a:latin typeface="Arial"/>
              </a:endParaRPr>
            </a:p>
          </p:txBody>
        </p:sp>
        <p:sp>
          <p:nvSpPr>
            <p:cNvPr id="32" name="CustomShape 22">
              <a:extLst>
                <a:ext uri="{FF2B5EF4-FFF2-40B4-BE49-F238E27FC236}">
                  <a16:creationId xmlns:a16="http://schemas.microsoft.com/office/drawing/2014/main" id="{A50D811B-7BA9-EE84-0CA7-C216A6C20DC1}"/>
                </a:ext>
              </a:extLst>
            </p:cNvPr>
            <p:cNvSpPr/>
            <p:nvPr/>
          </p:nvSpPr>
          <p:spPr>
            <a:xfrm>
              <a:off x="4803120" y="1911960"/>
              <a:ext cx="299520" cy="272160"/>
            </a:xfrm>
            <a:prstGeom prst="rect">
              <a:avLst/>
            </a:prstGeom>
            <a:noFill/>
            <a:ln w="381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200" b="1" strike="noStrike" spc="-1">
                  <a:solidFill>
                    <a:srgbClr val="000000"/>
                  </a:solidFill>
                  <a:latin typeface="Verdana"/>
                  <a:ea typeface="ＭＳ Ｐゴシック"/>
                </a:rPr>
                <a:t>4</a:t>
              </a:r>
              <a:endParaRPr lang="en-US" sz="1200" b="0" strike="noStrike" spc="-1">
                <a:latin typeface="Arial"/>
              </a:endParaRPr>
            </a:p>
          </p:txBody>
        </p:sp>
        <p:sp>
          <p:nvSpPr>
            <p:cNvPr id="33" name="Line 23">
              <a:extLst>
                <a:ext uri="{FF2B5EF4-FFF2-40B4-BE49-F238E27FC236}">
                  <a16:creationId xmlns:a16="http://schemas.microsoft.com/office/drawing/2014/main" id="{409DAA90-DA45-ADBB-D109-10EF089283D9}"/>
                </a:ext>
              </a:extLst>
            </p:cNvPr>
            <p:cNvSpPr/>
            <p:nvPr/>
          </p:nvSpPr>
          <p:spPr>
            <a:xfrm>
              <a:off x="4871520" y="2772360"/>
              <a:ext cx="3275280" cy="360"/>
            </a:xfrm>
            <a:prstGeom prst="line">
              <a:avLst/>
            </a:prstGeom>
            <a:ln w="381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4" name="CustomShape 24">
              <a:extLst>
                <a:ext uri="{FF2B5EF4-FFF2-40B4-BE49-F238E27FC236}">
                  <a16:creationId xmlns:a16="http://schemas.microsoft.com/office/drawing/2014/main" id="{3F2C483A-C403-8C07-98F0-558CE068986D}"/>
                </a:ext>
              </a:extLst>
            </p:cNvPr>
            <p:cNvSpPr/>
            <p:nvPr/>
          </p:nvSpPr>
          <p:spPr>
            <a:xfrm>
              <a:off x="3297600" y="2199600"/>
              <a:ext cx="743400" cy="394200"/>
            </a:xfrm>
            <a:prstGeom prst="rect">
              <a:avLst/>
            </a:prstGeom>
            <a:noFill/>
            <a:ln w="381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address</a:t>
              </a:r>
              <a:endParaRPr lang="en-US" sz="1000" b="0" strike="noStrike" spc="-1">
                <a:latin typeface="Arial"/>
              </a:endParaRPr>
            </a:p>
          </p:txBody>
        </p:sp>
        <p:sp>
          <p:nvSpPr>
            <p:cNvPr id="35" name="CustomShape 25">
              <a:extLst>
                <a:ext uri="{FF2B5EF4-FFF2-40B4-BE49-F238E27FC236}">
                  <a16:creationId xmlns:a16="http://schemas.microsoft.com/office/drawing/2014/main" id="{7D4F583F-342F-070C-8C68-93B512ADECB9}"/>
                </a:ext>
              </a:extLst>
            </p:cNvPr>
            <p:cNvSpPr/>
            <p:nvPr/>
          </p:nvSpPr>
          <p:spPr>
            <a:xfrm>
              <a:off x="3836880" y="2667960"/>
              <a:ext cx="961200" cy="241920"/>
            </a:xfrm>
            <a:prstGeom prst="rect">
              <a:avLst/>
            </a:prstGeom>
            <a:noFill/>
            <a:ln w="381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Instruction</a:t>
              </a:r>
              <a:endParaRPr lang="en-US" sz="1000" b="0" strike="noStrike" spc="-1">
                <a:latin typeface="Arial"/>
              </a:endParaRPr>
            </a:p>
          </p:txBody>
        </p:sp>
        <p:sp>
          <p:nvSpPr>
            <p:cNvPr id="36" name="CustomShape 26">
              <a:extLst>
                <a:ext uri="{FF2B5EF4-FFF2-40B4-BE49-F238E27FC236}">
                  <a16:creationId xmlns:a16="http://schemas.microsoft.com/office/drawing/2014/main" id="{CB7C789F-CC3F-8ACB-44F5-80BF18F1BED6}"/>
                </a:ext>
              </a:extLst>
            </p:cNvPr>
            <p:cNvSpPr/>
            <p:nvPr/>
          </p:nvSpPr>
          <p:spPr>
            <a:xfrm>
              <a:off x="3536100" y="2919600"/>
              <a:ext cx="1121400" cy="454680"/>
            </a:xfrm>
            <a:prstGeom prst="rect">
              <a:avLst/>
            </a:prstGeom>
            <a:noFill/>
            <a:ln w="381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Instruction</a:t>
              </a:r>
              <a:endParaRPr lang="en-US" sz="1200" b="0" strike="noStrike" spc="-1">
                <a:latin typeface="Arial"/>
              </a:endParaRPr>
            </a:p>
            <a:p>
              <a:pPr algn="ctr">
                <a:lnSpc>
                  <a:spcPct val="100000"/>
                </a:lnSpc>
              </a:pPr>
              <a:r>
                <a:rPr lang="en-US" sz="1200" b="1" i="1" strike="noStrike" spc="-1">
                  <a:solidFill>
                    <a:srgbClr val="000000"/>
                  </a:solidFill>
                  <a:latin typeface="Verdana"/>
                  <a:ea typeface="ＭＳ Ｐゴシック"/>
                </a:rPr>
                <a:t>memory</a:t>
              </a:r>
              <a:endParaRPr lang="en-US" sz="1200" b="0" strike="noStrike" spc="-1">
                <a:latin typeface="Arial"/>
              </a:endParaRPr>
            </a:p>
          </p:txBody>
        </p:sp>
        <p:sp>
          <p:nvSpPr>
            <p:cNvPr id="37" name="CustomShape 27">
              <a:extLst>
                <a:ext uri="{FF2B5EF4-FFF2-40B4-BE49-F238E27FC236}">
                  <a16:creationId xmlns:a16="http://schemas.microsoft.com/office/drawing/2014/main" id="{97EE0E6B-F940-41A5-09DE-A905582AA9FF}"/>
                </a:ext>
              </a:extLst>
            </p:cNvPr>
            <p:cNvSpPr/>
            <p:nvPr/>
          </p:nvSpPr>
          <p:spPr>
            <a:xfrm>
              <a:off x="2940480" y="2225520"/>
              <a:ext cx="139680" cy="123480"/>
            </a:xfrm>
            <a:prstGeom prst="ellipse">
              <a:avLst/>
            </a:prstGeom>
            <a:solidFill>
              <a:schemeClr val="tx1"/>
            </a:solidFill>
            <a:ln w="38160">
              <a:noFill/>
            </a:ln>
          </p:spPr>
          <p:style>
            <a:lnRef idx="0">
              <a:scrgbClr r="0" g="0" b="0"/>
            </a:lnRef>
            <a:fillRef idx="0">
              <a:scrgbClr r="0" g="0" b="0"/>
            </a:fillRef>
            <a:effectRef idx="0">
              <a:scrgbClr r="0" g="0" b="0"/>
            </a:effectRef>
            <a:fontRef idx="minor"/>
          </p:style>
          <p:txBody>
            <a:bodyPr/>
            <a:lstStyle/>
            <a:p>
              <a:endParaRPr lang="vi-VN"/>
            </a:p>
          </p:txBody>
        </p:sp>
      </p:grpSp>
      <p:sp>
        <p:nvSpPr>
          <p:cNvPr id="38" name="CustomShape 28">
            <a:extLst>
              <a:ext uri="{FF2B5EF4-FFF2-40B4-BE49-F238E27FC236}">
                <a16:creationId xmlns:a16="http://schemas.microsoft.com/office/drawing/2014/main" id="{B3BAED3A-3635-AD59-CC19-199E243B4BDD}"/>
              </a:ext>
            </a:extLst>
          </p:cNvPr>
          <p:cNvSpPr/>
          <p:nvPr/>
        </p:nvSpPr>
        <p:spPr>
          <a:xfrm>
            <a:off x="903660" y="3937740"/>
            <a:ext cx="1511640" cy="692640"/>
          </a:xfrm>
          <a:prstGeom prst="accentCallout2">
            <a:avLst>
              <a:gd name="adj1" fmla="val 39333"/>
              <a:gd name="adj2" fmla="val 109906"/>
              <a:gd name="adj3" fmla="val 13604"/>
              <a:gd name="adj4" fmla="val 141824"/>
              <a:gd name="adj5" fmla="val -119061"/>
              <a:gd name="adj6" fmla="val 157106"/>
            </a:avLst>
          </a:prstGeom>
          <a:solidFill>
            <a:schemeClr val="accent6">
              <a:lumMod val="20000"/>
              <a:lumOff val="80000"/>
            </a:schemeClr>
          </a:solidFill>
          <a:ln w="19080">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Thanh ghi PC</a:t>
            </a:r>
            <a:endParaRPr lang="en-US" sz="1800" b="0" strike="noStrike" spc="-1">
              <a:latin typeface="Arial"/>
            </a:endParaRPr>
          </a:p>
        </p:txBody>
      </p:sp>
      <p:sp>
        <p:nvSpPr>
          <p:cNvPr id="39" name="CustomShape 29">
            <a:extLst>
              <a:ext uri="{FF2B5EF4-FFF2-40B4-BE49-F238E27FC236}">
                <a16:creationId xmlns:a16="http://schemas.microsoft.com/office/drawing/2014/main" id="{E1DD935B-8F3E-4FCE-A9D9-05936E271578}"/>
              </a:ext>
            </a:extLst>
          </p:cNvPr>
          <p:cNvSpPr/>
          <p:nvPr/>
        </p:nvSpPr>
        <p:spPr>
          <a:xfrm>
            <a:off x="5103060" y="4693740"/>
            <a:ext cx="2183760" cy="692640"/>
          </a:xfrm>
          <a:prstGeom prst="accentCallout2">
            <a:avLst>
              <a:gd name="adj1" fmla="val 39333"/>
              <a:gd name="adj2" fmla="val -8333"/>
              <a:gd name="adj3" fmla="val 19779"/>
              <a:gd name="adj4" fmla="val -24939"/>
              <a:gd name="adj5" fmla="val -109798"/>
              <a:gd name="adj6" fmla="val -32444"/>
            </a:avLst>
          </a:prstGeom>
          <a:solidFill>
            <a:schemeClr val="accent6">
              <a:lumMod val="20000"/>
              <a:lumOff val="80000"/>
            </a:schemeClr>
          </a:solidFill>
          <a:ln w="19080">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Vùng nhớ lưu trữ lệnh</a:t>
            </a:r>
            <a:endParaRPr lang="en-US" sz="1800" b="0" strike="noStrike" spc="-1">
              <a:latin typeface="Arial"/>
            </a:endParaRPr>
          </a:p>
        </p:txBody>
      </p:sp>
      <p:sp>
        <p:nvSpPr>
          <p:cNvPr id="40" name="CustomShape 30">
            <a:extLst>
              <a:ext uri="{FF2B5EF4-FFF2-40B4-BE49-F238E27FC236}">
                <a16:creationId xmlns:a16="http://schemas.microsoft.com/office/drawing/2014/main" id="{A830E880-9367-F0A0-09A7-99761BC1F320}"/>
              </a:ext>
            </a:extLst>
          </p:cNvPr>
          <p:cNvSpPr/>
          <p:nvPr/>
        </p:nvSpPr>
        <p:spPr>
          <a:xfrm>
            <a:off x="8379420" y="1480740"/>
            <a:ext cx="1511280" cy="692640"/>
          </a:xfrm>
          <a:prstGeom prst="accentCallout2">
            <a:avLst>
              <a:gd name="adj1" fmla="val 48595"/>
              <a:gd name="adj2" fmla="val -10849"/>
              <a:gd name="adj3" fmla="val 55799"/>
              <a:gd name="adj4" fmla="val -37421"/>
              <a:gd name="adj5" fmla="val 115588"/>
              <a:gd name="adj6" fmla="val -103272"/>
            </a:avLst>
          </a:prstGeom>
          <a:solidFill>
            <a:schemeClr val="accent6">
              <a:lumMod val="20000"/>
              <a:lumOff val="80000"/>
            </a:schemeClr>
          </a:solidFill>
          <a:ln w="19080">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Bộ cộng</a:t>
            </a:r>
            <a:endParaRPr lang="en-US" sz="1800" b="0" strike="noStrike" spc="-1">
              <a:latin typeface="Arial"/>
            </a:endParaRPr>
          </a:p>
        </p:txBody>
      </p:sp>
      <p:sp>
        <p:nvSpPr>
          <p:cNvPr id="41" name="CustomShape 31">
            <a:extLst>
              <a:ext uri="{FF2B5EF4-FFF2-40B4-BE49-F238E27FC236}">
                <a16:creationId xmlns:a16="http://schemas.microsoft.com/office/drawing/2014/main" id="{A898100E-C910-7DC6-6D03-894DBC6208FC}"/>
              </a:ext>
            </a:extLst>
          </p:cNvPr>
          <p:cNvSpPr/>
          <p:nvPr/>
        </p:nvSpPr>
        <p:spPr>
          <a:xfrm rot="10800000">
            <a:off x="8799537" y="2885100"/>
            <a:ext cx="1363759" cy="802746"/>
          </a:xfrm>
          <a:prstGeom prst="rect">
            <a:avLst/>
          </a:prstGeom>
          <a:solidFill>
            <a:schemeClr val="accent5">
              <a:lumMod val="20000"/>
              <a:lumOff val="80000"/>
            </a:schemeClr>
          </a:solidFill>
          <a:ln w="19080">
            <a:solidFill>
              <a:schemeClr val="accent5">
                <a:lumMod val="50000"/>
              </a:schemeClr>
            </a:solidFill>
            <a:round/>
          </a:ln>
        </p:spPr>
        <p:style>
          <a:lnRef idx="2">
            <a:schemeClr val="accent1">
              <a:shade val="50000"/>
            </a:schemeClr>
          </a:lnRef>
          <a:fillRef idx="1">
            <a:schemeClr val="accent1"/>
          </a:fillRef>
          <a:effectRef idx="0">
            <a:schemeClr val="accent1"/>
          </a:effectRef>
          <a:fontRef idx="minor"/>
        </p:style>
        <p:txBody>
          <a:bodyPr rot="5400000" vert="vert" lIns="90000" tIns="45000" rIns="90000" bIns="45000" anchor="ctr"/>
          <a:lstStyle/>
          <a:p>
            <a:pPr algn="ctr">
              <a:lnSpc>
                <a:spcPct val="100000"/>
              </a:lnSpc>
            </a:pPr>
            <a:r>
              <a:rPr lang="en-US" sz="1800" b="1" strike="noStrike" spc="-1">
                <a:solidFill>
                  <a:srgbClr val="006600"/>
                </a:solidFill>
                <a:latin typeface="Times New Roman"/>
                <a:ea typeface="ＭＳ Ｐゴシック"/>
              </a:rPr>
              <a:t>Decode Stage</a:t>
            </a:r>
            <a:endParaRPr lang="en-US" sz="1800" b="0" strike="noStrike" spc="-1">
              <a:latin typeface="Arial"/>
            </a:endParaRPr>
          </a:p>
        </p:txBody>
      </p:sp>
      <p:sp>
        <p:nvSpPr>
          <p:cNvPr id="42" name="CustomShape 32">
            <a:extLst>
              <a:ext uri="{FF2B5EF4-FFF2-40B4-BE49-F238E27FC236}">
                <a16:creationId xmlns:a16="http://schemas.microsoft.com/office/drawing/2014/main" id="{9E2FD975-DEF0-C503-6CEF-603A7B115F41}"/>
              </a:ext>
            </a:extLst>
          </p:cNvPr>
          <p:cNvSpPr/>
          <p:nvPr/>
        </p:nvSpPr>
        <p:spPr>
          <a:xfrm>
            <a:off x="6867420" y="3056100"/>
            <a:ext cx="1681200" cy="333000"/>
          </a:xfrm>
          <a:prstGeom prst="rect">
            <a:avLst/>
          </a:prstGeom>
          <a:noFill/>
          <a:ln w="381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600" b="1" strike="noStrike" spc="-1">
                <a:solidFill>
                  <a:srgbClr val="000000"/>
                </a:solidFill>
                <a:latin typeface="Verdana"/>
                <a:ea typeface="ＭＳ Ｐゴシック"/>
              </a:rPr>
              <a:t>Instruction</a:t>
            </a:r>
            <a:endParaRPr lang="en-US" sz="1600" b="0" strike="noStrike" spc="-1">
              <a:latin typeface="Arial"/>
            </a:endParaRPr>
          </a:p>
        </p:txBody>
      </p:sp>
    </p:spTree>
    <p:extLst>
      <p:ext uri="{BB962C8B-B14F-4D97-AF65-F5344CB8AC3E}">
        <p14:creationId xmlns:p14="http://schemas.microsoft.com/office/powerpoint/2010/main" val="236541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additive="repl">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Khối Instruction Memory</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Content Placeholder 5">
            <a:extLst>
              <a:ext uri="{FF2B5EF4-FFF2-40B4-BE49-F238E27FC236}">
                <a16:creationId xmlns:a16="http://schemas.microsoft.com/office/drawing/2014/main" id="{0B4F2B83-D5E3-F3AB-3102-BC7580F97B74}"/>
              </a:ext>
            </a:extLst>
          </p:cNvPr>
          <p:cNvSpPr>
            <a:spLocks noGrp="1"/>
          </p:cNvSpPr>
          <p:nvPr>
            <p:ph idx="1"/>
          </p:nvPr>
        </p:nvSpPr>
        <p:spPr>
          <a:xfrm>
            <a:off x="1142797" y="1195821"/>
            <a:ext cx="6606743" cy="5160527"/>
          </a:xfrm>
        </p:spPr>
        <p:txBody>
          <a:bodyPr/>
          <a:lstStyle/>
          <a:p>
            <a:r>
              <a:rPr lang="vi-VN"/>
              <a:t>Vùng nhớ lưu trữ lệnh </a:t>
            </a:r>
          </a:p>
          <a:p>
            <a:r>
              <a:rPr lang="vi-VN"/>
              <a:t>Đầu vào: là địa chỉ của lệnh</a:t>
            </a:r>
          </a:p>
          <a:p>
            <a:r>
              <a:rPr lang="vi-VN"/>
              <a:t>Đầu ra: là nội dung lệnh tương ứng với địa chỉ được cung cấp</a:t>
            </a:r>
          </a:p>
        </p:txBody>
      </p:sp>
      <p:sp>
        <p:nvSpPr>
          <p:cNvPr id="15" name="CustomShape 1">
            <a:extLst>
              <a:ext uri="{FF2B5EF4-FFF2-40B4-BE49-F238E27FC236}">
                <a16:creationId xmlns:a16="http://schemas.microsoft.com/office/drawing/2014/main" id="{7674A15B-9378-9689-B9DC-DB33DC259611}"/>
              </a:ext>
            </a:extLst>
          </p:cNvPr>
          <p:cNvSpPr/>
          <p:nvPr/>
        </p:nvSpPr>
        <p:spPr>
          <a:xfrm>
            <a:off x="8603820" y="4072905"/>
            <a:ext cx="2687400" cy="1386000"/>
          </a:xfrm>
          <a:prstGeom prst="rect">
            <a:avLst/>
          </a:prstGeom>
          <a:solidFill>
            <a:srgbClr val="FFFFCC"/>
          </a:solidFill>
          <a:ln w="3168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6" name="CustomShape 2">
            <a:extLst>
              <a:ext uri="{FF2B5EF4-FFF2-40B4-BE49-F238E27FC236}">
                <a16:creationId xmlns:a16="http://schemas.microsoft.com/office/drawing/2014/main" id="{558C82B2-3CB0-BEAC-3C1E-F09B3B73E3D5}"/>
              </a:ext>
            </a:extLst>
          </p:cNvPr>
          <p:cNvSpPr/>
          <p:nvPr/>
        </p:nvSpPr>
        <p:spPr>
          <a:xfrm>
            <a:off x="9359460" y="3810825"/>
            <a:ext cx="1427400" cy="464040"/>
          </a:xfrm>
          <a:prstGeom prst="rect">
            <a:avLst/>
          </a:prstGeom>
          <a:solidFill>
            <a:schemeClr val="bg1">
              <a:alpha val="75000"/>
            </a:schemeClr>
          </a:solidFill>
          <a:ln w="12600">
            <a:noFill/>
          </a:ln>
        </p:spPr>
        <p:style>
          <a:lnRef idx="0">
            <a:scrgbClr r="0" g="0" b="0"/>
          </a:lnRef>
          <a:fillRef idx="0">
            <a:scrgbClr r="0" g="0" b="0"/>
          </a:fillRef>
          <a:effectRef idx="0">
            <a:scrgbClr r="0" g="0" b="0"/>
          </a:effectRef>
          <a:fontRef idx="minor"/>
        </p:style>
        <p:txBody>
          <a:bodyPr lIns="63360" tIns="25560" rIns="63360" bIns="25560"/>
          <a:lstStyle/>
          <a:p>
            <a:pPr algn="ctr">
              <a:lnSpc>
                <a:spcPct val="85000"/>
              </a:lnSpc>
            </a:pPr>
            <a:r>
              <a:rPr lang="en-US" sz="1600" b="1" strike="noStrike" spc="-1" dirty="0">
                <a:solidFill>
                  <a:srgbClr val="000000"/>
                </a:solidFill>
                <a:latin typeface="Arial"/>
                <a:ea typeface="ＭＳ Ｐゴシック"/>
              </a:rPr>
              <a:t>Instruction Memory</a:t>
            </a:r>
            <a:endParaRPr lang="en-US" sz="1600" b="0" strike="noStrike" spc="-1" dirty="0">
              <a:latin typeface="Arial"/>
            </a:endParaRPr>
          </a:p>
        </p:txBody>
      </p:sp>
      <p:grpSp>
        <p:nvGrpSpPr>
          <p:cNvPr id="17" name="Group 6">
            <a:extLst>
              <a:ext uri="{FF2B5EF4-FFF2-40B4-BE49-F238E27FC236}">
                <a16:creationId xmlns:a16="http://schemas.microsoft.com/office/drawing/2014/main" id="{0539807E-B0EF-69EE-714F-D9EDC5F1275E}"/>
              </a:ext>
            </a:extLst>
          </p:cNvPr>
          <p:cNvGrpSpPr/>
          <p:nvPr/>
        </p:nvGrpSpPr>
        <p:grpSpPr>
          <a:xfrm>
            <a:off x="8434980" y="1435646"/>
            <a:ext cx="2856240" cy="1384920"/>
            <a:chOff x="6719760" y="1323000"/>
            <a:chExt cx="2856240" cy="1384920"/>
          </a:xfrm>
        </p:grpSpPr>
        <p:sp>
          <p:nvSpPr>
            <p:cNvPr id="18" name="CustomShape 7">
              <a:extLst>
                <a:ext uri="{FF2B5EF4-FFF2-40B4-BE49-F238E27FC236}">
                  <a16:creationId xmlns:a16="http://schemas.microsoft.com/office/drawing/2014/main" id="{E5C5F33A-5F08-689B-D650-22DD57A43FC9}"/>
                </a:ext>
              </a:extLst>
            </p:cNvPr>
            <p:cNvSpPr/>
            <p:nvPr/>
          </p:nvSpPr>
          <p:spPr>
            <a:xfrm>
              <a:off x="7392240" y="1323000"/>
              <a:ext cx="1691640" cy="1337040"/>
            </a:xfrm>
            <a:prstGeom prst="rect">
              <a:avLst/>
            </a:prstGeom>
            <a:solidFill>
              <a:schemeClr val="accent2">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9" name="Line 8">
              <a:extLst>
                <a:ext uri="{FF2B5EF4-FFF2-40B4-BE49-F238E27FC236}">
                  <a16:creationId xmlns:a16="http://schemas.microsoft.com/office/drawing/2014/main" id="{9E318AA0-829F-8671-9C05-DF041BF8A8A8}"/>
                </a:ext>
              </a:extLst>
            </p:cNvPr>
            <p:cNvSpPr/>
            <p:nvPr/>
          </p:nvSpPr>
          <p:spPr>
            <a:xfrm>
              <a:off x="9072000" y="2043000"/>
              <a:ext cx="504000" cy="360"/>
            </a:xfrm>
            <a:prstGeom prst="line">
              <a:avLst/>
            </a:prstGeom>
            <a:ln w="1584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0" name="Line 9">
              <a:extLst>
                <a:ext uri="{FF2B5EF4-FFF2-40B4-BE49-F238E27FC236}">
                  <a16:creationId xmlns:a16="http://schemas.microsoft.com/office/drawing/2014/main" id="{E47F70A9-6E63-E1FA-E723-59C555BAA76F}"/>
                </a:ext>
              </a:extLst>
            </p:cNvPr>
            <p:cNvSpPr/>
            <p:nvPr/>
          </p:nvSpPr>
          <p:spPr>
            <a:xfrm>
              <a:off x="6719760" y="1665000"/>
              <a:ext cx="672120" cy="360"/>
            </a:xfrm>
            <a:prstGeom prst="line">
              <a:avLst/>
            </a:prstGeom>
            <a:ln w="1584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1" name="CustomShape 10">
              <a:extLst>
                <a:ext uri="{FF2B5EF4-FFF2-40B4-BE49-F238E27FC236}">
                  <a16:creationId xmlns:a16="http://schemas.microsoft.com/office/drawing/2014/main" id="{E097659D-7B06-D9BC-3117-60C71D171D63}"/>
                </a:ext>
              </a:extLst>
            </p:cNvPr>
            <p:cNvSpPr/>
            <p:nvPr/>
          </p:nvSpPr>
          <p:spPr>
            <a:xfrm>
              <a:off x="7633800" y="2253240"/>
              <a:ext cx="112140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C00000"/>
                  </a:solidFill>
                  <a:latin typeface="Verdana"/>
                  <a:ea typeface="ＭＳ Ｐゴシック"/>
                </a:rPr>
                <a:t>Instruction</a:t>
              </a:r>
              <a:endParaRPr lang="en-US" sz="1200" b="0" strike="noStrike" spc="-1">
                <a:latin typeface="Arial"/>
              </a:endParaRPr>
            </a:p>
            <a:p>
              <a:pPr algn="ctr">
                <a:lnSpc>
                  <a:spcPct val="100000"/>
                </a:lnSpc>
              </a:pPr>
              <a:r>
                <a:rPr lang="en-US" sz="1200" b="1" i="1" strike="noStrike" spc="-1">
                  <a:solidFill>
                    <a:srgbClr val="C00000"/>
                  </a:solidFill>
                  <a:latin typeface="Verdana"/>
                  <a:ea typeface="ＭＳ Ｐゴシック"/>
                </a:rPr>
                <a:t>Memory</a:t>
              </a:r>
              <a:endParaRPr lang="en-US" sz="1200" b="0" strike="noStrike" spc="-1">
                <a:latin typeface="Arial"/>
              </a:endParaRPr>
            </a:p>
          </p:txBody>
        </p:sp>
        <p:sp>
          <p:nvSpPr>
            <p:cNvPr id="22" name="CustomShape 11">
              <a:extLst>
                <a:ext uri="{FF2B5EF4-FFF2-40B4-BE49-F238E27FC236}">
                  <a16:creationId xmlns:a16="http://schemas.microsoft.com/office/drawing/2014/main" id="{B5ABEFEB-5D75-32E2-4EA0-64C66D254269}"/>
                </a:ext>
              </a:extLst>
            </p:cNvPr>
            <p:cNvSpPr/>
            <p:nvPr/>
          </p:nvSpPr>
          <p:spPr>
            <a:xfrm>
              <a:off x="7368480" y="1518480"/>
              <a:ext cx="9612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dirty="0">
                  <a:solidFill>
                    <a:srgbClr val="000000"/>
                  </a:solidFill>
                  <a:latin typeface="Verdana"/>
                  <a:ea typeface="ＭＳ Ｐゴシック"/>
                </a:rPr>
                <a:t>Instruction</a:t>
              </a:r>
              <a:endParaRPr lang="en-US" sz="1000" b="0" strike="noStrike" spc="-1" dirty="0">
                <a:latin typeface="Arial"/>
              </a:endParaRPr>
            </a:p>
            <a:p>
              <a:pPr>
                <a:lnSpc>
                  <a:spcPct val="100000"/>
                </a:lnSpc>
              </a:pPr>
              <a:r>
                <a:rPr lang="en-US" sz="1000" b="1" strike="noStrike" spc="-1" dirty="0">
                  <a:solidFill>
                    <a:srgbClr val="000000"/>
                  </a:solidFill>
                  <a:latin typeface="Verdana"/>
                  <a:ea typeface="ＭＳ Ｐゴシック"/>
                </a:rPr>
                <a:t>Address</a:t>
              </a:r>
              <a:endParaRPr lang="en-US" sz="1000" b="0" strike="noStrike" spc="-1" dirty="0">
                <a:latin typeface="Arial"/>
              </a:endParaRPr>
            </a:p>
          </p:txBody>
        </p:sp>
        <p:sp>
          <p:nvSpPr>
            <p:cNvPr id="23" name="CustomShape 12">
              <a:extLst>
                <a:ext uri="{FF2B5EF4-FFF2-40B4-BE49-F238E27FC236}">
                  <a16:creationId xmlns:a16="http://schemas.microsoft.com/office/drawing/2014/main" id="{B24A5CA4-B964-D336-ACCC-39F74511EE6E}"/>
                </a:ext>
              </a:extLst>
            </p:cNvPr>
            <p:cNvSpPr/>
            <p:nvPr/>
          </p:nvSpPr>
          <p:spPr>
            <a:xfrm>
              <a:off x="8040600" y="1959480"/>
              <a:ext cx="9612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Instruction</a:t>
              </a:r>
              <a:endParaRPr lang="en-US" sz="1000" b="0" strike="noStrike" spc="-1">
                <a:latin typeface="Arial"/>
              </a:endParaRPr>
            </a:p>
          </p:txBody>
        </p:sp>
      </p:grpSp>
      <p:sp>
        <p:nvSpPr>
          <p:cNvPr id="24" name="CustomShape 13">
            <a:extLst>
              <a:ext uri="{FF2B5EF4-FFF2-40B4-BE49-F238E27FC236}">
                <a16:creationId xmlns:a16="http://schemas.microsoft.com/office/drawing/2014/main" id="{3D0CE688-0E17-5035-8BBC-2EFB232D8301}"/>
              </a:ext>
            </a:extLst>
          </p:cNvPr>
          <p:cNvSpPr/>
          <p:nvPr/>
        </p:nvSpPr>
        <p:spPr>
          <a:xfrm>
            <a:off x="8519580" y="4388265"/>
            <a:ext cx="839880" cy="251640"/>
          </a:xfrm>
          <a:prstGeom prst="rect">
            <a:avLst/>
          </a:prstGeom>
          <a:noFill/>
          <a:ln w="126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r">
              <a:lnSpc>
                <a:spcPct val="100000"/>
              </a:lnSpc>
            </a:pPr>
            <a:r>
              <a:rPr lang="en-US" sz="1600" b="1" strike="noStrike" spc="-1">
                <a:solidFill>
                  <a:srgbClr val="000000"/>
                </a:solidFill>
                <a:latin typeface="Times New Roman"/>
                <a:ea typeface="ＭＳ Ｐゴシック"/>
              </a:rPr>
              <a:t>2048</a:t>
            </a:r>
            <a:endParaRPr lang="en-US" sz="1600" b="0" strike="noStrike" spc="-1">
              <a:latin typeface="Arial"/>
            </a:endParaRPr>
          </a:p>
        </p:txBody>
      </p:sp>
      <p:sp>
        <p:nvSpPr>
          <p:cNvPr id="25" name="CustomShape 14">
            <a:extLst>
              <a:ext uri="{FF2B5EF4-FFF2-40B4-BE49-F238E27FC236}">
                <a16:creationId xmlns:a16="http://schemas.microsoft.com/office/drawing/2014/main" id="{5158FD6E-6C2B-5D74-BC4C-E14F2BECB2F5}"/>
              </a:ext>
            </a:extLst>
          </p:cNvPr>
          <p:cNvSpPr/>
          <p:nvPr/>
        </p:nvSpPr>
        <p:spPr>
          <a:xfrm>
            <a:off x="8519580" y="4640265"/>
            <a:ext cx="839880" cy="251640"/>
          </a:xfrm>
          <a:prstGeom prst="rect">
            <a:avLst/>
          </a:prstGeom>
          <a:noFill/>
          <a:ln w="126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r">
              <a:lnSpc>
                <a:spcPct val="100000"/>
              </a:lnSpc>
            </a:pPr>
            <a:r>
              <a:rPr lang="en-US" sz="1600" b="1" strike="noStrike" spc="-1">
                <a:solidFill>
                  <a:srgbClr val="000000"/>
                </a:solidFill>
                <a:latin typeface="Times New Roman"/>
                <a:ea typeface="ＭＳ Ｐゴシック"/>
              </a:rPr>
              <a:t>2052</a:t>
            </a:r>
            <a:endParaRPr lang="en-US" sz="1600" b="0" strike="noStrike" spc="-1">
              <a:latin typeface="Arial"/>
            </a:endParaRPr>
          </a:p>
        </p:txBody>
      </p:sp>
      <p:sp>
        <p:nvSpPr>
          <p:cNvPr id="26" name="CustomShape 15">
            <a:extLst>
              <a:ext uri="{FF2B5EF4-FFF2-40B4-BE49-F238E27FC236}">
                <a16:creationId xmlns:a16="http://schemas.microsoft.com/office/drawing/2014/main" id="{F9C64D95-E82D-4108-BE9E-5B3D965800E0}"/>
              </a:ext>
            </a:extLst>
          </p:cNvPr>
          <p:cNvSpPr/>
          <p:nvPr/>
        </p:nvSpPr>
        <p:spPr>
          <a:xfrm>
            <a:off x="8519580" y="4891905"/>
            <a:ext cx="839880" cy="251640"/>
          </a:xfrm>
          <a:prstGeom prst="rect">
            <a:avLst/>
          </a:prstGeom>
          <a:noFill/>
          <a:ln w="126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r">
              <a:lnSpc>
                <a:spcPct val="100000"/>
              </a:lnSpc>
            </a:pPr>
            <a:r>
              <a:rPr lang="en-US" sz="1600" b="1" strike="noStrike" spc="-1">
                <a:solidFill>
                  <a:srgbClr val="000000"/>
                </a:solidFill>
                <a:latin typeface="Times New Roman"/>
                <a:ea typeface="ＭＳ Ｐゴシック"/>
              </a:rPr>
              <a:t>2056</a:t>
            </a:r>
            <a:endParaRPr lang="en-US" sz="1600" b="0" strike="noStrike" spc="-1">
              <a:latin typeface="Arial"/>
            </a:endParaRPr>
          </a:p>
        </p:txBody>
      </p:sp>
      <p:sp>
        <p:nvSpPr>
          <p:cNvPr id="27" name="CustomShape 16">
            <a:extLst>
              <a:ext uri="{FF2B5EF4-FFF2-40B4-BE49-F238E27FC236}">
                <a16:creationId xmlns:a16="http://schemas.microsoft.com/office/drawing/2014/main" id="{B59381EF-1BD5-E431-65EB-940A0210E80D}"/>
              </a:ext>
            </a:extLst>
          </p:cNvPr>
          <p:cNvSpPr/>
          <p:nvPr/>
        </p:nvSpPr>
        <p:spPr>
          <a:xfrm>
            <a:off x="9359460" y="4891905"/>
            <a:ext cx="1847520" cy="251640"/>
          </a:xfrm>
          <a:prstGeom prst="rect">
            <a:avLst/>
          </a:prstGeom>
          <a:solidFill>
            <a:schemeClr val="bg1"/>
          </a:solidFill>
          <a:ln w="1260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nSpc>
                <a:spcPct val="100000"/>
              </a:lnSpc>
            </a:pPr>
            <a:r>
              <a:rPr lang="en-US" sz="1200" b="1" strike="noStrike" spc="-1">
                <a:solidFill>
                  <a:srgbClr val="000000"/>
                </a:solidFill>
                <a:latin typeface="Courier New"/>
                <a:ea typeface="ＭＳ Ｐゴシック"/>
              </a:rPr>
              <a:t>andi $1, $4, 0xF</a:t>
            </a:r>
            <a:endParaRPr lang="en-US" sz="1200" b="0" strike="noStrike" spc="-1">
              <a:latin typeface="Arial"/>
            </a:endParaRPr>
          </a:p>
        </p:txBody>
      </p:sp>
      <p:sp>
        <p:nvSpPr>
          <p:cNvPr id="28" name="CustomShape 17">
            <a:extLst>
              <a:ext uri="{FF2B5EF4-FFF2-40B4-BE49-F238E27FC236}">
                <a16:creationId xmlns:a16="http://schemas.microsoft.com/office/drawing/2014/main" id="{D1E32E0A-395C-D952-CEBC-41719E29B529}"/>
              </a:ext>
            </a:extLst>
          </p:cNvPr>
          <p:cNvSpPr/>
          <p:nvPr/>
        </p:nvSpPr>
        <p:spPr>
          <a:xfrm>
            <a:off x="9359460" y="4640265"/>
            <a:ext cx="1847520" cy="251640"/>
          </a:xfrm>
          <a:prstGeom prst="rect">
            <a:avLst/>
          </a:prstGeom>
          <a:solidFill>
            <a:schemeClr val="bg1"/>
          </a:solidFill>
          <a:ln w="1260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nSpc>
                <a:spcPct val="100000"/>
              </a:lnSpc>
            </a:pPr>
            <a:r>
              <a:rPr lang="en-US" sz="1400" b="1" strike="noStrike" spc="-1">
                <a:solidFill>
                  <a:srgbClr val="000000"/>
                </a:solidFill>
                <a:latin typeface="Courier New"/>
                <a:ea typeface="ＭＳ Ｐゴシック"/>
              </a:rPr>
              <a:t>sll $4, $3, 2</a:t>
            </a:r>
            <a:endParaRPr lang="en-US" sz="1400" b="0" strike="noStrike" spc="-1">
              <a:latin typeface="Arial"/>
            </a:endParaRPr>
          </a:p>
        </p:txBody>
      </p:sp>
      <p:sp>
        <p:nvSpPr>
          <p:cNvPr id="29" name="CustomShape 18">
            <a:extLst>
              <a:ext uri="{FF2B5EF4-FFF2-40B4-BE49-F238E27FC236}">
                <a16:creationId xmlns:a16="http://schemas.microsoft.com/office/drawing/2014/main" id="{7D89A94B-46F4-5644-75F8-B59E440917AE}"/>
              </a:ext>
            </a:extLst>
          </p:cNvPr>
          <p:cNvSpPr/>
          <p:nvPr/>
        </p:nvSpPr>
        <p:spPr>
          <a:xfrm>
            <a:off x="9359460" y="4388265"/>
            <a:ext cx="1847520" cy="251640"/>
          </a:xfrm>
          <a:prstGeom prst="rect">
            <a:avLst/>
          </a:prstGeom>
          <a:solidFill>
            <a:schemeClr val="bg1"/>
          </a:solidFill>
          <a:ln w="1260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nSpc>
                <a:spcPct val="100000"/>
              </a:lnSpc>
            </a:pPr>
            <a:r>
              <a:rPr lang="en-US" sz="1400" b="1" strike="noStrike" spc="-1">
                <a:solidFill>
                  <a:srgbClr val="000000"/>
                </a:solidFill>
                <a:latin typeface="Courier New"/>
                <a:ea typeface="ＭＳ Ｐゴシック"/>
              </a:rPr>
              <a:t>add $3, $1, $2</a:t>
            </a:r>
            <a:endParaRPr lang="en-US" sz="1400" b="0" strike="noStrike" spc="-1">
              <a:latin typeface="Arial"/>
            </a:endParaRPr>
          </a:p>
        </p:txBody>
      </p:sp>
      <p:sp>
        <p:nvSpPr>
          <p:cNvPr id="30" name="CustomShape 19">
            <a:extLst>
              <a:ext uri="{FF2B5EF4-FFF2-40B4-BE49-F238E27FC236}">
                <a16:creationId xmlns:a16="http://schemas.microsoft.com/office/drawing/2014/main" id="{FEB1CF82-57C6-748D-4EBE-13F7B3A899D1}"/>
              </a:ext>
            </a:extLst>
          </p:cNvPr>
          <p:cNvSpPr/>
          <p:nvPr/>
        </p:nvSpPr>
        <p:spPr>
          <a:xfrm>
            <a:off x="8519580" y="5144265"/>
            <a:ext cx="839880" cy="251640"/>
          </a:xfrm>
          <a:prstGeom prst="rect">
            <a:avLst/>
          </a:prstGeom>
          <a:noFill/>
          <a:ln w="12600">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r">
              <a:lnSpc>
                <a:spcPct val="100000"/>
              </a:lnSpc>
            </a:pPr>
            <a:r>
              <a:rPr lang="en-US" sz="1600" b="1" strike="noStrike" spc="-1">
                <a:solidFill>
                  <a:srgbClr val="000000"/>
                </a:solidFill>
                <a:latin typeface="Times New Roman"/>
                <a:ea typeface="ＭＳ Ｐゴシック"/>
              </a:rPr>
              <a:t>……</a:t>
            </a:r>
            <a:endParaRPr lang="en-US" sz="1600" b="0" strike="noStrike" spc="-1">
              <a:latin typeface="Arial"/>
            </a:endParaRPr>
          </a:p>
        </p:txBody>
      </p:sp>
      <p:sp>
        <p:nvSpPr>
          <p:cNvPr id="31" name="CustomShape 20">
            <a:extLst>
              <a:ext uri="{FF2B5EF4-FFF2-40B4-BE49-F238E27FC236}">
                <a16:creationId xmlns:a16="http://schemas.microsoft.com/office/drawing/2014/main" id="{4C79C65A-ECEB-1673-1690-6FDD87E4A8CB}"/>
              </a:ext>
            </a:extLst>
          </p:cNvPr>
          <p:cNvSpPr/>
          <p:nvPr/>
        </p:nvSpPr>
        <p:spPr>
          <a:xfrm>
            <a:off x="9359460" y="4199265"/>
            <a:ext cx="1847520" cy="188640"/>
          </a:xfrm>
          <a:prstGeom prst="rect">
            <a:avLst/>
          </a:prstGeom>
          <a:solidFill>
            <a:schemeClr val="bg1">
              <a:lumMod val="95000"/>
            </a:schemeClr>
          </a:solidFill>
          <a:ln w="1260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400" b="1" strike="noStrike" spc="-1">
                <a:solidFill>
                  <a:srgbClr val="000000"/>
                </a:solidFill>
                <a:latin typeface="Times New Roman"/>
                <a:ea typeface="ＭＳ Ｐゴシック"/>
              </a:rPr>
              <a:t>………..</a:t>
            </a:r>
            <a:endParaRPr lang="en-US" sz="1400" b="0" strike="noStrike" spc="-1">
              <a:latin typeface="Arial"/>
            </a:endParaRPr>
          </a:p>
        </p:txBody>
      </p:sp>
      <p:sp>
        <p:nvSpPr>
          <p:cNvPr id="32" name="CustomShape 21">
            <a:extLst>
              <a:ext uri="{FF2B5EF4-FFF2-40B4-BE49-F238E27FC236}">
                <a16:creationId xmlns:a16="http://schemas.microsoft.com/office/drawing/2014/main" id="{F8B95398-FF8D-068B-8E64-1D3439532513}"/>
              </a:ext>
            </a:extLst>
          </p:cNvPr>
          <p:cNvSpPr/>
          <p:nvPr/>
        </p:nvSpPr>
        <p:spPr>
          <a:xfrm>
            <a:off x="9359460" y="5144265"/>
            <a:ext cx="1847520" cy="188640"/>
          </a:xfrm>
          <a:prstGeom prst="rect">
            <a:avLst/>
          </a:prstGeom>
          <a:solidFill>
            <a:schemeClr val="bg1">
              <a:lumMod val="95000"/>
            </a:schemeClr>
          </a:solidFill>
          <a:ln w="1260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400" b="1" strike="noStrike" spc="-1">
                <a:solidFill>
                  <a:srgbClr val="000000"/>
                </a:solidFill>
                <a:latin typeface="Times New Roman"/>
                <a:ea typeface="ＭＳ Ｐゴシック"/>
              </a:rPr>
              <a:t>………..</a:t>
            </a:r>
            <a:endParaRPr lang="en-US" sz="1400" b="0" strike="noStrike" spc="-1">
              <a:latin typeface="Arial"/>
            </a:endParaRPr>
          </a:p>
        </p:txBody>
      </p:sp>
      <p:sp>
        <p:nvSpPr>
          <p:cNvPr id="33" name="TextBox 32">
            <a:extLst>
              <a:ext uri="{FF2B5EF4-FFF2-40B4-BE49-F238E27FC236}">
                <a16:creationId xmlns:a16="http://schemas.microsoft.com/office/drawing/2014/main" id="{377370B4-7F49-47D4-974D-DD6413FBC1C6}"/>
              </a:ext>
            </a:extLst>
          </p:cNvPr>
          <p:cNvSpPr txBox="1"/>
          <p:nvPr/>
        </p:nvSpPr>
        <p:spPr>
          <a:xfrm>
            <a:off x="2985568" y="5085419"/>
            <a:ext cx="6610792" cy="369332"/>
          </a:xfrm>
          <a:prstGeom prst="rect">
            <a:avLst/>
          </a:prstGeom>
          <a:noFill/>
        </p:spPr>
        <p:txBody>
          <a:bodyPr wrap="square">
            <a:spAutoFit/>
          </a:bodyPr>
          <a:lstStyle/>
          <a:p>
            <a:pPr marL="463680" indent="-6120">
              <a:lnSpc>
                <a:spcPct val="100000"/>
              </a:lnSpc>
              <a:spcBef>
                <a:spcPts val="479"/>
              </a:spcBef>
            </a:pPr>
            <a:r>
              <a:rPr lang="en-US" sz="1800" b="0" strike="noStrike" spc="-1">
                <a:solidFill>
                  <a:srgbClr val="000000"/>
                </a:solidFill>
                <a:latin typeface="Times New Roman"/>
                <a:ea typeface="ＭＳ Ｐゴシック"/>
              </a:rPr>
              <a:t>Cách sắp xếp của bộ nhớ giống như hình bên phải</a:t>
            </a:r>
            <a:endParaRPr lang="en-US" sz="1800" b="0" strike="noStrike" spc="-1">
              <a:solidFill>
                <a:srgbClr val="000000"/>
              </a:solidFill>
              <a:latin typeface="Times New Roman"/>
            </a:endParaRPr>
          </a:p>
        </p:txBody>
      </p:sp>
    </p:spTree>
    <p:extLst>
      <p:ext uri="{BB962C8B-B14F-4D97-AF65-F5344CB8AC3E}">
        <p14:creationId xmlns:p14="http://schemas.microsoft.com/office/powerpoint/2010/main" val="1865134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E3D03-8320-A28A-CF97-06CF2E68C9ED}"/>
              </a:ext>
            </a:extLst>
          </p:cNvPr>
          <p:cNvSpPr>
            <a:spLocks noGrp="1"/>
          </p:cNvSpPr>
          <p:nvPr>
            <p:ph type="title"/>
          </p:nvPr>
        </p:nvSpPr>
        <p:spPr/>
        <p:txBody>
          <a:bodyPr/>
          <a:lstStyle/>
          <a:p>
            <a:r>
              <a:rPr lang="en-US"/>
              <a:t>Bộ cộng</a:t>
            </a:r>
          </a:p>
        </p:txBody>
      </p:sp>
      <p:sp>
        <p:nvSpPr>
          <p:cNvPr id="3" name="Content Placeholder 2">
            <a:extLst>
              <a:ext uri="{FF2B5EF4-FFF2-40B4-BE49-F238E27FC236}">
                <a16:creationId xmlns:a16="http://schemas.microsoft.com/office/drawing/2014/main" id="{0E3D31E9-B898-6D69-1D56-BD75FC193652}"/>
              </a:ext>
            </a:extLst>
          </p:cNvPr>
          <p:cNvSpPr>
            <a:spLocks noGrp="1"/>
          </p:cNvSpPr>
          <p:nvPr>
            <p:ph idx="1"/>
          </p:nvPr>
        </p:nvSpPr>
        <p:spPr/>
        <p:txBody>
          <a:bodyPr/>
          <a:lstStyle/>
          <a:p>
            <a:r>
              <a:rPr lang="en-US"/>
              <a:t>Mạch logic kết hợp để cộng 2 số - bộ cộng</a:t>
            </a:r>
          </a:p>
          <a:p>
            <a:endParaRPr lang="en-US"/>
          </a:p>
          <a:p>
            <a:r>
              <a:rPr lang="en-US"/>
              <a:t>Đầu vào: </a:t>
            </a:r>
          </a:p>
          <a:p>
            <a:pPr lvl="1"/>
            <a:r>
              <a:rPr lang="en-US"/>
              <a:t>Hai số 32-bit A, B</a:t>
            </a:r>
          </a:p>
          <a:p>
            <a:r>
              <a:rPr lang="en-US"/>
              <a:t>Đầu ra: </a:t>
            </a:r>
          </a:p>
          <a:p>
            <a:pPr lvl="1"/>
            <a:r>
              <a:rPr lang="en-US"/>
              <a:t>A + B </a:t>
            </a:r>
          </a:p>
          <a:p>
            <a:endParaRPr lang="en-US"/>
          </a:p>
        </p:txBody>
      </p:sp>
      <p:sp>
        <p:nvSpPr>
          <p:cNvPr id="4" name="Footer Placeholder 3">
            <a:extLst>
              <a:ext uri="{FF2B5EF4-FFF2-40B4-BE49-F238E27FC236}">
                <a16:creationId xmlns:a16="http://schemas.microsoft.com/office/drawing/2014/main" id="{B37A5B5B-0684-5D38-30C3-DD83E68B56E9}"/>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43D3CF1E-A5ED-AC99-D7E3-DD2F045CC73F}"/>
              </a:ext>
            </a:extLst>
          </p:cNvPr>
          <p:cNvSpPr>
            <a:spLocks noGrp="1"/>
          </p:cNvSpPr>
          <p:nvPr>
            <p:ph type="sldNum" sz="quarter" idx="12"/>
          </p:nvPr>
        </p:nvSpPr>
        <p:spPr/>
        <p:txBody>
          <a:bodyPr/>
          <a:lstStyle/>
          <a:p>
            <a:fld id="{D8B0B3AC-44A8-D142-AAF6-9A453466E1A4}" type="slidenum">
              <a:rPr lang="en-VN" smtClean="0"/>
              <a:pPr/>
              <a:t>16</a:t>
            </a:fld>
            <a:endParaRPr lang="en-VN" dirty="0"/>
          </a:p>
        </p:txBody>
      </p:sp>
      <p:sp>
        <p:nvSpPr>
          <p:cNvPr id="6" name="Date Placeholder 5">
            <a:extLst>
              <a:ext uri="{FF2B5EF4-FFF2-40B4-BE49-F238E27FC236}">
                <a16:creationId xmlns:a16="http://schemas.microsoft.com/office/drawing/2014/main" id="{EF5F532C-85BC-E7F6-8866-C75C13A18F4A}"/>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grpSp>
        <p:nvGrpSpPr>
          <p:cNvPr id="7" name="Group 3">
            <a:extLst>
              <a:ext uri="{FF2B5EF4-FFF2-40B4-BE49-F238E27FC236}">
                <a16:creationId xmlns:a16="http://schemas.microsoft.com/office/drawing/2014/main" id="{62FC2D7C-F548-E9AC-D4D6-11A0CA811421}"/>
              </a:ext>
            </a:extLst>
          </p:cNvPr>
          <p:cNvGrpSpPr/>
          <p:nvPr/>
        </p:nvGrpSpPr>
        <p:grpSpPr>
          <a:xfrm>
            <a:off x="6718613" y="3639147"/>
            <a:ext cx="3132360" cy="1333440"/>
            <a:chOff x="6551640" y="1826640"/>
            <a:chExt cx="3132360" cy="1333440"/>
          </a:xfrm>
        </p:grpSpPr>
        <p:sp>
          <p:nvSpPr>
            <p:cNvPr id="8" name="Line 4">
              <a:extLst>
                <a:ext uri="{FF2B5EF4-FFF2-40B4-BE49-F238E27FC236}">
                  <a16:creationId xmlns:a16="http://schemas.microsoft.com/office/drawing/2014/main" id="{30ED40AD-7061-698B-3FC2-66EE1E529777}"/>
                </a:ext>
              </a:extLst>
            </p:cNvPr>
            <p:cNvSpPr/>
            <p:nvPr/>
          </p:nvSpPr>
          <p:spPr>
            <a:xfrm>
              <a:off x="7398720" y="1826640"/>
              <a:ext cx="1270080" cy="3492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9" name="Line 5">
              <a:extLst>
                <a:ext uri="{FF2B5EF4-FFF2-40B4-BE49-F238E27FC236}">
                  <a16:creationId xmlns:a16="http://schemas.microsoft.com/office/drawing/2014/main" id="{B14689FF-2F70-4D4B-E371-71680276D25B}"/>
                </a:ext>
              </a:extLst>
            </p:cNvPr>
            <p:cNvSpPr/>
            <p:nvPr/>
          </p:nvSpPr>
          <p:spPr>
            <a:xfrm>
              <a:off x="8668800" y="2175840"/>
              <a:ext cx="720" cy="6033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0" name="Line 6">
              <a:extLst>
                <a:ext uri="{FF2B5EF4-FFF2-40B4-BE49-F238E27FC236}">
                  <a16:creationId xmlns:a16="http://schemas.microsoft.com/office/drawing/2014/main" id="{52C4DB43-FD50-90C1-9217-26FAD4609E9A}"/>
                </a:ext>
              </a:extLst>
            </p:cNvPr>
            <p:cNvSpPr/>
            <p:nvPr/>
          </p:nvSpPr>
          <p:spPr>
            <a:xfrm flipH="1">
              <a:off x="7398720" y="2779200"/>
              <a:ext cx="1270080" cy="3808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1" name="Line 7">
              <a:extLst>
                <a:ext uri="{FF2B5EF4-FFF2-40B4-BE49-F238E27FC236}">
                  <a16:creationId xmlns:a16="http://schemas.microsoft.com/office/drawing/2014/main" id="{4E23A6CA-7B20-6C18-338C-74A3CE823316}"/>
                </a:ext>
              </a:extLst>
            </p:cNvPr>
            <p:cNvSpPr/>
            <p:nvPr/>
          </p:nvSpPr>
          <p:spPr>
            <a:xfrm flipV="1">
              <a:off x="7398720" y="2620800"/>
              <a:ext cx="360" cy="5392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2" name="Line 8">
              <a:extLst>
                <a:ext uri="{FF2B5EF4-FFF2-40B4-BE49-F238E27FC236}">
                  <a16:creationId xmlns:a16="http://schemas.microsoft.com/office/drawing/2014/main" id="{4AE64730-27FF-67BF-8CFF-D434222DD81A}"/>
                </a:ext>
              </a:extLst>
            </p:cNvPr>
            <p:cNvSpPr/>
            <p:nvPr/>
          </p:nvSpPr>
          <p:spPr>
            <a:xfrm flipV="1">
              <a:off x="7398720" y="2461680"/>
              <a:ext cx="169920" cy="15912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3" name="Line 9">
              <a:extLst>
                <a:ext uri="{FF2B5EF4-FFF2-40B4-BE49-F238E27FC236}">
                  <a16:creationId xmlns:a16="http://schemas.microsoft.com/office/drawing/2014/main" id="{ED265969-1174-1FE3-286A-645D5E0262EF}"/>
                </a:ext>
              </a:extLst>
            </p:cNvPr>
            <p:cNvSpPr/>
            <p:nvPr/>
          </p:nvSpPr>
          <p:spPr>
            <a:xfrm>
              <a:off x="7398720" y="2271600"/>
              <a:ext cx="169920" cy="1900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4" name="Line 10">
              <a:extLst>
                <a:ext uri="{FF2B5EF4-FFF2-40B4-BE49-F238E27FC236}">
                  <a16:creationId xmlns:a16="http://schemas.microsoft.com/office/drawing/2014/main" id="{E77159C0-8541-8F51-12D3-6CD856EB078B}"/>
                </a:ext>
              </a:extLst>
            </p:cNvPr>
            <p:cNvSpPr/>
            <p:nvPr/>
          </p:nvSpPr>
          <p:spPr>
            <a:xfrm flipV="1">
              <a:off x="7398720" y="1826640"/>
              <a:ext cx="360" cy="444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5" name="Line 11">
              <a:extLst>
                <a:ext uri="{FF2B5EF4-FFF2-40B4-BE49-F238E27FC236}">
                  <a16:creationId xmlns:a16="http://schemas.microsoft.com/office/drawing/2014/main" id="{2195A677-E3C5-BF35-4C3E-1BC9665FE62C}"/>
                </a:ext>
              </a:extLst>
            </p:cNvPr>
            <p:cNvSpPr/>
            <p:nvPr/>
          </p:nvSpPr>
          <p:spPr>
            <a:xfrm>
              <a:off x="6551640" y="2018160"/>
              <a:ext cx="847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6" name="Line 12">
              <a:extLst>
                <a:ext uri="{FF2B5EF4-FFF2-40B4-BE49-F238E27FC236}">
                  <a16:creationId xmlns:a16="http://schemas.microsoft.com/office/drawing/2014/main" id="{91717C6D-6740-B595-EC32-D52AE6702857}"/>
                </a:ext>
              </a:extLst>
            </p:cNvPr>
            <p:cNvSpPr/>
            <p:nvPr/>
          </p:nvSpPr>
          <p:spPr>
            <a:xfrm>
              <a:off x="6551640" y="2906640"/>
              <a:ext cx="847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7" name="Line 13">
              <a:extLst>
                <a:ext uri="{FF2B5EF4-FFF2-40B4-BE49-F238E27FC236}">
                  <a16:creationId xmlns:a16="http://schemas.microsoft.com/office/drawing/2014/main" id="{77F63527-21CC-1CF4-3F52-7C67F6C19A73}"/>
                </a:ext>
              </a:extLst>
            </p:cNvPr>
            <p:cNvSpPr/>
            <p:nvPr/>
          </p:nvSpPr>
          <p:spPr>
            <a:xfrm>
              <a:off x="8668800" y="2430000"/>
              <a:ext cx="10152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8" name="CustomShape 14">
              <a:extLst>
                <a:ext uri="{FF2B5EF4-FFF2-40B4-BE49-F238E27FC236}">
                  <a16:creationId xmlns:a16="http://schemas.microsoft.com/office/drawing/2014/main" id="{C2704DE9-6D90-D3C6-67C1-1B4BFBA18374}"/>
                </a:ext>
              </a:extLst>
            </p:cNvPr>
            <p:cNvSpPr/>
            <p:nvPr/>
          </p:nvSpPr>
          <p:spPr>
            <a:xfrm>
              <a:off x="8155080" y="2345040"/>
              <a:ext cx="49356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Sum</a:t>
              </a:r>
              <a:endParaRPr lang="en-US" sz="1000" b="0" strike="noStrike" spc="-1">
                <a:latin typeface="Arial"/>
              </a:endParaRPr>
            </a:p>
          </p:txBody>
        </p:sp>
        <p:sp>
          <p:nvSpPr>
            <p:cNvPr id="19" name="CustomShape 15">
              <a:extLst>
                <a:ext uri="{FF2B5EF4-FFF2-40B4-BE49-F238E27FC236}">
                  <a16:creationId xmlns:a16="http://schemas.microsoft.com/office/drawing/2014/main" id="{922A4F61-844E-E52E-FA56-A5A92D022384}"/>
                </a:ext>
              </a:extLst>
            </p:cNvPr>
            <p:cNvSpPr/>
            <p:nvPr/>
          </p:nvSpPr>
          <p:spPr>
            <a:xfrm>
              <a:off x="7541280" y="2356920"/>
              <a:ext cx="51804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Add</a:t>
              </a:r>
              <a:endParaRPr lang="en-US" sz="1200" b="0" strike="noStrike" spc="-1">
                <a:latin typeface="Arial"/>
              </a:endParaRPr>
            </a:p>
          </p:txBody>
        </p:sp>
      </p:grpSp>
    </p:spTree>
    <p:extLst>
      <p:ext uri="{BB962C8B-B14F-4D97-AF65-F5344CB8AC3E}">
        <p14:creationId xmlns:p14="http://schemas.microsoft.com/office/powerpoint/2010/main" val="3788185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E959-0C41-FC1D-6205-1CC464675AE6}"/>
              </a:ext>
            </a:extLst>
          </p:cNvPr>
          <p:cNvSpPr>
            <a:spLocks noGrp="1"/>
          </p:cNvSpPr>
          <p:nvPr>
            <p:ph type="title"/>
          </p:nvPr>
        </p:nvSpPr>
        <p:spPr/>
        <p:txBody>
          <a:bodyPr/>
          <a:lstStyle/>
          <a:p>
            <a:r>
              <a:rPr lang="en-US"/>
              <a:t>Datapath của một bộ xử lý với 8 lệnh MIPS</a:t>
            </a:r>
          </a:p>
        </p:txBody>
      </p:sp>
      <p:sp>
        <p:nvSpPr>
          <p:cNvPr id="4" name="Footer Placeholder 3">
            <a:extLst>
              <a:ext uri="{FF2B5EF4-FFF2-40B4-BE49-F238E27FC236}">
                <a16:creationId xmlns:a16="http://schemas.microsoft.com/office/drawing/2014/main" id="{A2943067-86FD-EC34-FB84-E1C625FA2005}"/>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86EA9048-D456-15C2-CE28-E7DA00176C21}"/>
              </a:ext>
            </a:extLst>
          </p:cNvPr>
          <p:cNvSpPr>
            <a:spLocks noGrp="1"/>
          </p:cNvSpPr>
          <p:nvPr>
            <p:ph type="sldNum" sz="quarter" idx="12"/>
          </p:nvPr>
        </p:nvSpPr>
        <p:spPr/>
        <p:txBody>
          <a:bodyPr/>
          <a:lstStyle/>
          <a:p>
            <a:fld id="{D8B0B3AC-44A8-D142-AAF6-9A453466E1A4}" type="slidenum">
              <a:rPr lang="en-VN" smtClean="0"/>
              <a:pPr/>
              <a:t>17</a:t>
            </a:fld>
            <a:endParaRPr lang="en-VN" dirty="0"/>
          </a:p>
        </p:txBody>
      </p:sp>
      <p:sp>
        <p:nvSpPr>
          <p:cNvPr id="6" name="Date Placeholder 5">
            <a:extLst>
              <a:ext uri="{FF2B5EF4-FFF2-40B4-BE49-F238E27FC236}">
                <a16:creationId xmlns:a16="http://schemas.microsoft.com/office/drawing/2014/main" id="{097D4DD3-4D53-26A3-A13E-2480164DEE5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5" descr="f04-17-P374493">
            <a:extLst>
              <a:ext uri="{FF2B5EF4-FFF2-40B4-BE49-F238E27FC236}">
                <a16:creationId xmlns:a16="http://schemas.microsoft.com/office/drawing/2014/main" id="{FBFE8B37-F23C-291E-5D50-A4AB5641B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9134" y="1368275"/>
            <a:ext cx="5795029" cy="4503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98608D8C-860A-27F0-82AB-E1A6EC92A73A}"/>
              </a:ext>
            </a:extLst>
          </p:cNvPr>
          <p:cNvSpPr/>
          <p:nvPr/>
        </p:nvSpPr>
        <p:spPr>
          <a:xfrm>
            <a:off x="2853699" y="1287325"/>
            <a:ext cx="1978925"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3244701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Quy trình thực thi lệnh của MIPS</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18</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1" name="Content Placeholder 10">
            <a:extLst>
              <a:ext uri="{FF2B5EF4-FFF2-40B4-BE49-F238E27FC236}">
                <a16:creationId xmlns:a16="http://schemas.microsoft.com/office/drawing/2014/main" id="{8E51BFD1-611E-702E-CD1C-CF4CE58C1C36}"/>
              </a:ext>
            </a:extLst>
          </p:cNvPr>
          <p:cNvSpPr>
            <a:spLocks noGrp="1"/>
          </p:cNvSpPr>
          <p:nvPr>
            <p:ph idx="1"/>
          </p:nvPr>
        </p:nvSpPr>
        <p:spPr>
          <a:xfrm>
            <a:off x="1142797" y="1195821"/>
            <a:ext cx="7404855" cy="5160527"/>
          </a:xfrm>
        </p:spPr>
        <p:txBody>
          <a:bodyPr/>
          <a:lstStyle/>
          <a:p>
            <a:r>
              <a:rPr lang="vi-VN"/>
              <a:t>Instruction Fetch (Nạp lệnh)</a:t>
            </a:r>
          </a:p>
          <a:p>
            <a:r>
              <a:rPr lang="vi-VN">
                <a:solidFill>
                  <a:srgbClr val="00B050"/>
                </a:solidFill>
              </a:rPr>
              <a:t>Instruction Decode &amp; Operand Fetch</a:t>
            </a:r>
          </a:p>
          <a:p>
            <a:pPr marL="0" indent="0">
              <a:buNone/>
            </a:pPr>
            <a:r>
              <a:rPr lang="en-US">
                <a:solidFill>
                  <a:srgbClr val="00B050"/>
                </a:solidFill>
              </a:rPr>
              <a:t>	</a:t>
            </a:r>
            <a:r>
              <a:rPr lang="vi-VN">
                <a:solidFill>
                  <a:srgbClr val="00B050"/>
                </a:solidFill>
              </a:rPr>
              <a:t>(Giải mã và lấy các toán hạng cần thiết, </a:t>
            </a:r>
            <a:endParaRPr lang="en-US">
              <a:solidFill>
                <a:srgbClr val="00B050"/>
              </a:solidFill>
            </a:endParaRPr>
          </a:p>
          <a:p>
            <a:pPr marL="0" indent="0">
              <a:buNone/>
            </a:pPr>
            <a:r>
              <a:rPr lang="en-US">
                <a:solidFill>
                  <a:srgbClr val="00B050"/>
                </a:solidFill>
              </a:rPr>
              <a:t>	</a:t>
            </a:r>
            <a:r>
              <a:rPr lang="vi-VN">
                <a:solidFill>
                  <a:srgbClr val="00B050"/>
                </a:solidFill>
              </a:rPr>
              <a:t>Gọi</a:t>
            </a:r>
            <a:r>
              <a:rPr lang="en-US">
                <a:solidFill>
                  <a:srgbClr val="00B050"/>
                </a:solidFill>
              </a:rPr>
              <a:t> </a:t>
            </a:r>
            <a:r>
              <a:rPr lang="vi-VN">
                <a:solidFill>
                  <a:srgbClr val="00B050"/>
                </a:solidFill>
              </a:rPr>
              <a:t>tắt là “Instruction Decode”)</a:t>
            </a:r>
          </a:p>
          <a:p>
            <a:r>
              <a:rPr lang="vi-VN"/>
              <a:t>ALU (Giai đoạn sử dụng ALU hay giai đoạn thực thi)</a:t>
            </a:r>
          </a:p>
          <a:p>
            <a:r>
              <a:rPr lang="vi-VN"/>
              <a:t>Memory Access (Giai đoạn truy xuất vùng nhớ)</a:t>
            </a:r>
          </a:p>
          <a:p>
            <a:r>
              <a:rPr lang="vi-VN"/>
              <a:t>Result Write (Giai đoạn ghi lại kết quả/lưu trữ)</a:t>
            </a:r>
          </a:p>
          <a:p>
            <a:endParaRPr lang="vi-VN"/>
          </a:p>
          <a:p>
            <a:endParaRPr lang="en-US"/>
          </a:p>
        </p:txBody>
      </p:sp>
      <p:grpSp>
        <p:nvGrpSpPr>
          <p:cNvPr id="14" name="Group 13">
            <a:extLst>
              <a:ext uri="{FF2B5EF4-FFF2-40B4-BE49-F238E27FC236}">
                <a16:creationId xmlns:a16="http://schemas.microsoft.com/office/drawing/2014/main" id="{35E64477-7BDC-5CAF-A892-A018CF49647C}"/>
              </a:ext>
            </a:extLst>
          </p:cNvPr>
          <p:cNvGrpSpPr/>
          <p:nvPr/>
        </p:nvGrpSpPr>
        <p:grpSpPr>
          <a:xfrm>
            <a:off x="8764130" y="1674660"/>
            <a:ext cx="2742730" cy="3796316"/>
            <a:chOff x="8726030" y="2208060"/>
            <a:chExt cx="2742730" cy="3796316"/>
          </a:xfrm>
        </p:grpSpPr>
        <p:grpSp>
          <p:nvGrpSpPr>
            <p:cNvPr id="15" name="Group 3">
              <a:extLst>
                <a:ext uri="{FF2B5EF4-FFF2-40B4-BE49-F238E27FC236}">
                  <a16:creationId xmlns:a16="http://schemas.microsoft.com/office/drawing/2014/main" id="{BAAB0B09-CF5E-AC2D-7B7D-9B3EC1152906}"/>
                </a:ext>
              </a:extLst>
            </p:cNvPr>
            <p:cNvGrpSpPr/>
            <p:nvPr/>
          </p:nvGrpSpPr>
          <p:grpSpPr>
            <a:xfrm>
              <a:off x="8726030" y="2208060"/>
              <a:ext cx="2742730" cy="3766559"/>
              <a:chOff x="420120" y="1133640"/>
              <a:chExt cx="2099520" cy="3157199"/>
            </a:xfrm>
          </p:grpSpPr>
          <p:sp>
            <p:nvSpPr>
              <p:cNvPr id="17" name="CustomShape 4">
                <a:extLst>
                  <a:ext uri="{FF2B5EF4-FFF2-40B4-BE49-F238E27FC236}">
                    <a16:creationId xmlns:a16="http://schemas.microsoft.com/office/drawing/2014/main" id="{AC664CBC-0125-59A3-A143-ADB0607A395A}"/>
                  </a:ext>
                </a:extLst>
              </p:cNvPr>
              <p:cNvSpPr/>
              <p:nvPr/>
            </p:nvSpPr>
            <p:spPr>
              <a:xfrm>
                <a:off x="1553760" y="3522600"/>
                <a:ext cx="24120" cy="1742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vi-VN"/>
              </a:p>
            </p:txBody>
          </p:sp>
          <p:sp>
            <p:nvSpPr>
              <p:cNvPr id="18" name="CustomShape 5">
                <a:extLst>
                  <a:ext uri="{FF2B5EF4-FFF2-40B4-BE49-F238E27FC236}">
                    <a16:creationId xmlns:a16="http://schemas.microsoft.com/office/drawing/2014/main" id="{8BBA7EA1-6B4C-6224-F31B-ADF1C430E0AE}"/>
                  </a:ext>
                </a:extLst>
              </p:cNvPr>
              <p:cNvSpPr/>
              <p:nvPr/>
            </p:nvSpPr>
            <p:spPr>
              <a:xfrm>
                <a:off x="993960" y="1360800"/>
                <a:ext cx="1525680" cy="28656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dirty="0">
                    <a:solidFill>
                      <a:srgbClr val="C00000"/>
                    </a:solidFill>
                    <a:latin typeface="Arial"/>
                    <a:ea typeface="ＭＳ Ｐゴシック"/>
                  </a:rPr>
                  <a:t>Fetch</a:t>
                </a:r>
                <a:endParaRPr lang="en-US" sz="1800" b="0" strike="noStrike" spc="-1" dirty="0">
                  <a:latin typeface="Arial"/>
                </a:endParaRPr>
              </a:p>
            </p:txBody>
          </p:sp>
          <p:sp>
            <p:nvSpPr>
              <p:cNvPr id="19" name="CustomShape 6">
                <a:extLst>
                  <a:ext uri="{FF2B5EF4-FFF2-40B4-BE49-F238E27FC236}">
                    <a16:creationId xmlns:a16="http://schemas.microsoft.com/office/drawing/2014/main" id="{14D3AB1E-C627-5C82-420E-3C05D6EFACED}"/>
                  </a:ext>
                </a:extLst>
              </p:cNvPr>
              <p:cNvSpPr/>
              <p:nvPr/>
            </p:nvSpPr>
            <p:spPr>
              <a:xfrm>
                <a:off x="993960" y="1871348"/>
                <a:ext cx="1525680" cy="523373"/>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a:solidFill>
                      <a:srgbClr val="006600"/>
                    </a:solidFill>
                    <a:latin typeface="Arial"/>
                    <a:ea typeface="ＭＳ Ｐゴシック"/>
                  </a:rPr>
                  <a:t>Instruction</a:t>
                </a:r>
                <a:endParaRPr lang="en-US" sz="1800" b="0" strike="noStrike" spc="-1">
                  <a:latin typeface="Arial"/>
                </a:endParaRPr>
              </a:p>
              <a:p>
                <a:pPr marL="343080" indent="-342720" algn="ctr">
                  <a:lnSpc>
                    <a:spcPct val="86000"/>
                  </a:lnSpc>
                  <a:spcBef>
                    <a:spcPts val="360"/>
                  </a:spcBef>
                </a:pPr>
                <a:r>
                  <a:rPr lang="en-US" sz="1800" b="1" i="1" strike="noStrike" spc="-1">
                    <a:solidFill>
                      <a:srgbClr val="006600"/>
                    </a:solidFill>
                    <a:latin typeface="Arial"/>
                    <a:ea typeface="ＭＳ Ｐゴシック"/>
                  </a:rPr>
                  <a:t>Decode</a:t>
                </a:r>
                <a:endParaRPr lang="en-US" sz="1800" b="0" strike="noStrike" spc="-1">
                  <a:latin typeface="Arial"/>
                </a:endParaRPr>
              </a:p>
            </p:txBody>
          </p:sp>
          <p:sp>
            <p:nvSpPr>
              <p:cNvPr id="20" name="CustomShape 7">
                <a:extLst>
                  <a:ext uri="{FF2B5EF4-FFF2-40B4-BE49-F238E27FC236}">
                    <a16:creationId xmlns:a16="http://schemas.microsoft.com/office/drawing/2014/main" id="{B7A8046A-43EC-68CD-0B51-864F829843F0}"/>
                  </a:ext>
                </a:extLst>
              </p:cNvPr>
              <p:cNvSpPr/>
              <p:nvPr/>
            </p:nvSpPr>
            <p:spPr>
              <a:xfrm>
                <a:off x="987139" y="2565360"/>
                <a:ext cx="1525680" cy="28656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dirty="0">
                    <a:solidFill>
                      <a:srgbClr val="660066"/>
                    </a:solidFill>
                    <a:latin typeface="Arial"/>
                    <a:ea typeface="ＭＳ Ｐゴシック"/>
                  </a:rPr>
                  <a:t>ALU</a:t>
                </a:r>
                <a:endParaRPr lang="en-US" sz="1800" b="0" strike="noStrike" spc="-1" dirty="0">
                  <a:latin typeface="Arial"/>
                </a:endParaRPr>
              </a:p>
            </p:txBody>
          </p:sp>
          <p:sp>
            <p:nvSpPr>
              <p:cNvPr id="21" name="CustomShape 8">
                <a:extLst>
                  <a:ext uri="{FF2B5EF4-FFF2-40B4-BE49-F238E27FC236}">
                    <a16:creationId xmlns:a16="http://schemas.microsoft.com/office/drawing/2014/main" id="{61C6B5B3-74C0-4BA4-DD13-4AF98FC3A14B}"/>
                  </a:ext>
                </a:extLst>
              </p:cNvPr>
              <p:cNvSpPr/>
              <p:nvPr/>
            </p:nvSpPr>
            <p:spPr>
              <a:xfrm>
                <a:off x="987139" y="3052734"/>
                <a:ext cx="1525680" cy="310386"/>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algn="ctr">
                  <a:lnSpc>
                    <a:spcPct val="88000"/>
                  </a:lnSpc>
                  <a:spcBef>
                    <a:spcPts val="516"/>
                  </a:spcBef>
                </a:pPr>
                <a:r>
                  <a:rPr lang="en-US" sz="1800" b="1" i="1" strike="noStrike" spc="-1">
                    <a:solidFill>
                      <a:srgbClr val="002060"/>
                    </a:solidFill>
                    <a:latin typeface="Arial"/>
                    <a:ea typeface="ＭＳ Ｐゴシック"/>
                  </a:rPr>
                  <a:t>Memory Access</a:t>
                </a:r>
                <a:endParaRPr lang="en-US" sz="1800" b="0" strike="noStrike" spc="-1">
                  <a:latin typeface="Arial"/>
                </a:endParaRPr>
              </a:p>
            </p:txBody>
          </p:sp>
          <p:sp>
            <p:nvSpPr>
              <p:cNvPr id="22" name="CustomShape 9">
                <a:extLst>
                  <a:ext uri="{FF2B5EF4-FFF2-40B4-BE49-F238E27FC236}">
                    <a16:creationId xmlns:a16="http://schemas.microsoft.com/office/drawing/2014/main" id="{CEED021A-D498-2F0E-184A-0102CDFCC047}"/>
                  </a:ext>
                </a:extLst>
              </p:cNvPr>
              <p:cNvSpPr/>
              <p:nvPr/>
            </p:nvSpPr>
            <p:spPr>
              <a:xfrm>
                <a:off x="993960" y="3591000"/>
                <a:ext cx="1525680" cy="32580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algn="ctr">
                  <a:lnSpc>
                    <a:spcPct val="100000"/>
                  </a:lnSpc>
                </a:pPr>
                <a:r>
                  <a:rPr lang="en-US" sz="1800" b="1" strike="noStrike" spc="-1">
                    <a:solidFill>
                      <a:srgbClr val="000000"/>
                    </a:solidFill>
                    <a:latin typeface="Arial"/>
                    <a:ea typeface="ＭＳ Ｐゴシック"/>
                  </a:rPr>
                  <a:t>Result Write</a:t>
                </a:r>
                <a:endParaRPr lang="en-US" sz="1800" b="0" strike="noStrike" spc="-1">
                  <a:latin typeface="Arial"/>
                </a:endParaRPr>
              </a:p>
            </p:txBody>
          </p:sp>
          <p:sp>
            <p:nvSpPr>
              <p:cNvPr id="23" name="Line 10">
                <a:extLst>
                  <a:ext uri="{FF2B5EF4-FFF2-40B4-BE49-F238E27FC236}">
                    <a16:creationId xmlns:a16="http://schemas.microsoft.com/office/drawing/2014/main" id="{B635C9D2-8A7E-7C0D-A1C3-D67A79D60B44}"/>
                  </a:ext>
                </a:extLst>
              </p:cNvPr>
              <p:cNvSpPr/>
              <p:nvPr/>
            </p:nvSpPr>
            <p:spPr>
              <a:xfrm>
                <a:off x="1749259" y="1651097"/>
                <a:ext cx="6461" cy="22025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4" name="Line 11">
                <a:extLst>
                  <a:ext uri="{FF2B5EF4-FFF2-40B4-BE49-F238E27FC236}">
                    <a16:creationId xmlns:a16="http://schemas.microsoft.com/office/drawing/2014/main" id="{C346C85A-A6ED-66D2-5106-6A7C3DD87ACF}"/>
                  </a:ext>
                </a:extLst>
              </p:cNvPr>
              <p:cNvSpPr/>
              <p:nvPr/>
            </p:nvSpPr>
            <p:spPr>
              <a:xfrm>
                <a:off x="1756440" y="2853636"/>
                <a:ext cx="360" cy="20088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5" name="Line 12">
                <a:extLst>
                  <a:ext uri="{FF2B5EF4-FFF2-40B4-BE49-F238E27FC236}">
                    <a16:creationId xmlns:a16="http://schemas.microsoft.com/office/drawing/2014/main" id="{9AFB2E00-92F9-0F43-B5A0-FE223E49D7DB}"/>
                  </a:ext>
                </a:extLst>
              </p:cNvPr>
              <p:cNvSpPr/>
              <p:nvPr/>
            </p:nvSpPr>
            <p:spPr>
              <a:xfrm>
                <a:off x="1749619" y="2385001"/>
                <a:ext cx="360" cy="1890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6" name="Line 13">
                <a:extLst>
                  <a:ext uri="{FF2B5EF4-FFF2-40B4-BE49-F238E27FC236}">
                    <a16:creationId xmlns:a16="http://schemas.microsoft.com/office/drawing/2014/main" id="{9ECDBCA4-382A-5A71-6A32-9ED44C23A6DD}"/>
                  </a:ext>
                </a:extLst>
              </p:cNvPr>
              <p:cNvSpPr/>
              <p:nvPr/>
            </p:nvSpPr>
            <p:spPr>
              <a:xfrm>
                <a:off x="1749979" y="3378600"/>
                <a:ext cx="360" cy="2124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7" name="Line 14">
                <a:extLst>
                  <a:ext uri="{FF2B5EF4-FFF2-40B4-BE49-F238E27FC236}">
                    <a16:creationId xmlns:a16="http://schemas.microsoft.com/office/drawing/2014/main" id="{6E1196F7-9D4F-8C62-DF15-190331926FE2}"/>
                  </a:ext>
                </a:extLst>
              </p:cNvPr>
              <p:cNvSpPr/>
              <p:nvPr/>
            </p:nvSpPr>
            <p:spPr>
              <a:xfrm flipH="1" flipV="1">
                <a:off x="587520" y="4284000"/>
                <a:ext cx="1162818" cy="6839"/>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8" name="Line 15">
                <a:extLst>
                  <a:ext uri="{FF2B5EF4-FFF2-40B4-BE49-F238E27FC236}">
                    <a16:creationId xmlns:a16="http://schemas.microsoft.com/office/drawing/2014/main" id="{CDDE8C76-B255-215F-5208-897C8E48BC47}"/>
                  </a:ext>
                </a:extLst>
              </p:cNvPr>
              <p:cNvSpPr/>
              <p:nvPr/>
            </p:nvSpPr>
            <p:spPr>
              <a:xfrm flipH="1" flipV="1">
                <a:off x="587160" y="1133640"/>
                <a:ext cx="360" cy="3150000"/>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9" name="Line 16">
                <a:extLst>
                  <a:ext uri="{FF2B5EF4-FFF2-40B4-BE49-F238E27FC236}">
                    <a16:creationId xmlns:a16="http://schemas.microsoft.com/office/drawing/2014/main" id="{EFD1CB40-4EFE-5CBF-78C2-230A6A77EB1D}"/>
                  </a:ext>
                </a:extLst>
              </p:cNvPr>
              <p:cNvSpPr/>
              <p:nvPr/>
            </p:nvSpPr>
            <p:spPr>
              <a:xfrm>
                <a:off x="587159" y="1140839"/>
                <a:ext cx="1163899" cy="7339"/>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0" name="Line 17">
                <a:extLst>
                  <a:ext uri="{FF2B5EF4-FFF2-40B4-BE49-F238E27FC236}">
                    <a16:creationId xmlns:a16="http://schemas.microsoft.com/office/drawing/2014/main" id="{19724794-4885-7B2C-5F91-97BE5D51862C}"/>
                  </a:ext>
                </a:extLst>
              </p:cNvPr>
              <p:cNvSpPr/>
              <p:nvPr/>
            </p:nvSpPr>
            <p:spPr>
              <a:xfrm>
                <a:off x="1751778" y="1148896"/>
                <a:ext cx="360" cy="2034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1" name="CustomShape 18">
                <a:extLst>
                  <a:ext uri="{FF2B5EF4-FFF2-40B4-BE49-F238E27FC236}">
                    <a16:creationId xmlns:a16="http://schemas.microsoft.com/office/drawing/2014/main" id="{0D0132C1-DBA3-0F71-4D85-2D55C4CB8F88}"/>
                  </a:ext>
                </a:extLst>
              </p:cNvPr>
              <p:cNvSpPr/>
              <p:nvPr/>
            </p:nvSpPr>
            <p:spPr>
              <a:xfrm rot="16200000">
                <a:off x="-201960" y="2711880"/>
                <a:ext cx="1637640" cy="39348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1" strike="noStrike" spc="-1">
                    <a:solidFill>
                      <a:srgbClr val="000000"/>
                    </a:solidFill>
                    <a:latin typeface="Times New Roman"/>
                    <a:ea typeface="ＭＳ Ｐゴシック"/>
                  </a:rPr>
                  <a:t>Next Instruction</a:t>
                </a:r>
                <a:endParaRPr lang="en-US" sz="1800" b="0" strike="noStrike" spc="-1">
                  <a:latin typeface="Arial"/>
                </a:endParaRPr>
              </a:p>
            </p:txBody>
          </p:sp>
        </p:grpSp>
        <p:sp>
          <p:nvSpPr>
            <p:cNvPr id="16" name="Line 13">
              <a:extLst>
                <a:ext uri="{FF2B5EF4-FFF2-40B4-BE49-F238E27FC236}">
                  <a16:creationId xmlns:a16="http://schemas.microsoft.com/office/drawing/2014/main" id="{92842633-75F7-1E39-8576-7D844602315B}"/>
                </a:ext>
              </a:extLst>
            </p:cNvPr>
            <p:cNvSpPr/>
            <p:nvPr/>
          </p:nvSpPr>
          <p:spPr>
            <a:xfrm>
              <a:off x="10468072" y="5534790"/>
              <a:ext cx="470" cy="469586"/>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Tree>
    <p:extLst>
      <p:ext uri="{BB962C8B-B14F-4D97-AF65-F5344CB8AC3E}">
        <p14:creationId xmlns:p14="http://schemas.microsoft.com/office/powerpoint/2010/main" val="3026284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19</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a:t>Datapath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a:t>Giai đoạn giải mã (Decode)</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a:t>2</a:t>
            </a:r>
            <a:r>
              <a:rPr lang="en-US"/>
              <a:t>.2</a:t>
            </a:r>
            <a:endParaRPr lang="en-VN" dirty="0"/>
          </a:p>
        </p:txBody>
      </p:sp>
    </p:spTree>
    <p:extLst>
      <p:ext uri="{BB962C8B-B14F-4D97-AF65-F5344CB8AC3E}">
        <p14:creationId xmlns:p14="http://schemas.microsoft.com/office/powerpoint/2010/main" val="2962290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Giai đoạn giải mã (Decode)</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20</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Content Placeholder 5">
            <a:extLst>
              <a:ext uri="{FF2B5EF4-FFF2-40B4-BE49-F238E27FC236}">
                <a16:creationId xmlns:a16="http://schemas.microsoft.com/office/drawing/2014/main" id="{9FF3A2F7-D5D5-0BA4-05A1-FEDD80F12654}"/>
              </a:ext>
            </a:extLst>
          </p:cNvPr>
          <p:cNvSpPr>
            <a:spLocks noGrp="1"/>
          </p:cNvSpPr>
          <p:nvPr>
            <p:ph idx="1"/>
          </p:nvPr>
        </p:nvSpPr>
        <p:spPr/>
        <p:txBody>
          <a:bodyPr/>
          <a:lstStyle/>
          <a:p>
            <a:r>
              <a:rPr lang="vi-VN" dirty="0"/>
              <a:t>Giai đoạn decode: </a:t>
            </a:r>
          </a:p>
          <a:p>
            <a:pPr lvl="1"/>
            <a:r>
              <a:rPr lang="vi-VN" dirty="0"/>
              <a:t>Lấy nội dung dữ liệu trong các trường (field) của lệnh:</a:t>
            </a:r>
          </a:p>
          <a:p>
            <a:pPr lvl="2"/>
            <a:r>
              <a:rPr lang="vi-VN" dirty="0"/>
              <a:t>Đọc opcode để xác định kiểu lệnh và chiều dài của từng trường trong mã máy</a:t>
            </a:r>
          </a:p>
          <a:p>
            <a:pPr lvl="2"/>
            <a:r>
              <a:rPr lang="vi-VN" dirty="0"/>
              <a:t>Đọc dữ liệu từ các thanh ghi cần thiết</a:t>
            </a:r>
          </a:p>
          <a:p>
            <a:pPr lvl="2"/>
            <a:r>
              <a:rPr lang="vi-VN" dirty="0"/>
              <a:t>Có thể 2 (lệnh add), 1 (lệnh addi) hoặc 0 (lệnh j) </a:t>
            </a:r>
          </a:p>
          <a:p>
            <a:pPr lvl="2"/>
            <a:r>
              <a:rPr lang="vi-VN" dirty="0"/>
              <a:t>Chọn thanh ghi đích</a:t>
            </a:r>
          </a:p>
          <a:p>
            <a:r>
              <a:rPr lang="vi-VN" dirty="0"/>
              <a:t>Đầu vào từ giai đoạn trước (Fetch):</a:t>
            </a:r>
          </a:p>
          <a:p>
            <a:pPr lvl="1"/>
            <a:r>
              <a:rPr lang="vi-VN" dirty="0"/>
              <a:t>Lệnh cần được thưc thi (Mã máy)</a:t>
            </a:r>
          </a:p>
          <a:p>
            <a:r>
              <a:rPr lang="vi-VN" dirty="0"/>
              <a:t>Đầu ra cho giai đoạn tiếp theo (Execute):</a:t>
            </a:r>
          </a:p>
          <a:p>
            <a:pPr lvl="1"/>
            <a:r>
              <a:rPr lang="vi-VN" dirty="0"/>
              <a:t>Phép tính và các toán hạng cần thiết</a:t>
            </a:r>
          </a:p>
          <a:p>
            <a:endParaRPr lang="en-US" dirty="0"/>
          </a:p>
        </p:txBody>
      </p:sp>
    </p:spTree>
    <p:extLst>
      <p:ext uri="{BB962C8B-B14F-4D97-AF65-F5344CB8AC3E}">
        <p14:creationId xmlns:p14="http://schemas.microsoft.com/office/powerpoint/2010/main" val="965095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Giai đoạn giải mã (tt)</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21</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8" name="CustomShape 1">
            <a:extLst>
              <a:ext uri="{FF2B5EF4-FFF2-40B4-BE49-F238E27FC236}">
                <a16:creationId xmlns:a16="http://schemas.microsoft.com/office/drawing/2014/main" id="{969AE258-1180-14BF-54E2-A94117407F40}"/>
              </a:ext>
            </a:extLst>
          </p:cNvPr>
          <p:cNvSpPr/>
          <p:nvPr/>
        </p:nvSpPr>
        <p:spPr>
          <a:xfrm rot="10800000">
            <a:off x="1477200" y="2356305"/>
            <a:ext cx="1042560" cy="887760"/>
          </a:xfrm>
          <a:prstGeom prst="rect">
            <a:avLst/>
          </a:prstGeom>
          <a:solidFill>
            <a:schemeClr val="accent1">
              <a:lumMod val="20000"/>
              <a:lumOff val="80000"/>
            </a:schemeClr>
          </a:solidFill>
          <a:ln w="19080">
            <a:round/>
          </a:ln>
        </p:spPr>
        <p:style>
          <a:lnRef idx="2">
            <a:schemeClr val="accent1">
              <a:shade val="50000"/>
            </a:schemeClr>
          </a:lnRef>
          <a:fillRef idx="1">
            <a:schemeClr val="accent1"/>
          </a:fillRef>
          <a:effectRef idx="0">
            <a:schemeClr val="accent1"/>
          </a:effectRef>
          <a:fontRef idx="minor"/>
        </p:style>
        <p:txBody>
          <a:bodyPr rot="5400000" vert="vert" lIns="90000" tIns="45000" rIns="90000" bIns="45000" anchor="ctr"/>
          <a:lstStyle/>
          <a:p>
            <a:pPr algn="ctr">
              <a:lnSpc>
                <a:spcPct val="100000"/>
              </a:lnSpc>
            </a:pPr>
            <a:r>
              <a:rPr lang="en-US" sz="1800" b="1" strike="noStrike" spc="-1">
                <a:solidFill>
                  <a:srgbClr val="C00000"/>
                </a:solidFill>
                <a:latin typeface="Times New Roman"/>
                <a:ea typeface="ＭＳ Ｐゴシック"/>
              </a:rPr>
              <a:t>Fetch Stage</a:t>
            </a:r>
            <a:endParaRPr lang="en-US" sz="1800" b="0" strike="noStrike" spc="-1">
              <a:latin typeface="Arial"/>
            </a:endParaRPr>
          </a:p>
        </p:txBody>
      </p:sp>
      <p:sp>
        <p:nvSpPr>
          <p:cNvPr id="9" name="CustomShape 2">
            <a:extLst>
              <a:ext uri="{FF2B5EF4-FFF2-40B4-BE49-F238E27FC236}">
                <a16:creationId xmlns:a16="http://schemas.microsoft.com/office/drawing/2014/main" id="{4DBCA3FB-967C-C402-AB38-C4EA20A4D266}"/>
              </a:ext>
            </a:extLst>
          </p:cNvPr>
          <p:cNvSpPr/>
          <p:nvPr/>
        </p:nvSpPr>
        <p:spPr>
          <a:xfrm>
            <a:off x="2604360" y="2545305"/>
            <a:ext cx="1511640" cy="503640"/>
          </a:xfrm>
          <a:prstGeom prst="rightArrow">
            <a:avLst>
              <a:gd name="adj1" fmla="val 50000"/>
              <a:gd name="adj2" fmla="val 50000"/>
            </a:avLst>
          </a:prstGeom>
          <a:solidFill>
            <a:schemeClr val="accent2">
              <a:lumMod val="20000"/>
              <a:lumOff val="80000"/>
            </a:schemeClr>
          </a:solidFill>
          <a:ln w="1260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Inst.</a:t>
            </a:r>
            <a:endParaRPr lang="en-US" sz="1800" b="0" strike="noStrike" spc="-1">
              <a:latin typeface="Arial"/>
            </a:endParaRPr>
          </a:p>
        </p:txBody>
      </p:sp>
      <p:sp>
        <p:nvSpPr>
          <p:cNvPr id="10" name="CustomShape 3">
            <a:extLst>
              <a:ext uri="{FF2B5EF4-FFF2-40B4-BE49-F238E27FC236}">
                <a16:creationId xmlns:a16="http://schemas.microsoft.com/office/drawing/2014/main" id="{547DD554-D6FD-5DAA-B3D5-7F8027F25D28}"/>
              </a:ext>
            </a:extLst>
          </p:cNvPr>
          <p:cNvSpPr/>
          <p:nvPr/>
        </p:nvSpPr>
        <p:spPr>
          <a:xfrm>
            <a:off x="5059200" y="2230305"/>
            <a:ext cx="2073600" cy="149292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1" name="CustomShape 4">
            <a:extLst>
              <a:ext uri="{FF2B5EF4-FFF2-40B4-BE49-F238E27FC236}">
                <a16:creationId xmlns:a16="http://schemas.microsoft.com/office/drawing/2014/main" id="{72EC0029-6B45-DF76-95CB-14ECA3FDA237}"/>
              </a:ext>
            </a:extLst>
          </p:cNvPr>
          <p:cNvSpPr/>
          <p:nvPr/>
        </p:nvSpPr>
        <p:spPr>
          <a:xfrm>
            <a:off x="5103480" y="2285385"/>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12" name="CustomShape 5">
            <a:extLst>
              <a:ext uri="{FF2B5EF4-FFF2-40B4-BE49-F238E27FC236}">
                <a16:creationId xmlns:a16="http://schemas.microsoft.com/office/drawing/2014/main" id="{088F2FA9-906F-C0DE-C304-1098334FECAC}"/>
              </a:ext>
            </a:extLst>
          </p:cNvPr>
          <p:cNvSpPr/>
          <p:nvPr/>
        </p:nvSpPr>
        <p:spPr>
          <a:xfrm>
            <a:off x="5103480" y="2654025"/>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13" name="CustomShape 6">
            <a:extLst>
              <a:ext uri="{FF2B5EF4-FFF2-40B4-BE49-F238E27FC236}">
                <a16:creationId xmlns:a16="http://schemas.microsoft.com/office/drawing/2014/main" id="{6EF22AE7-1995-9BFE-A843-F6DB68965E7F}"/>
              </a:ext>
            </a:extLst>
          </p:cNvPr>
          <p:cNvSpPr/>
          <p:nvPr/>
        </p:nvSpPr>
        <p:spPr>
          <a:xfrm>
            <a:off x="5096280" y="3002145"/>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14" name="CustomShape 7">
            <a:extLst>
              <a:ext uri="{FF2B5EF4-FFF2-40B4-BE49-F238E27FC236}">
                <a16:creationId xmlns:a16="http://schemas.microsoft.com/office/drawing/2014/main" id="{69ED7E09-6BBA-9F3F-7E82-A4AEE5464309}"/>
              </a:ext>
            </a:extLst>
          </p:cNvPr>
          <p:cNvSpPr/>
          <p:nvPr/>
        </p:nvSpPr>
        <p:spPr>
          <a:xfrm>
            <a:off x="6467160" y="2332545"/>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15" name="CustomShape 8">
            <a:extLst>
              <a:ext uri="{FF2B5EF4-FFF2-40B4-BE49-F238E27FC236}">
                <a16:creationId xmlns:a16="http://schemas.microsoft.com/office/drawing/2014/main" id="{D8C92247-33FE-B3F2-DA95-AEB5C0695489}"/>
              </a:ext>
            </a:extLst>
          </p:cNvPr>
          <p:cNvSpPr/>
          <p:nvPr/>
        </p:nvSpPr>
        <p:spPr>
          <a:xfrm>
            <a:off x="6467160" y="3191145"/>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16" name="Line 9">
            <a:extLst>
              <a:ext uri="{FF2B5EF4-FFF2-40B4-BE49-F238E27FC236}">
                <a16:creationId xmlns:a16="http://schemas.microsoft.com/office/drawing/2014/main" id="{D2C2C386-2CB0-569C-8A3F-B4905248DFB8}"/>
              </a:ext>
            </a:extLst>
          </p:cNvPr>
          <p:cNvSpPr/>
          <p:nvPr/>
        </p:nvSpPr>
        <p:spPr>
          <a:xfrm>
            <a:off x="4507680" y="2492385"/>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7" name="Line 10">
            <a:extLst>
              <a:ext uri="{FF2B5EF4-FFF2-40B4-BE49-F238E27FC236}">
                <a16:creationId xmlns:a16="http://schemas.microsoft.com/office/drawing/2014/main" id="{FCD50FBA-54C0-B6F5-624A-FB18EED9C413}"/>
              </a:ext>
            </a:extLst>
          </p:cNvPr>
          <p:cNvSpPr/>
          <p:nvPr/>
        </p:nvSpPr>
        <p:spPr>
          <a:xfrm>
            <a:off x="4507680" y="2810265"/>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8" name="Line 11">
            <a:extLst>
              <a:ext uri="{FF2B5EF4-FFF2-40B4-BE49-F238E27FC236}">
                <a16:creationId xmlns:a16="http://schemas.microsoft.com/office/drawing/2014/main" id="{A4EBFF9D-249D-D2BC-04EF-3358EF2831B9}"/>
              </a:ext>
            </a:extLst>
          </p:cNvPr>
          <p:cNvSpPr/>
          <p:nvPr/>
        </p:nvSpPr>
        <p:spPr>
          <a:xfrm>
            <a:off x="4507680" y="3168465"/>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nvGrpSpPr>
          <p:cNvPr id="19" name="Group 12">
            <a:extLst>
              <a:ext uri="{FF2B5EF4-FFF2-40B4-BE49-F238E27FC236}">
                <a16:creationId xmlns:a16="http://schemas.microsoft.com/office/drawing/2014/main" id="{BFAE8925-8FA1-5394-41B2-FD5D79AA9842}"/>
              </a:ext>
            </a:extLst>
          </p:cNvPr>
          <p:cNvGrpSpPr/>
          <p:nvPr/>
        </p:nvGrpSpPr>
        <p:grpSpPr>
          <a:xfrm>
            <a:off x="7132800" y="2499225"/>
            <a:ext cx="343080" cy="874440"/>
            <a:chOff x="6040440" y="1654920"/>
            <a:chExt cx="343080" cy="874440"/>
          </a:xfrm>
        </p:grpSpPr>
        <p:sp>
          <p:nvSpPr>
            <p:cNvPr id="20" name="Line 13">
              <a:extLst>
                <a:ext uri="{FF2B5EF4-FFF2-40B4-BE49-F238E27FC236}">
                  <a16:creationId xmlns:a16="http://schemas.microsoft.com/office/drawing/2014/main" id="{EF21E1F1-52B3-E873-C4DA-7FCD3145AEDE}"/>
                </a:ext>
              </a:extLst>
            </p:cNvPr>
            <p:cNvSpPr/>
            <p:nvPr/>
          </p:nvSpPr>
          <p:spPr>
            <a:xfrm>
              <a:off x="6040440" y="1654920"/>
              <a:ext cx="343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1" name="Line 14">
              <a:extLst>
                <a:ext uri="{FF2B5EF4-FFF2-40B4-BE49-F238E27FC236}">
                  <a16:creationId xmlns:a16="http://schemas.microsoft.com/office/drawing/2014/main" id="{2DA7E279-AD44-1F44-14AB-B5085B34ECB9}"/>
                </a:ext>
              </a:extLst>
            </p:cNvPr>
            <p:cNvSpPr/>
            <p:nvPr/>
          </p:nvSpPr>
          <p:spPr>
            <a:xfrm>
              <a:off x="6040440" y="2529000"/>
              <a:ext cx="343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
        <p:nvSpPr>
          <p:cNvPr id="22" name="CustomShape 15">
            <a:extLst>
              <a:ext uri="{FF2B5EF4-FFF2-40B4-BE49-F238E27FC236}">
                <a16:creationId xmlns:a16="http://schemas.microsoft.com/office/drawing/2014/main" id="{F5396EC5-0110-6CC3-28A2-461B251A2F3D}"/>
              </a:ext>
            </a:extLst>
          </p:cNvPr>
          <p:cNvSpPr/>
          <p:nvPr/>
        </p:nvSpPr>
        <p:spPr>
          <a:xfrm>
            <a:off x="4128240" y="2229945"/>
            <a:ext cx="211680" cy="1128600"/>
          </a:xfrm>
          <a:prstGeom prst="leftBrace">
            <a:avLst>
              <a:gd name="adj1" fmla="val 59229"/>
              <a:gd name="adj2" fmla="val 50000"/>
            </a:avLst>
          </a:prstGeom>
          <a:noFill/>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3" name="CustomShape 16">
            <a:extLst>
              <a:ext uri="{FF2B5EF4-FFF2-40B4-BE49-F238E27FC236}">
                <a16:creationId xmlns:a16="http://schemas.microsoft.com/office/drawing/2014/main" id="{B781C522-295A-2B70-27A8-B4DD5EF9D326}"/>
              </a:ext>
            </a:extLst>
          </p:cNvPr>
          <p:cNvSpPr/>
          <p:nvPr/>
        </p:nvSpPr>
        <p:spPr>
          <a:xfrm>
            <a:off x="7920480" y="2230305"/>
            <a:ext cx="5180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24" name="CustomShape 17">
            <a:extLst>
              <a:ext uri="{FF2B5EF4-FFF2-40B4-BE49-F238E27FC236}">
                <a16:creationId xmlns:a16="http://schemas.microsoft.com/office/drawing/2014/main" id="{15963AE5-8FE0-DFBF-ABFB-A1175AAAD895}"/>
              </a:ext>
            </a:extLst>
          </p:cNvPr>
          <p:cNvSpPr/>
          <p:nvPr/>
        </p:nvSpPr>
        <p:spPr>
          <a:xfrm>
            <a:off x="4325160" y="1978305"/>
            <a:ext cx="8240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Register </a:t>
            </a:r>
            <a:endParaRPr lang="en-US" sz="1000" b="0" strike="noStrike" spc="-1">
              <a:latin typeface="Arial"/>
            </a:endParaRPr>
          </a:p>
          <a:p>
            <a:pPr algn="ctr">
              <a:lnSpc>
                <a:spcPct val="100000"/>
              </a:lnSpc>
            </a:pPr>
            <a:r>
              <a:rPr lang="en-US" sz="1000" b="1" strike="noStrike" spc="-1">
                <a:solidFill>
                  <a:srgbClr val="000000"/>
                </a:solidFill>
                <a:latin typeface="Verdana"/>
                <a:ea typeface="ＭＳ Ｐゴシック"/>
              </a:rPr>
              <a:t>Number</a:t>
            </a:r>
            <a:endParaRPr lang="en-US" sz="1000" b="0" strike="noStrike" spc="-1">
              <a:latin typeface="Arial"/>
            </a:endParaRPr>
          </a:p>
        </p:txBody>
      </p:sp>
      <p:sp>
        <p:nvSpPr>
          <p:cNvPr id="25" name="CustomShape 18">
            <a:extLst>
              <a:ext uri="{FF2B5EF4-FFF2-40B4-BE49-F238E27FC236}">
                <a16:creationId xmlns:a16="http://schemas.microsoft.com/office/drawing/2014/main" id="{3547F593-2404-8602-FBB1-D4D1D3EB69AF}"/>
              </a:ext>
            </a:extLst>
          </p:cNvPr>
          <p:cNvSpPr/>
          <p:nvPr/>
        </p:nvSpPr>
        <p:spPr>
          <a:xfrm>
            <a:off x="6141720" y="2734305"/>
            <a:ext cx="90648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Register</a:t>
            </a:r>
            <a:endParaRPr lang="en-US" sz="1200" b="0" strike="noStrike" spc="-1">
              <a:latin typeface="Arial"/>
            </a:endParaRPr>
          </a:p>
          <a:p>
            <a:pPr algn="ctr">
              <a:lnSpc>
                <a:spcPct val="100000"/>
              </a:lnSpc>
            </a:pPr>
            <a:r>
              <a:rPr lang="en-US" sz="1200" b="1" i="1" strike="noStrike" spc="-1">
                <a:solidFill>
                  <a:srgbClr val="000000"/>
                </a:solidFill>
                <a:latin typeface="Verdana"/>
                <a:ea typeface="ＭＳ Ｐゴシック"/>
              </a:rPr>
              <a:t>File</a:t>
            </a:r>
            <a:endParaRPr lang="en-US" sz="1200" b="0" strike="noStrike" spc="-1">
              <a:latin typeface="Arial"/>
            </a:endParaRPr>
          </a:p>
        </p:txBody>
      </p:sp>
      <p:sp>
        <p:nvSpPr>
          <p:cNvPr id="26" name="Line 19">
            <a:extLst>
              <a:ext uri="{FF2B5EF4-FFF2-40B4-BE49-F238E27FC236}">
                <a16:creationId xmlns:a16="http://schemas.microsoft.com/office/drawing/2014/main" id="{D9061CD6-4EB0-BC2D-1515-3C5DC68DE828}"/>
              </a:ext>
            </a:extLst>
          </p:cNvPr>
          <p:cNvSpPr/>
          <p:nvPr/>
        </p:nvSpPr>
        <p:spPr>
          <a:xfrm flipH="1">
            <a:off x="4635480" y="2421825"/>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7" name="Line 20">
            <a:extLst>
              <a:ext uri="{FF2B5EF4-FFF2-40B4-BE49-F238E27FC236}">
                <a16:creationId xmlns:a16="http://schemas.microsoft.com/office/drawing/2014/main" id="{8D5AE108-9C3A-236F-2B1A-49888060C929}"/>
              </a:ext>
            </a:extLst>
          </p:cNvPr>
          <p:cNvSpPr/>
          <p:nvPr/>
        </p:nvSpPr>
        <p:spPr>
          <a:xfrm flipH="1">
            <a:off x="4635480" y="2739345"/>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8" name="Line 21">
            <a:extLst>
              <a:ext uri="{FF2B5EF4-FFF2-40B4-BE49-F238E27FC236}">
                <a16:creationId xmlns:a16="http://schemas.microsoft.com/office/drawing/2014/main" id="{4373439B-EF07-F2FE-BDAE-BD0ECF88918B}"/>
              </a:ext>
            </a:extLst>
          </p:cNvPr>
          <p:cNvSpPr/>
          <p:nvPr/>
        </p:nvSpPr>
        <p:spPr>
          <a:xfrm flipH="1">
            <a:off x="4635480" y="3097545"/>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9" name="CustomShape 22">
            <a:extLst>
              <a:ext uri="{FF2B5EF4-FFF2-40B4-BE49-F238E27FC236}">
                <a16:creationId xmlns:a16="http://schemas.microsoft.com/office/drawing/2014/main" id="{C85AAED2-AD28-6300-891E-F29E1342F13F}"/>
              </a:ext>
            </a:extLst>
          </p:cNvPr>
          <p:cNvSpPr/>
          <p:nvPr/>
        </p:nvSpPr>
        <p:spPr>
          <a:xfrm>
            <a:off x="4532880" y="2292945"/>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0" name="CustomShape 23">
            <a:extLst>
              <a:ext uri="{FF2B5EF4-FFF2-40B4-BE49-F238E27FC236}">
                <a16:creationId xmlns:a16="http://schemas.microsoft.com/office/drawing/2014/main" id="{B31568C1-426E-4127-DD4D-8AD4F4AFA0FD}"/>
              </a:ext>
            </a:extLst>
          </p:cNvPr>
          <p:cNvSpPr/>
          <p:nvPr/>
        </p:nvSpPr>
        <p:spPr>
          <a:xfrm>
            <a:off x="4499760" y="2624145"/>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1" name="CustomShape 24">
            <a:extLst>
              <a:ext uri="{FF2B5EF4-FFF2-40B4-BE49-F238E27FC236}">
                <a16:creationId xmlns:a16="http://schemas.microsoft.com/office/drawing/2014/main" id="{2577BFD2-70A4-FF65-5614-33DB55BF5FA2}"/>
              </a:ext>
            </a:extLst>
          </p:cNvPr>
          <p:cNvSpPr/>
          <p:nvPr/>
        </p:nvSpPr>
        <p:spPr>
          <a:xfrm>
            <a:off x="4499760" y="3002145"/>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2" name="CustomShape 25">
            <a:extLst>
              <a:ext uri="{FF2B5EF4-FFF2-40B4-BE49-F238E27FC236}">
                <a16:creationId xmlns:a16="http://schemas.microsoft.com/office/drawing/2014/main" id="{2C273598-55E2-87EA-B344-AC4408E5D6B2}"/>
              </a:ext>
            </a:extLst>
          </p:cNvPr>
          <p:cNvSpPr/>
          <p:nvPr/>
        </p:nvSpPr>
        <p:spPr>
          <a:xfrm rot="10800000">
            <a:off x="9408360" y="2437665"/>
            <a:ext cx="1008000" cy="935640"/>
          </a:xfrm>
          <a:prstGeom prst="rect">
            <a:avLst/>
          </a:prstGeom>
          <a:solidFill>
            <a:schemeClr val="accent5">
              <a:lumMod val="20000"/>
              <a:lumOff val="80000"/>
            </a:schemeClr>
          </a:solidFill>
          <a:ln w="19080">
            <a:solidFill>
              <a:schemeClr val="accent5">
                <a:lumMod val="50000"/>
              </a:schemeClr>
            </a:solidFill>
            <a:round/>
          </a:ln>
        </p:spPr>
        <p:style>
          <a:lnRef idx="2">
            <a:schemeClr val="accent1">
              <a:shade val="50000"/>
            </a:schemeClr>
          </a:lnRef>
          <a:fillRef idx="1">
            <a:schemeClr val="accent1"/>
          </a:fillRef>
          <a:effectRef idx="0">
            <a:schemeClr val="accent1"/>
          </a:effectRef>
          <a:fontRef idx="minor"/>
        </p:style>
        <p:txBody>
          <a:bodyPr rot="5400000" vert="vert" lIns="90000" tIns="45000" rIns="90000" bIns="45000" anchor="ctr"/>
          <a:lstStyle/>
          <a:p>
            <a:pPr algn="ctr">
              <a:lnSpc>
                <a:spcPct val="100000"/>
              </a:lnSpc>
            </a:pPr>
            <a:r>
              <a:rPr lang="en-US" sz="1800" b="1" strike="noStrike" spc="-1">
                <a:solidFill>
                  <a:srgbClr val="006600"/>
                </a:solidFill>
                <a:latin typeface="Times New Roman"/>
                <a:ea typeface="ＭＳ Ｐゴシック"/>
              </a:rPr>
              <a:t>Execute Stage</a:t>
            </a:r>
            <a:endParaRPr lang="en-US" sz="1800" b="0" strike="noStrike" spc="-1">
              <a:latin typeface="Arial"/>
            </a:endParaRPr>
          </a:p>
        </p:txBody>
      </p:sp>
      <p:sp>
        <p:nvSpPr>
          <p:cNvPr id="33" name="CustomShape 26">
            <a:extLst>
              <a:ext uri="{FF2B5EF4-FFF2-40B4-BE49-F238E27FC236}">
                <a16:creationId xmlns:a16="http://schemas.microsoft.com/office/drawing/2014/main" id="{30165B5C-CAE0-DB05-B724-A52C7B23750F}"/>
              </a:ext>
            </a:extLst>
          </p:cNvPr>
          <p:cNvSpPr/>
          <p:nvPr/>
        </p:nvSpPr>
        <p:spPr>
          <a:xfrm>
            <a:off x="7896360" y="2670945"/>
            <a:ext cx="1511640" cy="503640"/>
          </a:xfrm>
          <a:prstGeom prst="rightArrow">
            <a:avLst>
              <a:gd name="adj1" fmla="val 50000"/>
              <a:gd name="adj2" fmla="val 50000"/>
            </a:avLst>
          </a:prstGeom>
          <a:solidFill>
            <a:schemeClr val="accent3">
              <a:lumMod val="20000"/>
              <a:lumOff val="80000"/>
            </a:schemeClr>
          </a:solidFill>
          <a:ln w="1260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Operands</a:t>
            </a:r>
            <a:endParaRPr lang="en-US" sz="1600" b="0" strike="noStrike" spc="-1">
              <a:latin typeface="Arial"/>
            </a:endParaRPr>
          </a:p>
        </p:txBody>
      </p:sp>
      <p:sp>
        <p:nvSpPr>
          <p:cNvPr id="34" name="CustomShape 27">
            <a:extLst>
              <a:ext uri="{FF2B5EF4-FFF2-40B4-BE49-F238E27FC236}">
                <a16:creationId xmlns:a16="http://schemas.microsoft.com/office/drawing/2014/main" id="{631294B0-5FAE-5BB5-ADAF-367B07995280}"/>
              </a:ext>
            </a:extLst>
          </p:cNvPr>
          <p:cNvSpPr/>
          <p:nvPr/>
        </p:nvSpPr>
        <p:spPr>
          <a:xfrm>
            <a:off x="7560120" y="2356305"/>
            <a:ext cx="335880" cy="1196640"/>
          </a:xfrm>
          <a:prstGeom prst="rightBrace">
            <a:avLst>
              <a:gd name="adj1" fmla="val 8333"/>
              <a:gd name="adj2" fmla="val 50000"/>
            </a:avLst>
          </a:prstGeom>
          <a:noFill/>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5" name="CustomShape 28">
            <a:extLst>
              <a:ext uri="{FF2B5EF4-FFF2-40B4-BE49-F238E27FC236}">
                <a16:creationId xmlns:a16="http://schemas.microsoft.com/office/drawing/2014/main" id="{E0EAFC62-2F7F-545F-FFD8-809E7BAB8330}"/>
              </a:ext>
            </a:extLst>
          </p:cNvPr>
          <p:cNvSpPr/>
          <p:nvPr/>
        </p:nvSpPr>
        <p:spPr>
          <a:xfrm>
            <a:off x="6720240" y="4749945"/>
            <a:ext cx="2771640" cy="1070640"/>
          </a:xfrm>
          <a:prstGeom prst="accentCallout2">
            <a:avLst>
              <a:gd name="adj1" fmla="val 39333"/>
              <a:gd name="adj2" fmla="val -8333"/>
              <a:gd name="adj3" fmla="val 19779"/>
              <a:gd name="adj4" fmla="val -24939"/>
              <a:gd name="adj5" fmla="val -133068"/>
              <a:gd name="adj6" fmla="val -29271"/>
            </a:avLst>
          </a:prstGeom>
          <a:solidFill>
            <a:schemeClr val="accent6">
              <a:lumMod val="20000"/>
              <a:lumOff val="80000"/>
            </a:schemeClr>
          </a:solidFill>
          <a:ln w="19080">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Khối chứa tập hợp của các thanh ghi, gọi là </a:t>
            </a:r>
            <a:endParaRPr lang="en-US" sz="1800" b="0" strike="noStrike" spc="-1">
              <a:latin typeface="Arial"/>
            </a:endParaRPr>
          </a:p>
          <a:p>
            <a:pPr algn="ctr">
              <a:lnSpc>
                <a:spcPct val="100000"/>
              </a:lnSpc>
            </a:pPr>
            <a:r>
              <a:rPr lang="en-US" sz="1800" b="1" strike="noStrike" spc="-1">
                <a:solidFill>
                  <a:srgbClr val="000000"/>
                </a:solidFill>
                <a:latin typeface="Times New Roman"/>
                <a:ea typeface="ＭＳ Ｐゴシック"/>
              </a:rPr>
              <a:t>Register file</a:t>
            </a:r>
            <a:endParaRPr lang="en-US" sz="1800" b="0" strike="noStrike" spc="-1">
              <a:latin typeface="Arial"/>
            </a:endParaRPr>
          </a:p>
          <a:p>
            <a:pPr algn="ctr">
              <a:lnSpc>
                <a:spcPct val="100000"/>
              </a:lnSpc>
            </a:pPr>
            <a:r>
              <a:rPr lang="en-US" sz="1800" b="0" strike="noStrike" spc="-1">
                <a:solidFill>
                  <a:srgbClr val="000000"/>
                </a:solidFill>
                <a:latin typeface="Times New Roman"/>
                <a:ea typeface="ＭＳ Ｐゴシック"/>
              </a:rPr>
              <a:t>Hoặc </a:t>
            </a:r>
            <a:r>
              <a:rPr lang="en-US" sz="1800" b="1" strike="noStrike" spc="-1">
                <a:solidFill>
                  <a:srgbClr val="000000"/>
                </a:solidFill>
                <a:latin typeface="Times New Roman"/>
                <a:ea typeface="ＭＳ Ｐゴシック"/>
              </a:rPr>
              <a:t>Registers</a:t>
            </a:r>
            <a:endParaRPr lang="en-US" sz="1800" b="0" strike="noStrike" spc="-1">
              <a:latin typeface="Arial"/>
            </a:endParaRPr>
          </a:p>
          <a:p>
            <a:pPr algn="ctr">
              <a:lnSpc>
                <a:spcPct val="100000"/>
              </a:lnSpc>
            </a:pPr>
            <a:endParaRPr lang="en-US" sz="1800" b="0" strike="noStrike" spc="-1">
              <a:latin typeface="Arial"/>
            </a:endParaRPr>
          </a:p>
        </p:txBody>
      </p:sp>
      <p:grpSp>
        <p:nvGrpSpPr>
          <p:cNvPr id="36" name="Group 30">
            <a:extLst>
              <a:ext uri="{FF2B5EF4-FFF2-40B4-BE49-F238E27FC236}">
                <a16:creationId xmlns:a16="http://schemas.microsoft.com/office/drawing/2014/main" id="{90228450-662A-130C-FDD8-63D3F0B7B4F1}"/>
              </a:ext>
            </a:extLst>
          </p:cNvPr>
          <p:cNvGrpSpPr/>
          <p:nvPr/>
        </p:nvGrpSpPr>
        <p:grpSpPr>
          <a:xfrm>
            <a:off x="4535760" y="3351345"/>
            <a:ext cx="1191960" cy="394200"/>
            <a:chOff x="3443400" y="2507040"/>
            <a:chExt cx="1191960" cy="394200"/>
          </a:xfrm>
        </p:grpSpPr>
        <p:sp>
          <p:nvSpPr>
            <p:cNvPr id="37" name="Line 31">
              <a:extLst>
                <a:ext uri="{FF2B5EF4-FFF2-40B4-BE49-F238E27FC236}">
                  <a16:creationId xmlns:a16="http://schemas.microsoft.com/office/drawing/2014/main" id="{A7E73757-82B3-C416-2CDF-FF0F98FEFB13}"/>
                </a:ext>
              </a:extLst>
            </p:cNvPr>
            <p:cNvSpPr/>
            <p:nvPr/>
          </p:nvSpPr>
          <p:spPr>
            <a:xfrm>
              <a:off x="3443400" y="2646000"/>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8" name="CustomShape 32">
              <a:extLst>
                <a:ext uri="{FF2B5EF4-FFF2-40B4-BE49-F238E27FC236}">
                  <a16:creationId xmlns:a16="http://schemas.microsoft.com/office/drawing/2014/main" id="{2ADC8C66-366E-D25A-D89B-39F0F1F8525B}"/>
                </a:ext>
              </a:extLst>
            </p:cNvPr>
            <p:cNvSpPr/>
            <p:nvPr/>
          </p:nvSpPr>
          <p:spPr>
            <a:xfrm>
              <a:off x="4065480" y="2507040"/>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grpSp>
    </p:spTree>
    <p:extLst>
      <p:ext uri="{BB962C8B-B14F-4D97-AF65-F5344CB8AC3E}">
        <p14:creationId xmlns:p14="http://schemas.microsoft.com/office/powerpoint/2010/main" val="1637781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Giai đoạn giải mã (tt)</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22</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grpSp>
        <p:nvGrpSpPr>
          <p:cNvPr id="3" name="Group 4">
            <a:extLst>
              <a:ext uri="{FF2B5EF4-FFF2-40B4-BE49-F238E27FC236}">
                <a16:creationId xmlns:a16="http://schemas.microsoft.com/office/drawing/2014/main" id="{35CD8940-8942-75C7-C73B-EF2602F8CF5E}"/>
              </a:ext>
            </a:extLst>
          </p:cNvPr>
          <p:cNvGrpSpPr>
            <a:grpSpLocks/>
          </p:cNvGrpSpPr>
          <p:nvPr/>
        </p:nvGrpSpPr>
        <p:grpSpPr bwMode="auto">
          <a:xfrm>
            <a:off x="3099131" y="1742744"/>
            <a:ext cx="5716492" cy="656315"/>
            <a:chOff x="703" y="981"/>
            <a:chExt cx="4355" cy="500"/>
          </a:xfrm>
        </p:grpSpPr>
        <p:sp>
          <p:nvSpPr>
            <p:cNvPr id="6" name="Text Box 5">
              <a:extLst>
                <a:ext uri="{FF2B5EF4-FFF2-40B4-BE49-F238E27FC236}">
                  <a16:creationId xmlns:a16="http://schemas.microsoft.com/office/drawing/2014/main" id="{E1DB8857-BE6A-4314-ACDC-0FAAE2830BFA}"/>
                </a:ext>
              </a:extLst>
            </p:cNvPr>
            <p:cNvSpPr txBox="1">
              <a:spLocks noChangeArrowheads="1"/>
            </p:cNvSpPr>
            <p:nvPr/>
          </p:nvSpPr>
          <p:spPr bwMode="auto">
            <a:xfrm>
              <a:off x="703" y="981"/>
              <a:ext cx="817"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0</a:t>
              </a:r>
              <a:endParaRPr lang="en-AU" altLang="en-US" sz="1654"/>
            </a:p>
          </p:txBody>
        </p:sp>
        <p:sp>
          <p:nvSpPr>
            <p:cNvPr id="7" name="Text Box 6">
              <a:extLst>
                <a:ext uri="{FF2B5EF4-FFF2-40B4-BE49-F238E27FC236}">
                  <a16:creationId xmlns:a16="http://schemas.microsoft.com/office/drawing/2014/main" id="{AB4149CE-280F-2C89-214A-DDB4199DE56F}"/>
                </a:ext>
              </a:extLst>
            </p:cNvPr>
            <p:cNvSpPr txBox="1">
              <a:spLocks noChangeArrowheads="1"/>
            </p:cNvSpPr>
            <p:nvPr/>
          </p:nvSpPr>
          <p:spPr bwMode="auto">
            <a:xfrm>
              <a:off x="1520" y="981"/>
              <a:ext cx="680"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rs</a:t>
              </a:r>
              <a:endParaRPr lang="en-AU" altLang="en-US" sz="1654"/>
            </a:p>
          </p:txBody>
        </p:sp>
        <p:sp>
          <p:nvSpPr>
            <p:cNvPr id="39" name="Text Box 7">
              <a:extLst>
                <a:ext uri="{FF2B5EF4-FFF2-40B4-BE49-F238E27FC236}">
                  <a16:creationId xmlns:a16="http://schemas.microsoft.com/office/drawing/2014/main" id="{7FFA5EB6-4567-096C-5A0B-D749537F68D3}"/>
                </a:ext>
              </a:extLst>
            </p:cNvPr>
            <p:cNvSpPr txBox="1">
              <a:spLocks noChangeArrowheads="1"/>
            </p:cNvSpPr>
            <p:nvPr/>
          </p:nvSpPr>
          <p:spPr bwMode="auto">
            <a:xfrm>
              <a:off x="2200" y="981"/>
              <a:ext cx="680"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rt</a:t>
              </a:r>
              <a:endParaRPr lang="en-AU" altLang="en-US" sz="1654"/>
            </a:p>
          </p:txBody>
        </p:sp>
        <p:sp>
          <p:nvSpPr>
            <p:cNvPr id="40" name="Text Box 8">
              <a:extLst>
                <a:ext uri="{FF2B5EF4-FFF2-40B4-BE49-F238E27FC236}">
                  <a16:creationId xmlns:a16="http://schemas.microsoft.com/office/drawing/2014/main" id="{0D1B8B81-8E24-AF82-0839-1A83889BB437}"/>
                </a:ext>
              </a:extLst>
            </p:cNvPr>
            <p:cNvSpPr txBox="1">
              <a:spLocks noChangeArrowheads="1"/>
            </p:cNvSpPr>
            <p:nvPr/>
          </p:nvSpPr>
          <p:spPr bwMode="auto">
            <a:xfrm>
              <a:off x="2880" y="981"/>
              <a:ext cx="680"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rd</a:t>
              </a:r>
              <a:endParaRPr lang="en-AU" altLang="en-US" sz="1654"/>
            </a:p>
          </p:txBody>
        </p:sp>
        <p:sp>
          <p:nvSpPr>
            <p:cNvPr id="41" name="Text Box 9">
              <a:extLst>
                <a:ext uri="{FF2B5EF4-FFF2-40B4-BE49-F238E27FC236}">
                  <a16:creationId xmlns:a16="http://schemas.microsoft.com/office/drawing/2014/main" id="{3491C37A-8968-EB16-B80F-54D50B94FA88}"/>
                </a:ext>
              </a:extLst>
            </p:cNvPr>
            <p:cNvSpPr txBox="1">
              <a:spLocks noChangeArrowheads="1"/>
            </p:cNvSpPr>
            <p:nvPr/>
          </p:nvSpPr>
          <p:spPr bwMode="auto">
            <a:xfrm>
              <a:off x="3561" y="981"/>
              <a:ext cx="680"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shamt</a:t>
              </a:r>
              <a:endParaRPr lang="en-AU" altLang="en-US" sz="1654"/>
            </a:p>
          </p:txBody>
        </p:sp>
        <p:sp>
          <p:nvSpPr>
            <p:cNvPr id="42" name="Text Box 10">
              <a:extLst>
                <a:ext uri="{FF2B5EF4-FFF2-40B4-BE49-F238E27FC236}">
                  <a16:creationId xmlns:a16="http://schemas.microsoft.com/office/drawing/2014/main" id="{94C95D79-7BB2-FE92-25F2-BCCE206AF25F}"/>
                </a:ext>
              </a:extLst>
            </p:cNvPr>
            <p:cNvSpPr txBox="1">
              <a:spLocks noChangeArrowheads="1"/>
            </p:cNvSpPr>
            <p:nvPr/>
          </p:nvSpPr>
          <p:spPr bwMode="auto">
            <a:xfrm>
              <a:off x="4241" y="981"/>
              <a:ext cx="817"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funct</a:t>
              </a:r>
              <a:endParaRPr lang="en-AU" altLang="en-US" sz="1654"/>
            </a:p>
          </p:txBody>
        </p:sp>
        <p:sp>
          <p:nvSpPr>
            <p:cNvPr id="43" name="Text Box 11">
              <a:extLst>
                <a:ext uri="{FF2B5EF4-FFF2-40B4-BE49-F238E27FC236}">
                  <a16:creationId xmlns:a16="http://schemas.microsoft.com/office/drawing/2014/main" id="{CF6A4676-4E84-F803-0F07-3795D575A110}"/>
                </a:ext>
              </a:extLst>
            </p:cNvPr>
            <p:cNvSpPr txBox="1">
              <a:spLocks noChangeArrowheads="1"/>
            </p:cNvSpPr>
            <p:nvPr/>
          </p:nvSpPr>
          <p:spPr bwMode="auto">
            <a:xfrm>
              <a:off x="865" y="1256"/>
              <a:ext cx="46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31:26</a:t>
              </a:r>
              <a:endParaRPr lang="en-AU" altLang="en-US" sz="1323"/>
            </a:p>
          </p:txBody>
        </p:sp>
        <p:sp>
          <p:nvSpPr>
            <p:cNvPr id="44" name="Text Box 12">
              <a:extLst>
                <a:ext uri="{FF2B5EF4-FFF2-40B4-BE49-F238E27FC236}">
                  <a16:creationId xmlns:a16="http://schemas.microsoft.com/office/drawing/2014/main" id="{398E2570-0BF6-B0D9-C3A7-EBC58C827CF8}"/>
                </a:ext>
              </a:extLst>
            </p:cNvPr>
            <p:cNvSpPr txBox="1">
              <a:spLocks noChangeArrowheads="1"/>
            </p:cNvSpPr>
            <p:nvPr/>
          </p:nvSpPr>
          <p:spPr bwMode="auto">
            <a:xfrm>
              <a:off x="4475" y="1256"/>
              <a:ext cx="32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5:0</a:t>
              </a:r>
              <a:endParaRPr lang="en-AU" altLang="en-US" sz="1323"/>
            </a:p>
          </p:txBody>
        </p:sp>
        <p:sp>
          <p:nvSpPr>
            <p:cNvPr id="45" name="Text Box 13">
              <a:extLst>
                <a:ext uri="{FF2B5EF4-FFF2-40B4-BE49-F238E27FC236}">
                  <a16:creationId xmlns:a16="http://schemas.microsoft.com/office/drawing/2014/main" id="{ADAEF27F-9607-5A2F-A824-107890A7F166}"/>
                </a:ext>
              </a:extLst>
            </p:cNvPr>
            <p:cNvSpPr txBox="1">
              <a:spLocks noChangeArrowheads="1"/>
            </p:cNvSpPr>
            <p:nvPr/>
          </p:nvSpPr>
          <p:spPr bwMode="auto">
            <a:xfrm>
              <a:off x="1636" y="1256"/>
              <a:ext cx="46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25:21</a:t>
              </a:r>
              <a:endParaRPr lang="en-AU" altLang="en-US" sz="1323"/>
            </a:p>
          </p:txBody>
        </p:sp>
        <p:sp>
          <p:nvSpPr>
            <p:cNvPr id="46" name="Text Box 14">
              <a:extLst>
                <a:ext uri="{FF2B5EF4-FFF2-40B4-BE49-F238E27FC236}">
                  <a16:creationId xmlns:a16="http://schemas.microsoft.com/office/drawing/2014/main" id="{E2D1FDB8-5F82-5FB8-2DB1-7E2971F0FE7C}"/>
                </a:ext>
              </a:extLst>
            </p:cNvPr>
            <p:cNvSpPr txBox="1">
              <a:spLocks noChangeArrowheads="1"/>
            </p:cNvSpPr>
            <p:nvPr/>
          </p:nvSpPr>
          <p:spPr bwMode="auto">
            <a:xfrm>
              <a:off x="2317" y="1256"/>
              <a:ext cx="46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20:16</a:t>
              </a:r>
              <a:endParaRPr lang="en-AU" altLang="en-US" sz="1323"/>
            </a:p>
          </p:txBody>
        </p:sp>
        <p:sp>
          <p:nvSpPr>
            <p:cNvPr id="47" name="Text Box 15">
              <a:extLst>
                <a:ext uri="{FF2B5EF4-FFF2-40B4-BE49-F238E27FC236}">
                  <a16:creationId xmlns:a16="http://schemas.microsoft.com/office/drawing/2014/main" id="{4D291A7C-1FD5-E3EE-A02D-4FD4FC36E586}"/>
                </a:ext>
              </a:extLst>
            </p:cNvPr>
            <p:cNvSpPr txBox="1">
              <a:spLocks noChangeArrowheads="1"/>
            </p:cNvSpPr>
            <p:nvPr/>
          </p:nvSpPr>
          <p:spPr bwMode="auto">
            <a:xfrm>
              <a:off x="3002" y="1256"/>
              <a:ext cx="45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15:11</a:t>
              </a:r>
              <a:endParaRPr lang="en-AU" altLang="en-US" sz="1323"/>
            </a:p>
          </p:txBody>
        </p:sp>
        <p:sp>
          <p:nvSpPr>
            <p:cNvPr id="48" name="Text Box 16">
              <a:extLst>
                <a:ext uri="{FF2B5EF4-FFF2-40B4-BE49-F238E27FC236}">
                  <a16:creationId xmlns:a16="http://schemas.microsoft.com/office/drawing/2014/main" id="{D9B9001E-591A-4027-01EF-EF8C7B18252B}"/>
                </a:ext>
              </a:extLst>
            </p:cNvPr>
            <p:cNvSpPr txBox="1">
              <a:spLocks noChangeArrowheads="1"/>
            </p:cNvSpPr>
            <p:nvPr/>
          </p:nvSpPr>
          <p:spPr bwMode="auto">
            <a:xfrm>
              <a:off x="3713" y="1256"/>
              <a:ext cx="392"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10:6</a:t>
              </a:r>
              <a:endParaRPr lang="en-AU" altLang="en-US" sz="1323"/>
            </a:p>
          </p:txBody>
        </p:sp>
      </p:grpSp>
      <p:grpSp>
        <p:nvGrpSpPr>
          <p:cNvPr id="49" name="Group 17">
            <a:extLst>
              <a:ext uri="{FF2B5EF4-FFF2-40B4-BE49-F238E27FC236}">
                <a16:creationId xmlns:a16="http://schemas.microsoft.com/office/drawing/2014/main" id="{7C6661EE-13BA-04C8-180F-2DE4886BDE14}"/>
              </a:ext>
            </a:extLst>
          </p:cNvPr>
          <p:cNvGrpSpPr>
            <a:grpSpLocks/>
          </p:cNvGrpSpPr>
          <p:nvPr/>
        </p:nvGrpSpPr>
        <p:grpSpPr bwMode="auto">
          <a:xfrm>
            <a:off x="3099131" y="2576261"/>
            <a:ext cx="5716492" cy="656313"/>
            <a:chOff x="884" y="981"/>
            <a:chExt cx="4355" cy="500"/>
          </a:xfrm>
        </p:grpSpPr>
        <p:sp>
          <p:nvSpPr>
            <p:cNvPr id="50" name="Text Box 18">
              <a:extLst>
                <a:ext uri="{FF2B5EF4-FFF2-40B4-BE49-F238E27FC236}">
                  <a16:creationId xmlns:a16="http://schemas.microsoft.com/office/drawing/2014/main" id="{17345396-9A7E-8224-DD6D-570FFA331D72}"/>
                </a:ext>
              </a:extLst>
            </p:cNvPr>
            <p:cNvSpPr txBox="1">
              <a:spLocks noChangeArrowheads="1"/>
            </p:cNvSpPr>
            <p:nvPr/>
          </p:nvSpPr>
          <p:spPr bwMode="auto">
            <a:xfrm>
              <a:off x="884" y="981"/>
              <a:ext cx="817"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35 or 43</a:t>
              </a:r>
              <a:endParaRPr lang="en-AU" altLang="en-US" sz="1654"/>
            </a:p>
          </p:txBody>
        </p:sp>
        <p:sp>
          <p:nvSpPr>
            <p:cNvPr id="51" name="Text Box 19">
              <a:extLst>
                <a:ext uri="{FF2B5EF4-FFF2-40B4-BE49-F238E27FC236}">
                  <a16:creationId xmlns:a16="http://schemas.microsoft.com/office/drawing/2014/main" id="{55EAE261-E57C-F15B-FF0A-6EAB7CE6C22E}"/>
                </a:ext>
              </a:extLst>
            </p:cNvPr>
            <p:cNvSpPr txBox="1">
              <a:spLocks noChangeArrowheads="1"/>
            </p:cNvSpPr>
            <p:nvPr/>
          </p:nvSpPr>
          <p:spPr bwMode="auto">
            <a:xfrm>
              <a:off x="1701" y="981"/>
              <a:ext cx="680"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rs</a:t>
              </a:r>
              <a:endParaRPr lang="en-AU" altLang="en-US" sz="1654"/>
            </a:p>
          </p:txBody>
        </p:sp>
        <p:sp>
          <p:nvSpPr>
            <p:cNvPr id="52" name="Text Box 20">
              <a:extLst>
                <a:ext uri="{FF2B5EF4-FFF2-40B4-BE49-F238E27FC236}">
                  <a16:creationId xmlns:a16="http://schemas.microsoft.com/office/drawing/2014/main" id="{9C7CEEE1-4A0E-B43A-46EF-444258B780EC}"/>
                </a:ext>
              </a:extLst>
            </p:cNvPr>
            <p:cNvSpPr txBox="1">
              <a:spLocks noChangeArrowheads="1"/>
            </p:cNvSpPr>
            <p:nvPr/>
          </p:nvSpPr>
          <p:spPr bwMode="auto">
            <a:xfrm>
              <a:off x="2381" y="981"/>
              <a:ext cx="680"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rt</a:t>
              </a:r>
              <a:endParaRPr lang="en-AU" altLang="en-US" sz="1654"/>
            </a:p>
          </p:txBody>
        </p:sp>
        <p:sp>
          <p:nvSpPr>
            <p:cNvPr id="53" name="Text Box 21">
              <a:extLst>
                <a:ext uri="{FF2B5EF4-FFF2-40B4-BE49-F238E27FC236}">
                  <a16:creationId xmlns:a16="http://schemas.microsoft.com/office/drawing/2014/main" id="{4695E16A-269E-BDBE-63C6-AAE270F5067F}"/>
                </a:ext>
              </a:extLst>
            </p:cNvPr>
            <p:cNvSpPr txBox="1">
              <a:spLocks noChangeArrowheads="1"/>
            </p:cNvSpPr>
            <p:nvPr/>
          </p:nvSpPr>
          <p:spPr bwMode="auto">
            <a:xfrm>
              <a:off x="3061" y="981"/>
              <a:ext cx="2178"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address</a:t>
              </a:r>
              <a:endParaRPr lang="en-AU" altLang="en-US" sz="1654"/>
            </a:p>
          </p:txBody>
        </p:sp>
        <p:sp>
          <p:nvSpPr>
            <p:cNvPr id="54" name="Text Box 22">
              <a:extLst>
                <a:ext uri="{FF2B5EF4-FFF2-40B4-BE49-F238E27FC236}">
                  <a16:creationId xmlns:a16="http://schemas.microsoft.com/office/drawing/2014/main" id="{D73FF022-A7C5-FE9C-D359-76C4D73D2454}"/>
                </a:ext>
              </a:extLst>
            </p:cNvPr>
            <p:cNvSpPr txBox="1">
              <a:spLocks noChangeArrowheads="1"/>
            </p:cNvSpPr>
            <p:nvPr/>
          </p:nvSpPr>
          <p:spPr bwMode="auto">
            <a:xfrm>
              <a:off x="1046" y="1256"/>
              <a:ext cx="46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31:26</a:t>
              </a:r>
              <a:endParaRPr lang="en-AU" altLang="en-US" sz="1323"/>
            </a:p>
          </p:txBody>
        </p:sp>
        <p:sp>
          <p:nvSpPr>
            <p:cNvPr id="55" name="Text Box 23">
              <a:extLst>
                <a:ext uri="{FF2B5EF4-FFF2-40B4-BE49-F238E27FC236}">
                  <a16:creationId xmlns:a16="http://schemas.microsoft.com/office/drawing/2014/main" id="{F72ACFC5-47AC-63A8-A811-2990D6E0FC36}"/>
                </a:ext>
              </a:extLst>
            </p:cNvPr>
            <p:cNvSpPr txBox="1">
              <a:spLocks noChangeArrowheads="1"/>
            </p:cNvSpPr>
            <p:nvPr/>
          </p:nvSpPr>
          <p:spPr bwMode="auto">
            <a:xfrm>
              <a:off x="1817" y="1256"/>
              <a:ext cx="46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25:21</a:t>
              </a:r>
              <a:endParaRPr lang="en-AU" altLang="en-US" sz="1323"/>
            </a:p>
          </p:txBody>
        </p:sp>
        <p:sp>
          <p:nvSpPr>
            <p:cNvPr id="56" name="Text Box 24">
              <a:extLst>
                <a:ext uri="{FF2B5EF4-FFF2-40B4-BE49-F238E27FC236}">
                  <a16:creationId xmlns:a16="http://schemas.microsoft.com/office/drawing/2014/main" id="{FFD34EDF-DF8B-EA2E-7C29-637C07C8368C}"/>
                </a:ext>
              </a:extLst>
            </p:cNvPr>
            <p:cNvSpPr txBox="1">
              <a:spLocks noChangeArrowheads="1"/>
            </p:cNvSpPr>
            <p:nvPr/>
          </p:nvSpPr>
          <p:spPr bwMode="auto">
            <a:xfrm>
              <a:off x="2498" y="1256"/>
              <a:ext cx="46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20:16</a:t>
              </a:r>
              <a:endParaRPr lang="en-AU" altLang="en-US" sz="1323"/>
            </a:p>
          </p:txBody>
        </p:sp>
        <p:sp>
          <p:nvSpPr>
            <p:cNvPr id="57" name="Text Box 25">
              <a:extLst>
                <a:ext uri="{FF2B5EF4-FFF2-40B4-BE49-F238E27FC236}">
                  <a16:creationId xmlns:a16="http://schemas.microsoft.com/office/drawing/2014/main" id="{BF8D3967-EC4F-B142-D38C-EE63E9CBE0EE}"/>
                </a:ext>
              </a:extLst>
            </p:cNvPr>
            <p:cNvSpPr txBox="1">
              <a:spLocks noChangeArrowheads="1"/>
            </p:cNvSpPr>
            <p:nvPr/>
          </p:nvSpPr>
          <p:spPr bwMode="auto">
            <a:xfrm>
              <a:off x="3986" y="1256"/>
              <a:ext cx="392"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15:0</a:t>
              </a:r>
              <a:endParaRPr lang="en-AU" altLang="en-US" sz="1323"/>
            </a:p>
          </p:txBody>
        </p:sp>
      </p:grpSp>
      <p:grpSp>
        <p:nvGrpSpPr>
          <p:cNvPr id="58" name="Group 26">
            <a:extLst>
              <a:ext uri="{FF2B5EF4-FFF2-40B4-BE49-F238E27FC236}">
                <a16:creationId xmlns:a16="http://schemas.microsoft.com/office/drawing/2014/main" id="{C863CD60-C02A-9BD3-C43C-9F2894D86EAE}"/>
              </a:ext>
            </a:extLst>
          </p:cNvPr>
          <p:cNvGrpSpPr>
            <a:grpSpLocks/>
          </p:cNvGrpSpPr>
          <p:nvPr/>
        </p:nvGrpSpPr>
        <p:grpSpPr bwMode="auto">
          <a:xfrm>
            <a:off x="3099131" y="3390090"/>
            <a:ext cx="5716492" cy="656313"/>
            <a:chOff x="884" y="981"/>
            <a:chExt cx="4355" cy="500"/>
          </a:xfrm>
        </p:grpSpPr>
        <p:sp>
          <p:nvSpPr>
            <p:cNvPr id="59" name="Text Box 27">
              <a:extLst>
                <a:ext uri="{FF2B5EF4-FFF2-40B4-BE49-F238E27FC236}">
                  <a16:creationId xmlns:a16="http://schemas.microsoft.com/office/drawing/2014/main" id="{09F4EC58-0BBA-EB4D-A42A-D64C65D89195}"/>
                </a:ext>
              </a:extLst>
            </p:cNvPr>
            <p:cNvSpPr txBox="1">
              <a:spLocks noChangeArrowheads="1"/>
            </p:cNvSpPr>
            <p:nvPr/>
          </p:nvSpPr>
          <p:spPr bwMode="auto">
            <a:xfrm>
              <a:off x="884" y="981"/>
              <a:ext cx="817"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4</a:t>
              </a:r>
              <a:endParaRPr lang="en-AU" altLang="en-US" sz="1654"/>
            </a:p>
          </p:txBody>
        </p:sp>
        <p:sp>
          <p:nvSpPr>
            <p:cNvPr id="60" name="Text Box 28">
              <a:extLst>
                <a:ext uri="{FF2B5EF4-FFF2-40B4-BE49-F238E27FC236}">
                  <a16:creationId xmlns:a16="http://schemas.microsoft.com/office/drawing/2014/main" id="{A402A0A2-068F-F172-1655-1A6008EC14CC}"/>
                </a:ext>
              </a:extLst>
            </p:cNvPr>
            <p:cNvSpPr txBox="1">
              <a:spLocks noChangeArrowheads="1"/>
            </p:cNvSpPr>
            <p:nvPr/>
          </p:nvSpPr>
          <p:spPr bwMode="auto">
            <a:xfrm>
              <a:off x="1701" y="981"/>
              <a:ext cx="680"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rs</a:t>
              </a:r>
              <a:endParaRPr lang="en-AU" altLang="en-US" sz="1654"/>
            </a:p>
          </p:txBody>
        </p:sp>
        <p:sp>
          <p:nvSpPr>
            <p:cNvPr id="61" name="Text Box 29">
              <a:extLst>
                <a:ext uri="{FF2B5EF4-FFF2-40B4-BE49-F238E27FC236}">
                  <a16:creationId xmlns:a16="http://schemas.microsoft.com/office/drawing/2014/main" id="{37624B00-1838-AFA1-F6B1-BEA7057A7D0C}"/>
                </a:ext>
              </a:extLst>
            </p:cNvPr>
            <p:cNvSpPr txBox="1">
              <a:spLocks noChangeArrowheads="1"/>
            </p:cNvSpPr>
            <p:nvPr/>
          </p:nvSpPr>
          <p:spPr bwMode="auto">
            <a:xfrm>
              <a:off x="2381" y="981"/>
              <a:ext cx="680"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rt</a:t>
              </a:r>
              <a:endParaRPr lang="en-AU" altLang="en-US" sz="1654"/>
            </a:p>
          </p:txBody>
        </p:sp>
        <p:sp>
          <p:nvSpPr>
            <p:cNvPr id="62" name="Text Box 30">
              <a:extLst>
                <a:ext uri="{FF2B5EF4-FFF2-40B4-BE49-F238E27FC236}">
                  <a16:creationId xmlns:a16="http://schemas.microsoft.com/office/drawing/2014/main" id="{B2DDF6A4-1343-B943-82D7-A800B7846EC1}"/>
                </a:ext>
              </a:extLst>
            </p:cNvPr>
            <p:cNvSpPr txBox="1">
              <a:spLocks noChangeArrowheads="1"/>
            </p:cNvSpPr>
            <p:nvPr/>
          </p:nvSpPr>
          <p:spPr bwMode="auto">
            <a:xfrm>
              <a:off x="3061" y="981"/>
              <a:ext cx="2178" cy="26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54"/>
                <a:t>address</a:t>
              </a:r>
              <a:endParaRPr lang="en-AU" altLang="en-US" sz="1654"/>
            </a:p>
          </p:txBody>
        </p:sp>
        <p:sp>
          <p:nvSpPr>
            <p:cNvPr id="63" name="Text Box 31">
              <a:extLst>
                <a:ext uri="{FF2B5EF4-FFF2-40B4-BE49-F238E27FC236}">
                  <a16:creationId xmlns:a16="http://schemas.microsoft.com/office/drawing/2014/main" id="{A6085175-9E13-CB19-8314-D1C5F7350800}"/>
                </a:ext>
              </a:extLst>
            </p:cNvPr>
            <p:cNvSpPr txBox="1">
              <a:spLocks noChangeArrowheads="1"/>
            </p:cNvSpPr>
            <p:nvPr/>
          </p:nvSpPr>
          <p:spPr bwMode="auto">
            <a:xfrm>
              <a:off x="1046" y="1256"/>
              <a:ext cx="46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31:26</a:t>
              </a:r>
              <a:endParaRPr lang="en-AU" altLang="en-US" sz="1323"/>
            </a:p>
          </p:txBody>
        </p:sp>
        <p:sp>
          <p:nvSpPr>
            <p:cNvPr id="64" name="Text Box 32">
              <a:extLst>
                <a:ext uri="{FF2B5EF4-FFF2-40B4-BE49-F238E27FC236}">
                  <a16:creationId xmlns:a16="http://schemas.microsoft.com/office/drawing/2014/main" id="{D9D25EA4-BCDE-F8D1-E8F3-54DE7D2CC900}"/>
                </a:ext>
              </a:extLst>
            </p:cNvPr>
            <p:cNvSpPr txBox="1">
              <a:spLocks noChangeArrowheads="1"/>
            </p:cNvSpPr>
            <p:nvPr/>
          </p:nvSpPr>
          <p:spPr bwMode="auto">
            <a:xfrm>
              <a:off x="1817" y="1256"/>
              <a:ext cx="46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25:21</a:t>
              </a:r>
              <a:endParaRPr lang="en-AU" altLang="en-US" sz="1323"/>
            </a:p>
          </p:txBody>
        </p:sp>
        <p:sp>
          <p:nvSpPr>
            <p:cNvPr id="65" name="Text Box 33">
              <a:extLst>
                <a:ext uri="{FF2B5EF4-FFF2-40B4-BE49-F238E27FC236}">
                  <a16:creationId xmlns:a16="http://schemas.microsoft.com/office/drawing/2014/main" id="{EB800795-4F98-8BBE-7D50-4C9A20869050}"/>
                </a:ext>
              </a:extLst>
            </p:cNvPr>
            <p:cNvSpPr txBox="1">
              <a:spLocks noChangeArrowheads="1"/>
            </p:cNvSpPr>
            <p:nvPr/>
          </p:nvSpPr>
          <p:spPr bwMode="auto">
            <a:xfrm>
              <a:off x="2498" y="1256"/>
              <a:ext cx="46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20:16</a:t>
              </a:r>
              <a:endParaRPr lang="en-AU" altLang="en-US" sz="1323"/>
            </a:p>
          </p:txBody>
        </p:sp>
        <p:sp>
          <p:nvSpPr>
            <p:cNvPr id="66" name="Text Box 34">
              <a:extLst>
                <a:ext uri="{FF2B5EF4-FFF2-40B4-BE49-F238E27FC236}">
                  <a16:creationId xmlns:a16="http://schemas.microsoft.com/office/drawing/2014/main" id="{C2DDEAD2-9531-0B6D-65BA-D14D2BE88B43}"/>
                </a:ext>
              </a:extLst>
            </p:cNvPr>
            <p:cNvSpPr txBox="1">
              <a:spLocks noChangeArrowheads="1"/>
            </p:cNvSpPr>
            <p:nvPr/>
          </p:nvSpPr>
          <p:spPr bwMode="auto">
            <a:xfrm>
              <a:off x="3986" y="1256"/>
              <a:ext cx="392"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323"/>
                <a:t>15:0</a:t>
              </a:r>
              <a:endParaRPr lang="en-AU" altLang="en-US" sz="1323"/>
            </a:p>
          </p:txBody>
        </p:sp>
      </p:grpSp>
      <p:sp>
        <p:nvSpPr>
          <p:cNvPr id="67" name="Text Box 35">
            <a:extLst>
              <a:ext uri="{FF2B5EF4-FFF2-40B4-BE49-F238E27FC236}">
                <a16:creationId xmlns:a16="http://schemas.microsoft.com/office/drawing/2014/main" id="{A3452C4A-77D8-EEF0-A04A-DB03B4ACEC1A}"/>
              </a:ext>
            </a:extLst>
          </p:cNvPr>
          <p:cNvSpPr txBox="1">
            <a:spLocks noChangeArrowheads="1"/>
          </p:cNvSpPr>
          <p:nvPr/>
        </p:nvSpPr>
        <p:spPr bwMode="auto">
          <a:xfrm>
            <a:off x="2252486" y="1786061"/>
            <a:ext cx="747320" cy="32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488"/>
              <a:t>R-type</a:t>
            </a:r>
            <a:endParaRPr lang="en-AU" altLang="en-US" sz="1488"/>
          </a:p>
        </p:txBody>
      </p:sp>
      <p:sp>
        <p:nvSpPr>
          <p:cNvPr id="68" name="Text Box 36">
            <a:extLst>
              <a:ext uri="{FF2B5EF4-FFF2-40B4-BE49-F238E27FC236}">
                <a16:creationId xmlns:a16="http://schemas.microsoft.com/office/drawing/2014/main" id="{0A46FDB6-A07F-242C-305A-4DC094C69972}"/>
              </a:ext>
            </a:extLst>
          </p:cNvPr>
          <p:cNvSpPr txBox="1">
            <a:spLocks noChangeArrowheads="1"/>
          </p:cNvSpPr>
          <p:nvPr/>
        </p:nvSpPr>
        <p:spPr bwMode="auto">
          <a:xfrm>
            <a:off x="2252486" y="2501442"/>
            <a:ext cx="660758" cy="550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488"/>
              <a:t>Load/</a:t>
            </a:r>
            <a:br>
              <a:rPr lang="en-US" altLang="en-US" sz="1488"/>
            </a:br>
            <a:r>
              <a:rPr lang="en-US" altLang="en-US" sz="1488"/>
              <a:t>Store</a:t>
            </a:r>
            <a:endParaRPr lang="en-AU" altLang="en-US" sz="1488"/>
          </a:p>
        </p:txBody>
      </p:sp>
      <p:sp>
        <p:nvSpPr>
          <p:cNvPr id="69" name="Text Box 37">
            <a:extLst>
              <a:ext uri="{FF2B5EF4-FFF2-40B4-BE49-F238E27FC236}">
                <a16:creationId xmlns:a16="http://schemas.microsoft.com/office/drawing/2014/main" id="{6911395A-7F11-ABF0-378C-7C77DE1552CF}"/>
              </a:ext>
            </a:extLst>
          </p:cNvPr>
          <p:cNvSpPr txBox="1">
            <a:spLocks noChangeArrowheads="1"/>
          </p:cNvSpPr>
          <p:nvPr/>
        </p:nvSpPr>
        <p:spPr bwMode="auto">
          <a:xfrm>
            <a:off x="2252487" y="3453097"/>
            <a:ext cx="788999" cy="32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488"/>
              <a:t>Branch</a:t>
            </a:r>
            <a:endParaRPr lang="en-AU" altLang="en-US" sz="1488"/>
          </a:p>
        </p:txBody>
      </p:sp>
      <p:sp>
        <p:nvSpPr>
          <p:cNvPr id="70" name="AutoShape 38">
            <a:extLst>
              <a:ext uri="{FF2B5EF4-FFF2-40B4-BE49-F238E27FC236}">
                <a16:creationId xmlns:a16="http://schemas.microsoft.com/office/drawing/2014/main" id="{3046C8E8-956C-370A-61DC-0A6FD0D7500F}"/>
              </a:ext>
            </a:extLst>
          </p:cNvPr>
          <p:cNvSpPr>
            <a:spLocks/>
          </p:cNvSpPr>
          <p:nvPr/>
        </p:nvSpPr>
        <p:spPr bwMode="auto">
          <a:xfrm rot="16200000">
            <a:off x="3576271" y="3747782"/>
            <a:ext cx="119449" cy="952967"/>
          </a:xfrm>
          <a:prstGeom prst="leftBrace">
            <a:avLst>
              <a:gd name="adj1" fmla="val 6648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323"/>
          </a:p>
        </p:txBody>
      </p:sp>
      <p:sp>
        <p:nvSpPr>
          <p:cNvPr id="71" name="AutoShape 39">
            <a:extLst>
              <a:ext uri="{FF2B5EF4-FFF2-40B4-BE49-F238E27FC236}">
                <a16:creationId xmlns:a16="http://schemas.microsoft.com/office/drawing/2014/main" id="{62AD15F9-7B17-FCE2-E925-1F5E96C1DA41}"/>
              </a:ext>
            </a:extLst>
          </p:cNvPr>
          <p:cNvSpPr>
            <a:spLocks/>
          </p:cNvSpPr>
          <p:nvPr/>
        </p:nvSpPr>
        <p:spPr bwMode="auto">
          <a:xfrm rot="16200000">
            <a:off x="4558772" y="3837697"/>
            <a:ext cx="119449" cy="773137"/>
          </a:xfrm>
          <a:prstGeom prst="leftBrace">
            <a:avLst>
              <a:gd name="adj1" fmla="val 5393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323"/>
          </a:p>
        </p:txBody>
      </p:sp>
      <p:sp>
        <p:nvSpPr>
          <p:cNvPr id="72" name="AutoShape 40">
            <a:extLst>
              <a:ext uri="{FF2B5EF4-FFF2-40B4-BE49-F238E27FC236}">
                <a16:creationId xmlns:a16="http://schemas.microsoft.com/office/drawing/2014/main" id="{5CE6DCDD-AEFA-DB06-6024-297920E95FCC}"/>
              </a:ext>
            </a:extLst>
          </p:cNvPr>
          <p:cNvSpPr>
            <a:spLocks/>
          </p:cNvSpPr>
          <p:nvPr/>
        </p:nvSpPr>
        <p:spPr bwMode="auto">
          <a:xfrm rot="16200000">
            <a:off x="5451359" y="3837697"/>
            <a:ext cx="119449" cy="773137"/>
          </a:xfrm>
          <a:prstGeom prst="leftBrace">
            <a:avLst>
              <a:gd name="adj1" fmla="val 5393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323"/>
          </a:p>
        </p:txBody>
      </p:sp>
      <p:sp>
        <p:nvSpPr>
          <p:cNvPr id="73" name="Text Box 41">
            <a:extLst>
              <a:ext uri="{FF2B5EF4-FFF2-40B4-BE49-F238E27FC236}">
                <a16:creationId xmlns:a16="http://schemas.microsoft.com/office/drawing/2014/main" id="{D11DB204-19FE-654C-0A41-C4F5F2A5E84A}"/>
              </a:ext>
            </a:extLst>
          </p:cNvPr>
          <p:cNvSpPr txBox="1">
            <a:spLocks noChangeArrowheads="1"/>
          </p:cNvSpPr>
          <p:nvPr/>
        </p:nvSpPr>
        <p:spPr bwMode="auto">
          <a:xfrm>
            <a:off x="3219892" y="4343059"/>
            <a:ext cx="833519" cy="321306"/>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488"/>
              <a:t>opcode</a:t>
            </a:r>
            <a:endParaRPr lang="en-AU" altLang="en-US" sz="1488"/>
          </a:p>
        </p:txBody>
      </p:sp>
      <p:sp>
        <p:nvSpPr>
          <p:cNvPr id="74" name="Text Box 42">
            <a:extLst>
              <a:ext uri="{FF2B5EF4-FFF2-40B4-BE49-F238E27FC236}">
                <a16:creationId xmlns:a16="http://schemas.microsoft.com/office/drawing/2014/main" id="{CAEA7225-9330-B19C-A411-FEAC33F17433}"/>
              </a:ext>
            </a:extLst>
          </p:cNvPr>
          <p:cNvSpPr txBox="1">
            <a:spLocks noChangeArrowheads="1"/>
          </p:cNvSpPr>
          <p:nvPr/>
        </p:nvSpPr>
        <p:spPr bwMode="auto">
          <a:xfrm>
            <a:off x="4171547" y="4343059"/>
            <a:ext cx="833518" cy="550279"/>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488"/>
              <a:t>always read</a:t>
            </a:r>
            <a:endParaRPr lang="en-AU" altLang="en-US" sz="1488"/>
          </a:p>
        </p:txBody>
      </p:sp>
      <p:sp>
        <p:nvSpPr>
          <p:cNvPr id="75" name="Text Box 43">
            <a:extLst>
              <a:ext uri="{FF2B5EF4-FFF2-40B4-BE49-F238E27FC236}">
                <a16:creationId xmlns:a16="http://schemas.microsoft.com/office/drawing/2014/main" id="{C5242512-313F-34D5-445E-1588B8825354}"/>
              </a:ext>
            </a:extLst>
          </p:cNvPr>
          <p:cNvSpPr txBox="1">
            <a:spLocks noChangeArrowheads="1"/>
          </p:cNvSpPr>
          <p:nvPr/>
        </p:nvSpPr>
        <p:spPr bwMode="auto">
          <a:xfrm>
            <a:off x="5124515" y="4343058"/>
            <a:ext cx="833518" cy="779252"/>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488"/>
              <a:t>read, except for load</a:t>
            </a:r>
            <a:endParaRPr lang="en-AU" altLang="en-US" sz="1488"/>
          </a:p>
        </p:txBody>
      </p:sp>
      <p:sp>
        <p:nvSpPr>
          <p:cNvPr id="76" name="Text Box 44">
            <a:extLst>
              <a:ext uri="{FF2B5EF4-FFF2-40B4-BE49-F238E27FC236}">
                <a16:creationId xmlns:a16="http://schemas.microsoft.com/office/drawing/2014/main" id="{5CB44DCC-6011-0B2C-9B6C-30E987588DC5}"/>
              </a:ext>
            </a:extLst>
          </p:cNvPr>
          <p:cNvSpPr txBox="1">
            <a:spLocks noChangeArrowheads="1"/>
          </p:cNvSpPr>
          <p:nvPr/>
        </p:nvSpPr>
        <p:spPr bwMode="auto">
          <a:xfrm>
            <a:off x="6375448" y="4343058"/>
            <a:ext cx="1012036" cy="779252"/>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488"/>
              <a:t>write for R-type and load</a:t>
            </a:r>
            <a:endParaRPr lang="en-AU" altLang="en-US" sz="1488"/>
          </a:p>
        </p:txBody>
      </p:sp>
      <p:sp>
        <p:nvSpPr>
          <p:cNvPr id="77" name="Line 45">
            <a:extLst>
              <a:ext uri="{FF2B5EF4-FFF2-40B4-BE49-F238E27FC236}">
                <a16:creationId xmlns:a16="http://schemas.microsoft.com/office/drawing/2014/main" id="{70CEBC5B-79F7-48FD-EE2E-BDA7456C5C06}"/>
              </a:ext>
            </a:extLst>
          </p:cNvPr>
          <p:cNvSpPr>
            <a:spLocks noChangeShapeType="1"/>
          </p:cNvSpPr>
          <p:nvPr/>
        </p:nvSpPr>
        <p:spPr bwMode="auto">
          <a:xfrm flipH="1" flipV="1">
            <a:off x="5898965" y="2972676"/>
            <a:ext cx="476483" cy="131000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488"/>
          </a:p>
        </p:txBody>
      </p:sp>
      <p:sp>
        <p:nvSpPr>
          <p:cNvPr id="78" name="Line 46">
            <a:extLst>
              <a:ext uri="{FF2B5EF4-FFF2-40B4-BE49-F238E27FC236}">
                <a16:creationId xmlns:a16="http://schemas.microsoft.com/office/drawing/2014/main" id="{8F2E7FB4-92F3-2B6A-4277-25F396F134BF}"/>
              </a:ext>
            </a:extLst>
          </p:cNvPr>
          <p:cNvSpPr>
            <a:spLocks noChangeShapeType="1"/>
          </p:cNvSpPr>
          <p:nvPr/>
        </p:nvSpPr>
        <p:spPr bwMode="auto">
          <a:xfrm flipH="1" flipV="1">
            <a:off x="6136550" y="2139157"/>
            <a:ext cx="297967" cy="214352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488"/>
          </a:p>
        </p:txBody>
      </p:sp>
      <p:sp>
        <p:nvSpPr>
          <p:cNvPr id="79" name="Text Box 47">
            <a:extLst>
              <a:ext uri="{FF2B5EF4-FFF2-40B4-BE49-F238E27FC236}">
                <a16:creationId xmlns:a16="http://schemas.microsoft.com/office/drawing/2014/main" id="{AD7588FA-437A-7871-C7E4-80B91152933F}"/>
              </a:ext>
            </a:extLst>
          </p:cNvPr>
          <p:cNvSpPr txBox="1">
            <a:spLocks noChangeArrowheads="1"/>
          </p:cNvSpPr>
          <p:nvPr/>
        </p:nvSpPr>
        <p:spPr bwMode="auto">
          <a:xfrm>
            <a:off x="7803587" y="4343059"/>
            <a:ext cx="1190553" cy="550279"/>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488"/>
              <a:t>sign-extend and add</a:t>
            </a:r>
            <a:endParaRPr lang="en-AU" altLang="en-US" sz="1488"/>
          </a:p>
        </p:txBody>
      </p:sp>
      <p:sp>
        <p:nvSpPr>
          <p:cNvPr id="80" name="Line 48">
            <a:extLst>
              <a:ext uri="{FF2B5EF4-FFF2-40B4-BE49-F238E27FC236}">
                <a16:creationId xmlns:a16="http://schemas.microsoft.com/office/drawing/2014/main" id="{A8223689-FDF8-8ED3-0083-4AEB0D6C682E}"/>
              </a:ext>
            </a:extLst>
          </p:cNvPr>
          <p:cNvSpPr>
            <a:spLocks noChangeShapeType="1"/>
          </p:cNvSpPr>
          <p:nvPr/>
        </p:nvSpPr>
        <p:spPr bwMode="auto">
          <a:xfrm flipH="1" flipV="1">
            <a:off x="7923036" y="3806194"/>
            <a:ext cx="59068" cy="4764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488"/>
          </a:p>
        </p:txBody>
      </p:sp>
      <p:sp>
        <p:nvSpPr>
          <p:cNvPr id="81" name="Line 49">
            <a:extLst>
              <a:ext uri="{FF2B5EF4-FFF2-40B4-BE49-F238E27FC236}">
                <a16:creationId xmlns:a16="http://schemas.microsoft.com/office/drawing/2014/main" id="{5ACC65B6-11A1-78EF-A965-064A1323E0EE}"/>
              </a:ext>
            </a:extLst>
          </p:cNvPr>
          <p:cNvSpPr>
            <a:spLocks noChangeShapeType="1"/>
          </p:cNvSpPr>
          <p:nvPr/>
        </p:nvSpPr>
        <p:spPr bwMode="auto">
          <a:xfrm flipV="1">
            <a:off x="8042485" y="2972676"/>
            <a:ext cx="0" cy="131000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488"/>
          </a:p>
        </p:txBody>
      </p:sp>
    </p:spTree>
    <p:extLst>
      <p:ext uri="{BB962C8B-B14F-4D97-AF65-F5344CB8AC3E}">
        <p14:creationId xmlns:p14="http://schemas.microsoft.com/office/powerpoint/2010/main" val="196981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Giai đoạn giải mã (tt)</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8" name="Picture 7">
            <a:extLst>
              <a:ext uri="{FF2B5EF4-FFF2-40B4-BE49-F238E27FC236}">
                <a16:creationId xmlns:a16="http://schemas.microsoft.com/office/drawing/2014/main" id="{062D0391-C56D-A6E3-2FD0-931312BD727C}"/>
              </a:ext>
            </a:extLst>
          </p:cNvPr>
          <p:cNvPicPr>
            <a:picLocks noChangeAspect="1"/>
          </p:cNvPicPr>
          <p:nvPr/>
        </p:nvPicPr>
        <p:blipFill>
          <a:blip r:embed="rId3"/>
          <a:stretch>
            <a:fillRect/>
          </a:stretch>
        </p:blipFill>
        <p:spPr>
          <a:xfrm>
            <a:off x="1980641" y="1489831"/>
            <a:ext cx="1400175" cy="1800225"/>
          </a:xfrm>
          <a:prstGeom prst="rect">
            <a:avLst/>
          </a:prstGeom>
        </p:spPr>
      </p:pic>
      <p:pic>
        <p:nvPicPr>
          <p:cNvPr id="9" name="Picture 8">
            <a:extLst>
              <a:ext uri="{FF2B5EF4-FFF2-40B4-BE49-F238E27FC236}">
                <a16:creationId xmlns:a16="http://schemas.microsoft.com/office/drawing/2014/main" id="{B79834A7-7974-5ABD-F704-1AC7DB3B9138}"/>
              </a:ext>
            </a:extLst>
          </p:cNvPr>
          <p:cNvPicPr>
            <a:picLocks noChangeAspect="1"/>
          </p:cNvPicPr>
          <p:nvPr/>
        </p:nvPicPr>
        <p:blipFill>
          <a:blip r:embed="rId4"/>
          <a:stretch>
            <a:fillRect/>
          </a:stretch>
        </p:blipFill>
        <p:spPr>
          <a:xfrm>
            <a:off x="417012" y="1152037"/>
            <a:ext cx="2807494" cy="2014538"/>
          </a:xfrm>
          <a:prstGeom prst="rect">
            <a:avLst/>
          </a:prstGeom>
        </p:spPr>
      </p:pic>
      <p:pic>
        <p:nvPicPr>
          <p:cNvPr id="10" name="Picture 9">
            <a:extLst>
              <a:ext uri="{FF2B5EF4-FFF2-40B4-BE49-F238E27FC236}">
                <a16:creationId xmlns:a16="http://schemas.microsoft.com/office/drawing/2014/main" id="{8F6C8837-2E5A-ABD5-7EF9-B862AAA7FB0A}"/>
              </a:ext>
            </a:extLst>
          </p:cNvPr>
          <p:cNvPicPr>
            <a:picLocks noChangeAspect="1"/>
          </p:cNvPicPr>
          <p:nvPr/>
        </p:nvPicPr>
        <p:blipFill>
          <a:blip r:embed="rId5"/>
          <a:stretch>
            <a:fillRect/>
          </a:stretch>
        </p:blipFill>
        <p:spPr>
          <a:xfrm>
            <a:off x="617220" y="3875751"/>
            <a:ext cx="2964656" cy="1678781"/>
          </a:xfrm>
          <a:prstGeom prst="rect">
            <a:avLst/>
          </a:prstGeom>
        </p:spPr>
      </p:pic>
      <p:pic>
        <p:nvPicPr>
          <p:cNvPr id="11" name="Picture 10">
            <a:extLst>
              <a:ext uri="{FF2B5EF4-FFF2-40B4-BE49-F238E27FC236}">
                <a16:creationId xmlns:a16="http://schemas.microsoft.com/office/drawing/2014/main" id="{FAFE1CF1-7E69-1B1E-005E-5C5227106017}"/>
              </a:ext>
            </a:extLst>
          </p:cNvPr>
          <p:cNvPicPr>
            <a:picLocks noChangeAspect="1"/>
          </p:cNvPicPr>
          <p:nvPr/>
        </p:nvPicPr>
        <p:blipFill>
          <a:blip r:embed="rId6"/>
          <a:stretch>
            <a:fillRect/>
          </a:stretch>
        </p:blipFill>
        <p:spPr>
          <a:xfrm>
            <a:off x="8069936" y="1341542"/>
            <a:ext cx="2964656" cy="1707356"/>
          </a:xfrm>
          <a:prstGeom prst="rect">
            <a:avLst/>
          </a:prstGeom>
        </p:spPr>
      </p:pic>
      <p:pic>
        <p:nvPicPr>
          <p:cNvPr id="12" name="Picture 11">
            <a:extLst>
              <a:ext uri="{FF2B5EF4-FFF2-40B4-BE49-F238E27FC236}">
                <a16:creationId xmlns:a16="http://schemas.microsoft.com/office/drawing/2014/main" id="{B9317642-C8FD-56AC-44AE-7D6DD24B6B11}"/>
              </a:ext>
            </a:extLst>
          </p:cNvPr>
          <p:cNvPicPr>
            <a:picLocks noChangeAspect="1"/>
          </p:cNvPicPr>
          <p:nvPr/>
        </p:nvPicPr>
        <p:blipFill>
          <a:blip r:embed="rId7"/>
          <a:stretch>
            <a:fillRect/>
          </a:stretch>
        </p:blipFill>
        <p:spPr>
          <a:xfrm>
            <a:off x="3998137" y="1209506"/>
            <a:ext cx="1205755" cy="1839392"/>
          </a:xfrm>
          <a:prstGeom prst="rect">
            <a:avLst/>
          </a:prstGeom>
        </p:spPr>
      </p:pic>
      <p:pic>
        <p:nvPicPr>
          <p:cNvPr id="13" name="Picture 12">
            <a:extLst>
              <a:ext uri="{FF2B5EF4-FFF2-40B4-BE49-F238E27FC236}">
                <a16:creationId xmlns:a16="http://schemas.microsoft.com/office/drawing/2014/main" id="{F08A9870-3205-B032-6FB9-488B1B9B23FD}"/>
              </a:ext>
            </a:extLst>
          </p:cNvPr>
          <p:cNvPicPr>
            <a:picLocks noChangeAspect="1"/>
          </p:cNvPicPr>
          <p:nvPr/>
        </p:nvPicPr>
        <p:blipFill>
          <a:blip r:embed="rId8"/>
          <a:stretch>
            <a:fillRect/>
          </a:stretch>
        </p:blipFill>
        <p:spPr>
          <a:xfrm>
            <a:off x="5350688" y="1582086"/>
            <a:ext cx="1667142" cy="1433373"/>
          </a:xfrm>
          <a:prstGeom prst="rect">
            <a:avLst/>
          </a:prstGeom>
        </p:spPr>
      </p:pic>
      <p:pic>
        <p:nvPicPr>
          <p:cNvPr id="14" name="Picture 13">
            <a:extLst>
              <a:ext uri="{FF2B5EF4-FFF2-40B4-BE49-F238E27FC236}">
                <a16:creationId xmlns:a16="http://schemas.microsoft.com/office/drawing/2014/main" id="{2F6901C2-4FA8-2A7F-5D45-A96767DE409B}"/>
              </a:ext>
            </a:extLst>
          </p:cNvPr>
          <p:cNvPicPr>
            <a:picLocks noChangeAspect="1"/>
          </p:cNvPicPr>
          <p:nvPr/>
        </p:nvPicPr>
        <p:blipFill>
          <a:blip r:embed="rId9"/>
          <a:stretch>
            <a:fillRect/>
          </a:stretch>
        </p:blipFill>
        <p:spPr>
          <a:xfrm>
            <a:off x="3998137" y="3957813"/>
            <a:ext cx="2743200" cy="2117034"/>
          </a:xfrm>
          <a:prstGeom prst="rect">
            <a:avLst/>
          </a:prstGeom>
        </p:spPr>
      </p:pic>
      <p:pic>
        <p:nvPicPr>
          <p:cNvPr id="15" name="Picture 14">
            <a:extLst>
              <a:ext uri="{FF2B5EF4-FFF2-40B4-BE49-F238E27FC236}">
                <a16:creationId xmlns:a16="http://schemas.microsoft.com/office/drawing/2014/main" id="{AED714CD-70B3-72AA-03F7-FEE74E160E8B}"/>
              </a:ext>
            </a:extLst>
          </p:cNvPr>
          <p:cNvPicPr>
            <a:picLocks noChangeAspect="1"/>
          </p:cNvPicPr>
          <p:nvPr/>
        </p:nvPicPr>
        <p:blipFill>
          <a:blip r:embed="rId10"/>
          <a:stretch>
            <a:fillRect/>
          </a:stretch>
        </p:blipFill>
        <p:spPr>
          <a:xfrm>
            <a:off x="7446132" y="3806313"/>
            <a:ext cx="4212265" cy="1710145"/>
          </a:xfrm>
          <a:prstGeom prst="rect">
            <a:avLst/>
          </a:prstGeom>
        </p:spPr>
      </p:pic>
    </p:spTree>
    <p:extLst>
      <p:ext uri="{BB962C8B-B14F-4D97-AF65-F5344CB8AC3E}">
        <p14:creationId xmlns:p14="http://schemas.microsoft.com/office/powerpoint/2010/main" val="1705871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Khối Register File</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24</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Content Placeholder 5">
            <a:extLst>
              <a:ext uri="{FF2B5EF4-FFF2-40B4-BE49-F238E27FC236}">
                <a16:creationId xmlns:a16="http://schemas.microsoft.com/office/drawing/2014/main" id="{9FF3A2F7-D5D5-0BA4-05A1-FEDD80F12654}"/>
              </a:ext>
            </a:extLst>
          </p:cNvPr>
          <p:cNvSpPr>
            <a:spLocks noGrp="1"/>
          </p:cNvSpPr>
          <p:nvPr>
            <p:ph idx="1"/>
          </p:nvPr>
        </p:nvSpPr>
        <p:spPr>
          <a:xfrm>
            <a:off x="1142797" y="1195821"/>
            <a:ext cx="10515600" cy="5160527"/>
          </a:xfrm>
        </p:spPr>
        <p:txBody>
          <a:bodyPr/>
          <a:lstStyle/>
          <a:p>
            <a:r>
              <a:rPr lang="vi-VN" dirty="0"/>
              <a:t>Một tập 32 thanh ghi:</a:t>
            </a:r>
          </a:p>
          <a:p>
            <a:pPr lvl="1"/>
            <a:r>
              <a:rPr lang="vi-VN" dirty="0"/>
              <a:t>Mỗi thanh ghi có chiều dài 32-bit và có thể được đọc hoặc ghi bằng cách chỉ ra chỉ số của thanh ghi</a:t>
            </a:r>
          </a:p>
          <a:p>
            <a:pPr lvl="1"/>
            <a:r>
              <a:rPr lang="vi-VN" dirty="0"/>
              <a:t>Với mỗi lệnh, cho phép đọc nhiều nhất từ 2 thanh ghi</a:t>
            </a:r>
          </a:p>
          <a:p>
            <a:pPr lvl="1"/>
            <a:r>
              <a:rPr lang="vi-VN" dirty="0"/>
              <a:t>Với mỗi lệnh, cho phép ghi vào nhiều nhất 1 thanh ghi</a:t>
            </a:r>
          </a:p>
          <a:p>
            <a:r>
              <a:rPr lang="vi-VN" dirty="0"/>
              <a:t>RegWrite: là một tín hiệu điều khiển nhằm mục đích:</a:t>
            </a:r>
          </a:p>
          <a:p>
            <a:pPr lvl="1"/>
            <a:r>
              <a:rPr lang="vi-VN" dirty="0"/>
              <a:t>Cho phép ghi vào một thanh ghi hay không</a:t>
            </a:r>
          </a:p>
          <a:p>
            <a:endParaRPr lang="vi-VN" dirty="0"/>
          </a:p>
          <a:p>
            <a:endParaRPr lang="en-US" dirty="0"/>
          </a:p>
        </p:txBody>
      </p:sp>
      <p:grpSp>
        <p:nvGrpSpPr>
          <p:cNvPr id="3" name="Group 4">
            <a:extLst>
              <a:ext uri="{FF2B5EF4-FFF2-40B4-BE49-F238E27FC236}">
                <a16:creationId xmlns:a16="http://schemas.microsoft.com/office/drawing/2014/main" id="{2E584BCE-9126-1FE1-0571-9E46FBD3C7D2}"/>
              </a:ext>
            </a:extLst>
          </p:cNvPr>
          <p:cNvGrpSpPr/>
          <p:nvPr/>
        </p:nvGrpSpPr>
        <p:grpSpPr>
          <a:xfrm>
            <a:off x="3370329" y="4314093"/>
            <a:ext cx="5451341" cy="2101891"/>
            <a:chOff x="4576680" y="3625920"/>
            <a:chExt cx="5430960" cy="1971000"/>
          </a:xfrm>
        </p:grpSpPr>
        <p:sp>
          <p:nvSpPr>
            <p:cNvPr id="7" name="CustomShape 5">
              <a:extLst>
                <a:ext uri="{FF2B5EF4-FFF2-40B4-BE49-F238E27FC236}">
                  <a16:creationId xmlns:a16="http://schemas.microsoft.com/office/drawing/2014/main" id="{014C366D-8DAD-241A-51B9-2AB03657DE63}"/>
                </a:ext>
              </a:extLst>
            </p:cNvPr>
            <p:cNvSpPr/>
            <p:nvPr/>
          </p:nvSpPr>
          <p:spPr>
            <a:xfrm>
              <a:off x="6235200" y="3625920"/>
              <a:ext cx="2073240" cy="1493280"/>
            </a:xfrm>
            <a:prstGeom prst="rect">
              <a:avLst/>
            </a:prstGeom>
            <a:solidFill>
              <a:srgbClr val="FFFFCC"/>
            </a:solid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8" name="Line 6">
              <a:extLst>
                <a:ext uri="{FF2B5EF4-FFF2-40B4-BE49-F238E27FC236}">
                  <a16:creationId xmlns:a16="http://schemas.microsoft.com/office/drawing/2014/main" id="{AC5BE30F-65E5-7FEB-8E9C-6AB1F775E15F}"/>
                </a:ext>
              </a:extLst>
            </p:cNvPr>
            <p:cNvSpPr/>
            <p:nvPr/>
          </p:nvSpPr>
          <p:spPr>
            <a:xfrm>
              <a:off x="7207560" y="5119560"/>
              <a:ext cx="720" cy="2217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9" name="CustomShape 7">
              <a:extLst>
                <a:ext uri="{FF2B5EF4-FFF2-40B4-BE49-F238E27FC236}">
                  <a16:creationId xmlns:a16="http://schemas.microsoft.com/office/drawing/2014/main" id="{86077EEC-C9C1-E34B-5922-DA1DB6AA15C9}"/>
                </a:ext>
              </a:extLst>
            </p:cNvPr>
            <p:cNvSpPr/>
            <p:nvPr/>
          </p:nvSpPr>
          <p:spPr>
            <a:xfrm>
              <a:off x="6279120" y="3681000"/>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10" name="CustomShape 8">
              <a:extLst>
                <a:ext uri="{FF2B5EF4-FFF2-40B4-BE49-F238E27FC236}">
                  <a16:creationId xmlns:a16="http://schemas.microsoft.com/office/drawing/2014/main" id="{B0E46CA2-699D-33DF-235E-7F8855097BF8}"/>
                </a:ext>
              </a:extLst>
            </p:cNvPr>
            <p:cNvSpPr/>
            <p:nvPr/>
          </p:nvSpPr>
          <p:spPr>
            <a:xfrm>
              <a:off x="6279120" y="4050000"/>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11" name="CustomShape 9">
              <a:extLst>
                <a:ext uri="{FF2B5EF4-FFF2-40B4-BE49-F238E27FC236}">
                  <a16:creationId xmlns:a16="http://schemas.microsoft.com/office/drawing/2014/main" id="{9C7E895B-C0E9-AF5F-30BC-653A4BF3DB07}"/>
                </a:ext>
              </a:extLst>
            </p:cNvPr>
            <p:cNvSpPr/>
            <p:nvPr/>
          </p:nvSpPr>
          <p:spPr>
            <a:xfrm>
              <a:off x="6271920" y="4397760"/>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12" name="CustomShape 10">
              <a:extLst>
                <a:ext uri="{FF2B5EF4-FFF2-40B4-BE49-F238E27FC236}">
                  <a16:creationId xmlns:a16="http://schemas.microsoft.com/office/drawing/2014/main" id="{072FDACA-C9D7-8DB1-5527-16DEFE01E494}"/>
                </a:ext>
              </a:extLst>
            </p:cNvPr>
            <p:cNvSpPr/>
            <p:nvPr/>
          </p:nvSpPr>
          <p:spPr>
            <a:xfrm>
              <a:off x="6266520" y="4775760"/>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13" name="CustomShape 11">
              <a:extLst>
                <a:ext uri="{FF2B5EF4-FFF2-40B4-BE49-F238E27FC236}">
                  <a16:creationId xmlns:a16="http://schemas.microsoft.com/office/drawing/2014/main" id="{C95461CD-BC7C-5ADE-467E-5B97F66318C9}"/>
                </a:ext>
              </a:extLst>
            </p:cNvPr>
            <p:cNvSpPr/>
            <p:nvPr/>
          </p:nvSpPr>
          <p:spPr>
            <a:xfrm>
              <a:off x="7642440" y="3728520"/>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14" name="CustomShape 12">
              <a:extLst>
                <a:ext uri="{FF2B5EF4-FFF2-40B4-BE49-F238E27FC236}">
                  <a16:creationId xmlns:a16="http://schemas.microsoft.com/office/drawing/2014/main" id="{F50E04EA-1448-6E89-5B21-ECC03CA0CB2A}"/>
                </a:ext>
              </a:extLst>
            </p:cNvPr>
            <p:cNvSpPr/>
            <p:nvPr/>
          </p:nvSpPr>
          <p:spPr>
            <a:xfrm>
              <a:off x="7642440" y="4586760"/>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15" name="CustomShape 13">
              <a:extLst>
                <a:ext uri="{FF2B5EF4-FFF2-40B4-BE49-F238E27FC236}">
                  <a16:creationId xmlns:a16="http://schemas.microsoft.com/office/drawing/2014/main" id="{7DEDB0E9-05BE-256C-56E0-DC6C30218181}"/>
                </a:ext>
              </a:extLst>
            </p:cNvPr>
            <p:cNvSpPr/>
            <p:nvPr/>
          </p:nvSpPr>
          <p:spPr>
            <a:xfrm>
              <a:off x="6671160" y="5263920"/>
              <a:ext cx="1156320" cy="3330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600" b="1" strike="noStrike" spc="-1">
                  <a:solidFill>
                    <a:srgbClr val="660066"/>
                  </a:solidFill>
                  <a:latin typeface="Courier New"/>
                  <a:ea typeface="ＭＳ Ｐゴシック"/>
                </a:rPr>
                <a:t>RegWrite</a:t>
              </a:r>
              <a:endParaRPr lang="en-US" sz="1600" b="0" strike="noStrike" spc="-1">
                <a:latin typeface="Arial"/>
              </a:endParaRPr>
            </a:p>
          </p:txBody>
        </p:sp>
        <p:sp>
          <p:nvSpPr>
            <p:cNvPr id="16" name="Line 14">
              <a:extLst>
                <a:ext uri="{FF2B5EF4-FFF2-40B4-BE49-F238E27FC236}">
                  <a16:creationId xmlns:a16="http://schemas.microsoft.com/office/drawing/2014/main" id="{6343AEBB-FAA5-23B8-DF4D-788B9DF229F8}"/>
                </a:ext>
              </a:extLst>
            </p:cNvPr>
            <p:cNvSpPr/>
            <p:nvPr/>
          </p:nvSpPr>
          <p:spPr>
            <a:xfrm>
              <a:off x="5683320" y="3888720"/>
              <a:ext cx="551160" cy="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7" name="Line 15">
              <a:extLst>
                <a:ext uri="{FF2B5EF4-FFF2-40B4-BE49-F238E27FC236}">
                  <a16:creationId xmlns:a16="http://schemas.microsoft.com/office/drawing/2014/main" id="{61C2D5D0-2575-0F80-0B13-939333DBE136}"/>
                </a:ext>
              </a:extLst>
            </p:cNvPr>
            <p:cNvSpPr/>
            <p:nvPr/>
          </p:nvSpPr>
          <p:spPr>
            <a:xfrm>
              <a:off x="5683320" y="4206240"/>
              <a:ext cx="5511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8" name="Line 16">
              <a:extLst>
                <a:ext uri="{FF2B5EF4-FFF2-40B4-BE49-F238E27FC236}">
                  <a16:creationId xmlns:a16="http://schemas.microsoft.com/office/drawing/2014/main" id="{3EAC86C7-5050-5460-193A-2E321BDF0AB9}"/>
                </a:ext>
              </a:extLst>
            </p:cNvPr>
            <p:cNvSpPr/>
            <p:nvPr/>
          </p:nvSpPr>
          <p:spPr>
            <a:xfrm>
              <a:off x="5683320" y="4564440"/>
              <a:ext cx="5511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9" name="Line 17">
              <a:extLst>
                <a:ext uri="{FF2B5EF4-FFF2-40B4-BE49-F238E27FC236}">
                  <a16:creationId xmlns:a16="http://schemas.microsoft.com/office/drawing/2014/main" id="{7C7A3AF0-15DB-38FE-156F-50F68FAA5640}"/>
                </a:ext>
              </a:extLst>
            </p:cNvPr>
            <p:cNvSpPr/>
            <p:nvPr/>
          </p:nvSpPr>
          <p:spPr>
            <a:xfrm>
              <a:off x="5683320" y="4942440"/>
              <a:ext cx="5511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0" name="Line 18">
              <a:extLst>
                <a:ext uri="{FF2B5EF4-FFF2-40B4-BE49-F238E27FC236}">
                  <a16:creationId xmlns:a16="http://schemas.microsoft.com/office/drawing/2014/main" id="{4C413998-EF7B-EBF4-AC48-D98BB2BCC772}"/>
                </a:ext>
              </a:extLst>
            </p:cNvPr>
            <p:cNvSpPr/>
            <p:nvPr/>
          </p:nvSpPr>
          <p:spPr>
            <a:xfrm>
              <a:off x="8308440" y="3895200"/>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1" name="Line 19">
              <a:extLst>
                <a:ext uri="{FF2B5EF4-FFF2-40B4-BE49-F238E27FC236}">
                  <a16:creationId xmlns:a16="http://schemas.microsoft.com/office/drawing/2014/main" id="{2CB3843E-CC71-AFEC-8B09-540065B10880}"/>
                </a:ext>
              </a:extLst>
            </p:cNvPr>
            <p:cNvSpPr/>
            <p:nvPr/>
          </p:nvSpPr>
          <p:spPr>
            <a:xfrm>
              <a:off x="8308440" y="4768920"/>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2" name="CustomShape 20">
              <a:extLst>
                <a:ext uri="{FF2B5EF4-FFF2-40B4-BE49-F238E27FC236}">
                  <a16:creationId xmlns:a16="http://schemas.microsoft.com/office/drawing/2014/main" id="{0FCE89E7-A79E-4E12-B655-78B6CEF1BDE8}"/>
                </a:ext>
              </a:extLst>
            </p:cNvPr>
            <p:cNvSpPr/>
            <p:nvPr/>
          </p:nvSpPr>
          <p:spPr>
            <a:xfrm>
              <a:off x="5303880" y="3625920"/>
              <a:ext cx="211680" cy="1128600"/>
            </a:xfrm>
            <a:prstGeom prst="leftBrace">
              <a:avLst>
                <a:gd name="adj1" fmla="val 59229"/>
                <a:gd name="adj2" fmla="val 50000"/>
              </a:avLst>
            </a:prstGeom>
            <a:noFill/>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3" name="CustomShape 21">
              <a:extLst>
                <a:ext uri="{FF2B5EF4-FFF2-40B4-BE49-F238E27FC236}">
                  <a16:creationId xmlns:a16="http://schemas.microsoft.com/office/drawing/2014/main" id="{76005019-2B44-DF68-7225-87CBB5E50172}"/>
                </a:ext>
              </a:extLst>
            </p:cNvPr>
            <p:cNvSpPr/>
            <p:nvPr/>
          </p:nvSpPr>
          <p:spPr>
            <a:xfrm>
              <a:off x="5303880" y="4769280"/>
              <a:ext cx="211680" cy="363240"/>
            </a:xfrm>
            <a:prstGeom prst="leftBrace">
              <a:avLst>
                <a:gd name="adj1" fmla="val 19077"/>
                <a:gd name="adj2" fmla="val 50000"/>
              </a:avLst>
            </a:prstGeom>
            <a:noFill/>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4" name="CustomShape 22">
              <a:extLst>
                <a:ext uri="{FF2B5EF4-FFF2-40B4-BE49-F238E27FC236}">
                  <a16:creationId xmlns:a16="http://schemas.microsoft.com/office/drawing/2014/main" id="{5084476E-BC9D-C1D8-D493-E9C0BA65D198}"/>
                </a:ext>
              </a:extLst>
            </p:cNvPr>
            <p:cNvSpPr/>
            <p:nvPr/>
          </p:nvSpPr>
          <p:spPr>
            <a:xfrm>
              <a:off x="8859960" y="3660120"/>
              <a:ext cx="549000" cy="1281960"/>
            </a:xfrm>
            <a:prstGeom prst="rightBrace">
              <a:avLst>
                <a:gd name="adj1" fmla="val 25929"/>
                <a:gd name="adj2" fmla="val 50000"/>
              </a:avLst>
            </a:prstGeom>
            <a:noFill/>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5" name="CustomShape 23">
              <a:extLst>
                <a:ext uri="{FF2B5EF4-FFF2-40B4-BE49-F238E27FC236}">
                  <a16:creationId xmlns:a16="http://schemas.microsoft.com/office/drawing/2014/main" id="{B63021DC-2057-1690-9139-035F84D03E54}"/>
                </a:ext>
              </a:extLst>
            </p:cNvPr>
            <p:cNvSpPr/>
            <p:nvPr/>
          </p:nvSpPr>
          <p:spPr>
            <a:xfrm>
              <a:off x="9489600" y="4235040"/>
              <a:ext cx="5180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26" name="CustomShape 24">
              <a:extLst>
                <a:ext uri="{FF2B5EF4-FFF2-40B4-BE49-F238E27FC236}">
                  <a16:creationId xmlns:a16="http://schemas.microsoft.com/office/drawing/2014/main" id="{F24CD37F-3009-A4AE-7FC0-C29E557A5ED9}"/>
                </a:ext>
              </a:extLst>
            </p:cNvPr>
            <p:cNvSpPr/>
            <p:nvPr/>
          </p:nvSpPr>
          <p:spPr>
            <a:xfrm>
              <a:off x="4722840" y="4849200"/>
              <a:ext cx="5180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27" name="CustomShape 25">
              <a:extLst>
                <a:ext uri="{FF2B5EF4-FFF2-40B4-BE49-F238E27FC236}">
                  <a16:creationId xmlns:a16="http://schemas.microsoft.com/office/drawing/2014/main" id="{E16958DB-BF5B-E838-112B-B03D0D8F11AC}"/>
                </a:ext>
              </a:extLst>
            </p:cNvPr>
            <p:cNvSpPr/>
            <p:nvPr/>
          </p:nvSpPr>
          <p:spPr>
            <a:xfrm>
              <a:off x="4576680" y="4019760"/>
              <a:ext cx="8240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Register </a:t>
              </a:r>
              <a:endParaRPr lang="en-US" sz="1000" b="0" strike="noStrike" spc="-1">
                <a:latin typeface="Arial"/>
              </a:endParaRPr>
            </a:p>
            <a:p>
              <a:pPr algn="ctr">
                <a:lnSpc>
                  <a:spcPct val="100000"/>
                </a:lnSpc>
              </a:pPr>
              <a:r>
                <a:rPr lang="en-US" sz="1000" b="1" strike="noStrike" spc="-1">
                  <a:solidFill>
                    <a:srgbClr val="000000"/>
                  </a:solidFill>
                  <a:latin typeface="Verdana"/>
                  <a:ea typeface="ＭＳ Ｐゴシック"/>
                </a:rPr>
                <a:t>Number</a:t>
              </a:r>
              <a:endParaRPr lang="en-US" sz="1000" b="0" strike="noStrike" spc="-1">
                <a:latin typeface="Arial"/>
              </a:endParaRPr>
            </a:p>
          </p:txBody>
        </p:sp>
        <p:sp>
          <p:nvSpPr>
            <p:cNvPr id="28" name="CustomShape 26">
              <a:extLst>
                <a:ext uri="{FF2B5EF4-FFF2-40B4-BE49-F238E27FC236}">
                  <a16:creationId xmlns:a16="http://schemas.microsoft.com/office/drawing/2014/main" id="{34786FB7-3A5E-B3EB-A0CA-EB9AAF98333B}"/>
                </a:ext>
              </a:extLst>
            </p:cNvPr>
            <p:cNvSpPr/>
            <p:nvPr/>
          </p:nvSpPr>
          <p:spPr>
            <a:xfrm>
              <a:off x="7315560" y="4155120"/>
              <a:ext cx="90648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C00000"/>
                  </a:solidFill>
                  <a:latin typeface="Verdana"/>
                  <a:ea typeface="ＭＳ Ｐゴシック"/>
                </a:rPr>
                <a:t>Register</a:t>
              </a:r>
              <a:endParaRPr lang="en-US" sz="1200" b="0" strike="noStrike" spc="-1">
                <a:latin typeface="Arial"/>
              </a:endParaRPr>
            </a:p>
            <a:p>
              <a:pPr algn="ctr">
                <a:lnSpc>
                  <a:spcPct val="100000"/>
                </a:lnSpc>
              </a:pPr>
              <a:r>
                <a:rPr lang="en-US" sz="1200" b="1" i="1" strike="noStrike" spc="-1">
                  <a:solidFill>
                    <a:srgbClr val="C00000"/>
                  </a:solidFill>
                  <a:latin typeface="Verdana"/>
                  <a:ea typeface="ＭＳ Ｐゴシック"/>
                </a:rPr>
                <a:t>File</a:t>
              </a:r>
              <a:endParaRPr lang="en-US" sz="1200" b="0" strike="noStrike" spc="-1">
                <a:latin typeface="Arial"/>
              </a:endParaRPr>
            </a:p>
          </p:txBody>
        </p:sp>
        <p:sp>
          <p:nvSpPr>
            <p:cNvPr id="29" name="Line 27">
              <a:extLst>
                <a:ext uri="{FF2B5EF4-FFF2-40B4-BE49-F238E27FC236}">
                  <a16:creationId xmlns:a16="http://schemas.microsoft.com/office/drawing/2014/main" id="{C6E0CCB7-A3A5-4835-70D9-A8F336083120}"/>
                </a:ext>
              </a:extLst>
            </p:cNvPr>
            <p:cNvSpPr/>
            <p:nvPr/>
          </p:nvSpPr>
          <p:spPr>
            <a:xfrm flipH="1">
              <a:off x="5811120" y="3817440"/>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0" name="Line 28">
              <a:extLst>
                <a:ext uri="{FF2B5EF4-FFF2-40B4-BE49-F238E27FC236}">
                  <a16:creationId xmlns:a16="http://schemas.microsoft.com/office/drawing/2014/main" id="{D3126251-3386-5E90-54B1-71EA6975D38F}"/>
                </a:ext>
              </a:extLst>
            </p:cNvPr>
            <p:cNvSpPr/>
            <p:nvPr/>
          </p:nvSpPr>
          <p:spPr>
            <a:xfrm flipH="1">
              <a:off x="5811120" y="4135320"/>
              <a:ext cx="127800" cy="1400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1" name="Line 29">
              <a:extLst>
                <a:ext uri="{FF2B5EF4-FFF2-40B4-BE49-F238E27FC236}">
                  <a16:creationId xmlns:a16="http://schemas.microsoft.com/office/drawing/2014/main" id="{971BEFBD-8466-0257-DD82-0FCBE1CD15AD}"/>
                </a:ext>
              </a:extLst>
            </p:cNvPr>
            <p:cNvSpPr/>
            <p:nvPr/>
          </p:nvSpPr>
          <p:spPr>
            <a:xfrm flipH="1">
              <a:off x="5811120" y="4493520"/>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2" name="CustomShape 30">
              <a:extLst>
                <a:ext uri="{FF2B5EF4-FFF2-40B4-BE49-F238E27FC236}">
                  <a16:creationId xmlns:a16="http://schemas.microsoft.com/office/drawing/2014/main" id="{F1B4A73D-3D0C-C360-238E-539A864C4CE4}"/>
                </a:ext>
              </a:extLst>
            </p:cNvPr>
            <p:cNvSpPr/>
            <p:nvPr/>
          </p:nvSpPr>
          <p:spPr>
            <a:xfrm>
              <a:off x="5708520" y="36892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3" name="CustomShape 31">
              <a:extLst>
                <a:ext uri="{FF2B5EF4-FFF2-40B4-BE49-F238E27FC236}">
                  <a16:creationId xmlns:a16="http://schemas.microsoft.com/office/drawing/2014/main" id="{1BF0B2E7-C1E1-2088-3A45-9B4BD86B0B03}"/>
                </a:ext>
              </a:extLst>
            </p:cNvPr>
            <p:cNvSpPr/>
            <p:nvPr/>
          </p:nvSpPr>
          <p:spPr>
            <a:xfrm>
              <a:off x="5675400" y="401976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4" name="CustomShape 32">
              <a:extLst>
                <a:ext uri="{FF2B5EF4-FFF2-40B4-BE49-F238E27FC236}">
                  <a16:creationId xmlns:a16="http://schemas.microsoft.com/office/drawing/2014/main" id="{DA1FE50B-3279-0032-54D6-6D4BEED3B4A5}"/>
                </a:ext>
              </a:extLst>
            </p:cNvPr>
            <p:cNvSpPr/>
            <p:nvPr/>
          </p:nvSpPr>
          <p:spPr>
            <a:xfrm>
              <a:off x="5675400" y="439776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grpSp>
    </p:spTree>
    <p:extLst>
      <p:ext uri="{BB962C8B-B14F-4D97-AF65-F5344CB8AC3E}">
        <p14:creationId xmlns:p14="http://schemas.microsoft.com/office/powerpoint/2010/main" val="230878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additive="repl">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Giải mã: lệnh R-Type</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grpSp>
        <p:nvGrpSpPr>
          <p:cNvPr id="8" name="Group 3">
            <a:extLst>
              <a:ext uri="{FF2B5EF4-FFF2-40B4-BE49-F238E27FC236}">
                <a16:creationId xmlns:a16="http://schemas.microsoft.com/office/drawing/2014/main" id="{FB8B3E4E-DA7D-BB4B-88E5-EE0FC8787C38}"/>
              </a:ext>
            </a:extLst>
          </p:cNvPr>
          <p:cNvGrpSpPr/>
          <p:nvPr/>
        </p:nvGrpSpPr>
        <p:grpSpPr>
          <a:xfrm>
            <a:off x="1712588" y="1700157"/>
            <a:ext cx="503640" cy="4373160"/>
            <a:chOff x="672120" y="1637640"/>
            <a:chExt cx="503640" cy="3402000"/>
          </a:xfrm>
        </p:grpSpPr>
        <p:sp>
          <p:nvSpPr>
            <p:cNvPr id="9" name="CustomShape 4">
              <a:extLst>
                <a:ext uri="{FF2B5EF4-FFF2-40B4-BE49-F238E27FC236}">
                  <a16:creationId xmlns:a16="http://schemas.microsoft.com/office/drawing/2014/main" id="{DB43886F-6308-7171-C187-5E3C2A45D294}"/>
                </a:ext>
              </a:extLst>
            </p:cNvPr>
            <p:cNvSpPr/>
            <p:nvPr/>
          </p:nvSpPr>
          <p:spPr>
            <a:xfrm rot="5400000">
              <a:off x="608760" y="170064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opcode</a:t>
              </a:r>
              <a:endParaRPr lang="en-US" sz="1200" b="0" strike="noStrike" spc="-1">
                <a:latin typeface="Arial"/>
              </a:endParaRPr>
            </a:p>
            <a:p>
              <a:pPr algn="ctr">
                <a:lnSpc>
                  <a:spcPct val="100000"/>
                </a:lnSpc>
              </a:pPr>
              <a:r>
                <a:rPr lang="en-US" sz="1200" b="1" strike="noStrike" spc="-1">
                  <a:solidFill>
                    <a:srgbClr val="660066"/>
                  </a:solidFill>
                  <a:latin typeface="Courier New"/>
                  <a:ea typeface="ＭＳ Ｐゴシック"/>
                </a:rPr>
                <a:t>31:26</a:t>
              </a:r>
              <a:endParaRPr lang="en-US" sz="1200" b="0" strike="noStrike" spc="-1">
                <a:latin typeface="Arial"/>
              </a:endParaRPr>
            </a:p>
          </p:txBody>
        </p:sp>
        <p:sp>
          <p:nvSpPr>
            <p:cNvPr id="10" name="CustomShape 5">
              <a:extLst>
                <a:ext uri="{FF2B5EF4-FFF2-40B4-BE49-F238E27FC236}">
                  <a16:creationId xmlns:a16="http://schemas.microsoft.com/office/drawing/2014/main" id="{98647AB2-EA2A-74A6-EBDC-8DCC52B42D18}"/>
                </a:ext>
              </a:extLst>
            </p:cNvPr>
            <p:cNvSpPr/>
            <p:nvPr/>
          </p:nvSpPr>
          <p:spPr>
            <a:xfrm rot="5400000">
              <a:off x="656280" y="228348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rs</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25:21</a:t>
              </a:r>
              <a:endParaRPr lang="en-US" sz="1200" b="0" strike="noStrike" spc="-1">
                <a:latin typeface="Arial"/>
              </a:endParaRPr>
            </a:p>
          </p:txBody>
        </p:sp>
        <p:sp>
          <p:nvSpPr>
            <p:cNvPr id="11" name="CustomShape 6">
              <a:extLst>
                <a:ext uri="{FF2B5EF4-FFF2-40B4-BE49-F238E27FC236}">
                  <a16:creationId xmlns:a16="http://schemas.microsoft.com/office/drawing/2014/main" id="{9FB6C6B2-CE67-1FD3-CF33-7C06F8DA24E7}"/>
                </a:ext>
              </a:extLst>
            </p:cNvPr>
            <p:cNvSpPr/>
            <p:nvPr/>
          </p:nvSpPr>
          <p:spPr>
            <a:xfrm rot="5400000">
              <a:off x="656280" y="2818800"/>
              <a:ext cx="53496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rt</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20:16</a:t>
              </a:r>
              <a:endParaRPr lang="en-US" sz="1200" b="0" strike="noStrike" spc="-1">
                <a:latin typeface="Arial"/>
              </a:endParaRPr>
            </a:p>
          </p:txBody>
        </p:sp>
        <p:sp>
          <p:nvSpPr>
            <p:cNvPr id="12" name="CustomShape 7">
              <a:extLst>
                <a:ext uri="{FF2B5EF4-FFF2-40B4-BE49-F238E27FC236}">
                  <a16:creationId xmlns:a16="http://schemas.microsoft.com/office/drawing/2014/main" id="{CE6A532A-6AA7-1AF2-72BA-B042B42FB09E}"/>
                </a:ext>
              </a:extLst>
            </p:cNvPr>
            <p:cNvSpPr/>
            <p:nvPr/>
          </p:nvSpPr>
          <p:spPr>
            <a:xfrm rot="5400000">
              <a:off x="656280" y="335448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rd</a:t>
              </a:r>
              <a:endParaRPr lang="en-US" sz="1200" b="0" strike="noStrike" spc="-1">
                <a:latin typeface="Arial"/>
              </a:endParaRPr>
            </a:p>
            <a:p>
              <a:pPr algn="ctr">
                <a:lnSpc>
                  <a:spcPct val="100000"/>
                </a:lnSpc>
              </a:pPr>
              <a:r>
                <a:rPr lang="en-US" sz="1200" b="1" strike="noStrike" spc="-1">
                  <a:solidFill>
                    <a:srgbClr val="C00000"/>
                  </a:solidFill>
                  <a:latin typeface="Courier New"/>
                  <a:ea typeface="ＭＳ Ｐゴシック"/>
                </a:rPr>
                <a:t>15:11</a:t>
              </a:r>
              <a:endParaRPr lang="en-US" sz="1200" b="0" strike="noStrike" spc="-1">
                <a:latin typeface="Arial"/>
              </a:endParaRPr>
            </a:p>
          </p:txBody>
        </p:sp>
        <p:sp>
          <p:nvSpPr>
            <p:cNvPr id="13" name="CustomShape 8">
              <a:extLst>
                <a:ext uri="{FF2B5EF4-FFF2-40B4-BE49-F238E27FC236}">
                  <a16:creationId xmlns:a16="http://schemas.microsoft.com/office/drawing/2014/main" id="{29AD75E6-DA4A-38C9-4BC8-43DD7834B85E}"/>
                </a:ext>
              </a:extLst>
            </p:cNvPr>
            <p:cNvSpPr/>
            <p:nvPr/>
          </p:nvSpPr>
          <p:spPr>
            <a:xfrm rot="5400000">
              <a:off x="656280" y="389016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shamt</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10:6</a:t>
              </a:r>
              <a:endParaRPr lang="en-US" sz="1200" b="0" strike="noStrike" spc="-1">
                <a:latin typeface="Arial"/>
              </a:endParaRPr>
            </a:p>
          </p:txBody>
        </p:sp>
        <p:sp>
          <p:nvSpPr>
            <p:cNvPr id="14" name="CustomShape 9">
              <a:extLst>
                <a:ext uri="{FF2B5EF4-FFF2-40B4-BE49-F238E27FC236}">
                  <a16:creationId xmlns:a16="http://schemas.microsoft.com/office/drawing/2014/main" id="{7DBB2945-741D-C1E4-941E-2F4EBFA5B5AB}"/>
                </a:ext>
              </a:extLst>
            </p:cNvPr>
            <p:cNvSpPr/>
            <p:nvPr/>
          </p:nvSpPr>
          <p:spPr>
            <a:xfrm rot="5400000">
              <a:off x="608760" y="447300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funct</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5:0</a:t>
              </a:r>
              <a:endParaRPr lang="en-US" sz="1200" b="0" strike="noStrike" spc="-1">
                <a:latin typeface="Arial"/>
              </a:endParaRPr>
            </a:p>
          </p:txBody>
        </p:sp>
      </p:grpSp>
      <p:grpSp>
        <p:nvGrpSpPr>
          <p:cNvPr id="15" name="Group 10">
            <a:extLst>
              <a:ext uri="{FF2B5EF4-FFF2-40B4-BE49-F238E27FC236}">
                <a16:creationId xmlns:a16="http://schemas.microsoft.com/office/drawing/2014/main" id="{EF6BF229-1D14-8350-B8DF-B40E21ADE202}"/>
              </a:ext>
            </a:extLst>
          </p:cNvPr>
          <p:cNvGrpSpPr/>
          <p:nvPr/>
        </p:nvGrpSpPr>
        <p:grpSpPr>
          <a:xfrm>
            <a:off x="2216588" y="1721037"/>
            <a:ext cx="335520" cy="4287840"/>
            <a:chOff x="1176120" y="1637640"/>
            <a:chExt cx="335520" cy="3402000"/>
          </a:xfrm>
        </p:grpSpPr>
        <p:sp>
          <p:nvSpPr>
            <p:cNvPr id="16" name="CustomShape 11">
              <a:extLst>
                <a:ext uri="{FF2B5EF4-FFF2-40B4-BE49-F238E27FC236}">
                  <a16:creationId xmlns:a16="http://schemas.microsoft.com/office/drawing/2014/main" id="{3A0EE628-1305-61F9-423B-E21C80EC35CC}"/>
                </a:ext>
              </a:extLst>
            </p:cNvPr>
            <p:cNvSpPr/>
            <p:nvPr/>
          </p:nvSpPr>
          <p:spPr>
            <a:xfrm rot="5400000">
              <a:off x="1028880" y="1784520"/>
              <a:ext cx="629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000000</a:t>
              </a:r>
              <a:endParaRPr lang="en-US" sz="1200" b="0" strike="noStrike" spc="-1">
                <a:latin typeface="Arial"/>
              </a:endParaRPr>
            </a:p>
          </p:txBody>
        </p:sp>
        <p:sp>
          <p:nvSpPr>
            <p:cNvPr id="17" name="CustomShape 12">
              <a:extLst>
                <a:ext uri="{FF2B5EF4-FFF2-40B4-BE49-F238E27FC236}">
                  <a16:creationId xmlns:a16="http://schemas.microsoft.com/office/drawing/2014/main" id="{DEE3EECB-9A0D-A5CE-1F18-12394044000C}"/>
                </a:ext>
              </a:extLst>
            </p:cNvPr>
            <p:cNvSpPr/>
            <p:nvPr/>
          </p:nvSpPr>
          <p:spPr>
            <a:xfrm rot="5400000">
              <a:off x="1076040" y="236736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01001</a:t>
              </a:r>
              <a:endParaRPr lang="en-US" sz="1200" b="0" strike="noStrike" spc="-1">
                <a:latin typeface="Arial"/>
              </a:endParaRPr>
            </a:p>
          </p:txBody>
        </p:sp>
        <p:sp>
          <p:nvSpPr>
            <p:cNvPr id="18" name="CustomShape 13">
              <a:extLst>
                <a:ext uri="{FF2B5EF4-FFF2-40B4-BE49-F238E27FC236}">
                  <a16:creationId xmlns:a16="http://schemas.microsoft.com/office/drawing/2014/main" id="{D4F5B5F8-9D84-B4C6-45E8-FF8D3B36F619}"/>
                </a:ext>
              </a:extLst>
            </p:cNvPr>
            <p:cNvSpPr/>
            <p:nvPr/>
          </p:nvSpPr>
          <p:spPr>
            <a:xfrm rot="5400000">
              <a:off x="1076040" y="290268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01010</a:t>
              </a:r>
              <a:endParaRPr lang="en-US" sz="1200" b="0" strike="noStrike" spc="-1">
                <a:latin typeface="Arial"/>
              </a:endParaRPr>
            </a:p>
          </p:txBody>
        </p:sp>
        <p:sp>
          <p:nvSpPr>
            <p:cNvPr id="19" name="CustomShape 14">
              <a:extLst>
                <a:ext uri="{FF2B5EF4-FFF2-40B4-BE49-F238E27FC236}">
                  <a16:creationId xmlns:a16="http://schemas.microsoft.com/office/drawing/2014/main" id="{4FE1B26B-119D-2B35-EF9F-6856501BC04E}"/>
                </a:ext>
              </a:extLst>
            </p:cNvPr>
            <p:cNvSpPr/>
            <p:nvPr/>
          </p:nvSpPr>
          <p:spPr>
            <a:xfrm rot="5400000">
              <a:off x="1076400" y="3438360"/>
              <a:ext cx="53496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01000</a:t>
              </a:r>
              <a:endParaRPr lang="en-US" sz="1200" b="0" strike="noStrike" spc="-1">
                <a:latin typeface="Arial"/>
              </a:endParaRPr>
            </a:p>
          </p:txBody>
        </p:sp>
        <p:sp>
          <p:nvSpPr>
            <p:cNvPr id="20" name="CustomShape 15">
              <a:extLst>
                <a:ext uri="{FF2B5EF4-FFF2-40B4-BE49-F238E27FC236}">
                  <a16:creationId xmlns:a16="http://schemas.microsoft.com/office/drawing/2014/main" id="{ED0109A4-B1CE-21C9-C408-D4B94EDD7BC6}"/>
                </a:ext>
              </a:extLst>
            </p:cNvPr>
            <p:cNvSpPr/>
            <p:nvPr/>
          </p:nvSpPr>
          <p:spPr>
            <a:xfrm rot="5400000">
              <a:off x="1076400" y="3974040"/>
              <a:ext cx="53496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00000</a:t>
              </a:r>
              <a:endParaRPr lang="en-US" sz="1200" b="0" strike="noStrike" spc="-1">
                <a:latin typeface="Arial"/>
              </a:endParaRPr>
            </a:p>
          </p:txBody>
        </p:sp>
        <p:sp>
          <p:nvSpPr>
            <p:cNvPr id="21" name="CustomShape 16">
              <a:extLst>
                <a:ext uri="{FF2B5EF4-FFF2-40B4-BE49-F238E27FC236}">
                  <a16:creationId xmlns:a16="http://schemas.microsoft.com/office/drawing/2014/main" id="{867B4125-DAF6-CF49-200D-150467DC34A3}"/>
                </a:ext>
              </a:extLst>
            </p:cNvPr>
            <p:cNvSpPr/>
            <p:nvPr/>
          </p:nvSpPr>
          <p:spPr>
            <a:xfrm rot="5400000">
              <a:off x="1028880" y="4556880"/>
              <a:ext cx="63000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100000</a:t>
              </a:r>
              <a:endParaRPr lang="en-US" sz="1200" b="0" strike="noStrike" spc="-1">
                <a:latin typeface="Arial"/>
              </a:endParaRPr>
            </a:p>
          </p:txBody>
        </p:sp>
      </p:grpSp>
      <p:sp>
        <p:nvSpPr>
          <p:cNvPr id="22" name="CustomShape 17">
            <a:extLst>
              <a:ext uri="{FF2B5EF4-FFF2-40B4-BE49-F238E27FC236}">
                <a16:creationId xmlns:a16="http://schemas.microsoft.com/office/drawing/2014/main" id="{D2A0E01C-A301-EB20-2E8A-376D62134F64}"/>
              </a:ext>
            </a:extLst>
          </p:cNvPr>
          <p:cNvSpPr/>
          <p:nvPr/>
        </p:nvSpPr>
        <p:spPr>
          <a:xfrm>
            <a:off x="5175428" y="3010077"/>
            <a:ext cx="2073600" cy="149292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23" name="Line 18">
            <a:extLst>
              <a:ext uri="{FF2B5EF4-FFF2-40B4-BE49-F238E27FC236}">
                <a16:creationId xmlns:a16="http://schemas.microsoft.com/office/drawing/2014/main" id="{BB056E7D-9A63-EC4F-612E-3CE2BC49C931}"/>
              </a:ext>
            </a:extLst>
          </p:cNvPr>
          <p:cNvSpPr/>
          <p:nvPr/>
        </p:nvSpPr>
        <p:spPr>
          <a:xfrm>
            <a:off x="6148148" y="4503357"/>
            <a:ext cx="360" cy="22212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24" name="CustomShape 19">
            <a:extLst>
              <a:ext uri="{FF2B5EF4-FFF2-40B4-BE49-F238E27FC236}">
                <a16:creationId xmlns:a16="http://schemas.microsoft.com/office/drawing/2014/main" id="{632D62DC-02AA-A8BC-4754-5B87AAE96A1A}"/>
              </a:ext>
            </a:extLst>
          </p:cNvPr>
          <p:cNvSpPr/>
          <p:nvPr/>
        </p:nvSpPr>
        <p:spPr>
          <a:xfrm>
            <a:off x="5219348" y="3065157"/>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25" name="CustomShape 20">
            <a:extLst>
              <a:ext uri="{FF2B5EF4-FFF2-40B4-BE49-F238E27FC236}">
                <a16:creationId xmlns:a16="http://schemas.microsoft.com/office/drawing/2014/main" id="{119145C6-3F22-5317-2451-027F4713B87D}"/>
              </a:ext>
            </a:extLst>
          </p:cNvPr>
          <p:cNvSpPr/>
          <p:nvPr/>
        </p:nvSpPr>
        <p:spPr>
          <a:xfrm>
            <a:off x="5219348" y="3433797"/>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26" name="CustomShape 21">
            <a:extLst>
              <a:ext uri="{FF2B5EF4-FFF2-40B4-BE49-F238E27FC236}">
                <a16:creationId xmlns:a16="http://schemas.microsoft.com/office/drawing/2014/main" id="{15C01173-3EBB-0AF6-E607-A8B18C4FF387}"/>
              </a:ext>
            </a:extLst>
          </p:cNvPr>
          <p:cNvSpPr/>
          <p:nvPr/>
        </p:nvSpPr>
        <p:spPr>
          <a:xfrm>
            <a:off x="5212148" y="3781917"/>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27" name="CustomShape 22">
            <a:extLst>
              <a:ext uri="{FF2B5EF4-FFF2-40B4-BE49-F238E27FC236}">
                <a16:creationId xmlns:a16="http://schemas.microsoft.com/office/drawing/2014/main" id="{AADEB426-F5F3-6D43-214A-524B6FD3BEFA}"/>
              </a:ext>
            </a:extLst>
          </p:cNvPr>
          <p:cNvSpPr/>
          <p:nvPr/>
        </p:nvSpPr>
        <p:spPr>
          <a:xfrm>
            <a:off x="5207108" y="4159917"/>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28" name="CustomShape 23">
            <a:extLst>
              <a:ext uri="{FF2B5EF4-FFF2-40B4-BE49-F238E27FC236}">
                <a16:creationId xmlns:a16="http://schemas.microsoft.com/office/drawing/2014/main" id="{433AFF0F-89EC-5255-0C85-21CF3E0815E7}"/>
              </a:ext>
            </a:extLst>
          </p:cNvPr>
          <p:cNvSpPr/>
          <p:nvPr/>
        </p:nvSpPr>
        <p:spPr>
          <a:xfrm>
            <a:off x="6583388" y="3112317"/>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29" name="CustomShape 24">
            <a:extLst>
              <a:ext uri="{FF2B5EF4-FFF2-40B4-BE49-F238E27FC236}">
                <a16:creationId xmlns:a16="http://schemas.microsoft.com/office/drawing/2014/main" id="{48F3DFA7-6890-BBBD-12D6-EF7A56619D57}"/>
              </a:ext>
            </a:extLst>
          </p:cNvPr>
          <p:cNvSpPr/>
          <p:nvPr/>
        </p:nvSpPr>
        <p:spPr>
          <a:xfrm>
            <a:off x="6583388" y="3970917"/>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30" name="CustomShape 25">
            <a:extLst>
              <a:ext uri="{FF2B5EF4-FFF2-40B4-BE49-F238E27FC236}">
                <a16:creationId xmlns:a16="http://schemas.microsoft.com/office/drawing/2014/main" id="{5AF23585-5389-58AF-EB45-BFD3818DC61B}"/>
              </a:ext>
            </a:extLst>
          </p:cNvPr>
          <p:cNvSpPr/>
          <p:nvPr/>
        </p:nvSpPr>
        <p:spPr>
          <a:xfrm>
            <a:off x="5634068" y="4648077"/>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sp>
        <p:nvSpPr>
          <p:cNvPr id="31" name="Line 26">
            <a:extLst>
              <a:ext uri="{FF2B5EF4-FFF2-40B4-BE49-F238E27FC236}">
                <a16:creationId xmlns:a16="http://schemas.microsoft.com/office/drawing/2014/main" id="{2E5B6634-D2BC-33EA-788F-E3799F04DCC2}"/>
              </a:ext>
            </a:extLst>
          </p:cNvPr>
          <p:cNvSpPr/>
          <p:nvPr/>
        </p:nvSpPr>
        <p:spPr>
          <a:xfrm>
            <a:off x="4483868" y="3261717"/>
            <a:ext cx="69156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2" name="Line 27">
            <a:extLst>
              <a:ext uri="{FF2B5EF4-FFF2-40B4-BE49-F238E27FC236}">
                <a16:creationId xmlns:a16="http://schemas.microsoft.com/office/drawing/2014/main" id="{A544C567-2E91-3478-C52F-890C494BAFA2}"/>
              </a:ext>
            </a:extLst>
          </p:cNvPr>
          <p:cNvSpPr/>
          <p:nvPr/>
        </p:nvSpPr>
        <p:spPr>
          <a:xfrm>
            <a:off x="4624268" y="3590037"/>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3" name="Line 28">
            <a:extLst>
              <a:ext uri="{FF2B5EF4-FFF2-40B4-BE49-F238E27FC236}">
                <a16:creationId xmlns:a16="http://schemas.microsoft.com/office/drawing/2014/main" id="{41B76A89-58FA-4B4C-0B63-2FCD9B3407D6}"/>
              </a:ext>
            </a:extLst>
          </p:cNvPr>
          <p:cNvSpPr/>
          <p:nvPr/>
        </p:nvSpPr>
        <p:spPr>
          <a:xfrm flipV="1">
            <a:off x="4568108" y="3947877"/>
            <a:ext cx="607320" cy="68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4" name="Line 29">
            <a:extLst>
              <a:ext uri="{FF2B5EF4-FFF2-40B4-BE49-F238E27FC236}">
                <a16:creationId xmlns:a16="http://schemas.microsoft.com/office/drawing/2014/main" id="{026A50F2-0595-083F-6A1C-FF60DC5ECBCB}"/>
              </a:ext>
            </a:extLst>
          </p:cNvPr>
          <p:cNvSpPr/>
          <p:nvPr/>
        </p:nvSpPr>
        <p:spPr>
          <a:xfrm>
            <a:off x="4624268" y="4326237"/>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nvGrpSpPr>
          <p:cNvPr id="35" name="Group 30">
            <a:extLst>
              <a:ext uri="{FF2B5EF4-FFF2-40B4-BE49-F238E27FC236}">
                <a16:creationId xmlns:a16="http://schemas.microsoft.com/office/drawing/2014/main" id="{C93C3D27-533A-F768-D8B5-388D30F58AED}"/>
              </a:ext>
            </a:extLst>
          </p:cNvPr>
          <p:cNvGrpSpPr/>
          <p:nvPr/>
        </p:nvGrpSpPr>
        <p:grpSpPr>
          <a:xfrm>
            <a:off x="7249028" y="3278997"/>
            <a:ext cx="1182960" cy="874440"/>
            <a:chOff x="6208560" y="2599920"/>
            <a:chExt cx="1182960" cy="874440"/>
          </a:xfrm>
        </p:grpSpPr>
        <p:sp>
          <p:nvSpPr>
            <p:cNvPr id="36" name="Line 31">
              <a:extLst>
                <a:ext uri="{FF2B5EF4-FFF2-40B4-BE49-F238E27FC236}">
                  <a16:creationId xmlns:a16="http://schemas.microsoft.com/office/drawing/2014/main" id="{26AB18D0-EB62-BCA1-A42B-A712EEA9DD89}"/>
                </a:ext>
              </a:extLst>
            </p:cNvPr>
            <p:cNvSpPr/>
            <p:nvPr/>
          </p:nvSpPr>
          <p:spPr>
            <a:xfrm>
              <a:off x="6208560" y="2599920"/>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7" name="Line 32">
              <a:extLst>
                <a:ext uri="{FF2B5EF4-FFF2-40B4-BE49-F238E27FC236}">
                  <a16:creationId xmlns:a16="http://schemas.microsoft.com/office/drawing/2014/main" id="{D669430F-46FF-6735-D86B-606E162DD960}"/>
                </a:ext>
              </a:extLst>
            </p:cNvPr>
            <p:cNvSpPr/>
            <p:nvPr/>
          </p:nvSpPr>
          <p:spPr>
            <a:xfrm>
              <a:off x="6208560" y="3474000"/>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
        <p:nvSpPr>
          <p:cNvPr id="38" name="CustomShape 33">
            <a:extLst>
              <a:ext uri="{FF2B5EF4-FFF2-40B4-BE49-F238E27FC236}">
                <a16:creationId xmlns:a16="http://schemas.microsoft.com/office/drawing/2014/main" id="{B6F9922D-4ACB-3019-9AA2-69E8A352834D}"/>
              </a:ext>
            </a:extLst>
          </p:cNvPr>
          <p:cNvSpPr/>
          <p:nvPr/>
        </p:nvSpPr>
        <p:spPr>
          <a:xfrm>
            <a:off x="6257588" y="3514077"/>
            <a:ext cx="90648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C00000"/>
                </a:solidFill>
                <a:latin typeface="Verdana"/>
                <a:ea typeface="ＭＳ Ｐゴシック"/>
              </a:rPr>
              <a:t>Register</a:t>
            </a:r>
            <a:endParaRPr lang="en-US" sz="1200" b="0" strike="noStrike" spc="-1">
              <a:latin typeface="Arial"/>
            </a:endParaRPr>
          </a:p>
          <a:p>
            <a:pPr algn="ctr">
              <a:lnSpc>
                <a:spcPct val="100000"/>
              </a:lnSpc>
            </a:pPr>
            <a:r>
              <a:rPr lang="en-US" sz="1200" b="1" i="1" strike="noStrike" spc="-1">
                <a:solidFill>
                  <a:srgbClr val="C00000"/>
                </a:solidFill>
                <a:latin typeface="Verdana"/>
                <a:ea typeface="ＭＳ Ｐゴシック"/>
              </a:rPr>
              <a:t>File</a:t>
            </a:r>
            <a:endParaRPr lang="en-US" sz="1200" b="0" strike="noStrike" spc="-1">
              <a:latin typeface="Arial"/>
            </a:endParaRPr>
          </a:p>
        </p:txBody>
      </p:sp>
      <p:sp>
        <p:nvSpPr>
          <p:cNvPr id="39" name="Line 34">
            <a:extLst>
              <a:ext uri="{FF2B5EF4-FFF2-40B4-BE49-F238E27FC236}">
                <a16:creationId xmlns:a16="http://schemas.microsoft.com/office/drawing/2014/main" id="{CBA33556-4AA5-D54C-0F98-570F8E12B2F1}"/>
              </a:ext>
            </a:extLst>
          </p:cNvPr>
          <p:cNvSpPr/>
          <p:nvPr/>
        </p:nvSpPr>
        <p:spPr>
          <a:xfrm flipH="1">
            <a:off x="4752068" y="3201597"/>
            <a:ext cx="12744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0" name="Line 35">
            <a:extLst>
              <a:ext uri="{FF2B5EF4-FFF2-40B4-BE49-F238E27FC236}">
                <a16:creationId xmlns:a16="http://schemas.microsoft.com/office/drawing/2014/main" id="{5E9535E5-5962-AE08-7A37-A823F35FF7A8}"/>
              </a:ext>
            </a:extLst>
          </p:cNvPr>
          <p:cNvSpPr/>
          <p:nvPr/>
        </p:nvSpPr>
        <p:spPr>
          <a:xfrm flipH="1">
            <a:off x="4752068" y="3519117"/>
            <a:ext cx="12744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1" name="Line 36">
            <a:extLst>
              <a:ext uri="{FF2B5EF4-FFF2-40B4-BE49-F238E27FC236}">
                <a16:creationId xmlns:a16="http://schemas.microsoft.com/office/drawing/2014/main" id="{D13F46E3-0D01-920B-D7D2-D89C450A9C8E}"/>
              </a:ext>
            </a:extLst>
          </p:cNvPr>
          <p:cNvSpPr/>
          <p:nvPr/>
        </p:nvSpPr>
        <p:spPr>
          <a:xfrm flipH="1">
            <a:off x="4752068" y="3877317"/>
            <a:ext cx="12744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2" name="CustomShape 37">
            <a:extLst>
              <a:ext uri="{FF2B5EF4-FFF2-40B4-BE49-F238E27FC236}">
                <a16:creationId xmlns:a16="http://schemas.microsoft.com/office/drawing/2014/main" id="{F2E5FEA8-07BA-522C-7DFE-424C4796738D}"/>
              </a:ext>
            </a:extLst>
          </p:cNvPr>
          <p:cNvSpPr/>
          <p:nvPr/>
        </p:nvSpPr>
        <p:spPr>
          <a:xfrm>
            <a:off x="4649108" y="3072717"/>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43" name="CustomShape 38">
            <a:extLst>
              <a:ext uri="{FF2B5EF4-FFF2-40B4-BE49-F238E27FC236}">
                <a16:creationId xmlns:a16="http://schemas.microsoft.com/office/drawing/2014/main" id="{AF2EA3B3-46E5-34F4-31C6-AE11C48402BE}"/>
              </a:ext>
            </a:extLst>
          </p:cNvPr>
          <p:cNvSpPr/>
          <p:nvPr/>
        </p:nvSpPr>
        <p:spPr>
          <a:xfrm>
            <a:off x="4615628" y="3403917"/>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44" name="CustomShape 39">
            <a:extLst>
              <a:ext uri="{FF2B5EF4-FFF2-40B4-BE49-F238E27FC236}">
                <a16:creationId xmlns:a16="http://schemas.microsoft.com/office/drawing/2014/main" id="{069047DE-530D-47E0-2566-1706BEF57207}"/>
              </a:ext>
            </a:extLst>
          </p:cNvPr>
          <p:cNvSpPr/>
          <p:nvPr/>
        </p:nvSpPr>
        <p:spPr>
          <a:xfrm>
            <a:off x="4615628" y="3781917"/>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45" name="Line 40">
            <a:extLst>
              <a:ext uri="{FF2B5EF4-FFF2-40B4-BE49-F238E27FC236}">
                <a16:creationId xmlns:a16="http://schemas.microsoft.com/office/drawing/2014/main" id="{230E889A-B956-BFC9-5DF9-AB2E7395D713}"/>
              </a:ext>
            </a:extLst>
          </p:cNvPr>
          <p:cNvSpPr/>
          <p:nvPr/>
        </p:nvSpPr>
        <p:spPr>
          <a:xfrm>
            <a:off x="2595848" y="2858877"/>
            <a:ext cx="1888379" cy="402840"/>
          </a:xfrm>
          <a:prstGeom prst="line">
            <a:avLst/>
          </a:prstGeom>
          <a:ln w="19080">
            <a:solidFill>
              <a:srgbClr val="57667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6" name="Line 41">
            <a:extLst>
              <a:ext uri="{FF2B5EF4-FFF2-40B4-BE49-F238E27FC236}">
                <a16:creationId xmlns:a16="http://schemas.microsoft.com/office/drawing/2014/main" id="{0D59BE87-16A1-60A2-0E57-816580421A01}"/>
              </a:ext>
            </a:extLst>
          </p:cNvPr>
          <p:cNvSpPr/>
          <p:nvPr/>
        </p:nvSpPr>
        <p:spPr>
          <a:xfrm>
            <a:off x="2559128" y="3582297"/>
            <a:ext cx="2065139" cy="7380"/>
          </a:xfrm>
          <a:prstGeom prst="line">
            <a:avLst/>
          </a:prstGeom>
          <a:ln w="19080">
            <a:solidFill>
              <a:srgbClr val="57667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7" name="Line 42">
            <a:extLst>
              <a:ext uri="{FF2B5EF4-FFF2-40B4-BE49-F238E27FC236}">
                <a16:creationId xmlns:a16="http://schemas.microsoft.com/office/drawing/2014/main" id="{92027B8B-A23D-C6B7-E8FE-C9669DBA97B9}"/>
              </a:ext>
            </a:extLst>
          </p:cNvPr>
          <p:cNvSpPr/>
          <p:nvPr/>
        </p:nvSpPr>
        <p:spPr>
          <a:xfrm flipV="1">
            <a:off x="2552468" y="3954717"/>
            <a:ext cx="2016000" cy="330840"/>
          </a:xfrm>
          <a:prstGeom prst="line">
            <a:avLst/>
          </a:prstGeom>
          <a:ln w="19080">
            <a:solidFill>
              <a:srgbClr val="57667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8" name="CustomShape 43">
            <a:extLst>
              <a:ext uri="{FF2B5EF4-FFF2-40B4-BE49-F238E27FC236}">
                <a16:creationId xmlns:a16="http://schemas.microsoft.com/office/drawing/2014/main" id="{25CBC02E-E22E-9E87-5A5C-CB6CC0271E61}"/>
              </a:ext>
            </a:extLst>
          </p:cNvPr>
          <p:cNvSpPr/>
          <p:nvPr/>
        </p:nvSpPr>
        <p:spPr>
          <a:xfrm>
            <a:off x="8264228" y="3072717"/>
            <a:ext cx="1679400" cy="377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Nội dung của thanh ghi </a:t>
            </a:r>
            <a:r>
              <a:rPr lang="en-US" sz="1800" b="1" strike="noStrike" spc="-1">
                <a:solidFill>
                  <a:srgbClr val="006600"/>
                </a:solidFill>
                <a:latin typeface="Courier New"/>
                <a:ea typeface="ＭＳ Ｐゴシック"/>
              </a:rPr>
              <a:t>$9</a:t>
            </a:r>
            <a:endParaRPr lang="en-US" sz="1800" b="0" strike="noStrike" spc="-1">
              <a:latin typeface="Arial"/>
            </a:endParaRPr>
          </a:p>
        </p:txBody>
      </p:sp>
      <p:sp>
        <p:nvSpPr>
          <p:cNvPr id="49" name="CustomShape 44">
            <a:extLst>
              <a:ext uri="{FF2B5EF4-FFF2-40B4-BE49-F238E27FC236}">
                <a16:creationId xmlns:a16="http://schemas.microsoft.com/office/drawing/2014/main" id="{14745A11-645D-7F49-F7B2-16FDE368C37D}"/>
              </a:ext>
            </a:extLst>
          </p:cNvPr>
          <p:cNvSpPr/>
          <p:nvPr/>
        </p:nvSpPr>
        <p:spPr>
          <a:xfrm>
            <a:off x="8264228" y="3955077"/>
            <a:ext cx="1679400" cy="377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Nội dung của thanh ghi </a:t>
            </a:r>
            <a:r>
              <a:rPr lang="en-US" sz="1800" b="1" strike="noStrike" spc="-1">
                <a:solidFill>
                  <a:srgbClr val="006600"/>
                </a:solidFill>
                <a:latin typeface="Courier New"/>
                <a:ea typeface="ＭＳ Ｐゴシック"/>
              </a:rPr>
              <a:t>$10</a:t>
            </a:r>
            <a:endParaRPr lang="en-US" sz="1800" b="0" strike="noStrike" spc="-1">
              <a:latin typeface="Arial"/>
            </a:endParaRPr>
          </a:p>
        </p:txBody>
      </p:sp>
      <p:sp>
        <p:nvSpPr>
          <p:cNvPr id="50" name="Line 45">
            <a:extLst>
              <a:ext uri="{FF2B5EF4-FFF2-40B4-BE49-F238E27FC236}">
                <a16:creationId xmlns:a16="http://schemas.microsoft.com/office/drawing/2014/main" id="{D268EA8C-631A-2008-27ED-67B706A34C98}"/>
              </a:ext>
            </a:extLst>
          </p:cNvPr>
          <p:cNvSpPr/>
          <p:nvPr/>
        </p:nvSpPr>
        <p:spPr>
          <a:xfrm flipV="1">
            <a:off x="4399988" y="4325877"/>
            <a:ext cx="224280" cy="510840"/>
          </a:xfrm>
          <a:prstGeom prst="line">
            <a:avLst/>
          </a:prstGeom>
          <a:ln w="19080">
            <a:solidFill>
              <a:srgbClr val="57667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51" name="CustomShape 46">
            <a:extLst>
              <a:ext uri="{FF2B5EF4-FFF2-40B4-BE49-F238E27FC236}">
                <a16:creationId xmlns:a16="http://schemas.microsoft.com/office/drawing/2014/main" id="{56347D2E-C24E-0DB5-E7B3-9BB0D13720DB}"/>
              </a:ext>
            </a:extLst>
          </p:cNvPr>
          <p:cNvSpPr/>
          <p:nvPr/>
        </p:nvSpPr>
        <p:spPr>
          <a:xfrm>
            <a:off x="3308108" y="4836717"/>
            <a:ext cx="2183400" cy="881640"/>
          </a:xfrm>
          <a:prstGeom prst="roundRect">
            <a:avLst>
              <a:gd name="adj" fmla="val 16667"/>
            </a:avLst>
          </a:prstGeom>
          <a:solidFill>
            <a:schemeClr val="bg1">
              <a:lumMod val="95000"/>
            </a:schemeClr>
          </a:solidFill>
          <a:ln w="15840">
            <a:solidFill>
              <a:schemeClr val="tx1"/>
            </a:solidFill>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0" strike="noStrike" spc="-1">
                <a:solidFill>
                  <a:srgbClr val="000000"/>
                </a:solidFill>
                <a:latin typeface="Times New Roman"/>
                <a:ea typeface="ＭＳ Ｐゴシック"/>
              </a:rPr>
              <a:t>Kết quả/giá trị cần lưu vào thanh ghi (sẽ được sinh ra ở giai đoạn sau)</a:t>
            </a:r>
            <a:endParaRPr lang="en-US" sz="1600" b="0" strike="noStrike" spc="-1">
              <a:latin typeface="Arial"/>
            </a:endParaRPr>
          </a:p>
        </p:txBody>
      </p:sp>
      <p:sp>
        <p:nvSpPr>
          <p:cNvPr id="52" name="CustomShape 47">
            <a:extLst>
              <a:ext uri="{FF2B5EF4-FFF2-40B4-BE49-F238E27FC236}">
                <a16:creationId xmlns:a16="http://schemas.microsoft.com/office/drawing/2014/main" id="{F4BAB955-40AD-132E-914D-B70325E3FBA8}"/>
              </a:ext>
            </a:extLst>
          </p:cNvPr>
          <p:cNvSpPr/>
          <p:nvPr/>
        </p:nvSpPr>
        <p:spPr>
          <a:xfrm rot="866246">
            <a:off x="2982909" y="2766556"/>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53" name="CustomShape 48">
            <a:extLst>
              <a:ext uri="{FF2B5EF4-FFF2-40B4-BE49-F238E27FC236}">
                <a16:creationId xmlns:a16="http://schemas.microsoft.com/office/drawing/2014/main" id="{5208B5F4-23CC-79D1-C892-71D92C097177}"/>
              </a:ext>
            </a:extLst>
          </p:cNvPr>
          <p:cNvSpPr/>
          <p:nvPr/>
        </p:nvSpPr>
        <p:spPr>
          <a:xfrm rot="152303">
            <a:off x="2766695" y="3317947"/>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54" name="CustomShape 49">
            <a:extLst>
              <a:ext uri="{FF2B5EF4-FFF2-40B4-BE49-F238E27FC236}">
                <a16:creationId xmlns:a16="http://schemas.microsoft.com/office/drawing/2014/main" id="{80F06859-2D43-A8E6-D014-51AE8D627004}"/>
              </a:ext>
            </a:extLst>
          </p:cNvPr>
          <p:cNvSpPr/>
          <p:nvPr/>
        </p:nvSpPr>
        <p:spPr>
          <a:xfrm rot="21008503">
            <a:off x="2720948" y="3945537"/>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55" name="CustomShape 50">
            <a:extLst>
              <a:ext uri="{FF2B5EF4-FFF2-40B4-BE49-F238E27FC236}">
                <a16:creationId xmlns:a16="http://schemas.microsoft.com/office/drawing/2014/main" id="{43F1B7E0-10FB-0FA4-F445-DBC082ABB6DC}"/>
              </a:ext>
            </a:extLst>
          </p:cNvPr>
          <p:cNvSpPr/>
          <p:nvPr/>
        </p:nvSpPr>
        <p:spPr>
          <a:xfrm>
            <a:off x="7844108" y="5025717"/>
            <a:ext cx="2939760" cy="692640"/>
          </a:xfrm>
          <a:prstGeom prst="roundRect">
            <a:avLst>
              <a:gd name="adj" fmla="val 16667"/>
            </a:avLst>
          </a:prstGeom>
          <a:solidFill>
            <a:schemeClr val="bg1"/>
          </a:solidFill>
          <a:ln w="15840">
            <a:solidFill>
              <a:schemeClr val="tx1"/>
            </a:solidFill>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nSpc>
                <a:spcPct val="100000"/>
              </a:lnSpc>
            </a:pPr>
            <a:r>
              <a:rPr lang="en-US" sz="1600" b="1" strike="noStrike" spc="-1">
                <a:solidFill>
                  <a:srgbClr val="000000"/>
                </a:solidFill>
                <a:latin typeface="Times New Roman"/>
                <a:ea typeface="ＭＳ Ｐゴシック"/>
              </a:rPr>
              <a:t>Ký hiệu: </a:t>
            </a:r>
            <a:r>
              <a:rPr lang="en-US" sz="1600" b="0" strike="noStrike" spc="-1">
                <a:solidFill>
                  <a:srgbClr val="000000"/>
                </a:solidFill>
                <a:latin typeface="Times New Roman"/>
                <a:ea typeface="ＭＳ Ｐゴシック"/>
              </a:rPr>
              <a:t>Inst[Y:X] </a:t>
            </a:r>
            <a:endParaRPr lang="en-US" sz="1600" b="0" strike="noStrike" spc="-1">
              <a:latin typeface="Arial"/>
            </a:endParaRPr>
          </a:p>
          <a:p>
            <a:pPr algn="ctr">
              <a:lnSpc>
                <a:spcPct val="100000"/>
              </a:lnSpc>
            </a:pPr>
            <a:r>
              <a:rPr lang="en-US" sz="1600" b="0" strike="noStrike" spc="-1">
                <a:solidFill>
                  <a:srgbClr val="000000"/>
                </a:solidFill>
                <a:latin typeface="Times New Roman"/>
                <a:ea typeface="ＭＳ Ｐゴシック"/>
              </a:rPr>
              <a:t>= chuỗi bit từ X tới Y trong lệnh</a:t>
            </a:r>
            <a:endParaRPr lang="en-US" sz="1600" b="0" strike="noStrike" spc="-1">
              <a:latin typeface="Arial"/>
            </a:endParaRPr>
          </a:p>
        </p:txBody>
      </p:sp>
      <p:sp>
        <p:nvSpPr>
          <p:cNvPr id="56" name="CustomShape 51">
            <a:extLst>
              <a:ext uri="{FF2B5EF4-FFF2-40B4-BE49-F238E27FC236}">
                <a16:creationId xmlns:a16="http://schemas.microsoft.com/office/drawing/2014/main" id="{D011D17F-6907-8315-6D21-7705A07D2A60}"/>
              </a:ext>
            </a:extLst>
          </p:cNvPr>
          <p:cNvSpPr/>
          <p:nvPr/>
        </p:nvSpPr>
        <p:spPr>
          <a:xfrm>
            <a:off x="3644348" y="1560717"/>
            <a:ext cx="4451760" cy="440640"/>
          </a:xfrm>
          <a:prstGeom prst="snip1Rect">
            <a:avLst>
              <a:gd name="adj" fmla="val 16667"/>
            </a:avLst>
          </a:prstGeom>
          <a:solidFill>
            <a:srgbClr val="FFFFCC">
              <a:alpha val="80000"/>
            </a:srgbClr>
          </a:solidFill>
          <a:ln w="1584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marL="343080" indent="-342720" algn="ctr">
              <a:lnSpc>
                <a:spcPct val="100000"/>
              </a:lnSpc>
              <a:spcBef>
                <a:spcPts val="901"/>
              </a:spcBef>
            </a:pPr>
            <a:r>
              <a:rPr lang="en-US" sz="2800" b="1" strike="noStrike" spc="-1" dirty="0">
                <a:solidFill>
                  <a:srgbClr val="660066"/>
                </a:solidFill>
                <a:latin typeface="Courier New"/>
                <a:ea typeface="ＭＳ Ｐゴシック"/>
              </a:rPr>
              <a:t> </a:t>
            </a:r>
            <a:r>
              <a:rPr lang="en-US" sz="3000" b="1" strike="noStrike" spc="-1" dirty="0">
                <a:solidFill>
                  <a:srgbClr val="660066"/>
                </a:solidFill>
                <a:latin typeface="Courier New"/>
                <a:ea typeface="ＭＳ Ｐゴシック"/>
              </a:rPr>
              <a:t>add</a:t>
            </a:r>
            <a:r>
              <a:rPr lang="en-US" sz="3000" b="1" strike="noStrike" spc="-1" dirty="0">
                <a:solidFill>
                  <a:srgbClr val="000000"/>
                </a:solidFill>
                <a:latin typeface="Courier New"/>
                <a:ea typeface="ＭＳ Ｐゴシック"/>
              </a:rPr>
              <a:t> </a:t>
            </a:r>
            <a:r>
              <a:rPr lang="en-US" sz="3000" b="1" strike="noStrike" spc="-1" dirty="0">
                <a:solidFill>
                  <a:srgbClr val="C00000"/>
                </a:solidFill>
                <a:latin typeface="Courier New"/>
                <a:ea typeface="ＭＳ Ｐゴシック"/>
              </a:rPr>
              <a:t>$8</a:t>
            </a:r>
            <a:r>
              <a:rPr lang="en-US" sz="3000" b="1" strike="noStrike" spc="-1" dirty="0">
                <a:solidFill>
                  <a:srgbClr val="000000"/>
                </a:solidFill>
                <a:latin typeface="Courier New"/>
                <a:ea typeface="ＭＳ Ｐゴシック"/>
              </a:rPr>
              <a:t>, </a:t>
            </a:r>
            <a:r>
              <a:rPr lang="en-US" sz="3000" b="1" strike="noStrike" spc="-1" dirty="0">
                <a:solidFill>
                  <a:srgbClr val="006600"/>
                </a:solidFill>
                <a:latin typeface="Courier New"/>
                <a:ea typeface="ＭＳ Ｐゴシック"/>
              </a:rPr>
              <a:t>$9</a:t>
            </a:r>
            <a:r>
              <a:rPr lang="en-US" sz="3000" b="1" strike="noStrike" spc="-1" dirty="0">
                <a:solidFill>
                  <a:srgbClr val="000000"/>
                </a:solidFill>
                <a:latin typeface="Courier New"/>
                <a:ea typeface="ＭＳ Ｐゴシック"/>
              </a:rPr>
              <a:t>, </a:t>
            </a:r>
            <a:r>
              <a:rPr lang="en-US" sz="3000" b="1" strike="noStrike" spc="-1" dirty="0">
                <a:solidFill>
                  <a:srgbClr val="006600"/>
                </a:solidFill>
                <a:latin typeface="Courier New"/>
                <a:ea typeface="ＭＳ Ｐゴシック"/>
              </a:rPr>
              <a:t>$10</a:t>
            </a:r>
            <a:endParaRPr lang="en-US" sz="3000" b="0" strike="noStrike" spc="-1" dirty="0">
              <a:latin typeface="Arial"/>
            </a:endParaRPr>
          </a:p>
        </p:txBody>
      </p:sp>
      <p:sp>
        <p:nvSpPr>
          <p:cNvPr id="57" name="CustomShape 52">
            <a:extLst>
              <a:ext uri="{FF2B5EF4-FFF2-40B4-BE49-F238E27FC236}">
                <a16:creationId xmlns:a16="http://schemas.microsoft.com/office/drawing/2014/main" id="{8F53B78D-6AA1-1A55-4497-9270AAF479FC}"/>
              </a:ext>
            </a:extLst>
          </p:cNvPr>
          <p:cNvSpPr/>
          <p:nvPr/>
        </p:nvSpPr>
        <p:spPr>
          <a:xfrm rot="10800000" flipV="1">
            <a:off x="3644348" y="2316717"/>
            <a:ext cx="1259640" cy="535320"/>
          </a:xfrm>
          <a:prstGeom prst="curvedConnector2">
            <a:avLst/>
          </a:prstGeom>
          <a:noFill/>
          <a:ln w="15840">
            <a:solidFill>
              <a:schemeClr val="tx1"/>
            </a:solidFill>
            <a:custDash>
              <a:ds d="400000" sp="300000"/>
            </a:custDash>
            <a:round/>
            <a:tailEnd type="stealth" w="lg" len="med"/>
          </a:ln>
        </p:spPr>
        <p:style>
          <a:lnRef idx="1">
            <a:schemeClr val="accent1"/>
          </a:lnRef>
          <a:fillRef idx="0">
            <a:schemeClr val="accent1"/>
          </a:fillRef>
          <a:effectRef idx="0">
            <a:schemeClr val="accent1"/>
          </a:effectRef>
          <a:fontRef idx="minor"/>
        </p:style>
        <p:txBody>
          <a:bodyPr/>
          <a:lstStyle/>
          <a:p>
            <a:endParaRPr lang="vi-VN"/>
          </a:p>
        </p:txBody>
      </p:sp>
    </p:spTree>
    <p:extLst>
      <p:ext uri="{BB962C8B-B14F-4D97-AF65-F5344CB8AC3E}">
        <p14:creationId xmlns:p14="http://schemas.microsoft.com/office/powerpoint/2010/main" val="1526814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Giải mã: lệnh I-Type</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26</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grpSp>
        <p:nvGrpSpPr>
          <p:cNvPr id="3" name="Group 3">
            <a:extLst>
              <a:ext uri="{FF2B5EF4-FFF2-40B4-BE49-F238E27FC236}">
                <a16:creationId xmlns:a16="http://schemas.microsoft.com/office/drawing/2014/main" id="{44A265F7-308A-826A-FA1A-1AD82B4B6B9E}"/>
              </a:ext>
            </a:extLst>
          </p:cNvPr>
          <p:cNvGrpSpPr/>
          <p:nvPr/>
        </p:nvGrpSpPr>
        <p:grpSpPr>
          <a:xfrm>
            <a:off x="2106660" y="1366247"/>
            <a:ext cx="335520" cy="4457880"/>
            <a:chOff x="1176120" y="1259640"/>
            <a:chExt cx="335520" cy="3401640"/>
          </a:xfrm>
        </p:grpSpPr>
        <p:sp>
          <p:nvSpPr>
            <p:cNvPr id="6" name="CustomShape 4">
              <a:extLst>
                <a:ext uri="{FF2B5EF4-FFF2-40B4-BE49-F238E27FC236}">
                  <a16:creationId xmlns:a16="http://schemas.microsoft.com/office/drawing/2014/main" id="{405AD15C-55B0-AF2E-4A05-EA8169B0A9EA}"/>
                </a:ext>
              </a:extLst>
            </p:cNvPr>
            <p:cNvSpPr/>
            <p:nvPr/>
          </p:nvSpPr>
          <p:spPr>
            <a:xfrm rot="5400000">
              <a:off x="1028880" y="1406520"/>
              <a:ext cx="629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001000</a:t>
              </a:r>
              <a:endParaRPr lang="en-US" sz="1200" b="0" strike="noStrike" spc="-1">
                <a:latin typeface="Arial"/>
              </a:endParaRPr>
            </a:p>
          </p:txBody>
        </p:sp>
        <p:sp>
          <p:nvSpPr>
            <p:cNvPr id="7" name="CustomShape 5">
              <a:extLst>
                <a:ext uri="{FF2B5EF4-FFF2-40B4-BE49-F238E27FC236}">
                  <a16:creationId xmlns:a16="http://schemas.microsoft.com/office/drawing/2014/main" id="{66DDF228-3313-B63D-12F1-208789FF6891}"/>
                </a:ext>
              </a:extLst>
            </p:cNvPr>
            <p:cNvSpPr/>
            <p:nvPr/>
          </p:nvSpPr>
          <p:spPr>
            <a:xfrm rot="5400000">
              <a:off x="1076040" y="198936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10110</a:t>
              </a:r>
              <a:endParaRPr lang="en-US" sz="1200" b="0" strike="noStrike" spc="-1">
                <a:latin typeface="Arial"/>
              </a:endParaRPr>
            </a:p>
          </p:txBody>
        </p:sp>
        <p:sp>
          <p:nvSpPr>
            <p:cNvPr id="8" name="CustomShape 6">
              <a:extLst>
                <a:ext uri="{FF2B5EF4-FFF2-40B4-BE49-F238E27FC236}">
                  <a16:creationId xmlns:a16="http://schemas.microsoft.com/office/drawing/2014/main" id="{84395B76-B511-7800-001E-E77CF9C7C2E0}"/>
                </a:ext>
              </a:extLst>
            </p:cNvPr>
            <p:cNvSpPr/>
            <p:nvPr/>
          </p:nvSpPr>
          <p:spPr>
            <a:xfrm rot="5400000">
              <a:off x="1076040" y="252468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10101</a:t>
              </a:r>
              <a:endParaRPr lang="en-US" sz="1200" b="0" strike="noStrike" spc="-1">
                <a:latin typeface="Arial"/>
              </a:endParaRPr>
            </a:p>
          </p:txBody>
        </p:sp>
        <p:sp>
          <p:nvSpPr>
            <p:cNvPr id="9" name="CustomShape 7">
              <a:extLst>
                <a:ext uri="{FF2B5EF4-FFF2-40B4-BE49-F238E27FC236}">
                  <a16:creationId xmlns:a16="http://schemas.microsoft.com/office/drawing/2014/main" id="{4C72F922-04B1-F986-399D-5EE723EB52D4}"/>
                </a:ext>
              </a:extLst>
            </p:cNvPr>
            <p:cNvSpPr/>
            <p:nvPr/>
          </p:nvSpPr>
          <p:spPr>
            <a:xfrm rot="5400000">
              <a:off x="493200" y="3643200"/>
              <a:ext cx="1700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1111 1111 1100 1110</a:t>
              </a:r>
              <a:endParaRPr lang="en-US" sz="1200" b="0" strike="noStrike" spc="-1">
                <a:latin typeface="Arial"/>
              </a:endParaRPr>
            </a:p>
          </p:txBody>
        </p:sp>
      </p:grpSp>
      <p:sp>
        <p:nvSpPr>
          <p:cNvPr id="10" name="CustomShape 8">
            <a:extLst>
              <a:ext uri="{FF2B5EF4-FFF2-40B4-BE49-F238E27FC236}">
                <a16:creationId xmlns:a16="http://schemas.microsoft.com/office/drawing/2014/main" id="{B73E2DA6-4C29-3262-7564-E97067E5D80B}"/>
              </a:ext>
            </a:extLst>
          </p:cNvPr>
          <p:cNvSpPr/>
          <p:nvPr/>
        </p:nvSpPr>
        <p:spPr>
          <a:xfrm>
            <a:off x="5065500" y="2468567"/>
            <a:ext cx="2073600" cy="14929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1" name="Line 9">
            <a:extLst>
              <a:ext uri="{FF2B5EF4-FFF2-40B4-BE49-F238E27FC236}">
                <a16:creationId xmlns:a16="http://schemas.microsoft.com/office/drawing/2014/main" id="{161A2C0B-1B8A-A4C5-2E70-2C99B61807A1}"/>
              </a:ext>
            </a:extLst>
          </p:cNvPr>
          <p:cNvSpPr/>
          <p:nvPr/>
        </p:nvSpPr>
        <p:spPr>
          <a:xfrm>
            <a:off x="6038220" y="3961847"/>
            <a:ext cx="360" cy="22212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12" name="CustomShape 10">
            <a:extLst>
              <a:ext uri="{FF2B5EF4-FFF2-40B4-BE49-F238E27FC236}">
                <a16:creationId xmlns:a16="http://schemas.microsoft.com/office/drawing/2014/main" id="{BE45E09D-4E0B-1987-8FC6-4C10770B2775}"/>
              </a:ext>
            </a:extLst>
          </p:cNvPr>
          <p:cNvSpPr/>
          <p:nvPr/>
        </p:nvSpPr>
        <p:spPr>
          <a:xfrm>
            <a:off x="5109420" y="2523647"/>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13" name="CustomShape 11">
            <a:extLst>
              <a:ext uri="{FF2B5EF4-FFF2-40B4-BE49-F238E27FC236}">
                <a16:creationId xmlns:a16="http://schemas.microsoft.com/office/drawing/2014/main" id="{86855AA2-4834-286B-A554-B15FAEE8034D}"/>
              </a:ext>
            </a:extLst>
          </p:cNvPr>
          <p:cNvSpPr/>
          <p:nvPr/>
        </p:nvSpPr>
        <p:spPr>
          <a:xfrm>
            <a:off x="5109420" y="2892287"/>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14" name="CustomShape 12">
            <a:extLst>
              <a:ext uri="{FF2B5EF4-FFF2-40B4-BE49-F238E27FC236}">
                <a16:creationId xmlns:a16="http://schemas.microsoft.com/office/drawing/2014/main" id="{01264063-F216-5893-D176-78EB08953E6D}"/>
              </a:ext>
            </a:extLst>
          </p:cNvPr>
          <p:cNvSpPr/>
          <p:nvPr/>
        </p:nvSpPr>
        <p:spPr>
          <a:xfrm>
            <a:off x="5102220" y="3240407"/>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15" name="CustomShape 13">
            <a:extLst>
              <a:ext uri="{FF2B5EF4-FFF2-40B4-BE49-F238E27FC236}">
                <a16:creationId xmlns:a16="http://schemas.microsoft.com/office/drawing/2014/main" id="{880912B4-8255-0A0F-95A2-4370620B22EE}"/>
              </a:ext>
            </a:extLst>
          </p:cNvPr>
          <p:cNvSpPr/>
          <p:nvPr/>
        </p:nvSpPr>
        <p:spPr>
          <a:xfrm>
            <a:off x="5097180" y="3618407"/>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16" name="CustomShape 14">
            <a:extLst>
              <a:ext uri="{FF2B5EF4-FFF2-40B4-BE49-F238E27FC236}">
                <a16:creationId xmlns:a16="http://schemas.microsoft.com/office/drawing/2014/main" id="{34F3F8F5-21E3-770E-E124-CFE374C46629}"/>
              </a:ext>
            </a:extLst>
          </p:cNvPr>
          <p:cNvSpPr/>
          <p:nvPr/>
        </p:nvSpPr>
        <p:spPr>
          <a:xfrm>
            <a:off x="6473460" y="2570807"/>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17" name="CustomShape 15">
            <a:extLst>
              <a:ext uri="{FF2B5EF4-FFF2-40B4-BE49-F238E27FC236}">
                <a16:creationId xmlns:a16="http://schemas.microsoft.com/office/drawing/2014/main" id="{5BED4482-F9A0-5CDC-B00F-43DD0D9183F6}"/>
              </a:ext>
            </a:extLst>
          </p:cNvPr>
          <p:cNvSpPr/>
          <p:nvPr/>
        </p:nvSpPr>
        <p:spPr>
          <a:xfrm>
            <a:off x="6473460" y="3429407"/>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18" name="CustomShape 16">
            <a:extLst>
              <a:ext uri="{FF2B5EF4-FFF2-40B4-BE49-F238E27FC236}">
                <a16:creationId xmlns:a16="http://schemas.microsoft.com/office/drawing/2014/main" id="{4BCE86EA-FB7F-C5CA-2E72-F49C2B535A05}"/>
              </a:ext>
            </a:extLst>
          </p:cNvPr>
          <p:cNvSpPr/>
          <p:nvPr/>
        </p:nvSpPr>
        <p:spPr>
          <a:xfrm>
            <a:off x="5549340" y="4169567"/>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sp>
        <p:nvSpPr>
          <p:cNvPr id="19" name="Line 17">
            <a:extLst>
              <a:ext uri="{FF2B5EF4-FFF2-40B4-BE49-F238E27FC236}">
                <a16:creationId xmlns:a16="http://schemas.microsoft.com/office/drawing/2014/main" id="{5AFF131B-8EA0-A9CD-39AE-E5088F84BB39}"/>
              </a:ext>
            </a:extLst>
          </p:cNvPr>
          <p:cNvSpPr/>
          <p:nvPr/>
        </p:nvSpPr>
        <p:spPr>
          <a:xfrm>
            <a:off x="4373940" y="2720207"/>
            <a:ext cx="69156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0" name="Line 18">
            <a:extLst>
              <a:ext uri="{FF2B5EF4-FFF2-40B4-BE49-F238E27FC236}">
                <a16:creationId xmlns:a16="http://schemas.microsoft.com/office/drawing/2014/main" id="{EE02D0D7-4BA7-5AB5-05C5-02DA7468AFDC}"/>
              </a:ext>
            </a:extLst>
          </p:cNvPr>
          <p:cNvSpPr/>
          <p:nvPr/>
        </p:nvSpPr>
        <p:spPr>
          <a:xfrm>
            <a:off x="4514340" y="3048527"/>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1" name="Line 19">
            <a:extLst>
              <a:ext uri="{FF2B5EF4-FFF2-40B4-BE49-F238E27FC236}">
                <a16:creationId xmlns:a16="http://schemas.microsoft.com/office/drawing/2014/main" id="{EED35E84-2EB9-0B55-6876-924A344B151C}"/>
              </a:ext>
            </a:extLst>
          </p:cNvPr>
          <p:cNvSpPr/>
          <p:nvPr/>
        </p:nvSpPr>
        <p:spPr>
          <a:xfrm flipV="1">
            <a:off x="4458180" y="3406367"/>
            <a:ext cx="607320" cy="68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2" name="Line 20">
            <a:extLst>
              <a:ext uri="{FF2B5EF4-FFF2-40B4-BE49-F238E27FC236}">
                <a16:creationId xmlns:a16="http://schemas.microsoft.com/office/drawing/2014/main" id="{AFD64899-447E-C0F8-23B8-E3B7C1D08DE2}"/>
              </a:ext>
            </a:extLst>
          </p:cNvPr>
          <p:cNvSpPr/>
          <p:nvPr/>
        </p:nvSpPr>
        <p:spPr>
          <a:xfrm>
            <a:off x="4514340" y="3784727"/>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nvGrpSpPr>
          <p:cNvPr id="23" name="Group 21">
            <a:extLst>
              <a:ext uri="{FF2B5EF4-FFF2-40B4-BE49-F238E27FC236}">
                <a16:creationId xmlns:a16="http://schemas.microsoft.com/office/drawing/2014/main" id="{BFAC7DF3-76B8-296D-258B-33C9838074DA}"/>
              </a:ext>
            </a:extLst>
          </p:cNvPr>
          <p:cNvGrpSpPr/>
          <p:nvPr/>
        </p:nvGrpSpPr>
        <p:grpSpPr>
          <a:xfrm>
            <a:off x="7139100" y="2737487"/>
            <a:ext cx="1182960" cy="874440"/>
            <a:chOff x="6208560" y="2221920"/>
            <a:chExt cx="1182960" cy="874440"/>
          </a:xfrm>
        </p:grpSpPr>
        <p:sp>
          <p:nvSpPr>
            <p:cNvPr id="24" name="Line 22">
              <a:extLst>
                <a:ext uri="{FF2B5EF4-FFF2-40B4-BE49-F238E27FC236}">
                  <a16:creationId xmlns:a16="http://schemas.microsoft.com/office/drawing/2014/main" id="{44E84EA7-893E-AB1D-55DE-C334FFABE231}"/>
                </a:ext>
              </a:extLst>
            </p:cNvPr>
            <p:cNvSpPr/>
            <p:nvPr/>
          </p:nvSpPr>
          <p:spPr>
            <a:xfrm>
              <a:off x="6208560" y="2221920"/>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5" name="Line 23">
              <a:extLst>
                <a:ext uri="{FF2B5EF4-FFF2-40B4-BE49-F238E27FC236}">
                  <a16:creationId xmlns:a16="http://schemas.microsoft.com/office/drawing/2014/main" id="{BFC627D4-6490-5A3E-8CC2-6DB1F384F6A6}"/>
                </a:ext>
              </a:extLst>
            </p:cNvPr>
            <p:cNvSpPr/>
            <p:nvPr/>
          </p:nvSpPr>
          <p:spPr>
            <a:xfrm>
              <a:off x="6208560" y="3096000"/>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
        <p:nvSpPr>
          <p:cNvPr id="26" name="CustomShape 24">
            <a:extLst>
              <a:ext uri="{FF2B5EF4-FFF2-40B4-BE49-F238E27FC236}">
                <a16:creationId xmlns:a16="http://schemas.microsoft.com/office/drawing/2014/main" id="{41CAEB0F-A60F-79A4-52F2-554A5BE560BE}"/>
              </a:ext>
            </a:extLst>
          </p:cNvPr>
          <p:cNvSpPr/>
          <p:nvPr/>
        </p:nvSpPr>
        <p:spPr>
          <a:xfrm>
            <a:off x="6147660" y="3035567"/>
            <a:ext cx="90648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C00000"/>
                </a:solidFill>
                <a:latin typeface="Verdana"/>
                <a:ea typeface="ＭＳ Ｐゴシック"/>
              </a:rPr>
              <a:t>Register</a:t>
            </a:r>
            <a:endParaRPr lang="en-US" sz="1200" b="0" strike="noStrike" spc="-1">
              <a:latin typeface="Arial"/>
            </a:endParaRPr>
          </a:p>
          <a:p>
            <a:pPr algn="ctr">
              <a:lnSpc>
                <a:spcPct val="100000"/>
              </a:lnSpc>
            </a:pPr>
            <a:r>
              <a:rPr lang="en-US" sz="1200" b="1" i="1" strike="noStrike" spc="-1">
                <a:solidFill>
                  <a:srgbClr val="C00000"/>
                </a:solidFill>
                <a:latin typeface="Verdana"/>
                <a:ea typeface="ＭＳ Ｐゴシック"/>
              </a:rPr>
              <a:t>File</a:t>
            </a:r>
            <a:endParaRPr lang="en-US" sz="1200" b="0" strike="noStrike" spc="-1">
              <a:latin typeface="Arial"/>
            </a:endParaRPr>
          </a:p>
        </p:txBody>
      </p:sp>
      <p:sp>
        <p:nvSpPr>
          <p:cNvPr id="27" name="Line 25">
            <a:extLst>
              <a:ext uri="{FF2B5EF4-FFF2-40B4-BE49-F238E27FC236}">
                <a16:creationId xmlns:a16="http://schemas.microsoft.com/office/drawing/2014/main" id="{BE05448D-3D7C-72E1-5C9C-0801E3B73C33}"/>
              </a:ext>
            </a:extLst>
          </p:cNvPr>
          <p:cNvSpPr/>
          <p:nvPr/>
        </p:nvSpPr>
        <p:spPr>
          <a:xfrm flipH="1">
            <a:off x="4642140" y="2660087"/>
            <a:ext cx="12744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8" name="Line 26">
            <a:extLst>
              <a:ext uri="{FF2B5EF4-FFF2-40B4-BE49-F238E27FC236}">
                <a16:creationId xmlns:a16="http://schemas.microsoft.com/office/drawing/2014/main" id="{7E7A131C-282B-3568-3802-DF1833CDDDC3}"/>
              </a:ext>
            </a:extLst>
          </p:cNvPr>
          <p:cNvSpPr/>
          <p:nvPr/>
        </p:nvSpPr>
        <p:spPr>
          <a:xfrm flipH="1">
            <a:off x="4642140" y="2977607"/>
            <a:ext cx="12744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9" name="Line 27">
            <a:extLst>
              <a:ext uri="{FF2B5EF4-FFF2-40B4-BE49-F238E27FC236}">
                <a16:creationId xmlns:a16="http://schemas.microsoft.com/office/drawing/2014/main" id="{A705E8BC-7A90-7AD3-1678-EE8FA66F54EA}"/>
              </a:ext>
            </a:extLst>
          </p:cNvPr>
          <p:cNvSpPr/>
          <p:nvPr/>
        </p:nvSpPr>
        <p:spPr>
          <a:xfrm flipH="1">
            <a:off x="4642140" y="3335807"/>
            <a:ext cx="12744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0" name="CustomShape 28">
            <a:extLst>
              <a:ext uri="{FF2B5EF4-FFF2-40B4-BE49-F238E27FC236}">
                <a16:creationId xmlns:a16="http://schemas.microsoft.com/office/drawing/2014/main" id="{07A219E4-9A2E-5058-F934-BCD8544A0380}"/>
              </a:ext>
            </a:extLst>
          </p:cNvPr>
          <p:cNvSpPr/>
          <p:nvPr/>
        </p:nvSpPr>
        <p:spPr>
          <a:xfrm>
            <a:off x="4539180" y="2531207"/>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1" name="CustomShape 29">
            <a:extLst>
              <a:ext uri="{FF2B5EF4-FFF2-40B4-BE49-F238E27FC236}">
                <a16:creationId xmlns:a16="http://schemas.microsoft.com/office/drawing/2014/main" id="{D76253E4-3868-FDFF-9A2E-96A2DF0F6179}"/>
              </a:ext>
            </a:extLst>
          </p:cNvPr>
          <p:cNvSpPr/>
          <p:nvPr/>
        </p:nvSpPr>
        <p:spPr>
          <a:xfrm>
            <a:off x="4505700" y="2862407"/>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2" name="CustomShape 30">
            <a:extLst>
              <a:ext uri="{FF2B5EF4-FFF2-40B4-BE49-F238E27FC236}">
                <a16:creationId xmlns:a16="http://schemas.microsoft.com/office/drawing/2014/main" id="{7F3E7FD7-9091-54C3-CE0F-53075D591AAD}"/>
              </a:ext>
            </a:extLst>
          </p:cNvPr>
          <p:cNvSpPr/>
          <p:nvPr/>
        </p:nvSpPr>
        <p:spPr>
          <a:xfrm>
            <a:off x="4505700" y="3240407"/>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3" name="Line 31">
            <a:extLst>
              <a:ext uri="{FF2B5EF4-FFF2-40B4-BE49-F238E27FC236}">
                <a16:creationId xmlns:a16="http://schemas.microsoft.com/office/drawing/2014/main" id="{F68311CE-292B-DFCC-4564-CB359728A6B5}"/>
              </a:ext>
            </a:extLst>
          </p:cNvPr>
          <p:cNvSpPr/>
          <p:nvPr/>
        </p:nvSpPr>
        <p:spPr>
          <a:xfrm>
            <a:off x="2442540" y="2672687"/>
            <a:ext cx="1931760" cy="47520"/>
          </a:xfrm>
          <a:prstGeom prst="line">
            <a:avLst/>
          </a:prstGeom>
          <a:ln w="19080">
            <a:solidFill>
              <a:srgbClr val="57667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4" name="Line 32">
            <a:extLst>
              <a:ext uri="{FF2B5EF4-FFF2-40B4-BE49-F238E27FC236}">
                <a16:creationId xmlns:a16="http://schemas.microsoft.com/office/drawing/2014/main" id="{AD558169-0700-8533-792A-CEFC8735F15E}"/>
              </a:ext>
            </a:extLst>
          </p:cNvPr>
          <p:cNvSpPr/>
          <p:nvPr/>
        </p:nvSpPr>
        <p:spPr>
          <a:xfrm flipV="1">
            <a:off x="2442540" y="3048167"/>
            <a:ext cx="2071800" cy="160200"/>
          </a:xfrm>
          <a:prstGeom prst="line">
            <a:avLst/>
          </a:prstGeom>
          <a:ln w="19080">
            <a:solidFill>
              <a:srgbClr val="57667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5" name="Line 33">
            <a:extLst>
              <a:ext uri="{FF2B5EF4-FFF2-40B4-BE49-F238E27FC236}">
                <a16:creationId xmlns:a16="http://schemas.microsoft.com/office/drawing/2014/main" id="{E741944A-BE20-3ABE-5B62-ECCE798B1385}"/>
              </a:ext>
            </a:extLst>
          </p:cNvPr>
          <p:cNvSpPr/>
          <p:nvPr/>
        </p:nvSpPr>
        <p:spPr>
          <a:xfrm flipV="1">
            <a:off x="2442540" y="3413207"/>
            <a:ext cx="2016000" cy="330840"/>
          </a:xfrm>
          <a:prstGeom prst="line">
            <a:avLst/>
          </a:prstGeom>
          <a:ln w="19080">
            <a:solidFill>
              <a:srgbClr val="57667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6" name="CustomShape 34">
            <a:extLst>
              <a:ext uri="{FF2B5EF4-FFF2-40B4-BE49-F238E27FC236}">
                <a16:creationId xmlns:a16="http://schemas.microsoft.com/office/drawing/2014/main" id="{E265EED4-32BC-EB47-515F-6ADC33FC8BE1}"/>
              </a:ext>
            </a:extLst>
          </p:cNvPr>
          <p:cNvSpPr/>
          <p:nvPr/>
        </p:nvSpPr>
        <p:spPr>
          <a:xfrm>
            <a:off x="8322420" y="2531207"/>
            <a:ext cx="1679400" cy="377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Nội dung của thanh ghi </a:t>
            </a:r>
            <a:r>
              <a:rPr lang="en-US" sz="1800" b="1" strike="noStrike" spc="-1">
                <a:solidFill>
                  <a:srgbClr val="000000"/>
                </a:solidFill>
                <a:latin typeface="Courier New"/>
                <a:ea typeface="ＭＳ Ｐゴシック"/>
              </a:rPr>
              <a:t>$22</a:t>
            </a:r>
            <a:endParaRPr lang="en-US" sz="1800" b="0" strike="noStrike" spc="-1">
              <a:latin typeface="Arial"/>
            </a:endParaRPr>
          </a:p>
        </p:txBody>
      </p:sp>
      <p:sp>
        <p:nvSpPr>
          <p:cNvPr id="37" name="CustomShape 35">
            <a:extLst>
              <a:ext uri="{FF2B5EF4-FFF2-40B4-BE49-F238E27FC236}">
                <a16:creationId xmlns:a16="http://schemas.microsoft.com/office/drawing/2014/main" id="{CAF2AFD6-BDA5-CD40-E002-D11FC3C2CF52}"/>
              </a:ext>
            </a:extLst>
          </p:cNvPr>
          <p:cNvSpPr/>
          <p:nvPr/>
        </p:nvSpPr>
        <p:spPr>
          <a:xfrm rot="5400000">
            <a:off x="952500" y="4376510"/>
            <a:ext cx="1700640" cy="587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Immediate</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15:0</a:t>
            </a:r>
            <a:endParaRPr lang="en-US" sz="1200" b="0" strike="noStrike" spc="-1">
              <a:latin typeface="Arial"/>
            </a:endParaRPr>
          </a:p>
        </p:txBody>
      </p:sp>
      <p:sp>
        <p:nvSpPr>
          <p:cNvPr id="38" name="CustomShape 36">
            <a:extLst>
              <a:ext uri="{FF2B5EF4-FFF2-40B4-BE49-F238E27FC236}">
                <a16:creationId xmlns:a16="http://schemas.microsoft.com/office/drawing/2014/main" id="{87B4F278-2268-8935-BECD-3E3CFF189488}"/>
              </a:ext>
            </a:extLst>
          </p:cNvPr>
          <p:cNvSpPr/>
          <p:nvPr/>
        </p:nvSpPr>
        <p:spPr>
          <a:xfrm>
            <a:off x="3618300" y="2972567"/>
            <a:ext cx="419400" cy="314280"/>
          </a:xfrm>
          <a:prstGeom prst="irregularSeal1">
            <a:avLst/>
          </a:prstGeom>
          <a:solidFill>
            <a:schemeClr val="accent1">
              <a:lumMod val="20000"/>
              <a:lumOff val="80000"/>
            </a:schemeClr>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a:lstStyle/>
          <a:p>
            <a:endParaRPr lang="vi-VN"/>
          </a:p>
        </p:txBody>
      </p:sp>
      <p:sp>
        <p:nvSpPr>
          <p:cNvPr id="39" name="CustomShape 37">
            <a:extLst>
              <a:ext uri="{FF2B5EF4-FFF2-40B4-BE49-F238E27FC236}">
                <a16:creationId xmlns:a16="http://schemas.microsoft.com/office/drawing/2014/main" id="{7FDA56CD-D299-586A-D279-9C50E3B19557}"/>
              </a:ext>
            </a:extLst>
          </p:cNvPr>
          <p:cNvSpPr/>
          <p:nvPr/>
        </p:nvSpPr>
        <p:spPr>
          <a:xfrm>
            <a:off x="7566420" y="3476567"/>
            <a:ext cx="419400" cy="314280"/>
          </a:xfrm>
          <a:prstGeom prst="irregularSeal1">
            <a:avLst/>
          </a:prstGeom>
          <a:solidFill>
            <a:schemeClr val="accent1">
              <a:lumMod val="20000"/>
              <a:lumOff val="80000"/>
            </a:schemeClr>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a:lstStyle/>
          <a:p>
            <a:endParaRPr lang="vi-VN"/>
          </a:p>
        </p:txBody>
      </p:sp>
      <p:grpSp>
        <p:nvGrpSpPr>
          <p:cNvPr id="40" name="Group 38">
            <a:extLst>
              <a:ext uri="{FF2B5EF4-FFF2-40B4-BE49-F238E27FC236}">
                <a16:creationId xmlns:a16="http://schemas.microsoft.com/office/drawing/2014/main" id="{E4E90841-5305-CE89-FBF0-13D9FDDB31FE}"/>
              </a:ext>
            </a:extLst>
          </p:cNvPr>
          <p:cNvGrpSpPr/>
          <p:nvPr/>
        </p:nvGrpSpPr>
        <p:grpSpPr>
          <a:xfrm>
            <a:off x="1602660" y="1366011"/>
            <a:ext cx="503640" cy="2245556"/>
            <a:chOff x="672120" y="1259640"/>
            <a:chExt cx="503640" cy="1700640"/>
          </a:xfrm>
        </p:grpSpPr>
        <p:sp>
          <p:nvSpPr>
            <p:cNvPr id="41" name="CustomShape 39">
              <a:extLst>
                <a:ext uri="{FF2B5EF4-FFF2-40B4-BE49-F238E27FC236}">
                  <a16:creationId xmlns:a16="http://schemas.microsoft.com/office/drawing/2014/main" id="{91BE93B5-5FFB-0DF0-3E4B-14E55A6BA7FF}"/>
                </a:ext>
              </a:extLst>
            </p:cNvPr>
            <p:cNvSpPr/>
            <p:nvPr/>
          </p:nvSpPr>
          <p:spPr>
            <a:xfrm rot="5400000">
              <a:off x="608760" y="132264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opcode</a:t>
              </a:r>
              <a:endParaRPr lang="en-US" sz="1200" b="0" strike="noStrike" spc="-1">
                <a:latin typeface="Arial"/>
              </a:endParaRPr>
            </a:p>
            <a:p>
              <a:pPr algn="ctr">
                <a:lnSpc>
                  <a:spcPct val="100000"/>
                </a:lnSpc>
              </a:pPr>
              <a:r>
                <a:rPr lang="en-US" sz="1200" b="1" strike="noStrike" spc="-1">
                  <a:solidFill>
                    <a:srgbClr val="660066"/>
                  </a:solidFill>
                  <a:latin typeface="Courier New"/>
                  <a:ea typeface="ＭＳ Ｐゴシック"/>
                </a:rPr>
                <a:t>31:26</a:t>
              </a:r>
              <a:endParaRPr lang="en-US" sz="1200" b="0" strike="noStrike" spc="-1">
                <a:latin typeface="Arial"/>
              </a:endParaRPr>
            </a:p>
          </p:txBody>
        </p:sp>
        <p:sp>
          <p:nvSpPr>
            <p:cNvPr id="42" name="CustomShape 40">
              <a:extLst>
                <a:ext uri="{FF2B5EF4-FFF2-40B4-BE49-F238E27FC236}">
                  <a16:creationId xmlns:a16="http://schemas.microsoft.com/office/drawing/2014/main" id="{6ADA8E1F-25C7-0A14-05EA-FCAE4C8156EA}"/>
                </a:ext>
              </a:extLst>
            </p:cNvPr>
            <p:cNvSpPr/>
            <p:nvPr/>
          </p:nvSpPr>
          <p:spPr>
            <a:xfrm rot="5400000">
              <a:off x="656280" y="190548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rs</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25:21</a:t>
              </a:r>
              <a:endParaRPr lang="en-US" sz="1200" b="0" strike="noStrike" spc="-1">
                <a:latin typeface="Arial"/>
              </a:endParaRPr>
            </a:p>
          </p:txBody>
        </p:sp>
        <p:sp>
          <p:nvSpPr>
            <p:cNvPr id="43" name="CustomShape 41">
              <a:extLst>
                <a:ext uri="{FF2B5EF4-FFF2-40B4-BE49-F238E27FC236}">
                  <a16:creationId xmlns:a16="http://schemas.microsoft.com/office/drawing/2014/main" id="{70D36F8E-22F4-D058-82C5-754C52889B49}"/>
                </a:ext>
              </a:extLst>
            </p:cNvPr>
            <p:cNvSpPr/>
            <p:nvPr/>
          </p:nvSpPr>
          <p:spPr>
            <a:xfrm rot="5400000">
              <a:off x="656280" y="2440800"/>
              <a:ext cx="53496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rt</a:t>
              </a:r>
              <a:endParaRPr lang="en-US" sz="1200" b="0" strike="noStrike" spc="-1">
                <a:latin typeface="Arial"/>
              </a:endParaRPr>
            </a:p>
            <a:p>
              <a:pPr algn="ctr">
                <a:lnSpc>
                  <a:spcPct val="100000"/>
                </a:lnSpc>
              </a:pPr>
              <a:r>
                <a:rPr lang="en-US" sz="1200" b="1" strike="noStrike" spc="-1">
                  <a:solidFill>
                    <a:srgbClr val="C00000"/>
                  </a:solidFill>
                  <a:latin typeface="Courier New"/>
                  <a:ea typeface="ＭＳ Ｐゴシック"/>
                </a:rPr>
                <a:t>20:16</a:t>
              </a:r>
              <a:endParaRPr lang="en-US" sz="1200" b="0" strike="noStrike" spc="-1">
                <a:latin typeface="Arial"/>
              </a:endParaRPr>
            </a:p>
          </p:txBody>
        </p:sp>
      </p:grpSp>
      <p:sp>
        <p:nvSpPr>
          <p:cNvPr id="44" name="CustomShape 42">
            <a:extLst>
              <a:ext uri="{FF2B5EF4-FFF2-40B4-BE49-F238E27FC236}">
                <a16:creationId xmlns:a16="http://schemas.microsoft.com/office/drawing/2014/main" id="{A7D15E67-D72B-A753-66AF-663DED4689A1}"/>
              </a:ext>
            </a:extLst>
          </p:cNvPr>
          <p:cNvSpPr/>
          <p:nvPr/>
        </p:nvSpPr>
        <p:spPr>
          <a:xfrm>
            <a:off x="2605980" y="2468567"/>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45" name="CustomShape 43">
            <a:extLst>
              <a:ext uri="{FF2B5EF4-FFF2-40B4-BE49-F238E27FC236}">
                <a16:creationId xmlns:a16="http://schemas.microsoft.com/office/drawing/2014/main" id="{32315B29-F609-4D6E-8D20-12DEA270E6A2}"/>
              </a:ext>
            </a:extLst>
          </p:cNvPr>
          <p:cNvSpPr/>
          <p:nvPr/>
        </p:nvSpPr>
        <p:spPr>
          <a:xfrm rot="21261000">
            <a:off x="2612100" y="2960327"/>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46" name="CustomShape 44">
            <a:extLst>
              <a:ext uri="{FF2B5EF4-FFF2-40B4-BE49-F238E27FC236}">
                <a16:creationId xmlns:a16="http://schemas.microsoft.com/office/drawing/2014/main" id="{B7400599-77FC-04D5-7F6D-F71F0C6F883E}"/>
              </a:ext>
            </a:extLst>
          </p:cNvPr>
          <p:cNvSpPr/>
          <p:nvPr/>
        </p:nvSpPr>
        <p:spPr>
          <a:xfrm rot="20787000">
            <a:off x="2611020" y="3426887"/>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47" name="CustomShape 45">
            <a:extLst>
              <a:ext uri="{FF2B5EF4-FFF2-40B4-BE49-F238E27FC236}">
                <a16:creationId xmlns:a16="http://schemas.microsoft.com/office/drawing/2014/main" id="{3C310C57-84A0-4DC5-EDCE-820417024B80}"/>
              </a:ext>
            </a:extLst>
          </p:cNvPr>
          <p:cNvSpPr/>
          <p:nvPr/>
        </p:nvSpPr>
        <p:spPr>
          <a:xfrm>
            <a:off x="2778780" y="4736567"/>
            <a:ext cx="7727400" cy="1133640"/>
          </a:xfrm>
          <a:prstGeom prst="roundRect">
            <a:avLst>
              <a:gd name="adj" fmla="val 16667"/>
            </a:avLst>
          </a:prstGeom>
          <a:solidFill>
            <a:schemeClr val="accent5">
              <a:lumMod val="20000"/>
              <a:lumOff val="80000"/>
            </a:schemeClr>
          </a:solid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2000" b="1" strike="noStrike" spc="-1">
                <a:solidFill>
                  <a:srgbClr val="C00000"/>
                </a:solidFill>
                <a:latin typeface="Times New Roman"/>
                <a:ea typeface="ＭＳ Ｐゴシック"/>
              </a:rPr>
              <a:t>Vấn đề:</a:t>
            </a:r>
            <a:endParaRPr lang="en-US" sz="2000" b="0" strike="noStrike" spc="-1">
              <a:latin typeface="Arial"/>
            </a:endParaRPr>
          </a:p>
          <a:p>
            <a:pPr>
              <a:lnSpc>
                <a:spcPct val="100000"/>
              </a:lnSpc>
            </a:pPr>
            <a:r>
              <a:rPr lang="en-US" sz="2000" b="0" strike="noStrike" spc="-1">
                <a:solidFill>
                  <a:srgbClr val="000000"/>
                </a:solidFill>
                <a:latin typeface="Times New Roman"/>
                <a:ea typeface="ＭＳ Ｐゴシック"/>
              </a:rPr>
              <a:t>Thanh ghi đích </a:t>
            </a:r>
            <a:r>
              <a:rPr lang="en-US" sz="2000" b="1" strike="noStrike" spc="-1">
                <a:solidFill>
                  <a:srgbClr val="000000"/>
                </a:solidFill>
                <a:latin typeface="Times New Roman"/>
                <a:ea typeface="ＭＳ Ｐゴシック"/>
              </a:rPr>
              <a:t>$21 “</a:t>
            </a:r>
            <a:r>
              <a:rPr lang="en-US" sz="2000" b="0" strike="noStrike" spc="-1">
                <a:solidFill>
                  <a:srgbClr val="000000"/>
                </a:solidFill>
                <a:latin typeface="Times New Roman"/>
                <a:ea typeface="ＭＳ Ｐゴシック"/>
              </a:rPr>
              <a:t>đặt không đúng vị trí”</a:t>
            </a:r>
            <a:endParaRPr lang="en-US" sz="2000" b="0" strike="noStrike" spc="-1">
              <a:latin typeface="Arial"/>
            </a:endParaRPr>
          </a:p>
        </p:txBody>
      </p:sp>
      <p:sp>
        <p:nvSpPr>
          <p:cNvPr id="48" name="CustomShape 46">
            <a:extLst>
              <a:ext uri="{FF2B5EF4-FFF2-40B4-BE49-F238E27FC236}">
                <a16:creationId xmlns:a16="http://schemas.microsoft.com/office/drawing/2014/main" id="{1933B7E4-B48A-781A-37CF-850D1148179F}"/>
              </a:ext>
            </a:extLst>
          </p:cNvPr>
          <p:cNvSpPr/>
          <p:nvPr/>
        </p:nvSpPr>
        <p:spPr>
          <a:xfrm>
            <a:off x="3450180" y="1775207"/>
            <a:ext cx="5291640" cy="440640"/>
          </a:xfrm>
          <a:prstGeom prst="snip1Rect">
            <a:avLst>
              <a:gd name="adj" fmla="val 16667"/>
            </a:avLst>
          </a:prstGeom>
          <a:solidFill>
            <a:srgbClr val="FFFFCC">
              <a:alpha val="80000"/>
            </a:srgbClr>
          </a:solidFill>
          <a:ln w="1584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marL="343080" indent="-342720" algn="ctr">
              <a:lnSpc>
                <a:spcPct val="100000"/>
              </a:lnSpc>
              <a:spcBef>
                <a:spcPts val="839"/>
              </a:spcBef>
            </a:pPr>
            <a:r>
              <a:rPr lang="en-US" sz="2800" b="1" strike="noStrike" spc="-1" dirty="0" err="1">
                <a:solidFill>
                  <a:srgbClr val="002060"/>
                </a:solidFill>
                <a:latin typeface="Courier New"/>
                <a:ea typeface="ＭＳ Ｐゴシック"/>
              </a:rPr>
              <a:t>lw</a:t>
            </a:r>
            <a:r>
              <a:rPr lang="en-US" sz="2800" b="1" strike="noStrike" spc="-1" dirty="0">
                <a:solidFill>
                  <a:srgbClr val="002060"/>
                </a:solidFill>
                <a:latin typeface="Courier New"/>
                <a:ea typeface="ＭＳ Ｐゴシック"/>
              </a:rPr>
              <a:t> $21, -50($22)</a:t>
            </a:r>
            <a:endParaRPr lang="en-US" sz="2800" b="0" strike="noStrike" spc="-1" dirty="0">
              <a:latin typeface="Arial"/>
            </a:endParaRPr>
          </a:p>
        </p:txBody>
      </p:sp>
    </p:spTree>
    <p:extLst>
      <p:ext uri="{BB962C8B-B14F-4D97-AF65-F5344CB8AC3E}">
        <p14:creationId xmlns:p14="http://schemas.microsoft.com/office/powerpoint/2010/main" val="181347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pPr>
              <a:lnSpc>
                <a:spcPct val="90000"/>
              </a:lnSpc>
              <a:defRPr/>
            </a:pPr>
            <a:r>
              <a:rPr lang="en-US"/>
              <a:t>Giải mã: g</a:t>
            </a:r>
            <a:r>
              <a:rPr lang="en-US" sz="4000"/>
              <a:t>iải pháp cho ngõ “Write register”</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27</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grpSp>
        <p:nvGrpSpPr>
          <p:cNvPr id="3" name="Group 2">
            <a:extLst>
              <a:ext uri="{FF2B5EF4-FFF2-40B4-BE49-F238E27FC236}">
                <a16:creationId xmlns:a16="http://schemas.microsoft.com/office/drawing/2014/main" id="{10AC5D4C-CC98-E0E9-D7E6-EB34FF8B2B6B}"/>
              </a:ext>
            </a:extLst>
          </p:cNvPr>
          <p:cNvGrpSpPr/>
          <p:nvPr/>
        </p:nvGrpSpPr>
        <p:grpSpPr>
          <a:xfrm>
            <a:off x="2278977" y="1426032"/>
            <a:ext cx="335520" cy="4175280"/>
            <a:chOff x="1176120" y="1259640"/>
            <a:chExt cx="335520" cy="3401640"/>
          </a:xfrm>
        </p:grpSpPr>
        <p:sp>
          <p:nvSpPr>
            <p:cNvPr id="6" name="CustomShape 3">
              <a:extLst>
                <a:ext uri="{FF2B5EF4-FFF2-40B4-BE49-F238E27FC236}">
                  <a16:creationId xmlns:a16="http://schemas.microsoft.com/office/drawing/2014/main" id="{0E1ADFF2-F1D2-B2CC-D1EE-22C45D8F6B76}"/>
                </a:ext>
              </a:extLst>
            </p:cNvPr>
            <p:cNvSpPr/>
            <p:nvPr/>
          </p:nvSpPr>
          <p:spPr>
            <a:xfrm rot="5400000">
              <a:off x="1028880" y="1406520"/>
              <a:ext cx="629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001000</a:t>
              </a:r>
              <a:endParaRPr lang="en-US" sz="1200" b="0" strike="noStrike" spc="-1">
                <a:latin typeface="Arial"/>
              </a:endParaRPr>
            </a:p>
          </p:txBody>
        </p:sp>
        <p:sp>
          <p:nvSpPr>
            <p:cNvPr id="7" name="CustomShape 4">
              <a:extLst>
                <a:ext uri="{FF2B5EF4-FFF2-40B4-BE49-F238E27FC236}">
                  <a16:creationId xmlns:a16="http://schemas.microsoft.com/office/drawing/2014/main" id="{7A59EB28-5992-B6DF-F58A-12961CC5838F}"/>
                </a:ext>
              </a:extLst>
            </p:cNvPr>
            <p:cNvSpPr/>
            <p:nvPr/>
          </p:nvSpPr>
          <p:spPr>
            <a:xfrm rot="5400000">
              <a:off x="1076040" y="198936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10110</a:t>
              </a:r>
              <a:endParaRPr lang="en-US" sz="1200" b="0" strike="noStrike" spc="-1">
                <a:latin typeface="Arial"/>
              </a:endParaRPr>
            </a:p>
          </p:txBody>
        </p:sp>
        <p:sp>
          <p:nvSpPr>
            <p:cNvPr id="8" name="CustomShape 5">
              <a:extLst>
                <a:ext uri="{FF2B5EF4-FFF2-40B4-BE49-F238E27FC236}">
                  <a16:creationId xmlns:a16="http://schemas.microsoft.com/office/drawing/2014/main" id="{74CA1EEA-9EA9-DC75-107B-3717AC4DB090}"/>
                </a:ext>
              </a:extLst>
            </p:cNvPr>
            <p:cNvSpPr/>
            <p:nvPr/>
          </p:nvSpPr>
          <p:spPr>
            <a:xfrm rot="5400000">
              <a:off x="1076040" y="252468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10101</a:t>
              </a:r>
              <a:endParaRPr lang="en-US" sz="1200" b="0" strike="noStrike" spc="-1">
                <a:latin typeface="Arial"/>
              </a:endParaRPr>
            </a:p>
          </p:txBody>
        </p:sp>
        <p:sp>
          <p:nvSpPr>
            <p:cNvPr id="9" name="CustomShape 6">
              <a:extLst>
                <a:ext uri="{FF2B5EF4-FFF2-40B4-BE49-F238E27FC236}">
                  <a16:creationId xmlns:a16="http://schemas.microsoft.com/office/drawing/2014/main" id="{53A4C556-F05B-58EA-FC60-B56DE2DBD761}"/>
                </a:ext>
              </a:extLst>
            </p:cNvPr>
            <p:cNvSpPr/>
            <p:nvPr/>
          </p:nvSpPr>
          <p:spPr>
            <a:xfrm rot="5400000">
              <a:off x="493200" y="3643200"/>
              <a:ext cx="1700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1111 1111 1100 1110</a:t>
              </a:r>
              <a:endParaRPr lang="en-US" sz="1200" b="0" strike="noStrike" spc="-1">
                <a:latin typeface="Arial"/>
              </a:endParaRPr>
            </a:p>
          </p:txBody>
        </p:sp>
      </p:grpSp>
      <p:sp>
        <p:nvSpPr>
          <p:cNvPr id="10" name="CustomShape 7">
            <a:extLst>
              <a:ext uri="{FF2B5EF4-FFF2-40B4-BE49-F238E27FC236}">
                <a16:creationId xmlns:a16="http://schemas.microsoft.com/office/drawing/2014/main" id="{0A539D1B-3605-2D1B-924A-7E566FAEC3A7}"/>
              </a:ext>
            </a:extLst>
          </p:cNvPr>
          <p:cNvSpPr/>
          <p:nvPr/>
        </p:nvSpPr>
        <p:spPr>
          <a:xfrm>
            <a:off x="5237817" y="2487492"/>
            <a:ext cx="2073600" cy="14929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1" name="CustomShape 8">
            <a:extLst>
              <a:ext uri="{FF2B5EF4-FFF2-40B4-BE49-F238E27FC236}">
                <a16:creationId xmlns:a16="http://schemas.microsoft.com/office/drawing/2014/main" id="{3CC000F7-49CC-8782-CDE8-C707DF363234}"/>
              </a:ext>
            </a:extLst>
          </p:cNvPr>
          <p:cNvSpPr/>
          <p:nvPr/>
        </p:nvSpPr>
        <p:spPr>
          <a:xfrm>
            <a:off x="5281737" y="2542572"/>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12" name="CustomShape 9">
            <a:extLst>
              <a:ext uri="{FF2B5EF4-FFF2-40B4-BE49-F238E27FC236}">
                <a16:creationId xmlns:a16="http://schemas.microsoft.com/office/drawing/2014/main" id="{A004F146-5421-2D9E-7332-B509286031E5}"/>
              </a:ext>
            </a:extLst>
          </p:cNvPr>
          <p:cNvSpPr/>
          <p:nvPr/>
        </p:nvSpPr>
        <p:spPr>
          <a:xfrm>
            <a:off x="5281737" y="2911212"/>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13" name="CustomShape 10">
            <a:extLst>
              <a:ext uri="{FF2B5EF4-FFF2-40B4-BE49-F238E27FC236}">
                <a16:creationId xmlns:a16="http://schemas.microsoft.com/office/drawing/2014/main" id="{61192789-C7DC-B32C-5376-316923BF7DEF}"/>
              </a:ext>
            </a:extLst>
          </p:cNvPr>
          <p:cNvSpPr/>
          <p:nvPr/>
        </p:nvSpPr>
        <p:spPr>
          <a:xfrm>
            <a:off x="5274537" y="3259332"/>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14" name="CustomShape 11">
            <a:extLst>
              <a:ext uri="{FF2B5EF4-FFF2-40B4-BE49-F238E27FC236}">
                <a16:creationId xmlns:a16="http://schemas.microsoft.com/office/drawing/2014/main" id="{718CB7BB-DACD-870C-EAF8-A678A54F188A}"/>
              </a:ext>
            </a:extLst>
          </p:cNvPr>
          <p:cNvSpPr/>
          <p:nvPr/>
        </p:nvSpPr>
        <p:spPr>
          <a:xfrm>
            <a:off x="5269497" y="3637332"/>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15" name="CustomShape 12">
            <a:extLst>
              <a:ext uri="{FF2B5EF4-FFF2-40B4-BE49-F238E27FC236}">
                <a16:creationId xmlns:a16="http://schemas.microsoft.com/office/drawing/2014/main" id="{B059E13E-8566-FF19-46C5-18B3C92D650A}"/>
              </a:ext>
            </a:extLst>
          </p:cNvPr>
          <p:cNvSpPr/>
          <p:nvPr/>
        </p:nvSpPr>
        <p:spPr>
          <a:xfrm>
            <a:off x="6645777" y="2589732"/>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16" name="CustomShape 13">
            <a:extLst>
              <a:ext uri="{FF2B5EF4-FFF2-40B4-BE49-F238E27FC236}">
                <a16:creationId xmlns:a16="http://schemas.microsoft.com/office/drawing/2014/main" id="{84215C5D-D7B1-3062-E841-177E95B84232}"/>
              </a:ext>
            </a:extLst>
          </p:cNvPr>
          <p:cNvSpPr/>
          <p:nvPr/>
        </p:nvSpPr>
        <p:spPr>
          <a:xfrm>
            <a:off x="6645777" y="3448332"/>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17" name="Line 14">
            <a:extLst>
              <a:ext uri="{FF2B5EF4-FFF2-40B4-BE49-F238E27FC236}">
                <a16:creationId xmlns:a16="http://schemas.microsoft.com/office/drawing/2014/main" id="{5A730FA7-164F-5FC0-0AB0-84276EAE90DB}"/>
              </a:ext>
            </a:extLst>
          </p:cNvPr>
          <p:cNvSpPr/>
          <p:nvPr/>
        </p:nvSpPr>
        <p:spPr>
          <a:xfrm>
            <a:off x="4546257" y="2739132"/>
            <a:ext cx="69156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8" name="Line 15">
            <a:extLst>
              <a:ext uri="{FF2B5EF4-FFF2-40B4-BE49-F238E27FC236}">
                <a16:creationId xmlns:a16="http://schemas.microsoft.com/office/drawing/2014/main" id="{02A9DA42-45CC-1DE4-FF48-518A97A6C527}"/>
              </a:ext>
            </a:extLst>
          </p:cNvPr>
          <p:cNvSpPr/>
          <p:nvPr/>
        </p:nvSpPr>
        <p:spPr>
          <a:xfrm>
            <a:off x="4546257" y="3054132"/>
            <a:ext cx="691560" cy="133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9" name="Line 16">
            <a:extLst>
              <a:ext uri="{FF2B5EF4-FFF2-40B4-BE49-F238E27FC236}">
                <a16:creationId xmlns:a16="http://schemas.microsoft.com/office/drawing/2014/main" id="{9E36E6D8-2DB8-DF53-3567-00F7962F87A8}"/>
              </a:ext>
            </a:extLst>
          </p:cNvPr>
          <p:cNvSpPr/>
          <p:nvPr/>
        </p:nvSpPr>
        <p:spPr>
          <a:xfrm flipV="1">
            <a:off x="4630497" y="3425292"/>
            <a:ext cx="607320" cy="68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0" name="Line 17">
            <a:extLst>
              <a:ext uri="{FF2B5EF4-FFF2-40B4-BE49-F238E27FC236}">
                <a16:creationId xmlns:a16="http://schemas.microsoft.com/office/drawing/2014/main" id="{D1AC41D4-8369-7B39-EE5A-E6258745C5F9}"/>
              </a:ext>
            </a:extLst>
          </p:cNvPr>
          <p:cNvSpPr/>
          <p:nvPr/>
        </p:nvSpPr>
        <p:spPr>
          <a:xfrm>
            <a:off x="4686657" y="3803652"/>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nvGrpSpPr>
          <p:cNvPr id="21" name="Group 18">
            <a:extLst>
              <a:ext uri="{FF2B5EF4-FFF2-40B4-BE49-F238E27FC236}">
                <a16:creationId xmlns:a16="http://schemas.microsoft.com/office/drawing/2014/main" id="{42459ED2-8F3A-9EF8-B5C6-554B741A8C0B}"/>
              </a:ext>
            </a:extLst>
          </p:cNvPr>
          <p:cNvGrpSpPr/>
          <p:nvPr/>
        </p:nvGrpSpPr>
        <p:grpSpPr>
          <a:xfrm>
            <a:off x="7311417" y="2756412"/>
            <a:ext cx="1182960" cy="874440"/>
            <a:chOff x="6208560" y="2221920"/>
            <a:chExt cx="1182960" cy="874440"/>
          </a:xfrm>
        </p:grpSpPr>
        <p:sp>
          <p:nvSpPr>
            <p:cNvPr id="22" name="Line 19">
              <a:extLst>
                <a:ext uri="{FF2B5EF4-FFF2-40B4-BE49-F238E27FC236}">
                  <a16:creationId xmlns:a16="http://schemas.microsoft.com/office/drawing/2014/main" id="{F38E6551-034A-5558-6FB6-6502320A9C65}"/>
                </a:ext>
              </a:extLst>
            </p:cNvPr>
            <p:cNvSpPr/>
            <p:nvPr/>
          </p:nvSpPr>
          <p:spPr>
            <a:xfrm>
              <a:off x="6208560" y="2221920"/>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3" name="Line 20">
              <a:extLst>
                <a:ext uri="{FF2B5EF4-FFF2-40B4-BE49-F238E27FC236}">
                  <a16:creationId xmlns:a16="http://schemas.microsoft.com/office/drawing/2014/main" id="{C5784F58-5FB6-77A3-8D15-493F64BFE314}"/>
                </a:ext>
              </a:extLst>
            </p:cNvPr>
            <p:cNvSpPr/>
            <p:nvPr/>
          </p:nvSpPr>
          <p:spPr>
            <a:xfrm>
              <a:off x="6208560" y="3096000"/>
              <a:ext cx="1182960" cy="360"/>
            </a:xfrm>
            <a:prstGeom prst="line">
              <a:avLst/>
            </a:prstGeom>
            <a:ln w="19080">
              <a:solidFill>
                <a:srgbClr val="006600"/>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
        <p:nvSpPr>
          <p:cNvPr id="24" name="CustomShape 21">
            <a:extLst>
              <a:ext uri="{FF2B5EF4-FFF2-40B4-BE49-F238E27FC236}">
                <a16:creationId xmlns:a16="http://schemas.microsoft.com/office/drawing/2014/main" id="{2A1D14F3-FFB9-260B-D9D8-FDC6748208CF}"/>
              </a:ext>
            </a:extLst>
          </p:cNvPr>
          <p:cNvSpPr/>
          <p:nvPr/>
        </p:nvSpPr>
        <p:spPr>
          <a:xfrm>
            <a:off x="6319977" y="3054492"/>
            <a:ext cx="90648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C00000"/>
                </a:solidFill>
                <a:latin typeface="Verdana"/>
                <a:ea typeface="ＭＳ Ｐゴシック"/>
              </a:rPr>
              <a:t>Register</a:t>
            </a:r>
            <a:endParaRPr lang="en-US" sz="1200" b="0" strike="noStrike" spc="-1">
              <a:latin typeface="Arial"/>
            </a:endParaRPr>
          </a:p>
          <a:p>
            <a:pPr algn="ctr">
              <a:lnSpc>
                <a:spcPct val="100000"/>
              </a:lnSpc>
            </a:pPr>
            <a:r>
              <a:rPr lang="en-US" sz="1200" b="1" i="1" strike="noStrike" spc="-1">
                <a:solidFill>
                  <a:srgbClr val="C00000"/>
                </a:solidFill>
                <a:latin typeface="Verdana"/>
                <a:ea typeface="ＭＳ Ｐゴシック"/>
              </a:rPr>
              <a:t>File</a:t>
            </a:r>
            <a:endParaRPr lang="en-US" sz="1200" b="0" strike="noStrike" spc="-1">
              <a:latin typeface="Arial"/>
            </a:endParaRPr>
          </a:p>
        </p:txBody>
      </p:sp>
      <p:sp>
        <p:nvSpPr>
          <p:cNvPr id="25" name="Line 22">
            <a:extLst>
              <a:ext uri="{FF2B5EF4-FFF2-40B4-BE49-F238E27FC236}">
                <a16:creationId xmlns:a16="http://schemas.microsoft.com/office/drawing/2014/main" id="{EE0CBD50-F9E0-EB73-E073-2AD24B736A46}"/>
              </a:ext>
            </a:extLst>
          </p:cNvPr>
          <p:cNvSpPr/>
          <p:nvPr/>
        </p:nvSpPr>
        <p:spPr>
          <a:xfrm flipH="1">
            <a:off x="4814457" y="2679012"/>
            <a:ext cx="12744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6" name="Line 23">
            <a:extLst>
              <a:ext uri="{FF2B5EF4-FFF2-40B4-BE49-F238E27FC236}">
                <a16:creationId xmlns:a16="http://schemas.microsoft.com/office/drawing/2014/main" id="{5BBFF757-F8DA-9384-CA70-48B1BEEA4D8A}"/>
              </a:ext>
            </a:extLst>
          </p:cNvPr>
          <p:cNvSpPr/>
          <p:nvPr/>
        </p:nvSpPr>
        <p:spPr>
          <a:xfrm flipH="1">
            <a:off x="4814457" y="2996532"/>
            <a:ext cx="12744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7" name="Line 24">
            <a:extLst>
              <a:ext uri="{FF2B5EF4-FFF2-40B4-BE49-F238E27FC236}">
                <a16:creationId xmlns:a16="http://schemas.microsoft.com/office/drawing/2014/main" id="{5A762B92-F1F7-AC10-C2DB-D34D45A46AC1}"/>
              </a:ext>
            </a:extLst>
          </p:cNvPr>
          <p:cNvSpPr/>
          <p:nvPr/>
        </p:nvSpPr>
        <p:spPr>
          <a:xfrm flipH="1">
            <a:off x="4814457" y="3354732"/>
            <a:ext cx="12744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8" name="CustomShape 25">
            <a:extLst>
              <a:ext uri="{FF2B5EF4-FFF2-40B4-BE49-F238E27FC236}">
                <a16:creationId xmlns:a16="http://schemas.microsoft.com/office/drawing/2014/main" id="{C323EE32-98FC-4692-7101-A73F9412945F}"/>
              </a:ext>
            </a:extLst>
          </p:cNvPr>
          <p:cNvSpPr/>
          <p:nvPr/>
        </p:nvSpPr>
        <p:spPr>
          <a:xfrm>
            <a:off x="4711497" y="2550132"/>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9" name="CustomShape 26">
            <a:extLst>
              <a:ext uri="{FF2B5EF4-FFF2-40B4-BE49-F238E27FC236}">
                <a16:creationId xmlns:a16="http://schemas.microsoft.com/office/drawing/2014/main" id="{6B61FFED-F616-DD48-B995-3F433C759494}"/>
              </a:ext>
            </a:extLst>
          </p:cNvPr>
          <p:cNvSpPr/>
          <p:nvPr/>
        </p:nvSpPr>
        <p:spPr>
          <a:xfrm>
            <a:off x="4678017" y="2881332"/>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0" name="CustomShape 27">
            <a:extLst>
              <a:ext uri="{FF2B5EF4-FFF2-40B4-BE49-F238E27FC236}">
                <a16:creationId xmlns:a16="http://schemas.microsoft.com/office/drawing/2014/main" id="{9635204A-B905-5E85-492E-D2B2E571B0E8}"/>
              </a:ext>
            </a:extLst>
          </p:cNvPr>
          <p:cNvSpPr/>
          <p:nvPr/>
        </p:nvSpPr>
        <p:spPr>
          <a:xfrm>
            <a:off x="4678017" y="3259332"/>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1" name="Line 28">
            <a:extLst>
              <a:ext uri="{FF2B5EF4-FFF2-40B4-BE49-F238E27FC236}">
                <a16:creationId xmlns:a16="http://schemas.microsoft.com/office/drawing/2014/main" id="{6F52555C-020D-60A0-5AD8-FC64F72B5C52}"/>
              </a:ext>
            </a:extLst>
          </p:cNvPr>
          <p:cNvSpPr/>
          <p:nvPr/>
        </p:nvSpPr>
        <p:spPr>
          <a:xfrm>
            <a:off x="2614857" y="2691612"/>
            <a:ext cx="1931760" cy="47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2" name="Line 29">
            <a:extLst>
              <a:ext uri="{FF2B5EF4-FFF2-40B4-BE49-F238E27FC236}">
                <a16:creationId xmlns:a16="http://schemas.microsoft.com/office/drawing/2014/main" id="{CD3B5EA8-AE0F-AC6F-869A-43AAEF7AB618}"/>
              </a:ext>
            </a:extLst>
          </p:cNvPr>
          <p:cNvSpPr/>
          <p:nvPr/>
        </p:nvSpPr>
        <p:spPr>
          <a:xfrm flipV="1">
            <a:off x="2614857" y="3054132"/>
            <a:ext cx="1931760" cy="173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3" name="Line 30">
            <a:extLst>
              <a:ext uri="{FF2B5EF4-FFF2-40B4-BE49-F238E27FC236}">
                <a16:creationId xmlns:a16="http://schemas.microsoft.com/office/drawing/2014/main" id="{6F27C8A1-0447-3691-26B1-99AEE6640E84}"/>
              </a:ext>
            </a:extLst>
          </p:cNvPr>
          <p:cNvSpPr/>
          <p:nvPr/>
        </p:nvSpPr>
        <p:spPr>
          <a:xfrm flipV="1">
            <a:off x="2614497" y="3873492"/>
            <a:ext cx="1260000" cy="15480"/>
          </a:xfrm>
          <a:prstGeom prst="line">
            <a:avLst/>
          </a:prstGeom>
          <a:ln w="22320">
            <a:solidFill>
              <a:srgbClr val="C00000"/>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4" name="CustomShape 31">
            <a:extLst>
              <a:ext uri="{FF2B5EF4-FFF2-40B4-BE49-F238E27FC236}">
                <a16:creationId xmlns:a16="http://schemas.microsoft.com/office/drawing/2014/main" id="{F2B25CE4-0BE9-6F03-8C0A-94A541281495}"/>
              </a:ext>
            </a:extLst>
          </p:cNvPr>
          <p:cNvSpPr/>
          <p:nvPr/>
        </p:nvSpPr>
        <p:spPr>
          <a:xfrm rot="5400000">
            <a:off x="1134177" y="4051332"/>
            <a:ext cx="1700640" cy="587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Immediate</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15:0</a:t>
            </a:r>
            <a:endParaRPr lang="en-US" sz="1200" b="0" strike="noStrike" spc="-1">
              <a:latin typeface="Arial"/>
            </a:endParaRPr>
          </a:p>
        </p:txBody>
      </p:sp>
      <p:grpSp>
        <p:nvGrpSpPr>
          <p:cNvPr id="35" name="Group 32">
            <a:extLst>
              <a:ext uri="{FF2B5EF4-FFF2-40B4-BE49-F238E27FC236}">
                <a16:creationId xmlns:a16="http://schemas.microsoft.com/office/drawing/2014/main" id="{56E1A317-6EB7-B8A5-1FBC-77E4F8BFE288}"/>
              </a:ext>
            </a:extLst>
          </p:cNvPr>
          <p:cNvGrpSpPr/>
          <p:nvPr/>
        </p:nvGrpSpPr>
        <p:grpSpPr>
          <a:xfrm>
            <a:off x="1774977" y="1407351"/>
            <a:ext cx="503640" cy="2124819"/>
            <a:chOff x="672120" y="1259640"/>
            <a:chExt cx="503640" cy="1700640"/>
          </a:xfrm>
        </p:grpSpPr>
        <p:sp>
          <p:nvSpPr>
            <p:cNvPr id="36" name="CustomShape 33">
              <a:extLst>
                <a:ext uri="{FF2B5EF4-FFF2-40B4-BE49-F238E27FC236}">
                  <a16:creationId xmlns:a16="http://schemas.microsoft.com/office/drawing/2014/main" id="{8CE4B567-C400-4B78-F04B-15EC6FE26052}"/>
                </a:ext>
              </a:extLst>
            </p:cNvPr>
            <p:cNvSpPr/>
            <p:nvPr/>
          </p:nvSpPr>
          <p:spPr>
            <a:xfrm rot="5400000">
              <a:off x="608760" y="132264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opcode</a:t>
              </a:r>
              <a:endParaRPr lang="en-US" sz="1200" b="0" strike="noStrike" spc="-1">
                <a:latin typeface="Arial"/>
              </a:endParaRPr>
            </a:p>
            <a:p>
              <a:pPr algn="ctr">
                <a:lnSpc>
                  <a:spcPct val="100000"/>
                </a:lnSpc>
              </a:pPr>
              <a:r>
                <a:rPr lang="en-US" sz="1200" b="1" strike="noStrike" spc="-1">
                  <a:solidFill>
                    <a:srgbClr val="660066"/>
                  </a:solidFill>
                  <a:latin typeface="Courier New"/>
                  <a:ea typeface="ＭＳ Ｐゴシック"/>
                </a:rPr>
                <a:t>31:26</a:t>
              </a:r>
              <a:endParaRPr lang="en-US" sz="1200" b="0" strike="noStrike" spc="-1">
                <a:latin typeface="Arial"/>
              </a:endParaRPr>
            </a:p>
          </p:txBody>
        </p:sp>
        <p:sp>
          <p:nvSpPr>
            <p:cNvPr id="37" name="CustomShape 34">
              <a:extLst>
                <a:ext uri="{FF2B5EF4-FFF2-40B4-BE49-F238E27FC236}">
                  <a16:creationId xmlns:a16="http://schemas.microsoft.com/office/drawing/2014/main" id="{82E579A9-F635-8225-7EF7-94C937EF08D1}"/>
                </a:ext>
              </a:extLst>
            </p:cNvPr>
            <p:cNvSpPr/>
            <p:nvPr/>
          </p:nvSpPr>
          <p:spPr>
            <a:xfrm rot="5400000">
              <a:off x="656280" y="190548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rs</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25:21</a:t>
              </a:r>
              <a:endParaRPr lang="en-US" sz="1200" b="0" strike="noStrike" spc="-1">
                <a:latin typeface="Arial"/>
              </a:endParaRPr>
            </a:p>
          </p:txBody>
        </p:sp>
        <p:sp>
          <p:nvSpPr>
            <p:cNvPr id="38" name="CustomShape 35">
              <a:extLst>
                <a:ext uri="{FF2B5EF4-FFF2-40B4-BE49-F238E27FC236}">
                  <a16:creationId xmlns:a16="http://schemas.microsoft.com/office/drawing/2014/main" id="{7632BDFE-6EFF-5595-BE5B-A835AFBDE441}"/>
                </a:ext>
              </a:extLst>
            </p:cNvPr>
            <p:cNvSpPr/>
            <p:nvPr/>
          </p:nvSpPr>
          <p:spPr>
            <a:xfrm rot="5400000">
              <a:off x="656280" y="2440800"/>
              <a:ext cx="53496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rt</a:t>
              </a:r>
              <a:endParaRPr lang="en-US" sz="1200" b="0" strike="noStrike" spc="-1">
                <a:latin typeface="Arial"/>
              </a:endParaRPr>
            </a:p>
            <a:p>
              <a:pPr algn="ctr">
                <a:lnSpc>
                  <a:spcPct val="100000"/>
                </a:lnSpc>
              </a:pPr>
              <a:r>
                <a:rPr lang="en-US" sz="1200" b="1" strike="noStrike" spc="-1">
                  <a:solidFill>
                    <a:srgbClr val="C00000"/>
                  </a:solidFill>
                  <a:latin typeface="Courier New"/>
                  <a:ea typeface="ＭＳ Ｐゴシック"/>
                </a:rPr>
                <a:t>20:16</a:t>
              </a:r>
              <a:endParaRPr lang="en-US" sz="1200" b="0" strike="noStrike" spc="-1">
                <a:latin typeface="Arial"/>
              </a:endParaRPr>
            </a:p>
          </p:txBody>
        </p:sp>
      </p:grpSp>
      <p:sp>
        <p:nvSpPr>
          <p:cNvPr id="39" name="CustomShape 36">
            <a:extLst>
              <a:ext uri="{FF2B5EF4-FFF2-40B4-BE49-F238E27FC236}">
                <a16:creationId xmlns:a16="http://schemas.microsoft.com/office/drawing/2014/main" id="{A8824E10-86A6-EEFD-5E0C-EA4966C650DF}"/>
              </a:ext>
            </a:extLst>
          </p:cNvPr>
          <p:cNvSpPr/>
          <p:nvPr/>
        </p:nvSpPr>
        <p:spPr>
          <a:xfrm>
            <a:off x="2778297" y="2487492"/>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40" name="CustomShape 37">
            <a:extLst>
              <a:ext uri="{FF2B5EF4-FFF2-40B4-BE49-F238E27FC236}">
                <a16:creationId xmlns:a16="http://schemas.microsoft.com/office/drawing/2014/main" id="{C0D592BD-992A-A63A-D0A1-FD832D4A775A}"/>
              </a:ext>
            </a:extLst>
          </p:cNvPr>
          <p:cNvSpPr/>
          <p:nvPr/>
        </p:nvSpPr>
        <p:spPr>
          <a:xfrm rot="21202800">
            <a:off x="2695137" y="2951892"/>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41" name="CustomShape 38">
            <a:extLst>
              <a:ext uri="{FF2B5EF4-FFF2-40B4-BE49-F238E27FC236}">
                <a16:creationId xmlns:a16="http://schemas.microsoft.com/office/drawing/2014/main" id="{5AF7DFA6-B2A8-AADB-3DEA-4A64C7FD6C0B}"/>
              </a:ext>
            </a:extLst>
          </p:cNvPr>
          <p:cNvSpPr/>
          <p:nvPr/>
        </p:nvSpPr>
        <p:spPr>
          <a:xfrm>
            <a:off x="2694417" y="3873132"/>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42" name="CustomShape 39">
            <a:extLst>
              <a:ext uri="{FF2B5EF4-FFF2-40B4-BE49-F238E27FC236}">
                <a16:creationId xmlns:a16="http://schemas.microsoft.com/office/drawing/2014/main" id="{8FFA1E79-56E8-CCFE-338F-C567ECFEC9E4}"/>
              </a:ext>
            </a:extLst>
          </p:cNvPr>
          <p:cNvSpPr/>
          <p:nvPr/>
        </p:nvSpPr>
        <p:spPr>
          <a:xfrm>
            <a:off x="3874857" y="3369492"/>
            <a:ext cx="335520" cy="755640"/>
          </a:xfrm>
          <a:prstGeom prst="roundRect">
            <a:avLst>
              <a:gd name="adj" fmla="val 16667"/>
            </a:avLst>
          </a:prstGeom>
          <a:solidFill>
            <a:schemeClr val="accent1">
              <a:lumMod val="20000"/>
              <a:lumOff val="80000"/>
            </a:schemeClr>
          </a:solid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43" name="CustomShape 40">
            <a:extLst>
              <a:ext uri="{FF2B5EF4-FFF2-40B4-BE49-F238E27FC236}">
                <a16:creationId xmlns:a16="http://schemas.microsoft.com/office/drawing/2014/main" id="{207C813E-C7A6-E7FB-2425-EE08378A8031}"/>
              </a:ext>
            </a:extLst>
          </p:cNvPr>
          <p:cNvSpPr/>
          <p:nvPr/>
        </p:nvSpPr>
        <p:spPr>
          <a:xfrm rot="16200000" flipH="1">
            <a:off x="3315417" y="3062052"/>
            <a:ext cx="468360" cy="649080"/>
          </a:xfrm>
          <a:prstGeom prst="bentConnector2">
            <a:avLst/>
          </a:prstGeom>
          <a:noFill/>
          <a:ln w="22320">
            <a:solidFill>
              <a:srgbClr val="C00000"/>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4" name="Line 41">
            <a:extLst>
              <a:ext uri="{FF2B5EF4-FFF2-40B4-BE49-F238E27FC236}">
                <a16:creationId xmlns:a16="http://schemas.microsoft.com/office/drawing/2014/main" id="{CB0E7102-8510-365C-63BD-111CDFB913C0}"/>
              </a:ext>
            </a:extLst>
          </p:cNvPr>
          <p:cNvSpPr/>
          <p:nvPr/>
        </p:nvSpPr>
        <p:spPr>
          <a:xfrm flipV="1">
            <a:off x="4210377" y="3432132"/>
            <a:ext cx="420480" cy="315000"/>
          </a:xfrm>
          <a:prstGeom prst="line">
            <a:avLst/>
          </a:prstGeom>
          <a:ln w="22320">
            <a:solidFill>
              <a:srgbClr val="C00000"/>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5" name="CustomShape 42">
            <a:extLst>
              <a:ext uri="{FF2B5EF4-FFF2-40B4-BE49-F238E27FC236}">
                <a16:creationId xmlns:a16="http://schemas.microsoft.com/office/drawing/2014/main" id="{0520A036-584B-7215-8572-3C7E91F27342}"/>
              </a:ext>
            </a:extLst>
          </p:cNvPr>
          <p:cNvSpPr/>
          <p:nvPr/>
        </p:nvSpPr>
        <p:spPr>
          <a:xfrm>
            <a:off x="3630057" y="4314492"/>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RegDst</a:t>
            </a:r>
            <a:endParaRPr lang="en-US" sz="1600" b="0" strike="noStrike" spc="-1">
              <a:latin typeface="Arial"/>
            </a:endParaRPr>
          </a:p>
        </p:txBody>
      </p:sp>
      <p:sp>
        <p:nvSpPr>
          <p:cNvPr id="46" name="Line 43">
            <a:extLst>
              <a:ext uri="{FF2B5EF4-FFF2-40B4-BE49-F238E27FC236}">
                <a16:creationId xmlns:a16="http://schemas.microsoft.com/office/drawing/2014/main" id="{C8ADB9E6-3369-C67B-AC5A-B9FD9B7D6C82}"/>
              </a:ext>
            </a:extLst>
          </p:cNvPr>
          <p:cNvSpPr/>
          <p:nvPr/>
        </p:nvSpPr>
        <p:spPr>
          <a:xfrm>
            <a:off x="4042617" y="4125132"/>
            <a:ext cx="360" cy="221760"/>
          </a:xfrm>
          <a:prstGeom prst="line">
            <a:avLst/>
          </a:prstGeom>
          <a:ln w="19080">
            <a:solidFill>
              <a:srgbClr val="C00000"/>
            </a:solidFill>
            <a:round/>
          </a:ln>
        </p:spPr>
        <p:style>
          <a:lnRef idx="0">
            <a:scrgbClr r="0" g="0" b="0"/>
          </a:lnRef>
          <a:fillRef idx="0">
            <a:scrgbClr r="0" g="0" b="0"/>
          </a:fillRef>
          <a:effectRef idx="0">
            <a:scrgbClr r="0" g="0" b="0"/>
          </a:effectRef>
          <a:fontRef idx="minor"/>
        </p:style>
        <p:txBody>
          <a:bodyPr/>
          <a:lstStyle/>
          <a:p>
            <a:endParaRPr lang="vi-VN"/>
          </a:p>
        </p:txBody>
      </p:sp>
      <p:sp>
        <p:nvSpPr>
          <p:cNvPr id="47" name="CustomShape 44">
            <a:extLst>
              <a:ext uri="{FF2B5EF4-FFF2-40B4-BE49-F238E27FC236}">
                <a16:creationId xmlns:a16="http://schemas.microsoft.com/office/drawing/2014/main" id="{CE401FF0-F49B-4402-EBA5-919F82BFBA65}"/>
              </a:ext>
            </a:extLst>
          </p:cNvPr>
          <p:cNvSpPr/>
          <p:nvPr/>
        </p:nvSpPr>
        <p:spPr>
          <a:xfrm>
            <a:off x="2614497" y="4818132"/>
            <a:ext cx="3863880" cy="1133640"/>
          </a:xfrm>
          <a:prstGeom prst="roundRect">
            <a:avLst>
              <a:gd name="adj" fmla="val 16667"/>
            </a:avLst>
          </a:prstGeom>
          <a:solidFill>
            <a:schemeClr val="bg1"/>
          </a:solidFill>
          <a:ln w="15840">
            <a:solidFill>
              <a:schemeClr val="tx1"/>
            </a:solidFill>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1" strike="noStrike" spc="-1">
                <a:solidFill>
                  <a:srgbClr val="660066"/>
                </a:solidFill>
                <a:latin typeface="Times New Roman"/>
                <a:ea typeface="ＭＳ Ｐゴシック"/>
              </a:rPr>
              <a:t>RegDst</a:t>
            </a:r>
            <a:r>
              <a:rPr lang="en-US" sz="1800" b="1" strike="noStrike" spc="-1">
                <a:solidFill>
                  <a:srgbClr val="000000"/>
                </a:solidFill>
                <a:latin typeface="Times New Roman"/>
                <a:ea typeface="ＭＳ Ｐゴシック"/>
              </a:rPr>
              <a:t>:</a:t>
            </a:r>
            <a:endParaRPr lang="en-US" sz="1800" b="0" strike="noStrike" spc="-1">
              <a:latin typeface="Arial"/>
            </a:endParaRPr>
          </a:p>
          <a:p>
            <a:pPr algn="ctr">
              <a:lnSpc>
                <a:spcPct val="100000"/>
              </a:lnSpc>
            </a:pPr>
            <a:r>
              <a:rPr lang="en-US" sz="1800" b="0" strike="noStrike" spc="-1">
                <a:solidFill>
                  <a:srgbClr val="000000"/>
                </a:solidFill>
                <a:latin typeface="Times New Roman"/>
                <a:ea typeface="ＭＳ Ｐゴシック"/>
              </a:rPr>
              <a:t>Tín hiệu điều khiển chọn</a:t>
            </a:r>
            <a:endParaRPr lang="en-US" sz="1800" b="0" strike="noStrike" spc="-1">
              <a:latin typeface="Arial"/>
            </a:endParaRPr>
          </a:p>
          <a:p>
            <a:pPr algn="ctr">
              <a:lnSpc>
                <a:spcPct val="100000"/>
              </a:lnSpc>
            </a:pPr>
            <a:r>
              <a:rPr lang="en-US" sz="1800" b="0" strike="noStrike" spc="-1">
                <a:solidFill>
                  <a:srgbClr val="000000"/>
                </a:solidFill>
                <a:latin typeface="Times New Roman"/>
                <a:ea typeface="ＭＳ Ｐゴシック"/>
              </a:rPr>
              <a:t>Inst[20:16] hay [15:11] để đưa vào ngõ </a:t>
            </a:r>
            <a:r>
              <a:rPr lang="en-US" sz="1800" b="0" i="1" strike="noStrike" spc="-1">
                <a:solidFill>
                  <a:srgbClr val="000000"/>
                </a:solidFill>
                <a:latin typeface="Times New Roman"/>
                <a:ea typeface="ＭＳ Ｐゴシック"/>
              </a:rPr>
              <a:t>write register</a:t>
            </a:r>
            <a:endParaRPr lang="en-US" sz="1800" b="0" strike="noStrike" spc="-1">
              <a:latin typeface="Arial"/>
            </a:endParaRPr>
          </a:p>
        </p:txBody>
      </p:sp>
      <p:sp>
        <p:nvSpPr>
          <p:cNvPr id="48" name="CustomShape 45">
            <a:extLst>
              <a:ext uri="{FF2B5EF4-FFF2-40B4-BE49-F238E27FC236}">
                <a16:creationId xmlns:a16="http://schemas.microsoft.com/office/drawing/2014/main" id="{4E004BAC-D1A5-8650-1416-CE67657B4AC0}"/>
              </a:ext>
            </a:extLst>
          </p:cNvPr>
          <p:cNvSpPr/>
          <p:nvPr/>
        </p:nvSpPr>
        <p:spPr>
          <a:xfrm>
            <a:off x="6558297" y="4062492"/>
            <a:ext cx="4442040" cy="1888920"/>
          </a:xfrm>
          <a:prstGeom prst="roundRect">
            <a:avLst>
              <a:gd name="adj" fmla="val 16667"/>
            </a:avLst>
          </a:prstGeom>
          <a:solidFill>
            <a:schemeClr val="accent5">
              <a:lumMod val="20000"/>
              <a:lumOff val="80000"/>
            </a:schemeClr>
          </a:solidFill>
          <a:ln>
            <a:solidFill>
              <a:srgbClr val="0066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2000" b="1" strike="noStrike" spc="-1">
                <a:solidFill>
                  <a:srgbClr val="006600"/>
                </a:solidFill>
                <a:latin typeface="Times New Roman"/>
                <a:ea typeface="ＭＳ Ｐゴシック"/>
              </a:rPr>
              <a:t>Giải pháp (cho chỉ số thanh ghi sẽ được ghi):</a:t>
            </a:r>
            <a:endParaRPr lang="en-US" sz="2000" b="0" strike="noStrike" spc="-1">
              <a:latin typeface="Arial"/>
            </a:endParaRPr>
          </a:p>
          <a:p>
            <a:pPr algn="ctr">
              <a:lnSpc>
                <a:spcPct val="100000"/>
              </a:lnSpc>
            </a:pPr>
            <a:r>
              <a:rPr lang="en-US" sz="2000" b="0" strike="noStrike" spc="-1">
                <a:solidFill>
                  <a:srgbClr val="000000"/>
                </a:solidFill>
                <a:latin typeface="Times New Roman"/>
                <a:ea typeface="ＭＳ Ｐゴシック"/>
              </a:rPr>
              <a:t>Sử dụng một </a:t>
            </a:r>
            <a:r>
              <a:rPr lang="en-US" sz="2000" b="1" strike="noStrike" spc="-1">
                <a:solidFill>
                  <a:srgbClr val="000000"/>
                </a:solidFill>
                <a:latin typeface="Times New Roman"/>
                <a:ea typeface="ＭＳ Ｐゴシック"/>
              </a:rPr>
              <a:t>multiplexer</a:t>
            </a:r>
            <a:r>
              <a:rPr lang="en-US" sz="2000" b="0" strike="noStrike" spc="-1">
                <a:solidFill>
                  <a:srgbClr val="000000"/>
                </a:solidFill>
                <a:latin typeface="Times New Roman"/>
                <a:ea typeface="ＭＳ Ｐゴシック"/>
              </a:rPr>
              <a:t>  để lựa chọn chỉ số thanh ghi cho ngõ </a:t>
            </a:r>
            <a:r>
              <a:rPr lang="en-US" sz="2000" b="0" i="1" strike="noStrike" spc="-1">
                <a:solidFill>
                  <a:srgbClr val="000000"/>
                </a:solidFill>
                <a:latin typeface="Times New Roman"/>
                <a:ea typeface="ＭＳ Ｐゴシック"/>
              </a:rPr>
              <a:t>write register </a:t>
            </a:r>
            <a:r>
              <a:rPr lang="en-US" sz="2000" b="0" strike="noStrike" spc="-1">
                <a:solidFill>
                  <a:srgbClr val="000000"/>
                </a:solidFill>
                <a:latin typeface="Times New Roman"/>
                <a:ea typeface="ＭＳ Ｐゴシック"/>
              </a:rPr>
              <a:t>chính xác dựa</a:t>
            </a:r>
            <a:endParaRPr lang="en-US" sz="2000" b="0" strike="noStrike" spc="-1">
              <a:latin typeface="Arial"/>
            </a:endParaRPr>
          </a:p>
          <a:p>
            <a:pPr algn="ctr">
              <a:lnSpc>
                <a:spcPct val="100000"/>
              </a:lnSpc>
            </a:pPr>
            <a:r>
              <a:rPr lang="en-US" sz="2000" b="0" strike="noStrike" spc="-1">
                <a:solidFill>
                  <a:srgbClr val="000000"/>
                </a:solidFill>
                <a:latin typeface="Times New Roman"/>
                <a:ea typeface="ＭＳ Ｐゴシック"/>
              </a:rPr>
              <a:t>trên từng loại lệnh </a:t>
            </a:r>
            <a:endParaRPr lang="en-US" sz="2000" b="0" strike="noStrike" spc="-1">
              <a:latin typeface="Arial"/>
            </a:endParaRPr>
          </a:p>
        </p:txBody>
      </p:sp>
      <p:sp>
        <p:nvSpPr>
          <p:cNvPr id="49" name="CustomShape 46">
            <a:extLst>
              <a:ext uri="{FF2B5EF4-FFF2-40B4-BE49-F238E27FC236}">
                <a16:creationId xmlns:a16="http://schemas.microsoft.com/office/drawing/2014/main" id="{E435CA79-B2F6-6F7D-78B8-55E60FB0D84A}"/>
              </a:ext>
            </a:extLst>
          </p:cNvPr>
          <p:cNvSpPr/>
          <p:nvPr/>
        </p:nvSpPr>
        <p:spPr>
          <a:xfrm>
            <a:off x="3622497" y="1794132"/>
            <a:ext cx="5291640" cy="440640"/>
          </a:xfrm>
          <a:prstGeom prst="snip1Rect">
            <a:avLst>
              <a:gd name="adj" fmla="val 16667"/>
            </a:avLst>
          </a:prstGeom>
          <a:solidFill>
            <a:srgbClr val="FFFFCC">
              <a:alpha val="80000"/>
            </a:srgbClr>
          </a:solidFill>
          <a:ln w="1584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marL="343080" indent="-342720" algn="ctr">
              <a:lnSpc>
                <a:spcPct val="100000"/>
              </a:lnSpc>
              <a:spcBef>
                <a:spcPts val="839"/>
              </a:spcBef>
            </a:pPr>
            <a:r>
              <a:rPr lang="en-US" sz="2800" b="1" strike="noStrike" spc="-1">
                <a:solidFill>
                  <a:srgbClr val="002060"/>
                </a:solidFill>
                <a:latin typeface="Courier New"/>
                <a:ea typeface="ＭＳ Ｐゴシック"/>
              </a:rPr>
              <a:t>lw $21, -50($22)</a:t>
            </a:r>
            <a:endParaRPr lang="en-US" sz="2800" b="0" strike="noStrike" spc="-1">
              <a:latin typeface="Arial"/>
            </a:endParaRPr>
          </a:p>
        </p:txBody>
      </p:sp>
    </p:spTree>
    <p:extLst>
      <p:ext uri="{BB962C8B-B14F-4D97-AF65-F5344CB8AC3E}">
        <p14:creationId xmlns:p14="http://schemas.microsoft.com/office/powerpoint/2010/main" val="444651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Khối Mux</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28</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Content Placeholder 5">
            <a:extLst>
              <a:ext uri="{FF2B5EF4-FFF2-40B4-BE49-F238E27FC236}">
                <a16:creationId xmlns:a16="http://schemas.microsoft.com/office/drawing/2014/main" id="{9FF3A2F7-D5D5-0BA4-05A1-FEDD80F12654}"/>
              </a:ext>
            </a:extLst>
          </p:cNvPr>
          <p:cNvSpPr>
            <a:spLocks noGrp="1"/>
          </p:cNvSpPr>
          <p:nvPr>
            <p:ph idx="1"/>
          </p:nvPr>
        </p:nvSpPr>
        <p:spPr/>
        <p:txBody>
          <a:bodyPr>
            <a:normAutofit/>
          </a:bodyPr>
          <a:lstStyle/>
          <a:p>
            <a:r>
              <a:rPr lang="vi-VN"/>
              <a:t>Chức năng:</a:t>
            </a:r>
          </a:p>
          <a:p>
            <a:pPr lvl="1"/>
            <a:r>
              <a:rPr lang="vi-VN"/>
              <a:t>Chọn một input từ tập input đầu vào</a:t>
            </a:r>
          </a:p>
          <a:p>
            <a:endParaRPr lang="vi-VN"/>
          </a:p>
          <a:p>
            <a:r>
              <a:rPr lang="vi-VN"/>
              <a:t>Inputs: </a:t>
            </a:r>
          </a:p>
          <a:p>
            <a:pPr lvl="1"/>
            <a:r>
              <a:rPr lang="vi-VN"/>
              <a:t>n đường vào có cùng chiều rộng</a:t>
            </a:r>
          </a:p>
          <a:p>
            <a:endParaRPr lang="vi-VN"/>
          </a:p>
          <a:p>
            <a:r>
              <a:rPr lang="vi-VN"/>
              <a:t>Control: </a:t>
            </a:r>
          </a:p>
          <a:p>
            <a:pPr lvl="1"/>
            <a:r>
              <a:rPr lang="vi-VN"/>
              <a:t>Cần m bit trong đó n = 2m</a:t>
            </a:r>
          </a:p>
          <a:p>
            <a:endParaRPr lang="vi-VN"/>
          </a:p>
          <a:p>
            <a:r>
              <a:rPr lang="vi-VN"/>
              <a:t>Output: </a:t>
            </a:r>
          </a:p>
          <a:p>
            <a:pPr lvl="1"/>
            <a:r>
              <a:rPr lang="vi-VN"/>
              <a:t>Chọn đường input thứ i nếu giá trị tín hiệu điều khiển control = i</a:t>
            </a:r>
          </a:p>
          <a:p>
            <a:endParaRPr lang="en-US"/>
          </a:p>
        </p:txBody>
      </p:sp>
      <p:sp>
        <p:nvSpPr>
          <p:cNvPr id="3" name="CustomShape 4">
            <a:extLst>
              <a:ext uri="{FF2B5EF4-FFF2-40B4-BE49-F238E27FC236}">
                <a16:creationId xmlns:a16="http://schemas.microsoft.com/office/drawing/2014/main" id="{56296691-7B04-F541-816F-A469F58DCD3E}"/>
              </a:ext>
            </a:extLst>
          </p:cNvPr>
          <p:cNvSpPr/>
          <p:nvPr/>
        </p:nvSpPr>
        <p:spPr>
          <a:xfrm>
            <a:off x="7985879" y="4217040"/>
            <a:ext cx="2951280" cy="7830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2000" b="0" strike="noStrike" spc="-1">
                <a:solidFill>
                  <a:srgbClr val="000000"/>
                </a:solidFill>
                <a:latin typeface="Verdana"/>
                <a:ea typeface="ＭＳ Ｐゴシック"/>
              </a:rPr>
              <a:t>Control=0 </a:t>
            </a:r>
            <a:r>
              <a:rPr lang="en-US" sz="2000" b="0" strike="noStrike" spc="-1">
                <a:solidFill>
                  <a:srgbClr val="000000"/>
                </a:solidFill>
                <a:latin typeface="Wingdings"/>
                <a:ea typeface="ＭＳ Ｐゴシック"/>
              </a:rPr>
              <a:t></a:t>
            </a:r>
            <a:r>
              <a:rPr lang="en-US" sz="2000" b="0" strike="noStrike" spc="-1">
                <a:solidFill>
                  <a:srgbClr val="000000"/>
                </a:solidFill>
                <a:latin typeface="Verdana"/>
                <a:ea typeface="ＭＳ Ｐゴシック"/>
              </a:rPr>
              <a:t> select in</a:t>
            </a:r>
            <a:r>
              <a:rPr lang="en-US" sz="2000" b="0" strike="noStrike" spc="-1" baseline="-25000">
                <a:solidFill>
                  <a:srgbClr val="000000"/>
                </a:solidFill>
                <a:latin typeface="Verdana"/>
                <a:ea typeface="ＭＳ Ｐゴシック"/>
              </a:rPr>
              <a:t>0</a:t>
            </a:r>
            <a:endParaRPr lang="en-US" sz="2000" b="0" strike="noStrike" spc="-1">
              <a:latin typeface="Arial"/>
            </a:endParaRPr>
          </a:p>
          <a:p>
            <a:pPr algn="ctr">
              <a:lnSpc>
                <a:spcPct val="100000"/>
              </a:lnSpc>
            </a:pPr>
            <a:r>
              <a:rPr lang="en-US" sz="2000" b="0" strike="noStrike" spc="-1">
                <a:solidFill>
                  <a:srgbClr val="000000"/>
                </a:solidFill>
                <a:latin typeface="Verdana"/>
                <a:ea typeface="ＭＳ Ｐゴシック"/>
              </a:rPr>
              <a:t>Control=3 </a:t>
            </a:r>
            <a:r>
              <a:rPr lang="en-US" sz="2000" b="0" strike="noStrike" spc="-1">
                <a:solidFill>
                  <a:srgbClr val="000000"/>
                </a:solidFill>
                <a:latin typeface="Wingdings"/>
                <a:ea typeface="ＭＳ Ｐゴシック"/>
              </a:rPr>
              <a:t></a:t>
            </a:r>
            <a:r>
              <a:rPr lang="en-US" sz="2000" b="0" strike="noStrike" spc="-1">
                <a:solidFill>
                  <a:srgbClr val="000000"/>
                </a:solidFill>
                <a:latin typeface="Verdana"/>
                <a:ea typeface="ＭＳ Ｐゴシック"/>
              </a:rPr>
              <a:t> select in</a:t>
            </a:r>
            <a:r>
              <a:rPr lang="en-US" sz="2000" b="0" strike="noStrike" spc="-1" baseline="-25000">
                <a:solidFill>
                  <a:srgbClr val="000000"/>
                </a:solidFill>
                <a:latin typeface="Verdana"/>
                <a:ea typeface="ＭＳ Ｐゴシック"/>
              </a:rPr>
              <a:t>3</a:t>
            </a:r>
            <a:endParaRPr lang="en-US" sz="2000" b="0" strike="noStrike" spc="-1">
              <a:latin typeface="Arial"/>
            </a:endParaRPr>
          </a:p>
        </p:txBody>
      </p:sp>
      <p:sp>
        <p:nvSpPr>
          <p:cNvPr id="7" name="Line 5">
            <a:extLst>
              <a:ext uri="{FF2B5EF4-FFF2-40B4-BE49-F238E27FC236}">
                <a16:creationId xmlns:a16="http://schemas.microsoft.com/office/drawing/2014/main" id="{185AD251-1061-B324-E126-2FB4452AB2ED}"/>
              </a:ext>
            </a:extLst>
          </p:cNvPr>
          <p:cNvSpPr/>
          <p:nvPr/>
        </p:nvSpPr>
        <p:spPr>
          <a:xfrm>
            <a:off x="8658359" y="3057480"/>
            <a:ext cx="635400" cy="360"/>
          </a:xfrm>
          <a:prstGeom prst="line">
            <a:avLst/>
          </a:prstGeom>
          <a:ln w="381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8" name="Line 6">
            <a:extLst>
              <a:ext uri="{FF2B5EF4-FFF2-40B4-BE49-F238E27FC236}">
                <a16:creationId xmlns:a16="http://schemas.microsoft.com/office/drawing/2014/main" id="{87D86218-02AC-2868-175B-2E9007EBBF43}"/>
              </a:ext>
            </a:extLst>
          </p:cNvPr>
          <p:cNvSpPr/>
          <p:nvPr/>
        </p:nvSpPr>
        <p:spPr>
          <a:xfrm>
            <a:off x="8658359" y="3819960"/>
            <a:ext cx="635400" cy="360"/>
          </a:xfrm>
          <a:prstGeom prst="line">
            <a:avLst/>
          </a:prstGeom>
          <a:ln w="381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9" name="Line 7">
            <a:extLst>
              <a:ext uri="{FF2B5EF4-FFF2-40B4-BE49-F238E27FC236}">
                <a16:creationId xmlns:a16="http://schemas.microsoft.com/office/drawing/2014/main" id="{5743834A-5721-9992-14D6-6E73A3928C5A}"/>
              </a:ext>
            </a:extLst>
          </p:cNvPr>
          <p:cNvSpPr/>
          <p:nvPr/>
        </p:nvSpPr>
        <p:spPr>
          <a:xfrm>
            <a:off x="9803159" y="3438000"/>
            <a:ext cx="635400" cy="360"/>
          </a:xfrm>
          <a:prstGeom prst="line">
            <a:avLst/>
          </a:prstGeom>
          <a:ln w="381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0" name="Line 8">
            <a:extLst>
              <a:ext uri="{FF2B5EF4-FFF2-40B4-BE49-F238E27FC236}">
                <a16:creationId xmlns:a16="http://schemas.microsoft.com/office/drawing/2014/main" id="{B3E88F68-1036-707F-2FA4-7559035B0548}"/>
              </a:ext>
            </a:extLst>
          </p:cNvPr>
          <p:cNvSpPr/>
          <p:nvPr/>
        </p:nvSpPr>
        <p:spPr>
          <a:xfrm>
            <a:off x="9547559" y="2391120"/>
            <a:ext cx="360" cy="3492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1" name="Line 9">
            <a:extLst>
              <a:ext uri="{FF2B5EF4-FFF2-40B4-BE49-F238E27FC236}">
                <a16:creationId xmlns:a16="http://schemas.microsoft.com/office/drawing/2014/main" id="{0144FAEB-8E9B-F4E6-5F92-EA55AE6637A7}"/>
              </a:ext>
            </a:extLst>
          </p:cNvPr>
          <p:cNvSpPr/>
          <p:nvPr/>
        </p:nvSpPr>
        <p:spPr>
          <a:xfrm>
            <a:off x="9421199" y="2518560"/>
            <a:ext cx="254160" cy="9432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2" name="CustomShape 10">
            <a:extLst>
              <a:ext uri="{FF2B5EF4-FFF2-40B4-BE49-F238E27FC236}">
                <a16:creationId xmlns:a16="http://schemas.microsoft.com/office/drawing/2014/main" id="{8F353B91-5AC1-0957-B8DF-1BDFB809B01D}"/>
              </a:ext>
            </a:extLst>
          </p:cNvPr>
          <p:cNvSpPr/>
          <p:nvPr/>
        </p:nvSpPr>
        <p:spPr>
          <a:xfrm>
            <a:off x="8260919" y="2930400"/>
            <a:ext cx="409680" cy="33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0" strike="noStrike" spc="-1">
                <a:solidFill>
                  <a:srgbClr val="000000"/>
                </a:solidFill>
                <a:latin typeface="Verdana"/>
                <a:ea typeface="ＭＳ Ｐゴシック"/>
              </a:rPr>
              <a:t>in</a:t>
            </a:r>
            <a:r>
              <a:rPr lang="en-US" sz="1400" b="0" strike="noStrike" spc="-1" baseline="-25000">
                <a:solidFill>
                  <a:srgbClr val="000000"/>
                </a:solidFill>
                <a:latin typeface="Verdana"/>
                <a:ea typeface="ＭＳ Ｐゴシック"/>
              </a:rPr>
              <a:t>0</a:t>
            </a:r>
            <a:endParaRPr lang="en-US" sz="1400" b="0" strike="noStrike" spc="-1">
              <a:latin typeface="Arial"/>
            </a:endParaRPr>
          </a:p>
        </p:txBody>
      </p:sp>
      <p:sp>
        <p:nvSpPr>
          <p:cNvPr id="13" name="CustomShape 11">
            <a:extLst>
              <a:ext uri="{FF2B5EF4-FFF2-40B4-BE49-F238E27FC236}">
                <a16:creationId xmlns:a16="http://schemas.microsoft.com/office/drawing/2014/main" id="{C3A14805-3E60-72C4-D5D7-23326DC374F5}"/>
              </a:ext>
            </a:extLst>
          </p:cNvPr>
          <p:cNvSpPr/>
          <p:nvPr/>
        </p:nvSpPr>
        <p:spPr>
          <a:xfrm>
            <a:off x="8152919" y="3693240"/>
            <a:ext cx="513360" cy="33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0" strike="noStrike" spc="-1">
                <a:solidFill>
                  <a:srgbClr val="000000"/>
                </a:solidFill>
                <a:latin typeface="Verdana"/>
                <a:ea typeface="ＭＳ Ｐゴシック"/>
              </a:rPr>
              <a:t>in</a:t>
            </a:r>
            <a:r>
              <a:rPr lang="en-US" sz="1400" b="0" strike="noStrike" spc="-1" baseline="-25000">
                <a:solidFill>
                  <a:srgbClr val="000000"/>
                </a:solidFill>
                <a:latin typeface="Verdana"/>
                <a:ea typeface="ＭＳ Ｐゴシック"/>
              </a:rPr>
              <a:t>n-1</a:t>
            </a:r>
            <a:endParaRPr lang="en-US" sz="1400" b="0" strike="noStrike" spc="-1">
              <a:latin typeface="Arial"/>
            </a:endParaRPr>
          </a:p>
        </p:txBody>
      </p:sp>
      <p:sp>
        <p:nvSpPr>
          <p:cNvPr id="14" name="CustomShape 12">
            <a:extLst>
              <a:ext uri="{FF2B5EF4-FFF2-40B4-BE49-F238E27FC236}">
                <a16:creationId xmlns:a16="http://schemas.microsoft.com/office/drawing/2014/main" id="{7119830F-2131-3763-4307-B9E58D0BB2E0}"/>
              </a:ext>
            </a:extLst>
          </p:cNvPr>
          <p:cNvSpPr/>
          <p:nvPr/>
        </p:nvSpPr>
        <p:spPr>
          <a:xfrm>
            <a:off x="10463039" y="3311280"/>
            <a:ext cx="47376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0" strike="noStrike" spc="-1">
                <a:solidFill>
                  <a:srgbClr val="000000"/>
                </a:solidFill>
                <a:latin typeface="Verdana"/>
                <a:ea typeface="ＭＳ Ｐゴシック"/>
              </a:rPr>
              <a:t>out</a:t>
            </a:r>
            <a:endParaRPr lang="en-US" sz="1400" b="0" strike="noStrike" spc="-1">
              <a:latin typeface="Arial"/>
            </a:endParaRPr>
          </a:p>
        </p:txBody>
      </p:sp>
      <p:sp>
        <p:nvSpPr>
          <p:cNvPr id="15" name="CustomShape 13">
            <a:extLst>
              <a:ext uri="{FF2B5EF4-FFF2-40B4-BE49-F238E27FC236}">
                <a16:creationId xmlns:a16="http://schemas.microsoft.com/office/drawing/2014/main" id="{D0C590F1-5325-7A24-1FA7-1103806485EC}"/>
              </a:ext>
            </a:extLst>
          </p:cNvPr>
          <p:cNvSpPr/>
          <p:nvPr/>
        </p:nvSpPr>
        <p:spPr>
          <a:xfrm>
            <a:off x="9591839" y="2264040"/>
            <a:ext cx="82872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0" strike="noStrike" spc="-1">
                <a:solidFill>
                  <a:srgbClr val="000000"/>
                </a:solidFill>
                <a:latin typeface="Verdana"/>
                <a:ea typeface="ＭＳ Ｐゴシック"/>
              </a:rPr>
              <a:t>Control</a:t>
            </a:r>
            <a:endParaRPr lang="en-US" sz="1400" b="0" strike="noStrike" spc="-1">
              <a:latin typeface="Arial"/>
            </a:endParaRPr>
          </a:p>
        </p:txBody>
      </p:sp>
      <p:sp>
        <p:nvSpPr>
          <p:cNvPr id="16" name="CustomShape 14">
            <a:extLst>
              <a:ext uri="{FF2B5EF4-FFF2-40B4-BE49-F238E27FC236}">
                <a16:creationId xmlns:a16="http://schemas.microsoft.com/office/drawing/2014/main" id="{D65453A2-1867-CB2C-EFC5-5E1E5DFDA99C}"/>
              </a:ext>
            </a:extLst>
          </p:cNvPr>
          <p:cNvSpPr/>
          <p:nvPr/>
        </p:nvSpPr>
        <p:spPr>
          <a:xfrm>
            <a:off x="9187199" y="2518560"/>
            <a:ext cx="35496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0" strike="noStrike" spc="-1">
                <a:solidFill>
                  <a:srgbClr val="000000"/>
                </a:solidFill>
                <a:latin typeface="Verdana"/>
                <a:ea typeface="ＭＳ Ｐゴシック"/>
              </a:rPr>
              <a:t>m</a:t>
            </a:r>
            <a:endParaRPr lang="en-US" sz="1400" b="0" strike="noStrike" spc="-1">
              <a:latin typeface="Arial"/>
            </a:endParaRPr>
          </a:p>
        </p:txBody>
      </p:sp>
      <p:sp>
        <p:nvSpPr>
          <p:cNvPr id="17" name="CustomShape 15">
            <a:extLst>
              <a:ext uri="{FF2B5EF4-FFF2-40B4-BE49-F238E27FC236}">
                <a16:creationId xmlns:a16="http://schemas.microsoft.com/office/drawing/2014/main" id="{002C21F7-294E-8ABE-5DD6-6F7B69A3BDDA}"/>
              </a:ext>
            </a:extLst>
          </p:cNvPr>
          <p:cNvSpPr/>
          <p:nvPr/>
        </p:nvSpPr>
        <p:spPr>
          <a:xfrm>
            <a:off x="8799479" y="3153960"/>
            <a:ext cx="248040" cy="7290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000000"/>
                </a:solidFill>
                <a:latin typeface="Verdana"/>
                <a:ea typeface="ＭＳ Ｐゴシック"/>
              </a:rPr>
              <a:t>.</a:t>
            </a:r>
            <a:endParaRPr lang="en-US" sz="1400" b="0" strike="noStrike" spc="-1">
              <a:latin typeface="Arial"/>
            </a:endParaRPr>
          </a:p>
          <a:p>
            <a:pPr algn="ctr">
              <a:lnSpc>
                <a:spcPct val="100000"/>
              </a:lnSpc>
            </a:pPr>
            <a:r>
              <a:rPr lang="en-US" sz="1400" b="1" strike="noStrike" spc="-1">
                <a:solidFill>
                  <a:srgbClr val="000000"/>
                </a:solidFill>
                <a:latin typeface="Verdana"/>
                <a:ea typeface="ＭＳ Ｐゴシック"/>
              </a:rPr>
              <a:t>.</a:t>
            </a:r>
            <a:endParaRPr lang="en-US" sz="1400" b="0" strike="noStrike" spc="-1">
              <a:latin typeface="Arial"/>
            </a:endParaRPr>
          </a:p>
          <a:p>
            <a:pPr algn="ctr">
              <a:lnSpc>
                <a:spcPct val="100000"/>
              </a:lnSpc>
            </a:pPr>
            <a:r>
              <a:rPr lang="en-US" sz="1400" b="1" strike="noStrike" spc="-1">
                <a:solidFill>
                  <a:srgbClr val="000000"/>
                </a:solidFill>
                <a:latin typeface="Verdana"/>
                <a:ea typeface="ＭＳ Ｐゴシック"/>
              </a:rPr>
              <a:t>.</a:t>
            </a:r>
            <a:endParaRPr lang="en-US" sz="1400" b="0" strike="noStrike" spc="-1">
              <a:latin typeface="Arial"/>
            </a:endParaRPr>
          </a:p>
        </p:txBody>
      </p:sp>
      <p:sp>
        <p:nvSpPr>
          <p:cNvPr id="18" name="CustomShape 16">
            <a:extLst>
              <a:ext uri="{FF2B5EF4-FFF2-40B4-BE49-F238E27FC236}">
                <a16:creationId xmlns:a16="http://schemas.microsoft.com/office/drawing/2014/main" id="{83C67384-B346-0EAC-E033-A64E67802523}"/>
              </a:ext>
            </a:extLst>
          </p:cNvPr>
          <p:cNvSpPr/>
          <p:nvPr/>
        </p:nvSpPr>
        <p:spPr>
          <a:xfrm>
            <a:off x="9369359" y="2767680"/>
            <a:ext cx="419400" cy="1322640"/>
          </a:xfrm>
          <a:prstGeom prst="roundRect">
            <a:avLst>
              <a:gd name="adj" fmla="val 16667"/>
            </a:avLst>
          </a:prstGeom>
          <a:solidFill>
            <a:schemeClr val="accent1">
              <a:lumMod val="20000"/>
              <a:lumOff val="80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1" strike="noStrike" spc="-1">
                <a:solidFill>
                  <a:srgbClr val="000000"/>
                </a:solidFill>
                <a:latin typeface="Times New Roman"/>
                <a:ea typeface="ＭＳ Ｐゴシック"/>
              </a:rPr>
              <a:t>MUX</a:t>
            </a:r>
            <a:endParaRPr lang="en-US" sz="1800" b="0" strike="noStrike" spc="-1">
              <a:latin typeface="Arial"/>
            </a:endParaRPr>
          </a:p>
        </p:txBody>
      </p:sp>
    </p:spTree>
    <p:extLst>
      <p:ext uri="{BB962C8B-B14F-4D97-AF65-F5344CB8AC3E}">
        <p14:creationId xmlns:p14="http://schemas.microsoft.com/office/powerpoint/2010/main" val="18743251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Giải mã: g</a:t>
            </a:r>
            <a:r>
              <a:rPr lang="en-US" sz="4000"/>
              <a:t>iải pháp cho ngõ “Toán hạng 2”</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29</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3" name="Line 1">
            <a:extLst>
              <a:ext uri="{FF2B5EF4-FFF2-40B4-BE49-F238E27FC236}">
                <a16:creationId xmlns:a16="http://schemas.microsoft.com/office/drawing/2014/main" id="{851A4D34-679F-CB3A-BA51-CEF053F14DA8}"/>
              </a:ext>
            </a:extLst>
          </p:cNvPr>
          <p:cNvSpPr/>
          <p:nvPr/>
        </p:nvSpPr>
        <p:spPr>
          <a:xfrm>
            <a:off x="5803592" y="3784917"/>
            <a:ext cx="360" cy="2217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grpSp>
        <p:nvGrpSpPr>
          <p:cNvPr id="6" name="Group 4">
            <a:extLst>
              <a:ext uri="{FF2B5EF4-FFF2-40B4-BE49-F238E27FC236}">
                <a16:creationId xmlns:a16="http://schemas.microsoft.com/office/drawing/2014/main" id="{7497D8B3-62FE-33BA-3AF0-D2B7824091D9}"/>
              </a:ext>
            </a:extLst>
          </p:cNvPr>
          <p:cNvGrpSpPr/>
          <p:nvPr/>
        </p:nvGrpSpPr>
        <p:grpSpPr>
          <a:xfrm>
            <a:off x="1872392" y="1445637"/>
            <a:ext cx="335520" cy="4228440"/>
            <a:chOff x="1008360" y="1070640"/>
            <a:chExt cx="335520" cy="3401640"/>
          </a:xfrm>
        </p:grpSpPr>
        <p:sp>
          <p:nvSpPr>
            <p:cNvPr id="7" name="CustomShape 5">
              <a:extLst>
                <a:ext uri="{FF2B5EF4-FFF2-40B4-BE49-F238E27FC236}">
                  <a16:creationId xmlns:a16="http://schemas.microsoft.com/office/drawing/2014/main" id="{227CE091-06AC-9640-9AEA-9380EF0EB5EC}"/>
                </a:ext>
              </a:extLst>
            </p:cNvPr>
            <p:cNvSpPr/>
            <p:nvPr/>
          </p:nvSpPr>
          <p:spPr>
            <a:xfrm rot="5400000">
              <a:off x="861120" y="1217520"/>
              <a:ext cx="629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001000</a:t>
              </a:r>
              <a:endParaRPr lang="en-US" sz="1200" b="0" strike="noStrike" spc="-1">
                <a:latin typeface="Arial"/>
              </a:endParaRPr>
            </a:p>
          </p:txBody>
        </p:sp>
        <p:sp>
          <p:nvSpPr>
            <p:cNvPr id="8" name="CustomShape 6">
              <a:extLst>
                <a:ext uri="{FF2B5EF4-FFF2-40B4-BE49-F238E27FC236}">
                  <a16:creationId xmlns:a16="http://schemas.microsoft.com/office/drawing/2014/main" id="{8EAAB3BC-5C14-BA35-E468-13E74F228A72}"/>
                </a:ext>
              </a:extLst>
            </p:cNvPr>
            <p:cNvSpPr/>
            <p:nvPr/>
          </p:nvSpPr>
          <p:spPr>
            <a:xfrm rot="5400000">
              <a:off x="908280" y="180036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10110</a:t>
              </a:r>
              <a:endParaRPr lang="en-US" sz="1200" b="0" strike="noStrike" spc="-1">
                <a:latin typeface="Arial"/>
              </a:endParaRPr>
            </a:p>
          </p:txBody>
        </p:sp>
        <p:sp>
          <p:nvSpPr>
            <p:cNvPr id="9" name="CustomShape 7">
              <a:extLst>
                <a:ext uri="{FF2B5EF4-FFF2-40B4-BE49-F238E27FC236}">
                  <a16:creationId xmlns:a16="http://schemas.microsoft.com/office/drawing/2014/main" id="{F0399676-24F6-182E-6E66-03C64EFC3EF6}"/>
                </a:ext>
              </a:extLst>
            </p:cNvPr>
            <p:cNvSpPr/>
            <p:nvPr/>
          </p:nvSpPr>
          <p:spPr>
            <a:xfrm rot="5400000">
              <a:off x="908280" y="233568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10101</a:t>
              </a:r>
              <a:endParaRPr lang="en-US" sz="1200" b="0" strike="noStrike" spc="-1">
                <a:latin typeface="Arial"/>
              </a:endParaRPr>
            </a:p>
          </p:txBody>
        </p:sp>
        <p:sp>
          <p:nvSpPr>
            <p:cNvPr id="10" name="CustomShape 8">
              <a:extLst>
                <a:ext uri="{FF2B5EF4-FFF2-40B4-BE49-F238E27FC236}">
                  <a16:creationId xmlns:a16="http://schemas.microsoft.com/office/drawing/2014/main" id="{E08A2CF3-1F88-4648-6D97-1B17A3E65A09}"/>
                </a:ext>
              </a:extLst>
            </p:cNvPr>
            <p:cNvSpPr/>
            <p:nvPr/>
          </p:nvSpPr>
          <p:spPr>
            <a:xfrm rot="5400000">
              <a:off x="325440" y="3454200"/>
              <a:ext cx="1700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1111 1111 1100 1110</a:t>
              </a:r>
              <a:endParaRPr lang="en-US" sz="1200" b="0" strike="noStrike" spc="-1">
                <a:latin typeface="Arial"/>
              </a:endParaRPr>
            </a:p>
          </p:txBody>
        </p:sp>
      </p:grpSp>
      <p:sp>
        <p:nvSpPr>
          <p:cNvPr id="11" name="CustomShape 9">
            <a:extLst>
              <a:ext uri="{FF2B5EF4-FFF2-40B4-BE49-F238E27FC236}">
                <a16:creationId xmlns:a16="http://schemas.microsoft.com/office/drawing/2014/main" id="{359BEAC3-04D9-D361-4EB3-965B7DD5E9CB}"/>
              </a:ext>
            </a:extLst>
          </p:cNvPr>
          <p:cNvSpPr/>
          <p:nvPr/>
        </p:nvSpPr>
        <p:spPr>
          <a:xfrm>
            <a:off x="4830872" y="2399277"/>
            <a:ext cx="2073600" cy="149292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2" name="CustomShape 10">
            <a:extLst>
              <a:ext uri="{FF2B5EF4-FFF2-40B4-BE49-F238E27FC236}">
                <a16:creationId xmlns:a16="http://schemas.microsoft.com/office/drawing/2014/main" id="{7E74442B-0336-214B-9427-DE22D4A4BCD5}"/>
              </a:ext>
            </a:extLst>
          </p:cNvPr>
          <p:cNvSpPr/>
          <p:nvPr/>
        </p:nvSpPr>
        <p:spPr>
          <a:xfrm>
            <a:off x="4875152" y="2454357"/>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13" name="CustomShape 11">
            <a:extLst>
              <a:ext uri="{FF2B5EF4-FFF2-40B4-BE49-F238E27FC236}">
                <a16:creationId xmlns:a16="http://schemas.microsoft.com/office/drawing/2014/main" id="{E9FB6F1E-481A-3BF9-8F67-4ECC82BE4F92}"/>
              </a:ext>
            </a:extLst>
          </p:cNvPr>
          <p:cNvSpPr/>
          <p:nvPr/>
        </p:nvSpPr>
        <p:spPr>
          <a:xfrm>
            <a:off x="4875152" y="2822997"/>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14" name="CustomShape 12">
            <a:extLst>
              <a:ext uri="{FF2B5EF4-FFF2-40B4-BE49-F238E27FC236}">
                <a16:creationId xmlns:a16="http://schemas.microsoft.com/office/drawing/2014/main" id="{91E8BB08-616E-74C4-E3E2-6B6E9242DB52}"/>
              </a:ext>
            </a:extLst>
          </p:cNvPr>
          <p:cNvSpPr/>
          <p:nvPr/>
        </p:nvSpPr>
        <p:spPr>
          <a:xfrm>
            <a:off x="4867952" y="3171117"/>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15" name="CustomShape 13">
            <a:extLst>
              <a:ext uri="{FF2B5EF4-FFF2-40B4-BE49-F238E27FC236}">
                <a16:creationId xmlns:a16="http://schemas.microsoft.com/office/drawing/2014/main" id="{8E317519-138B-CADB-77A4-519F82EA69DD}"/>
              </a:ext>
            </a:extLst>
          </p:cNvPr>
          <p:cNvSpPr/>
          <p:nvPr/>
        </p:nvSpPr>
        <p:spPr>
          <a:xfrm>
            <a:off x="4862552" y="3549117"/>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16" name="CustomShape 14">
            <a:extLst>
              <a:ext uri="{FF2B5EF4-FFF2-40B4-BE49-F238E27FC236}">
                <a16:creationId xmlns:a16="http://schemas.microsoft.com/office/drawing/2014/main" id="{22899526-D9F3-8B33-1253-383D8F656B85}"/>
              </a:ext>
            </a:extLst>
          </p:cNvPr>
          <p:cNvSpPr/>
          <p:nvPr/>
        </p:nvSpPr>
        <p:spPr>
          <a:xfrm>
            <a:off x="6238832" y="2501517"/>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17" name="CustomShape 15">
            <a:extLst>
              <a:ext uri="{FF2B5EF4-FFF2-40B4-BE49-F238E27FC236}">
                <a16:creationId xmlns:a16="http://schemas.microsoft.com/office/drawing/2014/main" id="{9A65B0E4-587D-61C3-086B-F3E0A9DDC892}"/>
              </a:ext>
            </a:extLst>
          </p:cNvPr>
          <p:cNvSpPr/>
          <p:nvPr/>
        </p:nvSpPr>
        <p:spPr>
          <a:xfrm>
            <a:off x="6238832" y="3360117"/>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18" name="Line 16">
            <a:extLst>
              <a:ext uri="{FF2B5EF4-FFF2-40B4-BE49-F238E27FC236}">
                <a16:creationId xmlns:a16="http://schemas.microsoft.com/office/drawing/2014/main" id="{24886ECE-369D-CC93-F08E-8141FF0D870D}"/>
              </a:ext>
            </a:extLst>
          </p:cNvPr>
          <p:cNvSpPr/>
          <p:nvPr/>
        </p:nvSpPr>
        <p:spPr>
          <a:xfrm>
            <a:off x="4139672" y="2650917"/>
            <a:ext cx="69120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9" name="Line 17">
            <a:extLst>
              <a:ext uri="{FF2B5EF4-FFF2-40B4-BE49-F238E27FC236}">
                <a16:creationId xmlns:a16="http://schemas.microsoft.com/office/drawing/2014/main" id="{A04D6084-B4AE-2584-CE45-F412C1E29839}"/>
              </a:ext>
            </a:extLst>
          </p:cNvPr>
          <p:cNvSpPr/>
          <p:nvPr/>
        </p:nvSpPr>
        <p:spPr>
          <a:xfrm>
            <a:off x="4139672" y="2965917"/>
            <a:ext cx="691200" cy="133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0" name="Line 18">
            <a:extLst>
              <a:ext uri="{FF2B5EF4-FFF2-40B4-BE49-F238E27FC236}">
                <a16:creationId xmlns:a16="http://schemas.microsoft.com/office/drawing/2014/main" id="{1EE98C0A-0E1F-4665-EDC7-811BFFA353AC}"/>
              </a:ext>
            </a:extLst>
          </p:cNvPr>
          <p:cNvSpPr/>
          <p:nvPr/>
        </p:nvSpPr>
        <p:spPr>
          <a:xfrm flipV="1">
            <a:off x="4223552" y="3337077"/>
            <a:ext cx="607320" cy="68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1" name="Line 19">
            <a:extLst>
              <a:ext uri="{FF2B5EF4-FFF2-40B4-BE49-F238E27FC236}">
                <a16:creationId xmlns:a16="http://schemas.microsoft.com/office/drawing/2014/main" id="{FB4E3414-6853-E9B0-D6F3-316D18F1509A}"/>
              </a:ext>
            </a:extLst>
          </p:cNvPr>
          <p:cNvSpPr/>
          <p:nvPr/>
        </p:nvSpPr>
        <p:spPr>
          <a:xfrm>
            <a:off x="4279352" y="3715437"/>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2" name="Line 20">
            <a:extLst>
              <a:ext uri="{FF2B5EF4-FFF2-40B4-BE49-F238E27FC236}">
                <a16:creationId xmlns:a16="http://schemas.microsoft.com/office/drawing/2014/main" id="{88CED22B-13B0-1DA1-C723-10F4C0F72A83}"/>
              </a:ext>
            </a:extLst>
          </p:cNvPr>
          <p:cNvSpPr/>
          <p:nvPr/>
        </p:nvSpPr>
        <p:spPr>
          <a:xfrm>
            <a:off x="6904832" y="2668197"/>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3" name="Line 21">
            <a:extLst>
              <a:ext uri="{FF2B5EF4-FFF2-40B4-BE49-F238E27FC236}">
                <a16:creationId xmlns:a16="http://schemas.microsoft.com/office/drawing/2014/main" id="{2AC43791-2140-8E69-2BEF-FE381CB7AE22}"/>
              </a:ext>
            </a:extLst>
          </p:cNvPr>
          <p:cNvSpPr/>
          <p:nvPr/>
        </p:nvSpPr>
        <p:spPr>
          <a:xfrm>
            <a:off x="6904832" y="3542277"/>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4" name="Line 22">
            <a:extLst>
              <a:ext uri="{FF2B5EF4-FFF2-40B4-BE49-F238E27FC236}">
                <a16:creationId xmlns:a16="http://schemas.microsoft.com/office/drawing/2014/main" id="{121E7458-A538-45B5-B52A-DCE0006D684D}"/>
              </a:ext>
            </a:extLst>
          </p:cNvPr>
          <p:cNvSpPr/>
          <p:nvPr/>
        </p:nvSpPr>
        <p:spPr>
          <a:xfrm flipH="1">
            <a:off x="4407152" y="2590797"/>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5" name="Line 23">
            <a:extLst>
              <a:ext uri="{FF2B5EF4-FFF2-40B4-BE49-F238E27FC236}">
                <a16:creationId xmlns:a16="http://schemas.microsoft.com/office/drawing/2014/main" id="{B58FDA97-C7E7-C3E2-C341-5A55DCE46845}"/>
              </a:ext>
            </a:extLst>
          </p:cNvPr>
          <p:cNvSpPr/>
          <p:nvPr/>
        </p:nvSpPr>
        <p:spPr>
          <a:xfrm flipH="1">
            <a:off x="4407152" y="2908317"/>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6" name="Line 24">
            <a:extLst>
              <a:ext uri="{FF2B5EF4-FFF2-40B4-BE49-F238E27FC236}">
                <a16:creationId xmlns:a16="http://schemas.microsoft.com/office/drawing/2014/main" id="{FF9A01C9-0EB7-DE7B-D450-34F80CB3F5DB}"/>
              </a:ext>
            </a:extLst>
          </p:cNvPr>
          <p:cNvSpPr/>
          <p:nvPr/>
        </p:nvSpPr>
        <p:spPr>
          <a:xfrm flipH="1">
            <a:off x="4407152" y="3266517"/>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7" name="CustomShape 25">
            <a:extLst>
              <a:ext uri="{FF2B5EF4-FFF2-40B4-BE49-F238E27FC236}">
                <a16:creationId xmlns:a16="http://schemas.microsoft.com/office/drawing/2014/main" id="{F50D3758-0521-3483-A658-1EE97EB7B867}"/>
              </a:ext>
            </a:extLst>
          </p:cNvPr>
          <p:cNvSpPr/>
          <p:nvPr/>
        </p:nvSpPr>
        <p:spPr>
          <a:xfrm>
            <a:off x="4304552" y="2461917"/>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8" name="CustomShape 26">
            <a:extLst>
              <a:ext uri="{FF2B5EF4-FFF2-40B4-BE49-F238E27FC236}">
                <a16:creationId xmlns:a16="http://schemas.microsoft.com/office/drawing/2014/main" id="{3381F9C1-38B5-753D-44E4-91BB5B80578E}"/>
              </a:ext>
            </a:extLst>
          </p:cNvPr>
          <p:cNvSpPr/>
          <p:nvPr/>
        </p:nvSpPr>
        <p:spPr>
          <a:xfrm>
            <a:off x="4271432" y="2793117"/>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9" name="CustomShape 27">
            <a:extLst>
              <a:ext uri="{FF2B5EF4-FFF2-40B4-BE49-F238E27FC236}">
                <a16:creationId xmlns:a16="http://schemas.microsoft.com/office/drawing/2014/main" id="{5228EFC5-D282-2716-1626-3F813991F9A5}"/>
              </a:ext>
            </a:extLst>
          </p:cNvPr>
          <p:cNvSpPr/>
          <p:nvPr/>
        </p:nvSpPr>
        <p:spPr>
          <a:xfrm>
            <a:off x="4271432" y="3171117"/>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0" name="Line 28">
            <a:extLst>
              <a:ext uri="{FF2B5EF4-FFF2-40B4-BE49-F238E27FC236}">
                <a16:creationId xmlns:a16="http://schemas.microsoft.com/office/drawing/2014/main" id="{CF251DAD-D74C-3B7D-92CD-345639C297B8}"/>
              </a:ext>
            </a:extLst>
          </p:cNvPr>
          <p:cNvSpPr/>
          <p:nvPr/>
        </p:nvSpPr>
        <p:spPr>
          <a:xfrm>
            <a:off x="2207552" y="2603397"/>
            <a:ext cx="1932120" cy="47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1" name="Line 29">
            <a:extLst>
              <a:ext uri="{FF2B5EF4-FFF2-40B4-BE49-F238E27FC236}">
                <a16:creationId xmlns:a16="http://schemas.microsoft.com/office/drawing/2014/main" id="{73A49269-E670-255C-3E05-ECE92B85DC07}"/>
              </a:ext>
            </a:extLst>
          </p:cNvPr>
          <p:cNvSpPr/>
          <p:nvPr/>
        </p:nvSpPr>
        <p:spPr>
          <a:xfrm flipV="1">
            <a:off x="2207552" y="2965917"/>
            <a:ext cx="1932120" cy="173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2" name="Line 30">
            <a:extLst>
              <a:ext uri="{FF2B5EF4-FFF2-40B4-BE49-F238E27FC236}">
                <a16:creationId xmlns:a16="http://schemas.microsoft.com/office/drawing/2014/main" id="{F00C8E7A-D0D6-D29B-9F0C-CD3D6A2400AD}"/>
              </a:ext>
            </a:extLst>
          </p:cNvPr>
          <p:cNvSpPr/>
          <p:nvPr/>
        </p:nvSpPr>
        <p:spPr>
          <a:xfrm flipV="1">
            <a:off x="2207552" y="3895077"/>
            <a:ext cx="1260000" cy="1584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3" name="CustomShape 31">
            <a:extLst>
              <a:ext uri="{FF2B5EF4-FFF2-40B4-BE49-F238E27FC236}">
                <a16:creationId xmlns:a16="http://schemas.microsoft.com/office/drawing/2014/main" id="{7C4965FC-3D76-48AD-6489-3CA0ABE6AE1F}"/>
              </a:ext>
            </a:extLst>
          </p:cNvPr>
          <p:cNvSpPr/>
          <p:nvPr/>
        </p:nvSpPr>
        <p:spPr>
          <a:xfrm rot="5400000">
            <a:off x="689131" y="4273497"/>
            <a:ext cx="1700640" cy="587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Immediate</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15:0</a:t>
            </a:r>
            <a:endParaRPr lang="en-US" sz="1200" b="0" strike="noStrike" spc="-1">
              <a:latin typeface="Arial"/>
            </a:endParaRPr>
          </a:p>
        </p:txBody>
      </p:sp>
      <p:grpSp>
        <p:nvGrpSpPr>
          <p:cNvPr id="34" name="Group 32">
            <a:extLst>
              <a:ext uri="{FF2B5EF4-FFF2-40B4-BE49-F238E27FC236}">
                <a16:creationId xmlns:a16="http://schemas.microsoft.com/office/drawing/2014/main" id="{B86B9E22-052A-9CA2-FB9F-3F2B3ADC291B}"/>
              </a:ext>
            </a:extLst>
          </p:cNvPr>
          <p:cNvGrpSpPr/>
          <p:nvPr/>
        </p:nvGrpSpPr>
        <p:grpSpPr>
          <a:xfrm>
            <a:off x="1368392" y="1445413"/>
            <a:ext cx="503640" cy="2103704"/>
            <a:chOff x="504360" y="1070640"/>
            <a:chExt cx="503640" cy="1700640"/>
          </a:xfrm>
        </p:grpSpPr>
        <p:sp>
          <p:nvSpPr>
            <p:cNvPr id="35" name="CustomShape 33">
              <a:extLst>
                <a:ext uri="{FF2B5EF4-FFF2-40B4-BE49-F238E27FC236}">
                  <a16:creationId xmlns:a16="http://schemas.microsoft.com/office/drawing/2014/main" id="{73B45011-755A-9BB4-2C52-99434D1AE7CF}"/>
                </a:ext>
              </a:extLst>
            </p:cNvPr>
            <p:cNvSpPr/>
            <p:nvPr/>
          </p:nvSpPr>
          <p:spPr>
            <a:xfrm rot="5400000">
              <a:off x="441000" y="113364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opcode</a:t>
              </a:r>
              <a:endParaRPr lang="en-US" sz="1200" b="0" strike="noStrike" spc="-1">
                <a:latin typeface="Arial"/>
              </a:endParaRPr>
            </a:p>
            <a:p>
              <a:pPr algn="ctr">
                <a:lnSpc>
                  <a:spcPct val="100000"/>
                </a:lnSpc>
              </a:pPr>
              <a:r>
                <a:rPr lang="en-US" sz="1200" b="1" strike="noStrike" spc="-1">
                  <a:solidFill>
                    <a:srgbClr val="660066"/>
                  </a:solidFill>
                  <a:latin typeface="Courier New"/>
                  <a:ea typeface="ＭＳ Ｐゴシック"/>
                </a:rPr>
                <a:t>31:26</a:t>
              </a:r>
              <a:endParaRPr lang="en-US" sz="1200" b="0" strike="noStrike" spc="-1">
                <a:latin typeface="Arial"/>
              </a:endParaRPr>
            </a:p>
          </p:txBody>
        </p:sp>
        <p:sp>
          <p:nvSpPr>
            <p:cNvPr id="36" name="CustomShape 34">
              <a:extLst>
                <a:ext uri="{FF2B5EF4-FFF2-40B4-BE49-F238E27FC236}">
                  <a16:creationId xmlns:a16="http://schemas.microsoft.com/office/drawing/2014/main" id="{CF9EE2D1-C812-85D7-6987-FF91E2D8CDCB}"/>
                </a:ext>
              </a:extLst>
            </p:cNvPr>
            <p:cNvSpPr/>
            <p:nvPr/>
          </p:nvSpPr>
          <p:spPr>
            <a:xfrm rot="5400000">
              <a:off x="488520" y="171648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rs</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25:21</a:t>
              </a:r>
              <a:endParaRPr lang="en-US" sz="1200" b="0" strike="noStrike" spc="-1">
                <a:latin typeface="Arial"/>
              </a:endParaRPr>
            </a:p>
          </p:txBody>
        </p:sp>
        <p:sp>
          <p:nvSpPr>
            <p:cNvPr id="37" name="CustomShape 35">
              <a:extLst>
                <a:ext uri="{FF2B5EF4-FFF2-40B4-BE49-F238E27FC236}">
                  <a16:creationId xmlns:a16="http://schemas.microsoft.com/office/drawing/2014/main" id="{6E711302-5EA4-BFA2-7EAA-965D806CA11F}"/>
                </a:ext>
              </a:extLst>
            </p:cNvPr>
            <p:cNvSpPr/>
            <p:nvPr/>
          </p:nvSpPr>
          <p:spPr>
            <a:xfrm rot="5400000">
              <a:off x="488520" y="2251800"/>
              <a:ext cx="53496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rt</a:t>
              </a:r>
              <a:endParaRPr lang="en-US" sz="1200" b="0" strike="noStrike" spc="-1">
                <a:latin typeface="Arial"/>
              </a:endParaRPr>
            </a:p>
            <a:p>
              <a:pPr algn="ctr">
                <a:lnSpc>
                  <a:spcPct val="100000"/>
                </a:lnSpc>
              </a:pPr>
              <a:r>
                <a:rPr lang="en-US" sz="1200" b="1" strike="noStrike" spc="-1">
                  <a:solidFill>
                    <a:srgbClr val="C00000"/>
                  </a:solidFill>
                  <a:latin typeface="Courier New"/>
                  <a:ea typeface="ＭＳ Ｐゴシック"/>
                </a:rPr>
                <a:t>20:16</a:t>
              </a:r>
              <a:endParaRPr lang="en-US" sz="1200" b="0" strike="noStrike" spc="-1">
                <a:latin typeface="Arial"/>
              </a:endParaRPr>
            </a:p>
          </p:txBody>
        </p:sp>
      </p:grpSp>
      <p:sp>
        <p:nvSpPr>
          <p:cNvPr id="38" name="CustomShape 36">
            <a:extLst>
              <a:ext uri="{FF2B5EF4-FFF2-40B4-BE49-F238E27FC236}">
                <a16:creationId xmlns:a16="http://schemas.microsoft.com/office/drawing/2014/main" id="{B6A6396E-3695-74FE-AEFD-9DC74C376795}"/>
              </a:ext>
            </a:extLst>
          </p:cNvPr>
          <p:cNvSpPr/>
          <p:nvPr/>
        </p:nvSpPr>
        <p:spPr>
          <a:xfrm>
            <a:off x="2371352" y="2399277"/>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39" name="CustomShape 37">
            <a:extLst>
              <a:ext uri="{FF2B5EF4-FFF2-40B4-BE49-F238E27FC236}">
                <a16:creationId xmlns:a16="http://schemas.microsoft.com/office/drawing/2014/main" id="{1E3223C4-33A9-7A7B-3539-8C288B4D0B41}"/>
              </a:ext>
            </a:extLst>
          </p:cNvPr>
          <p:cNvSpPr/>
          <p:nvPr/>
        </p:nvSpPr>
        <p:spPr>
          <a:xfrm rot="21202800">
            <a:off x="2288552" y="2863677"/>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40" name="CustomShape 38">
            <a:extLst>
              <a:ext uri="{FF2B5EF4-FFF2-40B4-BE49-F238E27FC236}">
                <a16:creationId xmlns:a16="http://schemas.microsoft.com/office/drawing/2014/main" id="{19DB0CAC-FE3C-68ED-FE90-09915DE5E202}"/>
              </a:ext>
            </a:extLst>
          </p:cNvPr>
          <p:cNvSpPr/>
          <p:nvPr/>
        </p:nvSpPr>
        <p:spPr>
          <a:xfrm>
            <a:off x="2287472" y="3706437"/>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41" name="CustomShape 39">
            <a:extLst>
              <a:ext uri="{FF2B5EF4-FFF2-40B4-BE49-F238E27FC236}">
                <a16:creationId xmlns:a16="http://schemas.microsoft.com/office/drawing/2014/main" id="{108DE667-7C34-33C6-CFE9-5D143B8D91C8}"/>
              </a:ext>
            </a:extLst>
          </p:cNvPr>
          <p:cNvSpPr/>
          <p:nvPr/>
        </p:nvSpPr>
        <p:spPr>
          <a:xfrm>
            <a:off x="3467912" y="3280917"/>
            <a:ext cx="335880" cy="755640"/>
          </a:xfrm>
          <a:prstGeom prst="roundRect">
            <a:avLst>
              <a:gd name="adj" fmla="val 16667"/>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42" name="CustomShape 40">
            <a:extLst>
              <a:ext uri="{FF2B5EF4-FFF2-40B4-BE49-F238E27FC236}">
                <a16:creationId xmlns:a16="http://schemas.microsoft.com/office/drawing/2014/main" id="{4D27B689-DEBD-51F9-D4E7-A2ED67B9D15D}"/>
              </a:ext>
            </a:extLst>
          </p:cNvPr>
          <p:cNvSpPr/>
          <p:nvPr/>
        </p:nvSpPr>
        <p:spPr>
          <a:xfrm rot="16200000" flipH="1">
            <a:off x="2908472" y="2973837"/>
            <a:ext cx="468360" cy="649080"/>
          </a:xfrm>
          <a:prstGeom prst="bentConnector2">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3" name="Line 41">
            <a:extLst>
              <a:ext uri="{FF2B5EF4-FFF2-40B4-BE49-F238E27FC236}">
                <a16:creationId xmlns:a16="http://schemas.microsoft.com/office/drawing/2014/main" id="{AD9B4371-FC24-0FB1-9C82-4A24F0B760C7}"/>
              </a:ext>
            </a:extLst>
          </p:cNvPr>
          <p:cNvSpPr/>
          <p:nvPr/>
        </p:nvSpPr>
        <p:spPr>
          <a:xfrm flipV="1">
            <a:off x="3803792" y="3343917"/>
            <a:ext cx="420120" cy="31536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4" name="CustomShape 42">
            <a:extLst>
              <a:ext uri="{FF2B5EF4-FFF2-40B4-BE49-F238E27FC236}">
                <a16:creationId xmlns:a16="http://schemas.microsoft.com/office/drawing/2014/main" id="{65E84041-9C90-D4BF-5AF1-D50BDA435DB0}"/>
              </a:ext>
            </a:extLst>
          </p:cNvPr>
          <p:cNvSpPr/>
          <p:nvPr/>
        </p:nvSpPr>
        <p:spPr>
          <a:xfrm>
            <a:off x="3185312" y="4162917"/>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RegDst</a:t>
            </a:r>
            <a:endParaRPr lang="en-US" sz="1600" b="0" strike="noStrike" spc="-1">
              <a:latin typeface="Arial"/>
            </a:endParaRPr>
          </a:p>
        </p:txBody>
      </p:sp>
      <p:sp>
        <p:nvSpPr>
          <p:cNvPr id="45" name="Line 43">
            <a:extLst>
              <a:ext uri="{FF2B5EF4-FFF2-40B4-BE49-F238E27FC236}">
                <a16:creationId xmlns:a16="http://schemas.microsoft.com/office/drawing/2014/main" id="{9EB1D310-B4E0-FD08-3024-FFFB42FBDE06}"/>
              </a:ext>
            </a:extLst>
          </p:cNvPr>
          <p:cNvSpPr/>
          <p:nvPr/>
        </p:nvSpPr>
        <p:spPr>
          <a:xfrm>
            <a:off x="3635672" y="4036917"/>
            <a:ext cx="360" cy="22176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6" name="CustomShape 44">
            <a:extLst>
              <a:ext uri="{FF2B5EF4-FFF2-40B4-BE49-F238E27FC236}">
                <a16:creationId xmlns:a16="http://schemas.microsoft.com/office/drawing/2014/main" id="{3FED1286-48E5-2525-EBFE-0EF9C2025F1F}"/>
              </a:ext>
            </a:extLst>
          </p:cNvPr>
          <p:cNvSpPr/>
          <p:nvPr/>
        </p:nvSpPr>
        <p:spPr>
          <a:xfrm flipV="1">
            <a:off x="6071432" y="4020717"/>
            <a:ext cx="1931760" cy="614160"/>
          </a:xfrm>
          <a:prstGeom prst="bentConnector3">
            <a:avLst>
              <a:gd name="adj1" fmla="val 62797"/>
            </a:avLst>
          </a:prstGeom>
          <a:noFill/>
          <a:ln w="22320">
            <a:solidFill>
              <a:srgbClr val="C00000"/>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7" name="CustomShape 45">
            <a:extLst>
              <a:ext uri="{FF2B5EF4-FFF2-40B4-BE49-F238E27FC236}">
                <a16:creationId xmlns:a16="http://schemas.microsoft.com/office/drawing/2014/main" id="{8DAA658E-B1BD-8F5B-7276-94174F885815}"/>
              </a:ext>
            </a:extLst>
          </p:cNvPr>
          <p:cNvSpPr/>
          <p:nvPr/>
        </p:nvSpPr>
        <p:spPr>
          <a:xfrm>
            <a:off x="2286392" y="4478277"/>
            <a:ext cx="9295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[15:0]</a:t>
            </a:r>
            <a:endParaRPr lang="en-US" sz="1000" b="0" strike="noStrike" spc="-1">
              <a:latin typeface="Arial"/>
            </a:endParaRPr>
          </a:p>
        </p:txBody>
      </p:sp>
      <p:sp>
        <p:nvSpPr>
          <p:cNvPr id="48" name="CustomShape 46">
            <a:extLst>
              <a:ext uri="{FF2B5EF4-FFF2-40B4-BE49-F238E27FC236}">
                <a16:creationId xmlns:a16="http://schemas.microsoft.com/office/drawing/2014/main" id="{6C9E2D80-45BB-6580-3C5B-C9509D6A53F7}"/>
              </a:ext>
            </a:extLst>
          </p:cNvPr>
          <p:cNvSpPr/>
          <p:nvPr/>
        </p:nvSpPr>
        <p:spPr>
          <a:xfrm>
            <a:off x="8004272" y="3407277"/>
            <a:ext cx="335520" cy="755640"/>
          </a:xfrm>
          <a:prstGeom prst="roundRect">
            <a:avLst>
              <a:gd name="adj" fmla="val 16667"/>
            </a:avLst>
          </a:prstGeom>
          <a:solidFill>
            <a:schemeClr val="accent1">
              <a:lumMod val="20000"/>
              <a:lumOff val="80000"/>
            </a:schemeClr>
          </a:solid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49" name="CustomShape 47">
            <a:extLst>
              <a:ext uri="{FF2B5EF4-FFF2-40B4-BE49-F238E27FC236}">
                <a16:creationId xmlns:a16="http://schemas.microsoft.com/office/drawing/2014/main" id="{53F9755D-D96A-11C7-5D21-2F7D573A1E57}"/>
              </a:ext>
            </a:extLst>
          </p:cNvPr>
          <p:cNvSpPr/>
          <p:nvPr/>
        </p:nvSpPr>
        <p:spPr>
          <a:xfrm>
            <a:off x="7759472" y="4351917"/>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ALUSrc</a:t>
            </a:r>
            <a:endParaRPr lang="en-US" sz="1600" b="0" strike="noStrike" spc="-1">
              <a:latin typeface="Arial"/>
            </a:endParaRPr>
          </a:p>
        </p:txBody>
      </p:sp>
      <p:sp>
        <p:nvSpPr>
          <p:cNvPr id="50" name="Line 48">
            <a:extLst>
              <a:ext uri="{FF2B5EF4-FFF2-40B4-BE49-F238E27FC236}">
                <a16:creationId xmlns:a16="http://schemas.microsoft.com/office/drawing/2014/main" id="{C57649A9-4054-B986-E478-26FAB4648D69}"/>
              </a:ext>
            </a:extLst>
          </p:cNvPr>
          <p:cNvSpPr/>
          <p:nvPr/>
        </p:nvSpPr>
        <p:spPr>
          <a:xfrm>
            <a:off x="8172032" y="4162917"/>
            <a:ext cx="360" cy="221760"/>
          </a:xfrm>
          <a:prstGeom prst="line">
            <a:avLst/>
          </a:prstGeom>
          <a:ln w="19080">
            <a:solidFill>
              <a:srgbClr val="C00000"/>
            </a:solidFill>
            <a:round/>
          </a:ln>
        </p:spPr>
        <p:style>
          <a:lnRef idx="0">
            <a:scrgbClr r="0" g="0" b="0"/>
          </a:lnRef>
          <a:fillRef idx="0">
            <a:scrgbClr r="0" g="0" b="0"/>
          </a:fillRef>
          <a:effectRef idx="0">
            <a:scrgbClr r="0" g="0" b="0"/>
          </a:effectRef>
          <a:fontRef idx="minor"/>
        </p:style>
        <p:txBody>
          <a:bodyPr/>
          <a:lstStyle/>
          <a:p>
            <a:endParaRPr lang="vi-VN"/>
          </a:p>
        </p:txBody>
      </p:sp>
      <p:sp>
        <p:nvSpPr>
          <p:cNvPr id="51" name="Line 49">
            <a:extLst>
              <a:ext uri="{FF2B5EF4-FFF2-40B4-BE49-F238E27FC236}">
                <a16:creationId xmlns:a16="http://schemas.microsoft.com/office/drawing/2014/main" id="{3DBA7036-6CB9-B83A-15EA-39AC57E4D101}"/>
              </a:ext>
            </a:extLst>
          </p:cNvPr>
          <p:cNvSpPr/>
          <p:nvPr/>
        </p:nvSpPr>
        <p:spPr>
          <a:xfrm>
            <a:off x="2207552" y="4666917"/>
            <a:ext cx="2604240" cy="0"/>
          </a:xfrm>
          <a:prstGeom prst="line">
            <a:avLst/>
          </a:prstGeom>
          <a:ln w="22320">
            <a:solidFill>
              <a:srgbClr val="C00000"/>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52" name="Line 50">
            <a:extLst>
              <a:ext uri="{FF2B5EF4-FFF2-40B4-BE49-F238E27FC236}">
                <a16:creationId xmlns:a16="http://schemas.microsoft.com/office/drawing/2014/main" id="{2C7B8083-1FB3-5789-5955-9A95897180B9}"/>
              </a:ext>
            </a:extLst>
          </p:cNvPr>
          <p:cNvSpPr/>
          <p:nvPr/>
        </p:nvSpPr>
        <p:spPr>
          <a:xfrm>
            <a:off x="8339792" y="3784917"/>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53" name="CustomShape 51">
            <a:extLst>
              <a:ext uri="{FF2B5EF4-FFF2-40B4-BE49-F238E27FC236}">
                <a16:creationId xmlns:a16="http://schemas.microsoft.com/office/drawing/2014/main" id="{4C2B636F-D190-982C-538A-5211EEECD879}"/>
              </a:ext>
            </a:extLst>
          </p:cNvPr>
          <p:cNvSpPr/>
          <p:nvPr/>
        </p:nvSpPr>
        <p:spPr>
          <a:xfrm>
            <a:off x="5314712" y="3992637"/>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sp>
        <p:nvSpPr>
          <p:cNvPr id="54" name="CustomShape 52">
            <a:extLst>
              <a:ext uri="{FF2B5EF4-FFF2-40B4-BE49-F238E27FC236}">
                <a16:creationId xmlns:a16="http://schemas.microsoft.com/office/drawing/2014/main" id="{C19976F3-0DEC-3AA8-865B-05E3C82D7CDE}"/>
              </a:ext>
            </a:extLst>
          </p:cNvPr>
          <p:cNvSpPr/>
          <p:nvPr/>
        </p:nvSpPr>
        <p:spPr>
          <a:xfrm>
            <a:off x="4811792" y="4414917"/>
            <a:ext cx="1259640" cy="441000"/>
          </a:xfrm>
          <a:prstGeom prst="ellipse">
            <a:avLst/>
          </a:prstGeom>
          <a:solidFill>
            <a:schemeClr val="accent1">
              <a:lumMod val="20000"/>
              <a:lumOff val="80000"/>
            </a:schemeClr>
          </a:solidFill>
          <a:ln w="22320">
            <a:solidFill>
              <a:srgbClr val="C00000"/>
            </a:solidFill>
            <a:round/>
          </a:ln>
        </p:spPr>
        <p:style>
          <a:lnRef idx="1">
            <a:schemeClr val="accent1"/>
          </a:lnRef>
          <a:fillRef idx="0">
            <a:schemeClr val="accent1"/>
          </a:fillRef>
          <a:effectRef idx="0">
            <a:schemeClr val="accent1"/>
          </a:effectRef>
          <a:fontRef idx="minor"/>
        </p:style>
        <p:txBody>
          <a:bodyPr lIns="90000" tIns="45000" rIns="90000" bIns="45000" anchor="ctr"/>
          <a:lstStyle/>
          <a:p>
            <a:pPr algn="ctr">
              <a:lnSpc>
                <a:spcPct val="100000"/>
              </a:lnSpc>
            </a:pPr>
            <a:r>
              <a:rPr lang="en-US" sz="1400" b="1" strike="noStrike" spc="-1">
                <a:solidFill>
                  <a:srgbClr val="C00000"/>
                </a:solidFill>
                <a:latin typeface="Times New Roman"/>
                <a:ea typeface="ＭＳ Ｐゴシック"/>
              </a:rPr>
              <a:t>Sign Extend</a:t>
            </a:r>
            <a:endParaRPr lang="en-US" sz="1400" b="0" strike="noStrike" spc="-1">
              <a:latin typeface="Arial"/>
            </a:endParaRPr>
          </a:p>
        </p:txBody>
      </p:sp>
      <p:sp>
        <p:nvSpPr>
          <p:cNvPr id="55" name="Line 53">
            <a:extLst>
              <a:ext uri="{FF2B5EF4-FFF2-40B4-BE49-F238E27FC236}">
                <a16:creationId xmlns:a16="http://schemas.microsoft.com/office/drawing/2014/main" id="{6CE08DAC-504D-B0C6-92F8-336408501453}"/>
              </a:ext>
            </a:extLst>
          </p:cNvPr>
          <p:cNvSpPr/>
          <p:nvPr/>
        </p:nvSpPr>
        <p:spPr>
          <a:xfrm flipH="1">
            <a:off x="4431992" y="4589517"/>
            <a:ext cx="127800" cy="140400"/>
          </a:xfrm>
          <a:prstGeom prst="line">
            <a:avLst/>
          </a:prstGeom>
          <a:ln w="22320">
            <a:solidFill>
              <a:srgbClr val="C00000"/>
            </a:solidFill>
            <a:round/>
          </a:ln>
        </p:spPr>
        <p:style>
          <a:lnRef idx="0">
            <a:scrgbClr r="0" g="0" b="0"/>
          </a:lnRef>
          <a:fillRef idx="0">
            <a:scrgbClr r="0" g="0" b="0"/>
          </a:fillRef>
          <a:effectRef idx="0">
            <a:scrgbClr r="0" g="0" b="0"/>
          </a:effectRef>
          <a:fontRef idx="minor"/>
        </p:style>
        <p:txBody>
          <a:bodyPr/>
          <a:lstStyle/>
          <a:p>
            <a:endParaRPr lang="vi-VN"/>
          </a:p>
        </p:txBody>
      </p:sp>
      <p:sp>
        <p:nvSpPr>
          <p:cNvPr id="56" name="CustomShape 54">
            <a:extLst>
              <a:ext uri="{FF2B5EF4-FFF2-40B4-BE49-F238E27FC236}">
                <a16:creationId xmlns:a16="http://schemas.microsoft.com/office/drawing/2014/main" id="{325D3C7F-2A01-7A69-9453-9CDAFC47634F}"/>
              </a:ext>
            </a:extLst>
          </p:cNvPr>
          <p:cNvSpPr/>
          <p:nvPr/>
        </p:nvSpPr>
        <p:spPr>
          <a:xfrm>
            <a:off x="4196192" y="4494117"/>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16</a:t>
            </a:r>
            <a:endParaRPr lang="en-US" sz="1000" b="0" strike="noStrike" spc="-1">
              <a:latin typeface="Arial"/>
            </a:endParaRPr>
          </a:p>
        </p:txBody>
      </p:sp>
      <p:sp>
        <p:nvSpPr>
          <p:cNvPr id="57" name="CustomShape 55">
            <a:extLst>
              <a:ext uri="{FF2B5EF4-FFF2-40B4-BE49-F238E27FC236}">
                <a16:creationId xmlns:a16="http://schemas.microsoft.com/office/drawing/2014/main" id="{4E25E180-893B-F90C-BC41-EE7C47ABC383}"/>
              </a:ext>
            </a:extLst>
          </p:cNvPr>
          <p:cNvSpPr/>
          <p:nvPr/>
        </p:nvSpPr>
        <p:spPr>
          <a:xfrm>
            <a:off x="6161432" y="4463877"/>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32</a:t>
            </a:r>
            <a:endParaRPr lang="en-US" sz="1000" b="0" strike="noStrike" spc="-1">
              <a:latin typeface="Arial"/>
            </a:endParaRPr>
          </a:p>
        </p:txBody>
      </p:sp>
      <p:sp>
        <p:nvSpPr>
          <p:cNvPr id="58" name="Line 56">
            <a:extLst>
              <a:ext uri="{FF2B5EF4-FFF2-40B4-BE49-F238E27FC236}">
                <a16:creationId xmlns:a16="http://schemas.microsoft.com/office/drawing/2014/main" id="{EE354A68-8D5D-84D3-2865-4E872622C70F}"/>
              </a:ext>
            </a:extLst>
          </p:cNvPr>
          <p:cNvSpPr/>
          <p:nvPr/>
        </p:nvSpPr>
        <p:spPr>
          <a:xfrm flipH="1">
            <a:off x="6410552" y="4561797"/>
            <a:ext cx="127800" cy="140400"/>
          </a:xfrm>
          <a:prstGeom prst="line">
            <a:avLst/>
          </a:prstGeom>
          <a:ln w="22320">
            <a:solidFill>
              <a:srgbClr val="C00000"/>
            </a:solidFill>
            <a:round/>
          </a:ln>
        </p:spPr>
        <p:style>
          <a:lnRef idx="0">
            <a:scrgbClr r="0" g="0" b="0"/>
          </a:lnRef>
          <a:fillRef idx="0">
            <a:scrgbClr r="0" g="0" b="0"/>
          </a:fillRef>
          <a:effectRef idx="0">
            <a:scrgbClr r="0" g="0" b="0"/>
          </a:effectRef>
          <a:fontRef idx="minor"/>
        </p:style>
        <p:txBody>
          <a:bodyPr/>
          <a:lstStyle/>
          <a:p>
            <a:endParaRPr lang="vi-VN"/>
          </a:p>
        </p:txBody>
      </p:sp>
      <p:sp>
        <p:nvSpPr>
          <p:cNvPr id="59" name="CustomShape 57">
            <a:extLst>
              <a:ext uri="{FF2B5EF4-FFF2-40B4-BE49-F238E27FC236}">
                <a16:creationId xmlns:a16="http://schemas.microsoft.com/office/drawing/2014/main" id="{D2BE5264-12D4-94FB-5EB7-0778A05DF470}"/>
              </a:ext>
            </a:extLst>
          </p:cNvPr>
          <p:cNvSpPr/>
          <p:nvPr/>
        </p:nvSpPr>
        <p:spPr>
          <a:xfrm>
            <a:off x="5913392" y="2966277"/>
            <a:ext cx="90648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C00000"/>
                </a:solidFill>
                <a:latin typeface="Verdana"/>
                <a:ea typeface="ＭＳ Ｐゴシック"/>
              </a:rPr>
              <a:t>Register</a:t>
            </a:r>
            <a:endParaRPr lang="en-US" sz="1200" b="0" strike="noStrike" spc="-1">
              <a:latin typeface="Arial"/>
            </a:endParaRPr>
          </a:p>
          <a:p>
            <a:pPr algn="ctr">
              <a:lnSpc>
                <a:spcPct val="100000"/>
              </a:lnSpc>
            </a:pPr>
            <a:r>
              <a:rPr lang="en-US" sz="1200" b="1" i="1" strike="noStrike" spc="-1">
                <a:solidFill>
                  <a:srgbClr val="C00000"/>
                </a:solidFill>
                <a:latin typeface="Verdana"/>
                <a:ea typeface="ＭＳ Ｐゴシック"/>
              </a:rPr>
              <a:t>File</a:t>
            </a:r>
            <a:endParaRPr lang="en-US" sz="1200" b="0" strike="noStrike" spc="-1">
              <a:latin typeface="Arial"/>
            </a:endParaRPr>
          </a:p>
        </p:txBody>
      </p:sp>
      <p:sp>
        <p:nvSpPr>
          <p:cNvPr id="60" name="CustomShape 58">
            <a:extLst>
              <a:ext uri="{FF2B5EF4-FFF2-40B4-BE49-F238E27FC236}">
                <a16:creationId xmlns:a16="http://schemas.microsoft.com/office/drawing/2014/main" id="{8E12BDEB-89D0-6ECF-E0F3-BACFCABDB5C0}"/>
              </a:ext>
            </a:extLst>
          </p:cNvPr>
          <p:cNvSpPr/>
          <p:nvPr/>
        </p:nvSpPr>
        <p:spPr>
          <a:xfrm>
            <a:off x="8843432" y="3943317"/>
            <a:ext cx="1931760" cy="1668240"/>
          </a:xfrm>
          <a:prstGeom prst="roundRect">
            <a:avLst>
              <a:gd name="adj" fmla="val 16667"/>
            </a:avLst>
          </a:prstGeom>
          <a:solidFill>
            <a:schemeClr val="bg1"/>
          </a:solidFill>
          <a:ln w="15840">
            <a:solidFill>
              <a:schemeClr val="tx1"/>
            </a:solidFill>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660066"/>
                </a:solidFill>
                <a:latin typeface="Courier New"/>
                <a:ea typeface="ＭＳ Ｐゴシック"/>
              </a:rPr>
              <a:t>ALUSrc</a:t>
            </a:r>
            <a:r>
              <a:rPr lang="en-US" sz="1600" b="1" strike="noStrike" spc="-1">
                <a:solidFill>
                  <a:srgbClr val="000000"/>
                </a:solidFill>
                <a:latin typeface="Times New Roman"/>
                <a:ea typeface="ＭＳ Ｐゴシック"/>
              </a:rPr>
              <a:t>:</a:t>
            </a:r>
            <a:endParaRPr lang="en-US" sz="1600" b="0" strike="noStrike" spc="-1">
              <a:latin typeface="Arial"/>
            </a:endParaRPr>
          </a:p>
          <a:p>
            <a:pPr algn="ctr">
              <a:lnSpc>
                <a:spcPct val="100000"/>
              </a:lnSpc>
            </a:pPr>
            <a:r>
              <a:rPr lang="en-US" sz="1400" b="0" strike="noStrike" spc="-1">
                <a:solidFill>
                  <a:srgbClr val="000000"/>
                </a:solidFill>
                <a:latin typeface="Times New Roman"/>
                <a:ea typeface="ＭＳ Ｐゴシック"/>
              </a:rPr>
              <a:t>Tín hiệu điều khiển để chọn “Read data 2” hay giá trị của Inst[15:0] (đã được mở rộng có dấu) cho toán hạng thứ hai</a:t>
            </a:r>
            <a:endParaRPr lang="en-US" sz="1400" b="0" strike="noStrike" spc="-1">
              <a:latin typeface="Arial"/>
            </a:endParaRPr>
          </a:p>
          <a:p>
            <a:pPr algn="ctr">
              <a:lnSpc>
                <a:spcPct val="100000"/>
              </a:lnSpc>
            </a:pPr>
            <a:endParaRPr lang="en-US" sz="1400" b="0" strike="noStrike" spc="-1">
              <a:latin typeface="Arial"/>
            </a:endParaRPr>
          </a:p>
        </p:txBody>
      </p:sp>
      <p:sp>
        <p:nvSpPr>
          <p:cNvPr id="61" name="CustomShape 59">
            <a:extLst>
              <a:ext uri="{FF2B5EF4-FFF2-40B4-BE49-F238E27FC236}">
                <a16:creationId xmlns:a16="http://schemas.microsoft.com/office/drawing/2014/main" id="{36C66C47-A3C0-B775-2226-0FAB11C2EAAE}"/>
              </a:ext>
            </a:extLst>
          </p:cNvPr>
          <p:cNvSpPr/>
          <p:nvPr/>
        </p:nvSpPr>
        <p:spPr>
          <a:xfrm>
            <a:off x="2332112" y="5045276"/>
            <a:ext cx="6339960" cy="1030679"/>
          </a:xfrm>
          <a:prstGeom prst="roundRect">
            <a:avLst>
              <a:gd name="adj" fmla="val 16667"/>
            </a:avLst>
          </a:prstGeom>
          <a:solidFill>
            <a:schemeClr val="accent5">
              <a:lumMod val="20000"/>
              <a:lumOff val="80000"/>
            </a:schemeClr>
          </a:solidFill>
          <a:ln>
            <a:solidFill>
              <a:srgbClr val="0066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2000" b="1" strike="noStrike" spc="-1">
                <a:solidFill>
                  <a:srgbClr val="006600"/>
                </a:solidFill>
                <a:latin typeface="Times New Roman"/>
                <a:ea typeface="ＭＳ Ｐゴシック"/>
              </a:rPr>
              <a:t>Giải pháp (cho đường dữ liệu data 2)</a:t>
            </a:r>
            <a:endParaRPr lang="en-US" sz="2000" b="0" strike="noStrike" spc="-1">
              <a:latin typeface="Arial"/>
            </a:endParaRPr>
          </a:p>
          <a:p>
            <a:pPr algn="ctr">
              <a:lnSpc>
                <a:spcPct val="100000"/>
              </a:lnSpc>
            </a:pPr>
            <a:r>
              <a:rPr lang="en-US" sz="1800" b="0" strike="noStrike" spc="-1">
                <a:solidFill>
                  <a:srgbClr val="000000"/>
                </a:solidFill>
                <a:latin typeface="Times New Roman"/>
                <a:ea typeface="ＭＳ Ｐゴシック"/>
              </a:rPr>
              <a:t>Sử dụng một </a:t>
            </a:r>
            <a:r>
              <a:rPr lang="en-US" sz="1800" b="1" strike="noStrike" spc="-1">
                <a:solidFill>
                  <a:srgbClr val="000000"/>
                </a:solidFill>
                <a:latin typeface="Times New Roman"/>
                <a:ea typeface="ＭＳ Ｐゴシック"/>
              </a:rPr>
              <a:t>multiplexer</a:t>
            </a:r>
            <a:r>
              <a:rPr lang="en-US" sz="1800" b="0" strike="noStrike" spc="-1">
                <a:solidFill>
                  <a:srgbClr val="000000"/>
                </a:solidFill>
                <a:latin typeface="Times New Roman"/>
                <a:ea typeface="ＭＳ Ｐゴシック"/>
              </a:rPr>
              <a:t> để chọn chính xác toán hạng thứ 2.</a:t>
            </a:r>
            <a:endParaRPr lang="en-US" sz="1800" b="0" strike="noStrike" spc="-1">
              <a:latin typeface="Arial"/>
            </a:endParaRPr>
          </a:p>
          <a:p>
            <a:pPr algn="ctr">
              <a:lnSpc>
                <a:spcPct val="100000"/>
              </a:lnSpc>
            </a:pPr>
            <a:r>
              <a:rPr lang="en-US" sz="1800" b="1" strike="noStrike" spc="-1">
                <a:solidFill>
                  <a:srgbClr val="000000"/>
                </a:solidFill>
                <a:latin typeface="Times New Roman"/>
                <a:ea typeface="ＭＳ Ｐゴシック"/>
              </a:rPr>
              <a:t>Sign extend</a:t>
            </a:r>
            <a:r>
              <a:rPr lang="en-US" sz="1800" b="0" strike="noStrike" spc="-1">
                <a:solidFill>
                  <a:srgbClr val="000000"/>
                </a:solidFill>
                <a:latin typeface="Times New Roman"/>
                <a:ea typeface="ＭＳ Ｐゴシック"/>
              </a:rPr>
              <a:t>: khối mở rộng số tức thời 16 bit thành 32 bit</a:t>
            </a:r>
            <a:endParaRPr lang="en-US" sz="1800" b="0" strike="noStrike" spc="-1">
              <a:latin typeface="Arial"/>
            </a:endParaRPr>
          </a:p>
        </p:txBody>
      </p:sp>
      <p:sp>
        <p:nvSpPr>
          <p:cNvPr id="62" name="CustomShape 60">
            <a:extLst>
              <a:ext uri="{FF2B5EF4-FFF2-40B4-BE49-F238E27FC236}">
                <a16:creationId xmlns:a16="http://schemas.microsoft.com/office/drawing/2014/main" id="{DAC479E4-89DB-CF7F-F06C-228ABE62166F}"/>
              </a:ext>
            </a:extLst>
          </p:cNvPr>
          <p:cNvSpPr/>
          <p:nvPr/>
        </p:nvSpPr>
        <p:spPr>
          <a:xfrm>
            <a:off x="3383672" y="1769277"/>
            <a:ext cx="5291640" cy="440640"/>
          </a:xfrm>
          <a:prstGeom prst="snip1Rect">
            <a:avLst>
              <a:gd name="adj" fmla="val 16667"/>
            </a:avLst>
          </a:prstGeom>
          <a:solidFill>
            <a:srgbClr val="FFFFCC">
              <a:alpha val="80000"/>
            </a:srgbClr>
          </a:solidFill>
          <a:ln w="1584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marL="343080" indent="-342720" algn="ctr">
              <a:lnSpc>
                <a:spcPct val="100000"/>
              </a:lnSpc>
              <a:spcBef>
                <a:spcPts val="839"/>
              </a:spcBef>
            </a:pPr>
            <a:r>
              <a:rPr lang="en-US" sz="2800" b="1" strike="noStrike" spc="-1">
                <a:solidFill>
                  <a:srgbClr val="002060"/>
                </a:solidFill>
                <a:latin typeface="Courier New"/>
                <a:ea typeface="ＭＳ Ｐゴシック"/>
              </a:rPr>
              <a:t>lw $21, -50($22)</a:t>
            </a:r>
            <a:endParaRPr lang="en-US" sz="2800" b="0" strike="noStrike" spc="-1">
              <a:latin typeface="Arial"/>
            </a:endParaRPr>
          </a:p>
        </p:txBody>
      </p:sp>
    </p:spTree>
    <p:extLst>
      <p:ext uri="{BB962C8B-B14F-4D97-AF65-F5344CB8AC3E}">
        <p14:creationId xmlns:p14="http://schemas.microsoft.com/office/powerpoint/2010/main" val="2640318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Giải mã: lệnh sw</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30</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3" name="Line 1">
            <a:extLst>
              <a:ext uri="{FF2B5EF4-FFF2-40B4-BE49-F238E27FC236}">
                <a16:creationId xmlns:a16="http://schemas.microsoft.com/office/drawing/2014/main" id="{7ACFF931-677B-0185-5F0F-1384A4B089A3}"/>
              </a:ext>
            </a:extLst>
          </p:cNvPr>
          <p:cNvSpPr/>
          <p:nvPr/>
        </p:nvSpPr>
        <p:spPr>
          <a:xfrm>
            <a:off x="6274328" y="3862871"/>
            <a:ext cx="360" cy="22212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grpSp>
        <p:nvGrpSpPr>
          <p:cNvPr id="6" name="Group 3">
            <a:extLst>
              <a:ext uri="{FF2B5EF4-FFF2-40B4-BE49-F238E27FC236}">
                <a16:creationId xmlns:a16="http://schemas.microsoft.com/office/drawing/2014/main" id="{E894B363-9C02-EB86-8792-A9A0892004D6}"/>
              </a:ext>
            </a:extLst>
          </p:cNvPr>
          <p:cNvGrpSpPr/>
          <p:nvPr/>
        </p:nvGrpSpPr>
        <p:grpSpPr>
          <a:xfrm>
            <a:off x="2343128" y="1265471"/>
            <a:ext cx="335520" cy="4638600"/>
            <a:chOff x="1085400" y="1274400"/>
            <a:chExt cx="335520" cy="3401640"/>
          </a:xfrm>
        </p:grpSpPr>
        <p:sp>
          <p:nvSpPr>
            <p:cNvPr id="7" name="CustomShape 4">
              <a:extLst>
                <a:ext uri="{FF2B5EF4-FFF2-40B4-BE49-F238E27FC236}">
                  <a16:creationId xmlns:a16="http://schemas.microsoft.com/office/drawing/2014/main" id="{5CAEB4C7-7FA1-8790-B03F-47F2773A25FE}"/>
                </a:ext>
              </a:extLst>
            </p:cNvPr>
            <p:cNvSpPr/>
            <p:nvPr/>
          </p:nvSpPr>
          <p:spPr>
            <a:xfrm rot="5400000">
              <a:off x="938160" y="1421280"/>
              <a:ext cx="629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100011</a:t>
              </a:r>
              <a:endParaRPr lang="en-US" sz="1200" b="0" strike="noStrike" spc="-1">
                <a:latin typeface="Arial"/>
              </a:endParaRPr>
            </a:p>
          </p:txBody>
        </p:sp>
        <p:sp>
          <p:nvSpPr>
            <p:cNvPr id="8" name="CustomShape 5">
              <a:extLst>
                <a:ext uri="{FF2B5EF4-FFF2-40B4-BE49-F238E27FC236}">
                  <a16:creationId xmlns:a16="http://schemas.microsoft.com/office/drawing/2014/main" id="{C7644E87-10C3-49D0-CE59-AEC676CED5F8}"/>
                </a:ext>
              </a:extLst>
            </p:cNvPr>
            <p:cNvSpPr/>
            <p:nvPr/>
          </p:nvSpPr>
          <p:spPr>
            <a:xfrm rot="5400000">
              <a:off x="985320" y="200412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10110</a:t>
              </a:r>
              <a:endParaRPr lang="en-US" sz="1200" b="0" strike="noStrike" spc="-1">
                <a:latin typeface="Arial"/>
              </a:endParaRPr>
            </a:p>
          </p:txBody>
        </p:sp>
        <p:sp>
          <p:nvSpPr>
            <p:cNvPr id="9" name="CustomShape 6">
              <a:extLst>
                <a:ext uri="{FF2B5EF4-FFF2-40B4-BE49-F238E27FC236}">
                  <a16:creationId xmlns:a16="http://schemas.microsoft.com/office/drawing/2014/main" id="{998DD762-322A-1B47-E262-9EDFA2FA5F6D}"/>
                </a:ext>
              </a:extLst>
            </p:cNvPr>
            <p:cNvSpPr/>
            <p:nvPr/>
          </p:nvSpPr>
          <p:spPr>
            <a:xfrm rot="5400000">
              <a:off x="985320" y="253944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10101</a:t>
              </a:r>
              <a:endParaRPr lang="en-US" sz="1200" b="0" strike="noStrike" spc="-1">
                <a:latin typeface="Arial"/>
              </a:endParaRPr>
            </a:p>
          </p:txBody>
        </p:sp>
        <p:sp>
          <p:nvSpPr>
            <p:cNvPr id="10" name="CustomShape 7">
              <a:extLst>
                <a:ext uri="{FF2B5EF4-FFF2-40B4-BE49-F238E27FC236}">
                  <a16:creationId xmlns:a16="http://schemas.microsoft.com/office/drawing/2014/main" id="{9F7A01B9-A2E5-B7B5-2C9D-51BB888C95B5}"/>
                </a:ext>
              </a:extLst>
            </p:cNvPr>
            <p:cNvSpPr/>
            <p:nvPr/>
          </p:nvSpPr>
          <p:spPr>
            <a:xfrm rot="5400000">
              <a:off x="402480" y="3657960"/>
              <a:ext cx="1700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1111 1111 1100 1110</a:t>
              </a:r>
              <a:endParaRPr lang="en-US" sz="1200" b="0" strike="noStrike" spc="-1">
                <a:latin typeface="Arial"/>
              </a:endParaRPr>
            </a:p>
          </p:txBody>
        </p:sp>
      </p:grpSp>
      <p:sp>
        <p:nvSpPr>
          <p:cNvPr id="11" name="CustomShape 8">
            <a:extLst>
              <a:ext uri="{FF2B5EF4-FFF2-40B4-BE49-F238E27FC236}">
                <a16:creationId xmlns:a16="http://schemas.microsoft.com/office/drawing/2014/main" id="{F26B46CA-E769-C9E5-84C6-93FC433EEE08}"/>
              </a:ext>
            </a:extLst>
          </p:cNvPr>
          <p:cNvSpPr/>
          <p:nvPr/>
        </p:nvSpPr>
        <p:spPr>
          <a:xfrm>
            <a:off x="5301608" y="2477231"/>
            <a:ext cx="2073600" cy="149292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2" name="CustomShape 9">
            <a:extLst>
              <a:ext uri="{FF2B5EF4-FFF2-40B4-BE49-F238E27FC236}">
                <a16:creationId xmlns:a16="http://schemas.microsoft.com/office/drawing/2014/main" id="{3A806E82-E802-F4DE-1738-0D31F202F6CB}"/>
              </a:ext>
            </a:extLst>
          </p:cNvPr>
          <p:cNvSpPr/>
          <p:nvPr/>
        </p:nvSpPr>
        <p:spPr>
          <a:xfrm>
            <a:off x="5345888" y="2532311"/>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13" name="CustomShape 10">
            <a:extLst>
              <a:ext uri="{FF2B5EF4-FFF2-40B4-BE49-F238E27FC236}">
                <a16:creationId xmlns:a16="http://schemas.microsoft.com/office/drawing/2014/main" id="{6FB4CC1E-CC24-7E93-44CE-A22EFD9E2D99}"/>
              </a:ext>
            </a:extLst>
          </p:cNvPr>
          <p:cNvSpPr/>
          <p:nvPr/>
        </p:nvSpPr>
        <p:spPr>
          <a:xfrm>
            <a:off x="5345888" y="2901311"/>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14" name="CustomShape 11">
            <a:extLst>
              <a:ext uri="{FF2B5EF4-FFF2-40B4-BE49-F238E27FC236}">
                <a16:creationId xmlns:a16="http://schemas.microsoft.com/office/drawing/2014/main" id="{A1404030-8D48-0DDF-CF1B-A5588531919D}"/>
              </a:ext>
            </a:extLst>
          </p:cNvPr>
          <p:cNvSpPr/>
          <p:nvPr/>
        </p:nvSpPr>
        <p:spPr>
          <a:xfrm>
            <a:off x="5338328" y="3248711"/>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15" name="CustomShape 12">
            <a:extLst>
              <a:ext uri="{FF2B5EF4-FFF2-40B4-BE49-F238E27FC236}">
                <a16:creationId xmlns:a16="http://schemas.microsoft.com/office/drawing/2014/main" id="{DF40656D-8F4D-D497-5D1C-5C0AC8966E2E}"/>
              </a:ext>
            </a:extLst>
          </p:cNvPr>
          <p:cNvSpPr/>
          <p:nvPr/>
        </p:nvSpPr>
        <p:spPr>
          <a:xfrm>
            <a:off x="5333288" y="3626711"/>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16" name="CustomShape 13">
            <a:extLst>
              <a:ext uri="{FF2B5EF4-FFF2-40B4-BE49-F238E27FC236}">
                <a16:creationId xmlns:a16="http://schemas.microsoft.com/office/drawing/2014/main" id="{F59EAEA1-DBBC-4FB7-2CC4-C6A68DCE3476}"/>
              </a:ext>
            </a:extLst>
          </p:cNvPr>
          <p:cNvSpPr/>
          <p:nvPr/>
        </p:nvSpPr>
        <p:spPr>
          <a:xfrm>
            <a:off x="6709208" y="2579471"/>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17" name="CustomShape 14">
            <a:extLst>
              <a:ext uri="{FF2B5EF4-FFF2-40B4-BE49-F238E27FC236}">
                <a16:creationId xmlns:a16="http://schemas.microsoft.com/office/drawing/2014/main" id="{785C87C1-89E9-88D0-D648-AA3F24A9606F}"/>
              </a:ext>
            </a:extLst>
          </p:cNvPr>
          <p:cNvSpPr/>
          <p:nvPr/>
        </p:nvSpPr>
        <p:spPr>
          <a:xfrm>
            <a:off x="6709208" y="3437711"/>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18" name="Line 15">
            <a:extLst>
              <a:ext uri="{FF2B5EF4-FFF2-40B4-BE49-F238E27FC236}">
                <a16:creationId xmlns:a16="http://schemas.microsoft.com/office/drawing/2014/main" id="{1A447CE9-72E2-FD67-2C5E-EE0ADD10F095}"/>
              </a:ext>
            </a:extLst>
          </p:cNvPr>
          <p:cNvSpPr/>
          <p:nvPr/>
        </p:nvSpPr>
        <p:spPr>
          <a:xfrm>
            <a:off x="4610408" y="2728871"/>
            <a:ext cx="691200" cy="1080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9" name="Line 16">
            <a:extLst>
              <a:ext uri="{FF2B5EF4-FFF2-40B4-BE49-F238E27FC236}">
                <a16:creationId xmlns:a16="http://schemas.microsoft.com/office/drawing/2014/main" id="{FF848610-C436-321E-D8EE-B8AA7D8DA027}"/>
              </a:ext>
            </a:extLst>
          </p:cNvPr>
          <p:cNvSpPr/>
          <p:nvPr/>
        </p:nvSpPr>
        <p:spPr>
          <a:xfrm>
            <a:off x="4610408" y="3043871"/>
            <a:ext cx="691200" cy="133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0" name="Line 17">
            <a:extLst>
              <a:ext uri="{FF2B5EF4-FFF2-40B4-BE49-F238E27FC236}">
                <a16:creationId xmlns:a16="http://schemas.microsoft.com/office/drawing/2014/main" id="{DD661DD6-A3CA-79F6-6ADF-0B98B1AE3356}"/>
              </a:ext>
            </a:extLst>
          </p:cNvPr>
          <p:cNvSpPr/>
          <p:nvPr/>
        </p:nvSpPr>
        <p:spPr>
          <a:xfrm flipV="1">
            <a:off x="4694288" y="3415391"/>
            <a:ext cx="607320" cy="68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1" name="Line 18">
            <a:extLst>
              <a:ext uri="{FF2B5EF4-FFF2-40B4-BE49-F238E27FC236}">
                <a16:creationId xmlns:a16="http://schemas.microsoft.com/office/drawing/2014/main" id="{E7C43868-57CF-5577-BF16-1B83C61DD824}"/>
              </a:ext>
            </a:extLst>
          </p:cNvPr>
          <p:cNvSpPr/>
          <p:nvPr/>
        </p:nvSpPr>
        <p:spPr>
          <a:xfrm>
            <a:off x="4750088" y="3793391"/>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2" name="Line 19">
            <a:extLst>
              <a:ext uri="{FF2B5EF4-FFF2-40B4-BE49-F238E27FC236}">
                <a16:creationId xmlns:a16="http://schemas.microsoft.com/office/drawing/2014/main" id="{2BBD226B-10B9-CB70-91BC-E61F3F8A34C1}"/>
              </a:ext>
            </a:extLst>
          </p:cNvPr>
          <p:cNvSpPr/>
          <p:nvPr/>
        </p:nvSpPr>
        <p:spPr>
          <a:xfrm>
            <a:off x="7375568" y="2746151"/>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3" name="Line 20">
            <a:extLst>
              <a:ext uri="{FF2B5EF4-FFF2-40B4-BE49-F238E27FC236}">
                <a16:creationId xmlns:a16="http://schemas.microsoft.com/office/drawing/2014/main" id="{C3F21101-2D53-34D7-287A-B7E122757D6A}"/>
              </a:ext>
            </a:extLst>
          </p:cNvPr>
          <p:cNvSpPr/>
          <p:nvPr/>
        </p:nvSpPr>
        <p:spPr>
          <a:xfrm>
            <a:off x="7375568" y="3620231"/>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4" name="Line 21">
            <a:extLst>
              <a:ext uri="{FF2B5EF4-FFF2-40B4-BE49-F238E27FC236}">
                <a16:creationId xmlns:a16="http://schemas.microsoft.com/office/drawing/2014/main" id="{CA29BAB1-7B7D-840D-27FC-BB192695DCD8}"/>
              </a:ext>
            </a:extLst>
          </p:cNvPr>
          <p:cNvSpPr/>
          <p:nvPr/>
        </p:nvSpPr>
        <p:spPr>
          <a:xfrm flipH="1">
            <a:off x="4877888" y="2668391"/>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5" name="Line 22">
            <a:extLst>
              <a:ext uri="{FF2B5EF4-FFF2-40B4-BE49-F238E27FC236}">
                <a16:creationId xmlns:a16="http://schemas.microsoft.com/office/drawing/2014/main" id="{4A7BF57C-4157-F484-AA0A-1F8BC6311B13}"/>
              </a:ext>
            </a:extLst>
          </p:cNvPr>
          <p:cNvSpPr/>
          <p:nvPr/>
        </p:nvSpPr>
        <p:spPr>
          <a:xfrm flipH="1">
            <a:off x="4877888" y="2986271"/>
            <a:ext cx="127800" cy="1400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6" name="Line 23">
            <a:extLst>
              <a:ext uri="{FF2B5EF4-FFF2-40B4-BE49-F238E27FC236}">
                <a16:creationId xmlns:a16="http://schemas.microsoft.com/office/drawing/2014/main" id="{23E008AA-3B7E-2723-E696-C55A4EA6DEE9}"/>
              </a:ext>
            </a:extLst>
          </p:cNvPr>
          <p:cNvSpPr/>
          <p:nvPr/>
        </p:nvSpPr>
        <p:spPr>
          <a:xfrm flipH="1">
            <a:off x="4877888" y="3344831"/>
            <a:ext cx="127800" cy="1400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7" name="CustomShape 24">
            <a:extLst>
              <a:ext uri="{FF2B5EF4-FFF2-40B4-BE49-F238E27FC236}">
                <a16:creationId xmlns:a16="http://schemas.microsoft.com/office/drawing/2014/main" id="{28B321BE-E132-6E6E-5705-4D86FBB62B56}"/>
              </a:ext>
            </a:extLst>
          </p:cNvPr>
          <p:cNvSpPr/>
          <p:nvPr/>
        </p:nvSpPr>
        <p:spPr>
          <a:xfrm>
            <a:off x="4775288" y="2540231"/>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8" name="CustomShape 25">
            <a:extLst>
              <a:ext uri="{FF2B5EF4-FFF2-40B4-BE49-F238E27FC236}">
                <a16:creationId xmlns:a16="http://schemas.microsoft.com/office/drawing/2014/main" id="{BCD5BD79-FBB4-BC19-0682-C9824B69EEA2}"/>
              </a:ext>
            </a:extLst>
          </p:cNvPr>
          <p:cNvSpPr/>
          <p:nvPr/>
        </p:nvSpPr>
        <p:spPr>
          <a:xfrm>
            <a:off x="4742168" y="2870711"/>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9" name="CustomShape 26">
            <a:extLst>
              <a:ext uri="{FF2B5EF4-FFF2-40B4-BE49-F238E27FC236}">
                <a16:creationId xmlns:a16="http://schemas.microsoft.com/office/drawing/2014/main" id="{F0090023-89F2-0ED5-2480-83A4F8B86C53}"/>
              </a:ext>
            </a:extLst>
          </p:cNvPr>
          <p:cNvSpPr/>
          <p:nvPr/>
        </p:nvSpPr>
        <p:spPr>
          <a:xfrm>
            <a:off x="4742168" y="3248711"/>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0" name="Line 27">
            <a:extLst>
              <a:ext uri="{FF2B5EF4-FFF2-40B4-BE49-F238E27FC236}">
                <a16:creationId xmlns:a16="http://schemas.microsoft.com/office/drawing/2014/main" id="{57E82BFC-0ECD-9C17-83B0-990765CBB2C5}"/>
              </a:ext>
            </a:extLst>
          </p:cNvPr>
          <p:cNvSpPr/>
          <p:nvPr/>
        </p:nvSpPr>
        <p:spPr>
          <a:xfrm>
            <a:off x="2678288" y="2681711"/>
            <a:ext cx="1932120" cy="4716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1" name="Line 28">
            <a:extLst>
              <a:ext uri="{FF2B5EF4-FFF2-40B4-BE49-F238E27FC236}">
                <a16:creationId xmlns:a16="http://schemas.microsoft.com/office/drawing/2014/main" id="{38B23747-0411-EA7F-A610-54E4766E55A4}"/>
              </a:ext>
            </a:extLst>
          </p:cNvPr>
          <p:cNvSpPr/>
          <p:nvPr/>
        </p:nvSpPr>
        <p:spPr>
          <a:xfrm flipV="1">
            <a:off x="2678288" y="3043871"/>
            <a:ext cx="1932120" cy="173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2" name="Line 29">
            <a:extLst>
              <a:ext uri="{FF2B5EF4-FFF2-40B4-BE49-F238E27FC236}">
                <a16:creationId xmlns:a16="http://schemas.microsoft.com/office/drawing/2014/main" id="{E3ADB68A-85CA-2358-8486-033F45007E18}"/>
              </a:ext>
            </a:extLst>
          </p:cNvPr>
          <p:cNvSpPr/>
          <p:nvPr/>
        </p:nvSpPr>
        <p:spPr>
          <a:xfrm flipV="1">
            <a:off x="2678288" y="3973031"/>
            <a:ext cx="1260000" cy="1584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3" name="CustomShape 30">
            <a:extLst>
              <a:ext uri="{FF2B5EF4-FFF2-40B4-BE49-F238E27FC236}">
                <a16:creationId xmlns:a16="http://schemas.microsoft.com/office/drawing/2014/main" id="{7198CEB1-43A5-2830-8E7A-5FA47A072F75}"/>
              </a:ext>
            </a:extLst>
          </p:cNvPr>
          <p:cNvSpPr/>
          <p:nvPr/>
        </p:nvSpPr>
        <p:spPr>
          <a:xfrm rot="5400000">
            <a:off x="1198688" y="4041431"/>
            <a:ext cx="1700640" cy="587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Immediate</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15:0</a:t>
            </a:r>
            <a:endParaRPr lang="en-US" sz="1200" b="0" strike="noStrike" spc="-1">
              <a:latin typeface="Arial"/>
            </a:endParaRPr>
          </a:p>
        </p:txBody>
      </p:sp>
      <p:sp>
        <p:nvSpPr>
          <p:cNvPr id="34" name="CustomShape 35">
            <a:extLst>
              <a:ext uri="{FF2B5EF4-FFF2-40B4-BE49-F238E27FC236}">
                <a16:creationId xmlns:a16="http://schemas.microsoft.com/office/drawing/2014/main" id="{D50BF94F-0ADC-C2EC-22B9-5427D4D519E6}"/>
              </a:ext>
            </a:extLst>
          </p:cNvPr>
          <p:cNvSpPr/>
          <p:nvPr/>
        </p:nvSpPr>
        <p:spPr>
          <a:xfrm>
            <a:off x="2842088" y="2476871"/>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35" name="CustomShape 36">
            <a:extLst>
              <a:ext uri="{FF2B5EF4-FFF2-40B4-BE49-F238E27FC236}">
                <a16:creationId xmlns:a16="http://schemas.microsoft.com/office/drawing/2014/main" id="{459E61A6-08CC-B726-76D9-BB293FC11BE3}"/>
              </a:ext>
            </a:extLst>
          </p:cNvPr>
          <p:cNvSpPr/>
          <p:nvPr/>
        </p:nvSpPr>
        <p:spPr>
          <a:xfrm rot="21202800">
            <a:off x="2759288" y="2941271"/>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36" name="CustomShape 37">
            <a:extLst>
              <a:ext uri="{FF2B5EF4-FFF2-40B4-BE49-F238E27FC236}">
                <a16:creationId xmlns:a16="http://schemas.microsoft.com/office/drawing/2014/main" id="{2CB400E9-82FF-773B-F985-76CCF6F29C2C}"/>
              </a:ext>
            </a:extLst>
          </p:cNvPr>
          <p:cNvSpPr/>
          <p:nvPr/>
        </p:nvSpPr>
        <p:spPr>
          <a:xfrm>
            <a:off x="2758208" y="3784391"/>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37" name="CustomShape 38">
            <a:extLst>
              <a:ext uri="{FF2B5EF4-FFF2-40B4-BE49-F238E27FC236}">
                <a16:creationId xmlns:a16="http://schemas.microsoft.com/office/drawing/2014/main" id="{7C51AAAF-DD14-D67E-837A-62B1B03171E4}"/>
              </a:ext>
            </a:extLst>
          </p:cNvPr>
          <p:cNvSpPr/>
          <p:nvPr/>
        </p:nvSpPr>
        <p:spPr>
          <a:xfrm>
            <a:off x="3938648" y="3359231"/>
            <a:ext cx="335880" cy="755640"/>
          </a:xfrm>
          <a:prstGeom prst="roundRect">
            <a:avLst>
              <a:gd name="adj" fmla="val 16667"/>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38" name="CustomShape 39">
            <a:extLst>
              <a:ext uri="{FF2B5EF4-FFF2-40B4-BE49-F238E27FC236}">
                <a16:creationId xmlns:a16="http://schemas.microsoft.com/office/drawing/2014/main" id="{AF08824D-CED3-3A0E-0F90-F417D38CA691}"/>
              </a:ext>
            </a:extLst>
          </p:cNvPr>
          <p:cNvSpPr/>
          <p:nvPr/>
        </p:nvSpPr>
        <p:spPr>
          <a:xfrm rot="16200000" flipH="1">
            <a:off x="3379208" y="3052151"/>
            <a:ext cx="468360" cy="649080"/>
          </a:xfrm>
          <a:prstGeom prst="bentConnector2">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9" name="Line 40">
            <a:extLst>
              <a:ext uri="{FF2B5EF4-FFF2-40B4-BE49-F238E27FC236}">
                <a16:creationId xmlns:a16="http://schemas.microsoft.com/office/drawing/2014/main" id="{8DD16D17-1F98-DAD8-4ECE-3D61D087757C}"/>
              </a:ext>
            </a:extLst>
          </p:cNvPr>
          <p:cNvSpPr/>
          <p:nvPr/>
        </p:nvSpPr>
        <p:spPr>
          <a:xfrm flipV="1">
            <a:off x="4274168" y="3421871"/>
            <a:ext cx="420120" cy="31500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0" name="CustomShape 41">
            <a:extLst>
              <a:ext uri="{FF2B5EF4-FFF2-40B4-BE49-F238E27FC236}">
                <a16:creationId xmlns:a16="http://schemas.microsoft.com/office/drawing/2014/main" id="{8E960296-6213-83FB-CE07-F60AD49E8FF3}"/>
              </a:ext>
            </a:extLst>
          </p:cNvPr>
          <p:cNvSpPr/>
          <p:nvPr/>
        </p:nvSpPr>
        <p:spPr>
          <a:xfrm>
            <a:off x="3656048" y="4241231"/>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RegDst</a:t>
            </a:r>
            <a:endParaRPr lang="en-US" sz="1600" b="0" strike="noStrike" spc="-1">
              <a:latin typeface="Arial"/>
            </a:endParaRPr>
          </a:p>
        </p:txBody>
      </p:sp>
      <p:sp>
        <p:nvSpPr>
          <p:cNvPr id="41" name="Line 42">
            <a:extLst>
              <a:ext uri="{FF2B5EF4-FFF2-40B4-BE49-F238E27FC236}">
                <a16:creationId xmlns:a16="http://schemas.microsoft.com/office/drawing/2014/main" id="{95541100-4E1A-3518-D1D2-1A285302E949}"/>
              </a:ext>
            </a:extLst>
          </p:cNvPr>
          <p:cNvSpPr/>
          <p:nvPr/>
        </p:nvSpPr>
        <p:spPr>
          <a:xfrm>
            <a:off x="4106408" y="4114871"/>
            <a:ext cx="360" cy="22176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2" name="CustomShape 43">
            <a:extLst>
              <a:ext uri="{FF2B5EF4-FFF2-40B4-BE49-F238E27FC236}">
                <a16:creationId xmlns:a16="http://schemas.microsoft.com/office/drawing/2014/main" id="{23402C21-94E3-CB63-E033-A9789AB093FB}"/>
              </a:ext>
            </a:extLst>
          </p:cNvPr>
          <p:cNvSpPr/>
          <p:nvPr/>
        </p:nvSpPr>
        <p:spPr>
          <a:xfrm flipV="1">
            <a:off x="6458648" y="4099031"/>
            <a:ext cx="2015640" cy="614160"/>
          </a:xfrm>
          <a:prstGeom prst="bentConnector3">
            <a:avLst>
              <a:gd name="adj1" fmla="val 74537"/>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3" name="CustomShape 44">
            <a:extLst>
              <a:ext uri="{FF2B5EF4-FFF2-40B4-BE49-F238E27FC236}">
                <a16:creationId xmlns:a16="http://schemas.microsoft.com/office/drawing/2014/main" id="{47E04CEC-1EBA-7701-E8CA-86D67BC5166D}"/>
              </a:ext>
            </a:extLst>
          </p:cNvPr>
          <p:cNvSpPr/>
          <p:nvPr/>
        </p:nvSpPr>
        <p:spPr>
          <a:xfrm>
            <a:off x="2757128" y="4555871"/>
            <a:ext cx="9295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[15:0]</a:t>
            </a:r>
            <a:endParaRPr lang="en-US" sz="1000" b="0" strike="noStrike" spc="-1">
              <a:latin typeface="Arial"/>
            </a:endParaRPr>
          </a:p>
        </p:txBody>
      </p:sp>
      <p:sp>
        <p:nvSpPr>
          <p:cNvPr id="44" name="CustomShape 45">
            <a:extLst>
              <a:ext uri="{FF2B5EF4-FFF2-40B4-BE49-F238E27FC236}">
                <a16:creationId xmlns:a16="http://schemas.microsoft.com/office/drawing/2014/main" id="{A5E9F861-0CAC-EA39-527D-2CA94822DCDE}"/>
              </a:ext>
            </a:extLst>
          </p:cNvPr>
          <p:cNvSpPr/>
          <p:nvPr/>
        </p:nvSpPr>
        <p:spPr>
          <a:xfrm>
            <a:off x="8474648" y="3485231"/>
            <a:ext cx="335520" cy="755640"/>
          </a:xfrm>
          <a:prstGeom prst="roundRect">
            <a:avLst>
              <a:gd name="adj" fmla="val 16667"/>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45" name="CustomShape 46">
            <a:extLst>
              <a:ext uri="{FF2B5EF4-FFF2-40B4-BE49-F238E27FC236}">
                <a16:creationId xmlns:a16="http://schemas.microsoft.com/office/drawing/2014/main" id="{E3F0D5CD-3DD1-BED6-022D-D30CA85D0C31}"/>
              </a:ext>
            </a:extLst>
          </p:cNvPr>
          <p:cNvSpPr/>
          <p:nvPr/>
        </p:nvSpPr>
        <p:spPr>
          <a:xfrm>
            <a:off x="8230208" y="4430231"/>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ALUSrc</a:t>
            </a:r>
            <a:endParaRPr lang="en-US" sz="1600" b="0" strike="noStrike" spc="-1">
              <a:latin typeface="Arial"/>
            </a:endParaRPr>
          </a:p>
        </p:txBody>
      </p:sp>
      <p:sp>
        <p:nvSpPr>
          <p:cNvPr id="46" name="Line 47">
            <a:extLst>
              <a:ext uri="{FF2B5EF4-FFF2-40B4-BE49-F238E27FC236}">
                <a16:creationId xmlns:a16="http://schemas.microsoft.com/office/drawing/2014/main" id="{7DD74AF8-B69D-B532-CC40-2975D43EC8AD}"/>
              </a:ext>
            </a:extLst>
          </p:cNvPr>
          <p:cNvSpPr/>
          <p:nvPr/>
        </p:nvSpPr>
        <p:spPr>
          <a:xfrm>
            <a:off x="8642768" y="4240871"/>
            <a:ext cx="360" cy="222120"/>
          </a:xfrm>
          <a:prstGeom prst="line">
            <a:avLst/>
          </a:prstGeom>
          <a:ln w="1908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7" name="Line 48">
            <a:extLst>
              <a:ext uri="{FF2B5EF4-FFF2-40B4-BE49-F238E27FC236}">
                <a16:creationId xmlns:a16="http://schemas.microsoft.com/office/drawing/2014/main" id="{069807EB-99B8-371C-20E0-77BE12A88A86}"/>
              </a:ext>
            </a:extLst>
          </p:cNvPr>
          <p:cNvSpPr/>
          <p:nvPr/>
        </p:nvSpPr>
        <p:spPr>
          <a:xfrm>
            <a:off x="2678288" y="4745231"/>
            <a:ext cx="2604240" cy="0"/>
          </a:xfrm>
          <a:prstGeom prst="line">
            <a:avLst/>
          </a:prstGeom>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8" name="Line 49">
            <a:extLst>
              <a:ext uri="{FF2B5EF4-FFF2-40B4-BE49-F238E27FC236}">
                <a16:creationId xmlns:a16="http://schemas.microsoft.com/office/drawing/2014/main" id="{0540B67A-16F7-8322-6EDE-09701526C9D6}"/>
              </a:ext>
            </a:extLst>
          </p:cNvPr>
          <p:cNvSpPr/>
          <p:nvPr/>
        </p:nvSpPr>
        <p:spPr>
          <a:xfrm>
            <a:off x="8810528" y="3862871"/>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49" name="CustomShape 50">
            <a:extLst>
              <a:ext uri="{FF2B5EF4-FFF2-40B4-BE49-F238E27FC236}">
                <a16:creationId xmlns:a16="http://schemas.microsoft.com/office/drawing/2014/main" id="{E2A06ACA-D355-95CD-8151-581A4C2A75C9}"/>
              </a:ext>
            </a:extLst>
          </p:cNvPr>
          <p:cNvSpPr/>
          <p:nvPr/>
        </p:nvSpPr>
        <p:spPr>
          <a:xfrm>
            <a:off x="5785448" y="4070591"/>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sp>
        <p:nvSpPr>
          <p:cNvPr id="50" name="CustomShape 51">
            <a:extLst>
              <a:ext uri="{FF2B5EF4-FFF2-40B4-BE49-F238E27FC236}">
                <a16:creationId xmlns:a16="http://schemas.microsoft.com/office/drawing/2014/main" id="{61785309-5B81-9E21-701B-A8524B87DF29}"/>
              </a:ext>
            </a:extLst>
          </p:cNvPr>
          <p:cNvSpPr/>
          <p:nvPr/>
        </p:nvSpPr>
        <p:spPr>
          <a:xfrm>
            <a:off x="5282528" y="4493231"/>
            <a:ext cx="1175400" cy="440640"/>
          </a:xfrm>
          <a:prstGeom prst="ellipse">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400" b="0" strike="noStrike" spc="-1">
                <a:solidFill>
                  <a:srgbClr val="000000"/>
                </a:solidFill>
                <a:latin typeface="Times New Roman"/>
                <a:ea typeface="ＭＳ Ｐゴシック"/>
              </a:rPr>
              <a:t>Sign Extend</a:t>
            </a:r>
            <a:endParaRPr lang="en-US" sz="1400" b="0" strike="noStrike" spc="-1">
              <a:latin typeface="Arial"/>
            </a:endParaRPr>
          </a:p>
        </p:txBody>
      </p:sp>
      <p:sp>
        <p:nvSpPr>
          <p:cNvPr id="51" name="Line 52">
            <a:extLst>
              <a:ext uri="{FF2B5EF4-FFF2-40B4-BE49-F238E27FC236}">
                <a16:creationId xmlns:a16="http://schemas.microsoft.com/office/drawing/2014/main" id="{5F779A54-0491-AD48-D4E4-959F961BC29C}"/>
              </a:ext>
            </a:extLst>
          </p:cNvPr>
          <p:cNvSpPr/>
          <p:nvPr/>
        </p:nvSpPr>
        <p:spPr>
          <a:xfrm flipH="1">
            <a:off x="4902728" y="4667471"/>
            <a:ext cx="12780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2" name="CustomShape 53">
            <a:extLst>
              <a:ext uri="{FF2B5EF4-FFF2-40B4-BE49-F238E27FC236}">
                <a16:creationId xmlns:a16="http://schemas.microsoft.com/office/drawing/2014/main" id="{CF512F58-8DFA-AA83-6133-CDA693990092}"/>
              </a:ext>
            </a:extLst>
          </p:cNvPr>
          <p:cNvSpPr/>
          <p:nvPr/>
        </p:nvSpPr>
        <p:spPr>
          <a:xfrm>
            <a:off x="4666928" y="4571711"/>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16</a:t>
            </a:r>
            <a:endParaRPr lang="en-US" sz="1000" b="0" strike="noStrike" spc="-1">
              <a:latin typeface="Arial"/>
            </a:endParaRPr>
          </a:p>
        </p:txBody>
      </p:sp>
      <p:sp>
        <p:nvSpPr>
          <p:cNvPr id="53" name="CustomShape 54">
            <a:extLst>
              <a:ext uri="{FF2B5EF4-FFF2-40B4-BE49-F238E27FC236}">
                <a16:creationId xmlns:a16="http://schemas.microsoft.com/office/drawing/2014/main" id="{242D8C3B-A151-BF82-1848-EB26C8EA0594}"/>
              </a:ext>
            </a:extLst>
          </p:cNvPr>
          <p:cNvSpPr/>
          <p:nvPr/>
        </p:nvSpPr>
        <p:spPr>
          <a:xfrm>
            <a:off x="6632168" y="4555871"/>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32</a:t>
            </a:r>
            <a:endParaRPr lang="en-US" sz="1000" b="0" strike="noStrike" spc="-1">
              <a:latin typeface="Arial"/>
            </a:endParaRPr>
          </a:p>
        </p:txBody>
      </p:sp>
      <p:sp>
        <p:nvSpPr>
          <p:cNvPr id="54" name="Line 55">
            <a:extLst>
              <a:ext uri="{FF2B5EF4-FFF2-40B4-BE49-F238E27FC236}">
                <a16:creationId xmlns:a16="http://schemas.microsoft.com/office/drawing/2014/main" id="{361BB516-8676-56C8-6E2C-8CEE125E2783}"/>
              </a:ext>
            </a:extLst>
          </p:cNvPr>
          <p:cNvSpPr/>
          <p:nvPr/>
        </p:nvSpPr>
        <p:spPr>
          <a:xfrm flipH="1">
            <a:off x="6881288" y="4640111"/>
            <a:ext cx="12780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5" name="CustomShape 56">
            <a:extLst>
              <a:ext uri="{FF2B5EF4-FFF2-40B4-BE49-F238E27FC236}">
                <a16:creationId xmlns:a16="http://schemas.microsoft.com/office/drawing/2014/main" id="{6C15AEED-C244-3083-32DC-486C35DFE3AA}"/>
              </a:ext>
            </a:extLst>
          </p:cNvPr>
          <p:cNvSpPr/>
          <p:nvPr/>
        </p:nvSpPr>
        <p:spPr>
          <a:xfrm>
            <a:off x="6384128" y="3044231"/>
            <a:ext cx="90648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C00000"/>
                </a:solidFill>
                <a:latin typeface="Verdana"/>
                <a:ea typeface="ＭＳ Ｐゴシック"/>
              </a:rPr>
              <a:t>Register</a:t>
            </a:r>
            <a:endParaRPr lang="en-US" sz="1200" b="0" strike="noStrike" spc="-1">
              <a:latin typeface="Arial"/>
            </a:endParaRPr>
          </a:p>
          <a:p>
            <a:pPr algn="ctr">
              <a:lnSpc>
                <a:spcPct val="100000"/>
              </a:lnSpc>
            </a:pPr>
            <a:r>
              <a:rPr lang="en-US" sz="1200" b="1" i="1" strike="noStrike" spc="-1">
                <a:solidFill>
                  <a:srgbClr val="C00000"/>
                </a:solidFill>
                <a:latin typeface="Verdana"/>
                <a:ea typeface="ＭＳ Ｐゴシック"/>
              </a:rPr>
              <a:t>File</a:t>
            </a:r>
            <a:endParaRPr lang="en-US" sz="1200" b="0" strike="noStrike" spc="-1">
              <a:latin typeface="Arial"/>
            </a:endParaRPr>
          </a:p>
        </p:txBody>
      </p:sp>
      <p:sp>
        <p:nvSpPr>
          <p:cNvPr id="56" name="CustomShape 57">
            <a:extLst>
              <a:ext uri="{FF2B5EF4-FFF2-40B4-BE49-F238E27FC236}">
                <a16:creationId xmlns:a16="http://schemas.microsoft.com/office/drawing/2014/main" id="{A605DC5C-DFE7-B085-ECD1-C410E68593DB}"/>
              </a:ext>
            </a:extLst>
          </p:cNvPr>
          <p:cNvSpPr/>
          <p:nvPr/>
        </p:nvSpPr>
        <p:spPr>
          <a:xfrm>
            <a:off x="3021368" y="5123231"/>
            <a:ext cx="8063640" cy="755640"/>
          </a:xfrm>
          <a:prstGeom prst="rect">
            <a:avLst/>
          </a:prstGeom>
          <a:noFill/>
          <a:ln w="9360">
            <a:noFill/>
          </a:ln>
        </p:spPr>
        <p:style>
          <a:lnRef idx="0">
            <a:scrgbClr r="0" g="0" b="0"/>
          </a:lnRef>
          <a:fillRef idx="0">
            <a:scrgbClr r="0" g="0" b="0"/>
          </a:fillRef>
          <a:effectRef idx="0">
            <a:scrgbClr r="0" g="0" b="0"/>
          </a:effectRef>
          <a:fontRef idx="minor"/>
        </p:style>
        <p:txBody>
          <a:bodyPr>
            <a:normAutofit lnSpcReduction="10000"/>
          </a:bodyPr>
          <a:lstStyle/>
          <a:p>
            <a:pPr marL="343080" indent="-342720">
              <a:lnSpc>
                <a:spcPct val="100000"/>
              </a:lnSpc>
              <a:spcBef>
                <a:spcPts val="479"/>
              </a:spcBef>
              <a:buClr>
                <a:srgbClr val="0033CC"/>
              </a:buClr>
              <a:buFont typeface="Wingdings" charset="2"/>
              <a:buChar char=""/>
            </a:pPr>
            <a:r>
              <a:rPr lang="en-US" sz="2400" b="0" strike="noStrike" spc="-1">
                <a:solidFill>
                  <a:srgbClr val="0033CC"/>
                </a:solidFill>
                <a:latin typeface="Times New Roman"/>
                <a:ea typeface="ＭＳ Ｐゴシック"/>
              </a:rPr>
              <a:t>Ví dụ với lệnh: “</a:t>
            </a:r>
            <a:r>
              <a:rPr lang="en-US" sz="2400" b="1" strike="noStrike" spc="-1">
                <a:solidFill>
                  <a:srgbClr val="660066"/>
                </a:solidFill>
                <a:latin typeface="Courier New"/>
                <a:ea typeface="ＭＳ Ｐゴシック"/>
              </a:rPr>
              <a:t>sw</a:t>
            </a:r>
            <a:r>
              <a:rPr lang="en-US" sz="2400" b="1" strike="noStrike" spc="-1">
                <a:solidFill>
                  <a:srgbClr val="0033CC"/>
                </a:solidFill>
                <a:latin typeface="Courier New"/>
                <a:ea typeface="ＭＳ Ｐゴシック"/>
              </a:rPr>
              <a:t> </a:t>
            </a:r>
            <a:r>
              <a:rPr lang="en-US" sz="2400" b="1" strike="noStrike" spc="-1">
                <a:solidFill>
                  <a:srgbClr val="C00000"/>
                </a:solidFill>
                <a:latin typeface="Courier New"/>
                <a:ea typeface="ＭＳ Ｐゴシック"/>
              </a:rPr>
              <a:t>$21</a:t>
            </a:r>
            <a:r>
              <a:rPr lang="en-US" sz="2400" b="1" strike="noStrike" spc="-1">
                <a:solidFill>
                  <a:srgbClr val="0033CC"/>
                </a:solidFill>
                <a:latin typeface="Courier New"/>
                <a:ea typeface="ＭＳ Ｐゴシック"/>
              </a:rPr>
              <a:t>, -50(</a:t>
            </a:r>
            <a:r>
              <a:rPr lang="en-US" sz="2400" b="1" strike="noStrike" spc="-1">
                <a:solidFill>
                  <a:srgbClr val="006600"/>
                </a:solidFill>
                <a:latin typeface="Courier New"/>
                <a:ea typeface="ＭＳ Ｐゴシック"/>
              </a:rPr>
              <a:t>$22</a:t>
            </a:r>
            <a:r>
              <a:rPr lang="en-US" sz="2400" b="1" strike="noStrike" spc="-1">
                <a:solidFill>
                  <a:srgbClr val="0033CC"/>
                </a:solidFill>
                <a:latin typeface="Courier New"/>
                <a:ea typeface="ＭＳ Ｐゴシック"/>
              </a:rPr>
              <a:t>)</a:t>
            </a:r>
            <a:r>
              <a:rPr lang="en-US" sz="2400" b="0" strike="noStrike" spc="-1">
                <a:solidFill>
                  <a:srgbClr val="0033CC"/>
                </a:solidFill>
                <a:latin typeface="Times New Roman"/>
                <a:ea typeface="ＭＳ Ｐゴシック"/>
              </a:rPr>
              <a:t>"</a:t>
            </a:r>
            <a:endParaRPr lang="en-US" sz="2400" b="0" strike="noStrike" spc="-1">
              <a:latin typeface="Arial"/>
            </a:endParaRPr>
          </a:p>
          <a:p>
            <a:pPr marL="743040" lvl="1" indent="-285480">
              <a:lnSpc>
                <a:spcPct val="100000"/>
              </a:lnSpc>
              <a:spcBef>
                <a:spcPts val="400"/>
              </a:spcBef>
              <a:buClr>
                <a:srgbClr val="000000"/>
              </a:buClr>
              <a:buFont typeface="Symbol" charset="2"/>
              <a:buChar char=""/>
            </a:pPr>
            <a:r>
              <a:rPr lang="en-US" sz="2000" b="0" strike="noStrike" spc="-1">
                <a:solidFill>
                  <a:srgbClr val="000000"/>
                </a:solidFill>
                <a:latin typeface="Times New Roman"/>
                <a:ea typeface="ＭＳ Ｐゴシック"/>
              </a:rPr>
              <a:t>Có cần phải thay đổi thành phần nào?</a:t>
            </a:r>
            <a:endParaRPr lang="en-US" sz="2000" b="0" strike="noStrike" spc="-1">
              <a:latin typeface="Arial"/>
            </a:endParaRPr>
          </a:p>
          <a:p>
            <a:pPr>
              <a:lnSpc>
                <a:spcPct val="100000"/>
              </a:lnSpc>
              <a:spcBef>
                <a:spcPts val="479"/>
              </a:spcBef>
            </a:pPr>
            <a:endParaRPr lang="en-US" sz="2000" b="0" strike="noStrike" spc="-1">
              <a:latin typeface="Arial"/>
            </a:endParaRPr>
          </a:p>
        </p:txBody>
      </p:sp>
    </p:spTree>
    <p:extLst>
      <p:ext uri="{BB962C8B-B14F-4D97-AF65-F5344CB8AC3E}">
        <p14:creationId xmlns:p14="http://schemas.microsoft.com/office/powerpoint/2010/main" val="15509809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Giải mã: lệnh beq</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31</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3" name="TextShape 1">
            <a:extLst>
              <a:ext uri="{FF2B5EF4-FFF2-40B4-BE49-F238E27FC236}">
                <a16:creationId xmlns:a16="http://schemas.microsoft.com/office/drawing/2014/main" id="{C1A32A6D-56FB-6C6C-4BF1-DE5BCEAEF098}"/>
              </a:ext>
            </a:extLst>
          </p:cNvPr>
          <p:cNvSpPr txBox="1"/>
          <p:nvPr/>
        </p:nvSpPr>
        <p:spPr>
          <a:xfrm>
            <a:off x="2885150" y="1558440"/>
            <a:ext cx="8063640" cy="1070640"/>
          </a:xfrm>
          <a:prstGeom prst="rect">
            <a:avLst/>
          </a:prstGeom>
          <a:noFill/>
          <a:ln w="9360">
            <a:noFill/>
          </a:ln>
        </p:spPr>
        <p:txBody>
          <a:bodyPr>
            <a:normAutofit fontScale="85000" lnSpcReduction="20000"/>
          </a:bodyPr>
          <a:lstStyle/>
          <a:p>
            <a:pPr marL="343080" indent="-342720">
              <a:lnSpc>
                <a:spcPct val="100000"/>
              </a:lnSpc>
              <a:spcBef>
                <a:spcPts val="561"/>
              </a:spcBef>
              <a:buClr>
                <a:srgbClr val="003399"/>
              </a:buClr>
              <a:buFont typeface="Wingdings" charset="2"/>
              <a:buChar char=""/>
            </a:pPr>
            <a:r>
              <a:rPr lang="en-US" sz="2800" b="0" strike="noStrike" spc="-1">
                <a:solidFill>
                  <a:srgbClr val="000000"/>
                </a:solidFill>
                <a:latin typeface="Times New Roman"/>
                <a:ea typeface="ＭＳ Ｐゴシック"/>
              </a:rPr>
              <a:t>Ví dụ: "</a:t>
            </a:r>
            <a:r>
              <a:rPr lang="en-US" sz="2800" b="1" strike="noStrike" spc="-1">
                <a:solidFill>
                  <a:srgbClr val="660066"/>
                </a:solidFill>
                <a:latin typeface="Courier New"/>
                <a:ea typeface="ＭＳ Ｐゴシック"/>
              </a:rPr>
              <a:t>beq</a:t>
            </a:r>
            <a:r>
              <a:rPr lang="en-US" sz="2800" b="1" strike="noStrike" spc="-1">
                <a:solidFill>
                  <a:srgbClr val="000000"/>
                </a:solidFill>
                <a:latin typeface="Courier New"/>
                <a:ea typeface="ＭＳ Ｐゴシック"/>
              </a:rPr>
              <a:t> </a:t>
            </a:r>
            <a:r>
              <a:rPr lang="en-US" sz="2800" b="1" strike="noStrike" spc="-1">
                <a:solidFill>
                  <a:srgbClr val="006600"/>
                </a:solidFill>
                <a:latin typeface="Courier New"/>
                <a:ea typeface="ＭＳ Ｐゴシック"/>
              </a:rPr>
              <a:t>$9</a:t>
            </a:r>
            <a:r>
              <a:rPr lang="en-US" sz="2800" b="1" strike="noStrike" spc="-1">
                <a:solidFill>
                  <a:srgbClr val="000000"/>
                </a:solidFill>
                <a:latin typeface="Courier New"/>
                <a:ea typeface="ＭＳ Ｐゴシック"/>
              </a:rPr>
              <a:t>, </a:t>
            </a:r>
            <a:r>
              <a:rPr lang="en-US" sz="2800" b="1" strike="noStrike" spc="-1">
                <a:solidFill>
                  <a:srgbClr val="006600"/>
                </a:solidFill>
                <a:latin typeface="Courier New"/>
                <a:ea typeface="ＭＳ Ｐゴシック"/>
              </a:rPr>
              <a:t>$0</a:t>
            </a:r>
            <a:r>
              <a:rPr lang="en-US" sz="2800" b="1" strike="noStrike" spc="-1">
                <a:solidFill>
                  <a:srgbClr val="000000"/>
                </a:solidFill>
                <a:latin typeface="Courier New"/>
                <a:ea typeface="ＭＳ Ｐゴシック"/>
              </a:rPr>
              <a:t>, </a:t>
            </a:r>
            <a:r>
              <a:rPr lang="en-US" sz="2800" b="1" strike="noStrike" spc="-1">
                <a:solidFill>
                  <a:srgbClr val="002060"/>
                </a:solidFill>
                <a:latin typeface="Courier New"/>
                <a:ea typeface="ＭＳ Ｐゴシック"/>
              </a:rPr>
              <a:t>3</a:t>
            </a:r>
            <a:r>
              <a:rPr lang="en-US" sz="2800" b="0" strike="noStrike" spc="-1">
                <a:solidFill>
                  <a:srgbClr val="000000"/>
                </a:solidFill>
                <a:latin typeface="Times New Roman"/>
                <a:ea typeface="ＭＳ Ｐゴシック"/>
              </a:rPr>
              <a:t>"</a:t>
            </a:r>
            <a:endParaRPr lang="en-US" sz="2800" b="0" strike="noStrike" spc="-1">
              <a:solidFill>
                <a:srgbClr val="000000"/>
              </a:solidFill>
              <a:latin typeface="Times New Roman"/>
            </a:endParaRPr>
          </a:p>
          <a:p>
            <a:pPr marL="285840" indent="-285480">
              <a:spcBef>
                <a:spcPts val="479"/>
              </a:spcBef>
              <a:buClr>
                <a:srgbClr val="003399"/>
              </a:buClr>
              <a:buFont typeface="Wingdings" charset="2"/>
              <a:buChar char=""/>
            </a:pPr>
            <a:r>
              <a:rPr lang="en-US" sz="2400" b="0" strike="noStrike" spc="-1">
                <a:solidFill>
                  <a:srgbClr val="000000"/>
                </a:solidFill>
                <a:latin typeface="Times New Roman"/>
                <a:ea typeface="ＭＳ Ｐゴシック"/>
              </a:rPr>
              <a:t>Cần tính kết quả rẽ nhánh và đích đến cùng một lúc !</a:t>
            </a:r>
            <a:endParaRPr lang="en-US" sz="2400" b="0" strike="noStrike" spc="-1">
              <a:solidFill>
                <a:srgbClr val="000000"/>
              </a:solidFill>
              <a:latin typeface="Times New Roman"/>
            </a:endParaRPr>
          </a:p>
          <a:p>
            <a:pPr marL="743040" lvl="1" indent="-285480">
              <a:lnSpc>
                <a:spcPct val="100000"/>
              </a:lnSpc>
              <a:spcBef>
                <a:spcPts val="479"/>
              </a:spcBef>
              <a:buClr>
                <a:srgbClr val="003399"/>
              </a:buClr>
              <a:buFont typeface="Wingdings" charset="2"/>
              <a:buChar char=""/>
            </a:pPr>
            <a:r>
              <a:rPr lang="en-US" sz="2400" b="0" strike="noStrike" spc="-1">
                <a:solidFill>
                  <a:srgbClr val="000000"/>
                </a:solidFill>
                <a:latin typeface="Times New Roman"/>
                <a:ea typeface="ＭＳ Ｐゴシック"/>
              </a:rPr>
              <a:t>Giải quyết vấn đề này trong giai đoạn của ALU</a:t>
            </a:r>
            <a:endParaRPr lang="en-US" sz="2400" b="0" strike="noStrike" spc="-1">
              <a:solidFill>
                <a:srgbClr val="000000"/>
              </a:solidFill>
              <a:latin typeface="Times New Roman"/>
            </a:endParaRPr>
          </a:p>
          <a:p>
            <a:pPr>
              <a:lnSpc>
                <a:spcPct val="100000"/>
              </a:lnSpc>
              <a:spcBef>
                <a:spcPts val="561"/>
              </a:spcBef>
            </a:pPr>
            <a:endParaRPr lang="en-US" sz="2400" b="0" strike="noStrike" spc="-1">
              <a:solidFill>
                <a:srgbClr val="000000"/>
              </a:solidFill>
              <a:latin typeface="Times New Roman"/>
            </a:endParaRPr>
          </a:p>
        </p:txBody>
      </p:sp>
      <p:grpSp>
        <p:nvGrpSpPr>
          <p:cNvPr id="6" name="Group 3">
            <a:extLst>
              <a:ext uri="{FF2B5EF4-FFF2-40B4-BE49-F238E27FC236}">
                <a16:creationId xmlns:a16="http://schemas.microsoft.com/office/drawing/2014/main" id="{5D65ADD5-7F22-73AF-5BBB-E062E2071169}"/>
              </a:ext>
            </a:extLst>
          </p:cNvPr>
          <p:cNvGrpSpPr/>
          <p:nvPr/>
        </p:nvGrpSpPr>
        <p:grpSpPr>
          <a:xfrm>
            <a:off x="2465390" y="1737600"/>
            <a:ext cx="335520" cy="4225330"/>
            <a:chOff x="1176120" y="1637640"/>
            <a:chExt cx="335520" cy="3401640"/>
          </a:xfrm>
        </p:grpSpPr>
        <p:sp>
          <p:nvSpPr>
            <p:cNvPr id="7" name="CustomShape 4">
              <a:extLst>
                <a:ext uri="{FF2B5EF4-FFF2-40B4-BE49-F238E27FC236}">
                  <a16:creationId xmlns:a16="http://schemas.microsoft.com/office/drawing/2014/main" id="{E047ABF7-8127-74C1-9C8A-2DD7FCF89969}"/>
                </a:ext>
              </a:extLst>
            </p:cNvPr>
            <p:cNvSpPr/>
            <p:nvPr/>
          </p:nvSpPr>
          <p:spPr>
            <a:xfrm rot="5400000">
              <a:off x="1028880" y="1784520"/>
              <a:ext cx="629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000100</a:t>
              </a:r>
              <a:endParaRPr lang="en-US" sz="1200" b="0" strike="noStrike" spc="-1">
                <a:latin typeface="Arial"/>
              </a:endParaRPr>
            </a:p>
          </p:txBody>
        </p:sp>
        <p:sp>
          <p:nvSpPr>
            <p:cNvPr id="8" name="CustomShape 5">
              <a:extLst>
                <a:ext uri="{FF2B5EF4-FFF2-40B4-BE49-F238E27FC236}">
                  <a16:creationId xmlns:a16="http://schemas.microsoft.com/office/drawing/2014/main" id="{523986BA-D101-2A5A-E92B-42463BE9A2DD}"/>
                </a:ext>
              </a:extLst>
            </p:cNvPr>
            <p:cNvSpPr/>
            <p:nvPr/>
          </p:nvSpPr>
          <p:spPr>
            <a:xfrm rot="5400000">
              <a:off x="1076040" y="236736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01001</a:t>
              </a:r>
              <a:endParaRPr lang="en-US" sz="1200" b="0" strike="noStrike" spc="-1">
                <a:latin typeface="Arial"/>
              </a:endParaRPr>
            </a:p>
          </p:txBody>
        </p:sp>
        <p:sp>
          <p:nvSpPr>
            <p:cNvPr id="9" name="CustomShape 6">
              <a:extLst>
                <a:ext uri="{FF2B5EF4-FFF2-40B4-BE49-F238E27FC236}">
                  <a16:creationId xmlns:a16="http://schemas.microsoft.com/office/drawing/2014/main" id="{41921FD0-7073-2601-F09F-8C246E6B2773}"/>
                </a:ext>
              </a:extLst>
            </p:cNvPr>
            <p:cNvSpPr/>
            <p:nvPr/>
          </p:nvSpPr>
          <p:spPr>
            <a:xfrm rot="5400000">
              <a:off x="1076040" y="290268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00000</a:t>
              </a:r>
              <a:endParaRPr lang="en-US" sz="1200" b="0" strike="noStrike" spc="-1">
                <a:latin typeface="Arial"/>
              </a:endParaRPr>
            </a:p>
          </p:txBody>
        </p:sp>
        <p:sp>
          <p:nvSpPr>
            <p:cNvPr id="10" name="CustomShape 7">
              <a:extLst>
                <a:ext uri="{FF2B5EF4-FFF2-40B4-BE49-F238E27FC236}">
                  <a16:creationId xmlns:a16="http://schemas.microsoft.com/office/drawing/2014/main" id="{3FB93FA7-F0AF-3A2B-2EC7-E0505D867895}"/>
                </a:ext>
              </a:extLst>
            </p:cNvPr>
            <p:cNvSpPr/>
            <p:nvPr/>
          </p:nvSpPr>
          <p:spPr>
            <a:xfrm rot="5400000">
              <a:off x="493200" y="4021200"/>
              <a:ext cx="1700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0000 0000 0000 0011</a:t>
              </a:r>
              <a:endParaRPr lang="en-US" sz="1200" b="0" strike="noStrike" spc="-1">
                <a:latin typeface="Arial"/>
              </a:endParaRPr>
            </a:p>
          </p:txBody>
        </p:sp>
      </p:grpSp>
      <p:sp>
        <p:nvSpPr>
          <p:cNvPr id="11" name="CustomShape 8">
            <a:extLst>
              <a:ext uri="{FF2B5EF4-FFF2-40B4-BE49-F238E27FC236}">
                <a16:creationId xmlns:a16="http://schemas.microsoft.com/office/drawing/2014/main" id="{B26E3BFA-551A-CE56-D8D1-B87EB5A26362}"/>
              </a:ext>
            </a:extLst>
          </p:cNvPr>
          <p:cNvSpPr/>
          <p:nvPr/>
        </p:nvSpPr>
        <p:spPr>
          <a:xfrm rot="5400000">
            <a:off x="1320590" y="4424460"/>
            <a:ext cx="1700640" cy="587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Immediate</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15:0</a:t>
            </a:r>
            <a:endParaRPr lang="en-US" sz="1200" b="0" strike="noStrike" spc="-1">
              <a:latin typeface="Arial"/>
            </a:endParaRPr>
          </a:p>
        </p:txBody>
      </p:sp>
      <p:grpSp>
        <p:nvGrpSpPr>
          <p:cNvPr id="12" name="Group 9">
            <a:extLst>
              <a:ext uri="{FF2B5EF4-FFF2-40B4-BE49-F238E27FC236}">
                <a16:creationId xmlns:a16="http://schemas.microsoft.com/office/drawing/2014/main" id="{AF0BDFE2-DA98-D0F6-28F3-319016F65FA2}"/>
              </a:ext>
            </a:extLst>
          </p:cNvPr>
          <p:cNvGrpSpPr/>
          <p:nvPr/>
        </p:nvGrpSpPr>
        <p:grpSpPr>
          <a:xfrm>
            <a:off x="1961390" y="1755458"/>
            <a:ext cx="503640" cy="2112442"/>
            <a:chOff x="672120" y="1637640"/>
            <a:chExt cx="503640" cy="1700640"/>
          </a:xfrm>
        </p:grpSpPr>
        <p:sp>
          <p:nvSpPr>
            <p:cNvPr id="13" name="CustomShape 10">
              <a:extLst>
                <a:ext uri="{FF2B5EF4-FFF2-40B4-BE49-F238E27FC236}">
                  <a16:creationId xmlns:a16="http://schemas.microsoft.com/office/drawing/2014/main" id="{2703636D-61B6-4612-30C2-55DE5E1338C9}"/>
                </a:ext>
              </a:extLst>
            </p:cNvPr>
            <p:cNvSpPr/>
            <p:nvPr/>
          </p:nvSpPr>
          <p:spPr>
            <a:xfrm rot="5400000">
              <a:off x="608760" y="170064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opcode</a:t>
              </a:r>
              <a:endParaRPr lang="en-US" sz="1200" b="0" strike="noStrike" spc="-1">
                <a:latin typeface="Arial"/>
              </a:endParaRPr>
            </a:p>
            <a:p>
              <a:pPr algn="ctr">
                <a:lnSpc>
                  <a:spcPct val="100000"/>
                </a:lnSpc>
              </a:pPr>
              <a:r>
                <a:rPr lang="en-US" sz="1200" b="1" strike="noStrike" spc="-1">
                  <a:solidFill>
                    <a:srgbClr val="660066"/>
                  </a:solidFill>
                  <a:latin typeface="Courier New"/>
                  <a:ea typeface="ＭＳ Ｐゴシック"/>
                </a:rPr>
                <a:t>31:26</a:t>
              </a:r>
              <a:endParaRPr lang="en-US" sz="1200" b="0" strike="noStrike" spc="-1">
                <a:latin typeface="Arial"/>
              </a:endParaRPr>
            </a:p>
          </p:txBody>
        </p:sp>
        <p:sp>
          <p:nvSpPr>
            <p:cNvPr id="14" name="CustomShape 11">
              <a:extLst>
                <a:ext uri="{FF2B5EF4-FFF2-40B4-BE49-F238E27FC236}">
                  <a16:creationId xmlns:a16="http://schemas.microsoft.com/office/drawing/2014/main" id="{7F045F64-9CC8-BF0B-2A58-77A5B3B46B6D}"/>
                </a:ext>
              </a:extLst>
            </p:cNvPr>
            <p:cNvSpPr/>
            <p:nvPr/>
          </p:nvSpPr>
          <p:spPr>
            <a:xfrm rot="5400000">
              <a:off x="656280" y="228348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rs</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25:21</a:t>
              </a:r>
              <a:endParaRPr lang="en-US" sz="1200" b="0" strike="noStrike" spc="-1">
                <a:latin typeface="Arial"/>
              </a:endParaRPr>
            </a:p>
          </p:txBody>
        </p:sp>
        <p:sp>
          <p:nvSpPr>
            <p:cNvPr id="15" name="CustomShape 12">
              <a:extLst>
                <a:ext uri="{FF2B5EF4-FFF2-40B4-BE49-F238E27FC236}">
                  <a16:creationId xmlns:a16="http://schemas.microsoft.com/office/drawing/2014/main" id="{CDF1725A-BE24-0930-C963-79D5C3472EC0}"/>
                </a:ext>
              </a:extLst>
            </p:cNvPr>
            <p:cNvSpPr/>
            <p:nvPr/>
          </p:nvSpPr>
          <p:spPr>
            <a:xfrm rot="5400000">
              <a:off x="656280" y="2818800"/>
              <a:ext cx="53496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rt</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20:16</a:t>
              </a:r>
              <a:endParaRPr lang="en-US" sz="1200" b="0" strike="noStrike" spc="-1">
                <a:latin typeface="Arial"/>
              </a:endParaRPr>
            </a:p>
          </p:txBody>
        </p:sp>
      </p:grpSp>
      <p:grpSp>
        <p:nvGrpSpPr>
          <p:cNvPr id="16" name="Group 13">
            <a:extLst>
              <a:ext uri="{FF2B5EF4-FFF2-40B4-BE49-F238E27FC236}">
                <a16:creationId xmlns:a16="http://schemas.microsoft.com/office/drawing/2014/main" id="{BD404C73-66EA-984B-4F63-B8472670AE72}"/>
              </a:ext>
            </a:extLst>
          </p:cNvPr>
          <p:cNvGrpSpPr/>
          <p:nvPr/>
        </p:nvGrpSpPr>
        <p:grpSpPr>
          <a:xfrm>
            <a:off x="2800550" y="2731768"/>
            <a:ext cx="7314840" cy="2456640"/>
            <a:chOff x="1511640" y="2331000"/>
            <a:chExt cx="7314840" cy="2456640"/>
          </a:xfrm>
        </p:grpSpPr>
        <p:sp>
          <p:nvSpPr>
            <p:cNvPr id="17" name="Line 14">
              <a:extLst>
                <a:ext uri="{FF2B5EF4-FFF2-40B4-BE49-F238E27FC236}">
                  <a16:creationId xmlns:a16="http://schemas.microsoft.com/office/drawing/2014/main" id="{75E5A0AC-836E-2323-81EB-BCB3A80C46C1}"/>
                </a:ext>
              </a:extLst>
            </p:cNvPr>
            <p:cNvSpPr/>
            <p:nvPr/>
          </p:nvSpPr>
          <p:spPr>
            <a:xfrm>
              <a:off x="5107680" y="3716640"/>
              <a:ext cx="360" cy="2217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18" name="CustomShape 15">
              <a:extLst>
                <a:ext uri="{FF2B5EF4-FFF2-40B4-BE49-F238E27FC236}">
                  <a16:creationId xmlns:a16="http://schemas.microsoft.com/office/drawing/2014/main" id="{D555639D-3105-E8F9-E9A2-9510E8AEF023}"/>
                </a:ext>
              </a:extLst>
            </p:cNvPr>
            <p:cNvSpPr/>
            <p:nvPr/>
          </p:nvSpPr>
          <p:spPr>
            <a:xfrm>
              <a:off x="4134960" y="2331000"/>
              <a:ext cx="2073600" cy="149292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9" name="CustomShape 16">
              <a:extLst>
                <a:ext uri="{FF2B5EF4-FFF2-40B4-BE49-F238E27FC236}">
                  <a16:creationId xmlns:a16="http://schemas.microsoft.com/office/drawing/2014/main" id="{5EFB9014-66C8-7A51-5151-17FE8AC11A44}"/>
                </a:ext>
              </a:extLst>
            </p:cNvPr>
            <p:cNvSpPr/>
            <p:nvPr/>
          </p:nvSpPr>
          <p:spPr>
            <a:xfrm>
              <a:off x="4178880" y="2386080"/>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20" name="CustomShape 17">
              <a:extLst>
                <a:ext uri="{FF2B5EF4-FFF2-40B4-BE49-F238E27FC236}">
                  <a16:creationId xmlns:a16="http://schemas.microsoft.com/office/drawing/2014/main" id="{C14E5696-BEDE-F443-D235-A789CE73030E}"/>
                </a:ext>
              </a:extLst>
            </p:cNvPr>
            <p:cNvSpPr/>
            <p:nvPr/>
          </p:nvSpPr>
          <p:spPr>
            <a:xfrm>
              <a:off x="4178880" y="2754720"/>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21" name="CustomShape 18">
              <a:extLst>
                <a:ext uri="{FF2B5EF4-FFF2-40B4-BE49-F238E27FC236}">
                  <a16:creationId xmlns:a16="http://schemas.microsoft.com/office/drawing/2014/main" id="{464B3D28-893C-69A6-B017-305370BA3F10}"/>
                </a:ext>
              </a:extLst>
            </p:cNvPr>
            <p:cNvSpPr/>
            <p:nvPr/>
          </p:nvSpPr>
          <p:spPr>
            <a:xfrm>
              <a:off x="4171680" y="3102480"/>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22" name="CustomShape 19">
              <a:extLst>
                <a:ext uri="{FF2B5EF4-FFF2-40B4-BE49-F238E27FC236}">
                  <a16:creationId xmlns:a16="http://schemas.microsoft.com/office/drawing/2014/main" id="{C0ED4943-CCCE-8A59-C9AB-01B5CCC1472D}"/>
                </a:ext>
              </a:extLst>
            </p:cNvPr>
            <p:cNvSpPr/>
            <p:nvPr/>
          </p:nvSpPr>
          <p:spPr>
            <a:xfrm>
              <a:off x="4166280" y="3480480"/>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23" name="CustomShape 20">
              <a:extLst>
                <a:ext uri="{FF2B5EF4-FFF2-40B4-BE49-F238E27FC236}">
                  <a16:creationId xmlns:a16="http://schemas.microsoft.com/office/drawing/2014/main" id="{39C4E8C7-5F56-B011-811E-629D3E855366}"/>
                </a:ext>
              </a:extLst>
            </p:cNvPr>
            <p:cNvSpPr/>
            <p:nvPr/>
          </p:nvSpPr>
          <p:spPr>
            <a:xfrm>
              <a:off x="5542920" y="2433240"/>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24" name="CustomShape 21">
              <a:extLst>
                <a:ext uri="{FF2B5EF4-FFF2-40B4-BE49-F238E27FC236}">
                  <a16:creationId xmlns:a16="http://schemas.microsoft.com/office/drawing/2014/main" id="{1CCE7C00-F2C3-C0FE-D858-0EA42D36D343}"/>
                </a:ext>
              </a:extLst>
            </p:cNvPr>
            <p:cNvSpPr/>
            <p:nvPr/>
          </p:nvSpPr>
          <p:spPr>
            <a:xfrm>
              <a:off x="5542920" y="3291480"/>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25" name="Line 22">
              <a:extLst>
                <a:ext uri="{FF2B5EF4-FFF2-40B4-BE49-F238E27FC236}">
                  <a16:creationId xmlns:a16="http://schemas.microsoft.com/office/drawing/2014/main" id="{67B6635E-CF2A-96B2-8D81-08959492C0A4}"/>
                </a:ext>
              </a:extLst>
            </p:cNvPr>
            <p:cNvSpPr/>
            <p:nvPr/>
          </p:nvSpPr>
          <p:spPr>
            <a:xfrm>
              <a:off x="3443400" y="2582640"/>
              <a:ext cx="69156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6" name="Line 23">
              <a:extLst>
                <a:ext uri="{FF2B5EF4-FFF2-40B4-BE49-F238E27FC236}">
                  <a16:creationId xmlns:a16="http://schemas.microsoft.com/office/drawing/2014/main" id="{B8D17384-E4C5-AB83-D449-2231340ACB87}"/>
                </a:ext>
              </a:extLst>
            </p:cNvPr>
            <p:cNvSpPr/>
            <p:nvPr/>
          </p:nvSpPr>
          <p:spPr>
            <a:xfrm>
              <a:off x="3443400" y="2897640"/>
              <a:ext cx="691560" cy="129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7" name="Line 24">
              <a:extLst>
                <a:ext uri="{FF2B5EF4-FFF2-40B4-BE49-F238E27FC236}">
                  <a16:creationId xmlns:a16="http://schemas.microsoft.com/office/drawing/2014/main" id="{94FEAFD1-CF2B-7F63-ED86-BD3ABE54A819}"/>
                </a:ext>
              </a:extLst>
            </p:cNvPr>
            <p:cNvSpPr/>
            <p:nvPr/>
          </p:nvSpPr>
          <p:spPr>
            <a:xfrm flipV="1">
              <a:off x="3527640" y="3269160"/>
              <a:ext cx="607320" cy="64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8" name="Line 25">
              <a:extLst>
                <a:ext uri="{FF2B5EF4-FFF2-40B4-BE49-F238E27FC236}">
                  <a16:creationId xmlns:a16="http://schemas.microsoft.com/office/drawing/2014/main" id="{A18D1667-91C7-AB21-A336-24A9314D974C}"/>
                </a:ext>
              </a:extLst>
            </p:cNvPr>
            <p:cNvSpPr/>
            <p:nvPr/>
          </p:nvSpPr>
          <p:spPr>
            <a:xfrm>
              <a:off x="3583800" y="3647160"/>
              <a:ext cx="551160" cy="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9" name="Line 26">
              <a:extLst>
                <a:ext uri="{FF2B5EF4-FFF2-40B4-BE49-F238E27FC236}">
                  <a16:creationId xmlns:a16="http://schemas.microsoft.com/office/drawing/2014/main" id="{AC092148-89A1-2FE7-33BF-D6613070B777}"/>
                </a:ext>
              </a:extLst>
            </p:cNvPr>
            <p:cNvSpPr/>
            <p:nvPr/>
          </p:nvSpPr>
          <p:spPr>
            <a:xfrm>
              <a:off x="6208560" y="2599560"/>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0" name="Line 27">
              <a:extLst>
                <a:ext uri="{FF2B5EF4-FFF2-40B4-BE49-F238E27FC236}">
                  <a16:creationId xmlns:a16="http://schemas.microsoft.com/office/drawing/2014/main" id="{74AF6F6C-F433-3A29-326F-4A25F9A656F2}"/>
                </a:ext>
              </a:extLst>
            </p:cNvPr>
            <p:cNvSpPr/>
            <p:nvPr/>
          </p:nvSpPr>
          <p:spPr>
            <a:xfrm>
              <a:off x="6208560" y="3473640"/>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1" name="Line 28">
              <a:extLst>
                <a:ext uri="{FF2B5EF4-FFF2-40B4-BE49-F238E27FC236}">
                  <a16:creationId xmlns:a16="http://schemas.microsoft.com/office/drawing/2014/main" id="{C3B745E6-408B-A49E-2CF9-EA23642B02AB}"/>
                </a:ext>
              </a:extLst>
            </p:cNvPr>
            <p:cNvSpPr/>
            <p:nvPr/>
          </p:nvSpPr>
          <p:spPr>
            <a:xfrm flipH="1">
              <a:off x="3711600" y="2522160"/>
              <a:ext cx="12708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2" name="Line 29">
              <a:extLst>
                <a:ext uri="{FF2B5EF4-FFF2-40B4-BE49-F238E27FC236}">
                  <a16:creationId xmlns:a16="http://schemas.microsoft.com/office/drawing/2014/main" id="{253B978E-6324-6A0F-9442-0A5151A16B61}"/>
                </a:ext>
              </a:extLst>
            </p:cNvPr>
            <p:cNvSpPr/>
            <p:nvPr/>
          </p:nvSpPr>
          <p:spPr>
            <a:xfrm flipH="1">
              <a:off x="3711600" y="2839680"/>
              <a:ext cx="127080" cy="1407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3" name="Line 30">
              <a:extLst>
                <a:ext uri="{FF2B5EF4-FFF2-40B4-BE49-F238E27FC236}">
                  <a16:creationId xmlns:a16="http://schemas.microsoft.com/office/drawing/2014/main" id="{11FD61AF-02AC-C204-A4CB-D2F2A87966C4}"/>
                </a:ext>
              </a:extLst>
            </p:cNvPr>
            <p:cNvSpPr/>
            <p:nvPr/>
          </p:nvSpPr>
          <p:spPr>
            <a:xfrm flipH="1">
              <a:off x="3711600" y="3198240"/>
              <a:ext cx="12708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4" name="CustomShape 31">
              <a:extLst>
                <a:ext uri="{FF2B5EF4-FFF2-40B4-BE49-F238E27FC236}">
                  <a16:creationId xmlns:a16="http://schemas.microsoft.com/office/drawing/2014/main" id="{14323FEC-86D0-66E0-F157-955253C6512C}"/>
                </a:ext>
              </a:extLst>
            </p:cNvPr>
            <p:cNvSpPr/>
            <p:nvPr/>
          </p:nvSpPr>
          <p:spPr>
            <a:xfrm>
              <a:off x="3608280" y="239364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5" name="CustomShape 32">
              <a:extLst>
                <a:ext uri="{FF2B5EF4-FFF2-40B4-BE49-F238E27FC236}">
                  <a16:creationId xmlns:a16="http://schemas.microsoft.com/office/drawing/2014/main" id="{41ED3ABE-C93E-B2A8-16BD-648F62B04D55}"/>
                </a:ext>
              </a:extLst>
            </p:cNvPr>
            <p:cNvSpPr/>
            <p:nvPr/>
          </p:nvSpPr>
          <p:spPr>
            <a:xfrm>
              <a:off x="3575160" y="2724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6" name="CustomShape 33">
              <a:extLst>
                <a:ext uri="{FF2B5EF4-FFF2-40B4-BE49-F238E27FC236}">
                  <a16:creationId xmlns:a16="http://schemas.microsoft.com/office/drawing/2014/main" id="{4983EEE3-D76B-6218-30B6-C2D432B82396}"/>
                </a:ext>
              </a:extLst>
            </p:cNvPr>
            <p:cNvSpPr/>
            <p:nvPr/>
          </p:nvSpPr>
          <p:spPr>
            <a:xfrm>
              <a:off x="3575160" y="3102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37" name="Line 34">
              <a:extLst>
                <a:ext uri="{FF2B5EF4-FFF2-40B4-BE49-F238E27FC236}">
                  <a16:creationId xmlns:a16="http://schemas.microsoft.com/office/drawing/2014/main" id="{DD32F1B2-608D-5143-FF23-1A9C26CA600F}"/>
                </a:ext>
              </a:extLst>
            </p:cNvPr>
            <p:cNvSpPr/>
            <p:nvPr/>
          </p:nvSpPr>
          <p:spPr>
            <a:xfrm>
              <a:off x="1511640" y="2535480"/>
              <a:ext cx="1931760" cy="4716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8" name="Line 35">
              <a:extLst>
                <a:ext uri="{FF2B5EF4-FFF2-40B4-BE49-F238E27FC236}">
                  <a16:creationId xmlns:a16="http://schemas.microsoft.com/office/drawing/2014/main" id="{8C2D0CE7-AFC8-EF73-3956-4B918C1FA77C}"/>
                </a:ext>
              </a:extLst>
            </p:cNvPr>
            <p:cNvSpPr/>
            <p:nvPr/>
          </p:nvSpPr>
          <p:spPr>
            <a:xfrm flipV="1">
              <a:off x="1511640" y="2897640"/>
              <a:ext cx="1931760" cy="17316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9" name="Line 36">
              <a:extLst>
                <a:ext uri="{FF2B5EF4-FFF2-40B4-BE49-F238E27FC236}">
                  <a16:creationId xmlns:a16="http://schemas.microsoft.com/office/drawing/2014/main" id="{C58B784D-C464-C8EA-00AD-5B4F5AFB0609}"/>
                </a:ext>
              </a:extLst>
            </p:cNvPr>
            <p:cNvSpPr/>
            <p:nvPr/>
          </p:nvSpPr>
          <p:spPr>
            <a:xfrm flipV="1">
              <a:off x="1511640" y="3826800"/>
              <a:ext cx="1260000" cy="1584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0" name="CustomShape 37">
              <a:extLst>
                <a:ext uri="{FF2B5EF4-FFF2-40B4-BE49-F238E27FC236}">
                  <a16:creationId xmlns:a16="http://schemas.microsoft.com/office/drawing/2014/main" id="{DC3DCF42-81DA-5148-935A-FB851280A646}"/>
                </a:ext>
              </a:extLst>
            </p:cNvPr>
            <p:cNvSpPr/>
            <p:nvPr/>
          </p:nvSpPr>
          <p:spPr>
            <a:xfrm>
              <a:off x="1675440" y="2331000"/>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41" name="CustomShape 38">
              <a:extLst>
                <a:ext uri="{FF2B5EF4-FFF2-40B4-BE49-F238E27FC236}">
                  <a16:creationId xmlns:a16="http://schemas.microsoft.com/office/drawing/2014/main" id="{BF230237-6AAA-1230-513C-6DD3788C87BD}"/>
                </a:ext>
              </a:extLst>
            </p:cNvPr>
            <p:cNvSpPr/>
            <p:nvPr/>
          </p:nvSpPr>
          <p:spPr>
            <a:xfrm rot="21202800">
              <a:off x="1592280" y="2795040"/>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42" name="CustomShape 39">
              <a:extLst>
                <a:ext uri="{FF2B5EF4-FFF2-40B4-BE49-F238E27FC236}">
                  <a16:creationId xmlns:a16="http://schemas.microsoft.com/office/drawing/2014/main" id="{0A11A2A8-049D-776F-3C0C-FD65A72299E6}"/>
                </a:ext>
              </a:extLst>
            </p:cNvPr>
            <p:cNvSpPr/>
            <p:nvPr/>
          </p:nvSpPr>
          <p:spPr>
            <a:xfrm>
              <a:off x="1591560" y="3638160"/>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43" name="CustomShape 40">
              <a:extLst>
                <a:ext uri="{FF2B5EF4-FFF2-40B4-BE49-F238E27FC236}">
                  <a16:creationId xmlns:a16="http://schemas.microsoft.com/office/drawing/2014/main" id="{9BC48BCE-A735-B6AA-EB62-07187C887995}"/>
                </a:ext>
              </a:extLst>
            </p:cNvPr>
            <p:cNvSpPr/>
            <p:nvPr/>
          </p:nvSpPr>
          <p:spPr>
            <a:xfrm>
              <a:off x="2771640" y="3212640"/>
              <a:ext cx="335880" cy="755640"/>
            </a:xfrm>
            <a:prstGeom prst="roundRect">
              <a:avLst>
                <a:gd name="adj" fmla="val 16667"/>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44" name="CustomShape 41">
              <a:extLst>
                <a:ext uri="{FF2B5EF4-FFF2-40B4-BE49-F238E27FC236}">
                  <a16:creationId xmlns:a16="http://schemas.microsoft.com/office/drawing/2014/main" id="{5F6A9E5B-0929-2FBA-9E2D-F207B781F784}"/>
                </a:ext>
              </a:extLst>
            </p:cNvPr>
            <p:cNvSpPr/>
            <p:nvPr/>
          </p:nvSpPr>
          <p:spPr>
            <a:xfrm rot="16200000" flipH="1">
              <a:off x="2212560" y="2905560"/>
              <a:ext cx="468360" cy="648720"/>
            </a:xfrm>
            <a:prstGeom prst="bentConnector2">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5" name="Line 42">
              <a:extLst>
                <a:ext uri="{FF2B5EF4-FFF2-40B4-BE49-F238E27FC236}">
                  <a16:creationId xmlns:a16="http://schemas.microsoft.com/office/drawing/2014/main" id="{36270C27-86C6-BD17-ACCC-6B492F35DB68}"/>
                </a:ext>
              </a:extLst>
            </p:cNvPr>
            <p:cNvSpPr/>
            <p:nvPr/>
          </p:nvSpPr>
          <p:spPr>
            <a:xfrm flipV="1">
              <a:off x="3107520" y="3275640"/>
              <a:ext cx="420120" cy="31500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6" name="CustomShape 43">
              <a:extLst>
                <a:ext uri="{FF2B5EF4-FFF2-40B4-BE49-F238E27FC236}">
                  <a16:creationId xmlns:a16="http://schemas.microsoft.com/office/drawing/2014/main" id="{EBA0A6EC-0617-0362-7DDF-0917DFC0ED31}"/>
                </a:ext>
              </a:extLst>
            </p:cNvPr>
            <p:cNvSpPr/>
            <p:nvPr/>
          </p:nvSpPr>
          <p:spPr>
            <a:xfrm>
              <a:off x="2527200" y="4157640"/>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RegDst</a:t>
              </a:r>
              <a:endParaRPr lang="en-US" sz="1600" b="0" strike="noStrike" spc="-1">
                <a:latin typeface="Arial"/>
              </a:endParaRPr>
            </a:p>
          </p:txBody>
        </p:sp>
        <p:sp>
          <p:nvSpPr>
            <p:cNvPr id="47" name="Line 44">
              <a:extLst>
                <a:ext uri="{FF2B5EF4-FFF2-40B4-BE49-F238E27FC236}">
                  <a16:creationId xmlns:a16="http://schemas.microsoft.com/office/drawing/2014/main" id="{AE83EB41-D59E-1FE1-2138-BD5BCF85E80E}"/>
                </a:ext>
              </a:extLst>
            </p:cNvPr>
            <p:cNvSpPr/>
            <p:nvPr/>
          </p:nvSpPr>
          <p:spPr>
            <a:xfrm>
              <a:off x="2939400" y="3968640"/>
              <a:ext cx="720" cy="22176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8" name="CustomShape 45">
              <a:extLst>
                <a:ext uri="{FF2B5EF4-FFF2-40B4-BE49-F238E27FC236}">
                  <a16:creationId xmlns:a16="http://schemas.microsoft.com/office/drawing/2014/main" id="{D06B8B32-4119-4D52-312D-9A7325700356}"/>
                </a:ext>
              </a:extLst>
            </p:cNvPr>
            <p:cNvSpPr/>
            <p:nvPr/>
          </p:nvSpPr>
          <p:spPr>
            <a:xfrm flipV="1">
              <a:off x="5291280" y="3963900"/>
              <a:ext cx="2015640" cy="613800"/>
            </a:xfrm>
            <a:prstGeom prst="bentConnector3">
              <a:avLst>
                <a:gd name="adj1" fmla="val 74537"/>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9" name="CustomShape 46">
              <a:extLst>
                <a:ext uri="{FF2B5EF4-FFF2-40B4-BE49-F238E27FC236}">
                  <a16:creationId xmlns:a16="http://schemas.microsoft.com/office/drawing/2014/main" id="{B68D166B-9FE3-87AE-FE7E-608EB9C43F4E}"/>
                </a:ext>
              </a:extLst>
            </p:cNvPr>
            <p:cNvSpPr/>
            <p:nvPr/>
          </p:nvSpPr>
          <p:spPr>
            <a:xfrm>
              <a:off x="1590120" y="4410000"/>
              <a:ext cx="9295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[15:0]</a:t>
              </a:r>
              <a:endParaRPr lang="en-US" sz="1000" b="0" strike="noStrike" spc="-1">
                <a:latin typeface="Arial"/>
              </a:endParaRPr>
            </a:p>
          </p:txBody>
        </p:sp>
        <p:sp>
          <p:nvSpPr>
            <p:cNvPr id="50" name="CustomShape 47">
              <a:extLst>
                <a:ext uri="{FF2B5EF4-FFF2-40B4-BE49-F238E27FC236}">
                  <a16:creationId xmlns:a16="http://schemas.microsoft.com/office/drawing/2014/main" id="{8353EA63-E3F3-E459-D8A9-7248C22306B5}"/>
                </a:ext>
              </a:extLst>
            </p:cNvPr>
            <p:cNvSpPr/>
            <p:nvPr/>
          </p:nvSpPr>
          <p:spPr>
            <a:xfrm>
              <a:off x="7307640" y="3338640"/>
              <a:ext cx="335880" cy="755640"/>
            </a:xfrm>
            <a:prstGeom prst="roundRect">
              <a:avLst>
                <a:gd name="adj" fmla="val 16667"/>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51" name="CustomShape 48">
              <a:extLst>
                <a:ext uri="{FF2B5EF4-FFF2-40B4-BE49-F238E27FC236}">
                  <a16:creationId xmlns:a16="http://schemas.microsoft.com/office/drawing/2014/main" id="{6FC16910-D9F5-16D8-B940-9664D677A003}"/>
                </a:ext>
              </a:extLst>
            </p:cNvPr>
            <p:cNvSpPr/>
            <p:nvPr/>
          </p:nvSpPr>
          <p:spPr>
            <a:xfrm>
              <a:off x="7063200" y="4283640"/>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ALUSrc</a:t>
              </a:r>
              <a:endParaRPr lang="en-US" sz="1600" b="0" strike="noStrike" spc="-1">
                <a:latin typeface="Arial"/>
              </a:endParaRPr>
            </a:p>
          </p:txBody>
        </p:sp>
        <p:sp>
          <p:nvSpPr>
            <p:cNvPr id="52" name="Line 49">
              <a:extLst>
                <a:ext uri="{FF2B5EF4-FFF2-40B4-BE49-F238E27FC236}">
                  <a16:creationId xmlns:a16="http://schemas.microsoft.com/office/drawing/2014/main" id="{27BB8E7D-E94B-27F8-E183-78FC254D734C}"/>
                </a:ext>
              </a:extLst>
            </p:cNvPr>
            <p:cNvSpPr/>
            <p:nvPr/>
          </p:nvSpPr>
          <p:spPr>
            <a:xfrm>
              <a:off x="7475400" y="4094640"/>
              <a:ext cx="720" cy="221760"/>
            </a:xfrm>
            <a:prstGeom prst="line">
              <a:avLst/>
            </a:prstGeom>
            <a:ln w="1908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3" name="Line 50">
              <a:extLst>
                <a:ext uri="{FF2B5EF4-FFF2-40B4-BE49-F238E27FC236}">
                  <a16:creationId xmlns:a16="http://schemas.microsoft.com/office/drawing/2014/main" id="{980DC839-132C-C06B-6F45-9B95B6B1C582}"/>
                </a:ext>
              </a:extLst>
            </p:cNvPr>
            <p:cNvSpPr/>
            <p:nvPr/>
          </p:nvSpPr>
          <p:spPr>
            <a:xfrm>
              <a:off x="1511640" y="4598640"/>
              <a:ext cx="2603880" cy="360"/>
            </a:xfrm>
            <a:prstGeom prst="line">
              <a:avLst/>
            </a:prstGeom>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54" name="Line 51">
              <a:extLst>
                <a:ext uri="{FF2B5EF4-FFF2-40B4-BE49-F238E27FC236}">
                  <a16:creationId xmlns:a16="http://schemas.microsoft.com/office/drawing/2014/main" id="{42FB01E9-68CA-CD02-10A0-5821E8F96D50}"/>
                </a:ext>
              </a:extLst>
            </p:cNvPr>
            <p:cNvSpPr/>
            <p:nvPr/>
          </p:nvSpPr>
          <p:spPr>
            <a:xfrm>
              <a:off x="7643520" y="3716640"/>
              <a:ext cx="11829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55" name="CustomShape 52">
              <a:extLst>
                <a:ext uri="{FF2B5EF4-FFF2-40B4-BE49-F238E27FC236}">
                  <a16:creationId xmlns:a16="http://schemas.microsoft.com/office/drawing/2014/main" id="{3516BF46-E75E-0B7A-1944-A868FFD58D81}"/>
                </a:ext>
              </a:extLst>
            </p:cNvPr>
            <p:cNvSpPr/>
            <p:nvPr/>
          </p:nvSpPr>
          <p:spPr>
            <a:xfrm>
              <a:off x="4618800" y="3924000"/>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sp>
          <p:nvSpPr>
            <p:cNvPr id="56" name="CustomShape 53">
              <a:extLst>
                <a:ext uri="{FF2B5EF4-FFF2-40B4-BE49-F238E27FC236}">
                  <a16:creationId xmlns:a16="http://schemas.microsoft.com/office/drawing/2014/main" id="{65B16EFC-D7AA-BE0D-4DA4-B94A8282C71D}"/>
                </a:ext>
              </a:extLst>
            </p:cNvPr>
            <p:cNvSpPr/>
            <p:nvPr/>
          </p:nvSpPr>
          <p:spPr>
            <a:xfrm>
              <a:off x="4115880" y="4346640"/>
              <a:ext cx="1175400" cy="441000"/>
            </a:xfrm>
            <a:prstGeom prst="ellipse">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400" b="0" strike="noStrike" spc="-1">
                  <a:solidFill>
                    <a:srgbClr val="000000"/>
                  </a:solidFill>
                  <a:latin typeface="Times New Roman"/>
                  <a:ea typeface="ＭＳ Ｐゴシック"/>
                </a:rPr>
                <a:t>Sign Extend</a:t>
              </a:r>
              <a:endParaRPr lang="en-US" sz="1400" b="0" strike="noStrike" spc="-1">
                <a:latin typeface="Arial"/>
              </a:endParaRPr>
            </a:p>
          </p:txBody>
        </p:sp>
        <p:sp>
          <p:nvSpPr>
            <p:cNvPr id="57" name="Line 54">
              <a:extLst>
                <a:ext uri="{FF2B5EF4-FFF2-40B4-BE49-F238E27FC236}">
                  <a16:creationId xmlns:a16="http://schemas.microsoft.com/office/drawing/2014/main" id="{E2335F84-BA8D-425A-CF36-7765643936D1}"/>
                </a:ext>
              </a:extLst>
            </p:cNvPr>
            <p:cNvSpPr/>
            <p:nvPr/>
          </p:nvSpPr>
          <p:spPr>
            <a:xfrm flipH="1">
              <a:off x="3735720" y="4521240"/>
              <a:ext cx="12780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8" name="CustomShape 55">
              <a:extLst>
                <a:ext uri="{FF2B5EF4-FFF2-40B4-BE49-F238E27FC236}">
                  <a16:creationId xmlns:a16="http://schemas.microsoft.com/office/drawing/2014/main" id="{F07D3E2B-DFC1-74E0-A40A-DA4E8A9986F0}"/>
                </a:ext>
              </a:extLst>
            </p:cNvPr>
            <p:cNvSpPr/>
            <p:nvPr/>
          </p:nvSpPr>
          <p:spPr>
            <a:xfrm>
              <a:off x="3499920" y="4425480"/>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16</a:t>
              </a:r>
              <a:endParaRPr lang="en-US" sz="1000" b="0" strike="noStrike" spc="-1">
                <a:latin typeface="Arial"/>
              </a:endParaRPr>
            </a:p>
          </p:txBody>
        </p:sp>
        <p:sp>
          <p:nvSpPr>
            <p:cNvPr id="59" name="CustomShape 56">
              <a:extLst>
                <a:ext uri="{FF2B5EF4-FFF2-40B4-BE49-F238E27FC236}">
                  <a16:creationId xmlns:a16="http://schemas.microsoft.com/office/drawing/2014/main" id="{587E136F-96A0-CEE5-6F61-DFA179D8EE1C}"/>
                </a:ext>
              </a:extLst>
            </p:cNvPr>
            <p:cNvSpPr/>
            <p:nvPr/>
          </p:nvSpPr>
          <p:spPr>
            <a:xfrm>
              <a:off x="5465160" y="4410000"/>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32</a:t>
              </a:r>
              <a:endParaRPr lang="en-US" sz="1000" b="0" strike="noStrike" spc="-1">
                <a:latin typeface="Arial"/>
              </a:endParaRPr>
            </a:p>
          </p:txBody>
        </p:sp>
        <p:sp>
          <p:nvSpPr>
            <p:cNvPr id="60" name="Line 57">
              <a:extLst>
                <a:ext uri="{FF2B5EF4-FFF2-40B4-BE49-F238E27FC236}">
                  <a16:creationId xmlns:a16="http://schemas.microsoft.com/office/drawing/2014/main" id="{222952B6-DC5D-CCBC-1074-789785F857CD}"/>
                </a:ext>
              </a:extLst>
            </p:cNvPr>
            <p:cNvSpPr/>
            <p:nvPr/>
          </p:nvSpPr>
          <p:spPr>
            <a:xfrm flipH="1">
              <a:off x="5714280" y="4493520"/>
              <a:ext cx="12780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grpSp>
      <p:sp>
        <p:nvSpPr>
          <p:cNvPr id="61" name="CustomShape 58">
            <a:extLst>
              <a:ext uri="{FF2B5EF4-FFF2-40B4-BE49-F238E27FC236}">
                <a16:creationId xmlns:a16="http://schemas.microsoft.com/office/drawing/2014/main" id="{48DD8428-63ED-0FE8-5693-201A82E3760D}"/>
              </a:ext>
            </a:extLst>
          </p:cNvPr>
          <p:cNvSpPr/>
          <p:nvPr/>
        </p:nvSpPr>
        <p:spPr>
          <a:xfrm>
            <a:off x="6499550" y="3281668"/>
            <a:ext cx="90648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C00000"/>
                </a:solidFill>
                <a:latin typeface="Verdana"/>
                <a:ea typeface="ＭＳ Ｐゴシック"/>
              </a:rPr>
              <a:t>Register</a:t>
            </a:r>
            <a:endParaRPr lang="en-US" sz="1200" b="0" strike="noStrike" spc="-1">
              <a:latin typeface="Arial"/>
            </a:endParaRPr>
          </a:p>
          <a:p>
            <a:pPr algn="ctr">
              <a:lnSpc>
                <a:spcPct val="100000"/>
              </a:lnSpc>
            </a:pPr>
            <a:r>
              <a:rPr lang="en-US" sz="1200" b="1" i="1" strike="noStrike" spc="-1">
                <a:solidFill>
                  <a:srgbClr val="C00000"/>
                </a:solidFill>
                <a:latin typeface="Verdana"/>
                <a:ea typeface="ＭＳ Ｐゴシック"/>
              </a:rPr>
              <a:t>File</a:t>
            </a:r>
            <a:endParaRPr lang="en-US" sz="1200" b="0" strike="noStrike" spc="-1">
              <a:latin typeface="Arial"/>
            </a:endParaRPr>
          </a:p>
        </p:txBody>
      </p:sp>
    </p:spTree>
    <p:extLst>
      <p:ext uri="{BB962C8B-B14F-4D97-AF65-F5344CB8AC3E}">
        <p14:creationId xmlns:p14="http://schemas.microsoft.com/office/powerpoint/2010/main" val="25306395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Giải mã: tổng hợp</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32</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3" name="CustomShape 1">
            <a:extLst>
              <a:ext uri="{FF2B5EF4-FFF2-40B4-BE49-F238E27FC236}">
                <a16:creationId xmlns:a16="http://schemas.microsoft.com/office/drawing/2014/main" id="{E585E37A-49E0-C367-4D99-8C787DC11198}"/>
              </a:ext>
            </a:extLst>
          </p:cNvPr>
          <p:cNvSpPr/>
          <p:nvPr/>
        </p:nvSpPr>
        <p:spPr>
          <a:xfrm>
            <a:off x="2906797" y="2185865"/>
            <a:ext cx="5711400" cy="3149640"/>
          </a:xfrm>
          <a:prstGeom prst="rect">
            <a:avLst/>
          </a:prstGeom>
          <a:solidFill>
            <a:schemeClr val="accent1">
              <a:lumMod val="20000"/>
              <a:lumOff val="80000"/>
            </a:schemeClr>
          </a:solidFill>
          <a:ln>
            <a:round/>
          </a:ln>
        </p:spPr>
        <p:style>
          <a:lnRef idx="2">
            <a:schemeClr val="accent1">
              <a:shade val="50000"/>
            </a:schemeClr>
          </a:lnRef>
          <a:fillRef idx="1">
            <a:schemeClr val="accent1"/>
          </a:fillRef>
          <a:effectRef idx="0">
            <a:schemeClr val="accent1"/>
          </a:effectRef>
          <a:fontRef idx="minor"/>
        </p:style>
        <p:txBody>
          <a:bodyPr/>
          <a:lstStyle/>
          <a:p>
            <a:endParaRPr lang="vi-VN"/>
          </a:p>
        </p:txBody>
      </p:sp>
      <p:sp>
        <p:nvSpPr>
          <p:cNvPr id="6" name="Line 4">
            <a:extLst>
              <a:ext uri="{FF2B5EF4-FFF2-40B4-BE49-F238E27FC236}">
                <a16:creationId xmlns:a16="http://schemas.microsoft.com/office/drawing/2014/main" id="{56F0789A-4E83-26D7-C3DB-9F4E998052CA}"/>
              </a:ext>
            </a:extLst>
          </p:cNvPr>
          <p:cNvSpPr/>
          <p:nvPr/>
        </p:nvSpPr>
        <p:spPr>
          <a:xfrm>
            <a:off x="5963917" y="4012865"/>
            <a:ext cx="360" cy="2217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7" name="CustomShape 5">
            <a:extLst>
              <a:ext uri="{FF2B5EF4-FFF2-40B4-BE49-F238E27FC236}">
                <a16:creationId xmlns:a16="http://schemas.microsoft.com/office/drawing/2014/main" id="{78A907B1-886F-A1C8-3211-988B6F46774D}"/>
              </a:ext>
            </a:extLst>
          </p:cNvPr>
          <p:cNvSpPr/>
          <p:nvPr/>
        </p:nvSpPr>
        <p:spPr>
          <a:xfrm>
            <a:off x="5159317" y="2626865"/>
            <a:ext cx="1714320" cy="149292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8" name="CustomShape 6">
            <a:extLst>
              <a:ext uri="{FF2B5EF4-FFF2-40B4-BE49-F238E27FC236}">
                <a16:creationId xmlns:a16="http://schemas.microsoft.com/office/drawing/2014/main" id="{C7B38ABB-5332-0076-D0E2-9B4A525B5586}"/>
              </a:ext>
            </a:extLst>
          </p:cNvPr>
          <p:cNvSpPr/>
          <p:nvPr/>
        </p:nvSpPr>
        <p:spPr>
          <a:xfrm>
            <a:off x="5119717" y="2681945"/>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9" name="CustomShape 7">
            <a:extLst>
              <a:ext uri="{FF2B5EF4-FFF2-40B4-BE49-F238E27FC236}">
                <a16:creationId xmlns:a16="http://schemas.microsoft.com/office/drawing/2014/main" id="{D11FD8BF-D0E8-1C3C-029D-9130AD5BBF45}"/>
              </a:ext>
            </a:extLst>
          </p:cNvPr>
          <p:cNvSpPr/>
          <p:nvPr/>
        </p:nvSpPr>
        <p:spPr>
          <a:xfrm>
            <a:off x="5119717" y="3050945"/>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10" name="CustomShape 8">
            <a:extLst>
              <a:ext uri="{FF2B5EF4-FFF2-40B4-BE49-F238E27FC236}">
                <a16:creationId xmlns:a16="http://schemas.microsoft.com/office/drawing/2014/main" id="{E0C308B0-86CD-8D9A-654B-2AC07538D915}"/>
              </a:ext>
            </a:extLst>
          </p:cNvPr>
          <p:cNvSpPr/>
          <p:nvPr/>
        </p:nvSpPr>
        <p:spPr>
          <a:xfrm>
            <a:off x="5125117" y="3398345"/>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11" name="CustomShape 9">
            <a:extLst>
              <a:ext uri="{FF2B5EF4-FFF2-40B4-BE49-F238E27FC236}">
                <a16:creationId xmlns:a16="http://schemas.microsoft.com/office/drawing/2014/main" id="{2C06B4F6-BB5C-8E7E-21A9-74CD60D116F0}"/>
              </a:ext>
            </a:extLst>
          </p:cNvPr>
          <p:cNvSpPr/>
          <p:nvPr/>
        </p:nvSpPr>
        <p:spPr>
          <a:xfrm>
            <a:off x="5136277" y="3776345"/>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12" name="CustomShape 10">
            <a:extLst>
              <a:ext uri="{FF2B5EF4-FFF2-40B4-BE49-F238E27FC236}">
                <a16:creationId xmlns:a16="http://schemas.microsoft.com/office/drawing/2014/main" id="{FEDE58A4-DA2C-73BB-B75D-689C8BA36D8D}"/>
              </a:ext>
            </a:extLst>
          </p:cNvPr>
          <p:cNvSpPr/>
          <p:nvPr/>
        </p:nvSpPr>
        <p:spPr>
          <a:xfrm>
            <a:off x="6268117" y="2729105"/>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13" name="CustomShape 11">
            <a:extLst>
              <a:ext uri="{FF2B5EF4-FFF2-40B4-BE49-F238E27FC236}">
                <a16:creationId xmlns:a16="http://schemas.microsoft.com/office/drawing/2014/main" id="{B18FD316-E762-663B-B8D4-18E2A7B6B49F}"/>
              </a:ext>
            </a:extLst>
          </p:cNvPr>
          <p:cNvSpPr/>
          <p:nvPr/>
        </p:nvSpPr>
        <p:spPr>
          <a:xfrm>
            <a:off x="6268117" y="3587345"/>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14" name="Line 12">
            <a:extLst>
              <a:ext uri="{FF2B5EF4-FFF2-40B4-BE49-F238E27FC236}">
                <a16:creationId xmlns:a16="http://schemas.microsoft.com/office/drawing/2014/main" id="{92342E3B-1847-D3A6-7A9F-8B2AD5B64B0F}"/>
              </a:ext>
            </a:extLst>
          </p:cNvPr>
          <p:cNvSpPr/>
          <p:nvPr/>
        </p:nvSpPr>
        <p:spPr>
          <a:xfrm>
            <a:off x="4587637" y="2878865"/>
            <a:ext cx="57168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5" name="Line 13">
            <a:extLst>
              <a:ext uri="{FF2B5EF4-FFF2-40B4-BE49-F238E27FC236}">
                <a16:creationId xmlns:a16="http://schemas.microsoft.com/office/drawing/2014/main" id="{9427B905-A611-E95E-2182-5E1B9C1CCF39}"/>
              </a:ext>
            </a:extLst>
          </p:cNvPr>
          <p:cNvSpPr/>
          <p:nvPr/>
        </p:nvSpPr>
        <p:spPr>
          <a:xfrm>
            <a:off x="4587637" y="3193505"/>
            <a:ext cx="571680" cy="133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6" name="Line 14">
            <a:extLst>
              <a:ext uri="{FF2B5EF4-FFF2-40B4-BE49-F238E27FC236}">
                <a16:creationId xmlns:a16="http://schemas.microsoft.com/office/drawing/2014/main" id="{0FC49FF6-C78B-C5AA-5583-F662201AE397}"/>
              </a:ext>
            </a:extLst>
          </p:cNvPr>
          <p:cNvSpPr/>
          <p:nvPr/>
        </p:nvSpPr>
        <p:spPr>
          <a:xfrm flipV="1">
            <a:off x="4657117" y="3565025"/>
            <a:ext cx="502200" cy="68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7" name="Line 15">
            <a:extLst>
              <a:ext uri="{FF2B5EF4-FFF2-40B4-BE49-F238E27FC236}">
                <a16:creationId xmlns:a16="http://schemas.microsoft.com/office/drawing/2014/main" id="{88A74AB1-4031-C4F4-476B-31E8B7C3E189}"/>
              </a:ext>
            </a:extLst>
          </p:cNvPr>
          <p:cNvSpPr/>
          <p:nvPr/>
        </p:nvSpPr>
        <p:spPr>
          <a:xfrm>
            <a:off x="4703557" y="3943025"/>
            <a:ext cx="4557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8" name="Line 16">
            <a:extLst>
              <a:ext uri="{FF2B5EF4-FFF2-40B4-BE49-F238E27FC236}">
                <a16:creationId xmlns:a16="http://schemas.microsoft.com/office/drawing/2014/main" id="{B7E724B9-9F6A-35B5-62F0-132F2857E93D}"/>
              </a:ext>
            </a:extLst>
          </p:cNvPr>
          <p:cNvSpPr/>
          <p:nvPr/>
        </p:nvSpPr>
        <p:spPr>
          <a:xfrm flipV="1">
            <a:off x="6873997" y="2878505"/>
            <a:ext cx="2164320" cy="1692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9" name="Line 17">
            <a:extLst>
              <a:ext uri="{FF2B5EF4-FFF2-40B4-BE49-F238E27FC236}">
                <a16:creationId xmlns:a16="http://schemas.microsoft.com/office/drawing/2014/main" id="{CBA9337B-3D8E-15CC-F8F4-DB2802C90AA6}"/>
              </a:ext>
            </a:extLst>
          </p:cNvPr>
          <p:cNvSpPr/>
          <p:nvPr/>
        </p:nvSpPr>
        <p:spPr>
          <a:xfrm>
            <a:off x="6873997" y="3769865"/>
            <a:ext cx="97812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0" name="CustomShape 18">
            <a:extLst>
              <a:ext uri="{FF2B5EF4-FFF2-40B4-BE49-F238E27FC236}">
                <a16:creationId xmlns:a16="http://schemas.microsoft.com/office/drawing/2014/main" id="{B09AD70B-F7E1-DA56-F078-CECC9E0287CE}"/>
              </a:ext>
            </a:extLst>
          </p:cNvPr>
          <p:cNvSpPr/>
          <p:nvPr/>
        </p:nvSpPr>
        <p:spPr>
          <a:xfrm>
            <a:off x="5883277" y="3319865"/>
            <a:ext cx="99792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Registers</a:t>
            </a:r>
            <a:endParaRPr lang="en-US" sz="1200" b="0" strike="noStrike" spc="-1">
              <a:latin typeface="Arial"/>
            </a:endParaRPr>
          </a:p>
        </p:txBody>
      </p:sp>
      <p:sp>
        <p:nvSpPr>
          <p:cNvPr id="21" name="Line 19">
            <a:extLst>
              <a:ext uri="{FF2B5EF4-FFF2-40B4-BE49-F238E27FC236}">
                <a16:creationId xmlns:a16="http://schemas.microsoft.com/office/drawing/2014/main" id="{7F368B0F-1014-A4FB-59D0-6FF5F36888D7}"/>
              </a:ext>
            </a:extLst>
          </p:cNvPr>
          <p:cNvSpPr/>
          <p:nvPr/>
        </p:nvSpPr>
        <p:spPr>
          <a:xfrm flipH="1">
            <a:off x="4809037" y="2818385"/>
            <a:ext cx="105840" cy="1400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2" name="Line 20">
            <a:extLst>
              <a:ext uri="{FF2B5EF4-FFF2-40B4-BE49-F238E27FC236}">
                <a16:creationId xmlns:a16="http://schemas.microsoft.com/office/drawing/2014/main" id="{11003E3A-81CF-274E-FAE8-C605BE366015}"/>
              </a:ext>
            </a:extLst>
          </p:cNvPr>
          <p:cNvSpPr/>
          <p:nvPr/>
        </p:nvSpPr>
        <p:spPr>
          <a:xfrm flipH="1">
            <a:off x="4809037" y="3135905"/>
            <a:ext cx="10584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3" name="Line 21">
            <a:extLst>
              <a:ext uri="{FF2B5EF4-FFF2-40B4-BE49-F238E27FC236}">
                <a16:creationId xmlns:a16="http://schemas.microsoft.com/office/drawing/2014/main" id="{B4813A55-B828-B057-02ED-465C1956957A}"/>
              </a:ext>
            </a:extLst>
          </p:cNvPr>
          <p:cNvSpPr/>
          <p:nvPr/>
        </p:nvSpPr>
        <p:spPr>
          <a:xfrm flipH="1">
            <a:off x="4809037" y="3494465"/>
            <a:ext cx="10584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4" name="CustomShape 22">
            <a:extLst>
              <a:ext uri="{FF2B5EF4-FFF2-40B4-BE49-F238E27FC236}">
                <a16:creationId xmlns:a16="http://schemas.microsoft.com/office/drawing/2014/main" id="{DA3FECE5-E12A-9146-7D75-C12492E4A02C}"/>
              </a:ext>
            </a:extLst>
          </p:cNvPr>
          <p:cNvSpPr/>
          <p:nvPr/>
        </p:nvSpPr>
        <p:spPr>
          <a:xfrm>
            <a:off x="4701397" y="2689865"/>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5" name="CustomShape 23">
            <a:extLst>
              <a:ext uri="{FF2B5EF4-FFF2-40B4-BE49-F238E27FC236}">
                <a16:creationId xmlns:a16="http://schemas.microsoft.com/office/drawing/2014/main" id="{C28343D0-7EB7-D0ED-421B-10581ABF2C3F}"/>
              </a:ext>
            </a:extLst>
          </p:cNvPr>
          <p:cNvSpPr/>
          <p:nvPr/>
        </p:nvSpPr>
        <p:spPr>
          <a:xfrm>
            <a:off x="4673677" y="3020345"/>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6" name="CustomShape 24">
            <a:extLst>
              <a:ext uri="{FF2B5EF4-FFF2-40B4-BE49-F238E27FC236}">
                <a16:creationId xmlns:a16="http://schemas.microsoft.com/office/drawing/2014/main" id="{C8AC551A-7497-8EDD-0A00-803F85458E70}"/>
              </a:ext>
            </a:extLst>
          </p:cNvPr>
          <p:cNvSpPr/>
          <p:nvPr/>
        </p:nvSpPr>
        <p:spPr>
          <a:xfrm>
            <a:off x="4673677" y="3398345"/>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7" name="Line 25">
            <a:extLst>
              <a:ext uri="{FF2B5EF4-FFF2-40B4-BE49-F238E27FC236}">
                <a16:creationId xmlns:a16="http://schemas.microsoft.com/office/drawing/2014/main" id="{EA056B19-EED0-4602-65A8-1EEB0A64A567}"/>
              </a:ext>
            </a:extLst>
          </p:cNvPr>
          <p:cNvSpPr/>
          <p:nvPr/>
        </p:nvSpPr>
        <p:spPr>
          <a:xfrm>
            <a:off x="2990317" y="2831345"/>
            <a:ext cx="1597320" cy="47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8" name="Line 26">
            <a:extLst>
              <a:ext uri="{FF2B5EF4-FFF2-40B4-BE49-F238E27FC236}">
                <a16:creationId xmlns:a16="http://schemas.microsoft.com/office/drawing/2014/main" id="{197799B4-4901-5685-13D3-975B3C749A71}"/>
              </a:ext>
            </a:extLst>
          </p:cNvPr>
          <p:cNvSpPr/>
          <p:nvPr/>
        </p:nvSpPr>
        <p:spPr>
          <a:xfrm flipV="1">
            <a:off x="2990317" y="3193505"/>
            <a:ext cx="1597320" cy="173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9" name="Line 27">
            <a:extLst>
              <a:ext uri="{FF2B5EF4-FFF2-40B4-BE49-F238E27FC236}">
                <a16:creationId xmlns:a16="http://schemas.microsoft.com/office/drawing/2014/main" id="{07A49A96-383C-5153-ABDB-D275D27F7264}"/>
              </a:ext>
            </a:extLst>
          </p:cNvPr>
          <p:cNvSpPr/>
          <p:nvPr/>
        </p:nvSpPr>
        <p:spPr>
          <a:xfrm flipV="1">
            <a:off x="2990317" y="4122665"/>
            <a:ext cx="1041480" cy="1584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0" name="CustomShape 28">
            <a:extLst>
              <a:ext uri="{FF2B5EF4-FFF2-40B4-BE49-F238E27FC236}">
                <a16:creationId xmlns:a16="http://schemas.microsoft.com/office/drawing/2014/main" id="{A8141C38-FB97-40A4-5840-8EB6CE27ED4E}"/>
              </a:ext>
            </a:extLst>
          </p:cNvPr>
          <p:cNvSpPr/>
          <p:nvPr/>
        </p:nvSpPr>
        <p:spPr>
          <a:xfrm>
            <a:off x="3037837" y="2626505"/>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31" name="CustomShape 29">
            <a:extLst>
              <a:ext uri="{FF2B5EF4-FFF2-40B4-BE49-F238E27FC236}">
                <a16:creationId xmlns:a16="http://schemas.microsoft.com/office/drawing/2014/main" id="{C771CBF6-871B-27FD-0D71-8B081EC560AC}"/>
              </a:ext>
            </a:extLst>
          </p:cNvPr>
          <p:cNvSpPr/>
          <p:nvPr/>
        </p:nvSpPr>
        <p:spPr>
          <a:xfrm rot="21202800">
            <a:off x="2968357" y="3090545"/>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32" name="CustomShape 30">
            <a:extLst>
              <a:ext uri="{FF2B5EF4-FFF2-40B4-BE49-F238E27FC236}">
                <a16:creationId xmlns:a16="http://schemas.microsoft.com/office/drawing/2014/main" id="{EBE2DB0B-8450-1DE3-6C87-481935ACDEF4}"/>
              </a:ext>
            </a:extLst>
          </p:cNvPr>
          <p:cNvSpPr/>
          <p:nvPr/>
        </p:nvSpPr>
        <p:spPr>
          <a:xfrm>
            <a:off x="2968357" y="3933665"/>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33" name="CustomShape 31">
            <a:extLst>
              <a:ext uri="{FF2B5EF4-FFF2-40B4-BE49-F238E27FC236}">
                <a16:creationId xmlns:a16="http://schemas.microsoft.com/office/drawing/2014/main" id="{F9896298-7EA6-F7AC-7182-111F58BB33EE}"/>
              </a:ext>
            </a:extLst>
          </p:cNvPr>
          <p:cNvSpPr/>
          <p:nvPr/>
        </p:nvSpPr>
        <p:spPr>
          <a:xfrm>
            <a:off x="4032517" y="3508865"/>
            <a:ext cx="277560" cy="755640"/>
          </a:xfrm>
          <a:prstGeom prst="roundRect">
            <a:avLst>
              <a:gd name="adj" fmla="val 16667"/>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34" name="CustomShape 32">
            <a:extLst>
              <a:ext uri="{FF2B5EF4-FFF2-40B4-BE49-F238E27FC236}">
                <a16:creationId xmlns:a16="http://schemas.microsoft.com/office/drawing/2014/main" id="{7F08B54F-D502-4FB4-B192-C642AFAEFE89}"/>
              </a:ext>
            </a:extLst>
          </p:cNvPr>
          <p:cNvSpPr/>
          <p:nvPr/>
        </p:nvSpPr>
        <p:spPr>
          <a:xfrm rot="16200000" flipH="1">
            <a:off x="3529597" y="3257585"/>
            <a:ext cx="468360" cy="536760"/>
          </a:xfrm>
          <a:prstGeom prst="bentConnector2">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5" name="Line 33">
            <a:extLst>
              <a:ext uri="{FF2B5EF4-FFF2-40B4-BE49-F238E27FC236}">
                <a16:creationId xmlns:a16="http://schemas.microsoft.com/office/drawing/2014/main" id="{914CD0C7-966B-2F20-E1FC-62DA34757E69}"/>
              </a:ext>
            </a:extLst>
          </p:cNvPr>
          <p:cNvSpPr/>
          <p:nvPr/>
        </p:nvSpPr>
        <p:spPr>
          <a:xfrm flipV="1">
            <a:off x="4309717" y="3571505"/>
            <a:ext cx="347400" cy="31500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6" name="CustomShape 34">
            <a:extLst>
              <a:ext uri="{FF2B5EF4-FFF2-40B4-BE49-F238E27FC236}">
                <a16:creationId xmlns:a16="http://schemas.microsoft.com/office/drawing/2014/main" id="{5E861E2E-BC32-1E6F-943C-A8A84616E69B}"/>
              </a:ext>
            </a:extLst>
          </p:cNvPr>
          <p:cNvSpPr/>
          <p:nvPr/>
        </p:nvSpPr>
        <p:spPr>
          <a:xfrm>
            <a:off x="3750997" y="4453865"/>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RegDst</a:t>
            </a:r>
            <a:endParaRPr lang="en-US" sz="1600" b="0" strike="noStrike" spc="-1">
              <a:latin typeface="Arial"/>
            </a:endParaRPr>
          </a:p>
        </p:txBody>
      </p:sp>
      <p:sp>
        <p:nvSpPr>
          <p:cNvPr id="37" name="Line 35">
            <a:extLst>
              <a:ext uri="{FF2B5EF4-FFF2-40B4-BE49-F238E27FC236}">
                <a16:creationId xmlns:a16="http://schemas.microsoft.com/office/drawing/2014/main" id="{E474A486-0956-27C5-707E-A77EB64D0918}"/>
              </a:ext>
            </a:extLst>
          </p:cNvPr>
          <p:cNvSpPr/>
          <p:nvPr/>
        </p:nvSpPr>
        <p:spPr>
          <a:xfrm>
            <a:off x="4170757" y="4264505"/>
            <a:ext cx="360" cy="22176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8" name="CustomShape 36">
            <a:extLst>
              <a:ext uri="{FF2B5EF4-FFF2-40B4-BE49-F238E27FC236}">
                <a16:creationId xmlns:a16="http://schemas.microsoft.com/office/drawing/2014/main" id="{AC6D5FB0-694B-CA28-3B6A-D2B4C58439E1}"/>
              </a:ext>
            </a:extLst>
          </p:cNvPr>
          <p:cNvSpPr/>
          <p:nvPr/>
        </p:nvSpPr>
        <p:spPr>
          <a:xfrm flipV="1">
            <a:off x="6266677" y="4248665"/>
            <a:ext cx="1515600" cy="614160"/>
          </a:xfrm>
          <a:prstGeom prst="bentConnector3">
            <a:avLst>
              <a:gd name="adj1" fmla="val 50000"/>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9" name="CustomShape 37">
            <a:extLst>
              <a:ext uri="{FF2B5EF4-FFF2-40B4-BE49-F238E27FC236}">
                <a16:creationId xmlns:a16="http://schemas.microsoft.com/office/drawing/2014/main" id="{FB2B1AC9-AD14-1E5C-3637-C4BB3CA72591}"/>
              </a:ext>
            </a:extLst>
          </p:cNvPr>
          <p:cNvSpPr/>
          <p:nvPr/>
        </p:nvSpPr>
        <p:spPr>
          <a:xfrm>
            <a:off x="2975197" y="4705505"/>
            <a:ext cx="9295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[15:0]</a:t>
            </a:r>
            <a:endParaRPr lang="en-US" sz="1000" b="0" strike="noStrike" spc="-1">
              <a:latin typeface="Arial"/>
            </a:endParaRPr>
          </a:p>
        </p:txBody>
      </p:sp>
      <p:sp>
        <p:nvSpPr>
          <p:cNvPr id="40" name="CustomShape 38">
            <a:extLst>
              <a:ext uri="{FF2B5EF4-FFF2-40B4-BE49-F238E27FC236}">
                <a16:creationId xmlns:a16="http://schemas.microsoft.com/office/drawing/2014/main" id="{430D1C15-D0A2-82AD-2738-C4415A9DE974}"/>
              </a:ext>
            </a:extLst>
          </p:cNvPr>
          <p:cNvSpPr/>
          <p:nvPr/>
        </p:nvSpPr>
        <p:spPr>
          <a:xfrm>
            <a:off x="7782637" y="3634865"/>
            <a:ext cx="277200" cy="755640"/>
          </a:xfrm>
          <a:prstGeom prst="roundRect">
            <a:avLst>
              <a:gd name="adj" fmla="val 16667"/>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41" name="CustomShape 39">
            <a:extLst>
              <a:ext uri="{FF2B5EF4-FFF2-40B4-BE49-F238E27FC236}">
                <a16:creationId xmlns:a16="http://schemas.microsoft.com/office/drawing/2014/main" id="{E349F28D-9D61-A324-19F5-B785D96947A3}"/>
              </a:ext>
            </a:extLst>
          </p:cNvPr>
          <p:cNvSpPr/>
          <p:nvPr/>
        </p:nvSpPr>
        <p:spPr>
          <a:xfrm>
            <a:off x="7501477" y="4579865"/>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ALUSrc</a:t>
            </a:r>
            <a:endParaRPr lang="en-US" sz="1600" b="0" strike="noStrike" spc="-1">
              <a:latin typeface="Arial"/>
            </a:endParaRPr>
          </a:p>
        </p:txBody>
      </p:sp>
      <p:sp>
        <p:nvSpPr>
          <p:cNvPr id="42" name="Line 40">
            <a:extLst>
              <a:ext uri="{FF2B5EF4-FFF2-40B4-BE49-F238E27FC236}">
                <a16:creationId xmlns:a16="http://schemas.microsoft.com/office/drawing/2014/main" id="{C7B0E7E8-0B78-E76A-6B9C-10DB52336471}"/>
              </a:ext>
            </a:extLst>
          </p:cNvPr>
          <p:cNvSpPr/>
          <p:nvPr/>
        </p:nvSpPr>
        <p:spPr>
          <a:xfrm>
            <a:off x="7921597" y="4390505"/>
            <a:ext cx="360" cy="221760"/>
          </a:xfrm>
          <a:prstGeom prst="line">
            <a:avLst/>
          </a:prstGeom>
          <a:ln w="1908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3" name="Line 41">
            <a:extLst>
              <a:ext uri="{FF2B5EF4-FFF2-40B4-BE49-F238E27FC236}">
                <a16:creationId xmlns:a16="http://schemas.microsoft.com/office/drawing/2014/main" id="{A64D0ACC-5FE2-064D-D1AB-E6E2466C3572}"/>
              </a:ext>
            </a:extLst>
          </p:cNvPr>
          <p:cNvSpPr/>
          <p:nvPr/>
        </p:nvSpPr>
        <p:spPr>
          <a:xfrm>
            <a:off x="2990317" y="4894865"/>
            <a:ext cx="2152800" cy="0"/>
          </a:xfrm>
          <a:prstGeom prst="line">
            <a:avLst/>
          </a:prstGeom>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4" name="Line 42">
            <a:extLst>
              <a:ext uri="{FF2B5EF4-FFF2-40B4-BE49-F238E27FC236}">
                <a16:creationId xmlns:a16="http://schemas.microsoft.com/office/drawing/2014/main" id="{4605E04A-2B27-7621-B746-6B965433EFF5}"/>
              </a:ext>
            </a:extLst>
          </p:cNvPr>
          <p:cNvSpPr/>
          <p:nvPr/>
        </p:nvSpPr>
        <p:spPr>
          <a:xfrm>
            <a:off x="8060557" y="4012865"/>
            <a:ext cx="97776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45" name="CustomShape 43">
            <a:extLst>
              <a:ext uri="{FF2B5EF4-FFF2-40B4-BE49-F238E27FC236}">
                <a16:creationId xmlns:a16="http://schemas.microsoft.com/office/drawing/2014/main" id="{5501109F-1C5F-BEB2-8808-8CDAACED585B}"/>
              </a:ext>
            </a:extLst>
          </p:cNvPr>
          <p:cNvSpPr/>
          <p:nvPr/>
        </p:nvSpPr>
        <p:spPr>
          <a:xfrm>
            <a:off x="5469637" y="4220225"/>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sp>
        <p:nvSpPr>
          <p:cNvPr id="46" name="CustomShape 44">
            <a:extLst>
              <a:ext uri="{FF2B5EF4-FFF2-40B4-BE49-F238E27FC236}">
                <a16:creationId xmlns:a16="http://schemas.microsoft.com/office/drawing/2014/main" id="{97136F46-A0A5-50D1-21E4-2477E3C3C725}"/>
              </a:ext>
            </a:extLst>
          </p:cNvPr>
          <p:cNvSpPr/>
          <p:nvPr/>
        </p:nvSpPr>
        <p:spPr>
          <a:xfrm>
            <a:off x="5090557" y="4642865"/>
            <a:ext cx="1175400" cy="440640"/>
          </a:xfrm>
          <a:prstGeom prst="ellipse">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400" b="0" strike="noStrike" spc="-1">
                <a:solidFill>
                  <a:srgbClr val="000000"/>
                </a:solidFill>
                <a:latin typeface="Times New Roman"/>
                <a:ea typeface="ＭＳ Ｐゴシック"/>
              </a:rPr>
              <a:t>Sign Extend</a:t>
            </a:r>
            <a:endParaRPr lang="en-US" sz="1400" b="0" strike="noStrike" spc="-1">
              <a:latin typeface="Arial"/>
            </a:endParaRPr>
          </a:p>
        </p:txBody>
      </p:sp>
      <p:sp>
        <p:nvSpPr>
          <p:cNvPr id="47" name="Line 45">
            <a:extLst>
              <a:ext uri="{FF2B5EF4-FFF2-40B4-BE49-F238E27FC236}">
                <a16:creationId xmlns:a16="http://schemas.microsoft.com/office/drawing/2014/main" id="{06B2B01C-40B1-FC36-619D-3EC51C528D76}"/>
              </a:ext>
            </a:extLst>
          </p:cNvPr>
          <p:cNvSpPr/>
          <p:nvPr/>
        </p:nvSpPr>
        <p:spPr>
          <a:xfrm flipH="1">
            <a:off x="4829197" y="4817465"/>
            <a:ext cx="10548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8" name="CustomShape 46">
            <a:extLst>
              <a:ext uri="{FF2B5EF4-FFF2-40B4-BE49-F238E27FC236}">
                <a16:creationId xmlns:a16="http://schemas.microsoft.com/office/drawing/2014/main" id="{B3D7EA98-8892-0FA3-F27E-43D040F2E82E}"/>
              </a:ext>
            </a:extLst>
          </p:cNvPr>
          <p:cNvSpPr/>
          <p:nvPr/>
        </p:nvSpPr>
        <p:spPr>
          <a:xfrm>
            <a:off x="4603477" y="4721345"/>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16</a:t>
            </a:r>
            <a:endParaRPr lang="en-US" sz="1000" b="0" strike="noStrike" spc="-1">
              <a:latin typeface="Arial"/>
            </a:endParaRPr>
          </a:p>
        </p:txBody>
      </p:sp>
      <p:sp>
        <p:nvSpPr>
          <p:cNvPr id="49" name="CustomShape 47">
            <a:extLst>
              <a:ext uri="{FF2B5EF4-FFF2-40B4-BE49-F238E27FC236}">
                <a16:creationId xmlns:a16="http://schemas.microsoft.com/office/drawing/2014/main" id="{F4F2CEDA-26AA-821C-7D5E-9C2BFE7EA10E}"/>
              </a:ext>
            </a:extLst>
          </p:cNvPr>
          <p:cNvSpPr/>
          <p:nvPr/>
        </p:nvSpPr>
        <p:spPr>
          <a:xfrm>
            <a:off x="6228517" y="4705505"/>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32</a:t>
            </a:r>
            <a:endParaRPr lang="en-US" sz="1000" b="0" strike="noStrike" spc="-1">
              <a:latin typeface="Arial"/>
            </a:endParaRPr>
          </a:p>
        </p:txBody>
      </p:sp>
      <p:sp>
        <p:nvSpPr>
          <p:cNvPr id="50" name="Line 48">
            <a:extLst>
              <a:ext uri="{FF2B5EF4-FFF2-40B4-BE49-F238E27FC236}">
                <a16:creationId xmlns:a16="http://schemas.microsoft.com/office/drawing/2014/main" id="{18FB0EBE-BEC8-14DF-DA3B-B03A10A81A0C}"/>
              </a:ext>
            </a:extLst>
          </p:cNvPr>
          <p:cNvSpPr/>
          <p:nvPr/>
        </p:nvSpPr>
        <p:spPr>
          <a:xfrm flipH="1">
            <a:off x="6465037" y="4789745"/>
            <a:ext cx="10620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1" name="CustomShape 49">
            <a:extLst>
              <a:ext uri="{FF2B5EF4-FFF2-40B4-BE49-F238E27FC236}">
                <a16:creationId xmlns:a16="http://schemas.microsoft.com/office/drawing/2014/main" id="{B62FD9D9-1739-0391-1B95-BEFEE188E215}"/>
              </a:ext>
            </a:extLst>
          </p:cNvPr>
          <p:cNvSpPr/>
          <p:nvPr/>
        </p:nvSpPr>
        <p:spPr>
          <a:xfrm>
            <a:off x="8870557" y="2689865"/>
            <a:ext cx="1679400" cy="377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Operand 1</a:t>
            </a:r>
            <a:endParaRPr lang="en-US" sz="1800" b="0" strike="noStrike" spc="-1">
              <a:latin typeface="Arial"/>
            </a:endParaRPr>
          </a:p>
        </p:txBody>
      </p:sp>
      <p:sp>
        <p:nvSpPr>
          <p:cNvPr id="52" name="CustomShape 50">
            <a:extLst>
              <a:ext uri="{FF2B5EF4-FFF2-40B4-BE49-F238E27FC236}">
                <a16:creationId xmlns:a16="http://schemas.microsoft.com/office/drawing/2014/main" id="{E00918CC-B715-41F0-9C39-4725DF42FC2B}"/>
              </a:ext>
            </a:extLst>
          </p:cNvPr>
          <p:cNvSpPr/>
          <p:nvPr/>
        </p:nvSpPr>
        <p:spPr>
          <a:xfrm>
            <a:off x="8870557" y="3823865"/>
            <a:ext cx="1679400" cy="377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Operand 2</a:t>
            </a:r>
            <a:endParaRPr lang="en-US" sz="1800" b="0" strike="noStrike" spc="-1">
              <a:latin typeface="Arial"/>
            </a:endParaRPr>
          </a:p>
        </p:txBody>
      </p:sp>
      <p:sp>
        <p:nvSpPr>
          <p:cNvPr id="53" name="CustomShape 51">
            <a:extLst>
              <a:ext uri="{FF2B5EF4-FFF2-40B4-BE49-F238E27FC236}">
                <a16:creationId xmlns:a16="http://schemas.microsoft.com/office/drawing/2014/main" id="{3CCF3F3B-632B-BBEF-B11D-09AFD507C3CA}"/>
              </a:ext>
            </a:extLst>
          </p:cNvPr>
          <p:cNvSpPr/>
          <p:nvPr/>
        </p:nvSpPr>
        <p:spPr>
          <a:xfrm>
            <a:off x="2570557" y="2752865"/>
            <a:ext cx="385920" cy="2204640"/>
          </a:xfrm>
          <a:prstGeom prst="leftBrace">
            <a:avLst>
              <a:gd name="adj1" fmla="val 8333"/>
              <a:gd name="adj2" fmla="val 48413"/>
            </a:avLst>
          </a:prstGeom>
          <a:noFill/>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54" name="Line 52">
            <a:extLst>
              <a:ext uri="{FF2B5EF4-FFF2-40B4-BE49-F238E27FC236}">
                <a16:creationId xmlns:a16="http://schemas.microsoft.com/office/drawing/2014/main" id="{5F387226-09C1-0015-D234-BFFA40F6CCAA}"/>
              </a:ext>
            </a:extLst>
          </p:cNvPr>
          <p:cNvSpPr/>
          <p:nvPr/>
        </p:nvSpPr>
        <p:spPr>
          <a:xfrm>
            <a:off x="1478317" y="3823865"/>
            <a:ext cx="100800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55" name="CustomShape 53">
            <a:extLst>
              <a:ext uri="{FF2B5EF4-FFF2-40B4-BE49-F238E27FC236}">
                <a16:creationId xmlns:a16="http://schemas.microsoft.com/office/drawing/2014/main" id="{3F188230-3E02-727A-B2B2-72BE29E2B7EE}"/>
              </a:ext>
            </a:extLst>
          </p:cNvPr>
          <p:cNvSpPr/>
          <p:nvPr/>
        </p:nvSpPr>
        <p:spPr>
          <a:xfrm>
            <a:off x="1142797" y="3445865"/>
            <a:ext cx="1679400" cy="377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Inst[31:0]</a:t>
            </a:r>
            <a:endParaRPr lang="en-US" sz="1800" b="0" strike="noStrike" spc="-1">
              <a:latin typeface="Arial"/>
            </a:endParaRPr>
          </a:p>
        </p:txBody>
      </p:sp>
    </p:spTree>
    <p:extLst>
      <p:ext uri="{BB962C8B-B14F-4D97-AF65-F5344CB8AC3E}">
        <p14:creationId xmlns:p14="http://schemas.microsoft.com/office/powerpoint/2010/main" val="30849452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E959-0C41-FC1D-6205-1CC464675AE6}"/>
              </a:ext>
            </a:extLst>
          </p:cNvPr>
          <p:cNvSpPr>
            <a:spLocks noGrp="1"/>
          </p:cNvSpPr>
          <p:nvPr>
            <p:ph type="title"/>
          </p:nvPr>
        </p:nvSpPr>
        <p:spPr/>
        <p:txBody>
          <a:bodyPr/>
          <a:lstStyle/>
          <a:p>
            <a:r>
              <a:rPr lang="en-US"/>
              <a:t>Datapath của một bộ xử lý với 8 lệnh MIPS</a:t>
            </a:r>
          </a:p>
        </p:txBody>
      </p:sp>
      <p:sp>
        <p:nvSpPr>
          <p:cNvPr id="4" name="Footer Placeholder 3">
            <a:extLst>
              <a:ext uri="{FF2B5EF4-FFF2-40B4-BE49-F238E27FC236}">
                <a16:creationId xmlns:a16="http://schemas.microsoft.com/office/drawing/2014/main" id="{A2943067-86FD-EC34-FB84-E1C625FA2005}"/>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86EA9048-D456-15C2-CE28-E7DA00176C21}"/>
              </a:ext>
            </a:extLst>
          </p:cNvPr>
          <p:cNvSpPr>
            <a:spLocks noGrp="1"/>
          </p:cNvSpPr>
          <p:nvPr>
            <p:ph type="sldNum" sz="quarter" idx="12"/>
          </p:nvPr>
        </p:nvSpPr>
        <p:spPr/>
        <p:txBody>
          <a:bodyPr/>
          <a:lstStyle/>
          <a:p>
            <a:fld id="{D8B0B3AC-44A8-D142-AAF6-9A453466E1A4}" type="slidenum">
              <a:rPr lang="en-VN" smtClean="0"/>
              <a:pPr/>
              <a:t>33</a:t>
            </a:fld>
            <a:endParaRPr lang="en-VN" dirty="0"/>
          </a:p>
        </p:txBody>
      </p:sp>
      <p:sp>
        <p:nvSpPr>
          <p:cNvPr id="6" name="Date Placeholder 5">
            <a:extLst>
              <a:ext uri="{FF2B5EF4-FFF2-40B4-BE49-F238E27FC236}">
                <a16:creationId xmlns:a16="http://schemas.microsoft.com/office/drawing/2014/main" id="{097D4DD3-4D53-26A3-A13E-2480164DEE5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5" descr="f04-17-P374493">
            <a:extLst>
              <a:ext uri="{FF2B5EF4-FFF2-40B4-BE49-F238E27FC236}">
                <a16:creationId xmlns:a16="http://schemas.microsoft.com/office/drawing/2014/main" id="{FBFE8B37-F23C-291E-5D50-A4AB5641B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9134" y="1368275"/>
            <a:ext cx="5795029" cy="4503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98608D8C-860A-27F0-82AB-E1A6EC92A73A}"/>
              </a:ext>
            </a:extLst>
          </p:cNvPr>
          <p:cNvSpPr/>
          <p:nvPr/>
        </p:nvSpPr>
        <p:spPr>
          <a:xfrm>
            <a:off x="2853699" y="1287325"/>
            <a:ext cx="1978925"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CA9C8402-04E5-0DBE-555D-C871BB480314}"/>
              </a:ext>
            </a:extLst>
          </p:cNvPr>
          <p:cNvSpPr/>
          <p:nvPr/>
        </p:nvSpPr>
        <p:spPr>
          <a:xfrm>
            <a:off x="4832624" y="1287325"/>
            <a:ext cx="1901914"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23774961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Quy trình thực thi lệnh của MIPS</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34</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1" name="Content Placeholder 10">
            <a:extLst>
              <a:ext uri="{FF2B5EF4-FFF2-40B4-BE49-F238E27FC236}">
                <a16:creationId xmlns:a16="http://schemas.microsoft.com/office/drawing/2014/main" id="{8E51BFD1-611E-702E-CD1C-CF4CE58C1C36}"/>
              </a:ext>
            </a:extLst>
          </p:cNvPr>
          <p:cNvSpPr>
            <a:spLocks noGrp="1"/>
          </p:cNvSpPr>
          <p:nvPr>
            <p:ph idx="1"/>
          </p:nvPr>
        </p:nvSpPr>
        <p:spPr>
          <a:xfrm>
            <a:off x="1142797" y="1195821"/>
            <a:ext cx="7404855" cy="5160527"/>
          </a:xfrm>
        </p:spPr>
        <p:txBody>
          <a:bodyPr/>
          <a:lstStyle/>
          <a:p>
            <a:r>
              <a:rPr lang="vi-VN"/>
              <a:t>Instruction Fetch (Nạp lệnh)</a:t>
            </a:r>
          </a:p>
          <a:p>
            <a:r>
              <a:rPr lang="vi-VN"/>
              <a:t>Instruction Decode &amp; Operand Fetch</a:t>
            </a:r>
          </a:p>
          <a:p>
            <a:pPr marL="0" indent="0">
              <a:buNone/>
            </a:pPr>
            <a:r>
              <a:rPr lang="en-US"/>
              <a:t>	</a:t>
            </a:r>
            <a:r>
              <a:rPr lang="vi-VN"/>
              <a:t>(Giải mã và lấy các toán hạng cần thiết, </a:t>
            </a:r>
            <a:endParaRPr lang="en-US"/>
          </a:p>
          <a:p>
            <a:pPr marL="0" indent="0">
              <a:buNone/>
            </a:pPr>
            <a:r>
              <a:rPr lang="en-US"/>
              <a:t>	</a:t>
            </a:r>
            <a:r>
              <a:rPr lang="vi-VN"/>
              <a:t>Gọi</a:t>
            </a:r>
            <a:r>
              <a:rPr lang="en-US"/>
              <a:t> </a:t>
            </a:r>
            <a:r>
              <a:rPr lang="vi-VN"/>
              <a:t>tắt là “Instruction Decode”)</a:t>
            </a:r>
          </a:p>
          <a:p>
            <a:r>
              <a:rPr lang="vi-VN">
                <a:solidFill>
                  <a:srgbClr val="7030A0"/>
                </a:solidFill>
              </a:rPr>
              <a:t>ALU (Giai đoạn sử dụng ALU hay giai đoạn thực thi)</a:t>
            </a:r>
          </a:p>
          <a:p>
            <a:r>
              <a:rPr lang="vi-VN"/>
              <a:t>Memory Access (Giai đoạn truy xuất vùng nhớ)</a:t>
            </a:r>
          </a:p>
          <a:p>
            <a:r>
              <a:rPr lang="vi-VN"/>
              <a:t>Result Write (Giai đoạn ghi lại kết quả/lưu trữ)</a:t>
            </a:r>
          </a:p>
          <a:p>
            <a:endParaRPr lang="vi-VN"/>
          </a:p>
          <a:p>
            <a:endParaRPr lang="en-US"/>
          </a:p>
        </p:txBody>
      </p:sp>
      <p:grpSp>
        <p:nvGrpSpPr>
          <p:cNvPr id="14" name="Group 13">
            <a:extLst>
              <a:ext uri="{FF2B5EF4-FFF2-40B4-BE49-F238E27FC236}">
                <a16:creationId xmlns:a16="http://schemas.microsoft.com/office/drawing/2014/main" id="{35E64477-7BDC-5CAF-A892-A018CF49647C}"/>
              </a:ext>
            </a:extLst>
          </p:cNvPr>
          <p:cNvGrpSpPr/>
          <p:nvPr/>
        </p:nvGrpSpPr>
        <p:grpSpPr>
          <a:xfrm>
            <a:off x="8764130" y="1674660"/>
            <a:ext cx="2742730" cy="3796316"/>
            <a:chOff x="8726030" y="2208060"/>
            <a:chExt cx="2742730" cy="3796316"/>
          </a:xfrm>
        </p:grpSpPr>
        <p:grpSp>
          <p:nvGrpSpPr>
            <p:cNvPr id="15" name="Group 3">
              <a:extLst>
                <a:ext uri="{FF2B5EF4-FFF2-40B4-BE49-F238E27FC236}">
                  <a16:creationId xmlns:a16="http://schemas.microsoft.com/office/drawing/2014/main" id="{BAAB0B09-CF5E-AC2D-7B7D-9B3EC1152906}"/>
                </a:ext>
              </a:extLst>
            </p:cNvPr>
            <p:cNvGrpSpPr/>
            <p:nvPr/>
          </p:nvGrpSpPr>
          <p:grpSpPr>
            <a:xfrm>
              <a:off x="8726030" y="2208060"/>
              <a:ext cx="2742730" cy="3766559"/>
              <a:chOff x="420120" y="1133640"/>
              <a:chExt cx="2099520" cy="3157199"/>
            </a:xfrm>
          </p:grpSpPr>
          <p:sp>
            <p:nvSpPr>
              <p:cNvPr id="17" name="CustomShape 4">
                <a:extLst>
                  <a:ext uri="{FF2B5EF4-FFF2-40B4-BE49-F238E27FC236}">
                    <a16:creationId xmlns:a16="http://schemas.microsoft.com/office/drawing/2014/main" id="{AC664CBC-0125-59A3-A143-ADB0607A395A}"/>
                  </a:ext>
                </a:extLst>
              </p:cNvPr>
              <p:cNvSpPr/>
              <p:nvPr/>
            </p:nvSpPr>
            <p:spPr>
              <a:xfrm>
                <a:off x="1553760" y="3522600"/>
                <a:ext cx="24120" cy="1742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vi-VN"/>
              </a:p>
            </p:txBody>
          </p:sp>
          <p:sp>
            <p:nvSpPr>
              <p:cNvPr id="18" name="CustomShape 5">
                <a:extLst>
                  <a:ext uri="{FF2B5EF4-FFF2-40B4-BE49-F238E27FC236}">
                    <a16:creationId xmlns:a16="http://schemas.microsoft.com/office/drawing/2014/main" id="{8BBA7EA1-6B4C-6224-F31B-ADF1C430E0AE}"/>
                  </a:ext>
                </a:extLst>
              </p:cNvPr>
              <p:cNvSpPr/>
              <p:nvPr/>
            </p:nvSpPr>
            <p:spPr>
              <a:xfrm>
                <a:off x="993960" y="1360800"/>
                <a:ext cx="1525680" cy="28656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dirty="0">
                    <a:solidFill>
                      <a:srgbClr val="C00000"/>
                    </a:solidFill>
                    <a:latin typeface="Arial"/>
                    <a:ea typeface="ＭＳ Ｐゴシック"/>
                  </a:rPr>
                  <a:t>Fetch</a:t>
                </a:r>
                <a:endParaRPr lang="en-US" sz="1800" b="0" strike="noStrike" spc="-1" dirty="0">
                  <a:latin typeface="Arial"/>
                </a:endParaRPr>
              </a:p>
            </p:txBody>
          </p:sp>
          <p:sp>
            <p:nvSpPr>
              <p:cNvPr id="19" name="CustomShape 6">
                <a:extLst>
                  <a:ext uri="{FF2B5EF4-FFF2-40B4-BE49-F238E27FC236}">
                    <a16:creationId xmlns:a16="http://schemas.microsoft.com/office/drawing/2014/main" id="{14D3AB1E-C627-5C82-420E-3C05D6EFACED}"/>
                  </a:ext>
                </a:extLst>
              </p:cNvPr>
              <p:cNvSpPr/>
              <p:nvPr/>
            </p:nvSpPr>
            <p:spPr>
              <a:xfrm>
                <a:off x="993960" y="1871348"/>
                <a:ext cx="1525680" cy="523373"/>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a:solidFill>
                      <a:srgbClr val="006600"/>
                    </a:solidFill>
                    <a:latin typeface="Arial"/>
                    <a:ea typeface="ＭＳ Ｐゴシック"/>
                  </a:rPr>
                  <a:t>Instruction</a:t>
                </a:r>
                <a:endParaRPr lang="en-US" sz="1800" b="0" strike="noStrike" spc="-1">
                  <a:latin typeface="Arial"/>
                </a:endParaRPr>
              </a:p>
              <a:p>
                <a:pPr marL="343080" indent="-342720" algn="ctr">
                  <a:lnSpc>
                    <a:spcPct val="86000"/>
                  </a:lnSpc>
                  <a:spcBef>
                    <a:spcPts val="360"/>
                  </a:spcBef>
                </a:pPr>
                <a:r>
                  <a:rPr lang="en-US" sz="1800" b="1" i="1" strike="noStrike" spc="-1">
                    <a:solidFill>
                      <a:srgbClr val="006600"/>
                    </a:solidFill>
                    <a:latin typeface="Arial"/>
                    <a:ea typeface="ＭＳ Ｐゴシック"/>
                  </a:rPr>
                  <a:t>Decode</a:t>
                </a:r>
                <a:endParaRPr lang="en-US" sz="1800" b="0" strike="noStrike" spc="-1">
                  <a:latin typeface="Arial"/>
                </a:endParaRPr>
              </a:p>
            </p:txBody>
          </p:sp>
          <p:sp>
            <p:nvSpPr>
              <p:cNvPr id="20" name="CustomShape 7">
                <a:extLst>
                  <a:ext uri="{FF2B5EF4-FFF2-40B4-BE49-F238E27FC236}">
                    <a16:creationId xmlns:a16="http://schemas.microsoft.com/office/drawing/2014/main" id="{B7A8046A-43EC-68CD-0B51-864F829843F0}"/>
                  </a:ext>
                </a:extLst>
              </p:cNvPr>
              <p:cNvSpPr/>
              <p:nvPr/>
            </p:nvSpPr>
            <p:spPr>
              <a:xfrm>
                <a:off x="987139" y="2565360"/>
                <a:ext cx="1525680" cy="28656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dirty="0">
                    <a:solidFill>
                      <a:srgbClr val="660066"/>
                    </a:solidFill>
                    <a:latin typeface="Arial"/>
                    <a:ea typeface="ＭＳ Ｐゴシック"/>
                  </a:rPr>
                  <a:t>ALU</a:t>
                </a:r>
                <a:endParaRPr lang="en-US" sz="1800" b="0" strike="noStrike" spc="-1" dirty="0">
                  <a:latin typeface="Arial"/>
                </a:endParaRPr>
              </a:p>
            </p:txBody>
          </p:sp>
          <p:sp>
            <p:nvSpPr>
              <p:cNvPr id="21" name="CustomShape 8">
                <a:extLst>
                  <a:ext uri="{FF2B5EF4-FFF2-40B4-BE49-F238E27FC236}">
                    <a16:creationId xmlns:a16="http://schemas.microsoft.com/office/drawing/2014/main" id="{61C6B5B3-74C0-4BA4-DD13-4AF98FC3A14B}"/>
                  </a:ext>
                </a:extLst>
              </p:cNvPr>
              <p:cNvSpPr/>
              <p:nvPr/>
            </p:nvSpPr>
            <p:spPr>
              <a:xfrm>
                <a:off x="987139" y="3052734"/>
                <a:ext cx="1525680" cy="310386"/>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algn="ctr">
                  <a:lnSpc>
                    <a:spcPct val="88000"/>
                  </a:lnSpc>
                  <a:spcBef>
                    <a:spcPts val="516"/>
                  </a:spcBef>
                </a:pPr>
                <a:r>
                  <a:rPr lang="en-US" sz="1800" b="1" i="1" strike="noStrike" spc="-1">
                    <a:solidFill>
                      <a:srgbClr val="002060"/>
                    </a:solidFill>
                    <a:latin typeface="Arial"/>
                    <a:ea typeface="ＭＳ Ｐゴシック"/>
                  </a:rPr>
                  <a:t>Memory Access</a:t>
                </a:r>
                <a:endParaRPr lang="en-US" sz="1800" b="0" strike="noStrike" spc="-1">
                  <a:latin typeface="Arial"/>
                </a:endParaRPr>
              </a:p>
            </p:txBody>
          </p:sp>
          <p:sp>
            <p:nvSpPr>
              <p:cNvPr id="22" name="CustomShape 9">
                <a:extLst>
                  <a:ext uri="{FF2B5EF4-FFF2-40B4-BE49-F238E27FC236}">
                    <a16:creationId xmlns:a16="http://schemas.microsoft.com/office/drawing/2014/main" id="{CEED021A-D498-2F0E-184A-0102CDFCC047}"/>
                  </a:ext>
                </a:extLst>
              </p:cNvPr>
              <p:cNvSpPr/>
              <p:nvPr/>
            </p:nvSpPr>
            <p:spPr>
              <a:xfrm>
                <a:off x="993960" y="3591000"/>
                <a:ext cx="1525680" cy="32580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algn="ctr">
                  <a:lnSpc>
                    <a:spcPct val="100000"/>
                  </a:lnSpc>
                </a:pPr>
                <a:r>
                  <a:rPr lang="en-US" sz="1800" b="1" strike="noStrike" spc="-1">
                    <a:solidFill>
                      <a:srgbClr val="000000"/>
                    </a:solidFill>
                    <a:latin typeface="Arial"/>
                    <a:ea typeface="ＭＳ Ｐゴシック"/>
                  </a:rPr>
                  <a:t>Result Write</a:t>
                </a:r>
                <a:endParaRPr lang="en-US" sz="1800" b="0" strike="noStrike" spc="-1">
                  <a:latin typeface="Arial"/>
                </a:endParaRPr>
              </a:p>
            </p:txBody>
          </p:sp>
          <p:sp>
            <p:nvSpPr>
              <p:cNvPr id="23" name="Line 10">
                <a:extLst>
                  <a:ext uri="{FF2B5EF4-FFF2-40B4-BE49-F238E27FC236}">
                    <a16:creationId xmlns:a16="http://schemas.microsoft.com/office/drawing/2014/main" id="{B635C9D2-8A7E-7C0D-A1C3-D67A79D60B44}"/>
                  </a:ext>
                </a:extLst>
              </p:cNvPr>
              <p:cNvSpPr/>
              <p:nvPr/>
            </p:nvSpPr>
            <p:spPr>
              <a:xfrm>
                <a:off x="1749259" y="1651097"/>
                <a:ext cx="6461" cy="22025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4" name="Line 11">
                <a:extLst>
                  <a:ext uri="{FF2B5EF4-FFF2-40B4-BE49-F238E27FC236}">
                    <a16:creationId xmlns:a16="http://schemas.microsoft.com/office/drawing/2014/main" id="{C346C85A-A6ED-66D2-5106-6A7C3DD87ACF}"/>
                  </a:ext>
                </a:extLst>
              </p:cNvPr>
              <p:cNvSpPr/>
              <p:nvPr/>
            </p:nvSpPr>
            <p:spPr>
              <a:xfrm>
                <a:off x="1756440" y="2853636"/>
                <a:ext cx="360" cy="20088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5" name="Line 12">
                <a:extLst>
                  <a:ext uri="{FF2B5EF4-FFF2-40B4-BE49-F238E27FC236}">
                    <a16:creationId xmlns:a16="http://schemas.microsoft.com/office/drawing/2014/main" id="{9AFB2E00-92F9-0F43-B5A0-FE223E49D7DB}"/>
                  </a:ext>
                </a:extLst>
              </p:cNvPr>
              <p:cNvSpPr/>
              <p:nvPr/>
            </p:nvSpPr>
            <p:spPr>
              <a:xfrm>
                <a:off x="1749619" y="2385001"/>
                <a:ext cx="360" cy="1890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6" name="Line 13">
                <a:extLst>
                  <a:ext uri="{FF2B5EF4-FFF2-40B4-BE49-F238E27FC236}">
                    <a16:creationId xmlns:a16="http://schemas.microsoft.com/office/drawing/2014/main" id="{9ECDBCA4-382A-5A71-6A32-9ED44C23A6DD}"/>
                  </a:ext>
                </a:extLst>
              </p:cNvPr>
              <p:cNvSpPr/>
              <p:nvPr/>
            </p:nvSpPr>
            <p:spPr>
              <a:xfrm>
                <a:off x="1749979" y="3378600"/>
                <a:ext cx="360" cy="2124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7" name="Line 14">
                <a:extLst>
                  <a:ext uri="{FF2B5EF4-FFF2-40B4-BE49-F238E27FC236}">
                    <a16:creationId xmlns:a16="http://schemas.microsoft.com/office/drawing/2014/main" id="{6E1196F7-9D4F-8C62-DF15-190331926FE2}"/>
                  </a:ext>
                </a:extLst>
              </p:cNvPr>
              <p:cNvSpPr/>
              <p:nvPr/>
            </p:nvSpPr>
            <p:spPr>
              <a:xfrm flipH="1" flipV="1">
                <a:off x="587520" y="4284000"/>
                <a:ext cx="1162818" cy="6839"/>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8" name="Line 15">
                <a:extLst>
                  <a:ext uri="{FF2B5EF4-FFF2-40B4-BE49-F238E27FC236}">
                    <a16:creationId xmlns:a16="http://schemas.microsoft.com/office/drawing/2014/main" id="{CDDE8C76-B255-215F-5208-897C8E48BC47}"/>
                  </a:ext>
                </a:extLst>
              </p:cNvPr>
              <p:cNvSpPr/>
              <p:nvPr/>
            </p:nvSpPr>
            <p:spPr>
              <a:xfrm flipH="1" flipV="1">
                <a:off x="587160" y="1133640"/>
                <a:ext cx="360" cy="3150000"/>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9" name="Line 16">
                <a:extLst>
                  <a:ext uri="{FF2B5EF4-FFF2-40B4-BE49-F238E27FC236}">
                    <a16:creationId xmlns:a16="http://schemas.microsoft.com/office/drawing/2014/main" id="{EFD1CB40-4EFE-5CBF-78C2-230A6A77EB1D}"/>
                  </a:ext>
                </a:extLst>
              </p:cNvPr>
              <p:cNvSpPr/>
              <p:nvPr/>
            </p:nvSpPr>
            <p:spPr>
              <a:xfrm>
                <a:off x="587159" y="1140839"/>
                <a:ext cx="1163899" cy="7339"/>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0" name="Line 17">
                <a:extLst>
                  <a:ext uri="{FF2B5EF4-FFF2-40B4-BE49-F238E27FC236}">
                    <a16:creationId xmlns:a16="http://schemas.microsoft.com/office/drawing/2014/main" id="{19724794-4885-7B2C-5F91-97BE5D51862C}"/>
                  </a:ext>
                </a:extLst>
              </p:cNvPr>
              <p:cNvSpPr/>
              <p:nvPr/>
            </p:nvSpPr>
            <p:spPr>
              <a:xfrm>
                <a:off x="1751778" y="1148896"/>
                <a:ext cx="360" cy="2034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1" name="CustomShape 18">
                <a:extLst>
                  <a:ext uri="{FF2B5EF4-FFF2-40B4-BE49-F238E27FC236}">
                    <a16:creationId xmlns:a16="http://schemas.microsoft.com/office/drawing/2014/main" id="{0D0132C1-DBA3-0F71-4D85-2D55C4CB8F88}"/>
                  </a:ext>
                </a:extLst>
              </p:cNvPr>
              <p:cNvSpPr/>
              <p:nvPr/>
            </p:nvSpPr>
            <p:spPr>
              <a:xfrm rot="16200000">
                <a:off x="-201960" y="2711880"/>
                <a:ext cx="1637640" cy="39348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1" strike="noStrike" spc="-1">
                    <a:solidFill>
                      <a:srgbClr val="000000"/>
                    </a:solidFill>
                    <a:latin typeface="Times New Roman"/>
                    <a:ea typeface="ＭＳ Ｐゴシック"/>
                  </a:rPr>
                  <a:t>Next Instruction</a:t>
                </a:r>
                <a:endParaRPr lang="en-US" sz="1800" b="0" strike="noStrike" spc="-1">
                  <a:latin typeface="Arial"/>
                </a:endParaRPr>
              </a:p>
            </p:txBody>
          </p:sp>
        </p:grpSp>
        <p:sp>
          <p:nvSpPr>
            <p:cNvPr id="16" name="Line 13">
              <a:extLst>
                <a:ext uri="{FF2B5EF4-FFF2-40B4-BE49-F238E27FC236}">
                  <a16:creationId xmlns:a16="http://schemas.microsoft.com/office/drawing/2014/main" id="{92842633-75F7-1E39-8576-7D844602315B}"/>
                </a:ext>
              </a:extLst>
            </p:cNvPr>
            <p:cNvSpPr/>
            <p:nvPr/>
          </p:nvSpPr>
          <p:spPr>
            <a:xfrm>
              <a:off x="10468072" y="5534790"/>
              <a:ext cx="470" cy="469586"/>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Tree>
    <p:extLst>
      <p:ext uri="{BB962C8B-B14F-4D97-AF65-F5344CB8AC3E}">
        <p14:creationId xmlns:p14="http://schemas.microsoft.com/office/powerpoint/2010/main" val="417367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35</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a:t>Datapath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sz="2800"/>
              <a:t>C</a:t>
            </a:r>
            <a:r>
              <a:rPr lang="en-US"/>
              <a:t>ông đoạn ALU</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a:t>2</a:t>
            </a:r>
            <a:r>
              <a:rPr lang="en-US"/>
              <a:t>.3</a:t>
            </a:r>
            <a:endParaRPr lang="en-VN" dirty="0"/>
          </a:p>
        </p:txBody>
      </p:sp>
    </p:spTree>
    <p:extLst>
      <p:ext uri="{BB962C8B-B14F-4D97-AF65-F5344CB8AC3E}">
        <p14:creationId xmlns:p14="http://schemas.microsoft.com/office/powerpoint/2010/main" val="2808025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Công đoạn ALU (thực thi)</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36</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Content Placeholder 5">
            <a:extLst>
              <a:ext uri="{FF2B5EF4-FFF2-40B4-BE49-F238E27FC236}">
                <a16:creationId xmlns:a16="http://schemas.microsoft.com/office/drawing/2014/main" id="{5A819AFB-6472-EFCF-4CBA-734DA2D57AFF}"/>
              </a:ext>
            </a:extLst>
          </p:cNvPr>
          <p:cNvSpPr>
            <a:spLocks noGrp="1"/>
          </p:cNvSpPr>
          <p:nvPr>
            <p:ph idx="1"/>
          </p:nvPr>
        </p:nvSpPr>
        <p:spPr/>
        <p:txBody>
          <a:bodyPr>
            <a:normAutofit fontScale="92500" lnSpcReduction="10000"/>
          </a:bodyPr>
          <a:lstStyle/>
          <a:p>
            <a:r>
              <a:rPr lang="vi-VN"/>
              <a:t>Công đoạn ALU:</a:t>
            </a:r>
          </a:p>
          <a:p>
            <a:pPr lvl="1"/>
            <a:r>
              <a:rPr lang="vi-VN"/>
              <a:t>ALU = Arithmetic-Logic Unit</a:t>
            </a:r>
          </a:p>
          <a:p>
            <a:pPr lvl="1"/>
            <a:r>
              <a:rPr lang="vi-VN"/>
              <a:t>Công việc thật sự của hầu hết các lệnh được hiện chủ yếu trong giai đoạn này</a:t>
            </a:r>
          </a:p>
          <a:p>
            <a:pPr lvl="2"/>
            <a:r>
              <a:rPr lang="vi-VN"/>
              <a:t>Số học (Arithmetic) (ví dụ: add, sub), Logic (ví dụ: and, or): ALU tính ra kết quả cuối cùng</a:t>
            </a:r>
          </a:p>
          <a:p>
            <a:pPr lvl="2"/>
            <a:r>
              <a:rPr lang="vi-VN"/>
              <a:t>Lệnh làm việc với bộ nhớ (ví dụ: lw, sw): ALU dùng tính toán địa chỉ của bộ nhớ</a:t>
            </a:r>
          </a:p>
          <a:p>
            <a:pPr lvl="2"/>
            <a:r>
              <a:rPr lang="vi-VN"/>
              <a:t>Lệnh nhảy/nhánh (ví dụ: bne, beq): ALU thực hiện so sánh các giá trị trên thanh ghi và tính toán địa chỉ đích sẽ nhảy tới</a:t>
            </a:r>
          </a:p>
          <a:p>
            <a:r>
              <a:rPr lang="vi-VN"/>
              <a:t>Đầu vào từ công đoạn trước (Decode):</a:t>
            </a:r>
          </a:p>
          <a:p>
            <a:pPr lvl="1"/>
            <a:r>
              <a:rPr lang="vi-VN"/>
              <a:t>Các thao tác (operation) và toán hạng (operand(s))</a:t>
            </a:r>
          </a:p>
          <a:p>
            <a:r>
              <a:rPr lang="vi-VN"/>
              <a:t>Đầu ra cho công đoạn tiếp theo (Memory):</a:t>
            </a:r>
          </a:p>
          <a:p>
            <a:pPr lvl="1"/>
            <a:r>
              <a:rPr lang="vi-VN"/>
              <a:t>Tính toán kết quả </a:t>
            </a:r>
          </a:p>
          <a:p>
            <a:pPr lvl="1"/>
            <a:r>
              <a:rPr lang="vi-VN"/>
              <a:t>Đối với lệnh lw và sw: Kết quả của công đoạn này sẽ là địa chỉ cung cấp cho memory để lấy dữ liệu</a:t>
            </a:r>
          </a:p>
          <a:p>
            <a:endParaRPr lang="en-US"/>
          </a:p>
        </p:txBody>
      </p:sp>
    </p:spTree>
    <p:extLst>
      <p:ext uri="{BB962C8B-B14F-4D97-AF65-F5344CB8AC3E}">
        <p14:creationId xmlns:p14="http://schemas.microsoft.com/office/powerpoint/2010/main" val="9623015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Công đoạn ALU (thực thi)</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37</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8" name="Line 3">
            <a:extLst>
              <a:ext uri="{FF2B5EF4-FFF2-40B4-BE49-F238E27FC236}">
                <a16:creationId xmlns:a16="http://schemas.microsoft.com/office/drawing/2014/main" id="{2C41890C-0A94-7135-31D2-3C7F1E9AB2A2}"/>
              </a:ext>
            </a:extLst>
          </p:cNvPr>
          <p:cNvSpPr/>
          <p:nvPr/>
        </p:nvSpPr>
        <p:spPr>
          <a:xfrm>
            <a:off x="5639296" y="2501869"/>
            <a:ext cx="1270800" cy="3492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9" name="Line 4">
            <a:extLst>
              <a:ext uri="{FF2B5EF4-FFF2-40B4-BE49-F238E27FC236}">
                <a16:creationId xmlns:a16="http://schemas.microsoft.com/office/drawing/2014/main" id="{89D8022A-DE1A-8420-6EFC-BC8891496BD3}"/>
              </a:ext>
            </a:extLst>
          </p:cNvPr>
          <p:cNvSpPr/>
          <p:nvPr/>
        </p:nvSpPr>
        <p:spPr>
          <a:xfrm>
            <a:off x="6910096" y="2851069"/>
            <a:ext cx="360" cy="6033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0" name="Line 5">
            <a:extLst>
              <a:ext uri="{FF2B5EF4-FFF2-40B4-BE49-F238E27FC236}">
                <a16:creationId xmlns:a16="http://schemas.microsoft.com/office/drawing/2014/main" id="{A47D612C-1776-4909-9580-49750E954A24}"/>
              </a:ext>
            </a:extLst>
          </p:cNvPr>
          <p:cNvSpPr/>
          <p:nvPr/>
        </p:nvSpPr>
        <p:spPr>
          <a:xfrm flipH="1">
            <a:off x="5639296" y="3454429"/>
            <a:ext cx="1270800" cy="38052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1" name="Line 6">
            <a:extLst>
              <a:ext uri="{FF2B5EF4-FFF2-40B4-BE49-F238E27FC236}">
                <a16:creationId xmlns:a16="http://schemas.microsoft.com/office/drawing/2014/main" id="{A71B8478-8885-AB95-E2F7-32F1791275F0}"/>
              </a:ext>
            </a:extLst>
          </p:cNvPr>
          <p:cNvSpPr/>
          <p:nvPr/>
        </p:nvSpPr>
        <p:spPr>
          <a:xfrm flipV="1">
            <a:off x="5639296" y="3296029"/>
            <a:ext cx="360" cy="5392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2" name="Line 7">
            <a:extLst>
              <a:ext uri="{FF2B5EF4-FFF2-40B4-BE49-F238E27FC236}">
                <a16:creationId xmlns:a16="http://schemas.microsoft.com/office/drawing/2014/main" id="{DF5F9BE1-29AC-3CD0-18CB-D040D4D909A7}"/>
              </a:ext>
            </a:extLst>
          </p:cNvPr>
          <p:cNvSpPr/>
          <p:nvPr/>
        </p:nvSpPr>
        <p:spPr>
          <a:xfrm flipV="1">
            <a:off x="5639296" y="3136909"/>
            <a:ext cx="169920" cy="1587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3" name="Line 8">
            <a:extLst>
              <a:ext uri="{FF2B5EF4-FFF2-40B4-BE49-F238E27FC236}">
                <a16:creationId xmlns:a16="http://schemas.microsoft.com/office/drawing/2014/main" id="{E2142359-B8B2-4D41-2BFD-F6A126BAF210}"/>
              </a:ext>
            </a:extLst>
          </p:cNvPr>
          <p:cNvSpPr/>
          <p:nvPr/>
        </p:nvSpPr>
        <p:spPr>
          <a:xfrm>
            <a:off x="5639296" y="2946829"/>
            <a:ext cx="169920" cy="1900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4" name="Line 9">
            <a:extLst>
              <a:ext uri="{FF2B5EF4-FFF2-40B4-BE49-F238E27FC236}">
                <a16:creationId xmlns:a16="http://schemas.microsoft.com/office/drawing/2014/main" id="{859772BB-1CB8-E106-51D1-7DB6C3611B33}"/>
              </a:ext>
            </a:extLst>
          </p:cNvPr>
          <p:cNvSpPr/>
          <p:nvPr/>
        </p:nvSpPr>
        <p:spPr>
          <a:xfrm flipV="1">
            <a:off x="5639296" y="2501869"/>
            <a:ext cx="360" cy="444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grpSp>
        <p:nvGrpSpPr>
          <p:cNvPr id="15" name="Group 10">
            <a:extLst>
              <a:ext uri="{FF2B5EF4-FFF2-40B4-BE49-F238E27FC236}">
                <a16:creationId xmlns:a16="http://schemas.microsoft.com/office/drawing/2014/main" id="{3F3B9B8F-6DD8-4AFB-2F67-967D6DAA0000}"/>
              </a:ext>
            </a:extLst>
          </p:cNvPr>
          <p:cNvGrpSpPr/>
          <p:nvPr/>
        </p:nvGrpSpPr>
        <p:grpSpPr>
          <a:xfrm>
            <a:off x="4961056" y="2693389"/>
            <a:ext cx="678600" cy="888840"/>
            <a:chOff x="3780000" y="1736280"/>
            <a:chExt cx="678600" cy="888840"/>
          </a:xfrm>
        </p:grpSpPr>
        <p:sp>
          <p:nvSpPr>
            <p:cNvPr id="16" name="Line 11">
              <a:extLst>
                <a:ext uri="{FF2B5EF4-FFF2-40B4-BE49-F238E27FC236}">
                  <a16:creationId xmlns:a16="http://schemas.microsoft.com/office/drawing/2014/main" id="{544B9D9D-FAA3-3CEA-7D06-290DDE754E7C}"/>
                </a:ext>
              </a:extLst>
            </p:cNvPr>
            <p:cNvSpPr/>
            <p:nvPr/>
          </p:nvSpPr>
          <p:spPr>
            <a:xfrm>
              <a:off x="3780000" y="1736280"/>
              <a:ext cx="678600" cy="360"/>
            </a:xfrm>
            <a:prstGeom prst="line">
              <a:avLst/>
            </a:prstGeom>
            <a:ln w="1260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7" name="Line 12">
              <a:extLst>
                <a:ext uri="{FF2B5EF4-FFF2-40B4-BE49-F238E27FC236}">
                  <a16:creationId xmlns:a16="http://schemas.microsoft.com/office/drawing/2014/main" id="{B063C8F8-492F-8544-7EB9-C68AE7602B01}"/>
                </a:ext>
              </a:extLst>
            </p:cNvPr>
            <p:cNvSpPr/>
            <p:nvPr/>
          </p:nvSpPr>
          <p:spPr>
            <a:xfrm>
              <a:off x="3780000" y="2624760"/>
              <a:ext cx="678600" cy="360"/>
            </a:xfrm>
            <a:prstGeom prst="line">
              <a:avLst/>
            </a:prstGeom>
            <a:ln w="1260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
        <p:nvSpPr>
          <p:cNvPr id="18" name="Line 13">
            <a:extLst>
              <a:ext uri="{FF2B5EF4-FFF2-40B4-BE49-F238E27FC236}">
                <a16:creationId xmlns:a16="http://schemas.microsoft.com/office/drawing/2014/main" id="{89C5604C-F294-D02C-61A0-B878B5FBE1FE}"/>
              </a:ext>
            </a:extLst>
          </p:cNvPr>
          <p:cNvSpPr/>
          <p:nvPr/>
        </p:nvSpPr>
        <p:spPr>
          <a:xfrm>
            <a:off x="6892816" y="3098749"/>
            <a:ext cx="1679760" cy="360"/>
          </a:xfrm>
          <a:prstGeom prst="line">
            <a:avLst/>
          </a:prstGeom>
          <a:ln w="1260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9" name="CustomShape 14">
            <a:extLst>
              <a:ext uri="{FF2B5EF4-FFF2-40B4-BE49-F238E27FC236}">
                <a16:creationId xmlns:a16="http://schemas.microsoft.com/office/drawing/2014/main" id="{D743790C-1AEB-8F1B-727D-0C7883D99970}"/>
              </a:ext>
            </a:extLst>
          </p:cNvPr>
          <p:cNvSpPr/>
          <p:nvPr/>
        </p:nvSpPr>
        <p:spPr>
          <a:xfrm>
            <a:off x="6938296" y="2753269"/>
            <a:ext cx="5972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ALU</a:t>
            </a:r>
            <a:endParaRPr lang="en-US" sz="1000" b="0" strike="noStrike" spc="-1">
              <a:latin typeface="Arial"/>
            </a:endParaRPr>
          </a:p>
          <a:p>
            <a:pPr algn="ctr">
              <a:lnSpc>
                <a:spcPct val="100000"/>
              </a:lnSpc>
            </a:pPr>
            <a:r>
              <a:rPr lang="en-US" sz="1000" b="1" strike="noStrike" spc="-1">
                <a:solidFill>
                  <a:srgbClr val="000000"/>
                </a:solidFill>
                <a:latin typeface="Verdana"/>
                <a:ea typeface="ＭＳ Ｐゴシック"/>
              </a:rPr>
              <a:t>result</a:t>
            </a:r>
            <a:endParaRPr lang="en-US" sz="1000" b="0" strike="noStrike" spc="-1">
              <a:latin typeface="Arial"/>
            </a:endParaRPr>
          </a:p>
        </p:txBody>
      </p:sp>
      <p:sp>
        <p:nvSpPr>
          <p:cNvPr id="20" name="CustomShape 15">
            <a:extLst>
              <a:ext uri="{FF2B5EF4-FFF2-40B4-BE49-F238E27FC236}">
                <a16:creationId xmlns:a16="http://schemas.microsoft.com/office/drawing/2014/main" id="{589586CA-6DBA-4A87-24D2-FB8FDC50986C}"/>
              </a:ext>
            </a:extLst>
          </p:cNvPr>
          <p:cNvSpPr/>
          <p:nvPr/>
        </p:nvSpPr>
        <p:spPr>
          <a:xfrm>
            <a:off x="5785456" y="3032149"/>
            <a:ext cx="51336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ALU</a:t>
            </a:r>
            <a:endParaRPr lang="en-US" sz="1200" b="0" strike="noStrike" spc="-1">
              <a:latin typeface="Arial"/>
            </a:endParaRPr>
          </a:p>
        </p:txBody>
      </p:sp>
      <p:sp>
        <p:nvSpPr>
          <p:cNvPr id="21" name="CustomShape 16">
            <a:extLst>
              <a:ext uri="{FF2B5EF4-FFF2-40B4-BE49-F238E27FC236}">
                <a16:creationId xmlns:a16="http://schemas.microsoft.com/office/drawing/2014/main" id="{29D17433-38AC-90F6-F249-45F273B39F13}"/>
              </a:ext>
            </a:extLst>
          </p:cNvPr>
          <p:cNvSpPr/>
          <p:nvPr/>
        </p:nvSpPr>
        <p:spPr>
          <a:xfrm rot="10800000">
            <a:off x="1669696" y="2665849"/>
            <a:ext cx="1270800" cy="865440"/>
          </a:xfrm>
          <a:prstGeom prst="rect">
            <a:avLst/>
          </a:prstGeom>
          <a:solidFill>
            <a:schemeClr val="accent1">
              <a:lumMod val="20000"/>
              <a:lumOff val="80000"/>
            </a:schemeClr>
          </a:solidFill>
          <a:ln w="19080">
            <a:round/>
          </a:ln>
        </p:spPr>
        <p:style>
          <a:lnRef idx="2">
            <a:schemeClr val="accent1">
              <a:shade val="50000"/>
            </a:schemeClr>
          </a:lnRef>
          <a:fillRef idx="1">
            <a:schemeClr val="accent1"/>
          </a:fillRef>
          <a:effectRef idx="0">
            <a:schemeClr val="accent1"/>
          </a:effectRef>
          <a:fontRef idx="minor"/>
        </p:style>
        <p:txBody>
          <a:bodyPr rot="5400000" vert="vert" lIns="90000" tIns="45000" rIns="90000" bIns="45000" anchor="ctr"/>
          <a:lstStyle/>
          <a:p>
            <a:pPr algn="ctr">
              <a:lnSpc>
                <a:spcPct val="100000"/>
              </a:lnSpc>
            </a:pPr>
            <a:r>
              <a:rPr lang="en-US" sz="1800" b="1" strike="noStrike" spc="-1">
                <a:solidFill>
                  <a:srgbClr val="C00000"/>
                </a:solidFill>
                <a:latin typeface="Times New Roman"/>
                <a:ea typeface="ＭＳ Ｐゴシック"/>
              </a:rPr>
              <a:t>Decode Stage</a:t>
            </a:r>
            <a:endParaRPr lang="en-US" sz="1800" b="0" strike="noStrike" spc="-1">
              <a:latin typeface="Arial"/>
            </a:endParaRPr>
          </a:p>
        </p:txBody>
      </p:sp>
      <p:sp>
        <p:nvSpPr>
          <p:cNvPr id="22" name="CustomShape 17">
            <a:extLst>
              <a:ext uri="{FF2B5EF4-FFF2-40B4-BE49-F238E27FC236}">
                <a16:creationId xmlns:a16="http://schemas.microsoft.com/office/drawing/2014/main" id="{CDAC9567-ABB0-6088-3F38-0C8FF2EA6ED7}"/>
              </a:ext>
            </a:extLst>
          </p:cNvPr>
          <p:cNvSpPr/>
          <p:nvPr/>
        </p:nvSpPr>
        <p:spPr>
          <a:xfrm>
            <a:off x="3028936" y="2847109"/>
            <a:ext cx="1511640" cy="503640"/>
          </a:xfrm>
          <a:prstGeom prst="rightArrow">
            <a:avLst>
              <a:gd name="adj1" fmla="val 50000"/>
              <a:gd name="adj2" fmla="val 50000"/>
            </a:avLst>
          </a:prstGeom>
          <a:solidFill>
            <a:schemeClr val="accent2">
              <a:lumMod val="20000"/>
              <a:lumOff val="80000"/>
            </a:schemeClr>
          </a:solidFill>
          <a:ln w="1260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Operands</a:t>
            </a:r>
            <a:endParaRPr lang="en-US" sz="1800" b="0" strike="noStrike" spc="-1">
              <a:latin typeface="Arial"/>
            </a:endParaRPr>
          </a:p>
        </p:txBody>
      </p:sp>
      <p:sp>
        <p:nvSpPr>
          <p:cNvPr id="23" name="CustomShape 18">
            <a:extLst>
              <a:ext uri="{FF2B5EF4-FFF2-40B4-BE49-F238E27FC236}">
                <a16:creationId xmlns:a16="http://schemas.microsoft.com/office/drawing/2014/main" id="{F2C8E88F-F399-C823-F56E-53CB1D70B1A2}"/>
              </a:ext>
            </a:extLst>
          </p:cNvPr>
          <p:cNvSpPr/>
          <p:nvPr/>
        </p:nvSpPr>
        <p:spPr>
          <a:xfrm rot="10800000">
            <a:off x="8642561" y="2592949"/>
            <a:ext cx="1542480" cy="1011240"/>
          </a:xfrm>
          <a:prstGeom prst="rect">
            <a:avLst/>
          </a:prstGeom>
          <a:solidFill>
            <a:schemeClr val="accent5">
              <a:lumMod val="20000"/>
              <a:lumOff val="80000"/>
            </a:schemeClr>
          </a:solidFill>
          <a:ln w="19080">
            <a:solidFill>
              <a:schemeClr val="accent5">
                <a:lumMod val="50000"/>
              </a:schemeClr>
            </a:solidFill>
            <a:round/>
          </a:ln>
        </p:spPr>
        <p:style>
          <a:lnRef idx="2">
            <a:schemeClr val="accent1">
              <a:shade val="50000"/>
            </a:schemeClr>
          </a:lnRef>
          <a:fillRef idx="1">
            <a:schemeClr val="accent1"/>
          </a:fillRef>
          <a:effectRef idx="0">
            <a:schemeClr val="accent1"/>
          </a:effectRef>
          <a:fontRef idx="minor"/>
        </p:style>
        <p:txBody>
          <a:bodyPr rot="5400000" vert="vert" lIns="90000" tIns="45000" rIns="90000" bIns="45000" anchor="ctr"/>
          <a:lstStyle/>
          <a:p>
            <a:pPr algn="ctr">
              <a:lnSpc>
                <a:spcPct val="100000"/>
              </a:lnSpc>
            </a:pPr>
            <a:r>
              <a:rPr lang="en-US" sz="1800" b="1" strike="noStrike" spc="-1">
                <a:solidFill>
                  <a:srgbClr val="006600"/>
                </a:solidFill>
                <a:latin typeface="Times New Roman"/>
                <a:ea typeface="ＭＳ Ｐゴシック"/>
              </a:rPr>
              <a:t>Memory Stage</a:t>
            </a:r>
            <a:endParaRPr lang="en-US" sz="1800" b="0" strike="noStrike" spc="-1">
              <a:latin typeface="Arial"/>
            </a:endParaRPr>
          </a:p>
        </p:txBody>
      </p:sp>
      <p:sp>
        <p:nvSpPr>
          <p:cNvPr id="24" name="CustomShape 19">
            <a:extLst>
              <a:ext uri="{FF2B5EF4-FFF2-40B4-BE49-F238E27FC236}">
                <a16:creationId xmlns:a16="http://schemas.microsoft.com/office/drawing/2014/main" id="{1C76CC9D-A0E1-B373-5892-DB3CDC5CCB90}"/>
              </a:ext>
            </a:extLst>
          </p:cNvPr>
          <p:cNvSpPr/>
          <p:nvPr/>
        </p:nvSpPr>
        <p:spPr>
          <a:xfrm>
            <a:off x="4624816" y="2468749"/>
            <a:ext cx="335880" cy="1259640"/>
          </a:xfrm>
          <a:prstGeom prst="leftBrace">
            <a:avLst>
              <a:gd name="adj1" fmla="val 8333"/>
              <a:gd name="adj2" fmla="val 49444"/>
            </a:avLst>
          </a:prstGeom>
          <a:noFill/>
          <a:ln w="15840">
            <a:solidFill>
              <a:srgbClr val="57667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5" name="CustomShape 20">
            <a:extLst>
              <a:ext uri="{FF2B5EF4-FFF2-40B4-BE49-F238E27FC236}">
                <a16:creationId xmlns:a16="http://schemas.microsoft.com/office/drawing/2014/main" id="{34553470-799F-BED0-34E4-DCE9CF2BE931}"/>
              </a:ext>
            </a:extLst>
          </p:cNvPr>
          <p:cNvSpPr/>
          <p:nvPr/>
        </p:nvSpPr>
        <p:spPr>
          <a:xfrm>
            <a:off x="7060936" y="4610749"/>
            <a:ext cx="2183400" cy="692640"/>
          </a:xfrm>
          <a:prstGeom prst="accentCallout2">
            <a:avLst>
              <a:gd name="adj1" fmla="val 39333"/>
              <a:gd name="adj2" fmla="val -8333"/>
              <a:gd name="adj3" fmla="val 19779"/>
              <a:gd name="adj4" fmla="val -24939"/>
              <a:gd name="adj5" fmla="val -150964"/>
              <a:gd name="adj6" fmla="val -44636"/>
            </a:avLst>
          </a:prstGeom>
          <a:solidFill>
            <a:schemeClr val="accent6">
              <a:lumMod val="20000"/>
              <a:lumOff val="80000"/>
            </a:schemeClr>
          </a:solidFill>
          <a:ln w="19080">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Khối mạch thực hiện các phép toán logic và số học</a:t>
            </a:r>
            <a:endParaRPr lang="en-US" sz="1800" b="0" strike="noStrike" spc="-1">
              <a:latin typeface="Arial"/>
            </a:endParaRPr>
          </a:p>
        </p:txBody>
      </p:sp>
    </p:spTree>
    <p:extLst>
      <p:ext uri="{BB962C8B-B14F-4D97-AF65-F5344CB8AC3E}">
        <p14:creationId xmlns:p14="http://schemas.microsoft.com/office/powerpoint/2010/main" val="19398550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Khối ALU (Arithmetic Logical Unit)</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38</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Content Placeholder 5">
            <a:extLst>
              <a:ext uri="{FF2B5EF4-FFF2-40B4-BE49-F238E27FC236}">
                <a16:creationId xmlns:a16="http://schemas.microsoft.com/office/drawing/2014/main" id="{5A819AFB-6472-EFCF-4CBA-734DA2D57AFF}"/>
              </a:ext>
            </a:extLst>
          </p:cNvPr>
          <p:cNvSpPr>
            <a:spLocks noGrp="1"/>
          </p:cNvSpPr>
          <p:nvPr>
            <p:ph idx="1"/>
          </p:nvPr>
        </p:nvSpPr>
        <p:spPr>
          <a:xfrm>
            <a:off x="1142797" y="1195821"/>
            <a:ext cx="7786518" cy="5160527"/>
          </a:xfrm>
        </p:spPr>
        <p:txBody>
          <a:bodyPr>
            <a:normAutofit lnSpcReduction="10000"/>
          </a:bodyPr>
          <a:lstStyle/>
          <a:p>
            <a:r>
              <a:rPr lang="vi-VN"/>
              <a:t>ALU (Arithmetic-logical unit)</a:t>
            </a:r>
          </a:p>
          <a:p>
            <a:pPr lvl="1"/>
            <a:r>
              <a:rPr lang="vi-VN"/>
              <a:t>Khối dùng để thực hiện các phép tính logic và số học</a:t>
            </a:r>
          </a:p>
          <a:p>
            <a:r>
              <a:rPr lang="vi-VN"/>
              <a:t>Inputs: </a:t>
            </a:r>
          </a:p>
          <a:p>
            <a:pPr lvl="1"/>
            <a:r>
              <a:rPr lang="vi-VN"/>
              <a:t>2 số 32-bit</a:t>
            </a:r>
          </a:p>
          <a:p>
            <a:r>
              <a:rPr lang="vi-VN"/>
              <a:t>Điều khiển khối ALU: </a:t>
            </a:r>
          </a:p>
          <a:p>
            <a:pPr lvl="1"/>
            <a:r>
              <a:rPr lang="vi-VN"/>
              <a:t>Do ALU có thể thực hiện nhiều chức năng -&gt; dùng 4-bit để quyết định chức năng/phép toán cụ thể nào cho ALU</a:t>
            </a:r>
          </a:p>
          <a:p>
            <a:r>
              <a:rPr lang="vi-VN"/>
              <a:t>Outputs: </a:t>
            </a:r>
          </a:p>
          <a:p>
            <a:pPr lvl="1"/>
            <a:r>
              <a:rPr lang="vi-VN"/>
              <a:t>Kết quả của phép toán số học hoặc logic</a:t>
            </a:r>
          </a:p>
          <a:p>
            <a:pPr lvl="1"/>
            <a:r>
              <a:rPr lang="vi-VN"/>
              <a:t>Một bit tín hiệu để chỉ ra rằng kết quả có bằng 0 hay không</a:t>
            </a:r>
          </a:p>
          <a:p>
            <a:endParaRPr lang="en-US"/>
          </a:p>
        </p:txBody>
      </p:sp>
      <p:graphicFrame>
        <p:nvGraphicFramePr>
          <p:cNvPr id="3" name="Table 2">
            <a:extLst>
              <a:ext uri="{FF2B5EF4-FFF2-40B4-BE49-F238E27FC236}">
                <a16:creationId xmlns:a16="http://schemas.microsoft.com/office/drawing/2014/main" id="{C3EE8B9A-961D-1875-00F7-4EC326993D79}"/>
              </a:ext>
            </a:extLst>
          </p:cNvPr>
          <p:cNvGraphicFramePr/>
          <p:nvPr>
            <p:extLst>
              <p:ext uri="{D42A27DB-BD31-4B8C-83A1-F6EECF244321}">
                <p14:modId xmlns:p14="http://schemas.microsoft.com/office/powerpoint/2010/main" val="3840932426"/>
              </p:ext>
            </p:extLst>
          </p:nvPr>
        </p:nvGraphicFramePr>
        <p:xfrm>
          <a:off x="8743321" y="3887734"/>
          <a:ext cx="3191400" cy="2316480"/>
        </p:xfrm>
        <a:graphic>
          <a:graphicData uri="http://schemas.openxmlformats.org/drawingml/2006/table">
            <a:tbl>
              <a:tblPr/>
              <a:tblGrid>
                <a:gridCol w="1595520">
                  <a:extLst>
                    <a:ext uri="{9D8B030D-6E8A-4147-A177-3AD203B41FA5}">
                      <a16:colId xmlns:a16="http://schemas.microsoft.com/office/drawing/2014/main" val="20000"/>
                    </a:ext>
                  </a:extLst>
                </a:gridCol>
                <a:gridCol w="1595880">
                  <a:extLst>
                    <a:ext uri="{9D8B030D-6E8A-4147-A177-3AD203B41FA5}">
                      <a16:colId xmlns:a16="http://schemas.microsoft.com/office/drawing/2014/main" val="20001"/>
                    </a:ext>
                  </a:extLst>
                </a:gridCol>
              </a:tblGrid>
              <a:tr h="291600">
                <a:tc>
                  <a:txBody>
                    <a:bodyPr/>
                    <a:lstStyle/>
                    <a:p>
                      <a:pPr algn="ctr">
                        <a:lnSpc>
                          <a:spcPct val="100000"/>
                        </a:lnSpc>
                        <a:spcBef>
                          <a:spcPts val="281"/>
                        </a:spcBef>
                      </a:pPr>
                      <a:r>
                        <a:rPr lang="en-US" sz="1400" b="1" strike="noStrike" spc="-1">
                          <a:solidFill>
                            <a:srgbClr val="000000"/>
                          </a:solidFill>
                          <a:latin typeface="Arial"/>
                          <a:ea typeface="ＭＳ Ｐゴシック"/>
                        </a:rPr>
                        <a:t>ALUcontrol</a:t>
                      </a:r>
                      <a:endParaRPr lang="en-US" sz="1400" b="0" strike="noStrike" spc="-1">
                        <a:latin typeface="Arial"/>
                      </a:endParaRPr>
                    </a:p>
                  </a:txBody>
                  <a:tcPr>
                    <a:lnL w="28080">
                      <a:solidFill>
                        <a:srgbClr val="000000"/>
                      </a:solidFill>
                    </a:lnL>
                    <a:lnR w="12240">
                      <a:solidFill>
                        <a:srgbClr val="000000"/>
                      </a:solidFill>
                    </a:lnR>
                    <a:lnT w="28080">
                      <a:solidFill>
                        <a:srgbClr val="000000"/>
                      </a:solidFill>
                    </a:lnT>
                    <a:lnB w="12240">
                      <a:solidFill>
                        <a:srgbClr val="000000"/>
                      </a:solidFill>
                    </a:lnB>
                    <a:solidFill>
                      <a:srgbClr val="EEE8E0"/>
                    </a:solidFill>
                  </a:tcPr>
                </a:tc>
                <a:tc>
                  <a:txBody>
                    <a:bodyPr/>
                    <a:lstStyle/>
                    <a:p>
                      <a:pPr algn="ctr">
                        <a:lnSpc>
                          <a:spcPct val="100000"/>
                        </a:lnSpc>
                        <a:spcBef>
                          <a:spcPts val="281"/>
                        </a:spcBef>
                      </a:pPr>
                      <a:r>
                        <a:rPr lang="en-US" sz="1400" b="1" strike="noStrike" spc="-1">
                          <a:solidFill>
                            <a:srgbClr val="000000"/>
                          </a:solidFill>
                          <a:latin typeface="Arial"/>
                          <a:ea typeface="ＭＳ Ｐゴシック"/>
                        </a:rPr>
                        <a:t>Function</a:t>
                      </a:r>
                      <a:endParaRPr lang="en-US" sz="1400" b="0" strike="noStrike" spc="-1">
                        <a:latin typeface="Arial"/>
                      </a:endParaRPr>
                    </a:p>
                  </a:txBody>
                  <a:tcPr>
                    <a:lnL w="12240">
                      <a:solidFill>
                        <a:srgbClr val="000000"/>
                      </a:solidFill>
                    </a:lnL>
                    <a:lnR w="28080">
                      <a:solidFill>
                        <a:srgbClr val="000000"/>
                      </a:solidFill>
                    </a:lnR>
                    <a:lnT w="28080">
                      <a:solidFill>
                        <a:srgbClr val="000000"/>
                      </a:solidFill>
                    </a:lnT>
                    <a:lnB w="12240">
                      <a:solidFill>
                        <a:srgbClr val="000000"/>
                      </a:solidFill>
                    </a:lnB>
                    <a:solidFill>
                      <a:srgbClr val="EEE8E0"/>
                    </a:solidFill>
                  </a:tcPr>
                </a:tc>
                <a:extLst>
                  <a:ext uri="{0D108BD9-81ED-4DB2-BD59-A6C34878D82A}">
                    <a16:rowId xmlns:a16="http://schemas.microsoft.com/office/drawing/2014/main" val="10000"/>
                  </a:ext>
                </a:extLst>
              </a:tr>
              <a:tr h="321840">
                <a:tc>
                  <a:txBody>
                    <a:bodyPr/>
                    <a:lstStyle/>
                    <a:p>
                      <a:pPr algn="ctr">
                        <a:lnSpc>
                          <a:spcPct val="100000"/>
                        </a:lnSpc>
                        <a:spcBef>
                          <a:spcPts val="320"/>
                        </a:spcBef>
                      </a:pPr>
                      <a:r>
                        <a:rPr lang="en-US" sz="1600" b="1" strike="noStrike" spc="-1">
                          <a:solidFill>
                            <a:srgbClr val="000000"/>
                          </a:solidFill>
                          <a:latin typeface="Courier New"/>
                          <a:ea typeface="ＭＳ Ｐゴシック"/>
                        </a:rPr>
                        <a:t>0000</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spcBef>
                          <a:spcPts val="281"/>
                        </a:spcBef>
                      </a:pPr>
                      <a:r>
                        <a:rPr lang="en-US" sz="1400" b="1" strike="noStrike" spc="-1">
                          <a:solidFill>
                            <a:srgbClr val="000000"/>
                          </a:solidFill>
                          <a:latin typeface="Arial"/>
                          <a:ea typeface="ＭＳ Ｐゴシック"/>
                        </a:rPr>
                        <a:t>AND</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1"/>
                  </a:ext>
                </a:extLst>
              </a:tr>
              <a:tr h="321840">
                <a:tc>
                  <a:txBody>
                    <a:bodyPr/>
                    <a:lstStyle/>
                    <a:p>
                      <a:pPr algn="ctr">
                        <a:lnSpc>
                          <a:spcPct val="100000"/>
                        </a:lnSpc>
                        <a:spcBef>
                          <a:spcPts val="320"/>
                        </a:spcBef>
                      </a:pPr>
                      <a:r>
                        <a:rPr lang="en-US" sz="1600" b="1" strike="noStrike" spc="-1">
                          <a:solidFill>
                            <a:srgbClr val="000000"/>
                          </a:solidFill>
                          <a:latin typeface="Courier New"/>
                          <a:ea typeface="ＭＳ Ｐゴシック"/>
                        </a:rPr>
                        <a:t>0001</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spcBef>
                          <a:spcPts val="281"/>
                        </a:spcBef>
                      </a:pPr>
                      <a:r>
                        <a:rPr lang="en-US" sz="1400" b="1" strike="noStrike" spc="-1">
                          <a:solidFill>
                            <a:srgbClr val="000000"/>
                          </a:solidFill>
                          <a:latin typeface="Arial"/>
                          <a:ea typeface="ＭＳ Ｐゴシック"/>
                        </a:rPr>
                        <a:t>OR</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2"/>
                  </a:ext>
                </a:extLst>
              </a:tr>
              <a:tr h="321840">
                <a:tc>
                  <a:txBody>
                    <a:bodyPr/>
                    <a:lstStyle/>
                    <a:p>
                      <a:pPr algn="ctr">
                        <a:lnSpc>
                          <a:spcPct val="100000"/>
                        </a:lnSpc>
                        <a:spcBef>
                          <a:spcPts val="320"/>
                        </a:spcBef>
                      </a:pPr>
                      <a:r>
                        <a:rPr lang="en-US" sz="1600" b="1" strike="noStrike" spc="-1">
                          <a:solidFill>
                            <a:srgbClr val="000000"/>
                          </a:solidFill>
                          <a:latin typeface="Courier New"/>
                          <a:ea typeface="ＭＳ Ｐゴシック"/>
                        </a:rPr>
                        <a:t>0010</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spcBef>
                          <a:spcPts val="281"/>
                        </a:spcBef>
                      </a:pPr>
                      <a:r>
                        <a:rPr lang="en-US" sz="1400" b="1" strike="noStrike" spc="-1">
                          <a:solidFill>
                            <a:srgbClr val="000000"/>
                          </a:solidFill>
                          <a:latin typeface="Arial"/>
                          <a:ea typeface="ＭＳ Ｐゴシック"/>
                        </a:rPr>
                        <a:t>add</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3"/>
                  </a:ext>
                </a:extLst>
              </a:tr>
              <a:tr h="321840">
                <a:tc>
                  <a:txBody>
                    <a:bodyPr/>
                    <a:lstStyle/>
                    <a:p>
                      <a:pPr algn="ctr">
                        <a:lnSpc>
                          <a:spcPct val="100000"/>
                        </a:lnSpc>
                        <a:spcBef>
                          <a:spcPts val="320"/>
                        </a:spcBef>
                      </a:pPr>
                      <a:r>
                        <a:rPr lang="en-US" sz="1600" b="1" strike="noStrike" spc="-1">
                          <a:solidFill>
                            <a:srgbClr val="000000"/>
                          </a:solidFill>
                          <a:latin typeface="Courier New"/>
                          <a:ea typeface="ＭＳ Ｐゴシック"/>
                        </a:rPr>
                        <a:t>0110</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spcBef>
                          <a:spcPts val="281"/>
                        </a:spcBef>
                      </a:pPr>
                      <a:r>
                        <a:rPr lang="en-US" sz="1400" b="1" strike="noStrike" spc="-1">
                          <a:solidFill>
                            <a:srgbClr val="000000"/>
                          </a:solidFill>
                          <a:latin typeface="Arial"/>
                          <a:ea typeface="ＭＳ Ｐゴシック"/>
                        </a:rPr>
                        <a:t>subtract</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4"/>
                  </a:ext>
                </a:extLst>
              </a:tr>
              <a:tr h="321840">
                <a:tc>
                  <a:txBody>
                    <a:bodyPr/>
                    <a:lstStyle/>
                    <a:p>
                      <a:pPr algn="ctr">
                        <a:lnSpc>
                          <a:spcPct val="100000"/>
                        </a:lnSpc>
                        <a:spcBef>
                          <a:spcPts val="320"/>
                        </a:spcBef>
                      </a:pPr>
                      <a:r>
                        <a:rPr lang="en-US" sz="1600" b="1" strike="noStrike" spc="-1">
                          <a:solidFill>
                            <a:srgbClr val="000000"/>
                          </a:solidFill>
                          <a:latin typeface="Courier New"/>
                          <a:ea typeface="ＭＳ Ｐゴシック"/>
                        </a:rPr>
                        <a:t>0111</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spcBef>
                          <a:spcPts val="281"/>
                        </a:spcBef>
                      </a:pPr>
                      <a:r>
                        <a:rPr lang="en-US" sz="1400" b="1" strike="noStrike" spc="-1">
                          <a:solidFill>
                            <a:srgbClr val="000000"/>
                          </a:solidFill>
                          <a:latin typeface="Arial"/>
                          <a:ea typeface="ＭＳ Ｐゴシック"/>
                        </a:rPr>
                        <a:t>slt</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5"/>
                  </a:ext>
                </a:extLst>
              </a:tr>
              <a:tr h="321840">
                <a:tc>
                  <a:txBody>
                    <a:bodyPr/>
                    <a:lstStyle/>
                    <a:p>
                      <a:pPr algn="ctr">
                        <a:lnSpc>
                          <a:spcPct val="100000"/>
                        </a:lnSpc>
                        <a:spcBef>
                          <a:spcPts val="320"/>
                        </a:spcBef>
                      </a:pPr>
                      <a:r>
                        <a:rPr lang="en-US" sz="1600" b="1" strike="noStrike" spc="-1">
                          <a:solidFill>
                            <a:srgbClr val="000000"/>
                          </a:solidFill>
                          <a:latin typeface="Courier New"/>
                          <a:ea typeface="ＭＳ Ｐゴシック"/>
                        </a:rPr>
                        <a:t>1100</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28080">
                      <a:solidFill>
                        <a:srgbClr val="000000"/>
                      </a:solidFill>
                    </a:lnB>
                    <a:solidFill>
                      <a:srgbClr val="FFFFFF"/>
                    </a:solidFill>
                  </a:tcPr>
                </a:tc>
                <a:tc>
                  <a:txBody>
                    <a:bodyPr/>
                    <a:lstStyle/>
                    <a:p>
                      <a:pPr algn="ctr">
                        <a:lnSpc>
                          <a:spcPct val="100000"/>
                        </a:lnSpc>
                        <a:spcBef>
                          <a:spcPts val="281"/>
                        </a:spcBef>
                      </a:pPr>
                      <a:r>
                        <a:rPr lang="en-US" sz="1400" b="1" strike="noStrike" spc="-1">
                          <a:solidFill>
                            <a:srgbClr val="000000"/>
                          </a:solidFill>
                          <a:latin typeface="Arial"/>
                          <a:ea typeface="ＭＳ Ｐゴシック"/>
                        </a:rPr>
                        <a:t>NOR</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28080">
                      <a:solidFill>
                        <a:srgbClr val="000000"/>
                      </a:solidFill>
                    </a:lnB>
                    <a:solidFill>
                      <a:srgbClr val="FFFFFF"/>
                    </a:solidFill>
                  </a:tcPr>
                </a:tc>
                <a:extLst>
                  <a:ext uri="{0D108BD9-81ED-4DB2-BD59-A6C34878D82A}">
                    <a16:rowId xmlns:a16="http://schemas.microsoft.com/office/drawing/2014/main" val="10006"/>
                  </a:ext>
                </a:extLst>
              </a:tr>
            </a:tbl>
          </a:graphicData>
        </a:graphic>
      </p:graphicFrame>
      <p:grpSp>
        <p:nvGrpSpPr>
          <p:cNvPr id="7" name="Group 4">
            <a:extLst>
              <a:ext uri="{FF2B5EF4-FFF2-40B4-BE49-F238E27FC236}">
                <a16:creationId xmlns:a16="http://schemas.microsoft.com/office/drawing/2014/main" id="{CECBD7E6-A8D4-9ED8-9D5A-FED9965DAA98}"/>
              </a:ext>
            </a:extLst>
          </p:cNvPr>
          <p:cNvGrpSpPr/>
          <p:nvPr/>
        </p:nvGrpSpPr>
        <p:grpSpPr>
          <a:xfrm>
            <a:off x="8547652" y="2029179"/>
            <a:ext cx="3443760" cy="1618200"/>
            <a:chOff x="6215760" y="1007640"/>
            <a:chExt cx="3443760" cy="1618200"/>
          </a:xfrm>
        </p:grpSpPr>
        <p:grpSp>
          <p:nvGrpSpPr>
            <p:cNvPr id="8" name="Group 5">
              <a:extLst>
                <a:ext uri="{FF2B5EF4-FFF2-40B4-BE49-F238E27FC236}">
                  <a16:creationId xmlns:a16="http://schemas.microsoft.com/office/drawing/2014/main" id="{1D294D21-AD67-D10F-CD3C-245A7CA27905}"/>
                </a:ext>
              </a:extLst>
            </p:cNvPr>
            <p:cNvGrpSpPr/>
            <p:nvPr/>
          </p:nvGrpSpPr>
          <p:grpSpPr>
            <a:xfrm>
              <a:off x="6215760" y="1007640"/>
              <a:ext cx="3132360" cy="1618200"/>
              <a:chOff x="6215760" y="1007640"/>
              <a:chExt cx="3132360" cy="1618200"/>
            </a:xfrm>
          </p:grpSpPr>
          <p:sp>
            <p:nvSpPr>
              <p:cNvPr id="13" name="Line 6">
                <a:extLst>
                  <a:ext uri="{FF2B5EF4-FFF2-40B4-BE49-F238E27FC236}">
                    <a16:creationId xmlns:a16="http://schemas.microsoft.com/office/drawing/2014/main" id="{90A96C2A-5F50-1005-60D0-9AA07E061E38}"/>
                  </a:ext>
                </a:extLst>
              </p:cNvPr>
              <p:cNvSpPr/>
              <p:nvPr/>
            </p:nvSpPr>
            <p:spPr>
              <a:xfrm>
                <a:off x="7062480" y="1292400"/>
                <a:ext cx="1270800" cy="3492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4" name="Line 7">
                <a:extLst>
                  <a:ext uri="{FF2B5EF4-FFF2-40B4-BE49-F238E27FC236}">
                    <a16:creationId xmlns:a16="http://schemas.microsoft.com/office/drawing/2014/main" id="{FAC0BA03-56E0-208F-6D9B-7549BEF42B6D}"/>
                  </a:ext>
                </a:extLst>
              </p:cNvPr>
              <p:cNvSpPr/>
              <p:nvPr/>
            </p:nvSpPr>
            <p:spPr>
              <a:xfrm>
                <a:off x="8333280" y="1641600"/>
                <a:ext cx="360" cy="6040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5" name="Line 8">
                <a:extLst>
                  <a:ext uri="{FF2B5EF4-FFF2-40B4-BE49-F238E27FC236}">
                    <a16:creationId xmlns:a16="http://schemas.microsoft.com/office/drawing/2014/main" id="{15404F06-9827-1F66-4556-309E2DFA5FDF}"/>
                  </a:ext>
                </a:extLst>
              </p:cNvPr>
              <p:cNvSpPr/>
              <p:nvPr/>
            </p:nvSpPr>
            <p:spPr>
              <a:xfrm flipH="1">
                <a:off x="7062480" y="2245680"/>
                <a:ext cx="1270800" cy="3801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6" name="Line 9">
                <a:extLst>
                  <a:ext uri="{FF2B5EF4-FFF2-40B4-BE49-F238E27FC236}">
                    <a16:creationId xmlns:a16="http://schemas.microsoft.com/office/drawing/2014/main" id="{D4C233F8-4545-00ED-B71E-3CEEECD3F33D}"/>
                  </a:ext>
                </a:extLst>
              </p:cNvPr>
              <p:cNvSpPr/>
              <p:nvPr/>
            </p:nvSpPr>
            <p:spPr>
              <a:xfrm flipV="1">
                <a:off x="7062480" y="2086560"/>
                <a:ext cx="360" cy="5392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7" name="Line 10">
                <a:extLst>
                  <a:ext uri="{FF2B5EF4-FFF2-40B4-BE49-F238E27FC236}">
                    <a16:creationId xmlns:a16="http://schemas.microsoft.com/office/drawing/2014/main" id="{42DBC1BF-8FDE-54CE-5F75-E911DC874E0F}"/>
                  </a:ext>
                </a:extLst>
              </p:cNvPr>
              <p:cNvSpPr/>
              <p:nvPr/>
            </p:nvSpPr>
            <p:spPr>
              <a:xfrm flipV="1">
                <a:off x="7062480" y="1927800"/>
                <a:ext cx="169920" cy="1587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8" name="Line 11">
                <a:extLst>
                  <a:ext uri="{FF2B5EF4-FFF2-40B4-BE49-F238E27FC236}">
                    <a16:creationId xmlns:a16="http://schemas.microsoft.com/office/drawing/2014/main" id="{D977DB5E-1378-182B-A919-AEEA02C5A5A7}"/>
                  </a:ext>
                </a:extLst>
              </p:cNvPr>
              <p:cNvSpPr/>
              <p:nvPr/>
            </p:nvSpPr>
            <p:spPr>
              <a:xfrm>
                <a:off x="7062480" y="1737360"/>
                <a:ext cx="169920" cy="1904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9" name="Line 12">
                <a:extLst>
                  <a:ext uri="{FF2B5EF4-FFF2-40B4-BE49-F238E27FC236}">
                    <a16:creationId xmlns:a16="http://schemas.microsoft.com/office/drawing/2014/main" id="{D519F568-E859-CD64-90DC-ED3AE5F42DB8}"/>
                  </a:ext>
                </a:extLst>
              </p:cNvPr>
              <p:cNvSpPr/>
              <p:nvPr/>
            </p:nvSpPr>
            <p:spPr>
              <a:xfrm flipV="1">
                <a:off x="7062480" y="1292400"/>
                <a:ext cx="360" cy="444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0" name="Line 13">
                <a:extLst>
                  <a:ext uri="{FF2B5EF4-FFF2-40B4-BE49-F238E27FC236}">
                    <a16:creationId xmlns:a16="http://schemas.microsoft.com/office/drawing/2014/main" id="{0B01E06C-C395-02BC-5DC7-0BBF7EFC1D01}"/>
                  </a:ext>
                </a:extLst>
              </p:cNvPr>
              <p:cNvSpPr/>
              <p:nvPr/>
            </p:nvSpPr>
            <p:spPr>
              <a:xfrm>
                <a:off x="6215760" y="1484280"/>
                <a:ext cx="84672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1" name="Line 14">
                <a:extLst>
                  <a:ext uri="{FF2B5EF4-FFF2-40B4-BE49-F238E27FC236}">
                    <a16:creationId xmlns:a16="http://schemas.microsoft.com/office/drawing/2014/main" id="{E830E914-09DB-F795-C4B8-0F0490D86768}"/>
                  </a:ext>
                </a:extLst>
              </p:cNvPr>
              <p:cNvSpPr/>
              <p:nvPr/>
            </p:nvSpPr>
            <p:spPr>
              <a:xfrm>
                <a:off x="6215760" y="2372760"/>
                <a:ext cx="84672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2" name="Line 15">
                <a:extLst>
                  <a:ext uri="{FF2B5EF4-FFF2-40B4-BE49-F238E27FC236}">
                    <a16:creationId xmlns:a16="http://schemas.microsoft.com/office/drawing/2014/main" id="{A507FB1F-092F-A79A-9958-58B8D90DB097}"/>
                  </a:ext>
                </a:extLst>
              </p:cNvPr>
              <p:cNvSpPr/>
              <p:nvPr/>
            </p:nvSpPr>
            <p:spPr>
              <a:xfrm>
                <a:off x="7697880" y="1007640"/>
                <a:ext cx="360" cy="443880"/>
              </a:xfrm>
              <a:prstGeom prst="line">
                <a:avLst/>
              </a:prstGeom>
              <a:ln w="1584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23" name="Line 16">
                <a:extLst>
                  <a:ext uri="{FF2B5EF4-FFF2-40B4-BE49-F238E27FC236}">
                    <a16:creationId xmlns:a16="http://schemas.microsoft.com/office/drawing/2014/main" id="{0B01AF58-8CF8-CBD3-17A0-5DCF2A5C3F55}"/>
                  </a:ext>
                </a:extLst>
              </p:cNvPr>
              <p:cNvSpPr/>
              <p:nvPr/>
            </p:nvSpPr>
            <p:spPr>
              <a:xfrm>
                <a:off x="8315640" y="1765080"/>
                <a:ext cx="100800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4" name="Line 17">
                <a:extLst>
                  <a:ext uri="{FF2B5EF4-FFF2-40B4-BE49-F238E27FC236}">
                    <a16:creationId xmlns:a16="http://schemas.microsoft.com/office/drawing/2014/main" id="{D10C4ED2-E7D2-E3FB-CD2D-99E0F7C0319B}"/>
                  </a:ext>
                </a:extLst>
              </p:cNvPr>
              <p:cNvSpPr/>
              <p:nvPr/>
            </p:nvSpPr>
            <p:spPr>
              <a:xfrm>
                <a:off x="8333280" y="2086560"/>
                <a:ext cx="101484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5" name="CustomShape 18">
                <a:extLst>
                  <a:ext uri="{FF2B5EF4-FFF2-40B4-BE49-F238E27FC236}">
                    <a16:creationId xmlns:a16="http://schemas.microsoft.com/office/drawing/2014/main" id="{64EDC041-13EF-6C14-D08E-E5EEDCC7C8FD}"/>
                  </a:ext>
                </a:extLst>
              </p:cNvPr>
              <p:cNvSpPr/>
              <p:nvPr/>
            </p:nvSpPr>
            <p:spPr>
              <a:xfrm>
                <a:off x="7652880" y="1906920"/>
                <a:ext cx="5972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ALU</a:t>
                </a:r>
                <a:endParaRPr lang="en-US" sz="1000" b="0" strike="noStrike" spc="-1">
                  <a:latin typeface="Arial"/>
                </a:endParaRPr>
              </a:p>
              <a:p>
                <a:pPr algn="ctr">
                  <a:lnSpc>
                    <a:spcPct val="100000"/>
                  </a:lnSpc>
                </a:pPr>
                <a:r>
                  <a:rPr lang="en-US" sz="1000" b="1" strike="noStrike" spc="-1">
                    <a:solidFill>
                      <a:srgbClr val="000000"/>
                    </a:solidFill>
                    <a:latin typeface="Verdana"/>
                    <a:ea typeface="ＭＳ Ｐゴシック"/>
                  </a:rPr>
                  <a:t>result</a:t>
                </a:r>
                <a:endParaRPr lang="en-US" sz="1000" b="0" strike="noStrike" spc="-1">
                  <a:latin typeface="Arial"/>
                </a:endParaRPr>
              </a:p>
            </p:txBody>
          </p:sp>
          <p:sp>
            <p:nvSpPr>
              <p:cNvPr id="26" name="CustomShape 19">
                <a:extLst>
                  <a:ext uri="{FF2B5EF4-FFF2-40B4-BE49-F238E27FC236}">
                    <a16:creationId xmlns:a16="http://schemas.microsoft.com/office/drawing/2014/main" id="{6E43879B-408E-1A77-AEF4-9B9F4F689354}"/>
                  </a:ext>
                </a:extLst>
              </p:cNvPr>
              <p:cNvSpPr/>
              <p:nvPr/>
            </p:nvSpPr>
            <p:spPr>
              <a:xfrm>
                <a:off x="7208280" y="1823040"/>
                <a:ext cx="51336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ALU</a:t>
                </a:r>
                <a:endParaRPr lang="en-US" sz="1200" b="0" strike="noStrike" spc="-1">
                  <a:latin typeface="Arial"/>
                </a:endParaRPr>
              </a:p>
            </p:txBody>
          </p:sp>
          <p:sp>
            <p:nvSpPr>
              <p:cNvPr id="27" name="CustomShape 20">
                <a:extLst>
                  <a:ext uri="{FF2B5EF4-FFF2-40B4-BE49-F238E27FC236}">
                    <a16:creationId xmlns:a16="http://schemas.microsoft.com/office/drawing/2014/main" id="{6E2A283F-9485-485A-4C0D-3D4C1517BCBE}"/>
                  </a:ext>
                </a:extLst>
              </p:cNvPr>
              <p:cNvSpPr/>
              <p:nvPr/>
            </p:nvSpPr>
            <p:spPr>
              <a:xfrm>
                <a:off x="7783560" y="1060560"/>
                <a:ext cx="124776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Courier New"/>
                    <a:ea typeface="ＭＳ Ｐゴシック"/>
                  </a:rPr>
                  <a:t>ALUcontrol</a:t>
                </a:r>
                <a:endParaRPr lang="en-US" sz="1400" b="0" strike="noStrike" spc="-1">
                  <a:latin typeface="Arial"/>
                </a:endParaRPr>
              </a:p>
            </p:txBody>
          </p:sp>
          <p:sp>
            <p:nvSpPr>
              <p:cNvPr id="28" name="Line 21">
                <a:extLst>
                  <a:ext uri="{FF2B5EF4-FFF2-40B4-BE49-F238E27FC236}">
                    <a16:creationId xmlns:a16="http://schemas.microsoft.com/office/drawing/2014/main" id="{8D1396F3-850A-C3C1-C6E3-9ECF9BC1AA81}"/>
                  </a:ext>
                </a:extLst>
              </p:cNvPr>
              <p:cNvSpPr/>
              <p:nvPr/>
            </p:nvSpPr>
            <p:spPr>
              <a:xfrm>
                <a:off x="7570080" y="1325160"/>
                <a:ext cx="253800" cy="64440"/>
              </a:xfrm>
              <a:prstGeom prst="line">
                <a:avLst/>
              </a:prstGeom>
              <a:ln w="1584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29" name="CustomShape 22">
                <a:extLst>
                  <a:ext uri="{FF2B5EF4-FFF2-40B4-BE49-F238E27FC236}">
                    <a16:creationId xmlns:a16="http://schemas.microsoft.com/office/drawing/2014/main" id="{ECEB835D-5DA5-7EC9-44FC-488D8FEF7F1E}"/>
                  </a:ext>
                </a:extLst>
              </p:cNvPr>
              <p:cNvSpPr/>
              <p:nvPr/>
            </p:nvSpPr>
            <p:spPr>
              <a:xfrm>
                <a:off x="7386840" y="114444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660066"/>
                    </a:solidFill>
                    <a:latin typeface="Verdana"/>
                    <a:ea typeface="ＭＳ Ｐゴシック"/>
                  </a:rPr>
                  <a:t>4</a:t>
                </a:r>
                <a:endParaRPr lang="en-US" sz="1000" b="0" strike="noStrike" spc="-1">
                  <a:latin typeface="Arial"/>
                </a:endParaRPr>
              </a:p>
            </p:txBody>
          </p:sp>
          <p:sp>
            <p:nvSpPr>
              <p:cNvPr id="30" name="CustomShape 23">
                <a:extLst>
                  <a:ext uri="{FF2B5EF4-FFF2-40B4-BE49-F238E27FC236}">
                    <a16:creationId xmlns:a16="http://schemas.microsoft.com/office/drawing/2014/main" id="{91817235-4A37-3090-EE48-7A30A0E882F6}"/>
                  </a:ext>
                </a:extLst>
              </p:cNvPr>
              <p:cNvSpPr/>
              <p:nvPr/>
            </p:nvSpPr>
            <p:spPr>
              <a:xfrm>
                <a:off x="7559640" y="1637640"/>
                <a:ext cx="883440" cy="241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1" strike="noStrike" spc="-1">
                    <a:solidFill>
                      <a:srgbClr val="C00000"/>
                    </a:solidFill>
                    <a:latin typeface="Verdana"/>
                    <a:ea typeface="ＭＳ Ｐゴシック"/>
                  </a:rPr>
                  <a:t>isZero?</a:t>
                </a:r>
                <a:endParaRPr lang="en-US" sz="1000" b="0" strike="noStrike" spc="-1">
                  <a:latin typeface="Arial"/>
                </a:endParaRPr>
              </a:p>
            </p:txBody>
          </p:sp>
        </p:grpSp>
        <p:sp>
          <p:nvSpPr>
            <p:cNvPr id="9" name="CustomShape 24">
              <a:extLst>
                <a:ext uri="{FF2B5EF4-FFF2-40B4-BE49-F238E27FC236}">
                  <a16:creationId xmlns:a16="http://schemas.microsoft.com/office/drawing/2014/main" id="{95E05E75-083A-4A5E-6420-33448DB270A2}"/>
                </a:ext>
              </a:extLst>
            </p:cNvPr>
            <p:cNvSpPr/>
            <p:nvPr/>
          </p:nvSpPr>
          <p:spPr>
            <a:xfrm>
              <a:off x="6383880" y="1259640"/>
              <a:ext cx="419400" cy="25200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2000" b="1" strike="noStrike" spc="-1">
                  <a:solidFill>
                    <a:srgbClr val="000000"/>
                  </a:solidFill>
                  <a:latin typeface="Times New Roman"/>
                  <a:ea typeface="ＭＳ Ｐゴシック"/>
                </a:rPr>
                <a:t>A</a:t>
              </a:r>
              <a:endParaRPr lang="en-US" sz="2000" b="0" strike="noStrike" spc="-1">
                <a:latin typeface="Arial"/>
              </a:endParaRPr>
            </a:p>
          </p:txBody>
        </p:sp>
        <p:sp>
          <p:nvSpPr>
            <p:cNvPr id="10" name="CustomShape 25">
              <a:extLst>
                <a:ext uri="{FF2B5EF4-FFF2-40B4-BE49-F238E27FC236}">
                  <a16:creationId xmlns:a16="http://schemas.microsoft.com/office/drawing/2014/main" id="{72C65AAF-CCDC-E620-3F97-49A3EF0C32BF}"/>
                </a:ext>
              </a:extLst>
            </p:cNvPr>
            <p:cNvSpPr/>
            <p:nvPr/>
          </p:nvSpPr>
          <p:spPr>
            <a:xfrm>
              <a:off x="6383880" y="2142000"/>
              <a:ext cx="419400" cy="251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2000" b="1" strike="noStrike" spc="-1">
                  <a:solidFill>
                    <a:srgbClr val="000000"/>
                  </a:solidFill>
                  <a:latin typeface="Times New Roman"/>
                  <a:ea typeface="ＭＳ Ｐゴシック"/>
                </a:rPr>
                <a:t>B</a:t>
              </a:r>
              <a:endParaRPr lang="en-US" sz="2000" b="0" strike="noStrike" spc="-1">
                <a:latin typeface="Arial"/>
              </a:endParaRPr>
            </a:p>
          </p:txBody>
        </p:sp>
        <p:sp>
          <p:nvSpPr>
            <p:cNvPr id="11" name="CustomShape 26">
              <a:extLst>
                <a:ext uri="{FF2B5EF4-FFF2-40B4-BE49-F238E27FC236}">
                  <a16:creationId xmlns:a16="http://schemas.microsoft.com/office/drawing/2014/main" id="{2C3510BB-10EA-255A-55B3-48DC5E4D7E85}"/>
                </a:ext>
              </a:extLst>
            </p:cNvPr>
            <p:cNvSpPr/>
            <p:nvPr/>
          </p:nvSpPr>
          <p:spPr>
            <a:xfrm>
              <a:off x="8315640" y="2079000"/>
              <a:ext cx="1007640" cy="251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1" strike="noStrike" spc="-1">
                  <a:solidFill>
                    <a:srgbClr val="000000"/>
                  </a:solidFill>
                  <a:latin typeface="Times New Roman"/>
                  <a:ea typeface="ＭＳ Ｐゴシック"/>
                </a:rPr>
                <a:t>A op B</a:t>
              </a:r>
              <a:endParaRPr lang="en-US" sz="1800" b="0" strike="noStrike" spc="-1">
                <a:latin typeface="Arial"/>
              </a:endParaRPr>
            </a:p>
          </p:txBody>
        </p:sp>
        <p:sp>
          <p:nvSpPr>
            <p:cNvPr id="12" name="CustomShape 27">
              <a:extLst>
                <a:ext uri="{FF2B5EF4-FFF2-40B4-BE49-F238E27FC236}">
                  <a16:creationId xmlns:a16="http://schemas.microsoft.com/office/drawing/2014/main" id="{46582316-E66F-57DD-0C6B-DE5F3C2880B5}"/>
                </a:ext>
              </a:extLst>
            </p:cNvPr>
            <p:cNvSpPr/>
            <p:nvPr/>
          </p:nvSpPr>
          <p:spPr>
            <a:xfrm>
              <a:off x="8315640" y="1448640"/>
              <a:ext cx="1343880" cy="25200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0000"/>
                  </a:solidFill>
                  <a:latin typeface="Times New Roman"/>
                  <a:ea typeface="ＭＳ Ｐゴシック"/>
                </a:rPr>
                <a:t>(A op B) == 0?</a:t>
              </a:r>
              <a:endParaRPr lang="en-US" sz="1200" b="0" strike="noStrike" spc="-1">
                <a:latin typeface="Arial"/>
              </a:endParaRPr>
            </a:p>
          </p:txBody>
        </p:sp>
      </p:grpSp>
    </p:spTree>
    <p:extLst>
      <p:ext uri="{BB962C8B-B14F-4D97-AF65-F5344CB8AC3E}">
        <p14:creationId xmlns:p14="http://schemas.microsoft.com/office/powerpoint/2010/main" val="4207569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Công đoạn ALU: </a:t>
            </a:r>
            <a:r>
              <a:rPr lang="en-US" sz="4000"/>
              <a:t>các lệnh non-branch</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39</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3" name="Line 3">
            <a:extLst>
              <a:ext uri="{FF2B5EF4-FFF2-40B4-BE49-F238E27FC236}">
                <a16:creationId xmlns:a16="http://schemas.microsoft.com/office/drawing/2014/main" id="{849FD48F-A082-7171-9E81-9976062657A5}"/>
              </a:ext>
            </a:extLst>
          </p:cNvPr>
          <p:cNvSpPr/>
          <p:nvPr/>
        </p:nvSpPr>
        <p:spPr>
          <a:xfrm>
            <a:off x="5668628" y="4071923"/>
            <a:ext cx="360" cy="2217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6" name="CustomShape 4">
            <a:extLst>
              <a:ext uri="{FF2B5EF4-FFF2-40B4-BE49-F238E27FC236}">
                <a16:creationId xmlns:a16="http://schemas.microsoft.com/office/drawing/2014/main" id="{69A0B01B-2CD1-EEAA-9DF0-8C507B6EEBD9}"/>
              </a:ext>
            </a:extLst>
          </p:cNvPr>
          <p:cNvSpPr/>
          <p:nvPr/>
        </p:nvSpPr>
        <p:spPr>
          <a:xfrm>
            <a:off x="4825868" y="2686283"/>
            <a:ext cx="1796760" cy="149292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7" name="CustomShape 5">
            <a:extLst>
              <a:ext uri="{FF2B5EF4-FFF2-40B4-BE49-F238E27FC236}">
                <a16:creationId xmlns:a16="http://schemas.microsoft.com/office/drawing/2014/main" id="{860E9BA6-F7A3-90FB-C804-36EA14A76D42}"/>
              </a:ext>
            </a:extLst>
          </p:cNvPr>
          <p:cNvSpPr/>
          <p:nvPr/>
        </p:nvSpPr>
        <p:spPr>
          <a:xfrm>
            <a:off x="4804988" y="2741363"/>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8" name="CustomShape 6">
            <a:extLst>
              <a:ext uri="{FF2B5EF4-FFF2-40B4-BE49-F238E27FC236}">
                <a16:creationId xmlns:a16="http://schemas.microsoft.com/office/drawing/2014/main" id="{977AEB03-577E-8B93-8FA0-0C4470C8CF5D}"/>
              </a:ext>
            </a:extLst>
          </p:cNvPr>
          <p:cNvSpPr/>
          <p:nvPr/>
        </p:nvSpPr>
        <p:spPr>
          <a:xfrm>
            <a:off x="4804988" y="3110003"/>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9" name="CustomShape 7">
            <a:extLst>
              <a:ext uri="{FF2B5EF4-FFF2-40B4-BE49-F238E27FC236}">
                <a16:creationId xmlns:a16="http://schemas.microsoft.com/office/drawing/2014/main" id="{A1DCCFF5-1E9A-5505-B9B2-430C40B95943}"/>
              </a:ext>
            </a:extLst>
          </p:cNvPr>
          <p:cNvSpPr/>
          <p:nvPr/>
        </p:nvSpPr>
        <p:spPr>
          <a:xfrm>
            <a:off x="4807868" y="3458123"/>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10" name="CustomShape 8">
            <a:extLst>
              <a:ext uri="{FF2B5EF4-FFF2-40B4-BE49-F238E27FC236}">
                <a16:creationId xmlns:a16="http://schemas.microsoft.com/office/drawing/2014/main" id="{90298E76-B30C-4AC8-852F-4BB7C32D4C2F}"/>
              </a:ext>
            </a:extLst>
          </p:cNvPr>
          <p:cNvSpPr/>
          <p:nvPr/>
        </p:nvSpPr>
        <p:spPr>
          <a:xfrm>
            <a:off x="4815428" y="3836123"/>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11" name="CustomShape 9">
            <a:extLst>
              <a:ext uri="{FF2B5EF4-FFF2-40B4-BE49-F238E27FC236}">
                <a16:creationId xmlns:a16="http://schemas.microsoft.com/office/drawing/2014/main" id="{3128112B-A46A-5F8A-D37A-D96CF2FFFF6C}"/>
              </a:ext>
            </a:extLst>
          </p:cNvPr>
          <p:cNvSpPr/>
          <p:nvPr/>
        </p:nvSpPr>
        <p:spPr>
          <a:xfrm>
            <a:off x="6003428" y="2788523"/>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12" name="CustomShape 10">
            <a:extLst>
              <a:ext uri="{FF2B5EF4-FFF2-40B4-BE49-F238E27FC236}">
                <a16:creationId xmlns:a16="http://schemas.microsoft.com/office/drawing/2014/main" id="{28F5289D-4E1F-30C4-B26E-6CBD0AF84D2A}"/>
              </a:ext>
            </a:extLst>
          </p:cNvPr>
          <p:cNvSpPr/>
          <p:nvPr/>
        </p:nvSpPr>
        <p:spPr>
          <a:xfrm>
            <a:off x="6003428" y="3647123"/>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13" name="Line 11">
            <a:extLst>
              <a:ext uri="{FF2B5EF4-FFF2-40B4-BE49-F238E27FC236}">
                <a16:creationId xmlns:a16="http://schemas.microsoft.com/office/drawing/2014/main" id="{24BA3C10-77D4-9DED-3D23-1A1A6D7A0256}"/>
              </a:ext>
            </a:extLst>
          </p:cNvPr>
          <p:cNvSpPr/>
          <p:nvPr/>
        </p:nvSpPr>
        <p:spPr>
          <a:xfrm>
            <a:off x="4226468" y="2937923"/>
            <a:ext cx="59904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4" name="Line 12">
            <a:extLst>
              <a:ext uri="{FF2B5EF4-FFF2-40B4-BE49-F238E27FC236}">
                <a16:creationId xmlns:a16="http://schemas.microsoft.com/office/drawing/2014/main" id="{FC728108-F322-9CD3-8749-13D1BF6646F0}"/>
              </a:ext>
            </a:extLst>
          </p:cNvPr>
          <p:cNvSpPr/>
          <p:nvPr/>
        </p:nvSpPr>
        <p:spPr>
          <a:xfrm>
            <a:off x="4226468" y="3252923"/>
            <a:ext cx="599040" cy="133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5" name="Line 13">
            <a:extLst>
              <a:ext uri="{FF2B5EF4-FFF2-40B4-BE49-F238E27FC236}">
                <a16:creationId xmlns:a16="http://schemas.microsoft.com/office/drawing/2014/main" id="{5C3D21D9-7133-A680-A612-0C6C3B6DA72C}"/>
              </a:ext>
            </a:extLst>
          </p:cNvPr>
          <p:cNvSpPr/>
          <p:nvPr/>
        </p:nvSpPr>
        <p:spPr>
          <a:xfrm flipV="1">
            <a:off x="4299188" y="3624083"/>
            <a:ext cx="526320" cy="68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6" name="Line 14">
            <a:extLst>
              <a:ext uri="{FF2B5EF4-FFF2-40B4-BE49-F238E27FC236}">
                <a16:creationId xmlns:a16="http://schemas.microsoft.com/office/drawing/2014/main" id="{4908B12F-6C25-401F-44B1-416D68CED876}"/>
              </a:ext>
            </a:extLst>
          </p:cNvPr>
          <p:cNvSpPr/>
          <p:nvPr/>
        </p:nvSpPr>
        <p:spPr>
          <a:xfrm>
            <a:off x="4348148" y="4002443"/>
            <a:ext cx="4773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7" name="Line 15">
            <a:extLst>
              <a:ext uri="{FF2B5EF4-FFF2-40B4-BE49-F238E27FC236}">
                <a16:creationId xmlns:a16="http://schemas.microsoft.com/office/drawing/2014/main" id="{3E48D036-9D84-8098-B119-3C89EEA341D7}"/>
              </a:ext>
            </a:extLst>
          </p:cNvPr>
          <p:cNvSpPr/>
          <p:nvPr/>
        </p:nvSpPr>
        <p:spPr>
          <a:xfrm>
            <a:off x="6623708" y="2937923"/>
            <a:ext cx="1512000" cy="360"/>
          </a:xfrm>
          <a:prstGeom prst="line">
            <a:avLst/>
          </a:prstGeom>
          <a:ln w="22320">
            <a:solidFill>
              <a:srgbClr val="C00000"/>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8" name="Line 16">
            <a:extLst>
              <a:ext uri="{FF2B5EF4-FFF2-40B4-BE49-F238E27FC236}">
                <a16:creationId xmlns:a16="http://schemas.microsoft.com/office/drawing/2014/main" id="{2FB1DCDF-622D-B87B-EFFA-DFD080749DC1}"/>
              </a:ext>
            </a:extLst>
          </p:cNvPr>
          <p:cNvSpPr/>
          <p:nvPr/>
        </p:nvSpPr>
        <p:spPr>
          <a:xfrm>
            <a:off x="6622988" y="3829283"/>
            <a:ext cx="102492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9" name="CustomShape 17">
            <a:extLst>
              <a:ext uri="{FF2B5EF4-FFF2-40B4-BE49-F238E27FC236}">
                <a16:creationId xmlns:a16="http://schemas.microsoft.com/office/drawing/2014/main" id="{647D726D-F6A8-B566-57F3-07A855280354}"/>
              </a:ext>
            </a:extLst>
          </p:cNvPr>
          <p:cNvSpPr/>
          <p:nvPr/>
        </p:nvSpPr>
        <p:spPr>
          <a:xfrm>
            <a:off x="5720108" y="3315923"/>
            <a:ext cx="90648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Register</a:t>
            </a:r>
            <a:endParaRPr lang="en-US" sz="1200" b="0" strike="noStrike" spc="-1">
              <a:latin typeface="Arial"/>
            </a:endParaRPr>
          </a:p>
          <a:p>
            <a:pPr algn="ctr">
              <a:lnSpc>
                <a:spcPct val="100000"/>
              </a:lnSpc>
            </a:pPr>
            <a:r>
              <a:rPr lang="en-US" sz="1200" b="1" i="1" strike="noStrike" spc="-1">
                <a:solidFill>
                  <a:srgbClr val="000000"/>
                </a:solidFill>
                <a:latin typeface="Verdana"/>
                <a:ea typeface="ＭＳ Ｐゴシック"/>
              </a:rPr>
              <a:t>File</a:t>
            </a:r>
            <a:endParaRPr lang="en-US" sz="1200" b="0" strike="noStrike" spc="-1">
              <a:latin typeface="Arial"/>
            </a:endParaRPr>
          </a:p>
        </p:txBody>
      </p:sp>
      <p:sp>
        <p:nvSpPr>
          <p:cNvPr id="20" name="Line 18">
            <a:extLst>
              <a:ext uri="{FF2B5EF4-FFF2-40B4-BE49-F238E27FC236}">
                <a16:creationId xmlns:a16="http://schemas.microsoft.com/office/drawing/2014/main" id="{E71B4A01-0C7F-E8AC-F586-737490C3FB44}"/>
              </a:ext>
            </a:extLst>
          </p:cNvPr>
          <p:cNvSpPr/>
          <p:nvPr/>
        </p:nvSpPr>
        <p:spPr>
          <a:xfrm flipH="1">
            <a:off x="4458668" y="2877803"/>
            <a:ext cx="11088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1" name="Line 19">
            <a:extLst>
              <a:ext uri="{FF2B5EF4-FFF2-40B4-BE49-F238E27FC236}">
                <a16:creationId xmlns:a16="http://schemas.microsoft.com/office/drawing/2014/main" id="{E3A52D1B-5A3F-FFA6-E6A5-7B69B96F49EA}"/>
              </a:ext>
            </a:extLst>
          </p:cNvPr>
          <p:cNvSpPr/>
          <p:nvPr/>
        </p:nvSpPr>
        <p:spPr>
          <a:xfrm flipH="1">
            <a:off x="4458668" y="3195323"/>
            <a:ext cx="11088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2" name="Line 20">
            <a:extLst>
              <a:ext uri="{FF2B5EF4-FFF2-40B4-BE49-F238E27FC236}">
                <a16:creationId xmlns:a16="http://schemas.microsoft.com/office/drawing/2014/main" id="{220689A6-8486-6C6B-9191-8EA4F1A57641}"/>
              </a:ext>
            </a:extLst>
          </p:cNvPr>
          <p:cNvSpPr/>
          <p:nvPr/>
        </p:nvSpPr>
        <p:spPr>
          <a:xfrm flipH="1">
            <a:off x="4458668" y="3553523"/>
            <a:ext cx="11088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3" name="CustomShape 21">
            <a:extLst>
              <a:ext uri="{FF2B5EF4-FFF2-40B4-BE49-F238E27FC236}">
                <a16:creationId xmlns:a16="http://schemas.microsoft.com/office/drawing/2014/main" id="{1E647066-94D3-355F-ADCC-386F00166CC1}"/>
              </a:ext>
            </a:extLst>
          </p:cNvPr>
          <p:cNvSpPr/>
          <p:nvPr/>
        </p:nvSpPr>
        <p:spPr>
          <a:xfrm>
            <a:off x="4351748" y="2748923"/>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4" name="CustomShape 22">
            <a:extLst>
              <a:ext uri="{FF2B5EF4-FFF2-40B4-BE49-F238E27FC236}">
                <a16:creationId xmlns:a16="http://schemas.microsoft.com/office/drawing/2014/main" id="{3AB25B99-262B-EA52-741B-69CEA944C7B5}"/>
              </a:ext>
            </a:extLst>
          </p:cNvPr>
          <p:cNvSpPr/>
          <p:nvPr/>
        </p:nvSpPr>
        <p:spPr>
          <a:xfrm>
            <a:off x="4323308" y="3080123"/>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5" name="CustomShape 23">
            <a:extLst>
              <a:ext uri="{FF2B5EF4-FFF2-40B4-BE49-F238E27FC236}">
                <a16:creationId xmlns:a16="http://schemas.microsoft.com/office/drawing/2014/main" id="{6F8B5F4A-C470-FB76-F37B-256EB7F6B295}"/>
              </a:ext>
            </a:extLst>
          </p:cNvPr>
          <p:cNvSpPr/>
          <p:nvPr/>
        </p:nvSpPr>
        <p:spPr>
          <a:xfrm>
            <a:off x="4323308" y="3458123"/>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6" name="Line 24">
            <a:extLst>
              <a:ext uri="{FF2B5EF4-FFF2-40B4-BE49-F238E27FC236}">
                <a16:creationId xmlns:a16="http://schemas.microsoft.com/office/drawing/2014/main" id="{5AC7776D-FEAB-9E2F-063C-B6BD00E2F6B4}"/>
              </a:ext>
            </a:extLst>
          </p:cNvPr>
          <p:cNvSpPr/>
          <p:nvPr/>
        </p:nvSpPr>
        <p:spPr>
          <a:xfrm>
            <a:off x="2552108" y="2890763"/>
            <a:ext cx="1674360" cy="4752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7" name="Line 25">
            <a:extLst>
              <a:ext uri="{FF2B5EF4-FFF2-40B4-BE49-F238E27FC236}">
                <a16:creationId xmlns:a16="http://schemas.microsoft.com/office/drawing/2014/main" id="{D27EDD40-AEC3-C24A-8C45-788469001437}"/>
              </a:ext>
            </a:extLst>
          </p:cNvPr>
          <p:cNvSpPr/>
          <p:nvPr/>
        </p:nvSpPr>
        <p:spPr>
          <a:xfrm flipV="1">
            <a:off x="2552108" y="3252923"/>
            <a:ext cx="1674360" cy="17316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8" name="Line 26">
            <a:extLst>
              <a:ext uri="{FF2B5EF4-FFF2-40B4-BE49-F238E27FC236}">
                <a16:creationId xmlns:a16="http://schemas.microsoft.com/office/drawing/2014/main" id="{A8D71061-DE92-8C9C-F64D-D43AAE2B7C52}"/>
              </a:ext>
            </a:extLst>
          </p:cNvPr>
          <p:cNvSpPr/>
          <p:nvPr/>
        </p:nvSpPr>
        <p:spPr>
          <a:xfrm>
            <a:off x="2507468" y="4008923"/>
            <a:ext cx="1136520" cy="36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9" name="CustomShape 27">
            <a:extLst>
              <a:ext uri="{FF2B5EF4-FFF2-40B4-BE49-F238E27FC236}">
                <a16:creationId xmlns:a16="http://schemas.microsoft.com/office/drawing/2014/main" id="{5BBF4E09-FE60-38AB-0F39-CA0745C3107D}"/>
              </a:ext>
            </a:extLst>
          </p:cNvPr>
          <p:cNvSpPr/>
          <p:nvPr/>
        </p:nvSpPr>
        <p:spPr>
          <a:xfrm>
            <a:off x="2626628" y="2686283"/>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30" name="CustomShape 28">
            <a:extLst>
              <a:ext uri="{FF2B5EF4-FFF2-40B4-BE49-F238E27FC236}">
                <a16:creationId xmlns:a16="http://schemas.microsoft.com/office/drawing/2014/main" id="{992CAC2C-381B-8D13-9A5B-335D0C072215}"/>
              </a:ext>
            </a:extLst>
          </p:cNvPr>
          <p:cNvSpPr/>
          <p:nvPr/>
        </p:nvSpPr>
        <p:spPr>
          <a:xfrm rot="21202800">
            <a:off x="2553548" y="3150323"/>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31" name="CustomShape 29">
            <a:extLst>
              <a:ext uri="{FF2B5EF4-FFF2-40B4-BE49-F238E27FC236}">
                <a16:creationId xmlns:a16="http://schemas.microsoft.com/office/drawing/2014/main" id="{2179BACE-D11A-593C-0896-3A38524B4794}"/>
              </a:ext>
            </a:extLst>
          </p:cNvPr>
          <p:cNvSpPr/>
          <p:nvPr/>
        </p:nvSpPr>
        <p:spPr>
          <a:xfrm>
            <a:off x="2553548" y="4009283"/>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32" name="CustomShape 30">
            <a:extLst>
              <a:ext uri="{FF2B5EF4-FFF2-40B4-BE49-F238E27FC236}">
                <a16:creationId xmlns:a16="http://schemas.microsoft.com/office/drawing/2014/main" id="{0B5A983E-6123-935A-9EF2-AB8AAB9058D6}"/>
              </a:ext>
            </a:extLst>
          </p:cNvPr>
          <p:cNvSpPr/>
          <p:nvPr/>
        </p:nvSpPr>
        <p:spPr>
          <a:xfrm>
            <a:off x="3644348" y="3567923"/>
            <a:ext cx="290880" cy="755640"/>
          </a:xfrm>
          <a:prstGeom prst="roundRect">
            <a:avLst>
              <a:gd name="adj" fmla="val 16667"/>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33" name="CustomShape 31">
            <a:extLst>
              <a:ext uri="{FF2B5EF4-FFF2-40B4-BE49-F238E27FC236}">
                <a16:creationId xmlns:a16="http://schemas.microsoft.com/office/drawing/2014/main" id="{10862819-4146-450F-C0DA-CCC4E2FBA29C}"/>
              </a:ext>
            </a:extLst>
          </p:cNvPr>
          <p:cNvSpPr/>
          <p:nvPr/>
        </p:nvSpPr>
        <p:spPr>
          <a:xfrm rot="16200000" flipH="1">
            <a:off x="3128468" y="3304403"/>
            <a:ext cx="468720" cy="562320"/>
          </a:xfrm>
          <a:prstGeom prst="bentConnector2">
            <a:avLst/>
          </a:prstGeom>
          <a:noFill/>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4" name="Line 32">
            <a:extLst>
              <a:ext uri="{FF2B5EF4-FFF2-40B4-BE49-F238E27FC236}">
                <a16:creationId xmlns:a16="http://schemas.microsoft.com/office/drawing/2014/main" id="{9F91B7D5-3927-2766-5AFC-DD366A2F1B75}"/>
              </a:ext>
            </a:extLst>
          </p:cNvPr>
          <p:cNvSpPr/>
          <p:nvPr/>
        </p:nvSpPr>
        <p:spPr>
          <a:xfrm flipV="1">
            <a:off x="3935228" y="3630923"/>
            <a:ext cx="363960" cy="31536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5" name="CustomShape 33">
            <a:extLst>
              <a:ext uri="{FF2B5EF4-FFF2-40B4-BE49-F238E27FC236}">
                <a16:creationId xmlns:a16="http://schemas.microsoft.com/office/drawing/2014/main" id="{6780F512-9C73-E8DC-C5D6-32FDA1FEE1EF}"/>
              </a:ext>
            </a:extLst>
          </p:cNvPr>
          <p:cNvSpPr/>
          <p:nvPr/>
        </p:nvSpPr>
        <p:spPr>
          <a:xfrm>
            <a:off x="3371468" y="4513283"/>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RegDst</a:t>
            </a:r>
            <a:endParaRPr lang="en-US" sz="1600" b="0" strike="noStrike" spc="-1">
              <a:latin typeface="Arial"/>
            </a:endParaRPr>
          </a:p>
        </p:txBody>
      </p:sp>
      <p:sp>
        <p:nvSpPr>
          <p:cNvPr id="36" name="Line 34">
            <a:extLst>
              <a:ext uri="{FF2B5EF4-FFF2-40B4-BE49-F238E27FC236}">
                <a16:creationId xmlns:a16="http://schemas.microsoft.com/office/drawing/2014/main" id="{A345AE89-D16A-0E52-6FDF-5CCC03CD519C}"/>
              </a:ext>
            </a:extLst>
          </p:cNvPr>
          <p:cNvSpPr/>
          <p:nvPr/>
        </p:nvSpPr>
        <p:spPr>
          <a:xfrm>
            <a:off x="3789788" y="4323923"/>
            <a:ext cx="360" cy="22176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7" name="CustomShape 35">
            <a:extLst>
              <a:ext uri="{FF2B5EF4-FFF2-40B4-BE49-F238E27FC236}">
                <a16:creationId xmlns:a16="http://schemas.microsoft.com/office/drawing/2014/main" id="{4C3F3F0D-A553-EA26-3596-57321705A783}"/>
              </a:ext>
            </a:extLst>
          </p:cNvPr>
          <p:cNvSpPr/>
          <p:nvPr/>
        </p:nvSpPr>
        <p:spPr>
          <a:xfrm flipV="1">
            <a:off x="5951588" y="4307723"/>
            <a:ext cx="1623240" cy="613800"/>
          </a:xfrm>
          <a:prstGeom prst="bentConnector3">
            <a:avLst>
              <a:gd name="adj1" fmla="val 60347"/>
            </a:avLst>
          </a:prstGeom>
          <a:noFill/>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8" name="CustomShape 36">
            <a:extLst>
              <a:ext uri="{FF2B5EF4-FFF2-40B4-BE49-F238E27FC236}">
                <a16:creationId xmlns:a16="http://schemas.microsoft.com/office/drawing/2014/main" id="{BCFC8DB3-C724-AB4B-4F87-8EAA10A6BB7B}"/>
              </a:ext>
            </a:extLst>
          </p:cNvPr>
          <p:cNvSpPr/>
          <p:nvPr/>
        </p:nvSpPr>
        <p:spPr>
          <a:xfrm>
            <a:off x="2558588" y="4765283"/>
            <a:ext cx="9295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[15:0]</a:t>
            </a:r>
            <a:endParaRPr lang="en-US" sz="1000" b="0" strike="noStrike" spc="-1">
              <a:latin typeface="Arial"/>
            </a:endParaRPr>
          </a:p>
        </p:txBody>
      </p:sp>
      <p:sp>
        <p:nvSpPr>
          <p:cNvPr id="39" name="CustomShape 37">
            <a:extLst>
              <a:ext uri="{FF2B5EF4-FFF2-40B4-BE49-F238E27FC236}">
                <a16:creationId xmlns:a16="http://schemas.microsoft.com/office/drawing/2014/main" id="{E0ED31BE-8EEA-4132-CBC4-5E66A7108409}"/>
              </a:ext>
            </a:extLst>
          </p:cNvPr>
          <p:cNvSpPr/>
          <p:nvPr/>
        </p:nvSpPr>
        <p:spPr>
          <a:xfrm>
            <a:off x="7385828" y="3693923"/>
            <a:ext cx="290880" cy="755640"/>
          </a:xfrm>
          <a:prstGeom prst="roundRect">
            <a:avLst>
              <a:gd name="adj" fmla="val 16667"/>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40" name="CustomShape 38">
            <a:extLst>
              <a:ext uri="{FF2B5EF4-FFF2-40B4-BE49-F238E27FC236}">
                <a16:creationId xmlns:a16="http://schemas.microsoft.com/office/drawing/2014/main" id="{D1A28325-5AD4-DEBD-EA5E-C476FAC6A6F0}"/>
              </a:ext>
            </a:extLst>
          </p:cNvPr>
          <p:cNvSpPr/>
          <p:nvPr/>
        </p:nvSpPr>
        <p:spPr>
          <a:xfrm>
            <a:off x="7159028" y="4576283"/>
            <a:ext cx="821160" cy="30276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Courier New"/>
                <a:ea typeface="ＭＳ Ｐゴシック"/>
              </a:rPr>
              <a:t>ALUSrc</a:t>
            </a:r>
            <a:endParaRPr lang="en-US" sz="1400" b="0" strike="noStrike" spc="-1">
              <a:latin typeface="Arial"/>
            </a:endParaRPr>
          </a:p>
        </p:txBody>
      </p:sp>
      <p:sp>
        <p:nvSpPr>
          <p:cNvPr id="41" name="Line 39">
            <a:extLst>
              <a:ext uri="{FF2B5EF4-FFF2-40B4-BE49-F238E27FC236}">
                <a16:creationId xmlns:a16="http://schemas.microsoft.com/office/drawing/2014/main" id="{6729874B-38D3-31DE-58E9-0B432716756A}"/>
              </a:ext>
            </a:extLst>
          </p:cNvPr>
          <p:cNvSpPr/>
          <p:nvPr/>
        </p:nvSpPr>
        <p:spPr>
          <a:xfrm>
            <a:off x="7531268" y="4449923"/>
            <a:ext cx="360" cy="221760"/>
          </a:xfrm>
          <a:prstGeom prst="line">
            <a:avLst/>
          </a:prstGeom>
          <a:ln w="1908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2" name="Line 40">
            <a:extLst>
              <a:ext uri="{FF2B5EF4-FFF2-40B4-BE49-F238E27FC236}">
                <a16:creationId xmlns:a16="http://schemas.microsoft.com/office/drawing/2014/main" id="{4999DC8B-FB1F-AE44-AA77-942F35C1D3D8}"/>
              </a:ext>
            </a:extLst>
          </p:cNvPr>
          <p:cNvSpPr/>
          <p:nvPr/>
        </p:nvSpPr>
        <p:spPr>
          <a:xfrm>
            <a:off x="2552108" y="4953923"/>
            <a:ext cx="2256480" cy="36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3" name="Line 41">
            <a:extLst>
              <a:ext uri="{FF2B5EF4-FFF2-40B4-BE49-F238E27FC236}">
                <a16:creationId xmlns:a16="http://schemas.microsoft.com/office/drawing/2014/main" id="{44017839-88CC-59DC-D16A-942A36565C2A}"/>
              </a:ext>
            </a:extLst>
          </p:cNvPr>
          <p:cNvSpPr/>
          <p:nvPr/>
        </p:nvSpPr>
        <p:spPr>
          <a:xfrm>
            <a:off x="7676708" y="4071923"/>
            <a:ext cx="459000" cy="360"/>
          </a:xfrm>
          <a:prstGeom prst="line">
            <a:avLst/>
          </a:prstGeom>
          <a:ln w="22320">
            <a:solidFill>
              <a:srgbClr val="C00000"/>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44" name="CustomShape 42">
            <a:extLst>
              <a:ext uri="{FF2B5EF4-FFF2-40B4-BE49-F238E27FC236}">
                <a16:creationId xmlns:a16="http://schemas.microsoft.com/office/drawing/2014/main" id="{23C6E787-5487-5057-FEE2-4B8CBFD96482}"/>
              </a:ext>
            </a:extLst>
          </p:cNvPr>
          <p:cNvSpPr/>
          <p:nvPr/>
        </p:nvSpPr>
        <p:spPr>
          <a:xfrm>
            <a:off x="5176148" y="4279643"/>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sp>
        <p:nvSpPr>
          <p:cNvPr id="45" name="CustomShape 43">
            <a:extLst>
              <a:ext uri="{FF2B5EF4-FFF2-40B4-BE49-F238E27FC236}">
                <a16:creationId xmlns:a16="http://schemas.microsoft.com/office/drawing/2014/main" id="{151A01A2-8BEA-8B4F-C6F7-0061B2C29344}"/>
              </a:ext>
            </a:extLst>
          </p:cNvPr>
          <p:cNvSpPr/>
          <p:nvPr/>
        </p:nvSpPr>
        <p:spPr>
          <a:xfrm>
            <a:off x="4691588" y="4701923"/>
            <a:ext cx="1259640" cy="440640"/>
          </a:xfrm>
          <a:prstGeom prst="ellipse">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400" b="0" strike="noStrike" spc="-1">
                <a:solidFill>
                  <a:srgbClr val="000000"/>
                </a:solidFill>
                <a:latin typeface="Times New Roman"/>
                <a:ea typeface="ＭＳ Ｐゴシック"/>
              </a:rPr>
              <a:t>Sign Extend</a:t>
            </a:r>
            <a:endParaRPr lang="en-US" sz="1400" b="0" strike="noStrike" spc="-1">
              <a:latin typeface="Arial"/>
            </a:endParaRPr>
          </a:p>
        </p:txBody>
      </p:sp>
      <p:sp>
        <p:nvSpPr>
          <p:cNvPr id="46" name="Line 44">
            <a:extLst>
              <a:ext uri="{FF2B5EF4-FFF2-40B4-BE49-F238E27FC236}">
                <a16:creationId xmlns:a16="http://schemas.microsoft.com/office/drawing/2014/main" id="{CF6D4921-DDCD-0E5E-B33E-678848FEC937}"/>
              </a:ext>
            </a:extLst>
          </p:cNvPr>
          <p:cNvSpPr/>
          <p:nvPr/>
        </p:nvSpPr>
        <p:spPr>
          <a:xfrm flipH="1">
            <a:off x="4479908" y="4876523"/>
            <a:ext cx="11088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7" name="CustomShape 45">
            <a:extLst>
              <a:ext uri="{FF2B5EF4-FFF2-40B4-BE49-F238E27FC236}">
                <a16:creationId xmlns:a16="http://schemas.microsoft.com/office/drawing/2014/main" id="{86172694-0AF3-D627-BB48-8C674D8EF79C}"/>
              </a:ext>
            </a:extLst>
          </p:cNvPr>
          <p:cNvSpPr/>
          <p:nvPr/>
        </p:nvSpPr>
        <p:spPr>
          <a:xfrm>
            <a:off x="4251308" y="4781123"/>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16</a:t>
            </a:r>
            <a:endParaRPr lang="en-US" sz="1000" b="0" strike="noStrike" spc="-1">
              <a:latin typeface="Arial"/>
            </a:endParaRPr>
          </a:p>
        </p:txBody>
      </p:sp>
      <p:sp>
        <p:nvSpPr>
          <p:cNvPr id="48" name="CustomShape 46">
            <a:extLst>
              <a:ext uri="{FF2B5EF4-FFF2-40B4-BE49-F238E27FC236}">
                <a16:creationId xmlns:a16="http://schemas.microsoft.com/office/drawing/2014/main" id="{DD3A05DD-88F3-BFE7-BA55-B50AE70E3755}"/>
              </a:ext>
            </a:extLst>
          </p:cNvPr>
          <p:cNvSpPr/>
          <p:nvPr/>
        </p:nvSpPr>
        <p:spPr>
          <a:xfrm>
            <a:off x="5954828" y="4765283"/>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32</a:t>
            </a:r>
            <a:endParaRPr lang="en-US" sz="1000" b="0" strike="noStrike" spc="-1">
              <a:latin typeface="Arial"/>
            </a:endParaRPr>
          </a:p>
        </p:txBody>
      </p:sp>
      <p:sp>
        <p:nvSpPr>
          <p:cNvPr id="49" name="Line 47">
            <a:extLst>
              <a:ext uri="{FF2B5EF4-FFF2-40B4-BE49-F238E27FC236}">
                <a16:creationId xmlns:a16="http://schemas.microsoft.com/office/drawing/2014/main" id="{13B0B443-EC7B-08C9-99D2-7956B210F2CA}"/>
              </a:ext>
            </a:extLst>
          </p:cNvPr>
          <p:cNvSpPr/>
          <p:nvPr/>
        </p:nvSpPr>
        <p:spPr>
          <a:xfrm flipH="1">
            <a:off x="6194588" y="4848803"/>
            <a:ext cx="11088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0" name="Line 48">
            <a:extLst>
              <a:ext uri="{FF2B5EF4-FFF2-40B4-BE49-F238E27FC236}">
                <a16:creationId xmlns:a16="http://schemas.microsoft.com/office/drawing/2014/main" id="{772334C5-C14A-A83C-22FC-5598D84DD5AC}"/>
              </a:ext>
            </a:extLst>
          </p:cNvPr>
          <p:cNvSpPr/>
          <p:nvPr/>
        </p:nvSpPr>
        <p:spPr>
          <a:xfrm>
            <a:off x="8135348" y="2845043"/>
            <a:ext cx="1270440" cy="3492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1" name="Line 49">
            <a:extLst>
              <a:ext uri="{FF2B5EF4-FFF2-40B4-BE49-F238E27FC236}">
                <a16:creationId xmlns:a16="http://schemas.microsoft.com/office/drawing/2014/main" id="{A515EB87-11F0-3DFB-9E4E-8C7E45FAC481}"/>
              </a:ext>
            </a:extLst>
          </p:cNvPr>
          <p:cNvSpPr/>
          <p:nvPr/>
        </p:nvSpPr>
        <p:spPr>
          <a:xfrm>
            <a:off x="9405788" y="3194243"/>
            <a:ext cx="360" cy="6033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2" name="Line 50">
            <a:extLst>
              <a:ext uri="{FF2B5EF4-FFF2-40B4-BE49-F238E27FC236}">
                <a16:creationId xmlns:a16="http://schemas.microsoft.com/office/drawing/2014/main" id="{677EECB7-9B3A-199F-D2B8-55EC2C5F86C8}"/>
              </a:ext>
            </a:extLst>
          </p:cNvPr>
          <p:cNvSpPr/>
          <p:nvPr/>
        </p:nvSpPr>
        <p:spPr>
          <a:xfrm flipH="1">
            <a:off x="8135348" y="3797603"/>
            <a:ext cx="1270440" cy="38052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3" name="Line 51">
            <a:extLst>
              <a:ext uri="{FF2B5EF4-FFF2-40B4-BE49-F238E27FC236}">
                <a16:creationId xmlns:a16="http://schemas.microsoft.com/office/drawing/2014/main" id="{A423D9B5-E79C-765F-5843-E358EEECB34C}"/>
              </a:ext>
            </a:extLst>
          </p:cNvPr>
          <p:cNvSpPr/>
          <p:nvPr/>
        </p:nvSpPr>
        <p:spPr>
          <a:xfrm flipV="1">
            <a:off x="8135348" y="3639203"/>
            <a:ext cx="360" cy="5392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4" name="Line 52">
            <a:extLst>
              <a:ext uri="{FF2B5EF4-FFF2-40B4-BE49-F238E27FC236}">
                <a16:creationId xmlns:a16="http://schemas.microsoft.com/office/drawing/2014/main" id="{E399EA9D-9DE0-04B8-D96C-D25157B2C40D}"/>
              </a:ext>
            </a:extLst>
          </p:cNvPr>
          <p:cNvSpPr/>
          <p:nvPr/>
        </p:nvSpPr>
        <p:spPr>
          <a:xfrm flipV="1">
            <a:off x="8135348" y="3480083"/>
            <a:ext cx="169920" cy="1587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5" name="Line 53">
            <a:extLst>
              <a:ext uri="{FF2B5EF4-FFF2-40B4-BE49-F238E27FC236}">
                <a16:creationId xmlns:a16="http://schemas.microsoft.com/office/drawing/2014/main" id="{3048EC2B-1ABF-5578-BBEA-FF507AF04501}"/>
              </a:ext>
            </a:extLst>
          </p:cNvPr>
          <p:cNvSpPr/>
          <p:nvPr/>
        </p:nvSpPr>
        <p:spPr>
          <a:xfrm>
            <a:off x="8135348" y="3290003"/>
            <a:ext cx="169920" cy="1900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6" name="Line 54">
            <a:extLst>
              <a:ext uri="{FF2B5EF4-FFF2-40B4-BE49-F238E27FC236}">
                <a16:creationId xmlns:a16="http://schemas.microsoft.com/office/drawing/2014/main" id="{9693175B-2C3D-0032-4124-A3A2D175AFF8}"/>
              </a:ext>
            </a:extLst>
          </p:cNvPr>
          <p:cNvSpPr/>
          <p:nvPr/>
        </p:nvSpPr>
        <p:spPr>
          <a:xfrm flipV="1">
            <a:off x="8135348" y="2845043"/>
            <a:ext cx="360" cy="444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7" name="Line 55">
            <a:extLst>
              <a:ext uri="{FF2B5EF4-FFF2-40B4-BE49-F238E27FC236}">
                <a16:creationId xmlns:a16="http://schemas.microsoft.com/office/drawing/2014/main" id="{30C9C28E-D9A4-D5D9-576E-F8E17CA42D82}"/>
              </a:ext>
            </a:extLst>
          </p:cNvPr>
          <p:cNvSpPr/>
          <p:nvPr/>
        </p:nvSpPr>
        <p:spPr>
          <a:xfrm>
            <a:off x="8807468" y="2748923"/>
            <a:ext cx="0" cy="252000"/>
          </a:xfrm>
          <a:prstGeom prst="line">
            <a:avLst/>
          </a:prstGeom>
          <a:ln w="1584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58" name="Line 56">
            <a:extLst>
              <a:ext uri="{FF2B5EF4-FFF2-40B4-BE49-F238E27FC236}">
                <a16:creationId xmlns:a16="http://schemas.microsoft.com/office/drawing/2014/main" id="{52D85352-EBF9-9EB7-4E62-690F45BB103E}"/>
              </a:ext>
            </a:extLst>
          </p:cNvPr>
          <p:cNvSpPr/>
          <p:nvPr/>
        </p:nvSpPr>
        <p:spPr>
          <a:xfrm>
            <a:off x="9395708" y="3315923"/>
            <a:ext cx="588240" cy="360"/>
          </a:xfrm>
          <a:prstGeom prst="line">
            <a:avLst/>
          </a:prstGeom>
          <a:ln w="2232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59" name="Line 57">
            <a:extLst>
              <a:ext uri="{FF2B5EF4-FFF2-40B4-BE49-F238E27FC236}">
                <a16:creationId xmlns:a16="http://schemas.microsoft.com/office/drawing/2014/main" id="{70EADE80-8961-0A7C-AA50-D8951F1C5F88}"/>
              </a:ext>
            </a:extLst>
          </p:cNvPr>
          <p:cNvSpPr/>
          <p:nvPr/>
        </p:nvSpPr>
        <p:spPr>
          <a:xfrm>
            <a:off x="9395708" y="3630923"/>
            <a:ext cx="671760" cy="0"/>
          </a:xfrm>
          <a:prstGeom prst="line">
            <a:avLst/>
          </a:prstGeom>
          <a:ln w="22320">
            <a:solidFill>
              <a:srgbClr val="C00000"/>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60" name="CustomShape 58">
            <a:extLst>
              <a:ext uri="{FF2B5EF4-FFF2-40B4-BE49-F238E27FC236}">
                <a16:creationId xmlns:a16="http://schemas.microsoft.com/office/drawing/2014/main" id="{58751366-BA6E-371C-47F6-3F122F0DE11D}"/>
              </a:ext>
            </a:extLst>
          </p:cNvPr>
          <p:cNvSpPr/>
          <p:nvPr/>
        </p:nvSpPr>
        <p:spPr>
          <a:xfrm>
            <a:off x="8852108" y="3491963"/>
            <a:ext cx="5972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ALU</a:t>
            </a:r>
            <a:endParaRPr lang="en-US" sz="1000" b="0" strike="noStrike" spc="-1">
              <a:latin typeface="Arial"/>
            </a:endParaRPr>
          </a:p>
          <a:p>
            <a:pPr algn="ctr">
              <a:lnSpc>
                <a:spcPct val="100000"/>
              </a:lnSpc>
            </a:pPr>
            <a:r>
              <a:rPr lang="en-US" sz="1000" b="1" strike="noStrike" spc="-1">
                <a:solidFill>
                  <a:srgbClr val="000000"/>
                </a:solidFill>
                <a:latin typeface="Verdana"/>
                <a:ea typeface="ＭＳ Ｐゴシック"/>
              </a:rPr>
              <a:t>result</a:t>
            </a:r>
            <a:endParaRPr lang="en-US" sz="1000" b="0" strike="noStrike" spc="-1">
              <a:latin typeface="Arial"/>
            </a:endParaRPr>
          </a:p>
        </p:txBody>
      </p:sp>
      <p:sp>
        <p:nvSpPr>
          <p:cNvPr id="61" name="CustomShape 59">
            <a:extLst>
              <a:ext uri="{FF2B5EF4-FFF2-40B4-BE49-F238E27FC236}">
                <a16:creationId xmlns:a16="http://schemas.microsoft.com/office/drawing/2014/main" id="{D65C40CB-C3A4-E571-0881-3057168F2113}"/>
              </a:ext>
            </a:extLst>
          </p:cNvPr>
          <p:cNvSpPr/>
          <p:nvPr/>
        </p:nvSpPr>
        <p:spPr>
          <a:xfrm>
            <a:off x="8281508" y="3375323"/>
            <a:ext cx="51336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ALU</a:t>
            </a:r>
            <a:endParaRPr lang="en-US" sz="1200" b="0" strike="noStrike" spc="-1">
              <a:latin typeface="Arial"/>
            </a:endParaRPr>
          </a:p>
        </p:txBody>
      </p:sp>
      <p:sp>
        <p:nvSpPr>
          <p:cNvPr id="62" name="CustomShape 60">
            <a:extLst>
              <a:ext uri="{FF2B5EF4-FFF2-40B4-BE49-F238E27FC236}">
                <a16:creationId xmlns:a16="http://schemas.microsoft.com/office/drawing/2014/main" id="{E215661D-D20B-B60E-E8EC-7B5C4E19B435}"/>
              </a:ext>
            </a:extLst>
          </p:cNvPr>
          <p:cNvSpPr/>
          <p:nvPr/>
        </p:nvSpPr>
        <p:spPr>
          <a:xfrm>
            <a:off x="8148308" y="2559923"/>
            <a:ext cx="1400400" cy="3330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ALUcontrol</a:t>
            </a:r>
            <a:endParaRPr lang="en-US" sz="1600" b="0" strike="noStrike" spc="-1">
              <a:latin typeface="Arial"/>
            </a:endParaRPr>
          </a:p>
        </p:txBody>
      </p:sp>
      <p:sp>
        <p:nvSpPr>
          <p:cNvPr id="63" name="Line 61">
            <a:extLst>
              <a:ext uri="{FF2B5EF4-FFF2-40B4-BE49-F238E27FC236}">
                <a16:creationId xmlns:a16="http://schemas.microsoft.com/office/drawing/2014/main" id="{0B1D077E-5F02-289D-08BD-DE0125E3BEAC}"/>
              </a:ext>
            </a:extLst>
          </p:cNvPr>
          <p:cNvSpPr/>
          <p:nvPr/>
        </p:nvSpPr>
        <p:spPr>
          <a:xfrm>
            <a:off x="8676788" y="2888963"/>
            <a:ext cx="253800" cy="64440"/>
          </a:xfrm>
          <a:prstGeom prst="line">
            <a:avLst/>
          </a:prstGeom>
          <a:ln w="1584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64" name="CustomShape 62">
            <a:extLst>
              <a:ext uri="{FF2B5EF4-FFF2-40B4-BE49-F238E27FC236}">
                <a16:creationId xmlns:a16="http://schemas.microsoft.com/office/drawing/2014/main" id="{0F2280E9-C6C1-2FB7-5E83-D7C8756C17D3}"/>
              </a:ext>
            </a:extLst>
          </p:cNvPr>
          <p:cNvSpPr/>
          <p:nvPr/>
        </p:nvSpPr>
        <p:spPr>
          <a:xfrm>
            <a:off x="8824028" y="2812283"/>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660066"/>
                </a:solidFill>
                <a:latin typeface="Verdana"/>
                <a:ea typeface="ＭＳ Ｐゴシック"/>
              </a:rPr>
              <a:t>4</a:t>
            </a:r>
            <a:endParaRPr lang="en-US" sz="1000" b="0" strike="noStrike" spc="-1">
              <a:latin typeface="Arial"/>
            </a:endParaRPr>
          </a:p>
        </p:txBody>
      </p:sp>
      <p:sp>
        <p:nvSpPr>
          <p:cNvPr id="65" name="CustomShape 63">
            <a:extLst>
              <a:ext uri="{FF2B5EF4-FFF2-40B4-BE49-F238E27FC236}">
                <a16:creationId xmlns:a16="http://schemas.microsoft.com/office/drawing/2014/main" id="{0CFC3D0F-5686-931B-30C3-CE4C8671773E}"/>
              </a:ext>
            </a:extLst>
          </p:cNvPr>
          <p:cNvSpPr/>
          <p:nvPr/>
        </p:nvSpPr>
        <p:spPr>
          <a:xfrm>
            <a:off x="8632868" y="3190283"/>
            <a:ext cx="883440" cy="241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1" strike="noStrike" spc="-1">
                <a:solidFill>
                  <a:srgbClr val="000000"/>
                </a:solidFill>
                <a:latin typeface="Verdana"/>
                <a:ea typeface="ＭＳ Ｐゴシック"/>
              </a:rPr>
              <a:t>isZero?</a:t>
            </a:r>
            <a:endParaRPr lang="en-US" sz="1000" b="0" strike="noStrike" spc="-1">
              <a:latin typeface="Arial"/>
            </a:endParaRPr>
          </a:p>
        </p:txBody>
      </p:sp>
      <p:grpSp>
        <p:nvGrpSpPr>
          <p:cNvPr id="66" name="Group 64">
            <a:extLst>
              <a:ext uri="{FF2B5EF4-FFF2-40B4-BE49-F238E27FC236}">
                <a16:creationId xmlns:a16="http://schemas.microsoft.com/office/drawing/2014/main" id="{97F01855-6CBB-CD15-C162-D221BAE410CF}"/>
              </a:ext>
            </a:extLst>
          </p:cNvPr>
          <p:cNvGrpSpPr/>
          <p:nvPr/>
        </p:nvGrpSpPr>
        <p:grpSpPr>
          <a:xfrm>
            <a:off x="1696748" y="1718866"/>
            <a:ext cx="503640" cy="4083638"/>
            <a:chOff x="532800" y="1637640"/>
            <a:chExt cx="503640" cy="3402000"/>
          </a:xfrm>
        </p:grpSpPr>
        <p:sp>
          <p:nvSpPr>
            <p:cNvPr id="67" name="CustomShape 65">
              <a:extLst>
                <a:ext uri="{FF2B5EF4-FFF2-40B4-BE49-F238E27FC236}">
                  <a16:creationId xmlns:a16="http://schemas.microsoft.com/office/drawing/2014/main" id="{6A4954B4-D64E-BD4C-D5F5-08FD532B61A4}"/>
                </a:ext>
              </a:extLst>
            </p:cNvPr>
            <p:cNvSpPr/>
            <p:nvPr/>
          </p:nvSpPr>
          <p:spPr>
            <a:xfrm rot="5400000">
              <a:off x="469440" y="170064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opcode</a:t>
              </a:r>
              <a:endParaRPr lang="en-US" sz="1200" b="0" strike="noStrike" spc="-1">
                <a:latin typeface="Arial"/>
              </a:endParaRPr>
            </a:p>
            <a:p>
              <a:pPr algn="ctr">
                <a:lnSpc>
                  <a:spcPct val="100000"/>
                </a:lnSpc>
              </a:pPr>
              <a:r>
                <a:rPr lang="en-US" sz="1200" b="1" strike="noStrike" spc="-1">
                  <a:solidFill>
                    <a:srgbClr val="660066"/>
                  </a:solidFill>
                  <a:latin typeface="Courier New"/>
                  <a:ea typeface="ＭＳ Ｐゴシック"/>
                </a:rPr>
                <a:t>31:26</a:t>
              </a:r>
              <a:endParaRPr lang="en-US" sz="1200" b="0" strike="noStrike" spc="-1">
                <a:latin typeface="Arial"/>
              </a:endParaRPr>
            </a:p>
          </p:txBody>
        </p:sp>
        <p:sp>
          <p:nvSpPr>
            <p:cNvPr id="68" name="CustomShape 66">
              <a:extLst>
                <a:ext uri="{FF2B5EF4-FFF2-40B4-BE49-F238E27FC236}">
                  <a16:creationId xmlns:a16="http://schemas.microsoft.com/office/drawing/2014/main" id="{7A808B6E-B7B9-684B-3633-A359745982FA}"/>
                </a:ext>
              </a:extLst>
            </p:cNvPr>
            <p:cNvSpPr/>
            <p:nvPr/>
          </p:nvSpPr>
          <p:spPr>
            <a:xfrm rot="5400000">
              <a:off x="516960" y="228348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rs</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25:21</a:t>
              </a:r>
              <a:endParaRPr lang="en-US" sz="1200" b="0" strike="noStrike" spc="-1">
                <a:latin typeface="Arial"/>
              </a:endParaRPr>
            </a:p>
          </p:txBody>
        </p:sp>
        <p:sp>
          <p:nvSpPr>
            <p:cNvPr id="69" name="CustomShape 67">
              <a:extLst>
                <a:ext uri="{FF2B5EF4-FFF2-40B4-BE49-F238E27FC236}">
                  <a16:creationId xmlns:a16="http://schemas.microsoft.com/office/drawing/2014/main" id="{85F701BF-2610-D91A-0A8E-4F8903794E38}"/>
                </a:ext>
              </a:extLst>
            </p:cNvPr>
            <p:cNvSpPr/>
            <p:nvPr/>
          </p:nvSpPr>
          <p:spPr>
            <a:xfrm rot="5400000">
              <a:off x="516960" y="2818800"/>
              <a:ext cx="53496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rt</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20:16</a:t>
              </a:r>
              <a:endParaRPr lang="en-US" sz="1200" b="0" strike="noStrike" spc="-1">
                <a:latin typeface="Arial"/>
              </a:endParaRPr>
            </a:p>
          </p:txBody>
        </p:sp>
        <p:sp>
          <p:nvSpPr>
            <p:cNvPr id="70" name="CustomShape 68">
              <a:extLst>
                <a:ext uri="{FF2B5EF4-FFF2-40B4-BE49-F238E27FC236}">
                  <a16:creationId xmlns:a16="http://schemas.microsoft.com/office/drawing/2014/main" id="{6D569E04-BFD5-B55B-F6FA-4AF5DB13B991}"/>
                </a:ext>
              </a:extLst>
            </p:cNvPr>
            <p:cNvSpPr/>
            <p:nvPr/>
          </p:nvSpPr>
          <p:spPr>
            <a:xfrm rot="5400000">
              <a:off x="516960" y="335448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rd</a:t>
              </a:r>
              <a:endParaRPr lang="en-US" sz="1200" b="0" strike="noStrike" spc="-1">
                <a:latin typeface="Arial"/>
              </a:endParaRPr>
            </a:p>
            <a:p>
              <a:pPr algn="ctr">
                <a:lnSpc>
                  <a:spcPct val="100000"/>
                </a:lnSpc>
              </a:pPr>
              <a:r>
                <a:rPr lang="en-US" sz="1200" b="1" strike="noStrike" spc="-1">
                  <a:solidFill>
                    <a:srgbClr val="C00000"/>
                  </a:solidFill>
                  <a:latin typeface="Courier New"/>
                  <a:ea typeface="ＭＳ Ｐゴシック"/>
                </a:rPr>
                <a:t>15:11</a:t>
              </a:r>
              <a:endParaRPr lang="en-US" sz="1200" b="0" strike="noStrike" spc="-1">
                <a:latin typeface="Arial"/>
              </a:endParaRPr>
            </a:p>
          </p:txBody>
        </p:sp>
        <p:sp>
          <p:nvSpPr>
            <p:cNvPr id="71" name="CustomShape 69">
              <a:extLst>
                <a:ext uri="{FF2B5EF4-FFF2-40B4-BE49-F238E27FC236}">
                  <a16:creationId xmlns:a16="http://schemas.microsoft.com/office/drawing/2014/main" id="{18001CFD-0838-686B-4559-19FAA6766BE3}"/>
                </a:ext>
              </a:extLst>
            </p:cNvPr>
            <p:cNvSpPr/>
            <p:nvPr/>
          </p:nvSpPr>
          <p:spPr>
            <a:xfrm rot="5400000">
              <a:off x="516960" y="389016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shamt</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10:6</a:t>
              </a:r>
              <a:endParaRPr lang="en-US" sz="1200" b="0" strike="noStrike" spc="-1">
                <a:latin typeface="Arial"/>
              </a:endParaRPr>
            </a:p>
          </p:txBody>
        </p:sp>
        <p:sp>
          <p:nvSpPr>
            <p:cNvPr id="72" name="CustomShape 70">
              <a:extLst>
                <a:ext uri="{FF2B5EF4-FFF2-40B4-BE49-F238E27FC236}">
                  <a16:creationId xmlns:a16="http://schemas.microsoft.com/office/drawing/2014/main" id="{37C3196D-75BC-B635-BB9D-1C18213EA1EB}"/>
                </a:ext>
              </a:extLst>
            </p:cNvPr>
            <p:cNvSpPr/>
            <p:nvPr/>
          </p:nvSpPr>
          <p:spPr>
            <a:xfrm rot="5400000">
              <a:off x="469440" y="447300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funct</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5:0</a:t>
              </a:r>
              <a:endParaRPr lang="en-US" sz="1200" b="0" strike="noStrike" spc="-1">
                <a:latin typeface="Arial"/>
              </a:endParaRPr>
            </a:p>
          </p:txBody>
        </p:sp>
      </p:grpSp>
      <p:grpSp>
        <p:nvGrpSpPr>
          <p:cNvPr id="73" name="Group 71">
            <a:extLst>
              <a:ext uri="{FF2B5EF4-FFF2-40B4-BE49-F238E27FC236}">
                <a16:creationId xmlns:a16="http://schemas.microsoft.com/office/drawing/2014/main" id="{70E0E723-E2EC-97B3-C9EE-DEE073D5431A}"/>
              </a:ext>
            </a:extLst>
          </p:cNvPr>
          <p:cNvGrpSpPr/>
          <p:nvPr/>
        </p:nvGrpSpPr>
        <p:grpSpPr>
          <a:xfrm>
            <a:off x="2200748" y="1719083"/>
            <a:ext cx="335520" cy="4083420"/>
            <a:chOff x="1036800" y="1637640"/>
            <a:chExt cx="335520" cy="3402000"/>
          </a:xfrm>
        </p:grpSpPr>
        <p:sp>
          <p:nvSpPr>
            <p:cNvPr id="74" name="CustomShape 72">
              <a:extLst>
                <a:ext uri="{FF2B5EF4-FFF2-40B4-BE49-F238E27FC236}">
                  <a16:creationId xmlns:a16="http://schemas.microsoft.com/office/drawing/2014/main" id="{12ACA9ED-C990-8207-D24F-DDAB7E514EBE}"/>
                </a:ext>
              </a:extLst>
            </p:cNvPr>
            <p:cNvSpPr/>
            <p:nvPr/>
          </p:nvSpPr>
          <p:spPr>
            <a:xfrm rot="5400000">
              <a:off x="889560" y="1784520"/>
              <a:ext cx="629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000000</a:t>
              </a:r>
              <a:endParaRPr lang="en-US" sz="1200" b="0" strike="noStrike" spc="-1">
                <a:latin typeface="Arial"/>
              </a:endParaRPr>
            </a:p>
          </p:txBody>
        </p:sp>
        <p:sp>
          <p:nvSpPr>
            <p:cNvPr id="75" name="CustomShape 73">
              <a:extLst>
                <a:ext uri="{FF2B5EF4-FFF2-40B4-BE49-F238E27FC236}">
                  <a16:creationId xmlns:a16="http://schemas.microsoft.com/office/drawing/2014/main" id="{560EDCFB-BDDC-B7E7-43CC-C4923241545C}"/>
                </a:ext>
              </a:extLst>
            </p:cNvPr>
            <p:cNvSpPr/>
            <p:nvPr/>
          </p:nvSpPr>
          <p:spPr>
            <a:xfrm rot="5400000">
              <a:off x="936720" y="236736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01001</a:t>
              </a:r>
              <a:endParaRPr lang="en-US" sz="1200" b="0" strike="noStrike" spc="-1">
                <a:latin typeface="Arial"/>
              </a:endParaRPr>
            </a:p>
          </p:txBody>
        </p:sp>
        <p:sp>
          <p:nvSpPr>
            <p:cNvPr id="76" name="CustomShape 74">
              <a:extLst>
                <a:ext uri="{FF2B5EF4-FFF2-40B4-BE49-F238E27FC236}">
                  <a16:creationId xmlns:a16="http://schemas.microsoft.com/office/drawing/2014/main" id="{A657F0B9-A5AF-D925-7936-DEB12C2C6B60}"/>
                </a:ext>
              </a:extLst>
            </p:cNvPr>
            <p:cNvSpPr/>
            <p:nvPr/>
          </p:nvSpPr>
          <p:spPr>
            <a:xfrm rot="5400000">
              <a:off x="936720" y="290268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01010</a:t>
              </a:r>
              <a:endParaRPr lang="en-US" sz="1200" b="0" strike="noStrike" spc="-1">
                <a:latin typeface="Arial"/>
              </a:endParaRPr>
            </a:p>
          </p:txBody>
        </p:sp>
        <p:sp>
          <p:nvSpPr>
            <p:cNvPr id="77" name="CustomShape 75">
              <a:extLst>
                <a:ext uri="{FF2B5EF4-FFF2-40B4-BE49-F238E27FC236}">
                  <a16:creationId xmlns:a16="http://schemas.microsoft.com/office/drawing/2014/main" id="{B2FAFBF7-435F-CE43-BDDB-5F3910C9E879}"/>
                </a:ext>
              </a:extLst>
            </p:cNvPr>
            <p:cNvSpPr/>
            <p:nvPr/>
          </p:nvSpPr>
          <p:spPr>
            <a:xfrm rot="5400000">
              <a:off x="937080" y="3438360"/>
              <a:ext cx="53496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01000</a:t>
              </a:r>
              <a:endParaRPr lang="en-US" sz="1200" b="0" strike="noStrike" spc="-1">
                <a:latin typeface="Arial"/>
              </a:endParaRPr>
            </a:p>
          </p:txBody>
        </p:sp>
        <p:sp>
          <p:nvSpPr>
            <p:cNvPr id="78" name="CustomShape 76">
              <a:extLst>
                <a:ext uri="{FF2B5EF4-FFF2-40B4-BE49-F238E27FC236}">
                  <a16:creationId xmlns:a16="http://schemas.microsoft.com/office/drawing/2014/main" id="{CEFB8964-A3A3-B22F-2E2F-AA441587BAF3}"/>
                </a:ext>
              </a:extLst>
            </p:cNvPr>
            <p:cNvSpPr/>
            <p:nvPr/>
          </p:nvSpPr>
          <p:spPr>
            <a:xfrm rot="5400000">
              <a:off x="937080" y="3974040"/>
              <a:ext cx="53496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00000</a:t>
              </a:r>
              <a:endParaRPr lang="en-US" sz="1200" b="0" strike="noStrike" spc="-1">
                <a:latin typeface="Arial"/>
              </a:endParaRPr>
            </a:p>
          </p:txBody>
        </p:sp>
        <p:sp>
          <p:nvSpPr>
            <p:cNvPr id="79" name="CustomShape 77">
              <a:extLst>
                <a:ext uri="{FF2B5EF4-FFF2-40B4-BE49-F238E27FC236}">
                  <a16:creationId xmlns:a16="http://schemas.microsoft.com/office/drawing/2014/main" id="{627BE382-1F64-FA91-73BD-32E197967B90}"/>
                </a:ext>
              </a:extLst>
            </p:cNvPr>
            <p:cNvSpPr/>
            <p:nvPr/>
          </p:nvSpPr>
          <p:spPr>
            <a:xfrm rot="5400000">
              <a:off x="889560" y="4556880"/>
              <a:ext cx="63000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100000</a:t>
              </a:r>
              <a:endParaRPr lang="en-US" sz="1200" b="0" strike="noStrike" spc="-1">
                <a:latin typeface="Arial"/>
              </a:endParaRPr>
            </a:p>
          </p:txBody>
        </p:sp>
      </p:grpSp>
      <p:sp>
        <p:nvSpPr>
          <p:cNvPr id="80" name="CustomShape 78">
            <a:extLst>
              <a:ext uri="{FF2B5EF4-FFF2-40B4-BE49-F238E27FC236}">
                <a16:creationId xmlns:a16="http://schemas.microsoft.com/office/drawing/2014/main" id="{76A9B0D5-E684-9BB8-3FF7-85744F31FF23}"/>
              </a:ext>
            </a:extLst>
          </p:cNvPr>
          <p:cNvSpPr/>
          <p:nvPr/>
        </p:nvSpPr>
        <p:spPr>
          <a:xfrm>
            <a:off x="8135348" y="4701923"/>
            <a:ext cx="2939760" cy="881640"/>
          </a:xfrm>
          <a:prstGeom prst="roundRect">
            <a:avLst>
              <a:gd name="adj" fmla="val 16667"/>
            </a:avLst>
          </a:prstGeom>
          <a:solidFill>
            <a:schemeClr val="bg1"/>
          </a:solidFill>
          <a:ln w="15840">
            <a:solidFill>
              <a:schemeClr val="tx1"/>
            </a:solidFill>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ALUcontrol:</a:t>
            </a:r>
            <a:endParaRPr lang="en-US" sz="1600" b="0" strike="noStrike" spc="-1">
              <a:latin typeface="Arial"/>
            </a:endParaRPr>
          </a:p>
          <a:p>
            <a:pPr algn="ctr">
              <a:lnSpc>
                <a:spcPct val="100000"/>
              </a:lnSpc>
            </a:pPr>
            <a:r>
              <a:rPr lang="en-US" sz="1600" b="0" strike="noStrike" spc="-1">
                <a:solidFill>
                  <a:srgbClr val="000000"/>
                </a:solidFill>
                <a:latin typeface="Times New Roman"/>
                <a:ea typeface="ＭＳ Ｐゴシック"/>
              </a:rPr>
              <a:t>Thiết lập giá trị cho ALUcontrol cần sử dụng trường opcode và funct</a:t>
            </a:r>
            <a:endParaRPr lang="en-US" sz="1600" b="0" strike="noStrike" spc="-1">
              <a:latin typeface="Arial"/>
            </a:endParaRPr>
          </a:p>
        </p:txBody>
      </p:sp>
      <p:sp>
        <p:nvSpPr>
          <p:cNvPr id="81" name="CustomShape 79">
            <a:extLst>
              <a:ext uri="{FF2B5EF4-FFF2-40B4-BE49-F238E27FC236}">
                <a16:creationId xmlns:a16="http://schemas.microsoft.com/office/drawing/2014/main" id="{8C838194-4F6E-8C37-695C-D94DE89469E3}"/>
              </a:ext>
            </a:extLst>
          </p:cNvPr>
          <p:cNvSpPr/>
          <p:nvPr/>
        </p:nvSpPr>
        <p:spPr>
          <a:xfrm>
            <a:off x="3767828" y="1803923"/>
            <a:ext cx="4451760" cy="440640"/>
          </a:xfrm>
          <a:prstGeom prst="snip1Rect">
            <a:avLst>
              <a:gd name="adj" fmla="val 16667"/>
            </a:avLst>
          </a:prstGeom>
          <a:solidFill>
            <a:srgbClr val="FFFFCC">
              <a:alpha val="80000"/>
            </a:srgbClr>
          </a:solidFill>
          <a:ln w="1584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marL="343080" indent="-342720" algn="ctr">
              <a:lnSpc>
                <a:spcPct val="100000"/>
              </a:lnSpc>
              <a:spcBef>
                <a:spcPts val="901"/>
              </a:spcBef>
            </a:pPr>
            <a:r>
              <a:rPr lang="en-US" sz="2800" b="1" strike="noStrike" spc="-1">
                <a:solidFill>
                  <a:srgbClr val="660066"/>
                </a:solidFill>
                <a:latin typeface="Courier New"/>
                <a:ea typeface="ＭＳ Ｐゴシック"/>
              </a:rPr>
              <a:t> </a:t>
            </a:r>
            <a:r>
              <a:rPr lang="en-US" sz="3000" b="1" strike="noStrike" spc="-1">
                <a:solidFill>
                  <a:srgbClr val="660066"/>
                </a:solidFill>
                <a:latin typeface="Courier New"/>
                <a:ea typeface="ＭＳ Ｐゴシック"/>
              </a:rPr>
              <a:t>add</a:t>
            </a:r>
            <a:r>
              <a:rPr lang="en-US" sz="3000" b="1" strike="noStrike" spc="-1">
                <a:solidFill>
                  <a:srgbClr val="000000"/>
                </a:solidFill>
                <a:latin typeface="Courier New"/>
                <a:ea typeface="ＭＳ Ｐゴシック"/>
              </a:rPr>
              <a:t> </a:t>
            </a:r>
            <a:r>
              <a:rPr lang="en-US" sz="3000" b="1" strike="noStrike" spc="-1">
                <a:solidFill>
                  <a:srgbClr val="C00000"/>
                </a:solidFill>
                <a:latin typeface="Courier New"/>
                <a:ea typeface="ＭＳ Ｐゴシック"/>
              </a:rPr>
              <a:t>$8</a:t>
            </a:r>
            <a:r>
              <a:rPr lang="en-US" sz="3000" b="1" strike="noStrike" spc="-1">
                <a:solidFill>
                  <a:srgbClr val="000000"/>
                </a:solidFill>
                <a:latin typeface="Courier New"/>
                <a:ea typeface="ＭＳ Ｐゴシック"/>
              </a:rPr>
              <a:t>, </a:t>
            </a:r>
            <a:r>
              <a:rPr lang="en-US" sz="3000" b="1" strike="noStrike" spc="-1">
                <a:solidFill>
                  <a:srgbClr val="006600"/>
                </a:solidFill>
                <a:latin typeface="Courier New"/>
                <a:ea typeface="ＭＳ Ｐゴシック"/>
              </a:rPr>
              <a:t>$9</a:t>
            </a:r>
            <a:r>
              <a:rPr lang="en-US" sz="3000" b="1" strike="noStrike" spc="-1">
                <a:solidFill>
                  <a:srgbClr val="000000"/>
                </a:solidFill>
                <a:latin typeface="Courier New"/>
                <a:ea typeface="ＭＳ Ｐゴシック"/>
              </a:rPr>
              <a:t>, </a:t>
            </a:r>
            <a:r>
              <a:rPr lang="en-US" sz="3000" b="1" strike="noStrike" spc="-1">
                <a:solidFill>
                  <a:srgbClr val="006600"/>
                </a:solidFill>
                <a:latin typeface="Courier New"/>
                <a:ea typeface="ＭＳ Ｐゴシック"/>
              </a:rPr>
              <a:t>$10</a:t>
            </a:r>
            <a:endParaRPr lang="en-US" sz="3000" b="0" strike="noStrike" spc="-1">
              <a:latin typeface="Arial"/>
            </a:endParaRPr>
          </a:p>
        </p:txBody>
      </p:sp>
    </p:spTree>
    <p:extLst>
      <p:ext uri="{BB962C8B-B14F-4D97-AF65-F5344CB8AC3E}">
        <p14:creationId xmlns:p14="http://schemas.microsoft.com/office/powerpoint/2010/main" val="13546076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t>Quy trình thực thi lệnh của MIPS </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40</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graphicFrame>
        <p:nvGraphicFramePr>
          <p:cNvPr id="7" name="Table 4">
            <a:extLst>
              <a:ext uri="{FF2B5EF4-FFF2-40B4-BE49-F238E27FC236}">
                <a16:creationId xmlns:a16="http://schemas.microsoft.com/office/drawing/2014/main" id="{CDDA41D9-2526-D00C-24B6-9AC74E06FB98}"/>
              </a:ext>
            </a:extLst>
          </p:cNvPr>
          <p:cNvGraphicFramePr/>
          <p:nvPr/>
        </p:nvGraphicFramePr>
        <p:xfrm>
          <a:off x="1132830" y="1192071"/>
          <a:ext cx="9926340" cy="5137229"/>
        </p:xfrm>
        <a:graphic>
          <a:graphicData uri="http://schemas.openxmlformats.org/drawingml/2006/table">
            <a:tbl>
              <a:tblPr/>
              <a:tblGrid>
                <a:gridCol w="1317363">
                  <a:extLst>
                    <a:ext uri="{9D8B030D-6E8A-4147-A177-3AD203B41FA5}">
                      <a16:colId xmlns:a16="http://schemas.microsoft.com/office/drawing/2014/main" val="20000"/>
                    </a:ext>
                  </a:extLst>
                </a:gridCol>
                <a:gridCol w="2722826">
                  <a:extLst>
                    <a:ext uri="{9D8B030D-6E8A-4147-A177-3AD203B41FA5}">
                      <a16:colId xmlns:a16="http://schemas.microsoft.com/office/drawing/2014/main" val="20001"/>
                    </a:ext>
                  </a:extLst>
                </a:gridCol>
                <a:gridCol w="2783441">
                  <a:extLst>
                    <a:ext uri="{9D8B030D-6E8A-4147-A177-3AD203B41FA5}">
                      <a16:colId xmlns:a16="http://schemas.microsoft.com/office/drawing/2014/main" val="20002"/>
                    </a:ext>
                  </a:extLst>
                </a:gridCol>
                <a:gridCol w="3102710">
                  <a:extLst>
                    <a:ext uri="{9D8B030D-6E8A-4147-A177-3AD203B41FA5}">
                      <a16:colId xmlns:a16="http://schemas.microsoft.com/office/drawing/2014/main" val="20003"/>
                    </a:ext>
                  </a:extLst>
                </a:gridCol>
              </a:tblGrid>
              <a:tr h="406387">
                <a:tc>
                  <a:txBody>
                    <a:bodyPr/>
                    <a:lstStyle/>
                    <a:p>
                      <a:endParaRPr lang="en-US" sz="1400"/>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n-US" sz="1400" b="1" strike="noStrike" spc="-1">
                          <a:solidFill>
                            <a:srgbClr val="660066"/>
                          </a:solidFill>
                          <a:latin typeface="Times New Roman"/>
                          <a:ea typeface="ＭＳ Ｐゴシック"/>
                        </a:rPr>
                        <a:t>add</a:t>
                      </a:r>
                      <a:r>
                        <a:rPr lang="en-US" sz="1400" b="1" strike="noStrike" spc="-1">
                          <a:solidFill>
                            <a:srgbClr val="000000"/>
                          </a:solidFill>
                          <a:latin typeface="Times New Roman"/>
                          <a:ea typeface="ＭＳ Ｐゴシック"/>
                        </a:rPr>
                        <a:t> </a:t>
                      </a:r>
                      <a:r>
                        <a:rPr lang="en-US" sz="1400" b="1" strike="noStrike" spc="-1">
                          <a:solidFill>
                            <a:srgbClr val="C00000"/>
                          </a:solidFill>
                          <a:latin typeface="Times New Roman"/>
                          <a:ea typeface="ＭＳ Ｐゴシック"/>
                        </a:rPr>
                        <a:t>$3</a:t>
                      </a:r>
                      <a:r>
                        <a:rPr lang="en-US" sz="1400" b="1" strike="noStrike" spc="-1">
                          <a:solidFill>
                            <a:srgbClr val="000000"/>
                          </a:solidFill>
                          <a:latin typeface="Times New Roman"/>
                          <a:ea typeface="ＭＳ Ｐゴシック"/>
                        </a:rPr>
                        <a:t>, </a:t>
                      </a:r>
                      <a:r>
                        <a:rPr lang="en-US" sz="1400" b="1" strike="noStrike" spc="-1">
                          <a:solidFill>
                            <a:srgbClr val="006600"/>
                          </a:solidFill>
                          <a:latin typeface="Times New Roman"/>
                          <a:ea typeface="ＭＳ Ｐゴシック"/>
                        </a:rPr>
                        <a:t>$1</a:t>
                      </a:r>
                      <a:r>
                        <a:rPr lang="en-US" sz="1400" b="1" strike="noStrike" spc="-1">
                          <a:solidFill>
                            <a:srgbClr val="000000"/>
                          </a:solidFill>
                          <a:latin typeface="Times New Roman"/>
                          <a:ea typeface="ＭＳ Ｐゴシック"/>
                        </a:rPr>
                        <a:t>, </a:t>
                      </a:r>
                      <a:r>
                        <a:rPr lang="en-US" sz="1400" b="1" strike="noStrike" spc="-1">
                          <a:solidFill>
                            <a:srgbClr val="006600"/>
                          </a:solidFill>
                          <a:latin typeface="Times New Roman"/>
                          <a:ea typeface="ＭＳ Ｐゴシック"/>
                        </a:rPr>
                        <a:t>$2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DA52"/>
                    </a:solidFill>
                  </a:tcPr>
                </a:tc>
                <a:tc>
                  <a:txBody>
                    <a:bodyPr/>
                    <a:lstStyle/>
                    <a:p>
                      <a:pPr algn="ctr">
                        <a:lnSpc>
                          <a:spcPct val="100000"/>
                        </a:lnSpc>
                      </a:pPr>
                      <a:r>
                        <a:rPr lang="en-US" sz="1400" b="1" strike="noStrike" spc="-1">
                          <a:solidFill>
                            <a:srgbClr val="660066"/>
                          </a:solidFill>
                          <a:latin typeface="Times New Roman"/>
                          <a:ea typeface="ＭＳ Ｐゴシック"/>
                        </a:rPr>
                        <a:t>lw</a:t>
                      </a:r>
                      <a:r>
                        <a:rPr lang="en-US" sz="1400" b="1" strike="noStrike" spc="-1">
                          <a:solidFill>
                            <a:srgbClr val="000000"/>
                          </a:solidFill>
                          <a:latin typeface="Times New Roman"/>
                          <a:ea typeface="ＭＳ Ｐゴシック"/>
                        </a:rPr>
                        <a:t> </a:t>
                      </a:r>
                      <a:r>
                        <a:rPr lang="en-US" sz="1400" b="1" strike="noStrike" spc="-1">
                          <a:solidFill>
                            <a:srgbClr val="C00000"/>
                          </a:solidFill>
                          <a:latin typeface="Times New Roman"/>
                          <a:ea typeface="ＭＳ Ｐゴシック"/>
                        </a:rPr>
                        <a:t>$3</a:t>
                      </a:r>
                      <a:r>
                        <a:rPr lang="en-US" sz="1400" b="1" strike="noStrike" spc="-1">
                          <a:solidFill>
                            <a:srgbClr val="000000"/>
                          </a:solidFill>
                          <a:latin typeface="Times New Roman"/>
                          <a:ea typeface="ＭＳ Ｐゴシック"/>
                        </a:rPr>
                        <a:t>, </a:t>
                      </a:r>
                      <a:r>
                        <a:rPr lang="en-US" sz="1400" b="1" strike="noStrike" spc="-1">
                          <a:solidFill>
                            <a:srgbClr val="002060"/>
                          </a:solidFill>
                          <a:latin typeface="Times New Roman"/>
                          <a:ea typeface="ＭＳ Ｐゴシック"/>
                        </a:rPr>
                        <a:t>20</a:t>
                      </a:r>
                      <a:r>
                        <a:rPr lang="en-US" sz="1400" b="1" strike="noStrike" spc="-1">
                          <a:solidFill>
                            <a:srgbClr val="000000"/>
                          </a:solidFill>
                          <a:latin typeface="Times New Roman"/>
                          <a:ea typeface="ＭＳ Ｐゴシック"/>
                        </a:rPr>
                        <a:t>( </a:t>
                      </a:r>
                      <a:r>
                        <a:rPr lang="en-US" sz="1400" b="1" strike="noStrike" spc="-1">
                          <a:solidFill>
                            <a:srgbClr val="006600"/>
                          </a:solidFill>
                          <a:latin typeface="Times New Roman"/>
                          <a:ea typeface="ＭＳ Ｐゴシック"/>
                        </a:rPr>
                        <a:t>$1 </a:t>
                      </a:r>
                      <a:r>
                        <a:rPr lang="en-US" sz="1400" b="1" strike="noStrike" spc="-1">
                          <a:solidFill>
                            <a:srgbClr val="000000"/>
                          </a:solidFill>
                          <a:latin typeface="Times New Roman"/>
                          <a:ea typeface="ＭＳ Ｐゴシック"/>
                        </a:rPr>
                        <a:t>)</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99A6AE"/>
                    </a:solidFill>
                  </a:tcPr>
                </a:tc>
                <a:tc>
                  <a:txBody>
                    <a:bodyPr/>
                    <a:lstStyle/>
                    <a:p>
                      <a:pPr algn="ctr">
                        <a:lnSpc>
                          <a:spcPct val="100000"/>
                        </a:lnSpc>
                      </a:pPr>
                      <a:r>
                        <a:rPr lang="en-US" sz="1400" b="1" strike="noStrike" spc="-1">
                          <a:solidFill>
                            <a:srgbClr val="660066"/>
                          </a:solidFill>
                          <a:latin typeface="Times New Roman"/>
                          <a:ea typeface="ＭＳ Ｐゴシック"/>
                        </a:rPr>
                        <a:t>beq</a:t>
                      </a:r>
                      <a:r>
                        <a:rPr lang="en-US" sz="1400" b="1" strike="noStrike" spc="-1">
                          <a:solidFill>
                            <a:srgbClr val="000000"/>
                          </a:solidFill>
                          <a:latin typeface="Times New Roman"/>
                          <a:ea typeface="ＭＳ Ｐゴシック"/>
                        </a:rPr>
                        <a:t> </a:t>
                      </a:r>
                      <a:r>
                        <a:rPr lang="en-US" sz="1400" b="1" strike="noStrike" spc="-1">
                          <a:solidFill>
                            <a:srgbClr val="006600"/>
                          </a:solidFill>
                          <a:latin typeface="Times New Roman"/>
                          <a:ea typeface="ＭＳ Ｐゴシック"/>
                        </a:rPr>
                        <a:t>$1</a:t>
                      </a:r>
                      <a:r>
                        <a:rPr lang="en-US" sz="1400" b="1" strike="noStrike" spc="-1">
                          <a:solidFill>
                            <a:srgbClr val="000000"/>
                          </a:solidFill>
                          <a:latin typeface="Times New Roman"/>
                          <a:ea typeface="ＭＳ Ｐゴシック"/>
                        </a:rPr>
                        <a:t>, </a:t>
                      </a:r>
                      <a:r>
                        <a:rPr lang="en-US" sz="1400" b="1" strike="noStrike" spc="-1">
                          <a:solidFill>
                            <a:srgbClr val="006600"/>
                          </a:solidFill>
                          <a:latin typeface="Times New Roman"/>
                          <a:ea typeface="ＭＳ Ｐゴシック"/>
                        </a:rPr>
                        <a:t>$2</a:t>
                      </a:r>
                      <a:r>
                        <a:rPr lang="en-US" sz="1400" b="1" strike="noStrike" spc="-1">
                          <a:solidFill>
                            <a:srgbClr val="000000"/>
                          </a:solidFill>
                          <a:latin typeface="Times New Roman"/>
                          <a:ea typeface="ＭＳ Ｐゴシック"/>
                        </a:rPr>
                        <a:t>, </a:t>
                      </a:r>
                      <a:r>
                        <a:rPr lang="en-US" sz="1400" b="1" strike="noStrike" spc="-1">
                          <a:solidFill>
                            <a:srgbClr val="002060"/>
                          </a:solidFill>
                          <a:latin typeface="Times New Roman"/>
                          <a:ea typeface="ＭＳ Ｐゴシック"/>
                        </a:rPr>
                        <a:t>label</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BBBA1"/>
                    </a:solidFill>
                  </a:tcPr>
                </a:tc>
                <a:extLst>
                  <a:ext uri="{0D108BD9-81ED-4DB2-BD59-A6C34878D82A}">
                    <a16:rowId xmlns:a16="http://schemas.microsoft.com/office/drawing/2014/main" val="10000"/>
                  </a:ext>
                </a:extLst>
              </a:tr>
              <a:tr h="695281">
                <a:tc>
                  <a:txBody>
                    <a:bodyPr/>
                    <a:lstStyle/>
                    <a:p>
                      <a:pPr algn="ctr">
                        <a:lnSpc>
                          <a:spcPct val="100000"/>
                        </a:lnSpc>
                      </a:pPr>
                      <a:r>
                        <a:rPr lang="en-US" sz="1400" b="1" strike="noStrike" spc="-1">
                          <a:solidFill>
                            <a:srgbClr val="000000"/>
                          </a:solidFill>
                          <a:latin typeface="Times New Roman"/>
                          <a:ea typeface="ＭＳ Ｐゴシック"/>
                        </a:rPr>
                        <a:t>Fetch</a:t>
                      </a:r>
                    </a:p>
                    <a:p>
                      <a:pPr algn="ctr">
                        <a:lnSpc>
                          <a:spcPct val="100000"/>
                        </a:lnSpc>
                      </a:pPr>
                      <a:r>
                        <a:rPr lang="en-US" sz="1400" b="1" strike="noStrike" spc="-1">
                          <a:solidFill>
                            <a:srgbClr val="000000"/>
                          </a:solidFill>
                          <a:latin typeface="Times New Roman"/>
                          <a:ea typeface="ＭＳ Ｐゴシック"/>
                        </a:rPr>
                        <a:t>(Nạp lệnh)</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gn="ctr">
                        <a:lnSpc>
                          <a:spcPct val="100000"/>
                        </a:lnSpc>
                      </a:pPr>
                      <a:r>
                        <a:rPr lang="en-US" sz="1400" b="0" strike="noStrike" spc="-1" dirty="0" err="1">
                          <a:solidFill>
                            <a:srgbClr val="000000"/>
                          </a:solidFill>
                          <a:latin typeface="Times New Roman"/>
                          <a:ea typeface="ＭＳ Ｐゴシック"/>
                        </a:rPr>
                        <a:t>Đọc</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lệnh</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địa</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chỉ</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của</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lệnh</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lưu</a:t>
                      </a:r>
                      <a:r>
                        <a:rPr lang="en-US" sz="1400" b="0" strike="noStrike" spc="-1" dirty="0">
                          <a:solidFill>
                            <a:srgbClr val="000000"/>
                          </a:solidFill>
                          <a:latin typeface="Times New Roman"/>
                          <a:ea typeface="ＭＳ Ｐゴシック"/>
                        </a:rPr>
                        <a:t> </a:t>
                      </a:r>
                      <a:r>
                        <a:rPr lang="en-US" sz="1400" b="0" strike="noStrike" spc="-1" dirty="0" err="1">
                          <a:solidFill>
                            <a:srgbClr val="000000"/>
                          </a:solidFill>
                          <a:latin typeface="Times New Roman"/>
                          <a:ea typeface="ＭＳ Ｐゴシック"/>
                        </a:rPr>
                        <a:t>trong</a:t>
                      </a:r>
                      <a:r>
                        <a:rPr lang="en-US" sz="1400" b="0" strike="noStrike" spc="-1" dirty="0">
                          <a:solidFill>
                            <a:srgbClr val="000000"/>
                          </a:solidFill>
                          <a:latin typeface="Times New Roman"/>
                          <a:ea typeface="ＭＳ Ｐゴシック"/>
                        </a:rPr>
                        <a:t> thanh </a:t>
                      </a:r>
                      <a:r>
                        <a:rPr lang="en-US" sz="1400" b="0" strike="noStrike" spc="-1" dirty="0" err="1">
                          <a:solidFill>
                            <a:srgbClr val="000000"/>
                          </a:solidFill>
                          <a:latin typeface="Times New Roman"/>
                          <a:ea typeface="ＭＳ Ｐゴシック"/>
                        </a:rPr>
                        <a:t>ghi</a:t>
                      </a:r>
                      <a:r>
                        <a:rPr lang="en-US" sz="1400" b="0" strike="noStrike" spc="-1" dirty="0">
                          <a:solidFill>
                            <a:srgbClr val="000000"/>
                          </a:solidFill>
                          <a:latin typeface="Times New Roman"/>
                          <a:ea typeface="ＭＳ Ｐゴシック"/>
                        </a:rPr>
                        <a:t> PC)</a:t>
                      </a:r>
                      <a:endParaRPr lang="en-US" sz="1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E68C"/>
                    </a:solidFill>
                  </a:tcPr>
                </a:tc>
                <a:tc>
                  <a:txBody>
                    <a:bodyPr/>
                    <a:lstStyle/>
                    <a:p>
                      <a:pPr algn="ctr">
                        <a:lnSpc>
                          <a:spcPct val="100000"/>
                        </a:lnSpc>
                      </a:pPr>
                      <a:r>
                        <a:rPr lang="en-US" sz="1400" b="0" strike="noStrike" spc="-1">
                          <a:solidFill>
                            <a:srgbClr val="000000"/>
                          </a:solidFill>
                          <a:latin typeface="Times New Roman"/>
                          <a:ea typeface="ＭＳ Ｐゴシック"/>
                        </a:rPr>
                        <a:t>Đọc lệnh (địa chỉ của lệnh lưu trong thanh ghi PC)</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1D3D5"/>
                    </a:solidFill>
                  </a:tcPr>
                </a:tc>
                <a:tc>
                  <a:txBody>
                    <a:bodyPr/>
                    <a:lstStyle/>
                    <a:p>
                      <a:pPr algn="ctr">
                        <a:lnSpc>
                          <a:spcPct val="100000"/>
                        </a:lnSpc>
                      </a:pPr>
                      <a:r>
                        <a:rPr lang="en-US" sz="1400" b="0" strike="noStrike" spc="-1">
                          <a:solidFill>
                            <a:srgbClr val="000000"/>
                          </a:solidFill>
                          <a:latin typeface="Times New Roman"/>
                          <a:ea typeface="ＭＳ Ｐゴシック"/>
                        </a:rPr>
                        <a:t>Đọc lệnh (địa chỉ của lệnh lưu trong thanh ghi PC)</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DD1C1"/>
                    </a:solidFill>
                  </a:tcPr>
                </a:tc>
                <a:extLst>
                  <a:ext uri="{0D108BD9-81ED-4DB2-BD59-A6C34878D82A}">
                    <a16:rowId xmlns:a16="http://schemas.microsoft.com/office/drawing/2014/main" val="10001"/>
                  </a:ext>
                </a:extLst>
              </a:tr>
              <a:tr h="1273069">
                <a:tc>
                  <a:txBody>
                    <a:bodyPr/>
                    <a:lstStyle/>
                    <a:p>
                      <a:pPr algn="ctr">
                        <a:lnSpc>
                          <a:spcPct val="100000"/>
                        </a:lnSpc>
                      </a:pPr>
                      <a:r>
                        <a:rPr lang="en-US" sz="1400" b="1" strike="noStrike" spc="-1">
                          <a:solidFill>
                            <a:srgbClr val="000000"/>
                          </a:solidFill>
                          <a:latin typeface="Times New Roman"/>
                          <a:ea typeface="ＭＳ Ｐゴシック"/>
                        </a:rPr>
                        <a:t>Decode </a:t>
                      </a:r>
                      <a:r>
                        <a:rPr lang="en-US" sz="1400" b="0" strike="noStrike" spc="-1">
                          <a:solidFill>
                            <a:srgbClr val="000000"/>
                          </a:solidFill>
                          <a:latin typeface="Times New Roman"/>
                          <a:ea typeface="ＭＳ Ｐゴシック"/>
                        </a:rPr>
                        <a:t>&amp;</a:t>
                      </a:r>
                      <a:endParaRPr lang="en-US" sz="1400" b="0" strike="noStrike" spc="-1">
                        <a:latin typeface="Arial"/>
                      </a:endParaRPr>
                    </a:p>
                    <a:p>
                      <a:pPr algn="ctr">
                        <a:lnSpc>
                          <a:spcPct val="100000"/>
                        </a:lnSpc>
                      </a:pPr>
                      <a:r>
                        <a:rPr lang="en-US" sz="1400" b="1" strike="noStrike" spc="-1">
                          <a:solidFill>
                            <a:srgbClr val="000000"/>
                          </a:solidFill>
                          <a:latin typeface="Times New Roman"/>
                          <a:ea typeface="ＭＳ Ｐゴシック"/>
                        </a:rPr>
                        <a:t>Operand Fetch</a:t>
                      </a:r>
                    </a:p>
                    <a:p>
                      <a:pPr algn="ctr">
                        <a:lnSpc>
                          <a:spcPct val="100000"/>
                        </a:lnSpc>
                      </a:pPr>
                      <a:r>
                        <a:rPr lang="en-US" sz="1400" b="1" strike="noStrike" spc="-1">
                          <a:solidFill>
                            <a:srgbClr val="000000"/>
                          </a:solidFill>
                          <a:latin typeface="Times New Roman"/>
                          <a:ea typeface="ＭＳ Ｐゴシック"/>
                        </a:rPr>
                        <a:t>(Giải mã)</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2F2F2"/>
                    </a:solidFill>
                  </a:tcPr>
                </a:tc>
                <a:tc>
                  <a:txBody>
                    <a:bodyPr/>
                    <a:lstStyle/>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Đọc thanh ghi $1, xem như toán hạng </a:t>
                      </a:r>
                      <a:r>
                        <a:rPr lang="en-US" sz="1400" b="0" i="1" strike="noStrike" spc="-1">
                          <a:solidFill>
                            <a:srgbClr val="000000"/>
                          </a:solidFill>
                          <a:latin typeface="Times New Roman"/>
                          <a:ea typeface="ＭＳ Ｐゴシック"/>
                        </a:rPr>
                        <a:t>opr1</a:t>
                      </a:r>
                      <a:endParaRPr lang="en-US" sz="1400" b="0" strike="noStrike" spc="-1">
                        <a:latin typeface="Arial"/>
                      </a:endParaRPr>
                    </a:p>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Đọc thanh ghi $2, xem như toán hạng </a:t>
                      </a:r>
                      <a:r>
                        <a:rPr lang="en-US" sz="1400" b="0" i="1" strike="noStrike" spc="-1">
                          <a:solidFill>
                            <a:srgbClr val="000000"/>
                          </a:solidFill>
                          <a:latin typeface="Times New Roman"/>
                          <a:ea typeface="ＭＳ Ｐゴシック"/>
                        </a:rPr>
                        <a:t>opr2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3C5"/>
                    </a:solidFill>
                  </a:tcPr>
                </a:tc>
                <a:tc>
                  <a:txBody>
                    <a:bodyPr/>
                    <a:lstStyle/>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Đọc thanh ghi $1, xem như toán hạng </a:t>
                      </a:r>
                      <a:r>
                        <a:rPr lang="en-US" sz="1400" b="0" i="1" strike="noStrike" spc="-1">
                          <a:solidFill>
                            <a:srgbClr val="000000"/>
                          </a:solidFill>
                          <a:latin typeface="Times New Roman"/>
                          <a:ea typeface="ＭＳ Ｐゴシック"/>
                        </a:rPr>
                        <a:t>opr1</a:t>
                      </a:r>
                      <a:endParaRPr lang="en-US" sz="1400" b="0" strike="noStrike" spc="-1">
                        <a:latin typeface="Arial"/>
                      </a:endParaRPr>
                    </a:p>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Sử dụng </a:t>
                      </a:r>
                      <a:r>
                        <a:rPr lang="en-US" sz="1400" b="1" i="1" strike="noStrike" spc="-1">
                          <a:solidFill>
                            <a:srgbClr val="000000"/>
                          </a:solidFill>
                          <a:latin typeface="Times New Roman"/>
                          <a:ea typeface="ＭＳ Ｐゴシック"/>
                        </a:rPr>
                        <a:t>20 </a:t>
                      </a:r>
                      <a:r>
                        <a:rPr lang="en-US" sz="1400" b="0" strike="noStrike" spc="-1">
                          <a:solidFill>
                            <a:srgbClr val="000000"/>
                          </a:solidFill>
                          <a:latin typeface="Times New Roman"/>
                          <a:ea typeface="ＭＳ Ｐゴシック"/>
                        </a:rPr>
                        <a:t>như toán hạng </a:t>
                      </a:r>
                      <a:r>
                        <a:rPr lang="en-US" sz="1400" b="0" i="1" strike="noStrike" spc="-1">
                          <a:solidFill>
                            <a:srgbClr val="000000"/>
                          </a:solidFill>
                          <a:latin typeface="Times New Roman"/>
                          <a:ea typeface="ＭＳ Ｐゴシック"/>
                        </a:rPr>
                        <a:t>opr</a:t>
                      </a:r>
                      <a:r>
                        <a:rPr lang="en-US" sz="1400" b="0" strike="noStrike" spc="-1">
                          <a:solidFill>
                            <a:srgbClr val="000000"/>
                          </a:solidFill>
                          <a:latin typeface="Times New Roman"/>
                          <a:ea typeface="ＭＳ Ｐゴシック"/>
                        </a:rPr>
                        <a:t>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9EAEB"/>
                    </a:solidFill>
                  </a:tcPr>
                </a:tc>
                <a:tc>
                  <a:txBody>
                    <a:bodyPr/>
                    <a:lstStyle/>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Đọc thanh ghi $1, xem như toán hạng </a:t>
                      </a:r>
                      <a:r>
                        <a:rPr lang="en-US" sz="1400" b="0" i="1" strike="noStrike" spc="-1">
                          <a:solidFill>
                            <a:srgbClr val="000000"/>
                          </a:solidFill>
                          <a:latin typeface="Times New Roman"/>
                          <a:ea typeface="ＭＳ Ｐゴシック"/>
                        </a:rPr>
                        <a:t>opr1</a:t>
                      </a:r>
                      <a:endParaRPr lang="en-US" sz="1400" b="0" strike="noStrike" spc="-1">
                        <a:latin typeface="Arial"/>
                      </a:endParaRPr>
                    </a:p>
                    <a:p>
                      <a:pPr marL="231840" indent="-231480">
                        <a:lnSpc>
                          <a:spcPct val="100000"/>
                        </a:lnSpc>
                        <a:buClr>
                          <a:srgbClr val="000000"/>
                        </a:buClr>
                        <a:buFont typeface="Courier New"/>
                        <a:buChar char="o"/>
                      </a:pPr>
                      <a:r>
                        <a:rPr lang="en-US" sz="1400" b="0" strike="noStrike" spc="-1">
                          <a:solidFill>
                            <a:srgbClr val="000000"/>
                          </a:solidFill>
                          <a:latin typeface="Times New Roman"/>
                          <a:ea typeface="ＭＳ Ｐゴシック"/>
                        </a:rPr>
                        <a:t>Đọc thanh ghi $2, xem như toán hạng </a:t>
                      </a:r>
                      <a:r>
                        <a:rPr lang="en-US" sz="1400" b="0" i="1" strike="noStrike" spc="-1">
                          <a:solidFill>
                            <a:srgbClr val="000000"/>
                          </a:solidFill>
                          <a:latin typeface="Times New Roman"/>
                          <a:ea typeface="ＭＳ Ｐゴシック"/>
                        </a:rPr>
                        <a:t>opr2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EE8E0"/>
                    </a:solidFill>
                  </a:tcPr>
                </a:tc>
                <a:extLst>
                  <a:ext uri="{0D108BD9-81ED-4DB2-BD59-A6C34878D82A}">
                    <a16:rowId xmlns:a16="http://schemas.microsoft.com/office/drawing/2014/main" val="10002"/>
                  </a:ext>
                </a:extLst>
              </a:tr>
              <a:tr h="695281">
                <a:tc>
                  <a:txBody>
                    <a:bodyPr/>
                    <a:lstStyle/>
                    <a:p>
                      <a:pPr algn="ctr">
                        <a:lnSpc>
                          <a:spcPct val="100000"/>
                        </a:lnSpc>
                      </a:pPr>
                      <a:r>
                        <a:rPr lang="en-US" sz="1400" b="1" strike="noStrike" spc="-1">
                          <a:solidFill>
                            <a:srgbClr val="000000"/>
                          </a:solidFill>
                          <a:latin typeface="Times New Roman"/>
                          <a:ea typeface="ＭＳ Ｐゴシック"/>
                        </a:rPr>
                        <a:t>ALU</a:t>
                      </a:r>
                    </a:p>
                    <a:p>
                      <a:pPr algn="ctr">
                        <a:lnSpc>
                          <a:spcPct val="100000"/>
                        </a:lnSpc>
                      </a:pPr>
                      <a:r>
                        <a:rPr lang="en-US" sz="1400" b="1" strike="noStrike" spc="-1">
                          <a:solidFill>
                            <a:srgbClr val="000000"/>
                          </a:solidFill>
                          <a:latin typeface="Times New Roman"/>
                          <a:ea typeface="ＭＳ Ｐゴシック"/>
                        </a:rPr>
                        <a:t>(Thực thi)</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nSpc>
                          <a:spcPct val="100000"/>
                        </a:lnSpc>
                      </a:pPr>
                      <a:r>
                        <a:rPr lang="en-US" sz="1400" b="0" i="1" strike="noStrike" spc="-1">
                          <a:solidFill>
                            <a:srgbClr val="000000"/>
                          </a:solidFill>
                          <a:latin typeface="Times New Roman"/>
                          <a:ea typeface="ＭＳ Ｐゴシック"/>
                        </a:rPr>
                        <a:t>Result</a:t>
                      </a:r>
                      <a:r>
                        <a:rPr lang="en-US" sz="1400" b="0" strike="noStrike" spc="-1">
                          <a:solidFill>
                            <a:srgbClr val="000000"/>
                          </a:solidFill>
                          <a:latin typeface="Times New Roman"/>
                          <a:ea typeface="ＭＳ Ｐゴシック"/>
                        </a:rPr>
                        <a:t> = </a:t>
                      </a:r>
                      <a:r>
                        <a:rPr lang="en-US" sz="1400" b="0" i="1" strike="noStrike" spc="-1">
                          <a:solidFill>
                            <a:srgbClr val="000000"/>
                          </a:solidFill>
                          <a:latin typeface="Times New Roman"/>
                          <a:ea typeface="ＭＳ Ｐゴシック"/>
                        </a:rPr>
                        <a:t>opr1</a:t>
                      </a:r>
                      <a:r>
                        <a:rPr lang="en-US" sz="1400" b="0" strike="noStrike" spc="-1">
                          <a:solidFill>
                            <a:srgbClr val="000000"/>
                          </a:solidFill>
                          <a:latin typeface="Times New Roman"/>
                          <a:ea typeface="ＭＳ Ｐゴシック"/>
                        </a:rPr>
                        <a:t> + </a:t>
                      </a:r>
                      <a:r>
                        <a:rPr lang="en-US" sz="1400" b="0" i="1" strike="noStrike" spc="-1">
                          <a:solidFill>
                            <a:srgbClr val="000000"/>
                          </a:solidFill>
                          <a:latin typeface="Times New Roman"/>
                          <a:ea typeface="ＭＳ Ｐゴシック"/>
                        </a:rPr>
                        <a:t>opr2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E68C"/>
                    </a:solidFill>
                  </a:tcPr>
                </a:tc>
                <a:tc>
                  <a:txBody>
                    <a:bodyPr/>
                    <a:lstStyle/>
                    <a:p>
                      <a:pPr>
                        <a:lnSpc>
                          <a:spcPct val="100000"/>
                        </a:lnSpc>
                      </a:pPr>
                      <a:r>
                        <a:rPr lang="en-US" sz="1400" b="0" i="1" strike="noStrike" spc="-1">
                          <a:solidFill>
                            <a:srgbClr val="000000"/>
                          </a:solidFill>
                          <a:latin typeface="Times New Roman"/>
                          <a:ea typeface="ＭＳ Ｐゴシック"/>
                        </a:rPr>
                        <a:t>MemAddr </a:t>
                      </a:r>
                      <a:r>
                        <a:rPr lang="en-US" sz="1400" b="0" strike="noStrike" spc="-1">
                          <a:solidFill>
                            <a:srgbClr val="000000"/>
                          </a:solidFill>
                          <a:latin typeface="Times New Roman"/>
                          <a:ea typeface="ＭＳ Ｐゴシック"/>
                        </a:rPr>
                        <a:t>= opr1 + opr2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1D3D5"/>
                    </a:solidFill>
                  </a:tcPr>
                </a:tc>
                <a:tc>
                  <a:txBody>
                    <a:bodyPr/>
                    <a:lstStyle/>
                    <a:p>
                      <a:pPr>
                        <a:lnSpc>
                          <a:spcPct val="100000"/>
                        </a:lnSpc>
                      </a:pPr>
                      <a:r>
                        <a:rPr lang="en-US" sz="1400" b="0" i="1" strike="noStrike" spc="-1">
                          <a:solidFill>
                            <a:srgbClr val="000000"/>
                          </a:solidFill>
                          <a:latin typeface="Times New Roman"/>
                          <a:ea typeface="ＭＳ Ｐゴシック"/>
                        </a:rPr>
                        <a:t>Taken </a:t>
                      </a:r>
                      <a:r>
                        <a:rPr lang="en-US" sz="1400" b="0" strike="noStrike" spc="-1">
                          <a:solidFill>
                            <a:srgbClr val="000000"/>
                          </a:solidFill>
                          <a:latin typeface="Times New Roman"/>
                          <a:ea typeface="ＭＳ Ｐゴシック"/>
                        </a:rPr>
                        <a:t>=  (</a:t>
                      </a:r>
                      <a:r>
                        <a:rPr lang="en-US" sz="1400" b="0" i="1" strike="noStrike" spc="-1">
                          <a:solidFill>
                            <a:srgbClr val="000000"/>
                          </a:solidFill>
                          <a:latin typeface="Times New Roman"/>
                          <a:ea typeface="ＭＳ Ｐゴシック"/>
                        </a:rPr>
                        <a:t>opr1</a:t>
                      </a:r>
                      <a:r>
                        <a:rPr lang="en-US" sz="1400" b="0" strike="noStrike" spc="-1">
                          <a:solidFill>
                            <a:srgbClr val="000000"/>
                          </a:solidFill>
                          <a:latin typeface="Times New Roman"/>
                          <a:ea typeface="ＭＳ Ｐゴシック"/>
                        </a:rPr>
                        <a:t> == </a:t>
                      </a:r>
                      <a:r>
                        <a:rPr lang="en-US" sz="1400" b="0" i="1" strike="noStrike" spc="-1">
                          <a:solidFill>
                            <a:srgbClr val="000000"/>
                          </a:solidFill>
                          <a:latin typeface="Times New Roman"/>
                          <a:ea typeface="ＭＳ Ｐゴシック"/>
                        </a:rPr>
                        <a:t>opr2</a:t>
                      </a:r>
                      <a:r>
                        <a:rPr lang="en-US" sz="1400" b="0" strike="noStrike" spc="-1">
                          <a:solidFill>
                            <a:srgbClr val="000000"/>
                          </a:solidFill>
                          <a:latin typeface="Times New Roman"/>
                          <a:ea typeface="ＭＳ Ｐゴシック"/>
                        </a:rPr>
                        <a:t> )?</a:t>
                      </a:r>
                      <a:endParaRPr lang="en-US" sz="1400" b="0" strike="noStrike" spc="-1">
                        <a:latin typeface="Arial"/>
                      </a:endParaRPr>
                    </a:p>
                    <a:p>
                      <a:pPr>
                        <a:lnSpc>
                          <a:spcPct val="100000"/>
                        </a:lnSpc>
                      </a:pPr>
                      <a:r>
                        <a:rPr lang="en-US" sz="1400" b="0" i="1" strike="noStrike" spc="-1">
                          <a:solidFill>
                            <a:srgbClr val="000000"/>
                          </a:solidFill>
                          <a:latin typeface="Times New Roman"/>
                          <a:ea typeface="ＭＳ Ｐゴシック"/>
                        </a:rPr>
                        <a:t>Target </a:t>
                      </a:r>
                      <a:r>
                        <a:rPr lang="en-US" sz="1400" b="0" strike="noStrike" spc="-1">
                          <a:solidFill>
                            <a:srgbClr val="000000"/>
                          </a:solidFill>
                          <a:latin typeface="Times New Roman"/>
                          <a:ea typeface="ＭＳ Ｐゴシック"/>
                        </a:rPr>
                        <a:t>= </a:t>
                      </a:r>
                      <a:r>
                        <a:rPr lang="en-US" sz="1400" b="1" strike="noStrike" spc="-1">
                          <a:solidFill>
                            <a:srgbClr val="000000"/>
                          </a:solidFill>
                          <a:latin typeface="Times New Roman"/>
                          <a:ea typeface="ＭＳ Ｐゴシック"/>
                        </a:rPr>
                        <a:t>PC</a:t>
                      </a:r>
                      <a:r>
                        <a:rPr lang="en-US" sz="1400" b="0" strike="noStrike" spc="-1">
                          <a:solidFill>
                            <a:srgbClr val="000000"/>
                          </a:solidFill>
                          <a:latin typeface="Times New Roman"/>
                          <a:ea typeface="ＭＳ Ｐゴシック"/>
                        </a:rPr>
                        <a:t> + Label*</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DD1C1"/>
                    </a:solidFill>
                  </a:tcPr>
                </a:tc>
                <a:extLst>
                  <a:ext uri="{0D108BD9-81ED-4DB2-BD59-A6C34878D82A}">
                    <a16:rowId xmlns:a16="http://schemas.microsoft.com/office/drawing/2014/main" val="10003"/>
                  </a:ext>
                </a:extLst>
              </a:tr>
              <a:tr h="1083035">
                <a:tc>
                  <a:txBody>
                    <a:bodyPr/>
                    <a:lstStyle/>
                    <a:p>
                      <a:pPr algn="ctr">
                        <a:lnSpc>
                          <a:spcPct val="100000"/>
                        </a:lnSpc>
                      </a:pPr>
                      <a:r>
                        <a:rPr lang="en-US" sz="1400" b="1" strike="noStrike" spc="-1">
                          <a:solidFill>
                            <a:srgbClr val="000000"/>
                          </a:solidFill>
                          <a:latin typeface="Times New Roman"/>
                          <a:ea typeface="ＭＳ Ｐゴシック"/>
                        </a:rPr>
                        <a:t>Memory</a:t>
                      </a:r>
                      <a:endParaRPr lang="en-US" sz="1400" b="0" strike="noStrike" spc="-1">
                        <a:latin typeface="Arial"/>
                      </a:endParaRPr>
                    </a:p>
                    <a:p>
                      <a:pPr algn="ctr">
                        <a:lnSpc>
                          <a:spcPct val="100000"/>
                        </a:lnSpc>
                      </a:pPr>
                      <a:r>
                        <a:rPr lang="en-US" sz="1400" b="1" strike="noStrike" spc="-1">
                          <a:solidFill>
                            <a:srgbClr val="000000"/>
                          </a:solidFill>
                          <a:latin typeface="Times New Roman"/>
                          <a:ea typeface="ＭＳ Ｐゴシック"/>
                        </a:rPr>
                        <a:t>Access</a:t>
                      </a:r>
                    </a:p>
                    <a:p>
                      <a:pPr algn="ctr">
                        <a:lnSpc>
                          <a:spcPct val="100000"/>
                        </a:lnSpc>
                      </a:pPr>
                      <a:r>
                        <a:rPr lang="en-US" sz="1400" b="1" strike="noStrike" spc="-1">
                          <a:solidFill>
                            <a:srgbClr val="000000"/>
                          </a:solidFill>
                          <a:latin typeface="Times New Roman"/>
                          <a:ea typeface="ＭＳ Ｐゴシック"/>
                        </a:rPr>
                        <a:t>(Truy xuất bộ nhớ)</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2F2F2"/>
                    </a:solidFill>
                  </a:tcPr>
                </a:tc>
                <a:tc>
                  <a:txBody>
                    <a:bodyPr/>
                    <a:lstStyle/>
                    <a:p>
                      <a:endParaRPr lang="en-US" sz="1400"/>
                    </a:p>
                  </a:txBody>
                  <a:tcPr>
                    <a:lnL w="12240">
                      <a:solidFill>
                        <a:srgbClr val="000000"/>
                      </a:solidFill>
                    </a:lnL>
                    <a:lnR w="12240">
                      <a:solidFill>
                        <a:srgbClr val="000000"/>
                      </a:solidFill>
                    </a:lnR>
                    <a:lnT w="12240">
                      <a:solidFill>
                        <a:srgbClr val="000000"/>
                      </a:solidFill>
                    </a:lnT>
                    <a:lnB w="12240">
                      <a:solidFill>
                        <a:srgbClr val="000000"/>
                      </a:solidFill>
                    </a:lnB>
                    <a:solidFill>
                      <a:srgbClr val="FFF3C5"/>
                    </a:solidFill>
                  </a:tcPr>
                </a:tc>
                <a:tc>
                  <a:txBody>
                    <a:bodyPr/>
                    <a:lstStyle/>
                    <a:p>
                      <a:pPr marL="231840" indent="-231480">
                        <a:lnSpc>
                          <a:spcPct val="100000"/>
                        </a:lnSpc>
                      </a:pPr>
                      <a:r>
                        <a:rPr lang="en-US" sz="1400" b="0" strike="noStrike" spc="-1">
                          <a:solidFill>
                            <a:srgbClr val="000000"/>
                          </a:solidFill>
                          <a:latin typeface="Times New Roman"/>
                          <a:ea typeface="ＭＳ Ｐゴシック"/>
                        </a:rPr>
                        <a:t>Sử dụng </a:t>
                      </a:r>
                      <a:r>
                        <a:rPr lang="en-US" sz="1400" b="0" i="1" strike="noStrike" spc="-1">
                          <a:solidFill>
                            <a:srgbClr val="000000"/>
                          </a:solidFill>
                          <a:latin typeface="Times New Roman"/>
                          <a:ea typeface="ＭＳ Ｐゴシック"/>
                        </a:rPr>
                        <a:t>MemAddr</a:t>
                      </a:r>
                      <a:r>
                        <a:rPr lang="en-US" sz="1400" b="0" strike="noStrike" spc="-1">
                          <a:solidFill>
                            <a:srgbClr val="000000"/>
                          </a:solidFill>
                          <a:latin typeface="Times New Roman"/>
                          <a:ea typeface="ＭＳ Ｐゴシック"/>
                        </a:rPr>
                        <a:t> để đọc dữ liệu từ bộ nhớ</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9EAEB"/>
                    </a:solidFill>
                  </a:tcPr>
                </a:tc>
                <a:tc>
                  <a:txBody>
                    <a:bodyPr/>
                    <a:lstStyle/>
                    <a:p>
                      <a:endParaRPr lang="en-US" sz="1400"/>
                    </a:p>
                  </a:txBody>
                  <a:tcPr>
                    <a:lnL w="12240">
                      <a:solidFill>
                        <a:srgbClr val="000000"/>
                      </a:solidFill>
                    </a:lnL>
                    <a:lnR w="12240">
                      <a:solidFill>
                        <a:srgbClr val="000000"/>
                      </a:solidFill>
                    </a:lnR>
                    <a:lnT w="12240">
                      <a:solidFill>
                        <a:srgbClr val="000000"/>
                      </a:solidFill>
                    </a:lnT>
                    <a:lnB w="12240">
                      <a:solidFill>
                        <a:srgbClr val="000000"/>
                      </a:solidFill>
                    </a:lnB>
                    <a:solidFill>
                      <a:srgbClr val="EEE8E0"/>
                    </a:solidFill>
                  </a:tcPr>
                </a:tc>
                <a:extLst>
                  <a:ext uri="{0D108BD9-81ED-4DB2-BD59-A6C34878D82A}">
                    <a16:rowId xmlns:a16="http://schemas.microsoft.com/office/drawing/2014/main" val="10004"/>
                  </a:ext>
                </a:extLst>
              </a:tr>
              <a:tr h="984176">
                <a:tc>
                  <a:txBody>
                    <a:bodyPr/>
                    <a:lstStyle/>
                    <a:p>
                      <a:pPr algn="ctr">
                        <a:lnSpc>
                          <a:spcPct val="100000"/>
                        </a:lnSpc>
                      </a:pPr>
                      <a:r>
                        <a:rPr lang="en-US" sz="1400" b="1" strike="noStrike" spc="-1">
                          <a:solidFill>
                            <a:srgbClr val="000000"/>
                          </a:solidFill>
                          <a:latin typeface="Times New Roman"/>
                          <a:ea typeface="ＭＳ Ｐゴシック"/>
                        </a:rPr>
                        <a:t>Result Write</a:t>
                      </a:r>
                    </a:p>
                    <a:p>
                      <a:pPr algn="ctr">
                        <a:lnSpc>
                          <a:spcPct val="100000"/>
                        </a:lnSpc>
                      </a:pPr>
                      <a:r>
                        <a:rPr lang="en-US" sz="1400" b="1" strike="noStrike" spc="-1">
                          <a:solidFill>
                            <a:srgbClr val="000000"/>
                          </a:solidFill>
                          <a:latin typeface="Times New Roman"/>
                          <a:ea typeface="ＭＳ Ｐゴシック"/>
                        </a:rPr>
                        <a:t>(Lưu kết quả)</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nSpc>
                          <a:spcPct val="100000"/>
                        </a:lnSpc>
                      </a:pPr>
                      <a:r>
                        <a:rPr lang="en-US" sz="1400" b="0" i="1" strike="noStrike" spc="-1">
                          <a:solidFill>
                            <a:srgbClr val="000000"/>
                          </a:solidFill>
                          <a:latin typeface="Times New Roman"/>
                          <a:ea typeface="ＭＳ Ｐゴシック"/>
                        </a:rPr>
                        <a:t>Result</a:t>
                      </a:r>
                      <a:r>
                        <a:rPr lang="en-US" sz="1400" b="0" strike="noStrike" spc="-1">
                          <a:solidFill>
                            <a:srgbClr val="000000"/>
                          </a:solidFill>
                          <a:latin typeface="Times New Roman"/>
                          <a:ea typeface="ＭＳ Ｐゴシック"/>
                        </a:rPr>
                        <a:t> được lưu trữ vào </a:t>
                      </a:r>
                      <a:r>
                        <a:rPr lang="en-US" sz="1400" b="1" strike="noStrike" spc="-1">
                          <a:solidFill>
                            <a:srgbClr val="000000"/>
                          </a:solidFill>
                          <a:latin typeface="Times New Roman"/>
                          <a:ea typeface="ＭＳ Ｐゴシック"/>
                        </a:rPr>
                        <a:t>$3</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E68C"/>
                    </a:solidFill>
                  </a:tcPr>
                </a:tc>
                <a:tc>
                  <a:txBody>
                    <a:bodyPr/>
                    <a:lstStyle/>
                    <a:p>
                      <a:pPr>
                        <a:lnSpc>
                          <a:spcPct val="100000"/>
                        </a:lnSpc>
                      </a:pPr>
                      <a:r>
                        <a:rPr lang="en-US" sz="1400" b="0" i="1" strike="noStrike" spc="-1" dirty="0" err="1">
                          <a:solidFill>
                            <a:srgbClr val="000000"/>
                          </a:solidFill>
                          <a:latin typeface="Times New Roman"/>
                          <a:ea typeface="ＭＳ Ｐゴシック"/>
                        </a:rPr>
                        <a:t>Dữ</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liệu</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của</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từ</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nhớ</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có</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địa</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chỉ</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MemAddr</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được</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được</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lưu</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trữ</a:t>
                      </a:r>
                      <a:r>
                        <a:rPr lang="en-US" sz="1400" b="0" i="1" strike="noStrike" spc="-1" dirty="0">
                          <a:solidFill>
                            <a:srgbClr val="000000"/>
                          </a:solidFill>
                          <a:latin typeface="Times New Roman"/>
                          <a:ea typeface="ＭＳ Ｐゴシック"/>
                        </a:rPr>
                        <a:t> </a:t>
                      </a:r>
                      <a:r>
                        <a:rPr lang="en-US" sz="1400" b="0" i="1" strike="noStrike" spc="-1" dirty="0" err="1">
                          <a:solidFill>
                            <a:srgbClr val="000000"/>
                          </a:solidFill>
                          <a:latin typeface="Times New Roman"/>
                          <a:ea typeface="ＭＳ Ｐゴシック"/>
                        </a:rPr>
                        <a:t>vào</a:t>
                      </a:r>
                      <a:r>
                        <a:rPr lang="en-US" sz="1400" b="0" i="1" strike="noStrike" spc="-1" dirty="0">
                          <a:solidFill>
                            <a:srgbClr val="000000"/>
                          </a:solidFill>
                          <a:latin typeface="Times New Roman"/>
                          <a:ea typeface="ＭＳ Ｐゴシック"/>
                        </a:rPr>
                        <a:t> </a:t>
                      </a:r>
                      <a:r>
                        <a:rPr lang="en-US" sz="1400" b="0" strike="noStrike" spc="-1" dirty="0">
                          <a:solidFill>
                            <a:srgbClr val="000000"/>
                          </a:solidFill>
                          <a:latin typeface="Times New Roman"/>
                          <a:ea typeface="ＭＳ Ｐゴシック"/>
                        </a:rPr>
                        <a:t> </a:t>
                      </a:r>
                      <a:r>
                        <a:rPr lang="en-US" sz="1400" b="1" strike="noStrike" spc="-1" dirty="0">
                          <a:solidFill>
                            <a:srgbClr val="000000"/>
                          </a:solidFill>
                          <a:latin typeface="Times New Roman"/>
                          <a:ea typeface="ＭＳ Ｐゴシック"/>
                        </a:rPr>
                        <a:t>$3</a:t>
                      </a:r>
                      <a:endParaRPr lang="en-US" sz="1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1D3D5"/>
                    </a:solidFill>
                  </a:tcPr>
                </a:tc>
                <a:tc>
                  <a:txBody>
                    <a:bodyPr/>
                    <a:lstStyle/>
                    <a:p>
                      <a:pPr>
                        <a:lnSpc>
                          <a:spcPct val="100000"/>
                        </a:lnSpc>
                      </a:pPr>
                      <a:r>
                        <a:rPr lang="en-US" sz="1400" b="0" strike="noStrike" spc="-1" dirty="0">
                          <a:solidFill>
                            <a:srgbClr val="000000"/>
                          </a:solidFill>
                          <a:latin typeface="Times New Roman"/>
                          <a:ea typeface="ＭＳ Ｐゴシック"/>
                        </a:rPr>
                        <a:t>if (</a:t>
                      </a:r>
                      <a:r>
                        <a:rPr lang="en-US" sz="1400" b="0" i="1" strike="noStrike" spc="-1" dirty="0">
                          <a:solidFill>
                            <a:srgbClr val="000000"/>
                          </a:solidFill>
                          <a:latin typeface="Times New Roman"/>
                          <a:ea typeface="ＭＳ Ｐゴシック"/>
                        </a:rPr>
                        <a:t>Taken</a:t>
                      </a:r>
                      <a:r>
                        <a:rPr lang="en-US" sz="1400" b="0" strike="noStrike" spc="-1" dirty="0">
                          <a:solidFill>
                            <a:srgbClr val="000000"/>
                          </a:solidFill>
                          <a:latin typeface="Times New Roman"/>
                          <a:ea typeface="ＭＳ Ｐゴシック"/>
                        </a:rPr>
                        <a:t>)</a:t>
                      </a:r>
                      <a:endParaRPr lang="en-US" sz="1400" b="0" strike="noStrike" spc="-1" dirty="0">
                        <a:latin typeface="Arial"/>
                      </a:endParaRPr>
                    </a:p>
                    <a:p>
                      <a:pPr>
                        <a:lnSpc>
                          <a:spcPct val="100000"/>
                        </a:lnSpc>
                      </a:pPr>
                      <a:r>
                        <a:rPr lang="en-US" sz="1400" b="0" strike="noStrike" spc="-1" dirty="0">
                          <a:solidFill>
                            <a:srgbClr val="000000"/>
                          </a:solidFill>
                          <a:latin typeface="Times New Roman"/>
                          <a:ea typeface="ＭＳ Ｐゴシック"/>
                        </a:rPr>
                        <a:t>    </a:t>
                      </a:r>
                      <a:r>
                        <a:rPr lang="en-US" sz="1400" b="1" strike="noStrike" spc="-1" dirty="0">
                          <a:solidFill>
                            <a:srgbClr val="000000"/>
                          </a:solidFill>
                          <a:latin typeface="Times New Roman"/>
                          <a:ea typeface="ＭＳ Ｐゴシック"/>
                        </a:rPr>
                        <a:t>PC</a:t>
                      </a:r>
                      <a:r>
                        <a:rPr lang="en-US" sz="1400" b="0" strike="noStrike" spc="-1" dirty="0">
                          <a:solidFill>
                            <a:srgbClr val="000000"/>
                          </a:solidFill>
                          <a:latin typeface="Times New Roman"/>
                          <a:ea typeface="ＭＳ Ｐゴシック"/>
                        </a:rPr>
                        <a:t> = </a:t>
                      </a:r>
                      <a:r>
                        <a:rPr lang="en-US" sz="1400" b="0" i="1" strike="noStrike" spc="-1" dirty="0">
                          <a:solidFill>
                            <a:srgbClr val="000000"/>
                          </a:solidFill>
                          <a:latin typeface="Times New Roman"/>
                          <a:ea typeface="ＭＳ Ｐゴシック"/>
                        </a:rPr>
                        <a:t>Target</a:t>
                      </a:r>
                      <a:endParaRPr lang="en-US" sz="1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DD1C1"/>
                    </a:solidFill>
                  </a:tcPr>
                </a:tc>
                <a:extLst>
                  <a:ext uri="{0D108BD9-81ED-4DB2-BD59-A6C34878D82A}">
                    <a16:rowId xmlns:a16="http://schemas.microsoft.com/office/drawing/2014/main" val="10005"/>
                  </a:ext>
                </a:extLst>
              </a:tr>
            </a:tbl>
          </a:graphicData>
        </a:graphic>
      </p:graphicFrame>
      <p:sp>
        <p:nvSpPr>
          <p:cNvPr id="3" name="Oval 2">
            <a:extLst>
              <a:ext uri="{FF2B5EF4-FFF2-40B4-BE49-F238E27FC236}">
                <a16:creationId xmlns:a16="http://schemas.microsoft.com/office/drawing/2014/main" id="{3920A3ED-F363-7F5D-9EDC-B22C49EEF26E}"/>
              </a:ext>
            </a:extLst>
          </p:cNvPr>
          <p:cNvSpPr/>
          <p:nvPr/>
        </p:nvSpPr>
        <p:spPr>
          <a:xfrm>
            <a:off x="7781555" y="3429000"/>
            <a:ext cx="2743200" cy="877186"/>
          </a:xfrm>
          <a:prstGeom prst="ellipse">
            <a:avLst/>
          </a:prstGeom>
          <a:noFill/>
          <a:ln w="571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Tree>
    <p:extLst>
      <p:ext uri="{BB962C8B-B14F-4D97-AF65-F5344CB8AC3E}">
        <p14:creationId xmlns:p14="http://schemas.microsoft.com/office/powerpoint/2010/main" val="783326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sz="4000"/>
              <a:t>Công đoạn ALU: Các lệnh Branch</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41</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Content Placeholder 5">
            <a:extLst>
              <a:ext uri="{FF2B5EF4-FFF2-40B4-BE49-F238E27FC236}">
                <a16:creationId xmlns:a16="http://schemas.microsoft.com/office/drawing/2014/main" id="{5A819AFB-6472-EFCF-4CBA-734DA2D57AFF}"/>
              </a:ext>
            </a:extLst>
          </p:cNvPr>
          <p:cNvSpPr>
            <a:spLocks noGrp="1"/>
          </p:cNvSpPr>
          <p:nvPr>
            <p:ph idx="1"/>
          </p:nvPr>
        </p:nvSpPr>
        <p:spPr/>
        <p:txBody>
          <a:bodyPr>
            <a:normAutofit/>
          </a:bodyPr>
          <a:lstStyle/>
          <a:p>
            <a:r>
              <a:rPr lang="vi-VN"/>
              <a:t>Lệnh rẽ nhánh thì khó hơn vì phải tính toán hai phép toán:</a:t>
            </a:r>
          </a:p>
          <a:p>
            <a:r>
              <a:rPr lang="vi-VN"/>
              <a:t>Ví dụ: "beq $9, $0, 3"</a:t>
            </a:r>
          </a:p>
          <a:p>
            <a:pPr lvl="1"/>
            <a:r>
              <a:rPr lang="vi-VN"/>
              <a:t>Kết quả rẽ nhánh:</a:t>
            </a:r>
          </a:p>
          <a:p>
            <a:pPr lvl="2"/>
            <a:r>
              <a:rPr lang="vi-VN"/>
              <a:t>Sử dụng ALU để so sánh thanh ghi</a:t>
            </a:r>
          </a:p>
          <a:p>
            <a:pPr lvl="2"/>
            <a:r>
              <a:rPr lang="vi-VN"/>
              <a:t>Tín hiệu 1-bit "isZero?“  để kiểm tra tính chất bằng/không bằng</a:t>
            </a:r>
          </a:p>
          <a:p>
            <a:r>
              <a:rPr lang="vi-VN"/>
              <a:t>Địa chỉ đích của nhánh:</a:t>
            </a:r>
          </a:p>
          <a:p>
            <a:pPr lvl="1"/>
            <a:r>
              <a:rPr lang="vi-VN"/>
              <a:t>Sử dụng một bộ cộng để tính địa chỉ</a:t>
            </a:r>
          </a:p>
          <a:p>
            <a:pPr lvl="1"/>
            <a:r>
              <a:rPr lang="vi-VN"/>
              <a:t>Cần nội dung của thanh ghi PC (từ Fetch Stage)</a:t>
            </a:r>
          </a:p>
          <a:p>
            <a:pPr lvl="1"/>
            <a:r>
              <a:rPr lang="vi-VN"/>
              <a:t>Cần Offset (từ Decode Stage)</a:t>
            </a:r>
          </a:p>
        </p:txBody>
      </p:sp>
      <p:pic>
        <p:nvPicPr>
          <p:cNvPr id="3" name="Picture 2">
            <a:extLst>
              <a:ext uri="{FF2B5EF4-FFF2-40B4-BE49-F238E27FC236}">
                <a16:creationId xmlns:a16="http://schemas.microsoft.com/office/drawing/2014/main" id="{8B2D964F-C3DA-C95E-5A66-D3F95B7851C2}"/>
              </a:ext>
            </a:extLst>
          </p:cNvPr>
          <p:cNvPicPr>
            <a:picLocks noChangeAspect="1"/>
          </p:cNvPicPr>
          <p:nvPr/>
        </p:nvPicPr>
        <p:blipFill>
          <a:blip r:embed="rId3"/>
          <a:stretch>
            <a:fillRect/>
          </a:stretch>
        </p:blipFill>
        <p:spPr>
          <a:xfrm>
            <a:off x="1482403" y="5758341"/>
            <a:ext cx="9489222" cy="623266"/>
          </a:xfrm>
          <a:prstGeom prst="rect">
            <a:avLst/>
          </a:prstGeom>
        </p:spPr>
      </p:pic>
      <p:sp>
        <p:nvSpPr>
          <p:cNvPr id="7" name="TextBox 6">
            <a:extLst>
              <a:ext uri="{FF2B5EF4-FFF2-40B4-BE49-F238E27FC236}">
                <a16:creationId xmlns:a16="http://schemas.microsoft.com/office/drawing/2014/main" id="{AA32401A-9C9A-35F6-A269-C42993B4363E}"/>
              </a:ext>
            </a:extLst>
          </p:cNvPr>
          <p:cNvSpPr txBox="1"/>
          <p:nvPr/>
        </p:nvSpPr>
        <p:spPr>
          <a:xfrm>
            <a:off x="6361043" y="4460682"/>
            <a:ext cx="5297354" cy="1200329"/>
          </a:xfrm>
          <a:prstGeom prst="rect">
            <a:avLst/>
          </a:prstGeom>
          <a:noFill/>
        </p:spPr>
        <p:txBody>
          <a:bodyPr wrap="square" rtlCol="0">
            <a:spAutoFit/>
          </a:bodyPr>
          <a:lstStyle/>
          <a:p>
            <a:r>
              <a:rPr lang="en-US" sz="2400" dirty="0" err="1">
                <a:latin typeface="Arial" panose="020B0604020202020204" pitchFamily="34" charset="0"/>
                <a:cs typeface="Arial" panose="020B0604020202020204" pitchFamily="34" charset="0"/>
              </a:rPr>
              <a:t>BranchAddr</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số</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từ</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beq</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đến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nhãn</a:t>
            </a:r>
            <a:r>
              <a:rPr lang="en-US" sz="2400" dirty="0">
                <a:latin typeface="Arial" panose="020B0604020202020204" pitchFamily="34" charset="0"/>
                <a:cs typeface="Arial" panose="020B0604020202020204" pitchFamily="34" charset="0"/>
              </a:rPr>
              <a:t> * 4</a:t>
            </a:r>
          </a:p>
          <a:p>
            <a:r>
              <a:rPr lang="en-US" sz="2400" dirty="0">
                <a:latin typeface="Arial" panose="020B0604020202020204" pitchFamily="34" charset="0"/>
                <a:cs typeface="Arial" panose="020B0604020202020204" pitchFamily="34" charset="0"/>
              </a:rPr>
              <a:t>=&gt; </a:t>
            </a:r>
            <a:r>
              <a:rPr lang="en-US" sz="2400" dirty="0" err="1">
                <a:latin typeface="Arial" panose="020B0604020202020204" pitchFamily="34" charset="0"/>
                <a:cs typeface="Arial" panose="020B0604020202020204" pitchFamily="34" charset="0"/>
              </a:rPr>
              <a:t>Dùng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sll</a:t>
            </a:r>
            <a:r>
              <a:rPr lang="en-US" sz="2400" dirty="0">
                <a:latin typeface="Arial" panose="020B0604020202020204" pitchFamily="34" charset="0"/>
                <a:cs typeface="Arial" panose="020B0604020202020204" pitchFamily="34" charset="0"/>
              </a:rPr>
              <a:t> 2</a:t>
            </a:r>
          </a:p>
        </p:txBody>
      </p:sp>
    </p:spTree>
    <p:extLst>
      <p:ext uri="{BB962C8B-B14F-4D97-AF65-F5344CB8AC3E}">
        <p14:creationId xmlns:p14="http://schemas.microsoft.com/office/powerpoint/2010/main" val="3658348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Công đoạn ALU: Các lệnh Branch</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42</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3" name="Picture 7" descr="f04-09-P374493">
            <a:extLst>
              <a:ext uri="{FF2B5EF4-FFF2-40B4-BE49-F238E27FC236}">
                <a16:creationId xmlns:a16="http://schemas.microsoft.com/office/drawing/2014/main" id="{442577B1-8CE0-2F23-4568-56C0008EDA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6280" y="1479388"/>
            <a:ext cx="6268634" cy="4562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48997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sz="4000"/>
              <a:t>Datapath với  công đoạn ALU hoàn chỉnh</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grpSp>
        <p:nvGrpSpPr>
          <p:cNvPr id="3" name="Group 1">
            <a:extLst>
              <a:ext uri="{FF2B5EF4-FFF2-40B4-BE49-F238E27FC236}">
                <a16:creationId xmlns:a16="http://schemas.microsoft.com/office/drawing/2014/main" id="{E97E0E27-E00E-61D8-C492-5863287D79FA}"/>
              </a:ext>
            </a:extLst>
          </p:cNvPr>
          <p:cNvGrpSpPr/>
          <p:nvPr/>
        </p:nvGrpSpPr>
        <p:grpSpPr>
          <a:xfrm>
            <a:off x="1059635" y="2137085"/>
            <a:ext cx="8651880" cy="4097160"/>
            <a:chOff x="420120" y="1953000"/>
            <a:chExt cx="8651880" cy="3401640"/>
          </a:xfrm>
        </p:grpSpPr>
        <p:grpSp>
          <p:nvGrpSpPr>
            <p:cNvPr id="6" name="Group 2">
              <a:extLst>
                <a:ext uri="{FF2B5EF4-FFF2-40B4-BE49-F238E27FC236}">
                  <a16:creationId xmlns:a16="http://schemas.microsoft.com/office/drawing/2014/main" id="{C79A896B-1C05-EB9F-0395-0B2B175F2A71}"/>
                </a:ext>
              </a:extLst>
            </p:cNvPr>
            <p:cNvGrpSpPr/>
            <p:nvPr/>
          </p:nvGrpSpPr>
          <p:grpSpPr>
            <a:xfrm>
              <a:off x="420120" y="1953000"/>
              <a:ext cx="800280" cy="3401640"/>
              <a:chOff x="420120" y="1953000"/>
              <a:chExt cx="800280" cy="3401640"/>
            </a:xfrm>
          </p:grpSpPr>
          <p:grpSp>
            <p:nvGrpSpPr>
              <p:cNvPr id="68" name="Group 3">
                <a:extLst>
                  <a:ext uri="{FF2B5EF4-FFF2-40B4-BE49-F238E27FC236}">
                    <a16:creationId xmlns:a16="http://schemas.microsoft.com/office/drawing/2014/main" id="{B219A093-D8E1-8140-DE59-2EF14027433D}"/>
                  </a:ext>
                </a:extLst>
              </p:cNvPr>
              <p:cNvGrpSpPr/>
              <p:nvPr/>
            </p:nvGrpSpPr>
            <p:grpSpPr>
              <a:xfrm>
                <a:off x="929520" y="1953000"/>
                <a:ext cx="290880" cy="3338640"/>
                <a:chOff x="929520" y="1953000"/>
                <a:chExt cx="290880" cy="3338640"/>
              </a:xfrm>
            </p:grpSpPr>
            <p:sp>
              <p:nvSpPr>
                <p:cNvPr id="74" name="CustomShape 4">
                  <a:extLst>
                    <a:ext uri="{FF2B5EF4-FFF2-40B4-BE49-F238E27FC236}">
                      <a16:creationId xmlns:a16="http://schemas.microsoft.com/office/drawing/2014/main" id="{77B23E59-9CF7-4FB7-F83B-CAAA8794DA77}"/>
                    </a:ext>
                  </a:extLst>
                </p:cNvPr>
                <p:cNvSpPr/>
                <p:nvPr/>
              </p:nvSpPr>
              <p:spPr>
                <a:xfrm rot="5400000">
                  <a:off x="759960" y="2122200"/>
                  <a:ext cx="629640" cy="2908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000100</a:t>
                  </a:r>
                  <a:endParaRPr lang="en-US" sz="1200" b="0" strike="noStrike" spc="-1">
                    <a:latin typeface="Arial"/>
                  </a:endParaRPr>
                </a:p>
              </p:txBody>
            </p:sp>
            <p:sp>
              <p:nvSpPr>
                <p:cNvPr id="75" name="CustomShape 5">
                  <a:extLst>
                    <a:ext uri="{FF2B5EF4-FFF2-40B4-BE49-F238E27FC236}">
                      <a16:creationId xmlns:a16="http://schemas.microsoft.com/office/drawing/2014/main" id="{DE4DE200-2E97-9221-37A6-3EFE79AB7D27}"/>
                    </a:ext>
                  </a:extLst>
                </p:cNvPr>
                <p:cNvSpPr/>
                <p:nvPr/>
              </p:nvSpPr>
              <p:spPr>
                <a:xfrm rot="5400000">
                  <a:off x="807120" y="2704680"/>
                  <a:ext cx="535320" cy="2908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01001</a:t>
                  </a:r>
                  <a:endParaRPr lang="en-US" sz="1200" b="0" strike="noStrike" spc="-1">
                    <a:latin typeface="Arial"/>
                  </a:endParaRPr>
                </a:p>
              </p:txBody>
            </p:sp>
            <p:sp>
              <p:nvSpPr>
                <p:cNvPr id="76" name="CustomShape 6">
                  <a:extLst>
                    <a:ext uri="{FF2B5EF4-FFF2-40B4-BE49-F238E27FC236}">
                      <a16:creationId xmlns:a16="http://schemas.microsoft.com/office/drawing/2014/main" id="{FD6A4C67-81AC-E456-E545-7202E2FF475F}"/>
                    </a:ext>
                  </a:extLst>
                </p:cNvPr>
                <p:cNvSpPr/>
                <p:nvPr/>
              </p:nvSpPr>
              <p:spPr>
                <a:xfrm rot="5400000">
                  <a:off x="807120" y="3240360"/>
                  <a:ext cx="535320" cy="2908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00000</a:t>
                  </a:r>
                  <a:endParaRPr lang="en-US" sz="1200" b="0" strike="noStrike" spc="-1">
                    <a:latin typeface="Arial"/>
                  </a:endParaRPr>
                </a:p>
              </p:txBody>
            </p:sp>
            <p:sp>
              <p:nvSpPr>
                <p:cNvPr id="77" name="CustomShape 7">
                  <a:extLst>
                    <a:ext uri="{FF2B5EF4-FFF2-40B4-BE49-F238E27FC236}">
                      <a16:creationId xmlns:a16="http://schemas.microsoft.com/office/drawing/2014/main" id="{E3CCBA36-3EF2-4EF3-5285-A07A659A060A}"/>
                    </a:ext>
                  </a:extLst>
                </p:cNvPr>
                <p:cNvSpPr/>
                <p:nvPr/>
              </p:nvSpPr>
              <p:spPr>
                <a:xfrm rot="5400000">
                  <a:off x="255960" y="4327200"/>
                  <a:ext cx="1637640" cy="2908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0000 0000 0000 0011</a:t>
                  </a:r>
                  <a:endParaRPr lang="en-US" sz="1200" b="0" strike="noStrike" spc="-1">
                    <a:latin typeface="Arial"/>
                  </a:endParaRPr>
                </a:p>
              </p:txBody>
            </p:sp>
          </p:grpSp>
          <p:sp>
            <p:nvSpPr>
              <p:cNvPr id="69" name="CustomShape 8">
                <a:extLst>
                  <a:ext uri="{FF2B5EF4-FFF2-40B4-BE49-F238E27FC236}">
                    <a16:creationId xmlns:a16="http://schemas.microsoft.com/office/drawing/2014/main" id="{122C74D0-9005-B752-A375-8372AAD8A5E1}"/>
                  </a:ext>
                </a:extLst>
              </p:cNvPr>
              <p:cNvSpPr/>
              <p:nvPr/>
            </p:nvSpPr>
            <p:spPr>
              <a:xfrm rot="5400000">
                <a:off x="-175680" y="4249800"/>
                <a:ext cx="1700640" cy="509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Immediate</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15:0</a:t>
                </a:r>
                <a:endParaRPr lang="en-US" sz="1200" b="0" strike="noStrike" spc="-1">
                  <a:latin typeface="Arial"/>
                </a:endParaRPr>
              </a:p>
            </p:txBody>
          </p:sp>
          <p:grpSp>
            <p:nvGrpSpPr>
              <p:cNvPr id="70" name="Group 9">
                <a:extLst>
                  <a:ext uri="{FF2B5EF4-FFF2-40B4-BE49-F238E27FC236}">
                    <a16:creationId xmlns:a16="http://schemas.microsoft.com/office/drawing/2014/main" id="{1EC46631-1D6D-4C94-5BF7-E8C7B02395F6}"/>
                  </a:ext>
                </a:extLst>
              </p:cNvPr>
              <p:cNvGrpSpPr/>
              <p:nvPr/>
            </p:nvGrpSpPr>
            <p:grpSpPr>
              <a:xfrm>
                <a:off x="492840" y="1953000"/>
                <a:ext cx="436320" cy="1700640"/>
                <a:chOff x="492840" y="1953000"/>
                <a:chExt cx="436320" cy="1700640"/>
              </a:xfrm>
            </p:grpSpPr>
            <p:sp>
              <p:nvSpPr>
                <p:cNvPr id="71" name="CustomShape 10">
                  <a:extLst>
                    <a:ext uri="{FF2B5EF4-FFF2-40B4-BE49-F238E27FC236}">
                      <a16:creationId xmlns:a16="http://schemas.microsoft.com/office/drawing/2014/main" id="{9A935BD8-A005-2A42-9B66-4FA3057CC22B}"/>
                    </a:ext>
                  </a:extLst>
                </p:cNvPr>
                <p:cNvSpPr/>
                <p:nvPr/>
              </p:nvSpPr>
              <p:spPr>
                <a:xfrm rot="5400000">
                  <a:off x="396000" y="2049480"/>
                  <a:ext cx="629640" cy="43632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opcode</a:t>
                  </a:r>
                  <a:endParaRPr lang="en-US" sz="1200" b="0" strike="noStrike" spc="-1">
                    <a:latin typeface="Arial"/>
                  </a:endParaRPr>
                </a:p>
                <a:p>
                  <a:pPr algn="ctr">
                    <a:lnSpc>
                      <a:spcPct val="100000"/>
                    </a:lnSpc>
                  </a:pPr>
                  <a:r>
                    <a:rPr lang="en-US" sz="1200" b="1" strike="noStrike" spc="-1">
                      <a:solidFill>
                        <a:srgbClr val="660066"/>
                      </a:solidFill>
                      <a:latin typeface="Courier New"/>
                      <a:ea typeface="ＭＳ Ｐゴシック"/>
                    </a:rPr>
                    <a:t>31:26</a:t>
                  </a:r>
                  <a:endParaRPr lang="en-US" sz="1200" b="0" strike="noStrike" spc="-1">
                    <a:latin typeface="Arial"/>
                  </a:endParaRPr>
                </a:p>
              </p:txBody>
            </p:sp>
            <p:sp>
              <p:nvSpPr>
                <p:cNvPr id="72" name="CustomShape 11">
                  <a:extLst>
                    <a:ext uri="{FF2B5EF4-FFF2-40B4-BE49-F238E27FC236}">
                      <a16:creationId xmlns:a16="http://schemas.microsoft.com/office/drawing/2014/main" id="{32D0B252-900F-3C6F-DF1E-87F657320AAD}"/>
                    </a:ext>
                  </a:extLst>
                </p:cNvPr>
                <p:cNvSpPr/>
                <p:nvPr/>
              </p:nvSpPr>
              <p:spPr>
                <a:xfrm rot="5400000">
                  <a:off x="443160" y="2631960"/>
                  <a:ext cx="535320" cy="43632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rs</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25:21</a:t>
                  </a:r>
                  <a:endParaRPr lang="en-US" sz="1200" b="0" strike="noStrike" spc="-1">
                    <a:latin typeface="Arial"/>
                  </a:endParaRPr>
                </a:p>
              </p:txBody>
            </p:sp>
            <p:sp>
              <p:nvSpPr>
                <p:cNvPr id="73" name="CustomShape 12">
                  <a:extLst>
                    <a:ext uri="{FF2B5EF4-FFF2-40B4-BE49-F238E27FC236}">
                      <a16:creationId xmlns:a16="http://schemas.microsoft.com/office/drawing/2014/main" id="{EA0C3FD4-8857-DD5B-6AE3-48468F52BF66}"/>
                    </a:ext>
                  </a:extLst>
                </p:cNvPr>
                <p:cNvSpPr/>
                <p:nvPr/>
              </p:nvSpPr>
              <p:spPr>
                <a:xfrm rot="5400000">
                  <a:off x="443160" y="3167640"/>
                  <a:ext cx="535320" cy="43632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rt</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20:16</a:t>
                  </a:r>
                  <a:endParaRPr lang="en-US" sz="1200" b="0" strike="noStrike" spc="-1">
                    <a:latin typeface="Arial"/>
                  </a:endParaRPr>
                </a:p>
              </p:txBody>
            </p:sp>
          </p:grpSp>
        </p:grpSp>
        <p:sp>
          <p:nvSpPr>
            <p:cNvPr id="7" name="Line 13">
              <a:extLst>
                <a:ext uri="{FF2B5EF4-FFF2-40B4-BE49-F238E27FC236}">
                  <a16:creationId xmlns:a16="http://schemas.microsoft.com/office/drawing/2014/main" id="{EE308B0A-B256-5276-B25B-EB74B3147B22}"/>
                </a:ext>
              </a:extLst>
            </p:cNvPr>
            <p:cNvSpPr/>
            <p:nvPr/>
          </p:nvSpPr>
          <p:spPr>
            <a:xfrm>
              <a:off x="4336920" y="4031640"/>
              <a:ext cx="360" cy="2217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8" name="CustomShape 14">
              <a:extLst>
                <a:ext uri="{FF2B5EF4-FFF2-40B4-BE49-F238E27FC236}">
                  <a16:creationId xmlns:a16="http://schemas.microsoft.com/office/drawing/2014/main" id="{76891C2F-8CBC-D0D8-7C55-46875AA52FC9}"/>
                </a:ext>
              </a:extLst>
            </p:cNvPr>
            <p:cNvSpPr/>
            <p:nvPr/>
          </p:nvSpPr>
          <p:spPr>
            <a:xfrm>
              <a:off x="3494160" y="2645640"/>
              <a:ext cx="1796400" cy="149328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9" name="CustomShape 15">
              <a:extLst>
                <a:ext uri="{FF2B5EF4-FFF2-40B4-BE49-F238E27FC236}">
                  <a16:creationId xmlns:a16="http://schemas.microsoft.com/office/drawing/2014/main" id="{018130A7-B20F-A14F-9DD9-98001AAE8B5F}"/>
                </a:ext>
              </a:extLst>
            </p:cNvPr>
            <p:cNvSpPr/>
            <p:nvPr/>
          </p:nvSpPr>
          <p:spPr>
            <a:xfrm>
              <a:off x="3473280" y="2700720"/>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10" name="CustomShape 16">
              <a:extLst>
                <a:ext uri="{FF2B5EF4-FFF2-40B4-BE49-F238E27FC236}">
                  <a16:creationId xmlns:a16="http://schemas.microsoft.com/office/drawing/2014/main" id="{7BBDBA41-DAF8-DD25-A477-2BCFC1A0551E}"/>
                </a:ext>
              </a:extLst>
            </p:cNvPr>
            <p:cNvSpPr/>
            <p:nvPr/>
          </p:nvSpPr>
          <p:spPr>
            <a:xfrm>
              <a:off x="3473280" y="3069720"/>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11" name="CustomShape 17">
              <a:extLst>
                <a:ext uri="{FF2B5EF4-FFF2-40B4-BE49-F238E27FC236}">
                  <a16:creationId xmlns:a16="http://schemas.microsoft.com/office/drawing/2014/main" id="{BB2D9FDE-297E-0B7D-9C49-120C545CED2B}"/>
                </a:ext>
              </a:extLst>
            </p:cNvPr>
            <p:cNvSpPr/>
            <p:nvPr/>
          </p:nvSpPr>
          <p:spPr>
            <a:xfrm>
              <a:off x="3476160" y="3417480"/>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12" name="CustomShape 18">
              <a:extLst>
                <a:ext uri="{FF2B5EF4-FFF2-40B4-BE49-F238E27FC236}">
                  <a16:creationId xmlns:a16="http://schemas.microsoft.com/office/drawing/2014/main" id="{146EC048-F875-ED27-C068-DDBAD4B5509E}"/>
                </a:ext>
              </a:extLst>
            </p:cNvPr>
            <p:cNvSpPr/>
            <p:nvPr/>
          </p:nvSpPr>
          <p:spPr>
            <a:xfrm>
              <a:off x="3483360" y="3795480"/>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13" name="CustomShape 19">
              <a:extLst>
                <a:ext uri="{FF2B5EF4-FFF2-40B4-BE49-F238E27FC236}">
                  <a16:creationId xmlns:a16="http://schemas.microsoft.com/office/drawing/2014/main" id="{73B9E398-F116-7101-D212-D3D5549B6C60}"/>
                </a:ext>
              </a:extLst>
            </p:cNvPr>
            <p:cNvSpPr/>
            <p:nvPr/>
          </p:nvSpPr>
          <p:spPr>
            <a:xfrm>
              <a:off x="4671360" y="2748240"/>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14" name="CustomShape 20">
              <a:extLst>
                <a:ext uri="{FF2B5EF4-FFF2-40B4-BE49-F238E27FC236}">
                  <a16:creationId xmlns:a16="http://schemas.microsoft.com/office/drawing/2014/main" id="{7F1F1C03-7617-90D8-57DC-1155FD762CD6}"/>
                </a:ext>
              </a:extLst>
            </p:cNvPr>
            <p:cNvSpPr/>
            <p:nvPr/>
          </p:nvSpPr>
          <p:spPr>
            <a:xfrm>
              <a:off x="4671360" y="3606480"/>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15" name="Line 21">
              <a:extLst>
                <a:ext uri="{FF2B5EF4-FFF2-40B4-BE49-F238E27FC236}">
                  <a16:creationId xmlns:a16="http://schemas.microsoft.com/office/drawing/2014/main" id="{66850AA2-2E6D-374E-25E6-F10B71D4187F}"/>
                </a:ext>
              </a:extLst>
            </p:cNvPr>
            <p:cNvSpPr/>
            <p:nvPr/>
          </p:nvSpPr>
          <p:spPr>
            <a:xfrm>
              <a:off x="2894760" y="2897640"/>
              <a:ext cx="59904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6" name="Line 22">
              <a:extLst>
                <a:ext uri="{FF2B5EF4-FFF2-40B4-BE49-F238E27FC236}">
                  <a16:creationId xmlns:a16="http://schemas.microsoft.com/office/drawing/2014/main" id="{AB223F71-BAC0-721D-D4E7-02B14041BB19}"/>
                </a:ext>
              </a:extLst>
            </p:cNvPr>
            <p:cNvSpPr/>
            <p:nvPr/>
          </p:nvSpPr>
          <p:spPr>
            <a:xfrm>
              <a:off x="2894760" y="3212640"/>
              <a:ext cx="599040" cy="133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7" name="Line 23">
              <a:extLst>
                <a:ext uri="{FF2B5EF4-FFF2-40B4-BE49-F238E27FC236}">
                  <a16:creationId xmlns:a16="http://schemas.microsoft.com/office/drawing/2014/main" id="{AF6E7112-28BB-59D4-A9D0-45E48C665378}"/>
                </a:ext>
              </a:extLst>
            </p:cNvPr>
            <p:cNvSpPr/>
            <p:nvPr/>
          </p:nvSpPr>
          <p:spPr>
            <a:xfrm flipV="1">
              <a:off x="2967480" y="3583800"/>
              <a:ext cx="526320" cy="68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8" name="Line 24">
              <a:extLst>
                <a:ext uri="{FF2B5EF4-FFF2-40B4-BE49-F238E27FC236}">
                  <a16:creationId xmlns:a16="http://schemas.microsoft.com/office/drawing/2014/main" id="{7F9426E8-26FF-ECDD-FF90-E0251497B63E}"/>
                </a:ext>
              </a:extLst>
            </p:cNvPr>
            <p:cNvSpPr/>
            <p:nvPr/>
          </p:nvSpPr>
          <p:spPr>
            <a:xfrm>
              <a:off x="3016080" y="3961800"/>
              <a:ext cx="4777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9" name="Line 25">
              <a:extLst>
                <a:ext uri="{FF2B5EF4-FFF2-40B4-BE49-F238E27FC236}">
                  <a16:creationId xmlns:a16="http://schemas.microsoft.com/office/drawing/2014/main" id="{BEEE6C8D-5E7E-35C9-E0D6-C7FA1513A5DE}"/>
                </a:ext>
              </a:extLst>
            </p:cNvPr>
            <p:cNvSpPr/>
            <p:nvPr/>
          </p:nvSpPr>
          <p:spPr>
            <a:xfrm>
              <a:off x="5292000" y="2897640"/>
              <a:ext cx="151200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0" name="Line 26">
              <a:extLst>
                <a:ext uri="{FF2B5EF4-FFF2-40B4-BE49-F238E27FC236}">
                  <a16:creationId xmlns:a16="http://schemas.microsoft.com/office/drawing/2014/main" id="{743D39BD-9A1A-4AA6-3080-09248AFEEFCE}"/>
                </a:ext>
              </a:extLst>
            </p:cNvPr>
            <p:cNvSpPr/>
            <p:nvPr/>
          </p:nvSpPr>
          <p:spPr>
            <a:xfrm>
              <a:off x="5290920" y="3788640"/>
              <a:ext cx="102528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1" name="CustomShape 27">
              <a:extLst>
                <a:ext uri="{FF2B5EF4-FFF2-40B4-BE49-F238E27FC236}">
                  <a16:creationId xmlns:a16="http://schemas.microsoft.com/office/drawing/2014/main" id="{9361A74F-E66E-0F98-84E5-43AE38A64F80}"/>
                </a:ext>
              </a:extLst>
            </p:cNvPr>
            <p:cNvSpPr/>
            <p:nvPr/>
          </p:nvSpPr>
          <p:spPr>
            <a:xfrm>
              <a:off x="4388040" y="3149640"/>
              <a:ext cx="90648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Register</a:t>
              </a:r>
              <a:endParaRPr lang="en-US" sz="1200" b="0" strike="noStrike" spc="-1">
                <a:latin typeface="Arial"/>
              </a:endParaRPr>
            </a:p>
            <a:p>
              <a:pPr algn="ctr">
                <a:lnSpc>
                  <a:spcPct val="100000"/>
                </a:lnSpc>
              </a:pPr>
              <a:r>
                <a:rPr lang="en-US" sz="1200" b="1" i="1" strike="noStrike" spc="-1">
                  <a:solidFill>
                    <a:srgbClr val="000000"/>
                  </a:solidFill>
                  <a:latin typeface="Verdana"/>
                  <a:ea typeface="ＭＳ Ｐゴシック"/>
                </a:rPr>
                <a:t>File</a:t>
              </a:r>
              <a:endParaRPr lang="en-US" sz="1200" b="0" strike="noStrike" spc="-1">
                <a:latin typeface="Arial"/>
              </a:endParaRPr>
            </a:p>
          </p:txBody>
        </p:sp>
        <p:sp>
          <p:nvSpPr>
            <p:cNvPr id="22" name="Line 28">
              <a:extLst>
                <a:ext uri="{FF2B5EF4-FFF2-40B4-BE49-F238E27FC236}">
                  <a16:creationId xmlns:a16="http://schemas.microsoft.com/office/drawing/2014/main" id="{5491EAE5-BCE9-1134-C788-1B8BC784E0C8}"/>
                </a:ext>
              </a:extLst>
            </p:cNvPr>
            <p:cNvSpPr/>
            <p:nvPr/>
          </p:nvSpPr>
          <p:spPr>
            <a:xfrm flipH="1">
              <a:off x="3126600" y="2837160"/>
              <a:ext cx="11088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3" name="Line 29">
              <a:extLst>
                <a:ext uri="{FF2B5EF4-FFF2-40B4-BE49-F238E27FC236}">
                  <a16:creationId xmlns:a16="http://schemas.microsoft.com/office/drawing/2014/main" id="{2D11E59F-D5DE-C79C-A774-3E84E4AA6A5E}"/>
                </a:ext>
              </a:extLst>
            </p:cNvPr>
            <p:cNvSpPr/>
            <p:nvPr/>
          </p:nvSpPr>
          <p:spPr>
            <a:xfrm flipH="1">
              <a:off x="3126600" y="3154680"/>
              <a:ext cx="110880" cy="1407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4" name="Line 30">
              <a:extLst>
                <a:ext uri="{FF2B5EF4-FFF2-40B4-BE49-F238E27FC236}">
                  <a16:creationId xmlns:a16="http://schemas.microsoft.com/office/drawing/2014/main" id="{5A23219B-CD8B-529D-1C53-5E8B58FE463F}"/>
                </a:ext>
              </a:extLst>
            </p:cNvPr>
            <p:cNvSpPr/>
            <p:nvPr/>
          </p:nvSpPr>
          <p:spPr>
            <a:xfrm flipH="1">
              <a:off x="3126600" y="3513240"/>
              <a:ext cx="11088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5" name="CustomShape 31">
              <a:extLst>
                <a:ext uri="{FF2B5EF4-FFF2-40B4-BE49-F238E27FC236}">
                  <a16:creationId xmlns:a16="http://schemas.microsoft.com/office/drawing/2014/main" id="{7AC3CB40-4F61-ABC5-C780-472E41C35B9F}"/>
                </a:ext>
              </a:extLst>
            </p:cNvPr>
            <p:cNvSpPr/>
            <p:nvPr/>
          </p:nvSpPr>
          <p:spPr>
            <a:xfrm>
              <a:off x="3020040" y="270900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6" name="CustomShape 32">
              <a:extLst>
                <a:ext uri="{FF2B5EF4-FFF2-40B4-BE49-F238E27FC236}">
                  <a16:creationId xmlns:a16="http://schemas.microsoft.com/office/drawing/2014/main" id="{CD125E9A-2B09-B1E2-4459-EAFAD795F2E2}"/>
                </a:ext>
              </a:extLst>
            </p:cNvPr>
            <p:cNvSpPr/>
            <p:nvPr/>
          </p:nvSpPr>
          <p:spPr>
            <a:xfrm>
              <a:off x="2991240" y="3039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7" name="CustomShape 33">
              <a:extLst>
                <a:ext uri="{FF2B5EF4-FFF2-40B4-BE49-F238E27FC236}">
                  <a16:creationId xmlns:a16="http://schemas.microsoft.com/office/drawing/2014/main" id="{88D00107-F4A4-A71C-5114-40539591EC5C}"/>
                </a:ext>
              </a:extLst>
            </p:cNvPr>
            <p:cNvSpPr/>
            <p:nvPr/>
          </p:nvSpPr>
          <p:spPr>
            <a:xfrm>
              <a:off x="2991240" y="3417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8" name="Line 34">
              <a:extLst>
                <a:ext uri="{FF2B5EF4-FFF2-40B4-BE49-F238E27FC236}">
                  <a16:creationId xmlns:a16="http://schemas.microsoft.com/office/drawing/2014/main" id="{C92D56A1-5E7F-348B-DF27-00DEC8009AEF}"/>
                </a:ext>
              </a:extLst>
            </p:cNvPr>
            <p:cNvSpPr/>
            <p:nvPr/>
          </p:nvSpPr>
          <p:spPr>
            <a:xfrm>
              <a:off x="1220400" y="2850120"/>
              <a:ext cx="1674360" cy="47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9" name="Line 35">
              <a:extLst>
                <a:ext uri="{FF2B5EF4-FFF2-40B4-BE49-F238E27FC236}">
                  <a16:creationId xmlns:a16="http://schemas.microsoft.com/office/drawing/2014/main" id="{0ACA9BD1-FCA6-4DF6-E88D-53F5E8FE0010}"/>
                </a:ext>
              </a:extLst>
            </p:cNvPr>
            <p:cNvSpPr/>
            <p:nvPr/>
          </p:nvSpPr>
          <p:spPr>
            <a:xfrm flipV="1">
              <a:off x="1220400" y="3212640"/>
              <a:ext cx="1674360" cy="173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0" name="Line 36">
              <a:extLst>
                <a:ext uri="{FF2B5EF4-FFF2-40B4-BE49-F238E27FC236}">
                  <a16:creationId xmlns:a16="http://schemas.microsoft.com/office/drawing/2014/main" id="{6CB5D8DE-848B-7017-310E-D6BA51A06E77}"/>
                </a:ext>
              </a:extLst>
            </p:cNvPr>
            <p:cNvSpPr/>
            <p:nvPr/>
          </p:nvSpPr>
          <p:spPr>
            <a:xfrm flipV="1">
              <a:off x="1220400" y="4142160"/>
              <a:ext cx="1091880" cy="1548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1" name="CustomShape 37">
              <a:extLst>
                <a:ext uri="{FF2B5EF4-FFF2-40B4-BE49-F238E27FC236}">
                  <a16:creationId xmlns:a16="http://schemas.microsoft.com/office/drawing/2014/main" id="{2A7EA36C-0420-CD2D-5BC7-1A6668717E94}"/>
                </a:ext>
              </a:extLst>
            </p:cNvPr>
            <p:cNvSpPr/>
            <p:nvPr/>
          </p:nvSpPr>
          <p:spPr>
            <a:xfrm>
              <a:off x="1294560" y="2645640"/>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32" name="CustomShape 38">
              <a:extLst>
                <a:ext uri="{FF2B5EF4-FFF2-40B4-BE49-F238E27FC236}">
                  <a16:creationId xmlns:a16="http://schemas.microsoft.com/office/drawing/2014/main" id="{A619D6AC-E897-4298-5652-CD01F662FFF9}"/>
                </a:ext>
              </a:extLst>
            </p:cNvPr>
            <p:cNvSpPr/>
            <p:nvPr/>
          </p:nvSpPr>
          <p:spPr>
            <a:xfrm rot="21202800">
              <a:off x="1221840" y="3109680"/>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33" name="CustomShape 39">
              <a:extLst>
                <a:ext uri="{FF2B5EF4-FFF2-40B4-BE49-F238E27FC236}">
                  <a16:creationId xmlns:a16="http://schemas.microsoft.com/office/drawing/2014/main" id="{ACFE0099-F125-F5E3-84D8-B595EAC52350}"/>
                </a:ext>
              </a:extLst>
            </p:cNvPr>
            <p:cNvSpPr/>
            <p:nvPr/>
          </p:nvSpPr>
          <p:spPr>
            <a:xfrm>
              <a:off x="1221840" y="3953160"/>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34" name="CustomShape 40">
              <a:extLst>
                <a:ext uri="{FF2B5EF4-FFF2-40B4-BE49-F238E27FC236}">
                  <a16:creationId xmlns:a16="http://schemas.microsoft.com/office/drawing/2014/main" id="{CCCD4C43-3F84-D108-3B39-2E993EB5CB2F}"/>
                </a:ext>
              </a:extLst>
            </p:cNvPr>
            <p:cNvSpPr/>
            <p:nvPr/>
          </p:nvSpPr>
          <p:spPr>
            <a:xfrm>
              <a:off x="2312640" y="3527640"/>
              <a:ext cx="290880" cy="755640"/>
            </a:xfrm>
            <a:prstGeom prst="roundRect">
              <a:avLst>
                <a:gd name="adj" fmla="val 16667"/>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35" name="CustomShape 41">
              <a:extLst>
                <a:ext uri="{FF2B5EF4-FFF2-40B4-BE49-F238E27FC236}">
                  <a16:creationId xmlns:a16="http://schemas.microsoft.com/office/drawing/2014/main" id="{9C0AE5D3-3FBB-167C-13D2-9F6DCF69E418}"/>
                </a:ext>
              </a:extLst>
            </p:cNvPr>
            <p:cNvSpPr/>
            <p:nvPr/>
          </p:nvSpPr>
          <p:spPr>
            <a:xfrm rot="16200000" flipH="1">
              <a:off x="1796760" y="3264120"/>
              <a:ext cx="468720" cy="562320"/>
            </a:xfrm>
            <a:prstGeom prst="bentConnector2">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6" name="Line 42">
              <a:extLst>
                <a:ext uri="{FF2B5EF4-FFF2-40B4-BE49-F238E27FC236}">
                  <a16:creationId xmlns:a16="http://schemas.microsoft.com/office/drawing/2014/main" id="{504296CB-B850-C4DB-3585-F19B6D1301D4}"/>
                </a:ext>
              </a:extLst>
            </p:cNvPr>
            <p:cNvSpPr/>
            <p:nvPr/>
          </p:nvSpPr>
          <p:spPr>
            <a:xfrm flipV="1">
              <a:off x="2603520" y="3590640"/>
              <a:ext cx="363960" cy="31500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7" name="CustomShape 43">
              <a:extLst>
                <a:ext uri="{FF2B5EF4-FFF2-40B4-BE49-F238E27FC236}">
                  <a16:creationId xmlns:a16="http://schemas.microsoft.com/office/drawing/2014/main" id="{3E797BB5-1D24-6104-C696-C856B78687D1}"/>
                </a:ext>
              </a:extLst>
            </p:cNvPr>
            <p:cNvSpPr/>
            <p:nvPr/>
          </p:nvSpPr>
          <p:spPr>
            <a:xfrm>
              <a:off x="2039760" y="4472640"/>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RegDst</a:t>
              </a:r>
              <a:endParaRPr lang="en-US" sz="1600" b="0" strike="noStrike" spc="-1">
                <a:latin typeface="Arial"/>
              </a:endParaRPr>
            </a:p>
          </p:txBody>
        </p:sp>
        <p:sp>
          <p:nvSpPr>
            <p:cNvPr id="38" name="Line 44">
              <a:extLst>
                <a:ext uri="{FF2B5EF4-FFF2-40B4-BE49-F238E27FC236}">
                  <a16:creationId xmlns:a16="http://schemas.microsoft.com/office/drawing/2014/main" id="{7F0B076D-FA23-E497-ECFD-70969CFC75B0}"/>
                </a:ext>
              </a:extLst>
            </p:cNvPr>
            <p:cNvSpPr/>
            <p:nvPr/>
          </p:nvSpPr>
          <p:spPr>
            <a:xfrm>
              <a:off x="2458080" y="4283640"/>
              <a:ext cx="360" cy="22176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9" name="CustomShape 45">
              <a:extLst>
                <a:ext uri="{FF2B5EF4-FFF2-40B4-BE49-F238E27FC236}">
                  <a16:creationId xmlns:a16="http://schemas.microsoft.com/office/drawing/2014/main" id="{B431A45C-F293-144E-2375-4A7C28926742}"/>
                </a:ext>
              </a:extLst>
            </p:cNvPr>
            <p:cNvSpPr/>
            <p:nvPr/>
          </p:nvSpPr>
          <p:spPr>
            <a:xfrm flipV="1">
              <a:off x="4605840" y="4280134"/>
              <a:ext cx="1623240" cy="613800"/>
            </a:xfrm>
            <a:prstGeom prst="bentConnector3">
              <a:avLst>
                <a:gd name="adj1" fmla="val 60347"/>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0" name="CustomShape 46">
              <a:extLst>
                <a:ext uri="{FF2B5EF4-FFF2-40B4-BE49-F238E27FC236}">
                  <a16:creationId xmlns:a16="http://schemas.microsoft.com/office/drawing/2014/main" id="{4903E687-A1AD-3A66-2564-19ADBA8746FE}"/>
                </a:ext>
              </a:extLst>
            </p:cNvPr>
            <p:cNvSpPr/>
            <p:nvPr/>
          </p:nvSpPr>
          <p:spPr>
            <a:xfrm>
              <a:off x="1226880" y="4724640"/>
              <a:ext cx="9295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[15:0]</a:t>
              </a:r>
              <a:endParaRPr lang="en-US" sz="1000" b="0" strike="noStrike" spc="-1">
                <a:latin typeface="Arial"/>
              </a:endParaRPr>
            </a:p>
          </p:txBody>
        </p:sp>
        <p:sp>
          <p:nvSpPr>
            <p:cNvPr id="41" name="CustomShape 47">
              <a:extLst>
                <a:ext uri="{FF2B5EF4-FFF2-40B4-BE49-F238E27FC236}">
                  <a16:creationId xmlns:a16="http://schemas.microsoft.com/office/drawing/2014/main" id="{0FCD9033-C626-F763-C3E4-889D8F12F955}"/>
                </a:ext>
              </a:extLst>
            </p:cNvPr>
            <p:cNvSpPr/>
            <p:nvPr/>
          </p:nvSpPr>
          <p:spPr>
            <a:xfrm>
              <a:off x="6054120" y="3654000"/>
              <a:ext cx="290880" cy="755640"/>
            </a:xfrm>
            <a:prstGeom prst="roundRect">
              <a:avLst>
                <a:gd name="adj" fmla="val 16667"/>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42" name="CustomShape 48">
              <a:extLst>
                <a:ext uri="{FF2B5EF4-FFF2-40B4-BE49-F238E27FC236}">
                  <a16:creationId xmlns:a16="http://schemas.microsoft.com/office/drawing/2014/main" id="{BF1A7083-33CA-11A8-D78E-EDC77CCD0FAA}"/>
                </a:ext>
              </a:extLst>
            </p:cNvPr>
            <p:cNvSpPr/>
            <p:nvPr/>
          </p:nvSpPr>
          <p:spPr>
            <a:xfrm>
              <a:off x="5781240" y="4599000"/>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ALUSrc</a:t>
              </a:r>
              <a:endParaRPr lang="en-US" sz="1600" b="0" strike="noStrike" spc="-1">
                <a:latin typeface="Arial"/>
              </a:endParaRPr>
            </a:p>
          </p:txBody>
        </p:sp>
        <p:sp>
          <p:nvSpPr>
            <p:cNvPr id="43" name="Line 49">
              <a:extLst>
                <a:ext uri="{FF2B5EF4-FFF2-40B4-BE49-F238E27FC236}">
                  <a16:creationId xmlns:a16="http://schemas.microsoft.com/office/drawing/2014/main" id="{4C045621-94AA-AD67-6352-394DD5C27074}"/>
                </a:ext>
              </a:extLst>
            </p:cNvPr>
            <p:cNvSpPr/>
            <p:nvPr/>
          </p:nvSpPr>
          <p:spPr>
            <a:xfrm>
              <a:off x="6199560" y="4409640"/>
              <a:ext cx="360" cy="221760"/>
            </a:xfrm>
            <a:prstGeom prst="line">
              <a:avLst/>
            </a:prstGeom>
            <a:ln w="1908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4" name="Line 50">
              <a:extLst>
                <a:ext uri="{FF2B5EF4-FFF2-40B4-BE49-F238E27FC236}">
                  <a16:creationId xmlns:a16="http://schemas.microsoft.com/office/drawing/2014/main" id="{B88760D8-51A5-3B7F-F7C0-37E0AC9679C9}"/>
                </a:ext>
              </a:extLst>
            </p:cNvPr>
            <p:cNvSpPr/>
            <p:nvPr/>
          </p:nvSpPr>
          <p:spPr>
            <a:xfrm>
              <a:off x="1220400" y="4913640"/>
              <a:ext cx="2256480" cy="360"/>
            </a:xfrm>
            <a:prstGeom prst="line">
              <a:avLst/>
            </a:prstGeom>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5" name="Line 51">
              <a:extLst>
                <a:ext uri="{FF2B5EF4-FFF2-40B4-BE49-F238E27FC236}">
                  <a16:creationId xmlns:a16="http://schemas.microsoft.com/office/drawing/2014/main" id="{31C86F8B-0494-1E12-C27B-D54A48A594D7}"/>
                </a:ext>
              </a:extLst>
            </p:cNvPr>
            <p:cNvSpPr/>
            <p:nvPr/>
          </p:nvSpPr>
          <p:spPr>
            <a:xfrm>
              <a:off x="6345000" y="4031640"/>
              <a:ext cx="45900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46" name="CustomShape 52">
              <a:extLst>
                <a:ext uri="{FF2B5EF4-FFF2-40B4-BE49-F238E27FC236}">
                  <a16:creationId xmlns:a16="http://schemas.microsoft.com/office/drawing/2014/main" id="{242761F7-3DD5-7E39-3230-D97A05D951F3}"/>
                </a:ext>
              </a:extLst>
            </p:cNvPr>
            <p:cNvSpPr/>
            <p:nvPr/>
          </p:nvSpPr>
          <p:spPr>
            <a:xfrm>
              <a:off x="3844440" y="4239000"/>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sp>
          <p:nvSpPr>
            <p:cNvPr id="47" name="CustomShape 53">
              <a:extLst>
                <a:ext uri="{FF2B5EF4-FFF2-40B4-BE49-F238E27FC236}">
                  <a16:creationId xmlns:a16="http://schemas.microsoft.com/office/drawing/2014/main" id="{150A90B3-64A7-2061-B551-C1ECAEFC5D1A}"/>
                </a:ext>
              </a:extLst>
            </p:cNvPr>
            <p:cNvSpPr/>
            <p:nvPr/>
          </p:nvSpPr>
          <p:spPr>
            <a:xfrm>
              <a:off x="3359880" y="4661640"/>
              <a:ext cx="1259640" cy="441000"/>
            </a:xfrm>
            <a:prstGeom prst="ellipse">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400" b="0" strike="noStrike" spc="-1">
                  <a:solidFill>
                    <a:srgbClr val="000000"/>
                  </a:solidFill>
                  <a:latin typeface="Times New Roman"/>
                  <a:ea typeface="ＭＳ Ｐゴシック"/>
                </a:rPr>
                <a:t>Sign Extend</a:t>
              </a:r>
              <a:endParaRPr lang="en-US" sz="1400" b="0" strike="noStrike" spc="-1">
                <a:latin typeface="Arial"/>
              </a:endParaRPr>
            </a:p>
          </p:txBody>
        </p:sp>
        <p:sp>
          <p:nvSpPr>
            <p:cNvPr id="48" name="Line 54">
              <a:extLst>
                <a:ext uri="{FF2B5EF4-FFF2-40B4-BE49-F238E27FC236}">
                  <a16:creationId xmlns:a16="http://schemas.microsoft.com/office/drawing/2014/main" id="{CC5E177E-0D27-B29A-7481-E4399DCF9D9D}"/>
                </a:ext>
              </a:extLst>
            </p:cNvPr>
            <p:cNvSpPr/>
            <p:nvPr/>
          </p:nvSpPr>
          <p:spPr>
            <a:xfrm flipH="1">
              <a:off x="3148200" y="4836240"/>
              <a:ext cx="11052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9" name="CustomShape 55">
              <a:extLst>
                <a:ext uri="{FF2B5EF4-FFF2-40B4-BE49-F238E27FC236}">
                  <a16:creationId xmlns:a16="http://schemas.microsoft.com/office/drawing/2014/main" id="{1C64C2C4-9834-92EB-BA7B-46DCA030C8C6}"/>
                </a:ext>
              </a:extLst>
            </p:cNvPr>
            <p:cNvSpPr/>
            <p:nvPr/>
          </p:nvSpPr>
          <p:spPr>
            <a:xfrm>
              <a:off x="2919960" y="4740480"/>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16</a:t>
              </a:r>
              <a:endParaRPr lang="en-US" sz="1000" b="0" strike="noStrike" spc="-1">
                <a:latin typeface="Arial"/>
              </a:endParaRPr>
            </a:p>
          </p:txBody>
        </p:sp>
        <p:sp>
          <p:nvSpPr>
            <p:cNvPr id="50" name="CustomShape 56">
              <a:extLst>
                <a:ext uri="{FF2B5EF4-FFF2-40B4-BE49-F238E27FC236}">
                  <a16:creationId xmlns:a16="http://schemas.microsoft.com/office/drawing/2014/main" id="{3103CB49-33A2-6039-6747-E526D5233DA0}"/>
                </a:ext>
              </a:extLst>
            </p:cNvPr>
            <p:cNvSpPr/>
            <p:nvPr/>
          </p:nvSpPr>
          <p:spPr>
            <a:xfrm>
              <a:off x="4622760" y="4724640"/>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32</a:t>
              </a:r>
              <a:endParaRPr lang="en-US" sz="1000" b="0" strike="noStrike" spc="-1">
                <a:latin typeface="Arial"/>
              </a:endParaRPr>
            </a:p>
          </p:txBody>
        </p:sp>
        <p:sp>
          <p:nvSpPr>
            <p:cNvPr id="51" name="Line 57">
              <a:extLst>
                <a:ext uri="{FF2B5EF4-FFF2-40B4-BE49-F238E27FC236}">
                  <a16:creationId xmlns:a16="http://schemas.microsoft.com/office/drawing/2014/main" id="{CE0BEFC3-2954-4898-5A11-2B375A98F17C}"/>
                </a:ext>
              </a:extLst>
            </p:cNvPr>
            <p:cNvSpPr/>
            <p:nvPr/>
          </p:nvSpPr>
          <p:spPr>
            <a:xfrm flipH="1">
              <a:off x="4862880" y="4808880"/>
              <a:ext cx="11088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2" name="Line 58">
              <a:extLst>
                <a:ext uri="{FF2B5EF4-FFF2-40B4-BE49-F238E27FC236}">
                  <a16:creationId xmlns:a16="http://schemas.microsoft.com/office/drawing/2014/main" id="{61F64E42-F202-222A-808C-19430FF25286}"/>
                </a:ext>
              </a:extLst>
            </p:cNvPr>
            <p:cNvSpPr/>
            <p:nvPr/>
          </p:nvSpPr>
          <p:spPr>
            <a:xfrm>
              <a:off x="6804000" y="2804400"/>
              <a:ext cx="1270080" cy="3492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3" name="Line 59">
              <a:extLst>
                <a:ext uri="{FF2B5EF4-FFF2-40B4-BE49-F238E27FC236}">
                  <a16:creationId xmlns:a16="http://schemas.microsoft.com/office/drawing/2014/main" id="{EF76EBD0-FA30-657D-5B6F-C53A91339790}"/>
                </a:ext>
              </a:extLst>
            </p:cNvPr>
            <p:cNvSpPr/>
            <p:nvPr/>
          </p:nvSpPr>
          <p:spPr>
            <a:xfrm>
              <a:off x="8074080" y="3153600"/>
              <a:ext cx="360" cy="60372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4" name="Line 60">
              <a:extLst>
                <a:ext uri="{FF2B5EF4-FFF2-40B4-BE49-F238E27FC236}">
                  <a16:creationId xmlns:a16="http://schemas.microsoft.com/office/drawing/2014/main" id="{0531BC41-982E-E915-AD1C-1E70D6CB6F6B}"/>
                </a:ext>
              </a:extLst>
            </p:cNvPr>
            <p:cNvSpPr/>
            <p:nvPr/>
          </p:nvSpPr>
          <p:spPr>
            <a:xfrm flipH="1">
              <a:off x="6804000" y="3757320"/>
              <a:ext cx="1270080" cy="38052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5" name="Line 61">
              <a:extLst>
                <a:ext uri="{FF2B5EF4-FFF2-40B4-BE49-F238E27FC236}">
                  <a16:creationId xmlns:a16="http://schemas.microsoft.com/office/drawing/2014/main" id="{F9B0FA4B-3FD3-6133-FE9A-6962F59007F9}"/>
                </a:ext>
              </a:extLst>
            </p:cNvPr>
            <p:cNvSpPr/>
            <p:nvPr/>
          </p:nvSpPr>
          <p:spPr>
            <a:xfrm flipV="1">
              <a:off x="6804000" y="3598560"/>
              <a:ext cx="360" cy="5392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6" name="Line 62">
              <a:extLst>
                <a:ext uri="{FF2B5EF4-FFF2-40B4-BE49-F238E27FC236}">
                  <a16:creationId xmlns:a16="http://schemas.microsoft.com/office/drawing/2014/main" id="{C73C0221-1479-899C-23D7-0443FFCC9EC7}"/>
                </a:ext>
              </a:extLst>
            </p:cNvPr>
            <p:cNvSpPr/>
            <p:nvPr/>
          </p:nvSpPr>
          <p:spPr>
            <a:xfrm flipV="1">
              <a:off x="6804000" y="3439440"/>
              <a:ext cx="169200" cy="15912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7" name="Line 63">
              <a:extLst>
                <a:ext uri="{FF2B5EF4-FFF2-40B4-BE49-F238E27FC236}">
                  <a16:creationId xmlns:a16="http://schemas.microsoft.com/office/drawing/2014/main" id="{AAC36A77-1FBA-9C90-4C19-AC9E6B52434B}"/>
                </a:ext>
              </a:extLst>
            </p:cNvPr>
            <p:cNvSpPr/>
            <p:nvPr/>
          </p:nvSpPr>
          <p:spPr>
            <a:xfrm>
              <a:off x="6804000" y="3249360"/>
              <a:ext cx="169200" cy="1900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8" name="Line 64">
              <a:extLst>
                <a:ext uri="{FF2B5EF4-FFF2-40B4-BE49-F238E27FC236}">
                  <a16:creationId xmlns:a16="http://schemas.microsoft.com/office/drawing/2014/main" id="{2DE2D27B-3CFA-F902-4F8A-B7A52CD3D501}"/>
                </a:ext>
              </a:extLst>
            </p:cNvPr>
            <p:cNvSpPr/>
            <p:nvPr/>
          </p:nvSpPr>
          <p:spPr>
            <a:xfrm flipV="1">
              <a:off x="6804000" y="2804400"/>
              <a:ext cx="360" cy="444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9" name="Line 65">
              <a:extLst>
                <a:ext uri="{FF2B5EF4-FFF2-40B4-BE49-F238E27FC236}">
                  <a16:creationId xmlns:a16="http://schemas.microsoft.com/office/drawing/2014/main" id="{7B2A672D-867D-26AF-E9EF-FA90BF2975A0}"/>
                </a:ext>
              </a:extLst>
            </p:cNvPr>
            <p:cNvSpPr/>
            <p:nvPr/>
          </p:nvSpPr>
          <p:spPr>
            <a:xfrm>
              <a:off x="7475760" y="2708640"/>
              <a:ext cx="0" cy="252000"/>
            </a:xfrm>
            <a:prstGeom prst="line">
              <a:avLst/>
            </a:prstGeom>
            <a:ln w="1584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60" name="Line 66">
              <a:extLst>
                <a:ext uri="{FF2B5EF4-FFF2-40B4-BE49-F238E27FC236}">
                  <a16:creationId xmlns:a16="http://schemas.microsoft.com/office/drawing/2014/main" id="{75CA80C9-5DD6-30C1-80CF-390DF8CE6112}"/>
                </a:ext>
              </a:extLst>
            </p:cNvPr>
            <p:cNvSpPr/>
            <p:nvPr/>
          </p:nvSpPr>
          <p:spPr>
            <a:xfrm>
              <a:off x="8064000" y="3275640"/>
              <a:ext cx="1008000" cy="360"/>
            </a:xfrm>
            <a:prstGeom prst="line">
              <a:avLst/>
            </a:prstGeom>
            <a:ln w="22320">
              <a:solidFill>
                <a:srgbClr val="C00000"/>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61" name="Line 67">
              <a:extLst>
                <a:ext uri="{FF2B5EF4-FFF2-40B4-BE49-F238E27FC236}">
                  <a16:creationId xmlns:a16="http://schemas.microsoft.com/office/drawing/2014/main" id="{F35BE6A0-2CC3-844D-FD41-1C056DB2F464}"/>
                </a:ext>
              </a:extLst>
            </p:cNvPr>
            <p:cNvSpPr/>
            <p:nvPr/>
          </p:nvSpPr>
          <p:spPr>
            <a:xfrm>
              <a:off x="8064000" y="3590640"/>
              <a:ext cx="587520" cy="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62" name="CustomShape 68">
              <a:extLst>
                <a:ext uri="{FF2B5EF4-FFF2-40B4-BE49-F238E27FC236}">
                  <a16:creationId xmlns:a16="http://schemas.microsoft.com/office/drawing/2014/main" id="{926DAA95-38AA-908E-0FBE-F4CEDB45D88B}"/>
                </a:ext>
              </a:extLst>
            </p:cNvPr>
            <p:cNvSpPr/>
            <p:nvPr/>
          </p:nvSpPr>
          <p:spPr>
            <a:xfrm>
              <a:off x="7394040" y="3418920"/>
              <a:ext cx="5972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ALU</a:t>
              </a:r>
              <a:endParaRPr lang="en-US" sz="1000" b="0" strike="noStrike" spc="-1">
                <a:latin typeface="Arial"/>
              </a:endParaRPr>
            </a:p>
            <a:p>
              <a:pPr algn="ctr">
                <a:lnSpc>
                  <a:spcPct val="100000"/>
                </a:lnSpc>
              </a:pPr>
              <a:r>
                <a:rPr lang="en-US" sz="1000" b="1" strike="noStrike" spc="-1">
                  <a:solidFill>
                    <a:srgbClr val="000000"/>
                  </a:solidFill>
                  <a:latin typeface="Verdana"/>
                  <a:ea typeface="ＭＳ Ｐゴシック"/>
                </a:rPr>
                <a:t>result</a:t>
              </a:r>
              <a:endParaRPr lang="en-US" sz="1000" b="0" strike="noStrike" spc="-1">
                <a:latin typeface="Arial"/>
              </a:endParaRPr>
            </a:p>
          </p:txBody>
        </p:sp>
        <p:sp>
          <p:nvSpPr>
            <p:cNvPr id="63" name="CustomShape 69">
              <a:extLst>
                <a:ext uri="{FF2B5EF4-FFF2-40B4-BE49-F238E27FC236}">
                  <a16:creationId xmlns:a16="http://schemas.microsoft.com/office/drawing/2014/main" id="{AB0E7A66-A27B-447B-59C3-C439F5088469}"/>
                </a:ext>
              </a:extLst>
            </p:cNvPr>
            <p:cNvSpPr/>
            <p:nvPr/>
          </p:nvSpPr>
          <p:spPr>
            <a:xfrm>
              <a:off x="6949440" y="3334680"/>
              <a:ext cx="51336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ALU</a:t>
              </a:r>
              <a:endParaRPr lang="en-US" sz="1200" b="0" strike="noStrike" spc="-1">
                <a:latin typeface="Arial"/>
              </a:endParaRPr>
            </a:p>
          </p:txBody>
        </p:sp>
        <p:sp>
          <p:nvSpPr>
            <p:cNvPr id="64" name="CustomShape 70">
              <a:extLst>
                <a:ext uri="{FF2B5EF4-FFF2-40B4-BE49-F238E27FC236}">
                  <a16:creationId xmlns:a16="http://schemas.microsoft.com/office/drawing/2014/main" id="{15DA97B1-8368-76EC-1619-7FD0F2ED07EA}"/>
                </a:ext>
              </a:extLst>
            </p:cNvPr>
            <p:cNvSpPr/>
            <p:nvPr/>
          </p:nvSpPr>
          <p:spPr>
            <a:xfrm>
              <a:off x="6892920" y="2520000"/>
              <a:ext cx="124776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Courier New"/>
                  <a:ea typeface="ＭＳ Ｐゴシック"/>
                </a:rPr>
                <a:t>ALUcontrol</a:t>
              </a:r>
              <a:endParaRPr lang="en-US" sz="1400" b="0" strike="noStrike" spc="-1">
                <a:latin typeface="Arial"/>
              </a:endParaRPr>
            </a:p>
          </p:txBody>
        </p:sp>
        <p:sp>
          <p:nvSpPr>
            <p:cNvPr id="65" name="Line 71">
              <a:extLst>
                <a:ext uri="{FF2B5EF4-FFF2-40B4-BE49-F238E27FC236}">
                  <a16:creationId xmlns:a16="http://schemas.microsoft.com/office/drawing/2014/main" id="{B14125E3-70CE-387A-2EE3-5F0CA1D722E4}"/>
                </a:ext>
              </a:extLst>
            </p:cNvPr>
            <p:cNvSpPr/>
            <p:nvPr/>
          </p:nvSpPr>
          <p:spPr>
            <a:xfrm>
              <a:off x="7345080" y="2848680"/>
              <a:ext cx="253800" cy="64440"/>
            </a:xfrm>
            <a:prstGeom prst="line">
              <a:avLst/>
            </a:prstGeom>
            <a:ln w="1584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66" name="CustomShape 72">
              <a:extLst>
                <a:ext uri="{FF2B5EF4-FFF2-40B4-BE49-F238E27FC236}">
                  <a16:creationId xmlns:a16="http://schemas.microsoft.com/office/drawing/2014/main" id="{21E6A9A8-0018-FDC0-8D59-DADC66DD1B15}"/>
                </a:ext>
              </a:extLst>
            </p:cNvPr>
            <p:cNvSpPr/>
            <p:nvPr/>
          </p:nvSpPr>
          <p:spPr>
            <a:xfrm>
              <a:off x="7491960" y="277164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660066"/>
                  </a:solidFill>
                  <a:latin typeface="Verdana"/>
                  <a:ea typeface="ＭＳ Ｐゴシック"/>
                </a:rPr>
                <a:t>4</a:t>
              </a:r>
              <a:endParaRPr lang="en-US" sz="1000" b="0" strike="noStrike" spc="-1">
                <a:latin typeface="Arial"/>
              </a:endParaRPr>
            </a:p>
          </p:txBody>
        </p:sp>
        <p:sp>
          <p:nvSpPr>
            <p:cNvPr id="67" name="CustomShape 73">
              <a:extLst>
                <a:ext uri="{FF2B5EF4-FFF2-40B4-BE49-F238E27FC236}">
                  <a16:creationId xmlns:a16="http://schemas.microsoft.com/office/drawing/2014/main" id="{D6D81B7F-E543-4CCD-5F0D-5D30835BB80F}"/>
                </a:ext>
              </a:extLst>
            </p:cNvPr>
            <p:cNvSpPr/>
            <p:nvPr/>
          </p:nvSpPr>
          <p:spPr>
            <a:xfrm>
              <a:off x="7300800" y="3149640"/>
              <a:ext cx="883440" cy="241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1" strike="noStrike" spc="-1">
                  <a:solidFill>
                    <a:srgbClr val="C00000"/>
                  </a:solidFill>
                  <a:latin typeface="Verdana"/>
                  <a:ea typeface="ＭＳ Ｐゴシック"/>
                </a:rPr>
                <a:t>isZero?</a:t>
              </a:r>
              <a:endParaRPr lang="en-US" sz="1000" b="0" strike="noStrike" spc="-1">
                <a:latin typeface="Arial"/>
              </a:endParaRPr>
            </a:p>
          </p:txBody>
        </p:sp>
      </p:grpSp>
      <p:sp>
        <p:nvSpPr>
          <p:cNvPr id="78" name="Line 74">
            <a:extLst>
              <a:ext uri="{FF2B5EF4-FFF2-40B4-BE49-F238E27FC236}">
                <a16:creationId xmlns:a16="http://schemas.microsoft.com/office/drawing/2014/main" id="{4820672D-9CBC-FD66-82F6-2DB9EFA91659}"/>
              </a:ext>
            </a:extLst>
          </p:cNvPr>
          <p:cNvSpPr/>
          <p:nvPr/>
        </p:nvSpPr>
        <p:spPr>
          <a:xfrm flipH="1" flipV="1">
            <a:off x="6248050" y="2484125"/>
            <a:ext cx="6024" cy="2455480"/>
          </a:xfrm>
          <a:prstGeom prst="line">
            <a:avLst/>
          </a:prstGeom>
          <a:ln w="22320">
            <a:solidFill>
              <a:srgbClr val="C00000"/>
            </a:solidFill>
            <a:round/>
            <a:headEnd type="oval" w="med" len="med"/>
          </a:ln>
        </p:spPr>
        <p:style>
          <a:lnRef idx="1">
            <a:schemeClr val="accent1"/>
          </a:lnRef>
          <a:fillRef idx="0">
            <a:schemeClr val="accent1"/>
          </a:fillRef>
          <a:effectRef idx="0">
            <a:schemeClr val="accent1"/>
          </a:effectRef>
          <a:fontRef idx="minor"/>
        </p:style>
        <p:txBody>
          <a:bodyPr/>
          <a:lstStyle/>
          <a:p>
            <a:endParaRPr lang="vi-VN"/>
          </a:p>
        </p:txBody>
      </p:sp>
      <p:sp>
        <p:nvSpPr>
          <p:cNvPr id="79" name="Line 75">
            <a:extLst>
              <a:ext uri="{FF2B5EF4-FFF2-40B4-BE49-F238E27FC236}">
                <a16:creationId xmlns:a16="http://schemas.microsoft.com/office/drawing/2014/main" id="{61468124-4D92-A412-CDBB-63CE5EB3B97A}"/>
              </a:ext>
            </a:extLst>
          </p:cNvPr>
          <p:cNvSpPr/>
          <p:nvPr/>
        </p:nvSpPr>
        <p:spPr>
          <a:xfrm>
            <a:off x="6686170" y="2421485"/>
            <a:ext cx="587880" cy="360"/>
          </a:xfrm>
          <a:prstGeom prst="line">
            <a:avLst/>
          </a:prstGeom>
          <a:ln w="22320">
            <a:solidFill>
              <a:srgbClr val="C00000"/>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80" name="CustomShape 76">
            <a:extLst>
              <a:ext uri="{FF2B5EF4-FFF2-40B4-BE49-F238E27FC236}">
                <a16:creationId xmlns:a16="http://schemas.microsoft.com/office/drawing/2014/main" id="{247E3FEC-ACE7-4E2D-E264-3FE5E998720D}"/>
              </a:ext>
            </a:extLst>
          </p:cNvPr>
          <p:cNvSpPr/>
          <p:nvPr/>
        </p:nvSpPr>
        <p:spPr>
          <a:xfrm>
            <a:off x="5510770" y="2232485"/>
            <a:ext cx="1343520" cy="440640"/>
          </a:xfrm>
          <a:prstGeom prst="ellipse">
            <a:avLst/>
          </a:prstGeom>
          <a:solidFill>
            <a:schemeClr val="accent1">
              <a:lumMod val="20000"/>
              <a:lumOff val="80000"/>
            </a:schemeClr>
          </a:solid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0000"/>
                </a:solidFill>
                <a:latin typeface="Times New Roman"/>
                <a:ea typeface="ＭＳ Ｐゴシック"/>
              </a:rPr>
              <a:t>Left Shift 2-bit</a:t>
            </a:r>
            <a:endParaRPr lang="en-US" sz="1200" b="0" strike="noStrike" spc="-1">
              <a:latin typeface="Arial"/>
            </a:endParaRPr>
          </a:p>
        </p:txBody>
      </p:sp>
      <p:grpSp>
        <p:nvGrpSpPr>
          <p:cNvPr id="81" name="Group 77">
            <a:extLst>
              <a:ext uri="{FF2B5EF4-FFF2-40B4-BE49-F238E27FC236}">
                <a16:creationId xmlns:a16="http://schemas.microsoft.com/office/drawing/2014/main" id="{ED8A14E1-779B-0B7D-573D-DF4C20CDC8F6}"/>
              </a:ext>
            </a:extLst>
          </p:cNvPr>
          <p:cNvGrpSpPr/>
          <p:nvPr/>
        </p:nvGrpSpPr>
        <p:grpSpPr>
          <a:xfrm>
            <a:off x="1561930" y="1476125"/>
            <a:ext cx="1769760" cy="630000"/>
            <a:chOff x="923400" y="944640"/>
            <a:chExt cx="1769760" cy="630000"/>
          </a:xfrm>
        </p:grpSpPr>
        <p:sp>
          <p:nvSpPr>
            <p:cNvPr id="82" name="CustomShape 78">
              <a:extLst>
                <a:ext uri="{FF2B5EF4-FFF2-40B4-BE49-F238E27FC236}">
                  <a16:creationId xmlns:a16="http://schemas.microsoft.com/office/drawing/2014/main" id="{CA6CBD9C-4EDC-8A0F-8AA7-C71BCBC9AAEE}"/>
                </a:ext>
              </a:extLst>
            </p:cNvPr>
            <p:cNvSpPr/>
            <p:nvPr/>
          </p:nvSpPr>
          <p:spPr>
            <a:xfrm>
              <a:off x="923400" y="944640"/>
              <a:ext cx="503640" cy="630000"/>
            </a:xfrm>
            <a:prstGeom prst="rect">
              <a:avLst/>
            </a:prstGeom>
            <a:solidFill>
              <a:schemeClr val="accent4">
                <a:lumMod val="20000"/>
                <a:lumOff val="80000"/>
              </a:schemeClr>
            </a:solidFill>
            <a:ln w="15840">
              <a:solidFill>
                <a:schemeClr val="tx1"/>
              </a:solidFill>
              <a:miter/>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1400" b="1" strike="noStrike" spc="-1">
                  <a:solidFill>
                    <a:srgbClr val="000000"/>
                  </a:solidFill>
                  <a:latin typeface="Arial"/>
                  <a:ea typeface="ＭＳ Ｐゴシック"/>
                </a:rPr>
                <a:t>PC</a:t>
              </a:r>
              <a:endParaRPr lang="en-US" sz="1400" b="0" strike="noStrike" spc="-1">
                <a:latin typeface="Arial"/>
              </a:endParaRPr>
            </a:p>
          </p:txBody>
        </p:sp>
        <p:sp>
          <p:nvSpPr>
            <p:cNvPr id="83" name="Line 79">
              <a:extLst>
                <a:ext uri="{FF2B5EF4-FFF2-40B4-BE49-F238E27FC236}">
                  <a16:creationId xmlns:a16="http://schemas.microsoft.com/office/drawing/2014/main" id="{261CBDA9-6222-C23F-331F-2CD9CDFDAC7A}"/>
                </a:ext>
              </a:extLst>
            </p:cNvPr>
            <p:cNvSpPr/>
            <p:nvPr/>
          </p:nvSpPr>
          <p:spPr>
            <a:xfrm>
              <a:off x="2064600" y="998280"/>
              <a:ext cx="628200" cy="1458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84" name="Line 80">
              <a:extLst>
                <a:ext uri="{FF2B5EF4-FFF2-40B4-BE49-F238E27FC236}">
                  <a16:creationId xmlns:a16="http://schemas.microsoft.com/office/drawing/2014/main" id="{7F8DD4A6-1615-32F4-92CD-A9BDE786EEE5}"/>
                </a:ext>
              </a:extLst>
            </p:cNvPr>
            <p:cNvSpPr/>
            <p:nvPr/>
          </p:nvSpPr>
          <p:spPr>
            <a:xfrm>
              <a:off x="2692800" y="1144080"/>
              <a:ext cx="360" cy="2520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85" name="Line 81">
              <a:extLst>
                <a:ext uri="{FF2B5EF4-FFF2-40B4-BE49-F238E27FC236}">
                  <a16:creationId xmlns:a16="http://schemas.microsoft.com/office/drawing/2014/main" id="{0763D883-24AC-F0D0-9AF7-535A21D4777E}"/>
                </a:ext>
              </a:extLst>
            </p:cNvPr>
            <p:cNvSpPr/>
            <p:nvPr/>
          </p:nvSpPr>
          <p:spPr>
            <a:xfrm flipH="1">
              <a:off x="2064600" y="1396080"/>
              <a:ext cx="628200" cy="1587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86" name="Line 82">
              <a:extLst>
                <a:ext uri="{FF2B5EF4-FFF2-40B4-BE49-F238E27FC236}">
                  <a16:creationId xmlns:a16="http://schemas.microsoft.com/office/drawing/2014/main" id="{06745A55-AB06-E09E-2E6C-6B6F0EF932A2}"/>
                </a:ext>
              </a:extLst>
            </p:cNvPr>
            <p:cNvSpPr/>
            <p:nvPr/>
          </p:nvSpPr>
          <p:spPr>
            <a:xfrm flipV="1">
              <a:off x="2064600" y="1330560"/>
              <a:ext cx="1440" cy="2242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87" name="Line 83">
              <a:extLst>
                <a:ext uri="{FF2B5EF4-FFF2-40B4-BE49-F238E27FC236}">
                  <a16:creationId xmlns:a16="http://schemas.microsoft.com/office/drawing/2014/main" id="{32D09B66-AB14-01C0-FAFF-EC30D1A2EE01}"/>
                </a:ext>
              </a:extLst>
            </p:cNvPr>
            <p:cNvSpPr/>
            <p:nvPr/>
          </p:nvSpPr>
          <p:spPr>
            <a:xfrm flipV="1">
              <a:off x="2064600" y="1263600"/>
              <a:ext cx="82080" cy="66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88" name="Line 84">
              <a:extLst>
                <a:ext uri="{FF2B5EF4-FFF2-40B4-BE49-F238E27FC236}">
                  <a16:creationId xmlns:a16="http://schemas.microsoft.com/office/drawing/2014/main" id="{045AFF19-83C2-AD68-EFDE-736DFA23BC74}"/>
                </a:ext>
              </a:extLst>
            </p:cNvPr>
            <p:cNvSpPr/>
            <p:nvPr/>
          </p:nvSpPr>
          <p:spPr>
            <a:xfrm>
              <a:off x="2064600" y="1184760"/>
              <a:ext cx="82080" cy="788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89" name="Line 85">
              <a:extLst>
                <a:ext uri="{FF2B5EF4-FFF2-40B4-BE49-F238E27FC236}">
                  <a16:creationId xmlns:a16="http://schemas.microsoft.com/office/drawing/2014/main" id="{FD003A49-6415-C4E4-5099-D2021443D0F8}"/>
                </a:ext>
              </a:extLst>
            </p:cNvPr>
            <p:cNvSpPr/>
            <p:nvPr/>
          </p:nvSpPr>
          <p:spPr>
            <a:xfrm flipV="1">
              <a:off x="2064600" y="998280"/>
              <a:ext cx="1440" cy="1864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90" name="CustomShape 86">
              <a:extLst>
                <a:ext uri="{FF2B5EF4-FFF2-40B4-BE49-F238E27FC236}">
                  <a16:creationId xmlns:a16="http://schemas.microsoft.com/office/drawing/2014/main" id="{34193916-2BE3-EDDA-43B8-6ACCE64B785B}"/>
                </a:ext>
              </a:extLst>
            </p:cNvPr>
            <p:cNvSpPr/>
            <p:nvPr/>
          </p:nvSpPr>
          <p:spPr>
            <a:xfrm>
              <a:off x="2078640" y="1133640"/>
              <a:ext cx="585720" cy="2721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200" b="1" i="1" strike="noStrike" spc="-1">
                  <a:solidFill>
                    <a:srgbClr val="000000"/>
                  </a:solidFill>
                  <a:latin typeface="Verdana"/>
                  <a:ea typeface="ＭＳ Ｐゴシック"/>
                </a:rPr>
                <a:t>Add</a:t>
              </a:r>
              <a:endParaRPr lang="en-US" sz="1200" b="0" strike="noStrike" spc="-1">
                <a:latin typeface="Arial"/>
              </a:endParaRPr>
            </a:p>
          </p:txBody>
        </p:sp>
        <p:sp>
          <p:nvSpPr>
            <p:cNvPr id="91" name="Line 87">
              <a:extLst>
                <a:ext uri="{FF2B5EF4-FFF2-40B4-BE49-F238E27FC236}">
                  <a16:creationId xmlns:a16="http://schemas.microsoft.com/office/drawing/2014/main" id="{7F5E7A9C-8C78-5D63-D2BC-B7A3E4741FC7}"/>
                </a:ext>
              </a:extLst>
            </p:cNvPr>
            <p:cNvSpPr/>
            <p:nvPr/>
          </p:nvSpPr>
          <p:spPr>
            <a:xfrm>
              <a:off x="1774080" y="1402560"/>
              <a:ext cx="291960" cy="360"/>
            </a:xfrm>
            <a:prstGeom prst="line">
              <a:avLst/>
            </a:prstGeom>
            <a:ln w="1584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92" name="CustomShape 88">
              <a:extLst>
                <a:ext uri="{FF2B5EF4-FFF2-40B4-BE49-F238E27FC236}">
                  <a16:creationId xmlns:a16="http://schemas.microsoft.com/office/drawing/2014/main" id="{61E59DAA-66AF-97E4-A39E-D82C2222BC68}"/>
                </a:ext>
              </a:extLst>
            </p:cNvPr>
            <p:cNvSpPr/>
            <p:nvPr/>
          </p:nvSpPr>
          <p:spPr>
            <a:xfrm>
              <a:off x="1541520" y="1282680"/>
              <a:ext cx="221760" cy="272160"/>
            </a:xfrm>
            <a:prstGeom prst="rect">
              <a:avLst/>
            </a:prstGeom>
            <a:noFill/>
            <a:ln w="381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200" b="1" strike="noStrike" spc="-1">
                  <a:solidFill>
                    <a:srgbClr val="000000"/>
                  </a:solidFill>
                  <a:latin typeface="Verdana"/>
                  <a:ea typeface="ＭＳ Ｐゴシック"/>
                </a:rPr>
                <a:t>4</a:t>
              </a:r>
              <a:endParaRPr lang="en-US" sz="1200" b="0" strike="noStrike" spc="-1">
                <a:latin typeface="Arial"/>
              </a:endParaRPr>
            </a:p>
          </p:txBody>
        </p:sp>
        <p:sp>
          <p:nvSpPr>
            <p:cNvPr id="93" name="Line 89">
              <a:extLst>
                <a:ext uri="{FF2B5EF4-FFF2-40B4-BE49-F238E27FC236}">
                  <a16:creationId xmlns:a16="http://schemas.microsoft.com/office/drawing/2014/main" id="{5094BBB7-F33B-BA40-9EC2-5C5F187C3376}"/>
                </a:ext>
              </a:extLst>
            </p:cNvPr>
            <p:cNvSpPr/>
            <p:nvPr/>
          </p:nvSpPr>
          <p:spPr>
            <a:xfrm>
              <a:off x="1427400" y="1070640"/>
              <a:ext cx="672120" cy="360"/>
            </a:xfrm>
            <a:prstGeom prst="line">
              <a:avLst/>
            </a:prstGeom>
            <a:ln w="1584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
        <p:nvSpPr>
          <p:cNvPr id="94" name="Line 90">
            <a:extLst>
              <a:ext uri="{FF2B5EF4-FFF2-40B4-BE49-F238E27FC236}">
                <a16:creationId xmlns:a16="http://schemas.microsoft.com/office/drawing/2014/main" id="{07A5A0BF-EB87-94A6-796E-D60FCC89BF05}"/>
              </a:ext>
            </a:extLst>
          </p:cNvPr>
          <p:cNvSpPr/>
          <p:nvPr/>
        </p:nvSpPr>
        <p:spPr>
          <a:xfrm>
            <a:off x="3326290" y="1791125"/>
            <a:ext cx="5040000" cy="360"/>
          </a:xfrm>
          <a:prstGeom prst="line">
            <a:avLst/>
          </a:prstGeom>
          <a:ln w="2232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95" name="Line 91">
            <a:extLst>
              <a:ext uri="{FF2B5EF4-FFF2-40B4-BE49-F238E27FC236}">
                <a16:creationId xmlns:a16="http://schemas.microsoft.com/office/drawing/2014/main" id="{C11DFAAF-4499-F3BB-7BEA-0842BB143EB0}"/>
              </a:ext>
            </a:extLst>
          </p:cNvPr>
          <p:cNvSpPr/>
          <p:nvPr/>
        </p:nvSpPr>
        <p:spPr>
          <a:xfrm>
            <a:off x="7946170" y="2232485"/>
            <a:ext cx="419760" cy="360"/>
          </a:xfrm>
          <a:prstGeom prst="line">
            <a:avLst/>
          </a:prstGeom>
          <a:ln w="22320">
            <a:solidFill>
              <a:srgbClr val="C00000"/>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nvGrpSpPr>
          <p:cNvPr id="96" name="Group 92">
            <a:extLst>
              <a:ext uri="{FF2B5EF4-FFF2-40B4-BE49-F238E27FC236}">
                <a16:creationId xmlns:a16="http://schemas.microsoft.com/office/drawing/2014/main" id="{AC0F2916-402C-D5F5-4279-655769210CC9}"/>
              </a:ext>
            </a:extLst>
          </p:cNvPr>
          <p:cNvGrpSpPr/>
          <p:nvPr/>
        </p:nvGrpSpPr>
        <p:grpSpPr>
          <a:xfrm>
            <a:off x="7274050" y="1980125"/>
            <a:ext cx="647280" cy="556560"/>
            <a:chOff x="6635520" y="1448640"/>
            <a:chExt cx="647280" cy="556560"/>
          </a:xfrm>
        </p:grpSpPr>
        <p:sp>
          <p:nvSpPr>
            <p:cNvPr id="97" name="Line 93">
              <a:extLst>
                <a:ext uri="{FF2B5EF4-FFF2-40B4-BE49-F238E27FC236}">
                  <a16:creationId xmlns:a16="http://schemas.microsoft.com/office/drawing/2014/main" id="{33FFC694-659B-05B3-6DD4-2098BE3C3AA8}"/>
                </a:ext>
              </a:extLst>
            </p:cNvPr>
            <p:cNvSpPr/>
            <p:nvPr/>
          </p:nvSpPr>
          <p:spPr>
            <a:xfrm>
              <a:off x="6635520" y="1448640"/>
              <a:ext cx="630360" cy="1454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98" name="Line 94">
              <a:extLst>
                <a:ext uri="{FF2B5EF4-FFF2-40B4-BE49-F238E27FC236}">
                  <a16:creationId xmlns:a16="http://schemas.microsoft.com/office/drawing/2014/main" id="{4D2B9D97-E393-8786-BBE6-A0760753D40C}"/>
                </a:ext>
              </a:extLst>
            </p:cNvPr>
            <p:cNvSpPr/>
            <p:nvPr/>
          </p:nvSpPr>
          <p:spPr>
            <a:xfrm>
              <a:off x="7265880" y="1594080"/>
              <a:ext cx="360" cy="2520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99" name="Line 95">
              <a:extLst>
                <a:ext uri="{FF2B5EF4-FFF2-40B4-BE49-F238E27FC236}">
                  <a16:creationId xmlns:a16="http://schemas.microsoft.com/office/drawing/2014/main" id="{B4DB37CA-4FE6-A6C9-74BA-52695C902850}"/>
                </a:ext>
              </a:extLst>
            </p:cNvPr>
            <p:cNvSpPr/>
            <p:nvPr/>
          </p:nvSpPr>
          <p:spPr>
            <a:xfrm flipH="1">
              <a:off x="6635520" y="1846080"/>
              <a:ext cx="630360" cy="15912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00" name="Line 96">
              <a:extLst>
                <a:ext uri="{FF2B5EF4-FFF2-40B4-BE49-F238E27FC236}">
                  <a16:creationId xmlns:a16="http://schemas.microsoft.com/office/drawing/2014/main" id="{57A6DA28-0208-46BE-6AA2-43B4EFC32FB0}"/>
                </a:ext>
              </a:extLst>
            </p:cNvPr>
            <p:cNvSpPr/>
            <p:nvPr/>
          </p:nvSpPr>
          <p:spPr>
            <a:xfrm flipV="1">
              <a:off x="6635520" y="1780560"/>
              <a:ext cx="2160" cy="2246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01" name="Line 97">
              <a:extLst>
                <a:ext uri="{FF2B5EF4-FFF2-40B4-BE49-F238E27FC236}">
                  <a16:creationId xmlns:a16="http://schemas.microsoft.com/office/drawing/2014/main" id="{93D2FB1C-733F-07FE-62DA-5069E78E7F90}"/>
                </a:ext>
              </a:extLst>
            </p:cNvPr>
            <p:cNvSpPr/>
            <p:nvPr/>
          </p:nvSpPr>
          <p:spPr>
            <a:xfrm flipV="1">
              <a:off x="6635520" y="1713600"/>
              <a:ext cx="84240" cy="66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02" name="Line 98">
              <a:extLst>
                <a:ext uri="{FF2B5EF4-FFF2-40B4-BE49-F238E27FC236}">
                  <a16:creationId xmlns:a16="http://schemas.microsoft.com/office/drawing/2014/main" id="{9B1E8A50-7A87-0EA8-7307-80BBDFEA5E23}"/>
                </a:ext>
              </a:extLst>
            </p:cNvPr>
            <p:cNvSpPr/>
            <p:nvPr/>
          </p:nvSpPr>
          <p:spPr>
            <a:xfrm>
              <a:off x="6635520" y="1634760"/>
              <a:ext cx="84240" cy="788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03" name="Line 99">
              <a:extLst>
                <a:ext uri="{FF2B5EF4-FFF2-40B4-BE49-F238E27FC236}">
                  <a16:creationId xmlns:a16="http://schemas.microsoft.com/office/drawing/2014/main" id="{7B26E12C-C721-D871-2811-619685EA789C}"/>
                </a:ext>
              </a:extLst>
            </p:cNvPr>
            <p:cNvSpPr/>
            <p:nvPr/>
          </p:nvSpPr>
          <p:spPr>
            <a:xfrm flipV="1">
              <a:off x="6635520" y="1448640"/>
              <a:ext cx="2160" cy="18612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04" name="CustomShape 100">
              <a:extLst>
                <a:ext uri="{FF2B5EF4-FFF2-40B4-BE49-F238E27FC236}">
                  <a16:creationId xmlns:a16="http://schemas.microsoft.com/office/drawing/2014/main" id="{CD720322-7A2C-AAE0-84B5-D6050C8FE7DD}"/>
                </a:ext>
              </a:extLst>
            </p:cNvPr>
            <p:cNvSpPr/>
            <p:nvPr/>
          </p:nvSpPr>
          <p:spPr>
            <a:xfrm>
              <a:off x="6697080" y="1586520"/>
              <a:ext cx="585720" cy="2721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200" b="1" i="1" strike="noStrike" spc="-1">
                  <a:solidFill>
                    <a:srgbClr val="000000"/>
                  </a:solidFill>
                  <a:latin typeface="Verdana"/>
                  <a:ea typeface="ＭＳ Ｐゴシック"/>
                </a:rPr>
                <a:t>Add</a:t>
              </a:r>
              <a:endParaRPr lang="en-US" sz="1200" b="0" strike="noStrike" spc="-1">
                <a:latin typeface="Arial"/>
              </a:endParaRPr>
            </a:p>
          </p:txBody>
        </p:sp>
      </p:grpSp>
      <p:sp>
        <p:nvSpPr>
          <p:cNvPr id="105" name="CustomShape 101">
            <a:extLst>
              <a:ext uri="{FF2B5EF4-FFF2-40B4-BE49-F238E27FC236}">
                <a16:creationId xmlns:a16="http://schemas.microsoft.com/office/drawing/2014/main" id="{180E0253-122B-E415-3785-2F48C58B47F0}"/>
              </a:ext>
            </a:extLst>
          </p:cNvPr>
          <p:cNvSpPr/>
          <p:nvPr/>
        </p:nvSpPr>
        <p:spPr>
          <a:xfrm>
            <a:off x="8366290" y="1665485"/>
            <a:ext cx="290880" cy="755640"/>
          </a:xfrm>
          <a:prstGeom prst="roundRect">
            <a:avLst>
              <a:gd name="adj" fmla="val 16667"/>
            </a:avLst>
          </a:prstGeom>
          <a:solidFill>
            <a:schemeClr val="accent1">
              <a:lumMod val="20000"/>
              <a:lumOff val="8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C00000"/>
                </a:solidFill>
                <a:latin typeface="Times New Roman"/>
                <a:ea typeface="ＭＳ Ｐゴシック"/>
              </a:rPr>
              <a:t>MUX</a:t>
            </a:r>
            <a:endParaRPr lang="en-US" sz="1600" b="0" strike="noStrike" spc="-1">
              <a:latin typeface="Arial"/>
            </a:endParaRPr>
          </a:p>
        </p:txBody>
      </p:sp>
      <p:sp>
        <p:nvSpPr>
          <p:cNvPr id="106" name="CustomShape 102">
            <a:extLst>
              <a:ext uri="{FF2B5EF4-FFF2-40B4-BE49-F238E27FC236}">
                <a16:creationId xmlns:a16="http://schemas.microsoft.com/office/drawing/2014/main" id="{39F02BEA-DE39-EC23-906C-3D9482C35C1A}"/>
              </a:ext>
            </a:extLst>
          </p:cNvPr>
          <p:cNvSpPr/>
          <p:nvPr/>
        </p:nvSpPr>
        <p:spPr>
          <a:xfrm>
            <a:off x="8076850" y="2547125"/>
            <a:ext cx="79056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PCSrc</a:t>
            </a:r>
            <a:endParaRPr lang="en-US" sz="1600" b="0" strike="noStrike" spc="-1">
              <a:latin typeface="Arial"/>
            </a:endParaRPr>
          </a:p>
        </p:txBody>
      </p:sp>
      <p:sp>
        <p:nvSpPr>
          <p:cNvPr id="107" name="Line 103">
            <a:extLst>
              <a:ext uri="{FF2B5EF4-FFF2-40B4-BE49-F238E27FC236}">
                <a16:creationId xmlns:a16="http://schemas.microsoft.com/office/drawing/2014/main" id="{94E83D29-5339-EE26-DC39-8ABE9DA2AD91}"/>
              </a:ext>
            </a:extLst>
          </p:cNvPr>
          <p:cNvSpPr/>
          <p:nvPr/>
        </p:nvSpPr>
        <p:spPr>
          <a:xfrm>
            <a:off x="8512090" y="2421125"/>
            <a:ext cx="360" cy="221760"/>
          </a:xfrm>
          <a:prstGeom prst="line">
            <a:avLst/>
          </a:prstGeom>
          <a:ln w="1908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08" name="CustomShape 104">
            <a:extLst>
              <a:ext uri="{FF2B5EF4-FFF2-40B4-BE49-F238E27FC236}">
                <a16:creationId xmlns:a16="http://schemas.microsoft.com/office/drawing/2014/main" id="{337299F9-9447-DF4F-0FA2-15CAB4902C6B}"/>
              </a:ext>
            </a:extLst>
          </p:cNvPr>
          <p:cNvSpPr/>
          <p:nvPr/>
        </p:nvSpPr>
        <p:spPr>
          <a:xfrm flipH="1" flipV="1">
            <a:off x="1813930" y="1475765"/>
            <a:ext cx="6842880" cy="567000"/>
          </a:xfrm>
          <a:prstGeom prst="bentConnector4">
            <a:avLst>
              <a:gd name="adj1" fmla="val -3682"/>
              <a:gd name="adj2" fmla="val 133333"/>
            </a:avLst>
          </a:prstGeom>
          <a:noFill/>
          <a:ln w="22320">
            <a:solidFill>
              <a:srgbClr val="C00000"/>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09" name="CustomShape 105">
            <a:extLst>
              <a:ext uri="{FF2B5EF4-FFF2-40B4-BE49-F238E27FC236}">
                <a16:creationId xmlns:a16="http://schemas.microsoft.com/office/drawing/2014/main" id="{3C27B38B-BE96-039F-7B58-5E917306C31E}"/>
              </a:ext>
            </a:extLst>
          </p:cNvPr>
          <p:cNvSpPr/>
          <p:nvPr/>
        </p:nvSpPr>
        <p:spPr>
          <a:xfrm>
            <a:off x="6266410" y="5634485"/>
            <a:ext cx="4031640" cy="377640"/>
          </a:xfrm>
          <a:prstGeom prst="rect">
            <a:avLst/>
          </a:prstGeom>
          <a:solidFill>
            <a:schemeClr val="bg1"/>
          </a:solidFill>
          <a:ln>
            <a:solidFill>
              <a:srgbClr val="0066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marL="343080" indent="-342720">
              <a:lnSpc>
                <a:spcPct val="100000"/>
              </a:lnSpc>
              <a:spcBef>
                <a:spcPts val="459"/>
              </a:spcBef>
            </a:pPr>
            <a:r>
              <a:rPr lang="en-US" sz="2300" b="0" strike="noStrike" spc="-1">
                <a:solidFill>
                  <a:srgbClr val="000000"/>
                </a:solidFill>
                <a:latin typeface="Times New Roman"/>
                <a:ea typeface="ＭＳ Ｐゴシック"/>
              </a:rPr>
              <a:t>Ví dụ: "</a:t>
            </a:r>
            <a:r>
              <a:rPr lang="en-US" sz="2300" b="1" strike="noStrike" spc="-1">
                <a:solidFill>
                  <a:srgbClr val="660066"/>
                </a:solidFill>
                <a:latin typeface="Courier New"/>
                <a:ea typeface="ＭＳ Ｐゴシック"/>
              </a:rPr>
              <a:t>beq</a:t>
            </a:r>
            <a:r>
              <a:rPr lang="en-US" sz="2300" b="1" strike="noStrike" spc="-1">
                <a:solidFill>
                  <a:srgbClr val="000000"/>
                </a:solidFill>
                <a:latin typeface="Courier New"/>
                <a:ea typeface="ＭＳ Ｐゴシック"/>
              </a:rPr>
              <a:t> </a:t>
            </a:r>
            <a:r>
              <a:rPr lang="en-US" sz="2300" b="1" strike="noStrike" spc="-1">
                <a:solidFill>
                  <a:srgbClr val="006600"/>
                </a:solidFill>
                <a:latin typeface="Courier New"/>
                <a:ea typeface="ＭＳ Ｐゴシック"/>
              </a:rPr>
              <a:t>$9</a:t>
            </a:r>
            <a:r>
              <a:rPr lang="en-US" sz="2300" b="1" strike="noStrike" spc="-1">
                <a:solidFill>
                  <a:srgbClr val="000000"/>
                </a:solidFill>
                <a:latin typeface="Courier New"/>
                <a:ea typeface="ＭＳ Ｐゴシック"/>
              </a:rPr>
              <a:t>, </a:t>
            </a:r>
            <a:r>
              <a:rPr lang="en-US" sz="2300" b="1" strike="noStrike" spc="-1">
                <a:solidFill>
                  <a:srgbClr val="006600"/>
                </a:solidFill>
                <a:latin typeface="Courier New"/>
                <a:ea typeface="ＭＳ Ｐゴシック"/>
              </a:rPr>
              <a:t>$0</a:t>
            </a:r>
            <a:r>
              <a:rPr lang="en-US" sz="2300" b="1" strike="noStrike" spc="-1">
                <a:solidFill>
                  <a:srgbClr val="000000"/>
                </a:solidFill>
                <a:latin typeface="Courier New"/>
                <a:ea typeface="ＭＳ Ｐゴシック"/>
              </a:rPr>
              <a:t>, </a:t>
            </a:r>
            <a:r>
              <a:rPr lang="en-US" sz="2300" b="1" strike="noStrike" spc="-1">
                <a:solidFill>
                  <a:srgbClr val="002060"/>
                </a:solidFill>
                <a:latin typeface="Courier New"/>
                <a:ea typeface="ＭＳ Ｐゴシック"/>
              </a:rPr>
              <a:t>3</a:t>
            </a:r>
            <a:r>
              <a:rPr lang="en-US" sz="2300" b="0" strike="noStrike" spc="-1">
                <a:solidFill>
                  <a:srgbClr val="000000"/>
                </a:solidFill>
                <a:latin typeface="Times New Roman"/>
                <a:ea typeface="ＭＳ Ｐゴシック"/>
              </a:rPr>
              <a:t>"</a:t>
            </a:r>
            <a:endParaRPr lang="en-US" sz="2300" b="0" strike="noStrike" spc="-1">
              <a:latin typeface="Arial"/>
            </a:endParaRPr>
          </a:p>
        </p:txBody>
      </p:sp>
      <p:sp>
        <p:nvSpPr>
          <p:cNvPr id="110" name="CustomShape 106">
            <a:extLst>
              <a:ext uri="{FF2B5EF4-FFF2-40B4-BE49-F238E27FC236}">
                <a16:creationId xmlns:a16="http://schemas.microsoft.com/office/drawing/2014/main" id="{58B73D23-8C33-3C5E-9E76-EAB068F9312D}"/>
              </a:ext>
            </a:extLst>
          </p:cNvPr>
          <p:cNvSpPr/>
          <p:nvPr/>
        </p:nvSpPr>
        <p:spPr>
          <a:xfrm>
            <a:off x="6266770" y="1791125"/>
            <a:ext cx="1005840" cy="290160"/>
          </a:xfrm>
          <a:prstGeom prst="bentConnector3">
            <a:avLst>
              <a:gd name="adj1" fmla="val 841"/>
            </a:avLst>
          </a:prstGeom>
          <a:noFill/>
          <a:ln w="22320">
            <a:solidFill>
              <a:srgbClr val="C00000"/>
            </a:solidFill>
            <a:round/>
            <a:headEnd type="oval" w="med" len="me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11" name="CustomShape 109">
            <a:extLst>
              <a:ext uri="{FF2B5EF4-FFF2-40B4-BE49-F238E27FC236}">
                <a16:creationId xmlns:a16="http://schemas.microsoft.com/office/drawing/2014/main" id="{1BAEDF04-83A3-3F9F-3F5B-D8A42ED728FD}"/>
              </a:ext>
            </a:extLst>
          </p:cNvPr>
          <p:cNvSpPr/>
          <p:nvPr/>
        </p:nvSpPr>
        <p:spPr>
          <a:xfrm>
            <a:off x="9038410" y="1287125"/>
            <a:ext cx="1679400" cy="1952640"/>
          </a:xfrm>
          <a:prstGeom prst="roundRect">
            <a:avLst>
              <a:gd name="adj" fmla="val 16667"/>
            </a:avLst>
          </a:prstGeom>
          <a:solidFill>
            <a:schemeClr val="bg1"/>
          </a:solidFill>
          <a:ln w="15840">
            <a:solidFill>
              <a:schemeClr val="tx1"/>
            </a:solidFill>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just">
              <a:lnSpc>
                <a:spcPct val="100000"/>
              </a:lnSpc>
            </a:pPr>
            <a:r>
              <a:rPr lang="en-US" sz="1600" b="1" strike="noStrike" spc="-1">
                <a:solidFill>
                  <a:srgbClr val="C00000"/>
                </a:solidFill>
                <a:latin typeface="Times New Roman"/>
                <a:ea typeface="ＭＳ Ｐゴシック"/>
              </a:rPr>
              <a:t>PCSrc:</a:t>
            </a:r>
            <a:endParaRPr lang="en-US" sz="1600" b="0" strike="noStrike" spc="-1">
              <a:latin typeface="Arial"/>
            </a:endParaRPr>
          </a:p>
          <a:p>
            <a:pPr algn="just">
              <a:lnSpc>
                <a:spcPct val="100000"/>
              </a:lnSpc>
            </a:pPr>
            <a:r>
              <a:rPr lang="en-US" sz="1400" b="0" strike="noStrike" spc="-1">
                <a:solidFill>
                  <a:srgbClr val="000000"/>
                </a:solidFill>
                <a:latin typeface="Times New Roman"/>
                <a:ea typeface="ＭＳ Ｐゴシック"/>
              </a:rPr>
              <a:t>Tín hiệu điều khiển để lựa chọn giữa </a:t>
            </a:r>
            <a:endParaRPr lang="en-US" sz="1400" b="0" strike="noStrike" spc="-1">
              <a:latin typeface="Arial"/>
            </a:endParaRPr>
          </a:p>
          <a:p>
            <a:pPr algn="just">
              <a:lnSpc>
                <a:spcPct val="100000"/>
              </a:lnSpc>
            </a:pPr>
            <a:r>
              <a:rPr lang="en-US" sz="1400" b="0" strike="noStrike" spc="-1">
                <a:solidFill>
                  <a:srgbClr val="000000"/>
                </a:solidFill>
                <a:latin typeface="Times New Roman"/>
                <a:ea typeface="ＭＳ Ｐゴシック"/>
              </a:rPr>
              <a:t>(PC+4) hoặc địa chỉ đích mà lệnh nhánh/nhảy sẽ nhảy tới</a:t>
            </a:r>
            <a:endParaRPr lang="en-US" sz="1400" b="0" strike="noStrike" spc="-1">
              <a:latin typeface="Arial"/>
            </a:endParaRPr>
          </a:p>
        </p:txBody>
      </p:sp>
    </p:spTree>
    <p:extLst>
      <p:ext uri="{BB962C8B-B14F-4D97-AF65-F5344CB8AC3E}">
        <p14:creationId xmlns:p14="http://schemas.microsoft.com/office/powerpoint/2010/main" val="30970195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E959-0C41-FC1D-6205-1CC464675AE6}"/>
              </a:ext>
            </a:extLst>
          </p:cNvPr>
          <p:cNvSpPr>
            <a:spLocks noGrp="1"/>
          </p:cNvSpPr>
          <p:nvPr>
            <p:ph type="title"/>
          </p:nvPr>
        </p:nvSpPr>
        <p:spPr/>
        <p:txBody>
          <a:bodyPr/>
          <a:lstStyle/>
          <a:p>
            <a:r>
              <a:rPr lang="en-US"/>
              <a:t>Datapath của một bộ xử lý với 8 lệnh MIPS</a:t>
            </a:r>
          </a:p>
        </p:txBody>
      </p:sp>
      <p:sp>
        <p:nvSpPr>
          <p:cNvPr id="4" name="Footer Placeholder 3">
            <a:extLst>
              <a:ext uri="{FF2B5EF4-FFF2-40B4-BE49-F238E27FC236}">
                <a16:creationId xmlns:a16="http://schemas.microsoft.com/office/drawing/2014/main" id="{A2943067-86FD-EC34-FB84-E1C625FA2005}"/>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86EA9048-D456-15C2-CE28-E7DA00176C21}"/>
              </a:ext>
            </a:extLst>
          </p:cNvPr>
          <p:cNvSpPr>
            <a:spLocks noGrp="1"/>
          </p:cNvSpPr>
          <p:nvPr>
            <p:ph type="sldNum" sz="quarter" idx="12"/>
          </p:nvPr>
        </p:nvSpPr>
        <p:spPr/>
        <p:txBody>
          <a:bodyPr/>
          <a:lstStyle/>
          <a:p>
            <a:fld id="{D8B0B3AC-44A8-D142-AAF6-9A453466E1A4}" type="slidenum">
              <a:rPr lang="en-VN" smtClean="0"/>
              <a:pPr/>
              <a:t>44</a:t>
            </a:fld>
            <a:endParaRPr lang="en-VN" dirty="0"/>
          </a:p>
        </p:txBody>
      </p:sp>
      <p:sp>
        <p:nvSpPr>
          <p:cNvPr id="6" name="Date Placeholder 5">
            <a:extLst>
              <a:ext uri="{FF2B5EF4-FFF2-40B4-BE49-F238E27FC236}">
                <a16:creationId xmlns:a16="http://schemas.microsoft.com/office/drawing/2014/main" id="{097D4DD3-4D53-26A3-A13E-2480164DEE5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5" descr="f04-17-P374493">
            <a:extLst>
              <a:ext uri="{FF2B5EF4-FFF2-40B4-BE49-F238E27FC236}">
                <a16:creationId xmlns:a16="http://schemas.microsoft.com/office/drawing/2014/main" id="{FBFE8B37-F23C-291E-5D50-A4AB5641B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9134" y="1368275"/>
            <a:ext cx="5795029" cy="4503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98608D8C-860A-27F0-82AB-E1A6EC92A73A}"/>
              </a:ext>
            </a:extLst>
          </p:cNvPr>
          <p:cNvSpPr/>
          <p:nvPr/>
        </p:nvSpPr>
        <p:spPr>
          <a:xfrm>
            <a:off x="2853699" y="1287325"/>
            <a:ext cx="1978925"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CA9C8402-04E5-0DBE-555D-C871BB480314}"/>
              </a:ext>
            </a:extLst>
          </p:cNvPr>
          <p:cNvSpPr/>
          <p:nvPr/>
        </p:nvSpPr>
        <p:spPr>
          <a:xfrm>
            <a:off x="4832624" y="1287325"/>
            <a:ext cx="1901914"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3EDE0ED-673A-505D-FC68-C05576EA8229}"/>
              </a:ext>
            </a:extLst>
          </p:cNvPr>
          <p:cNvSpPr/>
          <p:nvPr/>
        </p:nvSpPr>
        <p:spPr>
          <a:xfrm>
            <a:off x="6734538" y="1287325"/>
            <a:ext cx="858349"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12225657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Quy trình thực thi lệnh của MIPS</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1" name="Content Placeholder 10">
            <a:extLst>
              <a:ext uri="{FF2B5EF4-FFF2-40B4-BE49-F238E27FC236}">
                <a16:creationId xmlns:a16="http://schemas.microsoft.com/office/drawing/2014/main" id="{8E51BFD1-611E-702E-CD1C-CF4CE58C1C36}"/>
              </a:ext>
            </a:extLst>
          </p:cNvPr>
          <p:cNvSpPr>
            <a:spLocks noGrp="1"/>
          </p:cNvSpPr>
          <p:nvPr>
            <p:ph idx="1"/>
          </p:nvPr>
        </p:nvSpPr>
        <p:spPr>
          <a:xfrm>
            <a:off x="1142797" y="1195821"/>
            <a:ext cx="7404855" cy="5160527"/>
          </a:xfrm>
        </p:spPr>
        <p:txBody>
          <a:bodyPr/>
          <a:lstStyle/>
          <a:p>
            <a:r>
              <a:rPr lang="vi-VN"/>
              <a:t>Instruction Fetch (Nạp lệnh)</a:t>
            </a:r>
          </a:p>
          <a:p>
            <a:r>
              <a:rPr lang="vi-VN"/>
              <a:t>Instruction Decode &amp; Operand Fetch</a:t>
            </a:r>
          </a:p>
          <a:p>
            <a:pPr marL="0" indent="0">
              <a:buNone/>
            </a:pPr>
            <a:r>
              <a:rPr lang="en-US"/>
              <a:t>	</a:t>
            </a:r>
            <a:r>
              <a:rPr lang="vi-VN"/>
              <a:t>(Giải mã và lấy các toán hạng cần thiết, </a:t>
            </a:r>
            <a:endParaRPr lang="en-US"/>
          </a:p>
          <a:p>
            <a:pPr marL="0" indent="0">
              <a:buNone/>
            </a:pPr>
            <a:r>
              <a:rPr lang="en-US"/>
              <a:t>	</a:t>
            </a:r>
            <a:r>
              <a:rPr lang="vi-VN"/>
              <a:t>Gọi</a:t>
            </a:r>
            <a:r>
              <a:rPr lang="en-US"/>
              <a:t> </a:t>
            </a:r>
            <a:r>
              <a:rPr lang="vi-VN"/>
              <a:t>tắt là “Instruction Decode”)</a:t>
            </a:r>
          </a:p>
          <a:p>
            <a:r>
              <a:rPr lang="vi-VN"/>
              <a:t>ALU (Giai đoạn sử dụng ALU hay giai đoạn thực thi)</a:t>
            </a:r>
          </a:p>
          <a:p>
            <a:r>
              <a:rPr lang="vi-VN">
                <a:solidFill>
                  <a:srgbClr val="114F91"/>
                </a:solidFill>
              </a:rPr>
              <a:t>Memory Access (Giai đoạn truy xuất vùng nhớ)</a:t>
            </a:r>
          </a:p>
          <a:p>
            <a:r>
              <a:rPr lang="vi-VN"/>
              <a:t>Result Write (Giai đoạn ghi lại kết quả/lưu trữ)</a:t>
            </a:r>
          </a:p>
          <a:p>
            <a:endParaRPr lang="vi-VN"/>
          </a:p>
          <a:p>
            <a:endParaRPr lang="en-US"/>
          </a:p>
        </p:txBody>
      </p:sp>
      <p:grpSp>
        <p:nvGrpSpPr>
          <p:cNvPr id="14" name="Group 13">
            <a:extLst>
              <a:ext uri="{FF2B5EF4-FFF2-40B4-BE49-F238E27FC236}">
                <a16:creationId xmlns:a16="http://schemas.microsoft.com/office/drawing/2014/main" id="{35E64477-7BDC-5CAF-A892-A018CF49647C}"/>
              </a:ext>
            </a:extLst>
          </p:cNvPr>
          <p:cNvGrpSpPr/>
          <p:nvPr/>
        </p:nvGrpSpPr>
        <p:grpSpPr>
          <a:xfrm>
            <a:off x="8764130" y="1674660"/>
            <a:ext cx="2742730" cy="3796316"/>
            <a:chOff x="8726030" y="2208060"/>
            <a:chExt cx="2742730" cy="3796316"/>
          </a:xfrm>
        </p:grpSpPr>
        <p:grpSp>
          <p:nvGrpSpPr>
            <p:cNvPr id="15" name="Group 3">
              <a:extLst>
                <a:ext uri="{FF2B5EF4-FFF2-40B4-BE49-F238E27FC236}">
                  <a16:creationId xmlns:a16="http://schemas.microsoft.com/office/drawing/2014/main" id="{BAAB0B09-CF5E-AC2D-7B7D-9B3EC1152906}"/>
                </a:ext>
              </a:extLst>
            </p:cNvPr>
            <p:cNvGrpSpPr/>
            <p:nvPr/>
          </p:nvGrpSpPr>
          <p:grpSpPr>
            <a:xfrm>
              <a:off x="8726030" y="2208060"/>
              <a:ext cx="2742730" cy="3766559"/>
              <a:chOff x="420120" y="1133640"/>
              <a:chExt cx="2099520" cy="3157199"/>
            </a:xfrm>
          </p:grpSpPr>
          <p:sp>
            <p:nvSpPr>
              <p:cNvPr id="17" name="CustomShape 4">
                <a:extLst>
                  <a:ext uri="{FF2B5EF4-FFF2-40B4-BE49-F238E27FC236}">
                    <a16:creationId xmlns:a16="http://schemas.microsoft.com/office/drawing/2014/main" id="{AC664CBC-0125-59A3-A143-ADB0607A395A}"/>
                  </a:ext>
                </a:extLst>
              </p:cNvPr>
              <p:cNvSpPr/>
              <p:nvPr/>
            </p:nvSpPr>
            <p:spPr>
              <a:xfrm>
                <a:off x="1553760" y="3522600"/>
                <a:ext cx="24120" cy="1742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vi-VN"/>
              </a:p>
            </p:txBody>
          </p:sp>
          <p:sp>
            <p:nvSpPr>
              <p:cNvPr id="18" name="CustomShape 5">
                <a:extLst>
                  <a:ext uri="{FF2B5EF4-FFF2-40B4-BE49-F238E27FC236}">
                    <a16:creationId xmlns:a16="http://schemas.microsoft.com/office/drawing/2014/main" id="{8BBA7EA1-6B4C-6224-F31B-ADF1C430E0AE}"/>
                  </a:ext>
                </a:extLst>
              </p:cNvPr>
              <p:cNvSpPr/>
              <p:nvPr/>
            </p:nvSpPr>
            <p:spPr>
              <a:xfrm>
                <a:off x="993960" y="1360800"/>
                <a:ext cx="1525680" cy="28656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dirty="0">
                    <a:solidFill>
                      <a:srgbClr val="C00000"/>
                    </a:solidFill>
                    <a:latin typeface="Arial"/>
                    <a:ea typeface="ＭＳ Ｐゴシック"/>
                  </a:rPr>
                  <a:t>Fetch</a:t>
                </a:r>
                <a:endParaRPr lang="en-US" sz="1800" b="0" strike="noStrike" spc="-1" dirty="0">
                  <a:latin typeface="Arial"/>
                </a:endParaRPr>
              </a:p>
            </p:txBody>
          </p:sp>
          <p:sp>
            <p:nvSpPr>
              <p:cNvPr id="19" name="CustomShape 6">
                <a:extLst>
                  <a:ext uri="{FF2B5EF4-FFF2-40B4-BE49-F238E27FC236}">
                    <a16:creationId xmlns:a16="http://schemas.microsoft.com/office/drawing/2014/main" id="{14D3AB1E-C627-5C82-420E-3C05D6EFACED}"/>
                  </a:ext>
                </a:extLst>
              </p:cNvPr>
              <p:cNvSpPr/>
              <p:nvPr/>
            </p:nvSpPr>
            <p:spPr>
              <a:xfrm>
                <a:off x="993960" y="1871348"/>
                <a:ext cx="1525680" cy="523373"/>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a:solidFill>
                      <a:srgbClr val="006600"/>
                    </a:solidFill>
                    <a:latin typeface="Arial"/>
                    <a:ea typeface="ＭＳ Ｐゴシック"/>
                  </a:rPr>
                  <a:t>Instruction</a:t>
                </a:r>
                <a:endParaRPr lang="en-US" sz="1800" b="0" strike="noStrike" spc="-1">
                  <a:latin typeface="Arial"/>
                </a:endParaRPr>
              </a:p>
              <a:p>
                <a:pPr marL="343080" indent="-342720" algn="ctr">
                  <a:lnSpc>
                    <a:spcPct val="86000"/>
                  </a:lnSpc>
                  <a:spcBef>
                    <a:spcPts val="360"/>
                  </a:spcBef>
                </a:pPr>
                <a:r>
                  <a:rPr lang="en-US" sz="1800" b="1" i="1" strike="noStrike" spc="-1">
                    <a:solidFill>
                      <a:srgbClr val="006600"/>
                    </a:solidFill>
                    <a:latin typeface="Arial"/>
                    <a:ea typeface="ＭＳ Ｐゴシック"/>
                  </a:rPr>
                  <a:t>Decode</a:t>
                </a:r>
                <a:endParaRPr lang="en-US" sz="1800" b="0" strike="noStrike" spc="-1">
                  <a:latin typeface="Arial"/>
                </a:endParaRPr>
              </a:p>
            </p:txBody>
          </p:sp>
          <p:sp>
            <p:nvSpPr>
              <p:cNvPr id="20" name="CustomShape 7">
                <a:extLst>
                  <a:ext uri="{FF2B5EF4-FFF2-40B4-BE49-F238E27FC236}">
                    <a16:creationId xmlns:a16="http://schemas.microsoft.com/office/drawing/2014/main" id="{B7A8046A-43EC-68CD-0B51-864F829843F0}"/>
                  </a:ext>
                </a:extLst>
              </p:cNvPr>
              <p:cNvSpPr/>
              <p:nvPr/>
            </p:nvSpPr>
            <p:spPr>
              <a:xfrm>
                <a:off x="987139" y="2565360"/>
                <a:ext cx="1525680" cy="28656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dirty="0">
                    <a:solidFill>
                      <a:srgbClr val="660066"/>
                    </a:solidFill>
                    <a:latin typeface="Arial"/>
                    <a:ea typeface="ＭＳ Ｐゴシック"/>
                  </a:rPr>
                  <a:t>ALU</a:t>
                </a:r>
                <a:endParaRPr lang="en-US" sz="1800" b="0" strike="noStrike" spc="-1" dirty="0">
                  <a:latin typeface="Arial"/>
                </a:endParaRPr>
              </a:p>
            </p:txBody>
          </p:sp>
          <p:sp>
            <p:nvSpPr>
              <p:cNvPr id="21" name="CustomShape 8">
                <a:extLst>
                  <a:ext uri="{FF2B5EF4-FFF2-40B4-BE49-F238E27FC236}">
                    <a16:creationId xmlns:a16="http://schemas.microsoft.com/office/drawing/2014/main" id="{61C6B5B3-74C0-4BA4-DD13-4AF98FC3A14B}"/>
                  </a:ext>
                </a:extLst>
              </p:cNvPr>
              <p:cNvSpPr/>
              <p:nvPr/>
            </p:nvSpPr>
            <p:spPr>
              <a:xfrm>
                <a:off x="987139" y="3052734"/>
                <a:ext cx="1525680" cy="310386"/>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algn="ctr">
                  <a:lnSpc>
                    <a:spcPct val="88000"/>
                  </a:lnSpc>
                  <a:spcBef>
                    <a:spcPts val="516"/>
                  </a:spcBef>
                </a:pPr>
                <a:r>
                  <a:rPr lang="en-US" sz="1800" b="1" i="1" strike="noStrike" spc="-1">
                    <a:solidFill>
                      <a:srgbClr val="002060"/>
                    </a:solidFill>
                    <a:latin typeface="Arial"/>
                    <a:ea typeface="ＭＳ Ｐゴシック"/>
                  </a:rPr>
                  <a:t>Memory Access</a:t>
                </a:r>
                <a:endParaRPr lang="en-US" sz="1800" b="0" strike="noStrike" spc="-1">
                  <a:latin typeface="Arial"/>
                </a:endParaRPr>
              </a:p>
            </p:txBody>
          </p:sp>
          <p:sp>
            <p:nvSpPr>
              <p:cNvPr id="22" name="CustomShape 9">
                <a:extLst>
                  <a:ext uri="{FF2B5EF4-FFF2-40B4-BE49-F238E27FC236}">
                    <a16:creationId xmlns:a16="http://schemas.microsoft.com/office/drawing/2014/main" id="{CEED021A-D498-2F0E-184A-0102CDFCC047}"/>
                  </a:ext>
                </a:extLst>
              </p:cNvPr>
              <p:cNvSpPr/>
              <p:nvPr/>
            </p:nvSpPr>
            <p:spPr>
              <a:xfrm>
                <a:off x="993960" y="3591000"/>
                <a:ext cx="1525680" cy="32580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algn="ctr">
                  <a:lnSpc>
                    <a:spcPct val="100000"/>
                  </a:lnSpc>
                </a:pPr>
                <a:r>
                  <a:rPr lang="en-US" sz="1800" b="1" strike="noStrike" spc="-1">
                    <a:solidFill>
                      <a:srgbClr val="000000"/>
                    </a:solidFill>
                    <a:latin typeface="Arial"/>
                    <a:ea typeface="ＭＳ Ｐゴシック"/>
                  </a:rPr>
                  <a:t>Result Write</a:t>
                </a:r>
                <a:endParaRPr lang="en-US" sz="1800" b="0" strike="noStrike" spc="-1">
                  <a:latin typeface="Arial"/>
                </a:endParaRPr>
              </a:p>
            </p:txBody>
          </p:sp>
          <p:sp>
            <p:nvSpPr>
              <p:cNvPr id="23" name="Line 10">
                <a:extLst>
                  <a:ext uri="{FF2B5EF4-FFF2-40B4-BE49-F238E27FC236}">
                    <a16:creationId xmlns:a16="http://schemas.microsoft.com/office/drawing/2014/main" id="{B635C9D2-8A7E-7C0D-A1C3-D67A79D60B44}"/>
                  </a:ext>
                </a:extLst>
              </p:cNvPr>
              <p:cNvSpPr/>
              <p:nvPr/>
            </p:nvSpPr>
            <p:spPr>
              <a:xfrm>
                <a:off x="1749259" y="1651097"/>
                <a:ext cx="6461" cy="22025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4" name="Line 11">
                <a:extLst>
                  <a:ext uri="{FF2B5EF4-FFF2-40B4-BE49-F238E27FC236}">
                    <a16:creationId xmlns:a16="http://schemas.microsoft.com/office/drawing/2014/main" id="{C346C85A-A6ED-66D2-5106-6A7C3DD87ACF}"/>
                  </a:ext>
                </a:extLst>
              </p:cNvPr>
              <p:cNvSpPr/>
              <p:nvPr/>
            </p:nvSpPr>
            <p:spPr>
              <a:xfrm>
                <a:off x="1756440" y="2853636"/>
                <a:ext cx="360" cy="20088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5" name="Line 12">
                <a:extLst>
                  <a:ext uri="{FF2B5EF4-FFF2-40B4-BE49-F238E27FC236}">
                    <a16:creationId xmlns:a16="http://schemas.microsoft.com/office/drawing/2014/main" id="{9AFB2E00-92F9-0F43-B5A0-FE223E49D7DB}"/>
                  </a:ext>
                </a:extLst>
              </p:cNvPr>
              <p:cNvSpPr/>
              <p:nvPr/>
            </p:nvSpPr>
            <p:spPr>
              <a:xfrm>
                <a:off x="1749619" y="2385001"/>
                <a:ext cx="360" cy="1890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6" name="Line 13">
                <a:extLst>
                  <a:ext uri="{FF2B5EF4-FFF2-40B4-BE49-F238E27FC236}">
                    <a16:creationId xmlns:a16="http://schemas.microsoft.com/office/drawing/2014/main" id="{9ECDBCA4-382A-5A71-6A32-9ED44C23A6DD}"/>
                  </a:ext>
                </a:extLst>
              </p:cNvPr>
              <p:cNvSpPr/>
              <p:nvPr/>
            </p:nvSpPr>
            <p:spPr>
              <a:xfrm>
                <a:off x="1749979" y="3378600"/>
                <a:ext cx="360" cy="2124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7" name="Line 14">
                <a:extLst>
                  <a:ext uri="{FF2B5EF4-FFF2-40B4-BE49-F238E27FC236}">
                    <a16:creationId xmlns:a16="http://schemas.microsoft.com/office/drawing/2014/main" id="{6E1196F7-9D4F-8C62-DF15-190331926FE2}"/>
                  </a:ext>
                </a:extLst>
              </p:cNvPr>
              <p:cNvSpPr/>
              <p:nvPr/>
            </p:nvSpPr>
            <p:spPr>
              <a:xfrm flipH="1" flipV="1">
                <a:off x="587520" y="4284000"/>
                <a:ext cx="1162818" cy="6839"/>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8" name="Line 15">
                <a:extLst>
                  <a:ext uri="{FF2B5EF4-FFF2-40B4-BE49-F238E27FC236}">
                    <a16:creationId xmlns:a16="http://schemas.microsoft.com/office/drawing/2014/main" id="{CDDE8C76-B255-215F-5208-897C8E48BC47}"/>
                  </a:ext>
                </a:extLst>
              </p:cNvPr>
              <p:cNvSpPr/>
              <p:nvPr/>
            </p:nvSpPr>
            <p:spPr>
              <a:xfrm flipH="1" flipV="1">
                <a:off x="587160" y="1133640"/>
                <a:ext cx="360" cy="3150000"/>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9" name="Line 16">
                <a:extLst>
                  <a:ext uri="{FF2B5EF4-FFF2-40B4-BE49-F238E27FC236}">
                    <a16:creationId xmlns:a16="http://schemas.microsoft.com/office/drawing/2014/main" id="{EFD1CB40-4EFE-5CBF-78C2-230A6A77EB1D}"/>
                  </a:ext>
                </a:extLst>
              </p:cNvPr>
              <p:cNvSpPr/>
              <p:nvPr/>
            </p:nvSpPr>
            <p:spPr>
              <a:xfrm>
                <a:off x="587159" y="1140839"/>
                <a:ext cx="1163899" cy="7339"/>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0" name="Line 17">
                <a:extLst>
                  <a:ext uri="{FF2B5EF4-FFF2-40B4-BE49-F238E27FC236}">
                    <a16:creationId xmlns:a16="http://schemas.microsoft.com/office/drawing/2014/main" id="{19724794-4885-7B2C-5F91-97BE5D51862C}"/>
                  </a:ext>
                </a:extLst>
              </p:cNvPr>
              <p:cNvSpPr/>
              <p:nvPr/>
            </p:nvSpPr>
            <p:spPr>
              <a:xfrm>
                <a:off x="1751778" y="1148896"/>
                <a:ext cx="360" cy="2034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1" name="CustomShape 18">
                <a:extLst>
                  <a:ext uri="{FF2B5EF4-FFF2-40B4-BE49-F238E27FC236}">
                    <a16:creationId xmlns:a16="http://schemas.microsoft.com/office/drawing/2014/main" id="{0D0132C1-DBA3-0F71-4D85-2D55C4CB8F88}"/>
                  </a:ext>
                </a:extLst>
              </p:cNvPr>
              <p:cNvSpPr/>
              <p:nvPr/>
            </p:nvSpPr>
            <p:spPr>
              <a:xfrm rot="16200000">
                <a:off x="-201960" y="2711880"/>
                <a:ext cx="1637640" cy="39348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1" strike="noStrike" spc="-1">
                    <a:solidFill>
                      <a:srgbClr val="000000"/>
                    </a:solidFill>
                    <a:latin typeface="Times New Roman"/>
                    <a:ea typeface="ＭＳ Ｐゴシック"/>
                  </a:rPr>
                  <a:t>Next Instruction</a:t>
                </a:r>
                <a:endParaRPr lang="en-US" sz="1800" b="0" strike="noStrike" spc="-1">
                  <a:latin typeface="Arial"/>
                </a:endParaRPr>
              </a:p>
            </p:txBody>
          </p:sp>
        </p:grpSp>
        <p:sp>
          <p:nvSpPr>
            <p:cNvPr id="16" name="Line 13">
              <a:extLst>
                <a:ext uri="{FF2B5EF4-FFF2-40B4-BE49-F238E27FC236}">
                  <a16:creationId xmlns:a16="http://schemas.microsoft.com/office/drawing/2014/main" id="{92842633-75F7-1E39-8576-7D844602315B}"/>
                </a:ext>
              </a:extLst>
            </p:cNvPr>
            <p:cNvSpPr/>
            <p:nvPr/>
          </p:nvSpPr>
          <p:spPr>
            <a:xfrm>
              <a:off x="10468072" y="5534790"/>
              <a:ext cx="470" cy="469586"/>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Tree>
    <p:extLst>
      <p:ext uri="{BB962C8B-B14F-4D97-AF65-F5344CB8AC3E}">
        <p14:creationId xmlns:p14="http://schemas.microsoft.com/office/powerpoint/2010/main" val="24166100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46</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a:t>Datapath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en-US"/>
              <a:t>Giai đoạn truy xuất vùng nhớ (Memory stage)</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a:t>2</a:t>
            </a:r>
            <a:r>
              <a:rPr lang="en-US"/>
              <a:t>.4</a:t>
            </a:r>
            <a:endParaRPr lang="en-VN" dirty="0"/>
          </a:p>
        </p:txBody>
      </p:sp>
    </p:spTree>
    <p:extLst>
      <p:ext uri="{BB962C8B-B14F-4D97-AF65-F5344CB8AC3E}">
        <p14:creationId xmlns:p14="http://schemas.microsoft.com/office/powerpoint/2010/main" val="17188675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B837-36B6-E186-44DB-23E21FE87830}"/>
              </a:ext>
            </a:extLst>
          </p:cNvPr>
          <p:cNvSpPr>
            <a:spLocks noGrp="1"/>
          </p:cNvSpPr>
          <p:nvPr>
            <p:ph type="title"/>
          </p:nvPr>
        </p:nvSpPr>
        <p:spPr/>
        <p:txBody>
          <a:bodyPr>
            <a:normAutofit/>
          </a:bodyPr>
          <a:lstStyle/>
          <a:p>
            <a:r>
              <a:rPr lang="en-US"/>
              <a:t>Giai đoạn truy xuất vùng nhớ (Memory stage)</a:t>
            </a:r>
          </a:p>
        </p:txBody>
      </p:sp>
      <p:sp>
        <p:nvSpPr>
          <p:cNvPr id="3" name="Content Placeholder 2">
            <a:extLst>
              <a:ext uri="{FF2B5EF4-FFF2-40B4-BE49-F238E27FC236}">
                <a16:creationId xmlns:a16="http://schemas.microsoft.com/office/drawing/2014/main" id="{B9D46F1D-9FAD-10FB-A2F1-91263CEB3328}"/>
              </a:ext>
            </a:extLst>
          </p:cNvPr>
          <p:cNvSpPr>
            <a:spLocks noGrp="1"/>
          </p:cNvSpPr>
          <p:nvPr>
            <p:ph idx="1"/>
          </p:nvPr>
        </p:nvSpPr>
        <p:spPr/>
        <p:txBody>
          <a:bodyPr>
            <a:normAutofit/>
          </a:bodyPr>
          <a:lstStyle/>
          <a:p>
            <a:r>
              <a:rPr lang="vi-VN"/>
              <a:t>Giai đoạn truy xuất vùng nhớ:</a:t>
            </a:r>
          </a:p>
          <a:p>
            <a:pPr lvl="1"/>
            <a:r>
              <a:rPr lang="vi-VN"/>
              <a:t>Chỉ có lệnh Load và Store cần thực hiện các thao tác trong giai đoạn này:</a:t>
            </a:r>
          </a:p>
          <a:p>
            <a:pPr lvl="2"/>
            <a:r>
              <a:rPr lang="vi-VN"/>
              <a:t>Sử dụng địa chỉ vùng nhớ được tính toán ở giai đoạn ALU</a:t>
            </a:r>
          </a:p>
          <a:p>
            <a:pPr lvl="2"/>
            <a:r>
              <a:rPr lang="vi-VN"/>
              <a:t>Đọc dữ liệu ra hoặc ghi dữ liệu vào vùng nhớ dữ liệu</a:t>
            </a:r>
          </a:p>
          <a:p>
            <a:pPr lvl="1"/>
            <a:r>
              <a:rPr lang="vi-VN"/>
              <a:t>Tất cả các lệnh khác sẽ rảnh trong giai đoạn này</a:t>
            </a:r>
          </a:p>
          <a:p>
            <a:r>
              <a:rPr lang="vi-VN"/>
              <a:t>Đầu vào từ giai đoạn trước (ALU):</a:t>
            </a:r>
          </a:p>
          <a:p>
            <a:pPr lvl="1"/>
            <a:r>
              <a:rPr lang="vi-VN"/>
              <a:t>Kết quả tính toán được dùng làm địa chỉ vùng nhớ (nếu có thể ứng dụng)</a:t>
            </a:r>
          </a:p>
          <a:p>
            <a:r>
              <a:rPr lang="vi-VN"/>
              <a:t>Đầu ra cho giai đoạn tiếp theo (Result Write):</a:t>
            </a:r>
          </a:p>
          <a:p>
            <a:pPr lvl="1"/>
            <a:r>
              <a:rPr lang="vi-VN"/>
              <a:t>Dữ liệu được đọc từ vùng nhớ đối với lệnh Load</a:t>
            </a:r>
          </a:p>
          <a:p>
            <a:pPr lvl="1"/>
            <a:r>
              <a:rPr lang="vi-VN"/>
              <a:t>Kết quả được lưu trữ lại đối với lệnh Store</a:t>
            </a:r>
          </a:p>
        </p:txBody>
      </p:sp>
      <p:sp>
        <p:nvSpPr>
          <p:cNvPr id="4" name="Footer Placeholder 3">
            <a:extLst>
              <a:ext uri="{FF2B5EF4-FFF2-40B4-BE49-F238E27FC236}">
                <a16:creationId xmlns:a16="http://schemas.microsoft.com/office/drawing/2014/main" id="{A6968558-B237-1099-B1D5-7F7C18B534C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3154C20-D789-0928-41F7-A66DAC47ED84}"/>
              </a:ext>
            </a:extLst>
          </p:cNvPr>
          <p:cNvSpPr>
            <a:spLocks noGrp="1"/>
          </p:cNvSpPr>
          <p:nvPr>
            <p:ph type="sldNum" sz="quarter" idx="12"/>
          </p:nvPr>
        </p:nvSpPr>
        <p:spPr/>
        <p:txBody>
          <a:bodyPr/>
          <a:lstStyle/>
          <a:p>
            <a:fld id="{D8B0B3AC-44A8-D142-AAF6-9A453466E1A4}" type="slidenum">
              <a:rPr lang="en-VN" smtClean="0"/>
              <a:pPr/>
              <a:t>47</a:t>
            </a:fld>
            <a:endParaRPr lang="en-VN" dirty="0"/>
          </a:p>
        </p:txBody>
      </p:sp>
      <p:sp>
        <p:nvSpPr>
          <p:cNvPr id="6" name="Date Placeholder 5">
            <a:extLst>
              <a:ext uri="{FF2B5EF4-FFF2-40B4-BE49-F238E27FC236}">
                <a16:creationId xmlns:a16="http://schemas.microsoft.com/office/drawing/2014/main" id="{141E8A66-41C9-9CC1-2355-356C3F4EE6D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spTree>
    <p:extLst>
      <p:ext uri="{BB962C8B-B14F-4D97-AF65-F5344CB8AC3E}">
        <p14:creationId xmlns:p14="http://schemas.microsoft.com/office/powerpoint/2010/main" val="3361695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B837-36B6-E186-44DB-23E21FE87830}"/>
              </a:ext>
            </a:extLst>
          </p:cNvPr>
          <p:cNvSpPr>
            <a:spLocks noGrp="1"/>
          </p:cNvSpPr>
          <p:nvPr>
            <p:ph type="title"/>
          </p:nvPr>
        </p:nvSpPr>
        <p:spPr/>
        <p:txBody>
          <a:bodyPr>
            <a:normAutofit/>
          </a:bodyPr>
          <a:lstStyle/>
          <a:p>
            <a:r>
              <a:rPr lang="en-US"/>
              <a:t>Giai đoạn truy xuất vùng nhớ (Memory stage)</a:t>
            </a:r>
          </a:p>
        </p:txBody>
      </p:sp>
      <p:sp>
        <p:nvSpPr>
          <p:cNvPr id="4" name="Footer Placeholder 3">
            <a:extLst>
              <a:ext uri="{FF2B5EF4-FFF2-40B4-BE49-F238E27FC236}">
                <a16:creationId xmlns:a16="http://schemas.microsoft.com/office/drawing/2014/main" id="{A6968558-B237-1099-B1D5-7F7C18B534C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3154C20-D789-0928-41F7-A66DAC47ED84}"/>
              </a:ext>
            </a:extLst>
          </p:cNvPr>
          <p:cNvSpPr>
            <a:spLocks noGrp="1"/>
          </p:cNvSpPr>
          <p:nvPr>
            <p:ph type="sldNum" sz="quarter" idx="12"/>
          </p:nvPr>
        </p:nvSpPr>
        <p:spPr/>
        <p:txBody>
          <a:bodyPr/>
          <a:lstStyle/>
          <a:p>
            <a:fld id="{D8B0B3AC-44A8-D142-AAF6-9A453466E1A4}" type="slidenum">
              <a:rPr lang="en-VN" smtClean="0"/>
              <a:pPr/>
              <a:t>48</a:t>
            </a:fld>
            <a:endParaRPr lang="en-VN" dirty="0"/>
          </a:p>
        </p:txBody>
      </p:sp>
      <p:sp>
        <p:nvSpPr>
          <p:cNvPr id="6" name="Date Placeholder 5">
            <a:extLst>
              <a:ext uri="{FF2B5EF4-FFF2-40B4-BE49-F238E27FC236}">
                <a16:creationId xmlns:a16="http://schemas.microsoft.com/office/drawing/2014/main" id="{141E8A66-41C9-9CC1-2355-356C3F4EE6D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sp>
        <p:nvSpPr>
          <p:cNvPr id="9" name="Line 1">
            <a:extLst>
              <a:ext uri="{FF2B5EF4-FFF2-40B4-BE49-F238E27FC236}">
                <a16:creationId xmlns:a16="http://schemas.microsoft.com/office/drawing/2014/main" id="{63A8E9C8-D834-01BB-E534-619C5B2709F9}"/>
              </a:ext>
            </a:extLst>
          </p:cNvPr>
          <p:cNvSpPr/>
          <p:nvPr/>
        </p:nvSpPr>
        <p:spPr>
          <a:xfrm flipV="1">
            <a:off x="7394817" y="3045020"/>
            <a:ext cx="1088867" cy="0"/>
          </a:xfrm>
          <a:prstGeom prst="line">
            <a:avLst/>
          </a:prstGeom>
          <a:ln w="1260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0" name="CustomShape 2">
            <a:extLst>
              <a:ext uri="{FF2B5EF4-FFF2-40B4-BE49-F238E27FC236}">
                <a16:creationId xmlns:a16="http://schemas.microsoft.com/office/drawing/2014/main" id="{1CEF48CE-CFD8-1B6A-B0A5-AFEEBECA9A64}"/>
              </a:ext>
            </a:extLst>
          </p:cNvPr>
          <p:cNvSpPr/>
          <p:nvPr/>
        </p:nvSpPr>
        <p:spPr>
          <a:xfrm rot="10800000">
            <a:off x="1532098" y="2540480"/>
            <a:ext cx="1396200" cy="944640"/>
          </a:xfrm>
          <a:prstGeom prst="rect">
            <a:avLst/>
          </a:prstGeom>
          <a:solidFill>
            <a:schemeClr val="accent1">
              <a:lumMod val="20000"/>
              <a:lumOff val="80000"/>
            </a:schemeClr>
          </a:solidFill>
          <a:ln w="19080">
            <a:round/>
          </a:ln>
        </p:spPr>
        <p:style>
          <a:lnRef idx="2">
            <a:schemeClr val="accent1">
              <a:shade val="50000"/>
            </a:schemeClr>
          </a:lnRef>
          <a:fillRef idx="1">
            <a:schemeClr val="accent1"/>
          </a:fillRef>
          <a:effectRef idx="0">
            <a:schemeClr val="accent1"/>
          </a:effectRef>
          <a:fontRef idx="minor"/>
        </p:style>
        <p:txBody>
          <a:bodyPr rot="5400000" vert="vert" lIns="90000" tIns="45000" rIns="90000" bIns="45000" anchor="ctr"/>
          <a:lstStyle/>
          <a:p>
            <a:pPr algn="ctr">
              <a:lnSpc>
                <a:spcPct val="100000"/>
              </a:lnSpc>
            </a:pPr>
            <a:r>
              <a:rPr lang="en-US" sz="1800" b="1" strike="noStrike" spc="-1">
                <a:solidFill>
                  <a:srgbClr val="C00000"/>
                </a:solidFill>
                <a:latin typeface="Times New Roman"/>
                <a:ea typeface="ＭＳ Ｐゴシック"/>
              </a:rPr>
              <a:t>ALU Stage</a:t>
            </a:r>
            <a:endParaRPr lang="en-US" sz="1800" b="0" strike="noStrike" spc="-1">
              <a:latin typeface="Arial"/>
            </a:endParaRPr>
          </a:p>
        </p:txBody>
      </p:sp>
      <p:sp>
        <p:nvSpPr>
          <p:cNvPr id="11" name="CustomShape 3">
            <a:extLst>
              <a:ext uri="{FF2B5EF4-FFF2-40B4-BE49-F238E27FC236}">
                <a16:creationId xmlns:a16="http://schemas.microsoft.com/office/drawing/2014/main" id="{E0219065-85A1-9E65-749D-65FD9FD7B443}"/>
              </a:ext>
            </a:extLst>
          </p:cNvPr>
          <p:cNvSpPr/>
          <p:nvPr/>
        </p:nvSpPr>
        <p:spPr>
          <a:xfrm>
            <a:off x="2993818" y="2772140"/>
            <a:ext cx="1511640" cy="503640"/>
          </a:xfrm>
          <a:prstGeom prst="rightArrow">
            <a:avLst>
              <a:gd name="adj1" fmla="val 50000"/>
              <a:gd name="adj2" fmla="val 50000"/>
            </a:avLst>
          </a:prstGeom>
          <a:solidFill>
            <a:schemeClr val="accent2">
              <a:lumMod val="20000"/>
              <a:lumOff val="80000"/>
            </a:schemeClr>
          </a:solidFill>
          <a:ln w="1260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Result</a:t>
            </a:r>
            <a:endParaRPr lang="en-US" sz="1800" b="0" strike="noStrike" spc="-1">
              <a:latin typeface="Arial"/>
            </a:endParaRPr>
          </a:p>
        </p:txBody>
      </p:sp>
      <p:sp>
        <p:nvSpPr>
          <p:cNvPr id="12" name="CustomShape 4">
            <a:extLst>
              <a:ext uri="{FF2B5EF4-FFF2-40B4-BE49-F238E27FC236}">
                <a16:creationId xmlns:a16="http://schemas.microsoft.com/office/drawing/2014/main" id="{378426FE-7111-7E8E-91CD-435015DC348B}"/>
              </a:ext>
            </a:extLst>
          </p:cNvPr>
          <p:cNvSpPr/>
          <p:nvPr/>
        </p:nvSpPr>
        <p:spPr>
          <a:xfrm rot="10800000">
            <a:off x="8506545" y="2398460"/>
            <a:ext cx="1427305" cy="1297080"/>
          </a:xfrm>
          <a:prstGeom prst="rect">
            <a:avLst/>
          </a:prstGeom>
          <a:solidFill>
            <a:schemeClr val="accent5">
              <a:lumMod val="20000"/>
              <a:lumOff val="80000"/>
            </a:schemeClr>
          </a:solidFill>
          <a:ln w="19080">
            <a:solidFill>
              <a:schemeClr val="accent5">
                <a:lumMod val="50000"/>
              </a:schemeClr>
            </a:solidFill>
            <a:round/>
          </a:ln>
        </p:spPr>
        <p:style>
          <a:lnRef idx="2">
            <a:schemeClr val="accent1">
              <a:shade val="50000"/>
            </a:schemeClr>
          </a:lnRef>
          <a:fillRef idx="1">
            <a:schemeClr val="accent1"/>
          </a:fillRef>
          <a:effectRef idx="0">
            <a:schemeClr val="accent1"/>
          </a:effectRef>
          <a:fontRef idx="minor"/>
        </p:style>
        <p:txBody>
          <a:bodyPr rot="5400000" vert="vert" lIns="90000" tIns="45000" rIns="90000" bIns="45000" anchor="ctr"/>
          <a:lstStyle/>
          <a:p>
            <a:pPr algn="ctr">
              <a:lnSpc>
                <a:spcPct val="100000"/>
              </a:lnSpc>
            </a:pPr>
            <a:r>
              <a:rPr lang="en-US" sz="1800" b="1" strike="noStrike" spc="-1">
                <a:solidFill>
                  <a:srgbClr val="006600"/>
                </a:solidFill>
                <a:latin typeface="Times New Roman"/>
                <a:ea typeface="ＭＳ Ｐゴシック"/>
              </a:rPr>
              <a:t>Result Store Stage</a:t>
            </a:r>
            <a:endParaRPr lang="en-US" sz="1800" b="0" strike="noStrike" spc="-1">
              <a:latin typeface="Arial"/>
            </a:endParaRPr>
          </a:p>
        </p:txBody>
      </p:sp>
      <p:sp>
        <p:nvSpPr>
          <p:cNvPr id="13" name="CustomShape 5">
            <a:extLst>
              <a:ext uri="{FF2B5EF4-FFF2-40B4-BE49-F238E27FC236}">
                <a16:creationId xmlns:a16="http://schemas.microsoft.com/office/drawing/2014/main" id="{080A6578-A5A0-1308-A2C7-BE410851B586}"/>
              </a:ext>
            </a:extLst>
          </p:cNvPr>
          <p:cNvSpPr/>
          <p:nvPr/>
        </p:nvSpPr>
        <p:spPr>
          <a:xfrm>
            <a:off x="4505818" y="2393780"/>
            <a:ext cx="335880" cy="1259640"/>
          </a:xfrm>
          <a:prstGeom prst="leftBrace">
            <a:avLst>
              <a:gd name="adj1" fmla="val 8333"/>
              <a:gd name="adj2" fmla="val 49444"/>
            </a:avLst>
          </a:prstGeom>
          <a:noFill/>
          <a:ln w="15840">
            <a:solidFill>
              <a:srgbClr val="57667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4" name="CustomShape 6">
            <a:extLst>
              <a:ext uri="{FF2B5EF4-FFF2-40B4-BE49-F238E27FC236}">
                <a16:creationId xmlns:a16="http://schemas.microsoft.com/office/drawing/2014/main" id="{0BFF2B0A-A4FB-39FC-619A-07B9221B58E7}"/>
              </a:ext>
            </a:extLst>
          </p:cNvPr>
          <p:cNvSpPr/>
          <p:nvPr/>
        </p:nvSpPr>
        <p:spPr>
          <a:xfrm>
            <a:off x="2657938" y="4346780"/>
            <a:ext cx="2183400" cy="692640"/>
          </a:xfrm>
          <a:prstGeom prst="accentCallout2">
            <a:avLst>
              <a:gd name="adj1" fmla="val 43374"/>
              <a:gd name="adj2" fmla="val 107051"/>
              <a:gd name="adj3" fmla="val -13554"/>
              <a:gd name="adj4" fmla="val 122925"/>
              <a:gd name="adj5" fmla="val -110560"/>
              <a:gd name="adj6" fmla="val 151945"/>
            </a:avLst>
          </a:prstGeom>
          <a:solidFill>
            <a:schemeClr val="accent6">
              <a:lumMod val="20000"/>
              <a:lumOff val="80000"/>
            </a:schemeClr>
          </a:solidFill>
          <a:ln w="19080">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Bộ nhớ lưu trữ dữ liệu</a:t>
            </a:r>
            <a:endParaRPr lang="en-US" sz="1800" b="0" strike="noStrike" spc="-1">
              <a:latin typeface="Arial"/>
            </a:endParaRPr>
          </a:p>
        </p:txBody>
      </p:sp>
      <p:sp>
        <p:nvSpPr>
          <p:cNvPr id="15" name="CustomShape 7">
            <a:extLst>
              <a:ext uri="{FF2B5EF4-FFF2-40B4-BE49-F238E27FC236}">
                <a16:creationId xmlns:a16="http://schemas.microsoft.com/office/drawing/2014/main" id="{73894CCA-5CB3-F590-AC2C-C6298A927CFD}"/>
              </a:ext>
            </a:extLst>
          </p:cNvPr>
          <p:cNvSpPr/>
          <p:nvPr/>
        </p:nvSpPr>
        <p:spPr>
          <a:xfrm>
            <a:off x="5681938" y="2435900"/>
            <a:ext cx="1679760" cy="125964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6" name="Line 8">
            <a:extLst>
              <a:ext uri="{FF2B5EF4-FFF2-40B4-BE49-F238E27FC236}">
                <a16:creationId xmlns:a16="http://schemas.microsoft.com/office/drawing/2014/main" id="{853D9FE6-564F-281D-016B-1318F14F6554}"/>
              </a:ext>
            </a:extLst>
          </p:cNvPr>
          <p:cNvSpPr/>
          <p:nvPr/>
        </p:nvSpPr>
        <p:spPr>
          <a:xfrm>
            <a:off x="4757458" y="2687900"/>
            <a:ext cx="9241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7" name="CustomShape 9">
            <a:extLst>
              <a:ext uri="{FF2B5EF4-FFF2-40B4-BE49-F238E27FC236}">
                <a16:creationId xmlns:a16="http://schemas.microsoft.com/office/drawing/2014/main" id="{CAB54E80-D48E-F13F-D801-CC463AE102A9}"/>
              </a:ext>
            </a:extLst>
          </p:cNvPr>
          <p:cNvSpPr/>
          <p:nvPr/>
        </p:nvSpPr>
        <p:spPr>
          <a:xfrm>
            <a:off x="6459898" y="3275780"/>
            <a:ext cx="87444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Data</a:t>
            </a:r>
            <a:endParaRPr lang="en-US" sz="1200" b="0" strike="noStrike" spc="-1">
              <a:latin typeface="Arial"/>
            </a:endParaRPr>
          </a:p>
          <a:p>
            <a:pPr algn="ctr">
              <a:lnSpc>
                <a:spcPct val="100000"/>
              </a:lnSpc>
            </a:pPr>
            <a:r>
              <a:rPr lang="en-US" sz="1200" b="1" i="1" strike="noStrike" spc="-1">
                <a:solidFill>
                  <a:srgbClr val="000000"/>
                </a:solidFill>
                <a:latin typeface="Verdana"/>
                <a:ea typeface="ＭＳ Ｐゴシック"/>
              </a:rPr>
              <a:t>Memory</a:t>
            </a:r>
            <a:endParaRPr lang="en-US" sz="1200" b="0" strike="noStrike" spc="-1">
              <a:latin typeface="Arial"/>
            </a:endParaRPr>
          </a:p>
        </p:txBody>
      </p:sp>
      <p:sp>
        <p:nvSpPr>
          <p:cNvPr id="18" name="CustomShape 10">
            <a:extLst>
              <a:ext uri="{FF2B5EF4-FFF2-40B4-BE49-F238E27FC236}">
                <a16:creationId xmlns:a16="http://schemas.microsoft.com/office/drawing/2014/main" id="{2368B389-8EFB-24FD-D3E6-AF9C2BA4E94B}"/>
              </a:ext>
            </a:extLst>
          </p:cNvPr>
          <p:cNvSpPr/>
          <p:nvPr/>
        </p:nvSpPr>
        <p:spPr>
          <a:xfrm>
            <a:off x="5720818" y="2560460"/>
            <a:ext cx="755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Address</a:t>
            </a:r>
            <a:endParaRPr lang="en-US" sz="1000" b="0" strike="noStrike" spc="-1">
              <a:latin typeface="Arial"/>
            </a:endParaRPr>
          </a:p>
        </p:txBody>
      </p:sp>
      <p:sp>
        <p:nvSpPr>
          <p:cNvPr id="19" name="CustomShape 11">
            <a:extLst>
              <a:ext uri="{FF2B5EF4-FFF2-40B4-BE49-F238E27FC236}">
                <a16:creationId xmlns:a16="http://schemas.microsoft.com/office/drawing/2014/main" id="{65F71B05-7B0C-B360-01CB-001969265621}"/>
              </a:ext>
            </a:extLst>
          </p:cNvPr>
          <p:cNvSpPr/>
          <p:nvPr/>
        </p:nvSpPr>
        <p:spPr>
          <a:xfrm>
            <a:off x="6719818" y="2856020"/>
            <a:ext cx="58356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20" name="Line 12">
            <a:extLst>
              <a:ext uri="{FF2B5EF4-FFF2-40B4-BE49-F238E27FC236}">
                <a16:creationId xmlns:a16="http://schemas.microsoft.com/office/drawing/2014/main" id="{E6E360D9-93CB-51CF-18C2-DD60E041A4AE}"/>
              </a:ext>
            </a:extLst>
          </p:cNvPr>
          <p:cNvSpPr/>
          <p:nvPr/>
        </p:nvSpPr>
        <p:spPr>
          <a:xfrm>
            <a:off x="4757458" y="3254900"/>
            <a:ext cx="9241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1" name="CustomShape 13">
            <a:extLst>
              <a:ext uri="{FF2B5EF4-FFF2-40B4-BE49-F238E27FC236}">
                <a16:creationId xmlns:a16="http://schemas.microsoft.com/office/drawing/2014/main" id="{D0CF027D-E922-B9D8-0F20-16B02410CF60}"/>
              </a:ext>
            </a:extLst>
          </p:cNvPr>
          <p:cNvSpPr/>
          <p:nvPr/>
        </p:nvSpPr>
        <p:spPr>
          <a:xfrm>
            <a:off x="5715058" y="3045020"/>
            <a:ext cx="6138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22" name="Line 14">
            <a:extLst>
              <a:ext uri="{FF2B5EF4-FFF2-40B4-BE49-F238E27FC236}">
                <a16:creationId xmlns:a16="http://schemas.microsoft.com/office/drawing/2014/main" id="{09516836-3379-F1C7-F195-3ABBB245D574}"/>
              </a:ext>
            </a:extLst>
          </p:cNvPr>
          <p:cNvSpPr/>
          <p:nvPr/>
        </p:nvSpPr>
        <p:spPr>
          <a:xfrm>
            <a:off x="6521818" y="3695900"/>
            <a:ext cx="360" cy="252000"/>
          </a:xfrm>
          <a:prstGeom prst="line">
            <a:avLst/>
          </a:prstGeom>
          <a:ln w="12600">
            <a:solidFill>
              <a:srgbClr val="002060"/>
            </a:solidFill>
            <a:round/>
          </a:ln>
        </p:spPr>
        <p:style>
          <a:lnRef idx="0">
            <a:scrgbClr r="0" g="0" b="0"/>
          </a:lnRef>
          <a:fillRef idx="0">
            <a:scrgbClr r="0" g="0" b="0"/>
          </a:fillRef>
          <a:effectRef idx="0">
            <a:scrgbClr r="0" g="0" b="0"/>
          </a:effectRef>
          <a:fontRef idx="minor"/>
        </p:style>
        <p:txBody>
          <a:bodyPr/>
          <a:lstStyle/>
          <a:p>
            <a:endParaRPr lang="vi-VN"/>
          </a:p>
        </p:txBody>
      </p:sp>
      <p:sp>
        <p:nvSpPr>
          <p:cNvPr id="23" name="Line 15">
            <a:extLst>
              <a:ext uri="{FF2B5EF4-FFF2-40B4-BE49-F238E27FC236}">
                <a16:creationId xmlns:a16="http://schemas.microsoft.com/office/drawing/2014/main" id="{AA44C573-6FE4-D830-6FCA-C194B11F1305}"/>
              </a:ext>
            </a:extLst>
          </p:cNvPr>
          <p:cNvSpPr/>
          <p:nvPr/>
        </p:nvSpPr>
        <p:spPr>
          <a:xfrm>
            <a:off x="6521818" y="2183900"/>
            <a:ext cx="360" cy="252000"/>
          </a:xfrm>
          <a:prstGeom prst="line">
            <a:avLst/>
          </a:prstGeom>
          <a:ln w="12600">
            <a:solidFill>
              <a:srgbClr val="002060"/>
            </a:solidFill>
            <a:round/>
          </a:ln>
        </p:spPr>
        <p:style>
          <a:lnRef idx="0">
            <a:scrgbClr r="0" g="0" b="0"/>
          </a:lnRef>
          <a:fillRef idx="0">
            <a:scrgbClr r="0" g="0" b="0"/>
          </a:fillRef>
          <a:effectRef idx="0">
            <a:scrgbClr r="0" g="0" b="0"/>
          </a:effectRef>
          <a:fontRef idx="minor"/>
        </p:style>
        <p:txBody>
          <a:bodyPr/>
          <a:lstStyle/>
          <a:p>
            <a:endParaRPr lang="vi-VN"/>
          </a:p>
        </p:txBody>
      </p:sp>
      <p:sp>
        <p:nvSpPr>
          <p:cNvPr id="24" name="CustomShape 16">
            <a:extLst>
              <a:ext uri="{FF2B5EF4-FFF2-40B4-BE49-F238E27FC236}">
                <a16:creationId xmlns:a16="http://schemas.microsoft.com/office/drawing/2014/main" id="{20AF65F4-C888-D68D-DB71-DFB5DAA05E64}"/>
              </a:ext>
            </a:extLst>
          </p:cNvPr>
          <p:cNvSpPr/>
          <p:nvPr/>
        </p:nvSpPr>
        <p:spPr>
          <a:xfrm>
            <a:off x="5909098" y="3969140"/>
            <a:ext cx="117000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400" b="1" strike="noStrike" spc="-1">
                <a:solidFill>
                  <a:srgbClr val="660066"/>
                </a:solidFill>
                <a:latin typeface="Verdana"/>
                <a:ea typeface="ＭＳ Ｐゴシック"/>
              </a:rPr>
              <a:t>MemRead</a:t>
            </a:r>
            <a:endParaRPr lang="en-US" sz="1400" b="0" strike="noStrike" spc="-1">
              <a:latin typeface="Arial"/>
            </a:endParaRPr>
          </a:p>
        </p:txBody>
      </p:sp>
      <p:sp>
        <p:nvSpPr>
          <p:cNvPr id="25" name="CustomShape 17">
            <a:extLst>
              <a:ext uri="{FF2B5EF4-FFF2-40B4-BE49-F238E27FC236}">
                <a16:creationId xmlns:a16="http://schemas.microsoft.com/office/drawing/2014/main" id="{23B4A5E3-CA93-45FC-81A4-523F2E66F59E}"/>
              </a:ext>
            </a:extLst>
          </p:cNvPr>
          <p:cNvSpPr/>
          <p:nvPr/>
        </p:nvSpPr>
        <p:spPr>
          <a:xfrm>
            <a:off x="5913778" y="1952780"/>
            <a:ext cx="12128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400" b="1" strike="noStrike" spc="-1">
                <a:solidFill>
                  <a:srgbClr val="660066"/>
                </a:solidFill>
                <a:latin typeface="Verdana"/>
                <a:ea typeface="ＭＳ Ｐゴシック"/>
              </a:rPr>
              <a:t>MemWrite</a:t>
            </a:r>
            <a:endParaRPr lang="en-US" sz="1400" b="0" strike="noStrike" spc="-1">
              <a:latin typeface="Arial"/>
            </a:endParaRPr>
          </a:p>
        </p:txBody>
      </p:sp>
    </p:spTree>
    <p:extLst>
      <p:ext uri="{BB962C8B-B14F-4D97-AF65-F5344CB8AC3E}">
        <p14:creationId xmlns:p14="http://schemas.microsoft.com/office/powerpoint/2010/main" val="17080787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B837-36B6-E186-44DB-23E21FE87830}"/>
              </a:ext>
            </a:extLst>
          </p:cNvPr>
          <p:cNvSpPr>
            <a:spLocks noGrp="1"/>
          </p:cNvSpPr>
          <p:nvPr>
            <p:ph type="title"/>
          </p:nvPr>
        </p:nvSpPr>
        <p:spPr/>
        <p:txBody>
          <a:bodyPr/>
          <a:lstStyle/>
          <a:p>
            <a:r>
              <a:rPr lang="en-US"/>
              <a:t>Khối Data Memory</a:t>
            </a:r>
          </a:p>
        </p:txBody>
      </p:sp>
      <p:sp>
        <p:nvSpPr>
          <p:cNvPr id="3" name="Content Placeholder 2">
            <a:extLst>
              <a:ext uri="{FF2B5EF4-FFF2-40B4-BE49-F238E27FC236}">
                <a16:creationId xmlns:a16="http://schemas.microsoft.com/office/drawing/2014/main" id="{B9D46F1D-9FAD-10FB-A2F1-91263CEB3328}"/>
              </a:ext>
            </a:extLst>
          </p:cNvPr>
          <p:cNvSpPr>
            <a:spLocks noGrp="1"/>
          </p:cNvSpPr>
          <p:nvPr>
            <p:ph idx="1"/>
          </p:nvPr>
        </p:nvSpPr>
        <p:spPr/>
        <p:txBody>
          <a:bodyPr>
            <a:normAutofit/>
          </a:bodyPr>
          <a:lstStyle/>
          <a:p>
            <a:r>
              <a:rPr lang="vi-VN"/>
              <a:t>Vùng nhớ này lưu trữ dữ liệu cần thiết của chương trình</a:t>
            </a:r>
          </a:p>
          <a:p>
            <a:r>
              <a:rPr lang="vi-VN"/>
              <a:t>Inputs: </a:t>
            </a:r>
          </a:p>
          <a:p>
            <a:pPr lvl="1"/>
            <a:r>
              <a:rPr lang="vi-VN"/>
              <a:t>Address: Địa chỉ vùng nhớ</a:t>
            </a:r>
          </a:p>
          <a:p>
            <a:pPr lvl="1"/>
            <a:r>
              <a:rPr lang="vi-VN"/>
              <a:t>Write Data: Dữ liệu sẽ được ghi vào vùng nhớ đối với lệnh Store</a:t>
            </a:r>
          </a:p>
          <a:p>
            <a:r>
              <a:rPr lang="vi-VN"/>
              <a:t>Tín hiệu điều khiển: </a:t>
            </a:r>
          </a:p>
          <a:p>
            <a:pPr lvl="1"/>
            <a:r>
              <a:rPr lang="vi-VN"/>
              <a:t>Tín hiệu đọc (MemRead ) và ghi (MemWrite); chỉ một tín hiệu được bật lên tại bất kì một thời điểm nào</a:t>
            </a:r>
          </a:p>
          <a:p>
            <a:r>
              <a:rPr lang="vi-VN"/>
              <a:t>Output: </a:t>
            </a:r>
          </a:p>
          <a:p>
            <a:pPr lvl="1"/>
            <a:r>
              <a:rPr lang="vi-VN"/>
              <a:t>Dữ liệu được đọc từ vùng nhớ đối với lệnh Load</a:t>
            </a:r>
          </a:p>
        </p:txBody>
      </p:sp>
      <p:sp>
        <p:nvSpPr>
          <p:cNvPr id="4" name="Footer Placeholder 3">
            <a:extLst>
              <a:ext uri="{FF2B5EF4-FFF2-40B4-BE49-F238E27FC236}">
                <a16:creationId xmlns:a16="http://schemas.microsoft.com/office/drawing/2014/main" id="{A6968558-B237-1099-B1D5-7F7C18B534C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3154C20-D789-0928-41F7-A66DAC47ED84}"/>
              </a:ext>
            </a:extLst>
          </p:cNvPr>
          <p:cNvSpPr>
            <a:spLocks noGrp="1"/>
          </p:cNvSpPr>
          <p:nvPr>
            <p:ph type="sldNum" sz="quarter" idx="12"/>
          </p:nvPr>
        </p:nvSpPr>
        <p:spPr/>
        <p:txBody>
          <a:bodyPr/>
          <a:lstStyle/>
          <a:p>
            <a:fld id="{D8B0B3AC-44A8-D142-AAF6-9A453466E1A4}" type="slidenum">
              <a:rPr lang="en-VN" smtClean="0"/>
              <a:pPr/>
              <a:t>49</a:t>
            </a:fld>
            <a:endParaRPr lang="en-VN" dirty="0"/>
          </a:p>
        </p:txBody>
      </p:sp>
      <p:sp>
        <p:nvSpPr>
          <p:cNvPr id="6" name="Date Placeholder 5">
            <a:extLst>
              <a:ext uri="{FF2B5EF4-FFF2-40B4-BE49-F238E27FC236}">
                <a16:creationId xmlns:a16="http://schemas.microsoft.com/office/drawing/2014/main" id="{141E8A66-41C9-9CC1-2355-356C3F4EE6D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grpSp>
        <p:nvGrpSpPr>
          <p:cNvPr id="7" name="Group 3">
            <a:extLst>
              <a:ext uri="{FF2B5EF4-FFF2-40B4-BE49-F238E27FC236}">
                <a16:creationId xmlns:a16="http://schemas.microsoft.com/office/drawing/2014/main" id="{5B567173-34A5-01C7-A9BB-626994F090F4}"/>
              </a:ext>
            </a:extLst>
          </p:cNvPr>
          <p:cNvGrpSpPr/>
          <p:nvPr/>
        </p:nvGrpSpPr>
        <p:grpSpPr>
          <a:xfrm>
            <a:off x="8843423" y="3954146"/>
            <a:ext cx="2940120" cy="2318760"/>
            <a:chOff x="6971400" y="1761480"/>
            <a:chExt cx="2940120" cy="2318760"/>
          </a:xfrm>
        </p:grpSpPr>
        <p:sp>
          <p:nvSpPr>
            <p:cNvPr id="8" name="CustomShape 4">
              <a:extLst>
                <a:ext uri="{FF2B5EF4-FFF2-40B4-BE49-F238E27FC236}">
                  <a16:creationId xmlns:a16="http://schemas.microsoft.com/office/drawing/2014/main" id="{CE58291A-4663-1662-FC3C-A4035D360258}"/>
                </a:ext>
              </a:extLst>
            </p:cNvPr>
            <p:cNvSpPr/>
            <p:nvPr/>
          </p:nvSpPr>
          <p:spPr>
            <a:xfrm>
              <a:off x="7475400" y="2244600"/>
              <a:ext cx="1679760" cy="1259640"/>
            </a:xfrm>
            <a:prstGeom prst="rect">
              <a:avLst/>
            </a:prstGeom>
            <a:solidFill>
              <a:srgbClr val="FFFFCC"/>
            </a:solid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9" name="Line 5">
              <a:extLst>
                <a:ext uri="{FF2B5EF4-FFF2-40B4-BE49-F238E27FC236}">
                  <a16:creationId xmlns:a16="http://schemas.microsoft.com/office/drawing/2014/main" id="{4FE3C340-58C5-C914-75E2-ED7725C0373F}"/>
                </a:ext>
              </a:extLst>
            </p:cNvPr>
            <p:cNvSpPr/>
            <p:nvPr/>
          </p:nvSpPr>
          <p:spPr>
            <a:xfrm>
              <a:off x="9155520" y="2874240"/>
              <a:ext cx="7560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0" name="CustomShape 6">
              <a:extLst>
                <a:ext uri="{FF2B5EF4-FFF2-40B4-BE49-F238E27FC236}">
                  <a16:creationId xmlns:a16="http://schemas.microsoft.com/office/drawing/2014/main" id="{2712AC6F-A43B-A4FA-3B22-9777BF210A65}"/>
                </a:ext>
              </a:extLst>
            </p:cNvPr>
            <p:cNvSpPr/>
            <p:nvPr/>
          </p:nvSpPr>
          <p:spPr>
            <a:xfrm>
              <a:off x="8253720" y="3084480"/>
              <a:ext cx="87444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C00000"/>
                  </a:solidFill>
                  <a:latin typeface="Verdana"/>
                  <a:ea typeface="ＭＳ Ｐゴシック"/>
                </a:rPr>
                <a:t>Data</a:t>
              </a:r>
              <a:endParaRPr lang="en-US" sz="1200" b="0" strike="noStrike" spc="-1">
                <a:latin typeface="Arial"/>
              </a:endParaRPr>
            </a:p>
            <a:p>
              <a:pPr algn="ctr">
                <a:lnSpc>
                  <a:spcPct val="100000"/>
                </a:lnSpc>
              </a:pPr>
              <a:r>
                <a:rPr lang="en-US" sz="1200" b="1" i="1" strike="noStrike" spc="-1">
                  <a:solidFill>
                    <a:srgbClr val="C00000"/>
                  </a:solidFill>
                  <a:latin typeface="Verdana"/>
                  <a:ea typeface="ＭＳ Ｐゴシック"/>
                </a:rPr>
                <a:t>Memory</a:t>
              </a:r>
              <a:endParaRPr lang="en-US" sz="1200" b="0" strike="noStrike" spc="-1">
                <a:latin typeface="Arial"/>
              </a:endParaRPr>
            </a:p>
          </p:txBody>
        </p:sp>
        <p:sp>
          <p:nvSpPr>
            <p:cNvPr id="11" name="CustomShape 7">
              <a:extLst>
                <a:ext uri="{FF2B5EF4-FFF2-40B4-BE49-F238E27FC236}">
                  <a16:creationId xmlns:a16="http://schemas.microsoft.com/office/drawing/2014/main" id="{5001A895-867E-B218-6C3B-761A0B91947B}"/>
                </a:ext>
              </a:extLst>
            </p:cNvPr>
            <p:cNvSpPr/>
            <p:nvPr/>
          </p:nvSpPr>
          <p:spPr>
            <a:xfrm>
              <a:off x="7514280" y="2369160"/>
              <a:ext cx="755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Address</a:t>
              </a:r>
              <a:endParaRPr lang="en-US" sz="1000" b="0" strike="noStrike" spc="-1">
                <a:latin typeface="Arial"/>
              </a:endParaRPr>
            </a:p>
          </p:txBody>
        </p:sp>
        <p:sp>
          <p:nvSpPr>
            <p:cNvPr id="12" name="CustomShape 8">
              <a:extLst>
                <a:ext uri="{FF2B5EF4-FFF2-40B4-BE49-F238E27FC236}">
                  <a16:creationId xmlns:a16="http://schemas.microsoft.com/office/drawing/2014/main" id="{509CD927-7158-1468-E360-FC8BF205DDEB}"/>
                </a:ext>
              </a:extLst>
            </p:cNvPr>
            <p:cNvSpPr/>
            <p:nvPr/>
          </p:nvSpPr>
          <p:spPr>
            <a:xfrm>
              <a:off x="8513280" y="2664360"/>
              <a:ext cx="58356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grpSp>
          <p:nvGrpSpPr>
            <p:cNvPr id="13" name="Group 9">
              <a:extLst>
                <a:ext uri="{FF2B5EF4-FFF2-40B4-BE49-F238E27FC236}">
                  <a16:creationId xmlns:a16="http://schemas.microsoft.com/office/drawing/2014/main" id="{B565CCD1-4098-CAD8-CD1B-258AF4BFDE7B}"/>
                </a:ext>
              </a:extLst>
            </p:cNvPr>
            <p:cNvGrpSpPr/>
            <p:nvPr/>
          </p:nvGrpSpPr>
          <p:grpSpPr>
            <a:xfrm>
              <a:off x="6971400" y="2496240"/>
              <a:ext cx="504000" cy="567360"/>
              <a:chOff x="6971400" y="2496240"/>
              <a:chExt cx="504000" cy="567360"/>
            </a:xfrm>
          </p:grpSpPr>
          <p:sp>
            <p:nvSpPr>
              <p:cNvPr id="19" name="Line 10">
                <a:extLst>
                  <a:ext uri="{FF2B5EF4-FFF2-40B4-BE49-F238E27FC236}">
                    <a16:creationId xmlns:a16="http://schemas.microsoft.com/office/drawing/2014/main" id="{54F09AC4-6C56-E180-FB9C-3AF9162CCCCF}"/>
                  </a:ext>
                </a:extLst>
              </p:cNvPr>
              <p:cNvSpPr/>
              <p:nvPr/>
            </p:nvSpPr>
            <p:spPr>
              <a:xfrm>
                <a:off x="6971400" y="2496240"/>
                <a:ext cx="5040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0" name="Line 11">
                <a:extLst>
                  <a:ext uri="{FF2B5EF4-FFF2-40B4-BE49-F238E27FC236}">
                    <a16:creationId xmlns:a16="http://schemas.microsoft.com/office/drawing/2014/main" id="{CE1B8B57-77D3-EFF4-43B4-41279AE57E48}"/>
                  </a:ext>
                </a:extLst>
              </p:cNvPr>
              <p:cNvSpPr/>
              <p:nvPr/>
            </p:nvSpPr>
            <p:spPr>
              <a:xfrm>
                <a:off x="6971400" y="3063240"/>
                <a:ext cx="5040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
          <p:nvSpPr>
            <p:cNvPr id="14" name="CustomShape 12">
              <a:extLst>
                <a:ext uri="{FF2B5EF4-FFF2-40B4-BE49-F238E27FC236}">
                  <a16:creationId xmlns:a16="http://schemas.microsoft.com/office/drawing/2014/main" id="{59879E66-A4C6-B968-406E-D134D43345A7}"/>
                </a:ext>
              </a:extLst>
            </p:cNvPr>
            <p:cNvSpPr/>
            <p:nvPr/>
          </p:nvSpPr>
          <p:spPr>
            <a:xfrm>
              <a:off x="7508520" y="2853360"/>
              <a:ext cx="6138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15" name="Line 13">
              <a:extLst>
                <a:ext uri="{FF2B5EF4-FFF2-40B4-BE49-F238E27FC236}">
                  <a16:creationId xmlns:a16="http://schemas.microsoft.com/office/drawing/2014/main" id="{16FE62B6-E3FB-15A4-7BDB-B3236F770056}"/>
                </a:ext>
              </a:extLst>
            </p:cNvPr>
            <p:cNvSpPr/>
            <p:nvPr/>
          </p:nvSpPr>
          <p:spPr>
            <a:xfrm>
              <a:off x="8315640" y="3504240"/>
              <a:ext cx="360" cy="2523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16" name="Line 14">
              <a:extLst>
                <a:ext uri="{FF2B5EF4-FFF2-40B4-BE49-F238E27FC236}">
                  <a16:creationId xmlns:a16="http://schemas.microsoft.com/office/drawing/2014/main" id="{868CD2DA-A73D-1F53-963B-E0F529274ABF}"/>
                </a:ext>
              </a:extLst>
            </p:cNvPr>
            <p:cNvSpPr/>
            <p:nvPr/>
          </p:nvSpPr>
          <p:spPr>
            <a:xfrm>
              <a:off x="8315640" y="1992240"/>
              <a:ext cx="360" cy="2523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17" name="CustomShape 15">
              <a:extLst>
                <a:ext uri="{FF2B5EF4-FFF2-40B4-BE49-F238E27FC236}">
                  <a16:creationId xmlns:a16="http://schemas.microsoft.com/office/drawing/2014/main" id="{28BC465A-DED4-E07C-2B81-D9BF0BC8A89F}"/>
                </a:ext>
              </a:extLst>
            </p:cNvPr>
            <p:cNvSpPr/>
            <p:nvPr/>
          </p:nvSpPr>
          <p:spPr>
            <a:xfrm>
              <a:off x="7702920" y="3777480"/>
              <a:ext cx="117000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400" b="1" strike="noStrike" spc="-1">
                  <a:solidFill>
                    <a:srgbClr val="660066"/>
                  </a:solidFill>
                  <a:latin typeface="Verdana"/>
                  <a:ea typeface="ＭＳ Ｐゴシック"/>
                </a:rPr>
                <a:t>MemRead</a:t>
              </a:r>
              <a:endParaRPr lang="en-US" sz="1400" b="0" strike="noStrike" spc="-1">
                <a:latin typeface="Arial"/>
              </a:endParaRPr>
            </a:p>
          </p:txBody>
        </p:sp>
        <p:sp>
          <p:nvSpPr>
            <p:cNvPr id="18" name="CustomShape 16">
              <a:extLst>
                <a:ext uri="{FF2B5EF4-FFF2-40B4-BE49-F238E27FC236}">
                  <a16:creationId xmlns:a16="http://schemas.microsoft.com/office/drawing/2014/main" id="{A5AE9358-A8FB-7A12-C108-A43D4FE3AF8A}"/>
                </a:ext>
              </a:extLst>
            </p:cNvPr>
            <p:cNvSpPr/>
            <p:nvPr/>
          </p:nvSpPr>
          <p:spPr>
            <a:xfrm>
              <a:off x="7707600" y="1761480"/>
              <a:ext cx="12128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400" b="1" strike="noStrike" spc="-1">
                  <a:solidFill>
                    <a:srgbClr val="660066"/>
                  </a:solidFill>
                  <a:latin typeface="Verdana"/>
                  <a:ea typeface="ＭＳ Ｐゴシック"/>
                </a:rPr>
                <a:t>MemWrite</a:t>
              </a:r>
              <a:endParaRPr lang="en-US" sz="1400" b="0" strike="noStrike" spc="-1">
                <a:latin typeface="Arial"/>
              </a:endParaRPr>
            </a:p>
          </p:txBody>
        </p:sp>
      </p:grpSp>
    </p:spTree>
    <p:extLst>
      <p:ext uri="{BB962C8B-B14F-4D97-AF65-F5344CB8AC3E}">
        <p14:creationId xmlns:p14="http://schemas.microsoft.com/office/powerpoint/2010/main" val="9876464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B837-36B6-E186-44DB-23E21FE87830}"/>
              </a:ext>
            </a:extLst>
          </p:cNvPr>
          <p:cNvSpPr>
            <a:spLocks noGrp="1"/>
          </p:cNvSpPr>
          <p:nvPr>
            <p:ph type="title"/>
          </p:nvPr>
        </p:nvSpPr>
        <p:spPr/>
        <p:txBody>
          <a:bodyPr/>
          <a:lstStyle/>
          <a:p>
            <a:r>
              <a:rPr lang="en-US" sz="4000"/>
              <a:t>Giai đoạn Memory: lệnh Load</a:t>
            </a:r>
            <a:endParaRPr lang="en-US"/>
          </a:p>
        </p:txBody>
      </p:sp>
      <p:sp>
        <p:nvSpPr>
          <p:cNvPr id="4" name="Footer Placeholder 3">
            <a:extLst>
              <a:ext uri="{FF2B5EF4-FFF2-40B4-BE49-F238E27FC236}">
                <a16:creationId xmlns:a16="http://schemas.microsoft.com/office/drawing/2014/main" id="{A6968558-B237-1099-B1D5-7F7C18B534C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3154C20-D789-0928-41F7-A66DAC47ED84}"/>
              </a:ext>
            </a:extLst>
          </p:cNvPr>
          <p:cNvSpPr>
            <a:spLocks noGrp="1"/>
          </p:cNvSpPr>
          <p:nvPr>
            <p:ph type="sldNum" sz="quarter" idx="12"/>
          </p:nvPr>
        </p:nvSpPr>
        <p:spPr/>
        <p:txBody>
          <a:bodyPr/>
          <a:lstStyle/>
          <a:p>
            <a:fld id="{D8B0B3AC-44A8-D142-AAF6-9A453466E1A4}" type="slidenum">
              <a:rPr lang="en-VN" smtClean="0"/>
              <a:pPr/>
              <a:t>50</a:t>
            </a:fld>
            <a:endParaRPr lang="en-VN" dirty="0"/>
          </a:p>
        </p:txBody>
      </p:sp>
      <p:sp>
        <p:nvSpPr>
          <p:cNvPr id="6" name="Date Placeholder 5">
            <a:extLst>
              <a:ext uri="{FF2B5EF4-FFF2-40B4-BE49-F238E27FC236}">
                <a16:creationId xmlns:a16="http://schemas.microsoft.com/office/drawing/2014/main" id="{141E8A66-41C9-9CC1-2355-356C3F4EE6D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sp>
        <p:nvSpPr>
          <p:cNvPr id="3" name="Line 14">
            <a:extLst>
              <a:ext uri="{FF2B5EF4-FFF2-40B4-BE49-F238E27FC236}">
                <a16:creationId xmlns:a16="http://schemas.microsoft.com/office/drawing/2014/main" id="{9F3D99FF-4A7F-E4FB-6465-C942DCD29F78}"/>
              </a:ext>
            </a:extLst>
          </p:cNvPr>
          <p:cNvSpPr/>
          <p:nvPr/>
        </p:nvSpPr>
        <p:spPr>
          <a:xfrm>
            <a:off x="5590487" y="2911505"/>
            <a:ext cx="151200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7" name="Line 15">
            <a:extLst>
              <a:ext uri="{FF2B5EF4-FFF2-40B4-BE49-F238E27FC236}">
                <a16:creationId xmlns:a16="http://schemas.microsoft.com/office/drawing/2014/main" id="{82CEE254-A3DD-1DE5-D6D3-2625469AD0A8}"/>
              </a:ext>
            </a:extLst>
          </p:cNvPr>
          <p:cNvSpPr/>
          <p:nvPr/>
        </p:nvSpPr>
        <p:spPr>
          <a:xfrm>
            <a:off x="5674727" y="3730145"/>
            <a:ext cx="1024920" cy="900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8" name="Line 16">
            <a:extLst>
              <a:ext uri="{FF2B5EF4-FFF2-40B4-BE49-F238E27FC236}">
                <a16:creationId xmlns:a16="http://schemas.microsoft.com/office/drawing/2014/main" id="{38A68E69-7502-F43E-E35B-EFE7B30344EC}"/>
              </a:ext>
            </a:extLst>
          </p:cNvPr>
          <p:cNvSpPr/>
          <p:nvPr/>
        </p:nvSpPr>
        <p:spPr>
          <a:xfrm>
            <a:off x="2359487" y="2800625"/>
            <a:ext cx="1433880" cy="47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6" name="Line 17">
            <a:extLst>
              <a:ext uri="{FF2B5EF4-FFF2-40B4-BE49-F238E27FC236}">
                <a16:creationId xmlns:a16="http://schemas.microsoft.com/office/drawing/2014/main" id="{5478A95A-A6EE-23CA-B636-CEAE6B1D3C32}"/>
              </a:ext>
            </a:extLst>
          </p:cNvPr>
          <p:cNvSpPr/>
          <p:nvPr/>
        </p:nvSpPr>
        <p:spPr>
          <a:xfrm flipV="1">
            <a:off x="2359487" y="3163145"/>
            <a:ext cx="1433880" cy="173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7" name="Line 18">
            <a:extLst>
              <a:ext uri="{FF2B5EF4-FFF2-40B4-BE49-F238E27FC236}">
                <a16:creationId xmlns:a16="http://schemas.microsoft.com/office/drawing/2014/main" id="{49A50FE8-BF30-9BA7-0513-1890009876CC}"/>
              </a:ext>
            </a:extLst>
          </p:cNvPr>
          <p:cNvSpPr/>
          <p:nvPr/>
        </p:nvSpPr>
        <p:spPr>
          <a:xfrm flipV="1">
            <a:off x="2359487" y="4092305"/>
            <a:ext cx="1091520" cy="1584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8" name="CustomShape 19">
            <a:extLst>
              <a:ext uri="{FF2B5EF4-FFF2-40B4-BE49-F238E27FC236}">
                <a16:creationId xmlns:a16="http://schemas.microsoft.com/office/drawing/2014/main" id="{BC07CD47-BFB1-DFC6-F4CF-C95D1225ED1C}"/>
              </a:ext>
            </a:extLst>
          </p:cNvPr>
          <p:cNvSpPr/>
          <p:nvPr/>
        </p:nvSpPr>
        <p:spPr>
          <a:xfrm>
            <a:off x="2433647" y="2596505"/>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29" name="CustomShape 20">
            <a:extLst>
              <a:ext uri="{FF2B5EF4-FFF2-40B4-BE49-F238E27FC236}">
                <a16:creationId xmlns:a16="http://schemas.microsoft.com/office/drawing/2014/main" id="{6563FB76-1CE5-68E6-6104-36E1A0C73204}"/>
              </a:ext>
            </a:extLst>
          </p:cNvPr>
          <p:cNvSpPr/>
          <p:nvPr/>
        </p:nvSpPr>
        <p:spPr>
          <a:xfrm rot="21202800">
            <a:off x="2406647" y="3060545"/>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30" name="CustomShape 21">
            <a:extLst>
              <a:ext uri="{FF2B5EF4-FFF2-40B4-BE49-F238E27FC236}">
                <a16:creationId xmlns:a16="http://schemas.microsoft.com/office/drawing/2014/main" id="{15B1A711-2F94-E1FB-9DD8-572C947133D2}"/>
              </a:ext>
            </a:extLst>
          </p:cNvPr>
          <p:cNvSpPr/>
          <p:nvPr/>
        </p:nvSpPr>
        <p:spPr>
          <a:xfrm>
            <a:off x="2387207" y="3903665"/>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31" name="CustomShape 22">
            <a:extLst>
              <a:ext uri="{FF2B5EF4-FFF2-40B4-BE49-F238E27FC236}">
                <a16:creationId xmlns:a16="http://schemas.microsoft.com/office/drawing/2014/main" id="{E6A16A3E-6A59-9E63-9131-E2474A743A9F}"/>
              </a:ext>
            </a:extLst>
          </p:cNvPr>
          <p:cNvSpPr/>
          <p:nvPr/>
        </p:nvSpPr>
        <p:spPr>
          <a:xfrm>
            <a:off x="3451367" y="3478145"/>
            <a:ext cx="290880" cy="755640"/>
          </a:xfrm>
          <a:prstGeom prst="roundRect">
            <a:avLst>
              <a:gd name="adj" fmla="val 16667"/>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32" name="CustomShape 23">
            <a:extLst>
              <a:ext uri="{FF2B5EF4-FFF2-40B4-BE49-F238E27FC236}">
                <a16:creationId xmlns:a16="http://schemas.microsoft.com/office/drawing/2014/main" id="{A04F0808-14A7-0145-3B64-FE4AEC34E627}"/>
              </a:ext>
            </a:extLst>
          </p:cNvPr>
          <p:cNvSpPr/>
          <p:nvPr/>
        </p:nvSpPr>
        <p:spPr>
          <a:xfrm rot="16200000" flipH="1">
            <a:off x="2896607" y="3301385"/>
            <a:ext cx="594720" cy="514440"/>
          </a:xfrm>
          <a:prstGeom prst="bentConnector2">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3" name="Line 24">
            <a:extLst>
              <a:ext uri="{FF2B5EF4-FFF2-40B4-BE49-F238E27FC236}">
                <a16:creationId xmlns:a16="http://schemas.microsoft.com/office/drawing/2014/main" id="{38FB037C-8D36-DFE2-2313-D06A6D1AE4B0}"/>
              </a:ext>
            </a:extLst>
          </p:cNvPr>
          <p:cNvSpPr/>
          <p:nvPr/>
        </p:nvSpPr>
        <p:spPr>
          <a:xfrm flipV="1">
            <a:off x="3742247" y="3541145"/>
            <a:ext cx="123480" cy="31536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4" name="CustomShape 25">
            <a:extLst>
              <a:ext uri="{FF2B5EF4-FFF2-40B4-BE49-F238E27FC236}">
                <a16:creationId xmlns:a16="http://schemas.microsoft.com/office/drawing/2014/main" id="{4AFC7D6C-8395-3BDE-75FF-95475B7A8903}"/>
              </a:ext>
            </a:extLst>
          </p:cNvPr>
          <p:cNvSpPr/>
          <p:nvPr/>
        </p:nvSpPr>
        <p:spPr>
          <a:xfrm>
            <a:off x="3224207" y="4423505"/>
            <a:ext cx="821160" cy="30276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Courier New"/>
                <a:ea typeface="ＭＳ Ｐゴシック"/>
              </a:rPr>
              <a:t>RegDst</a:t>
            </a:r>
            <a:endParaRPr lang="en-US" sz="1400" b="0" strike="noStrike" spc="-1">
              <a:latin typeface="Arial"/>
            </a:endParaRPr>
          </a:p>
        </p:txBody>
      </p:sp>
      <p:sp>
        <p:nvSpPr>
          <p:cNvPr id="35" name="Line 26">
            <a:extLst>
              <a:ext uri="{FF2B5EF4-FFF2-40B4-BE49-F238E27FC236}">
                <a16:creationId xmlns:a16="http://schemas.microsoft.com/office/drawing/2014/main" id="{347302A6-F2CC-C42C-CC65-286669CA6EC6}"/>
              </a:ext>
            </a:extLst>
          </p:cNvPr>
          <p:cNvSpPr/>
          <p:nvPr/>
        </p:nvSpPr>
        <p:spPr>
          <a:xfrm>
            <a:off x="3596807" y="4234145"/>
            <a:ext cx="360" cy="22176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6" name="CustomShape 27">
            <a:extLst>
              <a:ext uri="{FF2B5EF4-FFF2-40B4-BE49-F238E27FC236}">
                <a16:creationId xmlns:a16="http://schemas.microsoft.com/office/drawing/2014/main" id="{076FDCAC-E5EC-EC4D-A263-D1AEE10CEBC1}"/>
              </a:ext>
            </a:extLst>
          </p:cNvPr>
          <p:cNvSpPr/>
          <p:nvPr/>
        </p:nvSpPr>
        <p:spPr>
          <a:xfrm flipV="1">
            <a:off x="5568887" y="3981785"/>
            <a:ext cx="868320" cy="850320"/>
          </a:xfrm>
          <a:prstGeom prst="bentConnector3">
            <a:avLst>
              <a:gd name="adj1" fmla="val 50000"/>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37" name="CustomShape 28">
            <a:extLst>
              <a:ext uri="{FF2B5EF4-FFF2-40B4-BE49-F238E27FC236}">
                <a16:creationId xmlns:a16="http://schemas.microsoft.com/office/drawing/2014/main" id="{4BB502E6-FD0C-6FE9-754C-E7B6823F8C5C}"/>
              </a:ext>
            </a:extLst>
          </p:cNvPr>
          <p:cNvSpPr/>
          <p:nvPr/>
        </p:nvSpPr>
        <p:spPr>
          <a:xfrm>
            <a:off x="2387207" y="4675505"/>
            <a:ext cx="9295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[15:0]</a:t>
            </a:r>
            <a:endParaRPr lang="en-US" sz="1000" b="0" strike="noStrike" spc="-1">
              <a:latin typeface="Arial"/>
            </a:endParaRPr>
          </a:p>
        </p:txBody>
      </p:sp>
      <p:sp>
        <p:nvSpPr>
          <p:cNvPr id="38" name="CustomShape 29">
            <a:extLst>
              <a:ext uri="{FF2B5EF4-FFF2-40B4-BE49-F238E27FC236}">
                <a16:creationId xmlns:a16="http://schemas.microsoft.com/office/drawing/2014/main" id="{318FD861-8E91-FAE8-A9DB-E3B3DB7257C9}"/>
              </a:ext>
            </a:extLst>
          </p:cNvPr>
          <p:cNvSpPr/>
          <p:nvPr/>
        </p:nvSpPr>
        <p:spPr>
          <a:xfrm>
            <a:off x="6437927" y="3604505"/>
            <a:ext cx="290880" cy="755640"/>
          </a:xfrm>
          <a:prstGeom prst="roundRect">
            <a:avLst>
              <a:gd name="adj" fmla="val 16667"/>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39" name="CustomShape 30">
            <a:extLst>
              <a:ext uri="{FF2B5EF4-FFF2-40B4-BE49-F238E27FC236}">
                <a16:creationId xmlns:a16="http://schemas.microsoft.com/office/drawing/2014/main" id="{D89A8E55-3AFD-9DBF-87F1-F567C80EB49A}"/>
              </a:ext>
            </a:extLst>
          </p:cNvPr>
          <p:cNvSpPr/>
          <p:nvPr/>
        </p:nvSpPr>
        <p:spPr>
          <a:xfrm>
            <a:off x="6210407" y="4549145"/>
            <a:ext cx="821160" cy="30276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Courier New"/>
                <a:ea typeface="ＭＳ Ｐゴシック"/>
              </a:rPr>
              <a:t>ALUSrc</a:t>
            </a:r>
            <a:endParaRPr lang="en-US" sz="1400" b="0" strike="noStrike" spc="-1">
              <a:latin typeface="Arial"/>
            </a:endParaRPr>
          </a:p>
        </p:txBody>
      </p:sp>
      <p:sp>
        <p:nvSpPr>
          <p:cNvPr id="40" name="Line 31">
            <a:extLst>
              <a:ext uri="{FF2B5EF4-FFF2-40B4-BE49-F238E27FC236}">
                <a16:creationId xmlns:a16="http://schemas.microsoft.com/office/drawing/2014/main" id="{699FFCB4-8A3A-812B-35CF-17ACDCD9D1D1}"/>
              </a:ext>
            </a:extLst>
          </p:cNvPr>
          <p:cNvSpPr/>
          <p:nvPr/>
        </p:nvSpPr>
        <p:spPr>
          <a:xfrm>
            <a:off x="6583007" y="4360145"/>
            <a:ext cx="360" cy="221760"/>
          </a:xfrm>
          <a:prstGeom prst="line">
            <a:avLst/>
          </a:prstGeom>
          <a:ln w="1908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1" name="Line 32">
            <a:extLst>
              <a:ext uri="{FF2B5EF4-FFF2-40B4-BE49-F238E27FC236}">
                <a16:creationId xmlns:a16="http://schemas.microsoft.com/office/drawing/2014/main" id="{6B3BC1BB-8979-CCBF-2FAF-C32C3BA637DF}"/>
              </a:ext>
            </a:extLst>
          </p:cNvPr>
          <p:cNvSpPr/>
          <p:nvPr/>
        </p:nvSpPr>
        <p:spPr>
          <a:xfrm>
            <a:off x="2359127" y="4864145"/>
            <a:ext cx="2256480" cy="0"/>
          </a:xfrm>
          <a:prstGeom prst="line">
            <a:avLst/>
          </a:prstGeom>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42" name="Line 33">
            <a:extLst>
              <a:ext uri="{FF2B5EF4-FFF2-40B4-BE49-F238E27FC236}">
                <a16:creationId xmlns:a16="http://schemas.microsoft.com/office/drawing/2014/main" id="{CF9E947F-6BA0-AB26-DDB7-8219BC93BB62}"/>
              </a:ext>
            </a:extLst>
          </p:cNvPr>
          <p:cNvSpPr/>
          <p:nvPr/>
        </p:nvSpPr>
        <p:spPr>
          <a:xfrm>
            <a:off x="6728807" y="3982145"/>
            <a:ext cx="37368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nvGrpSpPr>
          <p:cNvPr id="43" name="Group 34">
            <a:extLst>
              <a:ext uri="{FF2B5EF4-FFF2-40B4-BE49-F238E27FC236}">
                <a16:creationId xmlns:a16="http://schemas.microsoft.com/office/drawing/2014/main" id="{AF9E127F-2908-C391-503B-D2144404F9CA}"/>
              </a:ext>
            </a:extLst>
          </p:cNvPr>
          <p:cNvGrpSpPr/>
          <p:nvPr/>
        </p:nvGrpSpPr>
        <p:grpSpPr>
          <a:xfrm>
            <a:off x="3793007" y="2659145"/>
            <a:ext cx="1926360" cy="1833120"/>
            <a:chOff x="2822040" y="2393640"/>
            <a:chExt cx="1926360" cy="1833120"/>
          </a:xfrm>
        </p:grpSpPr>
        <p:sp>
          <p:nvSpPr>
            <p:cNvPr id="44" name="Line 35">
              <a:extLst>
                <a:ext uri="{FF2B5EF4-FFF2-40B4-BE49-F238E27FC236}">
                  <a16:creationId xmlns:a16="http://schemas.microsoft.com/office/drawing/2014/main" id="{0D56F816-DEED-DA25-818F-68FAE6AFEA17}"/>
                </a:ext>
              </a:extLst>
            </p:cNvPr>
            <p:cNvSpPr/>
            <p:nvPr/>
          </p:nvSpPr>
          <p:spPr>
            <a:xfrm>
              <a:off x="2822040" y="2582640"/>
              <a:ext cx="59904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45" name="Line 36">
              <a:extLst>
                <a:ext uri="{FF2B5EF4-FFF2-40B4-BE49-F238E27FC236}">
                  <a16:creationId xmlns:a16="http://schemas.microsoft.com/office/drawing/2014/main" id="{F1D7AB9E-5C77-9EFE-8BE7-174238FC0AC6}"/>
                </a:ext>
              </a:extLst>
            </p:cNvPr>
            <p:cNvSpPr/>
            <p:nvPr/>
          </p:nvSpPr>
          <p:spPr>
            <a:xfrm>
              <a:off x="2822040" y="2897280"/>
              <a:ext cx="599040" cy="133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46" name="Line 37">
              <a:extLst>
                <a:ext uri="{FF2B5EF4-FFF2-40B4-BE49-F238E27FC236}">
                  <a16:creationId xmlns:a16="http://schemas.microsoft.com/office/drawing/2014/main" id="{E26DE2C4-EAE0-B4D6-E5EB-FABDDFF7DB4A}"/>
                </a:ext>
              </a:extLst>
            </p:cNvPr>
            <p:cNvSpPr/>
            <p:nvPr/>
          </p:nvSpPr>
          <p:spPr>
            <a:xfrm flipV="1">
              <a:off x="2894760" y="3268800"/>
              <a:ext cx="526320" cy="64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47" name="Line 38">
              <a:extLst>
                <a:ext uri="{FF2B5EF4-FFF2-40B4-BE49-F238E27FC236}">
                  <a16:creationId xmlns:a16="http://schemas.microsoft.com/office/drawing/2014/main" id="{316A4B51-BE52-79B8-75A6-4B7B18A98D11}"/>
                </a:ext>
              </a:extLst>
            </p:cNvPr>
            <p:cNvSpPr/>
            <p:nvPr/>
          </p:nvSpPr>
          <p:spPr>
            <a:xfrm>
              <a:off x="2943720" y="3646800"/>
              <a:ext cx="4773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48" name="Line 39">
              <a:extLst>
                <a:ext uri="{FF2B5EF4-FFF2-40B4-BE49-F238E27FC236}">
                  <a16:creationId xmlns:a16="http://schemas.microsoft.com/office/drawing/2014/main" id="{779D99D7-BD68-119A-C8D1-B06C2BA20C2C}"/>
                </a:ext>
              </a:extLst>
            </p:cNvPr>
            <p:cNvSpPr/>
            <p:nvPr/>
          </p:nvSpPr>
          <p:spPr>
            <a:xfrm>
              <a:off x="4021920" y="3716640"/>
              <a:ext cx="360" cy="2217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49" name="CustomShape 40">
              <a:extLst>
                <a:ext uri="{FF2B5EF4-FFF2-40B4-BE49-F238E27FC236}">
                  <a16:creationId xmlns:a16="http://schemas.microsoft.com/office/drawing/2014/main" id="{4C167036-DD07-2147-B77D-7F379610B0F0}"/>
                </a:ext>
              </a:extLst>
            </p:cNvPr>
            <p:cNvSpPr/>
            <p:nvPr/>
          </p:nvSpPr>
          <p:spPr>
            <a:xfrm>
              <a:off x="3409560" y="2393640"/>
              <a:ext cx="1244880" cy="138564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50" name="CustomShape 41">
              <a:extLst>
                <a:ext uri="{FF2B5EF4-FFF2-40B4-BE49-F238E27FC236}">
                  <a16:creationId xmlns:a16="http://schemas.microsoft.com/office/drawing/2014/main" id="{F08147CE-59BB-6678-7AAC-6278DA3D6BBD}"/>
                </a:ext>
              </a:extLst>
            </p:cNvPr>
            <p:cNvSpPr/>
            <p:nvPr/>
          </p:nvSpPr>
          <p:spPr>
            <a:xfrm>
              <a:off x="3340080" y="2505240"/>
              <a:ext cx="4644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RR1</a:t>
              </a:r>
              <a:endParaRPr lang="en-US" sz="1000" b="0" strike="noStrike" spc="-1">
                <a:latin typeface="Arial"/>
              </a:endParaRPr>
            </a:p>
          </p:txBody>
        </p:sp>
        <p:sp>
          <p:nvSpPr>
            <p:cNvPr id="51" name="CustomShape 42">
              <a:extLst>
                <a:ext uri="{FF2B5EF4-FFF2-40B4-BE49-F238E27FC236}">
                  <a16:creationId xmlns:a16="http://schemas.microsoft.com/office/drawing/2014/main" id="{8151D8B3-24F4-A2E2-51A2-8B1533A4D618}"/>
                </a:ext>
              </a:extLst>
            </p:cNvPr>
            <p:cNvSpPr/>
            <p:nvPr/>
          </p:nvSpPr>
          <p:spPr>
            <a:xfrm>
              <a:off x="3340080" y="2820240"/>
              <a:ext cx="4644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RR2</a:t>
              </a:r>
              <a:endParaRPr lang="en-US" sz="1000" b="0" strike="noStrike" spc="-1">
                <a:latin typeface="Arial"/>
              </a:endParaRPr>
            </a:p>
          </p:txBody>
        </p:sp>
        <p:sp>
          <p:nvSpPr>
            <p:cNvPr id="52" name="CustomShape 43">
              <a:extLst>
                <a:ext uri="{FF2B5EF4-FFF2-40B4-BE49-F238E27FC236}">
                  <a16:creationId xmlns:a16="http://schemas.microsoft.com/office/drawing/2014/main" id="{23376852-7C35-1233-8030-1F3C79D7562C}"/>
                </a:ext>
              </a:extLst>
            </p:cNvPr>
            <p:cNvSpPr/>
            <p:nvPr/>
          </p:nvSpPr>
          <p:spPr>
            <a:xfrm>
              <a:off x="3342240" y="3149640"/>
              <a:ext cx="41868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a:t>
              </a:r>
              <a:endParaRPr lang="en-US" sz="1000" b="0" strike="noStrike" spc="-1">
                <a:latin typeface="Arial"/>
              </a:endParaRPr>
            </a:p>
          </p:txBody>
        </p:sp>
        <p:sp>
          <p:nvSpPr>
            <p:cNvPr id="53" name="CustomShape 44">
              <a:extLst>
                <a:ext uri="{FF2B5EF4-FFF2-40B4-BE49-F238E27FC236}">
                  <a16:creationId xmlns:a16="http://schemas.microsoft.com/office/drawing/2014/main" id="{85C7300F-1F76-B6D0-CEA4-B726180B849F}"/>
                </a:ext>
              </a:extLst>
            </p:cNvPr>
            <p:cNvSpPr/>
            <p:nvPr/>
          </p:nvSpPr>
          <p:spPr>
            <a:xfrm>
              <a:off x="3340440" y="3576240"/>
              <a:ext cx="4266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WD</a:t>
              </a:r>
              <a:endParaRPr lang="en-US" sz="1000" b="0" strike="noStrike" spc="-1">
                <a:latin typeface="Arial"/>
              </a:endParaRPr>
            </a:p>
          </p:txBody>
        </p:sp>
        <p:sp>
          <p:nvSpPr>
            <p:cNvPr id="54" name="CustomShape 45">
              <a:extLst>
                <a:ext uri="{FF2B5EF4-FFF2-40B4-BE49-F238E27FC236}">
                  <a16:creationId xmlns:a16="http://schemas.microsoft.com/office/drawing/2014/main" id="{D60C4F93-9356-1646-204C-AC9BF8CE7654}"/>
                </a:ext>
              </a:extLst>
            </p:cNvPr>
            <p:cNvSpPr/>
            <p:nvPr/>
          </p:nvSpPr>
          <p:spPr>
            <a:xfrm>
              <a:off x="4276080" y="2519640"/>
              <a:ext cx="47232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RD1</a:t>
              </a:r>
              <a:endParaRPr lang="en-US" sz="1000" b="0" strike="noStrike" spc="-1">
                <a:latin typeface="Arial"/>
              </a:endParaRPr>
            </a:p>
          </p:txBody>
        </p:sp>
        <p:sp>
          <p:nvSpPr>
            <p:cNvPr id="55" name="CustomShape 46">
              <a:extLst>
                <a:ext uri="{FF2B5EF4-FFF2-40B4-BE49-F238E27FC236}">
                  <a16:creationId xmlns:a16="http://schemas.microsoft.com/office/drawing/2014/main" id="{D9458C46-0D37-F6F6-41F9-9D3ABE84B9CE}"/>
                </a:ext>
              </a:extLst>
            </p:cNvPr>
            <p:cNvSpPr/>
            <p:nvPr/>
          </p:nvSpPr>
          <p:spPr>
            <a:xfrm>
              <a:off x="4276080" y="3387240"/>
              <a:ext cx="47232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RD2</a:t>
              </a:r>
              <a:endParaRPr lang="en-US" sz="1000" b="0" strike="noStrike" spc="-1">
                <a:latin typeface="Arial"/>
              </a:endParaRPr>
            </a:p>
          </p:txBody>
        </p:sp>
        <p:sp>
          <p:nvSpPr>
            <p:cNvPr id="56" name="CustomShape 47">
              <a:extLst>
                <a:ext uri="{FF2B5EF4-FFF2-40B4-BE49-F238E27FC236}">
                  <a16:creationId xmlns:a16="http://schemas.microsoft.com/office/drawing/2014/main" id="{C842CA0C-4B9C-64A1-E81F-2E77F94201D2}"/>
                </a:ext>
              </a:extLst>
            </p:cNvPr>
            <p:cNvSpPr/>
            <p:nvPr/>
          </p:nvSpPr>
          <p:spPr>
            <a:xfrm>
              <a:off x="3536640" y="2960640"/>
              <a:ext cx="99792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Registers</a:t>
              </a:r>
              <a:endParaRPr lang="en-US" sz="1200" b="0" strike="noStrike" spc="-1">
                <a:latin typeface="Arial"/>
              </a:endParaRPr>
            </a:p>
          </p:txBody>
        </p:sp>
        <p:sp>
          <p:nvSpPr>
            <p:cNvPr id="57" name="Line 48">
              <a:extLst>
                <a:ext uri="{FF2B5EF4-FFF2-40B4-BE49-F238E27FC236}">
                  <a16:creationId xmlns:a16="http://schemas.microsoft.com/office/drawing/2014/main" id="{9997B779-CE4E-8934-FA6D-BEAFAAA8D762}"/>
                </a:ext>
              </a:extLst>
            </p:cNvPr>
            <p:cNvSpPr/>
            <p:nvPr/>
          </p:nvSpPr>
          <p:spPr>
            <a:xfrm flipH="1">
              <a:off x="3054240" y="2522160"/>
              <a:ext cx="11052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8" name="Line 49">
              <a:extLst>
                <a:ext uri="{FF2B5EF4-FFF2-40B4-BE49-F238E27FC236}">
                  <a16:creationId xmlns:a16="http://schemas.microsoft.com/office/drawing/2014/main" id="{3BE3C709-1E92-40AB-A3B2-164922448F01}"/>
                </a:ext>
              </a:extLst>
            </p:cNvPr>
            <p:cNvSpPr/>
            <p:nvPr/>
          </p:nvSpPr>
          <p:spPr>
            <a:xfrm flipH="1">
              <a:off x="3054240" y="2839680"/>
              <a:ext cx="11052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9" name="Line 50">
              <a:extLst>
                <a:ext uri="{FF2B5EF4-FFF2-40B4-BE49-F238E27FC236}">
                  <a16:creationId xmlns:a16="http://schemas.microsoft.com/office/drawing/2014/main" id="{B9EA5CD8-2343-651C-EE82-295085019ED0}"/>
                </a:ext>
              </a:extLst>
            </p:cNvPr>
            <p:cNvSpPr/>
            <p:nvPr/>
          </p:nvSpPr>
          <p:spPr>
            <a:xfrm flipH="1">
              <a:off x="3054240" y="3198240"/>
              <a:ext cx="11052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60" name="CustomShape 51">
              <a:extLst>
                <a:ext uri="{FF2B5EF4-FFF2-40B4-BE49-F238E27FC236}">
                  <a16:creationId xmlns:a16="http://schemas.microsoft.com/office/drawing/2014/main" id="{9C5CA964-3CF5-722E-499B-4BFFC3BCA0DB}"/>
                </a:ext>
              </a:extLst>
            </p:cNvPr>
            <p:cNvSpPr/>
            <p:nvPr/>
          </p:nvSpPr>
          <p:spPr>
            <a:xfrm>
              <a:off x="2947320" y="239364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61" name="CustomShape 52">
              <a:extLst>
                <a:ext uri="{FF2B5EF4-FFF2-40B4-BE49-F238E27FC236}">
                  <a16:creationId xmlns:a16="http://schemas.microsoft.com/office/drawing/2014/main" id="{AB2F51A4-7F4C-FCEB-980D-5D406CA83DF4}"/>
                </a:ext>
              </a:extLst>
            </p:cNvPr>
            <p:cNvSpPr/>
            <p:nvPr/>
          </p:nvSpPr>
          <p:spPr>
            <a:xfrm>
              <a:off x="2918880" y="2724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62" name="CustomShape 53">
              <a:extLst>
                <a:ext uri="{FF2B5EF4-FFF2-40B4-BE49-F238E27FC236}">
                  <a16:creationId xmlns:a16="http://schemas.microsoft.com/office/drawing/2014/main" id="{EB8DD506-1D6A-3E8C-856D-9E0491AE995F}"/>
                </a:ext>
              </a:extLst>
            </p:cNvPr>
            <p:cNvSpPr/>
            <p:nvPr/>
          </p:nvSpPr>
          <p:spPr>
            <a:xfrm>
              <a:off x="2918880" y="3102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63" name="CustomShape 54">
              <a:extLst>
                <a:ext uri="{FF2B5EF4-FFF2-40B4-BE49-F238E27FC236}">
                  <a16:creationId xmlns:a16="http://schemas.microsoft.com/office/drawing/2014/main" id="{BA0EEFB5-34DB-E951-AD01-A57BDF4B0AAC}"/>
                </a:ext>
              </a:extLst>
            </p:cNvPr>
            <p:cNvSpPr/>
            <p:nvPr/>
          </p:nvSpPr>
          <p:spPr>
            <a:xfrm>
              <a:off x="3519720" y="3924000"/>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grpSp>
      <p:sp>
        <p:nvSpPr>
          <p:cNvPr id="64" name="CustomShape 55">
            <a:extLst>
              <a:ext uri="{FF2B5EF4-FFF2-40B4-BE49-F238E27FC236}">
                <a16:creationId xmlns:a16="http://schemas.microsoft.com/office/drawing/2014/main" id="{B1653208-ACE0-08CD-1F3A-BFD2020A6BBD}"/>
              </a:ext>
            </a:extLst>
          </p:cNvPr>
          <p:cNvSpPr/>
          <p:nvPr/>
        </p:nvSpPr>
        <p:spPr>
          <a:xfrm>
            <a:off x="4309247" y="4612505"/>
            <a:ext cx="1259640" cy="440640"/>
          </a:xfrm>
          <a:prstGeom prst="ellipse">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400" b="0" strike="noStrike" spc="-1">
                <a:solidFill>
                  <a:srgbClr val="000000"/>
                </a:solidFill>
                <a:latin typeface="Times New Roman"/>
                <a:ea typeface="ＭＳ Ｐゴシック"/>
              </a:rPr>
              <a:t>Sign Extend</a:t>
            </a:r>
            <a:endParaRPr lang="en-US" sz="1400" b="0" strike="noStrike" spc="-1">
              <a:latin typeface="Arial"/>
            </a:endParaRPr>
          </a:p>
        </p:txBody>
      </p:sp>
      <p:sp>
        <p:nvSpPr>
          <p:cNvPr id="65" name="Line 56">
            <a:extLst>
              <a:ext uri="{FF2B5EF4-FFF2-40B4-BE49-F238E27FC236}">
                <a16:creationId xmlns:a16="http://schemas.microsoft.com/office/drawing/2014/main" id="{D8C4A0E8-E2EB-D350-4B07-D156B7C02349}"/>
              </a:ext>
            </a:extLst>
          </p:cNvPr>
          <p:cNvSpPr/>
          <p:nvPr/>
        </p:nvSpPr>
        <p:spPr>
          <a:xfrm flipH="1">
            <a:off x="4097207" y="4786745"/>
            <a:ext cx="11088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66" name="CustomShape 57">
            <a:extLst>
              <a:ext uri="{FF2B5EF4-FFF2-40B4-BE49-F238E27FC236}">
                <a16:creationId xmlns:a16="http://schemas.microsoft.com/office/drawing/2014/main" id="{8177865D-46BE-00F8-9819-2065E40AEC2A}"/>
              </a:ext>
            </a:extLst>
          </p:cNvPr>
          <p:cNvSpPr/>
          <p:nvPr/>
        </p:nvSpPr>
        <p:spPr>
          <a:xfrm>
            <a:off x="3868967" y="4691345"/>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16</a:t>
            </a:r>
            <a:endParaRPr lang="en-US" sz="1000" b="0" strike="noStrike" spc="-1">
              <a:latin typeface="Arial"/>
            </a:endParaRPr>
          </a:p>
        </p:txBody>
      </p:sp>
      <p:sp>
        <p:nvSpPr>
          <p:cNvPr id="67" name="CustomShape 58">
            <a:extLst>
              <a:ext uri="{FF2B5EF4-FFF2-40B4-BE49-F238E27FC236}">
                <a16:creationId xmlns:a16="http://schemas.microsoft.com/office/drawing/2014/main" id="{717C61A0-7CFB-EEBF-B88B-137C18262238}"/>
              </a:ext>
            </a:extLst>
          </p:cNvPr>
          <p:cNvSpPr/>
          <p:nvPr/>
        </p:nvSpPr>
        <p:spPr>
          <a:xfrm>
            <a:off x="5572127" y="4675505"/>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32</a:t>
            </a:r>
            <a:endParaRPr lang="en-US" sz="1000" b="0" strike="noStrike" spc="-1">
              <a:latin typeface="Arial"/>
            </a:endParaRPr>
          </a:p>
        </p:txBody>
      </p:sp>
      <p:sp>
        <p:nvSpPr>
          <p:cNvPr id="68" name="Line 59">
            <a:extLst>
              <a:ext uri="{FF2B5EF4-FFF2-40B4-BE49-F238E27FC236}">
                <a16:creationId xmlns:a16="http://schemas.microsoft.com/office/drawing/2014/main" id="{E76829BB-39BC-F971-8231-FD7B61343758}"/>
              </a:ext>
            </a:extLst>
          </p:cNvPr>
          <p:cNvSpPr/>
          <p:nvPr/>
        </p:nvSpPr>
        <p:spPr>
          <a:xfrm flipH="1">
            <a:off x="5811887" y="4759025"/>
            <a:ext cx="11088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69" name="Line 60">
            <a:extLst>
              <a:ext uri="{FF2B5EF4-FFF2-40B4-BE49-F238E27FC236}">
                <a16:creationId xmlns:a16="http://schemas.microsoft.com/office/drawing/2014/main" id="{E131185B-028B-2125-5E73-009EE58F6DC6}"/>
              </a:ext>
            </a:extLst>
          </p:cNvPr>
          <p:cNvSpPr/>
          <p:nvPr/>
        </p:nvSpPr>
        <p:spPr>
          <a:xfrm>
            <a:off x="7102487" y="2755265"/>
            <a:ext cx="840240" cy="2822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70" name="Line 61">
            <a:extLst>
              <a:ext uri="{FF2B5EF4-FFF2-40B4-BE49-F238E27FC236}">
                <a16:creationId xmlns:a16="http://schemas.microsoft.com/office/drawing/2014/main" id="{D9C3EB95-C6A6-768B-0193-3743948786A5}"/>
              </a:ext>
            </a:extLst>
          </p:cNvPr>
          <p:cNvSpPr/>
          <p:nvPr/>
        </p:nvSpPr>
        <p:spPr>
          <a:xfrm flipH="1">
            <a:off x="7102487" y="3793145"/>
            <a:ext cx="840240" cy="2952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71" name="Line 62">
            <a:extLst>
              <a:ext uri="{FF2B5EF4-FFF2-40B4-BE49-F238E27FC236}">
                <a16:creationId xmlns:a16="http://schemas.microsoft.com/office/drawing/2014/main" id="{5CEAA4BF-5D9D-84AD-1C00-52B2821F307C}"/>
              </a:ext>
            </a:extLst>
          </p:cNvPr>
          <p:cNvSpPr/>
          <p:nvPr/>
        </p:nvSpPr>
        <p:spPr>
          <a:xfrm flipV="1">
            <a:off x="7103207" y="3549425"/>
            <a:ext cx="360" cy="5392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72" name="Line 63">
            <a:extLst>
              <a:ext uri="{FF2B5EF4-FFF2-40B4-BE49-F238E27FC236}">
                <a16:creationId xmlns:a16="http://schemas.microsoft.com/office/drawing/2014/main" id="{21312A01-1E09-984B-5620-82BE1D2A5F80}"/>
              </a:ext>
            </a:extLst>
          </p:cNvPr>
          <p:cNvSpPr/>
          <p:nvPr/>
        </p:nvSpPr>
        <p:spPr>
          <a:xfrm flipV="1">
            <a:off x="7103207" y="3390305"/>
            <a:ext cx="169920" cy="1587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73" name="Line 64">
            <a:extLst>
              <a:ext uri="{FF2B5EF4-FFF2-40B4-BE49-F238E27FC236}">
                <a16:creationId xmlns:a16="http://schemas.microsoft.com/office/drawing/2014/main" id="{3F67CF4A-8E28-529B-B67A-0E611DEB62F7}"/>
              </a:ext>
            </a:extLst>
          </p:cNvPr>
          <p:cNvSpPr/>
          <p:nvPr/>
        </p:nvSpPr>
        <p:spPr>
          <a:xfrm>
            <a:off x="7102487" y="3200225"/>
            <a:ext cx="169920" cy="1900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74" name="Line 65">
            <a:extLst>
              <a:ext uri="{FF2B5EF4-FFF2-40B4-BE49-F238E27FC236}">
                <a16:creationId xmlns:a16="http://schemas.microsoft.com/office/drawing/2014/main" id="{0AB7D662-8133-1672-A70E-1A9B3AC90865}"/>
              </a:ext>
            </a:extLst>
          </p:cNvPr>
          <p:cNvSpPr/>
          <p:nvPr/>
        </p:nvSpPr>
        <p:spPr>
          <a:xfrm flipV="1">
            <a:off x="7102487" y="2755265"/>
            <a:ext cx="360" cy="444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75" name="Line 66">
            <a:extLst>
              <a:ext uri="{FF2B5EF4-FFF2-40B4-BE49-F238E27FC236}">
                <a16:creationId xmlns:a16="http://schemas.microsoft.com/office/drawing/2014/main" id="{7650156C-0361-AFDE-92B8-FBD74DC5A986}"/>
              </a:ext>
            </a:extLst>
          </p:cNvPr>
          <p:cNvSpPr/>
          <p:nvPr/>
        </p:nvSpPr>
        <p:spPr>
          <a:xfrm>
            <a:off x="7597847" y="2470145"/>
            <a:ext cx="360" cy="44352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76" name="CustomShape 67">
            <a:extLst>
              <a:ext uri="{FF2B5EF4-FFF2-40B4-BE49-F238E27FC236}">
                <a16:creationId xmlns:a16="http://schemas.microsoft.com/office/drawing/2014/main" id="{216A4875-0533-FA01-E4CD-B811F9D167E7}"/>
              </a:ext>
            </a:extLst>
          </p:cNvPr>
          <p:cNvSpPr/>
          <p:nvPr/>
        </p:nvSpPr>
        <p:spPr>
          <a:xfrm>
            <a:off x="7300847" y="3465185"/>
            <a:ext cx="5972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ALU</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result</a:t>
            </a:r>
            <a:endParaRPr lang="en-US" sz="1000" b="0" strike="noStrike" spc="-1">
              <a:latin typeface="Arial"/>
            </a:endParaRPr>
          </a:p>
        </p:txBody>
      </p:sp>
      <p:sp>
        <p:nvSpPr>
          <p:cNvPr id="77" name="CustomShape 68">
            <a:extLst>
              <a:ext uri="{FF2B5EF4-FFF2-40B4-BE49-F238E27FC236}">
                <a16:creationId xmlns:a16="http://schemas.microsoft.com/office/drawing/2014/main" id="{BDE72FBF-0F97-6D50-220F-14F4EBF43092}"/>
              </a:ext>
            </a:extLst>
          </p:cNvPr>
          <p:cNvSpPr/>
          <p:nvPr/>
        </p:nvSpPr>
        <p:spPr>
          <a:xfrm>
            <a:off x="7218407" y="3226145"/>
            <a:ext cx="51336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ALU</a:t>
            </a:r>
            <a:endParaRPr lang="en-US" sz="1200" b="0" strike="noStrike" spc="-1">
              <a:latin typeface="Arial"/>
            </a:endParaRPr>
          </a:p>
        </p:txBody>
      </p:sp>
      <p:sp>
        <p:nvSpPr>
          <p:cNvPr id="78" name="CustomShape 69">
            <a:extLst>
              <a:ext uri="{FF2B5EF4-FFF2-40B4-BE49-F238E27FC236}">
                <a16:creationId xmlns:a16="http://schemas.microsoft.com/office/drawing/2014/main" id="{CD97250C-80F7-84D4-D5F4-3697BEB67074}"/>
              </a:ext>
            </a:extLst>
          </p:cNvPr>
          <p:cNvSpPr/>
          <p:nvPr/>
        </p:nvSpPr>
        <p:spPr>
          <a:xfrm>
            <a:off x="6773447" y="2218505"/>
            <a:ext cx="124776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Courier New"/>
                <a:ea typeface="ＭＳ Ｐゴシック"/>
              </a:rPr>
              <a:t>ALUcontrol</a:t>
            </a:r>
            <a:endParaRPr lang="en-US" sz="1400" b="0" strike="noStrike" spc="-1">
              <a:latin typeface="Arial"/>
            </a:endParaRPr>
          </a:p>
        </p:txBody>
      </p:sp>
      <p:sp>
        <p:nvSpPr>
          <p:cNvPr id="79" name="Line 70">
            <a:extLst>
              <a:ext uri="{FF2B5EF4-FFF2-40B4-BE49-F238E27FC236}">
                <a16:creationId xmlns:a16="http://schemas.microsoft.com/office/drawing/2014/main" id="{D35D2946-C3CF-9339-32C0-87CF26D67A54}"/>
              </a:ext>
            </a:extLst>
          </p:cNvPr>
          <p:cNvSpPr/>
          <p:nvPr/>
        </p:nvSpPr>
        <p:spPr>
          <a:xfrm>
            <a:off x="7470047" y="2787665"/>
            <a:ext cx="254160" cy="6444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80" name="CustomShape 71">
            <a:extLst>
              <a:ext uri="{FF2B5EF4-FFF2-40B4-BE49-F238E27FC236}">
                <a16:creationId xmlns:a16="http://schemas.microsoft.com/office/drawing/2014/main" id="{7C71EDAF-C5B9-58D1-7C02-48BF8A77FDF8}"/>
              </a:ext>
            </a:extLst>
          </p:cNvPr>
          <p:cNvSpPr/>
          <p:nvPr/>
        </p:nvSpPr>
        <p:spPr>
          <a:xfrm>
            <a:off x="7286807" y="2606945"/>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660066"/>
                </a:solidFill>
                <a:latin typeface="Verdana"/>
                <a:ea typeface="ＭＳ Ｐゴシック"/>
              </a:rPr>
              <a:t>4</a:t>
            </a:r>
            <a:endParaRPr lang="en-US" sz="1000" b="0" strike="noStrike" spc="-1">
              <a:latin typeface="Arial"/>
            </a:endParaRPr>
          </a:p>
        </p:txBody>
      </p:sp>
      <p:grpSp>
        <p:nvGrpSpPr>
          <p:cNvPr id="81" name="Group 72">
            <a:extLst>
              <a:ext uri="{FF2B5EF4-FFF2-40B4-BE49-F238E27FC236}">
                <a16:creationId xmlns:a16="http://schemas.microsoft.com/office/drawing/2014/main" id="{081ECC98-02FC-B66D-F77D-D7DC965DF0A6}"/>
              </a:ext>
            </a:extLst>
          </p:cNvPr>
          <p:cNvGrpSpPr/>
          <p:nvPr/>
        </p:nvGrpSpPr>
        <p:grpSpPr>
          <a:xfrm>
            <a:off x="2063207" y="1714145"/>
            <a:ext cx="335520" cy="4093080"/>
            <a:chOff x="1092240" y="1637640"/>
            <a:chExt cx="335520" cy="3338640"/>
          </a:xfrm>
        </p:grpSpPr>
        <p:sp>
          <p:nvSpPr>
            <p:cNvPr id="82" name="CustomShape 73">
              <a:extLst>
                <a:ext uri="{FF2B5EF4-FFF2-40B4-BE49-F238E27FC236}">
                  <a16:creationId xmlns:a16="http://schemas.microsoft.com/office/drawing/2014/main" id="{57DB0855-FD51-43B4-E19E-016F0E0A668E}"/>
                </a:ext>
              </a:extLst>
            </p:cNvPr>
            <p:cNvSpPr/>
            <p:nvPr/>
          </p:nvSpPr>
          <p:spPr>
            <a:xfrm rot="5400000">
              <a:off x="945000" y="1784520"/>
              <a:ext cx="629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100011</a:t>
              </a:r>
              <a:endParaRPr lang="en-US" sz="1200" b="0" strike="noStrike" spc="-1">
                <a:latin typeface="Arial"/>
              </a:endParaRPr>
            </a:p>
          </p:txBody>
        </p:sp>
        <p:sp>
          <p:nvSpPr>
            <p:cNvPr id="83" name="CustomShape 74">
              <a:extLst>
                <a:ext uri="{FF2B5EF4-FFF2-40B4-BE49-F238E27FC236}">
                  <a16:creationId xmlns:a16="http://schemas.microsoft.com/office/drawing/2014/main" id="{35759A35-4713-1A14-BB68-C41204EC9217}"/>
                </a:ext>
              </a:extLst>
            </p:cNvPr>
            <p:cNvSpPr/>
            <p:nvPr/>
          </p:nvSpPr>
          <p:spPr>
            <a:xfrm rot="5400000">
              <a:off x="992160" y="236736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10110</a:t>
              </a:r>
              <a:endParaRPr lang="en-US" sz="1200" b="0" strike="noStrike" spc="-1">
                <a:latin typeface="Arial"/>
              </a:endParaRPr>
            </a:p>
          </p:txBody>
        </p:sp>
        <p:sp>
          <p:nvSpPr>
            <p:cNvPr id="84" name="CustomShape 75">
              <a:extLst>
                <a:ext uri="{FF2B5EF4-FFF2-40B4-BE49-F238E27FC236}">
                  <a16:creationId xmlns:a16="http://schemas.microsoft.com/office/drawing/2014/main" id="{2241E607-CE0A-849A-97F3-280B26F39EEF}"/>
                </a:ext>
              </a:extLst>
            </p:cNvPr>
            <p:cNvSpPr/>
            <p:nvPr/>
          </p:nvSpPr>
          <p:spPr>
            <a:xfrm rot="5400000">
              <a:off x="992160" y="290268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10101</a:t>
              </a:r>
              <a:endParaRPr lang="en-US" sz="1200" b="0" strike="noStrike" spc="-1">
                <a:latin typeface="Arial"/>
              </a:endParaRPr>
            </a:p>
          </p:txBody>
        </p:sp>
        <p:sp>
          <p:nvSpPr>
            <p:cNvPr id="85" name="CustomShape 76">
              <a:extLst>
                <a:ext uri="{FF2B5EF4-FFF2-40B4-BE49-F238E27FC236}">
                  <a16:creationId xmlns:a16="http://schemas.microsoft.com/office/drawing/2014/main" id="{3DBFBD6B-365C-1ED1-756D-C4A67333C9E7}"/>
                </a:ext>
              </a:extLst>
            </p:cNvPr>
            <p:cNvSpPr/>
            <p:nvPr/>
          </p:nvSpPr>
          <p:spPr>
            <a:xfrm rot="5400000">
              <a:off x="441000" y="3989520"/>
              <a:ext cx="1637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1111 1111 1100 1110</a:t>
              </a:r>
              <a:endParaRPr lang="en-US" sz="1200" b="0" strike="noStrike" spc="-1">
                <a:latin typeface="Arial"/>
              </a:endParaRPr>
            </a:p>
          </p:txBody>
        </p:sp>
      </p:grpSp>
      <p:grpSp>
        <p:nvGrpSpPr>
          <p:cNvPr id="86" name="Group 77">
            <a:extLst>
              <a:ext uri="{FF2B5EF4-FFF2-40B4-BE49-F238E27FC236}">
                <a16:creationId xmlns:a16="http://schemas.microsoft.com/office/drawing/2014/main" id="{DC0561EE-33CB-9985-FC9B-5FEA0E416BC5}"/>
              </a:ext>
            </a:extLst>
          </p:cNvPr>
          <p:cNvGrpSpPr/>
          <p:nvPr/>
        </p:nvGrpSpPr>
        <p:grpSpPr>
          <a:xfrm>
            <a:off x="7931567" y="3034625"/>
            <a:ext cx="2363400" cy="2006280"/>
            <a:chOff x="6960600" y="2769120"/>
            <a:chExt cx="2363400" cy="2006280"/>
          </a:xfrm>
        </p:grpSpPr>
        <p:sp>
          <p:nvSpPr>
            <p:cNvPr id="87" name="Line 78">
              <a:extLst>
                <a:ext uri="{FF2B5EF4-FFF2-40B4-BE49-F238E27FC236}">
                  <a16:creationId xmlns:a16="http://schemas.microsoft.com/office/drawing/2014/main" id="{CDB96165-FD66-5F9C-78B3-3CF7A30527AB}"/>
                </a:ext>
              </a:extLst>
            </p:cNvPr>
            <p:cNvSpPr/>
            <p:nvPr/>
          </p:nvSpPr>
          <p:spPr>
            <a:xfrm>
              <a:off x="6971760" y="2771640"/>
              <a:ext cx="360" cy="7560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88" name="CustomShape 79">
              <a:extLst>
                <a:ext uri="{FF2B5EF4-FFF2-40B4-BE49-F238E27FC236}">
                  <a16:creationId xmlns:a16="http://schemas.microsoft.com/office/drawing/2014/main" id="{40E6F2BB-9C89-ED07-6030-BF3FECDF4A6D}"/>
                </a:ext>
              </a:extLst>
            </p:cNvPr>
            <p:cNvSpPr/>
            <p:nvPr/>
          </p:nvSpPr>
          <p:spPr>
            <a:xfrm>
              <a:off x="7440120" y="3142800"/>
              <a:ext cx="1295640" cy="125964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89" name="CustomShape 80">
              <a:extLst>
                <a:ext uri="{FF2B5EF4-FFF2-40B4-BE49-F238E27FC236}">
                  <a16:creationId xmlns:a16="http://schemas.microsoft.com/office/drawing/2014/main" id="{EA061821-5E5D-F653-2088-9B0F18FC8314}"/>
                </a:ext>
              </a:extLst>
            </p:cNvPr>
            <p:cNvSpPr/>
            <p:nvPr/>
          </p:nvSpPr>
          <p:spPr>
            <a:xfrm>
              <a:off x="7484760" y="3267360"/>
              <a:ext cx="79992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 Address</a:t>
              </a:r>
              <a:endParaRPr lang="en-US" sz="1000" b="0" strike="noStrike" spc="-1">
                <a:latin typeface="Arial"/>
              </a:endParaRPr>
            </a:p>
          </p:txBody>
        </p:sp>
        <p:sp>
          <p:nvSpPr>
            <p:cNvPr id="90" name="CustomShape 81">
              <a:extLst>
                <a:ext uri="{FF2B5EF4-FFF2-40B4-BE49-F238E27FC236}">
                  <a16:creationId xmlns:a16="http://schemas.microsoft.com/office/drawing/2014/main" id="{F32346C6-BF64-C0DD-6107-6783A05F3E11}"/>
                </a:ext>
              </a:extLst>
            </p:cNvPr>
            <p:cNvSpPr/>
            <p:nvPr/>
          </p:nvSpPr>
          <p:spPr>
            <a:xfrm>
              <a:off x="7394040" y="4094640"/>
              <a:ext cx="6138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91" name="Line 82">
              <a:extLst>
                <a:ext uri="{FF2B5EF4-FFF2-40B4-BE49-F238E27FC236}">
                  <a16:creationId xmlns:a16="http://schemas.microsoft.com/office/drawing/2014/main" id="{58C4D716-0079-3936-F4A8-E433C3B775A3}"/>
                </a:ext>
              </a:extLst>
            </p:cNvPr>
            <p:cNvSpPr/>
            <p:nvPr/>
          </p:nvSpPr>
          <p:spPr>
            <a:xfrm>
              <a:off x="8092080" y="4402440"/>
              <a:ext cx="360" cy="25200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92" name="Line 83">
              <a:extLst>
                <a:ext uri="{FF2B5EF4-FFF2-40B4-BE49-F238E27FC236}">
                  <a16:creationId xmlns:a16="http://schemas.microsoft.com/office/drawing/2014/main" id="{E85A172A-64B8-0B5E-0B49-357627109A74}"/>
                </a:ext>
              </a:extLst>
            </p:cNvPr>
            <p:cNvSpPr/>
            <p:nvPr/>
          </p:nvSpPr>
          <p:spPr>
            <a:xfrm>
              <a:off x="8078040" y="2890440"/>
              <a:ext cx="720" cy="25200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93" name="CustomShape 84">
              <a:extLst>
                <a:ext uri="{FF2B5EF4-FFF2-40B4-BE49-F238E27FC236}">
                  <a16:creationId xmlns:a16="http://schemas.microsoft.com/office/drawing/2014/main" id="{E1010054-AD2C-6B16-D524-AFCD407FC7E1}"/>
                </a:ext>
              </a:extLst>
            </p:cNvPr>
            <p:cNvSpPr/>
            <p:nvPr/>
          </p:nvSpPr>
          <p:spPr>
            <a:xfrm>
              <a:off x="7506360" y="4472640"/>
              <a:ext cx="117000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Verdana"/>
                  <a:ea typeface="ＭＳ Ｐゴシック"/>
                </a:rPr>
                <a:t>MemRead</a:t>
              </a:r>
              <a:endParaRPr lang="en-US" sz="1400" b="0" strike="noStrike" spc="-1">
                <a:latin typeface="Arial"/>
              </a:endParaRPr>
            </a:p>
          </p:txBody>
        </p:sp>
        <p:sp>
          <p:nvSpPr>
            <p:cNvPr id="94" name="CustomShape 85">
              <a:extLst>
                <a:ext uri="{FF2B5EF4-FFF2-40B4-BE49-F238E27FC236}">
                  <a16:creationId xmlns:a16="http://schemas.microsoft.com/office/drawing/2014/main" id="{2F641BB4-3D48-6856-F8D5-E64A85F271E6}"/>
                </a:ext>
              </a:extLst>
            </p:cNvPr>
            <p:cNvSpPr/>
            <p:nvPr/>
          </p:nvSpPr>
          <p:spPr>
            <a:xfrm>
              <a:off x="7455960" y="2769120"/>
              <a:ext cx="12128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Verdana"/>
                  <a:ea typeface="ＭＳ Ｐゴシック"/>
                </a:rPr>
                <a:t>MemWrite</a:t>
              </a:r>
              <a:endParaRPr lang="en-US" sz="1400" b="0" strike="noStrike" spc="-1">
                <a:latin typeface="Arial"/>
              </a:endParaRPr>
            </a:p>
          </p:txBody>
        </p:sp>
        <p:sp>
          <p:nvSpPr>
            <p:cNvPr id="95" name="CustomShape 86">
              <a:extLst>
                <a:ext uri="{FF2B5EF4-FFF2-40B4-BE49-F238E27FC236}">
                  <a16:creationId xmlns:a16="http://schemas.microsoft.com/office/drawing/2014/main" id="{C326F0EE-723F-CC34-669B-E7C64561217B}"/>
                </a:ext>
              </a:extLst>
            </p:cNvPr>
            <p:cNvSpPr/>
            <p:nvPr/>
          </p:nvSpPr>
          <p:spPr>
            <a:xfrm flipV="1">
              <a:off x="6960600" y="3358440"/>
              <a:ext cx="479520" cy="10800"/>
            </a:xfrm>
            <a:custGeom>
              <a:avLst/>
              <a:gdLst/>
              <a:ahLst/>
              <a:cxnLst/>
              <a:rect l="l" t="t" r="r" b="b"/>
              <a:pathLst>
                <a:path w="21600" h="21600">
                  <a:moveTo>
                    <a:pt x="0" y="0"/>
                  </a:moveTo>
                  <a:lnTo>
                    <a:pt x="21600" y="21600"/>
                  </a:lnTo>
                </a:path>
              </a:pathLst>
            </a:custGeom>
            <a:noFill/>
            <a:ln w="22320">
              <a:solidFill>
                <a:srgbClr val="C00000"/>
              </a:solidFill>
              <a:round/>
              <a:tailEnd type="triangle" w="med" len="med"/>
            </a:ln>
          </p:spPr>
          <p:style>
            <a:lnRef idx="1">
              <a:schemeClr val="accent1"/>
            </a:lnRef>
            <a:fillRef idx="0">
              <a:schemeClr val="accent1"/>
            </a:fillRef>
            <a:effectRef idx="0">
              <a:schemeClr val="accent1"/>
            </a:effectRef>
            <a:fontRef idx="minor"/>
          </p:style>
          <p:txBody>
            <a:bodyPr/>
            <a:lstStyle/>
            <a:p>
              <a:endParaRPr lang="vi-VN"/>
            </a:p>
          </p:txBody>
        </p:sp>
        <p:sp>
          <p:nvSpPr>
            <p:cNvPr id="96" name="Line 87">
              <a:extLst>
                <a:ext uri="{FF2B5EF4-FFF2-40B4-BE49-F238E27FC236}">
                  <a16:creationId xmlns:a16="http://schemas.microsoft.com/office/drawing/2014/main" id="{21159345-7C35-EBD6-FB27-E86A092C06BF}"/>
                </a:ext>
              </a:extLst>
            </p:cNvPr>
            <p:cNvSpPr/>
            <p:nvPr/>
          </p:nvSpPr>
          <p:spPr>
            <a:xfrm>
              <a:off x="8740440" y="4102200"/>
              <a:ext cx="583560" cy="360"/>
            </a:xfrm>
            <a:prstGeom prst="line">
              <a:avLst/>
            </a:prstGeom>
            <a:ln w="22320">
              <a:solidFill>
                <a:srgbClr val="C00000"/>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97" name="CustomShape 88">
              <a:extLst>
                <a:ext uri="{FF2B5EF4-FFF2-40B4-BE49-F238E27FC236}">
                  <a16:creationId xmlns:a16="http://schemas.microsoft.com/office/drawing/2014/main" id="{77579CA2-FC43-54D9-2873-689B5B2584C1}"/>
                </a:ext>
              </a:extLst>
            </p:cNvPr>
            <p:cNvSpPr/>
            <p:nvPr/>
          </p:nvSpPr>
          <p:spPr>
            <a:xfrm>
              <a:off x="7660800" y="3464640"/>
              <a:ext cx="87444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C00000"/>
                  </a:solidFill>
                  <a:latin typeface="Verdana"/>
                  <a:ea typeface="ＭＳ Ｐゴシック"/>
                </a:rPr>
                <a:t>Data</a:t>
              </a:r>
              <a:endParaRPr lang="en-US" sz="1200" b="0" strike="noStrike" spc="-1">
                <a:latin typeface="Arial"/>
              </a:endParaRPr>
            </a:p>
            <a:p>
              <a:pPr algn="ctr">
                <a:lnSpc>
                  <a:spcPct val="100000"/>
                </a:lnSpc>
              </a:pPr>
              <a:r>
                <a:rPr lang="en-US" sz="1200" b="1" i="1" strike="noStrike" spc="-1">
                  <a:solidFill>
                    <a:srgbClr val="C00000"/>
                  </a:solidFill>
                  <a:latin typeface="Verdana"/>
                  <a:ea typeface="ＭＳ Ｐゴシック"/>
                </a:rPr>
                <a:t>Memory</a:t>
              </a:r>
              <a:endParaRPr lang="en-US" sz="1200" b="0" strike="noStrike" spc="-1">
                <a:latin typeface="Arial"/>
              </a:endParaRPr>
            </a:p>
          </p:txBody>
        </p:sp>
        <p:sp>
          <p:nvSpPr>
            <p:cNvPr id="98" name="CustomShape 89">
              <a:extLst>
                <a:ext uri="{FF2B5EF4-FFF2-40B4-BE49-F238E27FC236}">
                  <a16:creationId xmlns:a16="http://schemas.microsoft.com/office/drawing/2014/main" id="{1C1F572C-2B2C-097B-4287-E5C98A617EDF}"/>
                </a:ext>
              </a:extLst>
            </p:cNvPr>
            <p:cNvSpPr/>
            <p:nvPr/>
          </p:nvSpPr>
          <p:spPr>
            <a:xfrm>
              <a:off x="8178480" y="3892320"/>
              <a:ext cx="58356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grpSp>
      <p:sp>
        <p:nvSpPr>
          <p:cNvPr id="99" name="CustomShape 90">
            <a:extLst>
              <a:ext uri="{FF2B5EF4-FFF2-40B4-BE49-F238E27FC236}">
                <a16:creationId xmlns:a16="http://schemas.microsoft.com/office/drawing/2014/main" id="{43FD2944-5A14-8415-6185-F3344D5AFC89}"/>
              </a:ext>
            </a:extLst>
          </p:cNvPr>
          <p:cNvSpPr/>
          <p:nvPr/>
        </p:nvSpPr>
        <p:spPr>
          <a:xfrm>
            <a:off x="3490607" y="1714145"/>
            <a:ext cx="4451760" cy="440640"/>
          </a:xfrm>
          <a:prstGeom prst="snip1Rect">
            <a:avLst>
              <a:gd name="adj" fmla="val 16667"/>
            </a:avLst>
          </a:prstGeom>
          <a:solidFill>
            <a:srgbClr val="FFFFCC">
              <a:alpha val="80000"/>
            </a:srgbClr>
          </a:solidFill>
          <a:ln w="1584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marL="343080" indent="-342720" algn="ctr">
              <a:lnSpc>
                <a:spcPct val="100000"/>
              </a:lnSpc>
              <a:spcBef>
                <a:spcPts val="839"/>
              </a:spcBef>
            </a:pPr>
            <a:r>
              <a:rPr lang="en-US" sz="2800" b="1" strike="noStrike" spc="-1">
                <a:solidFill>
                  <a:srgbClr val="660066"/>
                </a:solidFill>
                <a:latin typeface="Courier New"/>
                <a:ea typeface="ＭＳ Ｐゴシック"/>
              </a:rPr>
              <a:t> lw</a:t>
            </a:r>
            <a:r>
              <a:rPr lang="en-US" sz="2800" b="1" strike="noStrike" spc="-1">
                <a:solidFill>
                  <a:srgbClr val="000000"/>
                </a:solidFill>
                <a:latin typeface="Courier New"/>
                <a:ea typeface="ＭＳ Ｐゴシック"/>
              </a:rPr>
              <a:t> </a:t>
            </a:r>
            <a:r>
              <a:rPr lang="en-US" sz="2800" b="1" strike="noStrike" spc="-1">
                <a:solidFill>
                  <a:srgbClr val="C00000"/>
                </a:solidFill>
                <a:latin typeface="Courier New"/>
                <a:ea typeface="ＭＳ Ｐゴシック"/>
              </a:rPr>
              <a:t>$21</a:t>
            </a:r>
            <a:r>
              <a:rPr lang="en-US" sz="2800" b="1" strike="noStrike" spc="-1">
                <a:solidFill>
                  <a:srgbClr val="000000"/>
                </a:solidFill>
                <a:latin typeface="Courier New"/>
                <a:ea typeface="ＭＳ Ｐゴシック"/>
              </a:rPr>
              <a:t>, -50(</a:t>
            </a:r>
            <a:r>
              <a:rPr lang="en-US" sz="2800" b="1" strike="noStrike" spc="-1">
                <a:solidFill>
                  <a:srgbClr val="006600"/>
                </a:solidFill>
                <a:latin typeface="Courier New"/>
                <a:ea typeface="ＭＳ Ｐゴシック"/>
              </a:rPr>
              <a:t>$22</a:t>
            </a:r>
            <a:r>
              <a:rPr lang="en-US" sz="2800" b="1" strike="noStrike" spc="-1">
                <a:solidFill>
                  <a:srgbClr val="000000"/>
                </a:solidFill>
                <a:latin typeface="Courier New"/>
                <a:ea typeface="ＭＳ Ｐゴシック"/>
              </a:rPr>
              <a:t>)</a:t>
            </a:r>
            <a:endParaRPr lang="en-US" sz="2800" b="0" strike="noStrike" spc="-1">
              <a:latin typeface="Arial"/>
            </a:endParaRPr>
          </a:p>
        </p:txBody>
      </p:sp>
    </p:spTree>
    <p:extLst>
      <p:ext uri="{BB962C8B-B14F-4D97-AF65-F5344CB8AC3E}">
        <p14:creationId xmlns:p14="http://schemas.microsoft.com/office/powerpoint/2010/main" val="7983706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B837-36B6-E186-44DB-23E21FE87830}"/>
              </a:ext>
            </a:extLst>
          </p:cNvPr>
          <p:cNvSpPr>
            <a:spLocks noGrp="1"/>
          </p:cNvSpPr>
          <p:nvPr>
            <p:ph type="title"/>
          </p:nvPr>
        </p:nvSpPr>
        <p:spPr/>
        <p:txBody>
          <a:bodyPr/>
          <a:lstStyle/>
          <a:p>
            <a:r>
              <a:rPr lang="en-US"/>
              <a:t>Giai đoạn Memory: lệnh Store</a:t>
            </a:r>
          </a:p>
        </p:txBody>
      </p:sp>
      <p:sp>
        <p:nvSpPr>
          <p:cNvPr id="4" name="Footer Placeholder 3">
            <a:extLst>
              <a:ext uri="{FF2B5EF4-FFF2-40B4-BE49-F238E27FC236}">
                <a16:creationId xmlns:a16="http://schemas.microsoft.com/office/drawing/2014/main" id="{A6968558-B237-1099-B1D5-7F7C18B534C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3154C20-D789-0928-41F7-A66DAC47ED84}"/>
              </a:ext>
            </a:extLst>
          </p:cNvPr>
          <p:cNvSpPr>
            <a:spLocks noGrp="1"/>
          </p:cNvSpPr>
          <p:nvPr>
            <p:ph type="sldNum" sz="quarter" idx="12"/>
          </p:nvPr>
        </p:nvSpPr>
        <p:spPr/>
        <p:txBody>
          <a:bodyPr/>
          <a:lstStyle/>
          <a:p>
            <a:fld id="{D8B0B3AC-44A8-D142-AAF6-9A453466E1A4}" type="slidenum">
              <a:rPr lang="en-VN" smtClean="0"/>
              <a:pPr/>
              <a:t>51</a:t>
            </a:fld>
            <a:endParaRPr lang="en-VN" dirty="0"/>
          </a:p>
        </p:txBody>
      </p:sp>
      <p:sp>
        <p:nvSpPr>
          <p:cNvPr id="6" name="Date Placeholder 5">
            <a:extLst>
              <a:ext uri="{FF2B5EF4-FFF2-40B4-BE49-F238E27FC236}">
                <a16:creationId xmlns:a16="http://schemas.microsoft.com/office/drawing/2014/main" id="{141E8A66-41C9-9CC1-2355-356C3F4EE6D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grpSp>
        <p:nvGrpSpPr>
          <p:cNvPr id="93" name="Group 3">
            <a:extLst>
              <a:ext uri="{FF2B5EF4-FFF2-40B4-BE49-F238E27FC236}">
                <a16:creationId xmlns:a16="http://schemas.microsoft.com/office/drawing/2014/main" id="{969E98EA-0A9A-F2F0-C547-6970EA1FBBB3}"/>
              </a:ext>
            </a:extLst>
          </p:cNvPr>
          <p:cNvGrpSpPr/>
          <p:nvPr/>
        </p:nvGrpSpPr>
        <p:grpSpPr>
          <a:xfrm>
            <a:off x="1541098" y="1711048"/>
            <a:ext cx="799920" cy="4099275"/>
            <a:chOff x="588240" y="1637640"/>
            <a:chExt cx="799920" cy="3401640"/>
          </a:xfrm>
        </p:grpSpPr>
        <p:grpSp>
          <p:nvGrpSpPr>
            <p:cNvPr id="94" name="Group 4">
              <a:extLst>
                <a:ext uri="{FF2B5EF4-FFF2-40B4-BE49-F238E27FC236}">
                  <a16:creationId xmlns:a16="http://schemas.microsoft.com/office/drawing/2014/main" id="{50EDA7A8-D6EE-AE8F-4FEC-61B2DAAC1225}"/>
                </a:ext>
              </a:extLst>
            </p:cNvPr>
            <p:cNvGrpSpPr/>
            <p:nvPr/>
          </p:nvGrpSpPr>
          <p:grpSpPr>
            <a:xfrm>
              <a:off x="1097280" y="1637640"/>
              <a:ext cx="290880" cy="3338640"/>
              <a:chOff x="1097280" y="1637640"/>
              <a:chExt cx="290880" cy="3338640"/>
            </a:xfrm>
          </p:grpSpPr>
          <p:sp>
            <p:nvSpPr>
              <p:cNvPr id="100" name="CustomShape 5">
                <a:extLst>
                  <a:ext uri="{FF2B5EF4-FFF2-40B4-BE49-F238E27FC236}">
                    <a16:creationId xmlns:a16="http://schemas.microsoft.com/office/drawing/2014/main" id="{D20DC136-8BE5-B998-7512-84AB0787A23E}"/>
                  </a:ext>
                </a:extLst>
              </p:cNvPr>
              <p:cNvSpPr/>
              <p:nvPr/>
            </p:nvSpPr>
            <p:spPr>
              <a:xfrm rot="5400000">
                <a:off x="927720" y="1806840"/>
                <a:ext cx="629640" cy="2908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000100</a:t>
                </a:r>
                <a:endParaRPr lang="en-US" sz="1200" b="0" strike="noStrike" spc="-1">
                  <a:latin typeface="Arial"/>
                </a:endParaRPr>
              </a:p>
            </p:txBody>
          </p:sp>
          <p:sp>
            <p:nvSpPr>
              <p:cNvPr id="101" name="CustomShape 6">
                <a:extLst>
                  <a:ext uri="{FF2B5EF4-FFF2-40B4-BE49-F238E27FC236}">
                    <a16:creationId xmlns:a16="http://schemas.microsoft.com/office/drawing/2014/main" id="{F20A13B6-86DE-96B6-256D-62EF3CA9B0BF}"/>
                  </a:ext>
                </a:extLst>
              </p:cNvPr>
              <p:cNvSpPr/>
              <p:nvPr/>
            </p:nvSpPr>
            <p:spPr>
              <a:xfrm rot="5400000">
                <a:off x="974880" y="2389680"/>
                <a:ext cx="535320" cy="2908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01001</a:t>
                </a:r>
                <a:endParaRPr lang="en-US" sz="1200" b="0" strike="noStrike" spc="-1">
                  <a:latin typeface="Arial"/>
                </a:endParaRPr>
              </a:p>
            </p:txBody>
          </p:sp>
          <p:sp>
            <p:nvSpPr>
              <p:cNvPr id="102" name="CustomShape 7">
                <a:extLst>
                  <a:ext uri="{FF2B5EF4-FFF2-40B4-BE49-F238E27FC236}">
                    <a16:creationId xmlns:a16="http://schemas.microsoft.com/office/drawing/2014/main" id="{BB195911-AC77-46B0-389C-8C1A62A43882}"/>
                  </a:ext>
                </a:extLst>
              </p:cNvPr>
              <p:cNvSpPr/>
              <p:nvPr/>
            </p:nvSpPr>
            <p:spPr>
              <a:xfrm rot="5400000">
                <a:off x="974880" y="2925000"/>
                <a:ext cx="535320" cy="2908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00000</a:t>
                </a:r>
                <a:endParaRPr lang="en-US" sz="1200" b="0" strike="noStrike" spc="-1">
                  <a:latin typeface="Arial"/>
                </a:endParaRPr>
              </a:p>
            </p:txBody>
          </p:sp>
          <p:sp>
            <p:nvSpPr>
              <p:cNvPr id="103" name="CustomShape 8">
                <a:extLst>
                  <a:ext uri="{FF2B5EF4-FFF2-40B4-BE49-F238E27FC236}">
                    <a16:creationId xmlns:a16="http://schemas.microsoft.com/office/drawing/2014/main" id="{155496E7-B0B5-7E84-751D-7B5D604D33F8}"/>
                  </a:ext>
                </a:extLst>
              </p:cNvPr>
              <p:cNvSpPr/>
              <p:nvPr/>
            </p:nvSpPr>
            <p:spPr>
              <a:xfrm rot="5400000">
                <a:off x="423720" y="4011840"/>
                <a:ext cx="1637640" cy="2908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0000 0000 0000 0011</a:t>
                </a:r>
                <a:endParaRPr lang="en-US" sz="1200" b="0" strike="noStrike" spc="-1">
                  <a:latin typeface="Arial"/>
                </a:endParaRPr>
              </a:p>
            </p:txBody>
          </p:sp>
        </p:grpSp>
        <p:sp>
          <p:nvSpPr>
            <p:cNvPr id="95" name="CustomShape 9">
              <a:extLst>
                <a:ext uri="{FF2B5EF4-FFF2-40B4-BE49-F238E27FC236}">
                  <a16:creationId xmlns:a16="http://schemas.microsoft.com/office/drawing/2014/main" id="{470FF198-13DE-BC65-8A55-2D9CA1BF1D8F}"/>
                </a:ext>
              </a:extLst>
            </p:cNvPr>
            <p:cNvSpPr/>
            <p:nvPr/>
          </p:nvSpPr>
          <p:spPr>
            <a:xfrm rot="5400000">
              <a:off x="-7560" y="3934440"/>
              <a:ext cx="1700640" cy="509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Immediate</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15:0</a:t>
              </a:r>
              <a:endParaRPr lang="en-US" sz="1200" b="0" strike="noStrike" spc="-1">
                <a:latin typeface="Arial"/>
              </a:endParaRPr>
            </a:p>
          </p:txBody>
        </p:sp>
        <p:grpSp>
          <p:nvGrpSpPr>
            <p:cNvPr id="96" name="Group 10">
              <a:extLst>
                <a:ext uri="{FF2B5EF4-FFF2-40B4-BE49-F238E27FC236}">
                  <a16:creationId xmlns:a16="http://schemas.microsoft.com/office/drawing/2014/main" id="{CA377A5D-1250-007B-689E-8E265E26692D}"/>
                </a:ext>
              </a:extLst>
            </p:cNvPr>
            <p:cNvGrpSpPr/>
            <p:nvPr/>
          </p:nvGrpSpPr>
          <p:grpSpPr>
            <a:xfrm>
              <a:off x="660960" y="1637640"/>
              <a:ext cx="436320" cy="1700640"/>
              <a:chOff x="660960" y="1637640"/>
              <a:chExt cx="436320" cy="1700640"/>
            </a:xfrm>
          </p:grpSpPr>
          <p:sp>
            <p:nvSpPr>
              <p:cNvPr id="97" name="CustomShape 11">
                <a:extLst>
                  <a:ext uri="{FF2B5EF4-FFF2-40B4-BE49-F238E27FC236}">
                    <a16:creationId xmlns:a16="http://schemas.microsoft.com/office/drawing/2014/main" id="{9B6CE6B9-5150-D3D4-3E1A-0CE14CA3289C}"/>
                  </a:ext>
                </a:extLst>
              </p:cNvPr>
              <p:cNvSpPr/>
              <p:nvPr/>
            </p:nvSpPr>
            <p:spPr>
              <a:xfrm rot="5400000">
                <a:off x="564120" y="1734120"/>
                <a:ext cx="629640" cy="43632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opcode</a:t>
                </a:r>
                <a:endParaRPr lang="en-US" sz="1200" b="0" strike="noStrike" spc="-1">
                  <a:latin typeface="Arial"/>
                </a:endParaRPr>
              </a:p>
              <a:p>
                <a:pPr algn="ctr">
                  <a:lnSpc>
                    <a:spcPct val="100000"/>
                  </a:lnSpc>
                </a:pPr>
                <a:r>
                  <a:rPr lang="en-US" sz="1200" b="1" strike="noStrike" spc="-1">
                    <a:solidFill>
                      <a:srgbClr val="660066"/>
                    </a:solidFill>
                    <a:latin typeface="Courier New"/>
                    <a:ea typeface="ＭＳ Ｐゴシック"/>
                  </a:rPr>
                  <a:t>31:26</a:t>
                </a:r>
                <a:endParaRPr lang="en-US" sz="1200" b="0" strike="noStrike" spc="-1">
                  <a:latin typeface="Arial"/>
                </a:endParaRPr>
              </a:p>
            </p:txBody>
          </p:sp>
          <p:sp>
            <p:nvSpPr>
              <p:cNvPr id="98" name="CustomShape 12">
                <a:extLst>
                  <a:ext uri="{FF2B5EF4-FFF2-40B4-BE49-F238E27FC236}">
                    <a16:creationId xmlns:a16="http://schemas.microsoft.com/office/drawing/2014/main" id="{D072B9DF-5042-2B26-3602-0B62C0FF7F77}"/>
                  </a:ext>
                </a:extLst>
              </p:cNvPr>
              <p:cNvSpPr/>
              <p:nvPr/>
            </p:nvSpPr>
            <p:spPr>
              <a:xfrm rot="5400000">
                <a:off x="611280" y="2316960"/>
                <a:ext cx="535320" cy="43632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rs</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25:21</a:t>
                </a:r>
                <a:endParaRPr lang="en-US" sz="1200" b="0" strike="noStrike" spc="-1">
                  <a:latin typeface="Arial"/>
                </a:endParaRPr>
              </a:p>
            </p:txBody>
          </p:sp>
          <p:sp>
            <p:nvSpPr>
              <p:cNvPr id="99" name="CustomShape 13">
                <a:extLst>
                  <a:ext uri="{FF2B5EF4-FFF2-40B4-BE49-F238E27FC236}">
                    <a16:creationId xmlns:a16="http://schemas.microsoft.com/office/drawing/2014/main" id="{9DA55B69-4ABD-D989-967A-F0D4057558B6}"/>
                  </a:ext>
                </a:extLst>
              </p:cNvPr>
              <p:cNvSpPr/>
              <p:nvPr/>
            </p:nvSpPr>
            <p:spPr>
              <a:xfrm rot="5400000">
                <a:off x="611280" y="2852280"/>
                <a:ext cx="535320" cy="43632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rt</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20:16</a:t>
                </a:r>
                <a:endParaRPr lang="en-US" sz="1200" b="0" strike="noStrike" spc="-1">
                  <a:latin typeface="Arial"/>
                </a:endParaRPr>
              </a:p>
            </p:txBody>
          </p:sp>
        </p:grpSp>
      </p:grpSp>
      <p:sp>
        <p:nvSpPr>
          <p:cNvPr id="104" name="Line 14">
            <a:extLst>
              <a:ext uri="{FF2B5EF4-FFF2-40B4-BE49-F238E27FC236}">
                <a16:creationId xmlns:a16="http://schemas.microsoft.com/office/drawing/2014/main" id="{F251DD85-575F-B06F-631D-A1EE94E90EEA}"/>
              </a:ext>
            </a:extLst>
          </p:cNvPr>
          <p:cNvSpPr/>
          <p:nvPr/>
        </p:nvSpPr>
        <p:spPr>
          <a:xfrm>
            <a:off x="5572378" y="3009103"/>
            <a:ext cx="151200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05" name="Line 15">
            <a:extLst>
              <a:ext uri="{FF2B5EF4-FFF2-40B4-BE49-F238E27FC236}">
                <a16:creationId xmlns:a16="http://schemas.microsoft.com/office/drawing/2014/main" id="{ADC4E025-6536-11F7-0FBB-512EEBFA4CC5}"/>
              </a:ext>
            </a:extLst>
          </p:cNvPr>
          <p:cNvSpPr/>
          <p:nvPr/>
        </p:nvSpPr>
        <p:spPr>
          <a:xfrm>
            <a:off x="5656618" y="3827743"/>
            <a:ext cx="1024920" cy="900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06" name="Line 16">
            <a:extLst>
              <a:ext uri="{FF2B5EF4-FFF2-40B4-BE49-F238E27FC236}">
                <a16:creationId xmlns:a16="http://schemas.microsoft.com/office/drawing/2014/main" id="{FACA868A-F85C-609F-0034-85EB091ADF89}"/>
              </a:ext>
            </a:extLst>
          </p:cNvPr>
          <p:cNvSpPr/>
          <p:nvPr/>
        </p:nvSpPr>
        <p:spPr>
          <a:xfrm>
            <a:off x="2341378" y="2898223"/>
            <a:ext cx="1433880" cy="47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07" name="Line 17">
            <a:extLst>
              <a:ext uri="{FF2B5EF4-FFF2-40B4-BE49-F238E27FC236}">
                <a16:creationId xmlns:a16="http://schemas.microsoft.com/office/drawing/2014/main" id="{CA2820DD-B2AD-0029-B9EC-A1235B7C3513}"/>
              </a:ext>
            </a:extLst>
          </p:cNvPr>
          <p:cNvSpPr/>
          <p:nvPr/>
        </p:nvSpPr>
        <p:spPr>
          <a:xfrm flipV="1">
            <a:off x="2341378" y="3260743"/>
            <a:ext cx="1433880" cy="173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08" name="Line 18">
            <a:extLst>
              <a:ext uri="{FF2B5EF4-FFF2-40B4-BE49-F238E27FC236}">
                <a16:creationId xmlns:a16="http://schemas.microsoft.com/office/drawing/2014/main" id="{487114DC-1692-6C43-2700-53E5640B48FC}"/>
              </a:ext>
            </a:extLst>
          </p:cNvPr>
          <p:cNvSpPr/>
          <p:nvPr/>
        </p:nvSpPr>
        <p:spPr>
          <a:xfrm flipV="1">
            <a:off x="2341378" y="4189903"/>
            <a:ext cx="1091520" cy="1584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09" name="CustomShape 19">
            <a:extLst>
              <a:ext uri="{FF2B5EF4-FFF2-40B4-BE49-F238E27FC236}">
                <a16:creationId xmlns:a16="http://schemas.microsoft.com/office/drawing/2014/main" id="{E3C3BA66-E8B9-5D95-4CB1-134544EAF14B}"/>
              </a:ext>
            </a:extLst>
          </p:cNvPr>
          <p:cNvSpPr/>
          <p:nvPr/>
        </p:nvSpPr>
        <p:spPr>
          <a:xfrm>
            <a:off x="2415538" y="2694103"/>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110" name="CustomShape 20">
            <a:extLst>
              <a:ext uri="{FF2B5EF4-FFF2-40B4-BE49-F238E27FC236}">
                <a16:creationId xmlns:a16="http://schemas.microsoft.com/office/drawing/2014/main" id="{2510D914-AE5D-596B-1539-F09079EE925D}"/>
              </a:ext>
            </a:extLst>
          </p:cNvPr>
          <p:cNvSpPr/>
          <p:nvPr/>
        </p:nvSpPr>
        <p:spPr>
          <a:xfrm rot="21202800">
            <a:off x="2388538" y="3158143"/>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111" name="CustomShape 21">
            <a:extLst>
              <a:ext uri="{FF2B5EF4-FFF2-40B4-BE49-F238E27FC236}">
                <a16:creationId xmlns:a16="http://schemas.microsoft.com/office/drawing/2014/main" id="{8AAA81FD-080E-55FB-E8D4-8B3FF09CF84A}"/>
              </a:ext>
            </a:extLst>
          </p:cNvPr>
          <p:cNvSpPr/>
          <p:nvPr/>
        </p:nvSpPr>
        <p:spPr>
          <a:xfrm>
            <a:off x="2369098" y="4001263"/>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112" name="CustomShape 22">
            <a:extLst>
              <a:ext uri="{FF2B5EF4-FFF2-40B4-BE49-F238E27FC236}">
                <a16:creationId xmlns:a16="http://schemas.microsoft.com/office/drawing/2014/main" id="{B12D2BAE-7B78-392A-9C2E-300B732FC9D5}"/>
              </a:ext>
            </a:extLst>
          </p:cNvPr>
          <p:cNvSpPr/>
          <p:nvPr/>
        </p:nvSpPr>
        <p:spPr>
          <a:xfrm>
            <a:off x="3433258" y="3575743"/>
            <a:ext cx="290880" cy="755640"/>
          </a:xfrm>
          <a:prstGeom prst="roundRect">
            <a:avLst>
              <a:gd name="adj" fmla="val 16667"/>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113" name="CustomShape 23">
            <a:extLst>
              <a:ext uri="{FF2B5EF4-FFF2-40B4-BE49-F238E27FC236}">
                <a16:creationId xmlns:a16="http://schemas.microsoft.com/office/drawing/2014/main" id="{87829F5A-692F-28F1-0B85-46A100619A18}"/>
              </a:ext>
            </a:extLst>
          </p:cNvPr>
          <p:cNvSpPr/>
          <p:nvPr/>
        </p:nvSpPr>
        <p:spPr>
          <a:xfrm rot="16200000" flipH="1">
            <a:off x="2878498" y="3398983"/>
            <a:ext cx="594720" cy="514440"/>
          </a:xfrm>
          <a:prstGeom prst="bentConnector2">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14" name="Line 24">
            <a:extLst>
              <a:ext uri="{FF2B5EF4-FFF2-40B4-BE49-F238E27FC236}">
                <a16:creationId xmlns:a16="http://schemas.microsoft.com/office/drawing/2014/main" id="{CE5C4C36-D048-242D-43D9-63965B0BF842}"/>
              </a:ext>
            </a:extLst>
          </p:cNvPr>
          <p:cNvSpPr/>
          <p:nvPr/>
        </p:nvSpPr>
        <p:spPr>
          <a:xfrm flipV="1">
            <a:off x="3724138" y="3638743"/>
            <a:ext cx="123480" cy="31536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15" name="CustomShape 25">
            <a:extLst>
              <a:ext uri="{FF2B5EF4-FFF2-40B4-BE49-F238E27FC236}">
                <a16:creationId xmlns:a16="http://schemas.microsoft.com/office/drawing/2014/main" id="{6386F334-2BD4-85E6-1A26-7B26AC72AD96}"/>
              </a:ext>
            </a:extLst>
          </p:cNvPr>
          <p:cNvSpPr/>
          <p:nvPr/>
        </p:nvSpPr>
        <p:spPr>
          <a:xfrm>
            <a:off x="3160378" y="4521103"/>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RegDst</a:t>
            </a:r>
            <a:endParaRPr lang="en-US" sz="1600" b="0" strike="noStrike" spc="-1">
              <a:latin typeface="Arial"/>
            </a:endParaRPr>
          </a:p>
        </p:txBody>
      </p:sp>
      <p:sp>
        <p:nvSpPr>
          <p:cNvPr id="116" name="Line 26">
            <a:extLst>
              <a:ext uri="{FF2B5EF4-FFF2-40B4-BE49-F238E27FC236}">
                <a16:creationId xmlns:a16="http://schemas.microsoft.com/office/drawing/2014/main" id="{008B87A1-F261-ABBF-A763-7FA57EE0C006}"/>
              </a:ext>
            </a:extLst>
          </p:cNvPr>
          <p:cNvSpPr/>
          <p:nvPr/>
        </p:nvSpPr>
        <p:spPr>
          <a:xfrm>
            <a:off x="3578698" y="4331743"/>
            <a:ext cx="360" cy="22176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17" name="CustomShape 27">
            <a:extLst>
              <a:ext uri="{FF2B5EF4-FFF2-40B4-BE49-F238E27FC236}">
                <a16:creationId xmlns:a16="http://schemas.microsoft.com/office/drawing/2014/main" id="{027086F4-ED83-642B-A944-BDF1084F2F82}"/>
              </a:ext>
            </a:extLst>
          </p:cNvPr>
          <p:cNvSpPr/>
          <p:nvPr/>
        </p:nvSpPr>
        <p:spPr>
          <a:xfrm flipV="1">
            <a:off x="5551138" y="4079743"/>
            <a:ext cx="868320" cy="850320"/>
          </a:xfrm>
          <a:prstGeom prst="bentConnector3">
            <a:avLst>
              <a:gd name="adj1" fmla="val 50000"/>
            </a:avLst>
          </a:prstGeom>
          <a:noFill/>
          <a:ln w="1260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18" name="CustomShape 28">
            <a:extLst>
              <a:ext uri="{FF2B5EF4-FFF2-40B4-BE49-F238E27FC236}">
                <a16:creationId xmlns:a16="http://schemas.microsoft.com/office/drawing/2014/main" id="{FCAB9276-FABF-CA86-C918-BA33C8DAAD36}"/>
              </a:ext>
            </a:extLst>
          </p:cNvPr>
          <p:cNvSpPr/>
          <p:nvPr/>
        </p:nvSpPr>
        <p:spPr>
          <a:xfrm>
            <a:off x="2369098" y="4773103"/>
            <a:ext cx="9295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[15:0]</a:t>
            </a:r>
            <a:endParaRPr lang="en-US" sz="1000" b="0" strike="noStrike" spc="-1">
              <a:latin typeface="Arial"/>
            </a:endParaRPr>
          </a:p>
        </p:txBody>
      </p:sp>
      <p:sp>
        <p:nvSpPr>
          <p:cNvPr id="119" name="CustomShape 29">
            <a:extLst>
              <a:ext uri="{FF2B5EF4-FFF2-40B4-BE49-F238E27FC236}">
                <a16:creationId xmlns:a16="http://schemas.microsoft.com/office/drawing/2014/main" id="{5FAED8E0-8EEF-3AD1-31E0-F2C55DC6FE01}"/>
              </a:ext>
            </a:extLst>
          </p:cNvPr>
          <p:cNvSpPr/>
          <p:nvPr/>
        </p:nvSpPr>
        <p:spPr>
          <a:xfrm>
            <a:off x="6419818" y="3702103"/>
            <a:ext cx="290880" cy="755640"/>
          </a:xfrm>
          <a:prstGeom prst="roundRect">
            <a:avLst>
              <a:gd name="adj" fmla="val 16667"/>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120" name="Line 30">
            <a:extLst>
              <a:ext uri="{FF2B5EF4-FFF2-40B4-BE49-F238E27FC236}">
                <a16:creationId xmlns:a16="http://schemas.microsoft.com/office/drawing/2014/main" id="{15089402-4D12-409E-96D7-DA6CC045D153}"/>
              </a:ext>
            </a:extLst>
          </p:cNvPr>
          <p:cNvSpPr/>
          <p:nvPr/>
        </p:nvSpPr>
        <p:spPr>
          <a:xfrm>
            <a:off x="2341378" y="4961743"/>
            <a:ext cx="2256480" cy="360"/>
          </a:xfrm>
          <a:prstGeom prst="line">
            <a:avLst/>
          </a:prstGeom>
          <a:ln w="1260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21" name="Line 31">
            <a:extLst>
              <a:ext uri="{FF2B5EF4-FFF2-40B4-BE49-F238E27FC236}">
                <a16:creationId xmlns:a16="http://schemas.microsoft.com/office/drawing/2014/main" id="{1F2EEDE0-A0C1-ECE8-87C0-9D500DD8B75B}"/>
              </a:ext>
            </a:extLst>
          </p:cNvPr>
          <p:cNvSpPr/>
          <p:nvPr/>
        </p:nvSpPr>
        <p:spPr>
          <a:xfrm>
            <a:off x="6710698" y="4079743"/>
            <a:ext cx="37368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nvGrpSpPr>
          <p:cNvPr id="122" name="Group 32">
            <a:extLst>
              <a:ext uri="{FF2B5EF4-FFF2-40B4-BE49-F238E27FC236}">
                <a16:creationId xmlns:a16="http://schemas.microsoft.com/office/drawing/2014/main" id="{2BFCB67D-C04D-B7E6-940D-E8211765A0DC}"/>
              </a:ext>
            </a:extLst>
          </p:cNvPr>
          <p:cNvGrpSpPr/>
          <p:nvPr/>
        </p:nvGrpSpPr>
        <p:grpSpPr>
          <a:xfrm>
            <a:off x="3774898" y="2756743"/>
            <a:ext cx="1926360" cy="1833120"/>
            <a:chOff x="2822040" y="2393640"/>
            <a:chExt cx="1926360" cy="1833120"/>
          </a:xfrm>
        </p:grpSpPr>
        <p:sp>
          <p:nvSpPr>
            <p:cNvPr id="123" name="Line 33">
              <a:extLst>
                <a:ext uri="{FF2B5EF4-FFF2-40B4-BE49-F238E27FC236}">
                  <a16:creationId xmlns:a16="http://schemas.microsoft.com/office/drawing/2014/main" id="{6D72B9E9-EB5F-E985-5843-4CA58B430938}"/>
                </a:ext>
              </a:extLst>
            </p:cNvPr>
            <p:cNvSpPr/>
            <p:nvPr/>
          </p:nvSpPr>
          <p:spPr>
            <a:xfrm>
              <a:off x="2822040" y="2582640"/>
              <a:ext cx="59904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24" name="Line 34">
              <a:extLst>
                <a:ext uri="{FF2B5EF4-FFF2-40B4-BE49-F238E27FC236}">
                  <a16:creationId xmlns:a16="http://schemas.microsoft.com/office/drawing/2014/main" id="{9816DB4C-1AD4-AB75-F45A-9D854BA9C898}"/>
                </a:ext>
              </a:extLst>
            </p:cNvPr>
            <p:cNvSpPr/>
            <p:nvPr/>
          </p:nvSpPr>
          <p:spPr>
            <a:xfrm>
              <a:off x="2822040" y="2897280"/>
              <a:ext cx="599040" cy="133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25" name="Line 35">
              <a:extLst>
                <a:ext uri="{FF2B5EF4-FFF2-40B4-BE49-F238E27FC236}">
                  <a16:creationId xmlns:a16="http://schemas.microsoft.com/office/drawing/2014/main" id="{2041FBAC-8DDB-D56D-D507-E83E3D206173}"/>
                </a:ext>
              </a:extLst>
            </p:cNvPr>
            <p:cNvSpPr/>
            <p:nvPr/>
          </p:nvSpPr>
          <p:spPr>
            <a:xfrm flipV="1">
              <a:off x="2894760" y="3268800"/>
              <a:ext cx="526320" cy="64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26" name="Line 36">
              <a:extLst>
                <a:ext uri="{FF2B5EF4-FFF2-40B4-BE49-F238E27FC236}">
                  <a16:creationId xmlns:a16="http://schemas.microsoft.com/office/drawing/2014/main" id="{2844202E-D421-F62D-EAE9-72B4D1F81E6D}"/>
                </a:ext>
              </a:extLst>
            </p:cNvPr>
            <p:cNvSpPr/>
            <p:nvPr/>
          </p:nvSpPr>
          <p:spPr>
            <a:xfrm>
              <a:off x="2943720" y="3646800"/>
              <a:ext cx="4773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27" name="Line 37">
              <a:extLst>
                <a:ext uri="{FF2B5EF4-FFF2-40B4-BE49-F238E27FC236}">
                  <a16:creationId xmlns:a16="http://schemas.microsoft.com/office/drawing/2014/main" id="{CDAB60D0-FBCF-A5F0-E4A0-A3DFD4E1A29B}"/>
                </a:ext>
              </a:extLst>
            </p:cNvPr>
            <p:cNvSpPr/>
            <p:nvPr/>
          </p:nvSpPr>
          <p:spPr>
            <a:xfrm>
              <a:off x="4021920" y="3716640"/>
              <a:ext cx="360" cy="2217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128" name="CustomShape 38">
              <a:extLst>
                <a:ext uri="{FF2B5EF4-FFF2-40B4-BE49-F238E27FC236}">
                  <a16:creationId xmlns:a16="http://schemas.microsoft.com/office/drawing/2014/main" id="{C98688D4-FC38-2061-4E7F-841CCD875CB0}"/>
                </a:ext>
              </a:extLst>
            </p:cNvPr>
            <p:cNvSpPr/>
            <p:nvPr/>
          </p:nvSpPr>
          <p:spPr>
            <a:xfrm>
              <a:off x="3409560" y="2393640"/>
              <a:ext cx="1244880" cy="138564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29" name="CustomShape 39">
              <a:extLst>
                <a:ext uri="{FF2B5EF4-FFF2-40B4-BE49-F238E27FC236}">
                  <a16:creationId xmlns:a16="http://schemas.microsoft.com/office/drawing/2014/main" id="{5B440B4A-AFE2-3B65-B687-FA48919473F1}"/>
                </a:ext>
              </a:extLst>
            </p:cNvPr>
            <p:cNvSpPr/>
            <p:nvPr/>
          </p:nvSpPr>
          <p:spPr>
            <a:xfrm>
              <a:off x="3340080" y="2505240"/>
              <a:ext cx="4644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RR1</a:t>
              </a:r>
              <a:endParaRPr lang="en-US" sz="1000" b="0" strike="noStrike" spc="-1">
                <a:latin typeface="Arial"/>
              </a:endParaRPr>
            </a:p>
          </p:txBody>
        </p:sp>
        <p:sp>
          <p:nvSpPr>
            <p:cNvPr id="130" name="CustomShape 40">
              <a:extLst>
                <a:ext uri="{FF2B5EF4-FFF2-40B4-BE49-F238E27FC236}">
                  <a16:creationId xmlns:a16="http://schemas.microsoft.com/office/drawing/2014/main" id="{6BA82A54-2A98-98DC-B65F-6B9336DB9E73}"/>
                </a:ext>
              </a:extLst>
            </p:cNvPr>
            <p:cNvSpPr/>
            <p:nvPr/>
          </p:nvSpPr>
          <p:spPr>
            <a:xfrm>
              <a:off x="3340080" y="2820240"/>
              <a:ext cx="4644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RR2</a:t>
              </a:r>
              <a:endParaRPr lang="en-US" sz="1000" b="0" strike="noStrike" spc="-1">
                <a:latin typeface="Arial"/>
              </a:endParaRPr>
            </a:p>
          </p:txBody>
        </p:sp>
        <p:sp>
          <p:nvSpPr>
            <p:cNvPr id="131" name="CustomShape 41">
              <a:extLst>
                <a:ext uri="{FF2B5EF4-FFF2-40B4-BE49-F238E27FC236}">
                  <a16:creationId xmlns:a16="http://schemas.microsoft.com/office/drawing/2014/main" id="{71F58259-703B-85E3-AFA3-3C3CD2BB4030}"/>
                </a:ext>
              </a:extLst>
            </p:cNvPr>
            <p:cNvSpPr/>
            <p:nvPr/>
          </p:nvSpPr>
          <p:spPr>
            <a:xfrm>
              <a:off x="3342240" y="3149640"/>
              <a:ext cx="41868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a:t>
              </a:r>
              <a:endParaRPr lang="en-US" sz="1000" b="0" strike="noStrike" spc="-1">
                <a:latin typeface="Arial"/>
              </a:endParaRPr>
            </a:p>
          </p:txBody>
        </p:sp>
        <p:sp>
          <p:nvSpPr>
            <p:cNvPr id="132" name="CustomShape 42">
              <a:extLst>
                <a:ext uri="{FF2B5EF4-FFF2-40B4-BE49-F238E27FC236}">
                  <a16:creationId xmlns:a16="http://schemas.microsoft.com/office/drawing/2014/main" id="{723F7FA5-4003-E51A-21E3-9381BCE7D73F}"/>
                </a:ext>
              </a:extLst>
            </p:cNvPr>
            <p:cNvSpPr/>
            <p:nvPr/>
          </p:nvSpPr>
          <p:spPr>
            <a:xfrm>
              <a:off x="3340440" y="3576240"/>
              <a:ext cx="4266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WD</a:t>
              </a:r>
              <a:endParaRPr lang="en-US" sz="1000" b="0" strike="noStrike" spc="-1">
                <a:latin typeface="Arial"/>
              </a:endParaRPr>
            </a:p>
          </p:txBody>
        </p:sp>
        <p:sp>
          <p:nvSpPr>
            <p:cNvPr id="133" name="CustomShape 43">
              <a:extLst>
                <a:ext uri="{FF2B5EF4-FFF2-40B4-BE49-F238E27FC236}">
                  <a16:creationId xmlns:a16="http://schemas.microsoft.com/office/drawing/2014/main" id="{1C820DF1-023F-CFB0-9B12-D822AB08C0D8}"/>
                </a:ext>
              </a:extLst>
            </p:cNvPr>
            <p:cNvSpPr/>
            <p:nvPr/>
          </p:nvSpPr>
          <p:spPr>
            <a:xfrm>
              <a:off x="4276080" y="2519640"/>
              <a:ext cx="47232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RD1</a:t>
              </a:r>
              <a:endParaRPr lang="en-US" sz="1000" b="0" strike="noStrike" spc="-1">
                <a:latin typeface="Arial"/>
              </a:endParaRPr>
            </a:p>
          </p:txBody>
        </p:sp>
        <p:sp>
          <p:nvSpPr>
            <p:cNvPr id="134" name="CustomShape 44">
              <a:extLst>
                <a:ext uri="{FF2B5EF4-FFF2-40B4-BE49-F238E27FC236}">
                  <a16:creationId xmlns:a16="http://schemas.microsoft.com/office/drawing/2014/main" id="{E3A50DE8-2AD6-0CF3-FA33-395A24C539D9}"/>
                </a:ext>
              </a:extLst>
            </p:cNvPr>
            <p:cNvSpPr/>
            <p:nvPr/>
          </p:nvSpPr>
          <p:spPr>
            <a:xfrm>
              <a:off x="4276080" y="3387240"/>
              <a:ext cx="47232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RD2</a:t>
              </a:r>
              <a:endParaRPr lang="en-US" sz="1000" b="0" strike="noStrike" spc="-1">
                <a:latin typeface="Arial"/>
              </a:endParaRPr>
            </a:p>
          </p:txBody>
        </p:sp>
        <p:sp>
          <p:nvSpPr>
            <p:cNvPr id="135" name="CustomShape 45">
              <a:extLst>
                <a:ext uri="{FF2B5EF4-FFF2-40B4-BE49-F238E27FC236}">
                  <a16:creationId xmlns:a16="http://schemas.microsoft.com/office/drawing/2014/main" id="{CDFC6F38-F1C0-B3D9-DEE4-C513DECC0B16}"/>
                </a:ext>
              </a:extLst>
            </p:cNvPr>
            <p:cNvSpPr/>
            <p:nvPr/>
          </p:nvSpPr>
          <p:spPr>
            <a:xfrm>
              <a:off x="3536640" y="2960640"/>
              <a:ext cx="99792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Registers</a:t>
              </a:r>
              <a:endParaRPr lang="en-US" sz="1200" b="0" strike="noStrike" spc="-1">
                <a:latin typeface="Arial"/>
              </a:endParaRPr>
            </a:p>
          </p:txBody>
        </p:sp>
        <p:sp>
          <p:nvSpPr>
            <p:cNvPr id="136" name="Line 46">
              <a:extLst>
                <a:ext uri="{FF2B5EF4-FFF2-40B4-BE49-F238E27FC236}">
                  <a16:creationId xmlns:a16="http://schemas.microsoft.com/office/drawing/2014/main" id="{BAD49D29-10F6-E785-68FB-FFD585D45EC8}"/>
                </a:ext>
              </a:extLst>
            </p:cNvPr>
            <p:cNvSpPr/>
            <p:nvPr/>
          </p:nvSpPr>
          <p:spPr>
            <a:xfrm flipH="1">
              <a:off x="3054240" y="2522160"/>
              <a:ext cx="11052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37" name="Line 47">
              <a:extLst>
                <a:ext uri="{FF2B5EF4-FFF2-40B4-BE49-F238E27FC236}">
                  <a16:creationId xmlns:a16="http://schemas.microsoft.com/office/drawing/2014/main" id="{635CFD20-8319-3AAF-449D-3DF20FF6CF19}"/>
                </a:ext>
              </a:extLst>
            </p:cNvPr>
            <p:cNvSpPr/>
            <p:nvPr/>
          </p:nvSpPr>
          <p:spPr>
            <a:xfrm flipH="1">
              <a:off x="3054240" y="2839680"/>
              <a:ext cx="11052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38" name="Line 48">
              <a:extLst>
                <a:ext uri="{FF2B5EF4-FFF2-40B4-BE49-F238E27FC236}">
                  <a16:creationId xmlns:a16="http://schemas.microsoft.com/office/drawing/2014/main" id="{C878BEDB-CEA8-7AA8-765F-EDD6CB3A3580}"/>
                </a:ext>
              </a:extLst>
            </p:cNvPr>
            <p:cNvSpPr/>
            <p:nvPr/>
          </p:nvSpPr>
          <p:spPr>
            <a:xfrm flipH="1">
              <a:off x="3054240" y="3198240"/>
              <a:ext cx="11052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39" name="CustomShape 49">
              <a:extLst>
                <a:ext uri="{FF2B5EF4-FFF2-40B4-BE49-F238E27FC236}">
                  <a16:creationId xmlns:a16="http://schemas.microsoft.com/office/drawing/2014/main" id="{087671A8-7565-E032-3E90-9BBD2DFF87D6}"/>
                </a:ext>
              </a:extLst>
            </p:cNvPr>
            <p:cNvSpPr/>
            <p:nvPr/>
          </p:nvSpPr>
          <p:spPr>
            <a:xfrm>
              <a:off x="2947320" y="239364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140" name="CustomShape 50">
              <a:extLst>
                <a:ext uri="{FF2B5EF4-FFF2-40B4-BE49-F238E27FC236}">
                  <a16:creationId xmlns:a16="http://schemas.microsoft.com/office/drawing/2014/main" id="{3D7148F7-8360-0F8C-4F99-C42552243B52}"/>
                </a:ext>
              </a:extLst>
            </p:cNvPr>
            <p:cNvSpPr/>
            <p:nvPr/>
          </p:nvSpPr>
          <p:spPr>
            <a:xfrm>
              <a:off x="2918880" y="2724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141" name="CustomShape 51">
              <a:extLst>
                <a:ext uri="{FF2B5EF4-FFF2-40B4-BE49-F238E27FC236}">
                  <a16:creationId xmlns:a16="http://schemas.microsoft.com/office/drawing/2014/main" id="{09CF0E6E-8F27-5E20-7430-5FCC9143EF5D}"/>
                </a:ext>
              </a:extLst>
            </p:cNvPr>
            <p:cNvSpPr/>
            <p:nvPr/>
          </p:nvSpPr>
          <p:spPr>
            <a:xfrm>
              <a:off x="2918880" y="3102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142" name="CustomShape 52">
              <a:extLst>
                <a:ext uri="{FF2B5EF4-FFF2-40B4-BE49-F238E27FC236}">
                  <a16:creationId xmlns:a16="http://schemas.microsoft.com/office/drawing/2014/main" id="{7D654DE1-5AA1-50F0-2412-EA7C94169C6D}"/>
                </a:ext>
              </a:extLst>
            </p:cNvPr>
            <p:cNvSpPr/>
            <p:nvPr/>
          </p:nvSpPr>
          <p:spPr>
            <a:xfrm>
              <a:off x="3519720" y="3924000"/>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grpSp>
      <p:sp>
        <p:nvSpPr>
          <p:cNvPr id="143" name="CustomShape 53">
            <a:extLst>
              <a:ext uri="{FF2B5EF4-FFF2-40B4-BE49-F238E27FC236}">
                <a16:creationId xmlns:a16="http://schemas.microsoft.com/office/drawing/2014/main" id="{11BFCFF3-A8DC-F6AA-6258-577B2D81877D}"/>
              </a:ext>
            </a:extLst>
          </p:cNvPr>
          <p:cNvSpPr/>
          <p:nvPr/>
        </p:nvSpPr>
        <p:spPr>
          <a:xfrm>
            <a:off x="4291138" y="4710103"/>
            <a:ext cx="1259640" cy="440640"/>
          </a:xfrm>
          <a:prstGeom prst="ellipse">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400" b="0" strike="noStrike" spc="-1">
                <a:solidFill>
                  <a:srgbClr val="000000"/>
                </a:solidFill>
                <a:latin typeface="Times New Roman"/>
                <a:ea typeface="ＭＳ Ｐゴシック"/>
              </a:rPr>
              <a:t>Sign Extend</a:t>
            </a:r>
            <a:endParaRPr lang="en-US" sz="1400" b="0" strike="noStrike" spc="-1">
              <a:latin typeface="Arial"/>
            </a:endParaRPr>
          </a:p>
        </p:txBody>
      </p:sp>
      <p:sp>
        <p:nvSpPr>
          <p:cNvPr id="144" name="Line 54">
            <a:extLst>
              <a:ext uri="{FF2B5EF4-FFF2-40B4-BE49-F238E27FC236}">
                <a16:creationId xmlns:a16="http://schemas.microsoft.com/office/drawing/2014/main" id="{30729482-FB50-1BD7-D03F-E13E0F40959E}"/>
              </a:ext>
            </a:extLst>
          </p:cNvPr>
          <p:cNvSpPr/>
          <p:nvPr/>
        </p:nvSpPr>
        <p:spPr>
          <a:xfrm flipH="1">
            <a:off x="4079098" y="4884343"/>
            <a:ext cx="11088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45" name="CustomShape 55">
            <a:extLst>
              <a:ext uri="{FF2B5EF4-FFF2-40B4-BE49-F238E27FC236}">
                <a16:creationId xmlns:a16="http://schemas.microsoft.com/office/drawing/2014/main" id="{F3655895-F85B-9EE9-CA57-0E4F25F1911A}"/>
              </a:ext>
            </a:extLst>
          </p:cNvPr>
          <p:cNvSpPr/>
          <p:nvPr/>
        </p:nvSpPr>
        <p:spPr>
          <a:xfrm>
            <a:off x="3850858" y="4788943"/>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16</a:t>
            </a:r>
            <a:endParaRPr lang="en-US" sz="1000" b="0" strike="noStrike" spc="-1">
              <a:latin typeface="Arial"/>
            </a:endParaRPr>
          </a:p>
        </p:txBody>
      </p:sp>
      <p:sp>
        <p:nvSpPr>
          <p:cNvPr id="146" name="CustomShape 56">
            <a:extLst>
              <a:ext uri="{FF2B5EF4-FFF2-40B4-BE49-F238E27FC236}">
                <a16:creationId xmlns:a16="http://schemas.microsoft.com/office/drawing/2014/main" id="{9D58CD16-A7EA-DD82-D355-C9BE28E1D221}"/>
              </a:ext>
            </a:extLst>
          </p:cNvPr>
          <p:cNvSpPr/>
          <p:nvPr/>
        </p:nvSpPr>
        <p:spPr>
          <a:xfrm>
            <a:off x="5554018" y="4773103"/>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32</a:t>
            </a:r>
            <a:endParaRPr lang="en-US" sz="1000" b="0" strike="noStrike" spc="-1">
              <a:latin typeface="Arial"/>
            </a:endParaRPr>
          </a:p>
        </p:txBody>
      </p:sp>
      <p:sp>
        <p:nvSpPr>
          <p:cNvPr id="147" name="Line 57">
            <a:extLst>
              <a:ext uri="{FF2B5EF4-FFF2-40B4-BE49-F238E27FC236}">
                <a16:creationId xmlns:a16="http://schemas.microsoft.com/office/drawing/2014/main" id="{5C2AA9A1-C38C-10EA-A872-E8FB5FCB6DF4}"/>
              </a:ext>
            </a:extLst>
          </p:cNvPr>
          <p:cNvSpPr/>
          <p:nvPr/>
        </p:nvSpPr>
        <p:spPr>
          <a:xfrm flipH="1">
            <a:off x="5793778" y="4856623"/>
            <a:ext cx="11088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48" name="Line 58">
            <a:extLst>
              <a:ext uri="{FF2B5EF4-FFF2-40B4-BE49-F238E27FC236}">
                <a16:creationId xmlns:a16="http://schemas.microsoft.com/office/drawing/2014/main" id="{F77FD28A-709E-A95E-611F-A489EB142BFE}"/>
              </a:ext>
            </a:extLst>
          </p:cNvPr>
          <p:cNvSpPr/>
          <p:nvPr/>
        </p:nvSpPr>
        <p:spPr>
          <a:xfrm>
            <a:off x="7084378" y="2852863"/>
            <a:ext cx="840240" cy="2822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49" name="Line 59">
            <a:extLst>
              <a:ext uri="{FF2B5EF4-FFF2-40B4-BE49-F238E27FC236}">
                <a16:creationId xmlns:a16="http://schemas.microsoft.com/office/drawing/2014/main" id="{8D25ABF9-2EB4-3C50-CFF2-ACD3702161DF}"/>
              </a:ext>
            </a:extLst>
          </p:cNvPr>
          <p:cNvSpPr/>
          <p:nvPr/>
        </p:nvSpPr>
        <p:spPr>
          <a:xfrm flipH="1">
            <a:off x="7084378" y="3890743"/>
            <a:ext cx="840240" cy="2952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50" name="Line 60">
            <a:extLst>
              <a:ext uri="{FF2B5EF4-FFF2-40B4-BE49-F238E27FC236}">
                <a16:creationId xmlns:a16="http://schemas.microsoft.com/office/drawing/2014/main" id="{C131D242-96E4-255B-1ED7-D1635E5731B3}"/>
              </a:ext>
            </a:extLst>
          </p:cNvPr>
          <p:cNvSpPr/>
          <p:nvPr/>
        </p:nvSpPr>
        <p:spPr>
          <a:xfrm flipV="1">
            <a:off x="7085098" y="3647023"/>
            <a:ext cx="360" cy="5392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51" name="Line 61">
            <a:extLst>
              <a:ext uri="{FF2B5EF4-FFF2-40B4-BE49-F238E27FC236}">
                <a16:creationId xmlns:a16="http://schemas.microsoft.com/office/drawing/2014/main" id="{35792845-D0AF-EF25-E395-E21529C334E8}"/>
              </a:ext>
            </a:extLst>
          </p:cNvPr>
          <p:cNvSpPr/>
          <p:nvPr/>
        </p:nvSpPr>
        <p:spPr>
          <a:xfrm flipV="1">
            <a:off x="7085098" y="3487903"/>
            <a:ext cx="169920" cy="1587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52" name="Line 62">
            <a:extLst>
              <a:ext uri="{FF2B5EF4-FFF2-40B4-BE49-F238E27FC236}">
                <a16:creationId xmlns:a16="http://schemas.microsoft.com/office/drawing/2014/main" id="{F04E10B7-4148-F24E-2F18-967D6E847B5C}"/>
              </a:ext>
            </a:extLst>
          </p:cNvPr>
          <p:cNvSpPr/>
          <p:nvPr/>
        </p:nvSpPr>
        <p:spPr>
          <a:xfrm>
            <a:off x="7084378" y="3297823"/>
            <a:ext cx="169920" cy="19008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53" name="Line 63">
            <a:extLst>
              <a:ext uri="{FF2B5EF4-FFF2-40B4-BE49-F238E27FC236}">
                <a16:creationId xmlns:a16="http://schemas.microsoft.com/office/drawing/2014/main" id="{A139FB9C-3E16-E1F1-C3D9-F205B59F6406}"/>
              </a:ext>
            </a:extLst>
          </p:cNvPr>
          <p:cNvSpPr/>
          <p:nvPr/>
        </p:nvSpPr>
        <p:spPr>
          <a:xfrm flipV="1">
            <a:off x="7084378" y="2852863"/>
            <a:ext cx="360" cy="444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54" name="Line 64">
            <a:extLst>
              <a:ext uri="{FF2B5EF4-FFF2-40B4-BE49-F238E27FC236}">
                <a16:creationId xmlns:a16="http://schemas.microsoft.com/office/drawing/2014/main" id="{74535BF2-E6A7-03D5-F07A-52B15C8DE68D}"/>
              </a:ext>
            </a:extLst>
          </p:cNvPr>
          <p:cNvSpPr/>
          <p:nvPr/>
        </p:nvSpPr>
        <p:spPr>
          <a:xfrm>
            <a:off x="7579738" y="2567743"/>
            <a:ext cx="360" cy="44352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55" name="CustomShape 65">
            <a:extLst>
              <a:ext uri="{FF2B5EF4-FFF2-40B4-BE49-F238E27FC236}">
                <a16:creationId xmlns:a16="http://schemas.microsoft.com/office/drawing/2014/main" id="{D02CAB74-DA1A-CAC5-D82B-2C2743432CF0}"/>
              </a:ext>
            </a:extLst>
          </p:cNvPr>
          <p:cNvSpPr/>
          <p:nvPr/>
        </p:nvSpPr>
        <p:spPr>
          <a:xfrm>
            <a:off x="7282738" y="3562783"/>
            <a:ext cx="5972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ALU</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result</a:t>
            </a:r>
            <a:endParaRPr lang="en-US" sz="1000" b="0" strike="noStrike" spc="-1">
              <a:latin typeface="Arial"/>
            </a:endParaRPr>
          </a:p>
        </p:txBody>
      </p:sp>
      <p:sp>
        <p:nvSpPr>
          <p:cNvPr id="156" name="CustomShape 66">
            <a:extLst>
              <a:ext uri="{FF2B5EF4-FFF2-40B4-BE49-F238E27FC236}">
                <a16:creationId xmlns:a16="http://schemas.microsoft.com/office/drawing/2014/main" id="{8A4CE439-DBF9-0D7D-42DC-67552AB63348}"/>
              </a:ext>
            </a:extLst>
          </p:cNvPr>
          <p:cNvSpPr/>
          <p:nvPr/>
        </p:nvSpPr>
        <p:spPr>
          <a:xfrm>
            <a:off x="7200298" y="3323743"/>
            <a:ext cx="51336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ALU</a:t>
            </a:r>
            <a:endParaRPr lang="en-US" sz="1200" b="0" strike="noStrike" spc="-1">
              <a:latin typeface="Arial"/>
            </a:endParaRPr>
          </a:p>
        </p:txBody>
      </p:sp>
      <p:sp>
        <p:nvSpPr>
          <p:cNvPr id="157" name="CustomShape 67">
            <a:extLst>
              <a:ext uri="{FF2B5EF4-FFF2-40B4-BE49-F238E27FC236}">
                <a16:creationId xmlns:a16="http://schemas.microsoft.com/office/drawing/2014/main" id="{3FE87F3E-FEFE-B979-C449-DC3C15ABE03D}"/>
              </a:ext>
            </a:extLst>
          </p:cNvPr>
          <p:cNvSpPr/>
          <p:nvPr/>
        </p:nvSpPr>
        <p:spPr>
          <a:xfrm>
            <a:off x="6755338" y="2316103"/>
            <a:ext cx="124776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Courier New"/>
                <a:ea typeface="ＭＳ Ｐゴシック"/>
              </a:rPr>
              <a:t>ALUcontrol</a:t>
            </a:r>
            <a:endParaRPr lang="en-US" sz="1400" b="0" strike="noStrike" spc="-1">
              <a:latin typeface="Arial"/>
            </a:endParaRPr>
          </a:p>
        </p:txBody>
      </p:sp>
      <p:sp>
        <p:nvSpPr>
          <p:cNvPr id="158" name="Line 68">
            <a:extLst>
              <a:ext uri="{FF2B5EF4-FFF2-40B4-BE49-F238E27FC236}">
                <a16:creationId xmlns:a16="http://schemas.microsoft.com/office/drawing/2014/main" id="{3399CBD4-D699-15AE-6DCA-924B37F9322F}"/>
              </a:ext>
            </a:extLst>
          </p:cNvPr>
          <p:cNvSpPr/>
          <p:nvPr/>
        </p:nvSpPr>
        <p:spPr>
          <a:xfrm>
            <a:off x="7451938" y="2885263"/>
            <a:ext cx="254160" cy="6444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59" name="CustomShape 69">
            <a:extLst>
              <a:ext uri="{FF2B5EF4-FFF2-40B4-BE49-F238E27FC236}">
                <a16:creationId xmlns:a16="http://schemas.microsoft.com/office/drawing/2014/main" id="{47F7FD1A-FBF8-3B7A-6855-D359A1BC0AA0}"/>
              </a:ext>
            </a:extLst>
          </p:cNvPr>
          <p:cNvSpPr/>
          <p:nvPr/>
        </p:nvSpPr>
        <p:spPr>
          <a:xfrm>
            <a:off x="7268698" y="2704543"/>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660066"/>
                </a:solidFill>
                <a:latin typeface="Verdana"/>
                <a:ea typeface="ＭＳ Ｐゴシック"/>
              </a:rPr>
              <a:t>4</a:t>
            </a:r>
            <a:endParaRPr lang="en-US" sz="1000" b="0" strike="noStrike" spc="-1">
              <a:latin typeface="Arial"/>
            </a:endParaRPr>
          </a:p>
        </p:txBody>
      </p:sp>
      <p:grpSp>
        <p:nvGrpSpPr>
          <p:cNvPr id="160" name="Group 70">
            <a:extLst>
              <a:ext uri="{FF2B5EF4-FFF2-40B4-BE49-F238E27FC236}">
                <a16:creationId xmlns:a16="http://schemas.microsoft.com/office/drawing/2014/main" id="{50B8587C-84F4-454F-42CF-1CC43619C640}"/>
              </a:ext>
            </a:extLst>
          </p:cNvPr>
          <p:cNvGrpSpPr/>
          <p:nvPr/>
        </p:nvGrpSpPr>
        <p:grpSpPr>
          <a:xfrm>
            <a:off x="2045098" y="1711843"/>
            <a:ext cx="335520" cy="4045500"/>
            <a:chOff x="1092240" y="1637640"/>
            <a:chExt cx="335520" cy="3338640"/>
          </a:xfrm>
        </p:grpSpPr>
        <p:sp>
          <p:nvSpPr>
            <p:cNvPr id="161" name="CustomShape 71">
              <a:extLst>
                <a:ext uri="{FF2B5EF4-FFF2-40B4-BE49-F238E27FC236}">
                  <a16:creationId xmlns:a16="http://schemas.microsoft.com/office/drawing/2014/main" id="{03772A6F-BCD7-DD4D-CCE6-67B508E2A83D}"/>
                </a:ext>
              </a:extLst>
            </p:cNvPr>
            <p:cNvSpPr/>
            <p:nvPr/>
          </p:nvSpPr>
          <p:spPr>
            <a:xfrm rot="5400000">
              <a:off x="945000" y="1784520"/>
              <a:ext cx="629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101011</a:t>
              </a:r>
              <a:endParaRPr lang="en-US" sz="1200" b="0" strike="noStrike" spc="-1">
                <a:latin typeface="Arial"/>
              </a:endParaRPr>
            </a:p>
          </p:txBody>
        </p:sp>
        <p:sp>
          <p:nvSpPr>
            <p:cNvPr id="162" name="CustomShape 72">
              <a:extLst>
                <a:ext uri="{FF2B5EF4-FFF2-40B4-BE49-F238E27FC236}">
                  <a16:creationId xmlns:a16="http://schemas.microsoft.com/office/drawing/2014/main" id="{C9029612-28E1-BEC0-4145-7A3AB1BD6F6B}"/>
                </a:ext>
              </a:extLst>
            </p:cNvPr>
            <p:cNvSpPr/>
            <p:nvPr/>
          </p:nvSpPr>
          <p:spPr>
            <a:xfrm rot="5400000">
              <a:off x="992160" y="236736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10110</a:t>
              </a:r>
              <a:endParaRPr lang="en-US" sz="1200" b="0" strike="noStrike" spc="-1">
                <a:latin typeface="Arial"/>
              </a:endParaRPr>
            </a:p>
          </p:txBody>
        </p:sp>
        <p:sp>
          <p:nvSpPr>
            <p:cNvPr id="163" name="CustomShape 73">
              <a:extLst>
                <a:ext uri="{FF2B5EF4-FFF2-40B4-BE49-F238E27FC236}">
                  <a16:creationId xmlns:a16="http://schemas.microsoft.com/office/drawing/2014/main" id="{D5EB76C9-583B-DC89-8EBA-5D775D447280}"/>
                </a:ext>
              </a:extLst>
            </p:cNvPr>
            <p:cNvSpPr/>
            <p:nvPr/>
          </p:nvSpPr>
          <p:spPr>
            <a:xfrm rot="5400000">
              <a:off x="992160" y="290268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10101</a:t>
              </a:r>
              <a:endParaRPr lang="en-US" sz="1200" b="0" strike="noStrike" spc="-1">
                <a:latin typeface="Arial"/>
              </a:endParaRPr>
            </a:p>
          </p:txBody>
        </p:sp>
        <p:sp>
          <p:nvSpPr>
            <p:cNvPr id="164" name="CustomShape 74">
              <a:extLst>
                <a:ext uri="{FF2B5EF4-FFF2-40B4-BE49-F238E27FC236}">
                  <a16:creationId xmlns:a16="http://schemas.microsoft.com/office/drawing/2014/main" id="{6CE2AA28-3FEB-5D71-5A03-799CA90E14E0}"/>
                </a:ext>
              </a:extLst>
            </p:cNvPr>
            <p:cNvSpPr/>
            <p:nvPr/>
          </p:nvSpPr>
          <p:spPr>
            <a:xfrm rot="5400000">
              <a:off x="441000" y="3989520"/>
              <a:ext cx="1637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1111 1111 1100 1110</a:t>
              </a:r>
              <a:endParaRPr lang="en-US" sz="1200" b="0" strike="noStrike" spc="-1">
                <a:latin typeface="Arial"/>
              </a:endParaRPr>
            </a:p>
          </p:txBody>
        </p:sp>
      </p:grpSp>
      <p:sp>
        <p:nvSpPr>
          <p:cNvPr id="165" name="CustomShape 75">
            <a:extLst>
              <a:ext uri="{FF2B5EF4-FFF2-40B4-BE49-F238E27FC236}">
                <a16:creationId xmlns:a16="http://schemas.microsoft.com/office/drawing/2014/main" id="{02E8B26C-9703-E663-7198-3AB32BB792D8}"/>
              </a:ext>
            </a:extLst>
          </p:cNvPr>
          <p:cNvSpPr/>
          <p:nvPr/>
        </p:nvSpPr>
        <p:spPr>
          <a:xfrm>
            <a:off x="6160618" y="3828103"/>
            <a:ext cx="2267640" cy="818640"/>
          </a:xfrm>
          <a:prstGeom prst="bentConnector3">
            <a:avLst>
              <a:gd name="adj1" fmla="val 206"/>
            </a:avLst>
          </a:prstGeom>
          <a:noFill/>
          <a:ln w="22320">
            <a:solidFill>
              <a:srgbClr val="C00000"/>
            </a:solidFill>
            <a:round/>
            <a:headEnd type="oval" w="med" len="med"/>
            <a:tailEnd type="triangle" w="med" len="med"/>
          </a:ln>
        </p:spPr>
        <p:style>
          <a:lnRef idx="1">
            <a:schemeClr val="accent1"/>
          </a:lnRef>
          <a:fillRef idx="0">
            <a:schemeClr val="accent1"/>
          </a:fillRef>
          <a:effectRef idx="0">
            <a:schemeClr val="accent1"/>
          </a:effectRef>
          <a:fontRef idx="minor"/>
        </p:style>
        <p:txBody>
          <a:bodyPr/>
          <a:lstStyle/>
          <a:p>
            <a:endParaRPr lang="vi-VN"/>
          </a:p>
        </p:txBody>
      </p:sp>
      <p:grpSp>
        <p:nvGrpSpPr>
          <p:cNvPr id="166" name="Group 76">
            <a:extLst>
              <a:ext uri="{FF2B5EF4-FFF2-40B4-BE49-F238E27FC236}">
                <a16:creationId xmlns:a16="http://schemas.microsoft.com/office/drawing/2014/main" id="{07230F22-0BB3-DC1E-98EA-A96BC96E24B0}"/>
              </a:ext>
            </a:extLst>
          </p:cNvPr>
          <p:cNvGrpSpPr/>
          <p:nvPr/>
        </p:nvGrpSpPr>
        <p:grpSpPr>
          <a:xfrm>
            <a:off x="7910578" y="3132223"/>
            <a:ext cx="2365920" cy="2006280"/>
            <a:chOff x="6957720" y="2769120"/>
            <a:chExt cx="2365920" cy="2006280"/>
          </a:xfrm>
        </p:grpSpPr>
        <p:sp>
          <p:nvSpPr>
            <p:cNvPr id="167" name="Line 77">
              <a:extLst>
                <a:ext uri="{FF2B5EF4-FFF2-40B4-BE49-F238E27FC236}">
                  <a16:creationId xmlns:a16="http://schemas.microsoft.com/office/drawing/2014/main" id="{9E4669D5-C279-8BE1-9F78-251E8A72583A}"/>
                </a:ext>
              </a:extLst>
            </p:cNvPr>
            <p:cNvSpPr/>
            <p:nvPr/>
          </p:nvSpPr>
          <p:spPr>
            <a:xfrm>
              <a:off x="6971760" y="2771640"/>
              <a:ext cx="360" cy="7560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168" name="CustomShape 78">
              <a:extLst>
                <a:ext uri="{FF2B5EF4-FFF2-40B4-BE49-F238E27FC236}">
                  <a16:creationId xmlns:a16="http://schemas.microsoft.com/office/drawing/2014/main" id="{8DD5E587-AAD0-A913-305F-C69D022341FA}"/>
                </a:ext>
              </a:extLst>
            </p:cNvPr>
            <p:cNvSpPr/>
            <p:nvPr/>
          </p:nvSpPr>
          <p:spPr>
            <a:xfrm>
              <a:off x="7440120" y="3142800"/>
              <a:ext cx="1295640" cy="125964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69" name="CustomShape 79">
              <a:extLst>
                <a:ext uri="{FF2B5EF4-FFF2-40B4-BE49-F238E27FC236}">
                  <a16:creationId xmlns:a16="http://schemas.microsoft.com/office/drawing/2014/main" id="{7634BA13-CB22-15BE-3894-078D6452E7E9}"/>
                </a:ext>
              </a:extLst>
            </p:cNvPr>
            <p:cNvSpPr/>
            <p:nvPr/>
          </p:nvSpPr>
          <p:spPr>
            <a:xfrm>
              <a:off x="7491600" y="3267360"/>
              <a:ext cx="79992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 Address</a:t>
              </a:r>
              <a:endParaRPr lang="en-US" sz="1000" b="0" strike="noStrike" spc="-1">
                <a:latin typeface="Arial"/>
              </a:endParaRPr>
            </a:p>
          </p:txBody>
        </p:sp>
        <p:sp>
          <p:nvSpPr>
            <p:cNvPr id="170" name="CustomShape 80">
              <a:extLst>
                <a:ext uri="{FF2B5EF4-FFF2-40B4-BE49-F238E27FC236}">
                  <a16:creationId xmlns:a16="http://schemas.microsoft.com/office/drawing/2014/main" id="{C611C1E1-1C65-46CA-9E3C-DE074D17FEF0}"/>
                </a:ext>
              </a:extLst>
            </p:cNvPr>
            <p:cNvSpPr/>
            <p:nvPr/>
          </p:nvSpPr>
          <p:spPr>
            <a:xfrm>
              <a:off x="7394040" y="4094640"/>
              <a:ext cx="6138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171" name="Line 81">
              <a:extLst>
                <a:ext uri="{FF2B5EF4-FFF2-40B4-BE49-F238E27FC236}">
                  <a16:creationId xmlns:a16="http://schemas.microsoft.com/office/drawing/2014/main" id="{4384922F-1F75-74B3-89D8-6934C9B3BEA4}"/>
                </a:ext>
              </a:extLst>
            </p:cNvPr>
            <p:cNvSpPr/>
            <p:nvPr/>
          </p:nvSpPr>
          <p:spPr>
            <a:xfrm>
              <a:off x="8092080" y="4402440"/>
              <a:ext cx="360" cy="25200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172" name="Line 82">
              <a:extLst>
                <a:ext uri="{FF2B5EF4-FFF2-40B4-BE49-F238E27FC236}">
                  <a16:creationId xmlns:a16="http://schemas.microsoft.com/office/drawing/2014/main" id="{10D6143D-5302-A6C4-36FD-F7298A9D8B73}"/>
                </a:ext>
              </a:extLst>
            </p:cNvPr>
            <p:cNvSpPr/>
            <p:nvPr/>
          </p:nvSpPr>
          <p:spPr>
            <a:xfrm>
              <a:off x="8078040" y="2890440"/>
              <a:ext cx="360" cy="25200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173" name="CustomShape 83">
              <a:extLst>
                <a:ext uri="{FF2B5EF4-FFF2-40B4-BE49-F238E27FC236}">
                  <a16:creationId xmlns:a16="http://schemas.microsoft.com/office/drawing/2014/main" id="{AD037404-D841-BAAC-70E8-FE9E47CAB451}"/>
                </a:ext>
              </a:extLst>
            </p:cNvPr>
            <p:cNvSpPr/>
            <p:nvPr/>
          </p:nvSpPr>
          <p:spPr>
            <a:xfrm>
              <a:off x="7506000" y="4472640"/>
              <a:ext cx="117000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Verdana"/>
                  <a:ea typeface="ＭＳ Ｐゴシック"/>
                </a:rPr>
                <a:t>MemRead</a:t>
              </a:r>
              <a:endParaRPr lang="en-US" sz="1400" b="0" strike="noStrike" spc="-1">
                <a:latin typeface="Arial"/>
              </a:endParaRPr>
            </a:p>
          </p:txBody>
        </p:sp>
        <p:sp>
          <p:nvSpPr>
            <p:cNvPr id="174" name="CustomShape 84">
              <a:extLst>
                <a:ext uri="{FF2B5EF4-FFF2-40B4-BE49-F238E27FC236}">
                  <a16:creationId xmlns:a16="http://schemas.microsoft.com/office/drawing/2014/main" id="{BEBAAA21-6130-42A2-0B80-340E1EC3ED89}"/>
                </a:ext>
              </a:extLst>
            </p:cNvPr>
            <p:cNvSpPr/>
            <p:nvPr/>
          </p:nvSpPr>
          <p:spPr>
            <a:xfrm>
              <a:off x="7455960" y="2769120"/>
              <a:ext cx="12128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Verdana"/>
                  <a:ea typeface="ＭＳ Ｐゴシック"/>
                </a:rPr>
                <a:t>MemWrite</a:t>
              </a:r>
              <a:endParaRPr lang="en-US" sz="1400" b="0" strike="noStrike" spc="-1">
                <a:latin typeface="Arial"/>
              </a:endParaRPr>
            </a:p>
          </p:txBody>
        </p:sp>
        <p:sp>
          <p:nvSpPr>
            <p:cNvPr id="175" name="CustomShape 85">
              <a:extLst>
                <a:ext uri="{FF2B5EF4-FFF2-40B4-BE49-F238E27FC236}">
                  <a16:creationId xmlns:a16="http://schemas.microsoft.com/office/drawing/2014/main" id="{5B2129BC-AFBF-B563-0967-DFA510D5CC96}"/>
                </a:ext>
              </a:extLst>
            </p:cNvPr>
            <p:cNvSpPr/>
            <p:nvPr/>
          </p:nvSpPr>
          <p:spPr>
            <a:xfrm>
              <a:off x="6957720" y="3363480"/>
              <a:ext cx="488880" cy="5400"/>
            </a:xfrm>
            <a:custGeom>
              <a:avLst/>
              <a:gdLst/>
              <a:ahLst/>
              <a:cxnLst/>
              <a:rect l="l" t="t" r="r" b="b"/>
              <a:pathLst>
                <a:path w="21600" h="21600">
                  <a:moveTo>
                    <a:pt x="0" y="0"/>
                  </a:moveTo>
                  <a:lnTo>
                    <a:pt x="21600" y="21600"/>
                  </a:lnTo>
                </a:path>
              </a:pathLst>
            </a:custGeom>
            <a:noFill/>
            <a:ln w="22320">
              <a:solidFill>
                <a:srgbClr val="C00000"/>
              </a:solidFill>
              <a:round/>
              <a:tailEnd type="triangle" w="med" len="med"/>
            </a:ln>
          </p:spPr>
          <p:style>
            <a:lnRef idx="1">
              <a:schemeClr val="accent1"/>
            </a:lnRef>
            <a:fillRef idx="0">
              <a:schemeClr val="accent1"/>
            </a:fillRef>
            <a:effectRef idx="0">
              <a:schemeClr val="accent1"/>
            </a:effectRef>
            <a:fontRef idx="minor"/>
          </p:style>
          <p:txBody>
            <a:bodyPr/>
            <a:lstStyle/>
            <a:p>
              <a:endParaRPr lang="vi-VN"/>
            </a:p>
          </p:txBody>
        </p:sp>
        <p:sp>
          <p:nvSpPr>
            <p:cNvPr id="176" name="Line 86">
              <a:extLst>
                <a:ext uri="{FF2B5EF4-FFF2-40B4-BE49-F238E27FC236}">
                  <a16:creationId xmlns:a16="http://schemas.microsoft.com/office/drawing/2014/main" id="{172381F1-17ED-2189-E1A0-32C317782748}"/>
                </a:ext>
              </a:extLst>
            </p:cNvPr>
            <p:cNvSpPr/>
            <p:nvPr/>
          </p:nvSpPr>
          <p:spPr>
            <a:xfrm>
              <a:off x="8740440" y="4102200"/>
              <a:ext cx="5832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77" name="CustomShape 87">
              <a:extLst>
                <a:ext uri="{FF2B5EF4-FFF2-40B4-BE49-F238E27FC236}">
                  <a16:creationId xmlns:a16="http://schemas.microsoft.com/office/drawing/2014/main" id="{67876309-12CC-886F-0197-DFC311FD790A}"/>
                </a:ext>
              </a:extLst>
            </p:cNvPr>
            <p:cNvSpPr/>
            <p:nvPr/>
          </p:nvSpPr>
          <p:spPr>
            <a:xfrm>
              <a:off x="7660800" y="3464640"/>
              <a:ext cx="87444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Data</a:t>
              </a:r>
              <a:endParaRPr lang="en-US" sz="1200" b="0" strike="noStrike" spc="-1">
                <a:latin typeface="Arial"/>
              </a:endParaRPr>
            </a:p>
            <a:p>
              <a:pPr algn="ctr">
                <a:lnSpc>
                  <a:spcPct val="100000"/>
                </a:lnSpc>
              </a:pPr>
              <a:r>
                <a:rPr lang="en-US" sz="1200" b="1" i="1" strike="noStrike" spc="-1">
                  <a:solidFill>
                    <a:srgbClr val="000000"/>
                  </a:solidFill>
                  <a:latin typeface="Verdana"/>
                  <a:ea typeface="ＭＳ Ｐゴシック"/>
                </a:rPr>
                <a:t>Memory</a:t>
              </a:r>
              <a:endParaRPr lang="en-US" sz="1200" b="0" strike="noStrike" spc="-1">
                <a:latin typeface="Arial"/>
              </a:endParaRPr>
            </a:p>
          </p:txBody>
        </p:sp>
        <p:sp>
          <p:nvSpPr>
            <p:cNvPr id="178" name="CustomShape 88">
              <a:extLst>
                <a:ext uri="{FF2B5EF4-FFF2-40B4-BE49-F238E27FC236}">
                  <a16:creationId xmlns:a16="http://schemas.microsoft.com/office/drawing/2014/main" id="{7D9A4E82-0DFE-9284-F49A-7BF556582CAA}"/>
                </a:ext>
              </a:extLst>
            </p:cNvPr>
            <p:cNvSpPr/>
            <p:nvPr/>
          </p:nvSpPr>
          <p:spPr>
            <a:xfrm>
              <a:off x="8178480" y="3892320"/>
              <a:ext cx="58356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grpSp>
      <p:sp>
        <p:nvSpPr>
          <p:cNvPr id="179" name="CustomShape 89">
            <a:extLst>
              <a:ext uri="{FF2B5EF4-FFF2-40B4-BE49-F238E27FC236}">
                <a16:creationId xmlns:a16="http://schemas.microsoft.com/office/drawing/2014/main" id="{BC6D5166-6ACE-59EF-FC08-BB1F8410BE18}"/>
              </a:ext>
            </a:extLst>
          </p:cNvPr>
          <p:cNvSpPr/>
          <p:nvPr/>
        </p:nvSpPr>
        <p:spPr>
          <a:xfrm>
            <a:off x="3556738" y="1811743"/>
            <a:ext cx="4451760" cy="440640"/>
          </a:xfrm>
          <a:prstGeom prst="snip1Rect">
            <a:avLst>
              <a:gd name="adj" fmla="val 16667"/>
            </a:avLst>
          </a:prstGeom>
          <a:solidFill>
            <a:srgbClr val="FFFFCC">
              <a:alpha val="80000"/>
            </a:srgbClr>
          </a:solidFill>
          <a:ln w="1584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marL="343080" indent="-342720" algn="ctr">
              <a:lnSpc>
                <a:spcPct val="100000"/>
              </a:lnSpc>
              <a:spcBef>
                <a:spcPts val="839"/>
              </a:spcBef>
            </a:pPr>
            <a:r>
              <a:rPr lang="en-US" sz="2800" b="1" strike="noStrike" spc="-1">
                <a:solidFill>
                  <a:srgbClr val="660066"/>
                </a:solidFill>
                <a:latin typeface="Courier New"/>
                <a:ea typeface="ＭＳ Ｐゴシック"/>
              </a:rPr>
              <a:t> sw</a:t>
            </a:r>
            <a:r>
              <a:rPr lang="en-US" sz="2800" b="1" strike="noStrike" spc="-1">
                <a:solidFill>
                  <a:srgbClr val="000000"/>
                </a:solidFill>
                <a:latin typeface="Courier New"/>
                <a:ea typeface="ＭＳ Ｐゴシック"/>
              </a:rPr>
              <a:t> </a:t>
            </a:r>
            <a:r>
              <a:rPr lang="en-US" sz="2800" b="1" strike="noStrike" spc="-1">
                <a:solidFill>
                  <a:srgbClr val="C00000"/>
                </a:solidFill>
                <a:latin typeface="Courier New"/>
                <a:ea typeface="ＭＳ Ｐゴシック"/>
              </a:rPr>
              <a:t>$21</a:t>
            </a:r>
            <a:r>
              <a:rPr lang="en-US" sz="2800" b="1" strike="noStrike" spc="-1">
                <a:solidFill>
                  <a:srgbClr val="000000"/>
                </a:solidFill>
                <a:latin typeface="Courier New"/>
                <a:ea typeface="ＭＳ Ｐゴシック"/>
              </a:rPr>
              <a:t>, -50(</a:t>
            </a:r>
            <a:r>
              <a:rPr lang="en-US" sz="2800" b="1" strike="noStrike" spc="-1">
                <a:solidFill>
                  <a:srgbClr val="006600"/>
                </a:solidFill>
                <a:latin typeface="Courier New"/>
                <a:ea typeface="ＭＳ Ｐゴシック"/>
              </a:rPr>
              <a:t>$22</a:t>
            </a:r>
            <a:r>
              <a:rPr lang="en-US" sz="2800" b="1" strike="noStrike" spc="-1">
                <a:solidFill>
                  <a:srgbClr val="000000"/>
                </a:solidFill>
                <a:latin typeface="Courier New"/>
                <a:ea typeface="ＭＳ Ｐゴシック"/>
              </a:rPr>
              <a:t>)</a:t>
            </a:r>
            <a:endParaRPr lang="en-US" sz="2800" b="0" strike="noStrike" spc="-1">
              <a:latin typeface="Arial"/>
            </a:endParaRPr>
          </a:p>
        </p:txBody>
      </p:sp>
    </p:spTree>
    <p:extLst>
      <p:ext uri="{BB962C8B-B14F-4D97-AF65-F5344CB8AC3E}">
        <p14:creationId xmlns:p14="http://schemas.microsoft.com/office/powerpoint/2010/main" val="31476716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E959-0C41-FC1D-6205-1CC464675AE6}"/>
              </a:ext>
            </a:extLst>
          </p:cNvPr>
          <p:cNvSpPr>
            <a:spLocks noGrp="1"/>
          </p:cNvSpPr>
          <p:nvPr>
            <p:ph type="title"/>
          </p:nvPr>
        </p:nvSpPr>
        <p:spPr/>
        <p:txBody>
          <a:bodyPr/>
          <a:lstStyle/>
          <a:p>
            <a:r>
              <a:rPr lang="en-US"/>
              <a:t>Datapath của một bộ xử lý với 8 lệnh MIPS</a:t>
            </a:r>
          </a:p>
        </p:txBody>
      </p:sp>
      <p:sp>
        <p:nvSpPr>
          <p:cNvPr id="4" name="Footer Placeholder 3">
            <a:extLst>
              <a:ext uri="{FF2B5EF4-FFF2-40B4-BE49-F238E27FC236}">
                <a16:creationId xmlns:a16="http://schemas.microsoft.com/office/drawing/2014/main" id="{A2943067-86FD-EC34-FB84-E1C625FA2005}"/>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86EA9048-D456-15C2-CE28-E7DA00176C21}"/>
              </a:ext>
            </a:extLst>
          </p:cNvPr>
          <p:cNvSpPr>
            <a:spLocks noGrp="1"/>
          </p:cNvSpPr>
          <p:nvPr>
            <p:ph type="sldNum" sz="quarter" idx="12"/>
          </p:nvPr>
        </p:nvSpPr>
        <p:spPr/>
        <p:txBody>
          <a:bodyPr/>
          <a:lstStyle/>
          <a:p>
            <a:fld id="{D8B0B3AC-44A8-D142-AAF6-9A453466E1A4}" type="slidenum">
              <a:rPr lang="en-VN" smtClean="0"/>
              <a:pPr/>
              <a:t>52</a:t>
            </a:fld>
            <a:endParaRPr lang="en-VN" dirty="0"/>
          </a:p>
        </p:txBody>
      </p:sp>
      <p:sp>
        <p:nvSpPr>
          <p:cNvPr id="6" name="Date Placeholder 5">
            <a:extLst>
              <a:ext uri="{FF2B5EF4-FFF2-40B4-BE49-F238E27FC236}">
                <a16:creationId xmlns:a16="http://schemas.microsoft.com/office/drawing/2014/main" id="{097D4DD3-4D53-26A3-A13E-2480164DEE5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5" descr="f04-17-P374493">
            <a:extLst>
              <a:ext uri="{FF2B5EF4-FFF2-40B4-BE49-F238E27FC236}">
                <a16:creationId xmlns:a16="http://schemas.microsoft.com/office/drawing/2014/main" id="{FBFE8B37-F23C-291E-5D50-A4AB5641B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9134" y="1368275"/>
            <a:ext cx="5795029" cy="4503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98608D8C-860A-27F0-82AB-E1A6EC92A73A}"/>
              </a:ext>
            </a:extLst>
          </p:cNvPr>
          <p:cNvSpPr/>
          <p:nvPr/>
        </p:nvSpPr>
        <p:spPr>
          <a:xfrm>
            <a:off x="2853699" y="1287325"/>
            <a:ext cx="1978925"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CA9C8402-04E5-0DBE-555D-C871BB480314}"/>
              </a:ext>
            </a:extLst>
          </p:cNvPr>
          <p:cNvSpPr/>
          <p:nvPr/>
        </p:nvSpPr>
        <p:spPr>
          <a:xfrm>
            <a:off x="4832624" y="1287325"/>
            <a:ext cx="1901914"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3EDE0ED-673A-505D-FC68-C05576EA8229}"/>
              </a:ext>
            </a:extLst>
          </p:cNvPr>
          <p:cNvSpPr/>
          <p:nvPr/>
        </p:nvSpPr>
        <p:spPr>
          <a:xfrm>
            <a:off x="6734538" y="1287325"/>
            <a:ext cx="858349"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5A84DB99-AD9C-244B-204C-4F16C5C0F536}"/>
              </a:ext>
            </a:extLst>
          </p:cNvPr>
          <p:cNvSpPr/>
          <p:nvPr/>
        </p:nvSpPr>
        <p:spPr>
          <a:xfrm>
            <a:off x="7592887" y="1287325"/>
            <a:ext cx="858349"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9709450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Quy trình thực thi lệnh của MIPS</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1" name="Content Placeholder 10">
            <a:extLst>
              <a:ext uri="{FF2B5EF4-FFF2-40B4-BE49-F238E27FC236}">
                <a16:creationId xmlns:a16="http://schemas.microsoft.com/office/drawing/2014/main" id="{8E51BFD1-611E-702E-CD1C-CF4CE58C1C36}"/>
              </a:ext>
            </a:extLst>
          </p:cNvPr>
          <p:cNvSpPr>
            <a:spLocks noGrp="1"/>
          </p:cNvSpPr>
          <p:nvPr>
            <p:ph idx="1"/>
          </p:nvPr>
        </p:nvSpPr>
        <p:spPr>
          <a:xfrm>
            <a:off x="1142797" y="1195821"/>
            <a:ext cx="7404855" cy="5160527"/>
          </a:xfrm>
        </p:spPr>
        <p:txBody>
          <a:bodyPr/>
          <a:lstStyle/>
          <a:p>
            <a:r>
              <a:rPr lang="vi-VN"/>
              <a:t>Instruction Fetch (Nạp lệnh)</a:t>
            </a:r>
          </a:p>
          <a:p>
            <a:r>
              <a:rPr lang="vi-VN"/>
              <a:t>Instruction Decode &amp; Operand Fetch</a:t>
            </a:r>
          </a:p>
          <a:p>
            <a:pPr marL="0" indent="0">
              <a:buNone/>
            </a:pPr>
            <a:r>
              <a:rPr lang="en-US"/>
              <a:t>	</a:t>
            </a:r>
            <a:r>
              <a:rPr lang="vi-VN"/>
              <a:t>(Giải mã và lấy các toán hạng cần thiết, </a:t>
            </a:r>
            <a:endParaRPr lang="en-US"/>
          </a:p>
          <a:p>
            <a:pPr marL="0" indent="0">
              <a:buNone/>
            </a:pPr>
            <a:r>
              <a:rPr lang="en-US"/>
              <a:t>	</a:t>
            </a:r>
            <a:r>
              <a:rPr lang="vi-VN"/>
              <a:t>Gọi</a:t>
            </a:r>
            <a:r>
              <a:rPr lang="en-US"/>
              <a:t> </a:t>
            </a:r>
            <a:r>
              <a:rPr lang="vi-VN"/>
              <a:t>tắt là “Instruction Decode”)</a:t>
            </a:r>
          </a:p>
          <a:p>
            <a:r>
              <a:rPr lang="vi-VN"/>
              <a:t>ALU (Giai đoạn sử dụng ALU hay giai đoạn thực thi)</a:t>
            </a:r>
          </a:p>
          <a:p>
            <a:r>
              <a:rPr lang="vi-VN"/>
              <a:t>Memory Access (Giai đoạn truy xuất vùng nhớ)</a:t>
            </a:r>
          </a:p>
          <a:p>
            <a:r>
              <a:rPr lang="vi-VN">
                <a:solidFill>
                  <a:srgbClr val="FF0000"/>
                </a:solidFill>
              </a:rPr>
              <a:t>Result Write (Giai đoạn ghi lại kết quả/lưu trữ)</a:t>
            </a:r>
          </a:p>
          <a:p>
            <a:endParaRPr lang="vi-VN"/>
          </a:p>
          <a:p>
            <a:endParaRPr lang="en-US"/>
          </a:p>
        </p:txBody>
      </p:sp>
      <p:grpSp>
        <p:nvGrpSpPr>
          <p:cNvPr id="14" name="Group 13">
            <a:extLst>
              <a:ext uri="{FF2B5EF4-FFF2-40B4-BE49-F238E27FC236}">
                <a16:creationId xmlns:a16="http://schemas.microsoft.com/office/drawing/2014/main" id="{35E64477-7BDC-5CAF-A892-A018CF49647C}"/>
              </a:ext>
            </a:extLst>
          </p:cNvPr>
          <p:cNvGrpSpPr/>
          <p:nvPr/>
        </p:nvGrpSpPr>
        <p:grpSpPr>
          <a:xfrm>
            <a:off x="8764130" y="1674660"/>
            <a:ext cx="2742730" cy="3796316"/>
            <a:chOff x="8726030" y="2208060"/>
            <a:chExt cx="2742730" cy="3796316"/>
          </a:xfrm>
        </p:grpSpPr>
        <p:grpSp>
          <p:nvGrpSpPr>
            <p:cNvPr id="15" name="Group 3">
              <a:extLst>
                <a:ext uri="{FF2B5EF4-FFF2-40B4-BE49-F238E27FC236}">
                  <a16:creationId xmlns:a16="http://schemas.microsoft.com/office/drawing/2014/main" id="{BAAB0B09-CF5E-AC2D-7B7D-9B3EC1152906}"/>
                </a:ext>
              </a:extLst>
            </p:cNvPr>
            <p:cNvGrpSpPr/>
            <p:nvPr/>
          </p:nvGrpSpPr>
          <p:grpSpPr>
            <a:xfrm>
              <a:off x="8726030" y="2208060"/>
              <a:ext cx="2742730" cy="3766559"/>
              <a:chOff x="420120" y="1133640"/>
              <a:chExt cx="2099520" cy="3157199"/>
            </a:xfrm>
          </p:grpSpPr>
          <p:sp>
            <p:nvSpPr>
              <p:cNvPr id="17" name="CustomShape 4">
                <a:extLst>
                  <a:ext uri="{FF2B5EF4-FFF2-40B4-BE49-F238E27FC236}">
                    <a16:creationId xmlns:a16="http://schemas.microsoft.com/office/drawing/2014/main" id="{AC664CBC-0125-59A3-A143-ADB0607A395A}"/>
                  </a:ext>
                </a:extLst>
              </p:cNvPr>
              <p:cNvSpPr/>
              <p:nvPr/>
            </p:nvSpPr>
            <p:spPr>
              <a:xfrm>
                <a:off x="1553760" y="3522600"/>
                <a:ext cx="24120" cy="1742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vi-VN"/>
              </a:p>
            </p:txBody>
          </p:sp>
          <p:sp>
            <p:nvSpPr>
              <p:cNvPr id="18" name="CustomShape 5">
                <a:extLst>
                  <a:ext uri="{FF2B5EF4-FFF2-40B4-BE49-F238E27FC236}">
                    <a16:creationId xmlns:a16="http://schemas.microsoft.com/office/drawing/2014/main" id="{8BBA7EA1-6B4C-6224-F31B-ADF1C430E0AE}"/>
                  </a:ext>
                </a:extLst>
              </p:cNvPr>
              <p:cNvSpPr/>
              <p:nvPr/>
            </p:nvSpPr>
            <p:spPr>
              <a:xfrm>
                <a:off x="993960" y="1360800"/>
                <a:ext cx="1525680" cy="28656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dirty="0">
                    <a:solidFill>
                      <a:srgbClr val="C00000"/>
                    </a:solidFill>
                    <a:latin typeface="Arial"/>
                    <a:ea typeface="ＭＳ Ｐゴシック"/>
                  </a:rPr>
                  <a:t>Fetch</a:t>
                </a:r>
                <a:endParaRPr lang="en-US" sz="1800" b="0" strike="noStrike" spc="-1" dirty="0">
                  <a:latin typeface="Arial"/>
                </a:endParaRPr>
              </a:p>
            </p:txBody>
          </p:sp>
          <p:sp>
            <p:nvSpPr>
              <p:cNvPr id="19" name="CustomShape 6">
                <a:extLst>
                  <a:ext uri="{FF2B5EF4-FFF2-40B4-BE49-F238E27FC236}">
                    <a16:creationId xmlns:a16="http://schemas.microsoft.com/office/drawing/2014/main" id="{14D3AB1E-C627-5C82-420E-3C05D6EFACED}"/>
                  </a:ext>
                </a:extLst>
              </p:cNvPr>
              <p:cNvSpPr/>
              <p:nvPr/>
            </p:nvSpPr>
            <p:spPr>
              <a:xfrm>
                <a:off x="993960" y="1871348"/>
                <a:ext cx="1525680" cy="523373"/>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a:solidFill>
                      <a:srgbClr val="006600"/>
                    </a:solidFill>
                    <a:latin typeface="Arial"/>
                    <a:ea typeface="ＭＳ Ｐゴシック"/>
                  </a:rPr>
                  <a:t>Instruction</a:t>
                </a:r>
                <a:endParaRPr lang="en-US" sz="1800" b="0" strike="noStrike" spc="-1">
                  <a:latin typeface="Arial"/>
                </a:endParaRPr>
              </a:p>
              <a:p>
                <a:pPr marL="343080" indent="-342720" algn="ctr">
                  <a:lnSpc>
                    <a:spcPct val="86000"/>
                  </a:lnSpc>
                  <a:spcBef>
                    <a:spcPts val="360"/>
                  </a:spcBef>
                </a:pPr>
                <a:r>
                  <a:rPr lang="en-US" sz="1800" b="1" i="1" strike="noStrike" spc="-1">
                    <a:solidFill>
                      <a:srgbClr val="006600"/>
                    </a:solidFill>
                    <a:latin typeface="Arial"/>
                    <a:ea typeface="ＭＳ Ｐゴシック"/>
                  </a:rPr>
                  <a:t>Decode</a:t>
                </a:r>
                <a:endParaRPr lang="en-US" sz="1800" b="0" strike="noStrike" spc="-1">
                  <a:latin typeface="Arial"/>
                </a:endParaRPr>
              </a:p>
            </p:txBody>
          </p:sp>
          <p:sp>
            <p:nvSpPr>
              <p:cNvPr id="20" name="CustomShape 7">
                <a:extLst>
                  <a:ext uri="{FF2B5EF4-FFF2-40B4-BE49-F238E27FC236}">
                    <a16:creationId xmlns:a16="http://schemas.microsoft.com/office/drawing/2014/main" id="{B7A8046A-43EC-68CD-0B51-864F829843F0}"/>
                  </a:ext>
                </a:extLst>
              </p:cNvPr>
              <p:cNvSpPr/>
              <p:nvPr/>
            </p:nvSpPr>
            <p:spPr>
              <a:xfrm>
                <a:off x="987139" y="2565360"/>
                <a:ext cx="1525680" cy="28656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marL="343080" indent="-342720" algn="ctr">
                  <a:lnSpc>
                    <a:spcPct val="86000"/>
                  </a:lnSpc>
                  <a:spcBef>
                    <a:spcPts val="360"/>
                  </a:spcBef>
                </a:pPr>
                <a:r>
                  <a:rPr lang="en-US" sz="1800" b="1" i="1" strike="noStrike" spc="-1" dirty="0">
                    <a:solidFill>
                      <a:srgbClr val="660066"/>
                    </a:solidFill>
                    <a:latin typeface="Arial"/>
                    <a:ea typeface="ＭＳ Ｐゴシック"/>
                  </a:rPr>
                  <a:t>ALU</a:t>
                </a:r>
                <a:endParaRPr lang="en-US" sz="1800" b="0" strike="noStrike" spc="-1" dirty="0">
                  <a:latin typeface="Arial"/>
                </a:endParaRPr>
              </a:p>
            </p:txBody>
          </p:sp>
          <p:sp>
            <p:nvSpPr>
              <p:cNvPr id="21" name="CustomShape 8">
                <a:extLst>
                  <a:ext uri="{FF2B5EF4-FFF2-40B4-BE49-F238E27FC236}">
                    <a16:creationId xmlns:a16="http://schemas.microsoft.com/office/drawing/2014/main" id="{61C6B5B3-74C0-4BA4-DD13-4AF98FC3A14B}"/>
                  </a:ext>
                </a:extLst>
              </p:cNvPr>
              <p:cNvSpPr/>
              <p:nvPr/>
            </p:nvSpPr>
            <p:spPr>
              <a:xfrm>
                <a:off x="987139" y="3052734"/>
                <a:ext cx="1525680" cy="310386"/>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algn="ctr">
                  <a:lnSpc>
                    <a:spcPct val="88000"/>
                  </a:lnSpc>
                  <a:spcBef>
                    <a:spcPts val="516"/>
                  </a:spcBef>
                </a:pPr>
                <a:r>
                  <a:rPr lang="en-US" sz="1800" b="1" i="1" strike="noStrike" spc="-1">
                    <a:solidFill>
                      <a:srgbClr val="002060"/>
                    </a:solidFill>
                    <a:latin typeface="Arial"/>
                    <a:ea typeface="ＭＳ Ｐゴシック"/>
                  </a:rPr>
                  <a:t>Memory Access</a:t>
                </a:r>
                <a:endParaRPr lang="en-US" sz="1800" b="0" strike="noStrike" spc="-1">
                  <a:latin typeface="Arial"/>
                </a:endParaRPr>
              </a:p>
            </p:txBody>
          </p:sp>
          <p:sp>
            <p:nvSpPr>
              <p:cNvPr id="22" name="CustomShape 9">
                <a:extLst>
                  <a:ext uri="{FF2B5EF4-FFF2-40B4-BE49-F238E27FC236}">
                    <a16:creationId xmlns:a16="http://schemas.microsoft.com/office/drawing/2014/main" id="{CEED021A-D498-2F0E-184A-0102CDFCC047}"/>
                  </a:ext>
                </a:extLst>
              </p:cNvPr>
              <p:cNvSpPr/>
              <p:nvPr/>
            </p:nvSpPr>
            <p:spPr>
              <a:xfrm>
                <a:off x="993960" y="3591000"/>
                <a:ext cx="1525680" cy="325800"/>
              </a:xfrm>
              <a:prstGeom prst="rect">
                <a:avLst/>
              </a:prstGeom>
              <a:solidFill>
                <a:srgbClr val="FFFFCC"/>
              </a:solidFill>
              <a:ln w="12600">
                <a:solidFill>
                  <a:schemeClr val="tx1"/>
                </a:solidFill>
                <a:miter/>
              </a:ln>
            </p:spPr>
            <p:style>
              <a:lnRef idx="0">
                <a:scrgbClr r="0" g="0" b="0"/>
              </a:lnRef>
              <a:fillRef idx="0">
                <a:scrgbClr r="0" g="0" b="0"/>
              </a:fillRef>
              <a:effectRef idx="0">
                <a:scrgbClr r="0" g="0" b="0"/>
              </a:effectRef>
              <a:fontRef idx="minor"/>
            </p:style>
            <p:txBody>
              <a:bodyPr lIns="63360" tIns="25560" rIns="63360" bIns="25560"/>
              <a:lstStyle/>
              <a:p>
                <a:pPr algn="ctr">
                  <a:lnSpc>
                    <a:spcPct val="100000"/>
                  </a:lnSpc>
                </a:pPr>
                <a:r>
                  <a:rPr lang="en-US" sz="1800" b="1" strike="noStrike" spc="-1">
                    <a:solidFill>
                      <a:srgbClr val="000000"/>
                    </a:solidFill>
                    <a:latin typeface="Arial"/>
                    <a:ea typeface="ＭＳ Ｐゴシック"/>
                  </a:rPr>
                  <a:t>Result Write</a:t>
                </a:r>
                <a:endParaRPr lang="en-US" sz="1800" b="0" strike="noStrike" spc="-1">
                  <a:latin typeface="Arial"/>
                </a:endParaRPr>
              </a:p>
            </p:txBody>
          </p:sp>
          <p:sp>
            <p:nvSpPr>
              <p:cNvPr id="23" name="Line 10">
                <a:extLst>
                  <a:ext uri="{FF2B5EF4-FFF2-40B4-BE49-F238E27FC236}">
                    <a16:creationId xmlns:a16="http://schemas.microsoft.com/office/drawing/2014/main" id="{B635C9D2-8A7E-7C0D-A1C3-D67A79D60B44}"/>
                  </a:ext>
                </a:extLst>
              </p:cNvPr>
              <p:cNvSpPr/>
              <p:nvPr/>
            </p:nvSpPr>
            <p:spPr>
              <a:xfrm>
                <a:off x="1749259" y="1651097"/>
                <a:ext cx="6461" cy="22025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4" name="Line 11">
                <a:extLst>
                  <a:ext uri="{FF2B5EF4-FFF2-40B4-BE49-F238E27FC236}">
                    <a16:creationId xmlns:a16="http://schemas.microsoft.com/office/drawing/2014/main" id="{C346C85A-A6ED-66D2-5106-6A7C3DD87ACF}"/>
                  </a:ext>
                </a:extLst>
              </p:cNvPr>
              <p:cNvSpPr/>
              <p:nvPr/>
            </p:nvSpPr>
            <p:spPr>
              <a:xfrm>
                <a:off x="1756440" y="2853636"/>
                <a:ext cx="360" cy="20088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5" name="Line 12">
                <a:extLst>
                  <a:ext uri="{FF2B5EF4-FFF2-40B4-BE49-F238E27FC236}">
                    <a16:creationId xmlns:a16="http://schemas.microsoft.com/office/drawing/2014/main" id="{9AFB2E00-92F9-0F43-B5A0-FE223E49D7DB}"/>
                  </a:ext>
                </a:extLst>
              </p:cNvPr>
              <p:cNvSpPr/>
              <p:nvPr/>
            </p:nvSpPr>
            <p:spPr>
              <a:xfrm>
                <a:off x="1749619" y="2385001"/>
                <a:ext cx="360" cy="1890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6" name="Line 13">
                <a:extLst>
                  <a:ext uri="{FF2B5EF4-FFF2-40B4-BE49-F238E27FC236}">
                    <a16:creationId xmlns:a16="http://schemas.microsoft.com/office/drawing/2014/main" id="{9ECDBCA4-382A-5A71-6A32-9ED44C23A6DD}"/>
                  </a:ext>
                </a:extLst>
              </p:cNvPr>
              <p:cNvSpPr/>
              <p:nvPr/>
            </p:nvSpPr>
            <p:spPr>
              <a:xfrm>
                <a:off x="1749979" y="3378600"/>
                <a:ext cx="360" cy="2124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7" name="Line 14">
                <a:extLst>
                  <a:ext uri="{FF2B5EF4-FFF2-40B4-BE49-F238E27FC236}">
                    <a16:creationId xmlns:a16="http://schemas.microsoft.com/office/drawing/2014/main" id="{6E1196F7-9D4F-8C62-DF15-190331926FE2}"/>
                  </a:ext>
                </a:extLst>
              </p:cNvPr>
              <p:cNvSpPr/>
              <p:nvPr/>
            </p:nvSpPr>
            <p:spPr>
              <a:xfrm flipH="1" flipV="1">
                <a:off x="587520" y="4284000"/>
                <a:ext cx="1162818" cy="6839"/>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8" name="Line 15">
                <a:extLst>
                  <a:ext uri="{FF2B5EF4-FFF2-40B4-BE49-F238E27FC236}">
                    <a16:creationId xmlns:a16="http://schemas.microsoft.com/office/drawing/2014/main" id="{CDDE8C76-B255-215F-5208-897C8E48BC47}"/>
                  </a:ext>
                </a:extLst>
              </p:cNvPr>
              <p:cNvSpPr/>
              <p:nvPr/>
            </p:nvSpPr>
            <p:spPr>
              <a:xfrm flipH="1" flipV="1">
                <a:off x="587160" y="1133640"/>
                <a:ext cx="360" cy="3150000"/>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9" name="Line 16">
                <a:extLst>
                  <a:ext uri="{FF2B5EF4-FFF2-40B4-BE49-F238E27FC236}">
                    <a16:creationId xmlns:a16="http://schemas.microsoft.com/office/drawing/2014/main" id="{EFD1CB40-4EFE-5CBF-78C2-230A6A77EB1D}"/>
                  </a:ext>
                </a:extLst>
              </p:cNvPr>
              <p:cNvSpPr/>
              <p:nvPr/>
            </p:nvSpPr>
            <p:spPr>
              <a:xfrm>
                <a:off x="587159" y="1140839"/>
                <a:ext cx="1163899" cy="7339"/>
              </a:xfrm>
              <a:prstGeom prst="line">
                <a:avLst/>
              </a:prstGeom>
              <a:ln w="255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0" name="Line 17">
                <a:extLst>
                  <a:ext uri="{FF2B5EF4-FFF2-40B4-BE49-F238E27FC236}">
                    <a16:creationId xmlns:a16="http://schemas.microsoft.com/office/drawing/2014/main" id="{19724794-4885-7B2C-5F91-97BE5D51862C}"/>
                  </a:ext>
                </a:extLst>
              </p:cNvPr>
              <p:cNvSpPr/>
              <p:nvPr/>
            </p:nvSpPr>
            <p:spPr>
              <a:xfrm>
                <a:off x="1751778" y="1148896"/>
                <a:ext cx="360" cy="203400"/>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1" name="CustomShape 18">
                <a:extLst>
                  <a:ext uri="{FF2B5EF4-FFF2-40B4-BE49-F238E27FC236}">
                    <a16:creationId xmlns:a16="http://schemas.microsoft.com/office/drawing/2014/main" id="{0D0132C1-DBA3-0F71-4D85-2D55C4CB8F88}"/>
                  </a:ext>
                </a:extLst>
              </p:cNvPr>
              <p:cNvSpPr/>
              <p:nvPr/>
            </p:nvSpPr>
            <p:spPr>
              <a:xfrm rot="16200000">
                <a:off x="-201960" y="2711880"/>
                <a:ext cx="1637640" cy="39348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1" strike="noStrike" spc="-1">
                    <a:solidFill>
                      <a:srgbClr val="000000"/>
                    </a:solidFill>
                    <a:latin typeface="Times New Roman"/>
                    <a:ea typeface="ＭＳ Ｐゴシック"/>
                  </a:rPr>
                  <a:t>Next Instruction</a:t>
                </a:r>
                <a:endParaRPr lang="en-US" sz="1800" b="0" strike="noStrike" spc="-1">
                  <a:latin typeface="Arial"/>
                </a:endParaRPr>
              </a:p>
            </p:txBody>
          </p:sp>
        </p:grpSp>
        <p:sp>
          <p:nvSpPr>
            <p:cNvPr id="16" name="Line 13">
              <a:extLst>
                <a:ext uri="{FF2B5EF4-FFF2-40B4-BE49-F238E27FC236}">
                  <a16:creationId xmlns:a16="http://schemas.microsoft.com/office/drawing/2014/main" id="{92842633-75F7-1E39-8576-7D844602315B}"/>
                </a:ext>
              </a:extLst>
            </p:cNvPr>
            <p:cNvSpPr/>
            <p:nvPr/>
          </p:nvSpPr>
          <p:spPr>
            <a:xfrm>
              <a:off x="10468072" y="5534790"/>
              <a:ext cx="470" cy="469586"/>
            </a:xfrm>
            <a:prstGeom prst="line">
              <a:avLst/>
            </a:prstGeom>
            <a:ln w="255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
        <p:nvSpPr>
          <p:cNvPr id="3" name="Oval 2">
            <a:extLst>
              <a:ext uri="{FF2B5EF4-FFF2-40B4-BE49-F238E27FC236}">
                <a16:creationId xmlns:a16="http://schemas.microsoft.com/office/drawing/2014/main" id="{C3221EA7-00E1-744D-A48D-CB62B1F1B470}"/>
              </a:ext>
            </a:extLst>
          </p:cNvPr>
          <p:cNvSpPr/>
          <p:nvPr/>
        </p:nvSpPr>
        <p:spPr>
          <a:xfrm>
            <a:off x="9297506" y="4374468"/>
            <a:ext cx="2422798" cy="890582"/>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36018868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54</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a:t>Datapath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r>
              <a:rPr lang="vi-VN" sz="2800"/>
              <a:t>Giai đoạn lưu trữ kết quả (Result Write)</a:t>
            </a:r>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a:t>2</a:t>
            </a:r>
            <a:r>
              <a:rPr lang="en-US"/>
              <a:t>.5</a:t>
            </a:r>
            <a:endParaRPr lang="en-VN" dirty="0"/>
          </a:p>
        </p:txBody>
      </p:sp>
    </p:spTree>
    <p:extLst>
      <p:ext uri="{BB962C8B-B14F-4D97-AF65-F5344CB8AC3E}">
        <p14:creationId xmlns:p14="http://schemas.microsoft.com/office/powerpoint/2010/main" val="5763790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B837-36B6-E186-44DB-23E21FE87830}"/>
              </a:ext>
            </a:extLst>
          </p:cNvPr>
          <p:cNvSpPr>
            <a:spLocks noGrp="1"/>
          </p:cNvSpPr>
          <p:nvPr>
            <p:ph type="title"/>
          </p:nvPr>
        </p:nvSpPr>
        <p:spPr/>
        <p:txBody>
          <a:bodyPr/>
          <a:lstStyle/>
          <a:p>
            <a:r>
              <a:rPr lang="vi-VN" sz="4000"/>
              <a:t>Giai đoạn lưu trữ kết quả (Result Write)</a:t>
            </a:r>
            <a:endParaRPr lang="en-US"/>
          </a:p>
        </p:txBody>
      </p:sp>
      <p:sp>
        <p:nvSpPr>
          <p:cNvPr id="3" name="Content Placeholder 2">
            <a:extLst>
              <a:ext uri="{FF2B5EF4-FFF2-40B4-BE49-F238E27FC236}">
                <a16:creationId xmlns:a16="http://schemas.microsoft.com/office/drawing/2014/main" id="{B9D46F1D-9FAD-10FB-A2F1-91263CEB3328}"/>
              </a:ext>
            </a:extLst>
          </p:cNvPr>
          <p:cNvSpPr>
            <a:spLocks noGrp="1"/>
          </p:cNvSpPr>
          <p:nvPr>
            <p:ph idx="1"/>
          </p:nvPr>
        </p:nvSpPr>
        <p:spPr/>
        <p:txBody>
          <a:bodyPr>
            <a:normAutofit/>
          </a:bodyPr>
          <a:lstStyle/>
          <a:p>
            <a:r>
              <a:rPr lang="vi-VN"/>
              <a:t>Công đoạn Result Write:</a:t>
            </a:r>
          </a:p>
          <a:p>
            <a:pPr lvl="1"/>
            <a:r>
              <a:rPr lang="vi-VN"/>
              <a:t>Những lệnh ghi kết quả của các phép toán vào thanh ghi:</a:t>
            </a:r>
          </a:p>
          <a:p>
            <a:pPr lvl="2"/>
            <a:r>
              <a:rPr lang="vi-VN"/>
              <a:t>Ví dụ: số học, logic, shifts, load, set-less-than</a:t>
            </a:r>
          </a:p>
          <a:p>
            <a:pPr lvl="2"/>
            <a:r>
              <a:rPr lang="vi-VN"/>
              <a:t>Cần chỉ số thanh ghi đích và kết quả tính toán</a:t>
            </a:r>
          </a:p>
          <a:p>
            <a:pPr lvl="1"/>
            <a:r>
              <a:rPr lang="vi-VN"/>
              <a:t>Những lệnh không ghi kết quả như: store, branch, jump:</a:t>
            </a:r>
          </a:p>
          <a:p>
            <a:pPr lvl="2"/>
            <a:r>
              <a:rPr lang="vi-VN"/>
              <a:t>Không có ghi kết quả</a:t>
            </a:r>
          </a:p>
          <a:p>
            <a:pPr lvl="2"/>
            <a:r>
              <a:rPr lang="vi-VN"/>
              <a:t>Những lệnh này sẽ rảnh trong giai đoạn này</a:t>
            </a:r>
          </a:p>
          <a:p>
            <a:endParaRPr lang="vi-VN"/>
          </a:p>
          <a:p>
            <a:r>
              <a:rPr lang="vi-VN"/>
              <a:t>Đầu vào từ giai đoạn trước (Memory):</a:t>
            </a:r>
          </a:p>
          <a:p>
            <a:pPr lvl="1"/>
            <a:r>
              <a:rPr lang="vi-VN"/>
              <a:t>Kết quả tính toán: từ Memory hoặc từ ALU</a:t>
            </a:r>
          </a:p>
        </p:txBody>
      </p:sp>
      <p:sp>
        <p:nvSpPr>
          <p:cNvPr id="4" name="Footer Placeholder 3">
            <a:extLst>
              <a:ext uri="{FF2B5EF4-FFF2-40B4-BE49-F238E27FC236}">
                <a16:creationId xmlns:a16="http://schemas.microsoft.com/office/drawing/2014/main" id="{A6968558-B237-1099-B1D5-7F7C18B534C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3154C20-D789-0928-41F7-A66DAC47ED84}"/>
              </a:ext>
            </a:extLst>
          </p:cNvPr>
          <p:cNvSpPr>
            <a:spLocks noGrp="1"/>
          </p:cNvSpPr>
          <p:nvPr>
            <p:ph type="sldNum" sz="quarter" idx="12"/>
          </p:nvPr>
        </p:nvSpPr>
        <p:spPr/>
        <p:txBody>
          <a:bodyPr/>
          <a:lstStyle/>
          <a:p>
            <a:fld id="{D8B0B3AC-44A8-D142-AAF6-9A453466E1A4}" type="slidenum">
              <a:rPr lang="en-VN" smtClean="0"/>
              <a:pPr/>
              <a:t>55</a:t>
            </a:fld>
            <a:endParaRPr lang="en-VN" dirty="0"/>
          </a:p>
        </p:txBody>
      </p:sp>
      <p:sp>
        <p:nvSpPr>
          <p:cNvPr id="6" name="Date Placeholder 5">
            <a:extLst>
              <a:ext uri="{FF2B5EF4-FFF2-40B4-BE49-F238E27FC236}">
                <a16:creationId xmlns:a16="http://schemas.microsoft.com/office/drawing/2014/main" id="{141E8A66-41C9-9CC1-2355-356C3F4EE6D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spTree>
    <p:extLst>
      <p:ext uri="{BB962C8B-B14F-4D97-AF65-F5344CB8AC3E}">
        <p14:creationId xmlns:p14="http://schemas.microsoft.com/office/powerpoint/2010/main" val="7482121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B837-36B6-E186-44DB-23E21FE87830}"/>
              </a:ext>
            </a:extLst>
          </p:cNvPr>
          <p:cNvSpPr>
            <a:spLocks noGrp="1"/>
          </p:cNvSpPr>
          <p:nvPr>
            <p:ph type="title"/>
          </p:nvPr>
        </p:nvSpPr>
        <p:spPr/>
        <p:txBody>
          <a:bodyPr/>
          <a:lstStyle/>
          <a:p>
            <a:r>
              <a:rPr lang="vi-VN" sz="4000"/>
              <a:t>Giai đoạn lưu trữ kết quả (Result Write)</a:t>
            </a:r>
            <a:endParaRPr lang="en-US"/>
          </a:p>
        </p:txBody>
      </p:sp>
      <p:sp>
        <p:nvSpPr>
          <p:cNvPr id="3" name="Content Placeholder 2">
            <a:extLst>
              <a:ext uri="{FF2B5EF4-FFF2-40B4-BE49-F238E27FC236}">
                <a16:creationId xmlns:a16="http://schemas.microsoft.com/office/drawing/2014/main" id="{B9D46F1D-9FAD-10FB-A2F1-91263CEB3328}"/>
              </a:ext>
            </a:extLst>
          </p:cNvPr>
          <p:cNvSpPr>
            <a:spLocks noGrp="1"/>
          </p:cNvSpPr>
          <p:nvPr>
            <p:ph idx="1"/>
          </p:nvPr>
        </p:nvSpPr>
        <p:spPr/>
        <p:txBody>
          <a:bodyPr>
            <a:normAutofit/>
          </a:bodyPr>
          <a:lstStyle/>
          <a:p>
            <a:r>
              <a:rPr lang="vi-VN"/>
              <a:t>Công đoạn Result Write:</a:t>
            </a:r>
          </a:p>
          <a:p>
            <a:pPr lvl="1"/>
            <a:r>
              <a:rPr lang="vi-VN"/>
              <a:t>Đưa kết quả từ ALU hoặc Memory vào thanh ghi (ngõ Write data của khối Registers/Register file)</a:t>
            </a:r>
          </a:p>
          <a:p>
            <a:pPr lvl="1"/>
            <a:r>
              <a:rPr lang="vi-VN"/>
              <a:t>Chỉ số của thanh ghi được ghi vào (ngõ vào Write Register) được sinh ra trong giai đoạn Decode Stage</a:t>
            </a:r>
          </a:p>
        </p:txBody>
      </p:sp>
      <p:sp>
        <p:nvSpPr>
          <p:cNvPr id="4" name="Footer Placeholder 3">
            <a:extLst>
              <a:ext uri="{FF2B5EF4-FFF2-40B4-BE49-F238E27FC236}">
                <a16:creationId xmlns:a16="http://schemas.microsoft.com/office/drawing/2014/main" id="{A6968558-B237-1099-B1D5-7F7C18B534C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3154C20-D789-0928-41F7-A66DAC47ED84}"/>
              </a:ext>
            </a:extLst>
          </p:cNvPr>
          <p:cNvSpPr>
            <a:spLocks noGrp="1"/>
          </p:cNvSpPr>
          <p:nvPr>
            <p:ph type="sldNum" sz="quarter" idx="12"/>
          </p:nvPr>
        </p:nvSpPr>
        <p:spPr/>
        <p:txBody>
          <a:bodyPr/>
          <a:lstStyle/>
          <a:p>
            <a:fld id="{D8B0B3AC-44A8-D142-AAF6-9A453466E1A4}" type="slidenum">
              <a:rPr lang="en-VN" smtClean="0"/>
              <a:pPr/>
              <a:t>56</a:t>
            </a:fld>
            <a:endParaRPr lang="en-VN" dirty="0"/>
          </a:p>
        </p:txBody>
      </p:sp>
      <p:sp>
        <p:nvSpPr>
          <p:cNvPr id="6" name="Date Placeholder 5">
            <a:extLst>
              <a:ext uri="{FF2B5EF4-FFF2-40B4-BE49-F238E27FC236}">
                <a16:creationId xmlns:a16="http://schemas.microsoft.com/office/drawing/2014/main" id="{141E8A66-41C9-9CC1-2355-356C3F4EE6D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sp>
        <p:nvSpPr>
          <p:cNvPr id="7" name="CustomShape 3">
            <a:extLst>
              <a:ext uri="{FF2B5EF4-FFF2-40B4-BE49-F238E27FC236}">
                <a16:creationId xmlns:a16="http://schemas.microsoft.com/office/drawing/2014/main" id="{CA72B0D0-A2C5-11F0-B2F3-C5DB70C3FBAB}"/>
              </a:ext>
            </a:extLst>
          </p:cNvPr>
          <p:cNvSpPr/>
          <p:nvPr/>
        </p:nvSpPr>
        <p:spPr>
          <a:xfrm rot="10800000">
            <a:off x="2856005" y="4438654"/>
            <a:ext cx="1070280" cy="1064520"/>
          </a:xfrm>
          <a:prstGeom prst="rect">
            <a:avLst/>
          </a:prstGeom>
          <a:solidFill>
            <a:schemeClr val="accent1">
              <a:lumMod val="20000"/>
              <a:lumOff val="80000"/>
            </a:schemeClr>
          </a:solidFill>
          <a:ln w="19080">
            <a:round/>
          </a:ln>
        </p:spPr>
        <p:style>
          <a:lnRef idx="2">
            <a:schemeClr val="accent1">
              <a:shade val="50000"/>
            </a:schemeClr>
          </a:lnRef>
          <a:fillRef idx="1">
            <a:schemeClr val="accent1"/>
          </a:fillRef>
          <a:effectRef idx="0">
            <a:schemeClr val="accent1"/>
          </a:effectRef>
          <a:fontRef idx="minor"/>
        </p:style>
        <p:txBody>
          <a:bodyPr rot="5400000" vert="vert" lIns="90000" tIns="45000" rIns="90000" bIns="45000" anchor="ctr"/>
          <a:lstStyle/>
          <a:p>
            <a:pPr algn="ctr">
              <a:lnSpc>
                <a:spcPct val="100000"/>
              </a:lnSpc>
            </a:pPr>
            <a:r>
              <a:rPr lang="en-US" sz="1800" b="1" strike="noStrike" spc="-1" dirty="0">
                <a:solidFill>
                  <a:srgbClr val="C00000"/>
                </a:solidFill>
                <a:latin typeface="Times New Roman"/>
                <a:ea typeface="ＭＳ Ｐゴシック"/>
              </a:rPr>
              <a:t>Memory Stage/</a:t>
            </a:r>
          </a:p>
          <a:p>
            <a:pPr algn="ctr">
              <a:lnSpc>
                <a:spcPct val="100000"/>
              </a:lnSpc>
            </a:pPr>
            <a:r>
              <a:rPr lang="en-US" sz="1800" b="1" strike="noStrike" spc="-1" dirty="0">
                <a:solidFill>
                  <a:srgbClr val="C00000"/>
                </a:solidFill>
                <a:latin typeface="Times New Roman"/>
                <a:ea typeface="ＭＳ Ｐゴシック"/>
              </a:rPr>
              <a:t>ALU</a:t>
            </a:r>
            <a:endParaRPr lang="en-US" sz="1800" b="0" strike="noStrike" spc="-1" dirty="0">
              <a:latin typeface="Arial"/>
            </a:endParaRPr>
          </a:p>
        </p:txBody>
      </p:sp>
      <p:sp>
        <p:nvSpPr>
          <p:cNvPr id="8" name="CustomShape 4">
            <a:extLst>
              <a:ext uri="{FF2B5EF4-FFF2-40B4-BE49-F238E27FC236}">
                <a16:creationId xmlns:a16="http://schemas.microsoft.com/office/drawing/2014/main" id="{86BBCF0F-5C0E-BC42-A97F-256FD0AB83C5}"/>
              </a:ext>
            </a:extLst>
          </p:cNvPr>
          <p:cNvSpPr/>
          <p:nvPr/>
        </p:nvSpPr>
        <p:spPr>
          <a:xfrm>
            <a:off x="4017185" y="4781364"/>
            <a:ext cx="1931400" cy="503640"/>
          </a:xfrm>
          <a:prstGeom prst="rightArrow">
            <a:avLst>
              <a:gd name="adj1" fmla="val 50000"/>
              <a:gd name="adj2" fmla="val 50000"/>
            </a:avLst>
          </a:prstGeom>
          <a:solidFill>
            <a:schemeClr val="accent2">
              <a:lumMod val="20000"/>
              <a:lumOff val="80000"/>
            </a:schemeClr>
          </a:solidFill>
          <a:ln w="1260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800" b="0" strike="noStrike" spc="-1">
                <a:solidFill>
                  <a:srgbClr val="000000"/>
                </a:solidFill>
                <a:latin typeface="Times New Roman"/>
                <a:ea typeface="ＭＳ Ｐゴシック"/>
              </a:rPr>
              <a:t>Result</a:t>
            </a:r>
            <a:endParaRPr lang="en-US" sz="1800" b="0" strike="noStrike" spc="-1">
              <a:latin typeface="Arial"/>
            </a:endParaRPr>
          </a:p>
        </p:txBody>
      </p:sp>
      <p:sp>
        <p:nvSpPr>
          <p:cNvPr id="9" name="CustomShape 5">
            <a:extLst>
              <a:ext uri="{FF2B5EF4-FFF2-40B4-BE49-F238E27FC236}">
                <a16:creationId xmlns:a16="http://schemas.microsoft.com/office/drawing/2014/main" id="{80B03734-CD8D-A4AE-BB1C-BA8875763C22}"/>
              </a:ext>
            </a:extLst>
          </p:cNvPr>
          <p:cNvSpPr/>
          <p:nvPr/>
        </p:nvSpPr>
        <p:spPr>
          <a:xfrm>
            <a:off x="6640145" y="3710364"/>
            <a:ext cx="2073600" cy="149292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10" name="CustomShape 6">
            <a:extLst>
              <a:ext uri="{FF2B5EF4-FFF2-40B4-BE49-F238E27FC236}">
                <a16:creationId xmlns:a16="http://schemas.microsoft.com/office/drawing/2014/main" id="{673D9459-4BF2-96B9-DF8D-2D472A3E92B4}"/>
              </a:ext>
            </a:extLst>
          </p:cNvPr>
          <p:cNvSpPr/>
          <p:nvPr/>
        </p:nvSpPr>
        <p:spPr>
          <a:xfrm>
            <a:off x="6684425" y="3765444"/>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1</a:t>
            </a:r>
            <a:endParaRPr lang="en-US" sz="1000" b="0" strike="noStrike" spc="-1">
              <a:latin typeface="Arial"/>
            </a:endParaRPr>
          </a:p>
        </p:txBody>
      </p:sp>
      <p:sp>
        <p:nvSpPr>
          <p:cNvPr id="11" name="CustomShape 7">
            <a:extLst>
              <a:ext uri="{FF2B5EF4-FFF2-40B4-BE49-F238E27FC236}">
                <a16:creationId xmlns:a16="http://schemas.microsoft.com/office/drawing/2014/main" id="{298E4C5B-E992-63C1-CE87-84889FC7DDF1}"/>
              </a:ext>
            </a:extLst>
          </p:cNvPr>
          <p:cNvSpPr/>
          <p:nvPr/>
        </p:nvSpPr>
        <p:spPr>
          <a:xfrm>
            <a:off x="6684425" y="4134084"/>
            <a:ext cx="8776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 2</a:t>
            </a:r>
            <a:endParaRPr lang="en-US" sz="1000" b="0" strike="noStrike" spc="-1">
              <a:latin typeface="Arial"/>
            </a:endParaRPr>
          </a:p>
        </p:txBody>
      </p:sp>
      <p:sp>
        <p:nvSpPr>
          <p:cNvPr id="12" name="CustomShape 8">
            <a:extLst>
              <a:ext uri="{FF2B5EF4-FFF2-40B4-BE49-F238E27FC236}">
                <a16:creationId xmlns:a16="http://schemas.microsoft.com/office/drawing/2014/main" id="{E9F51CB0-93E8-443D-2CD6-8BB634BA5432}"/>
              </a:ext>
            </a:extLst>
          </p:cNvPr>
          <p:cNvSpPr/>
          <p:nvPr/>
        </p:nvSpPr>
        <p:spPr>
          <a:xfrm>
            <a:off x="6677225" y="4482204"/>
            <a:ext cx="7448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register</a:t>
            </a:r>
            <a:endParaRPr lang="en-US" sz="1000" b="0" strike="noStrike" spc="-1">
              <a:latin typeface="Arial"/>
            </a:endParaRPr>
          </a:p>
        </p:txBody>
      </p:sp>
      <p:sp>
        <p:nvSpPr>
          <p:cNvPr id="13" name="CustomShape 9">
            <a:extLst>
              <a:ext uri="{FF2B5EF4-FFF2-40B4-BE49-F238E27FC236}">
                <a16:creationId xmlns:a16="http://schemas.microsoft.com/office/drawing/2014/main" id="{F1C1D628-9FBA-2870-AB56-A100DAD08BB9}"/>
              </a:ext>
            </a:extLst>
          </p:cNvPr>
          <p:cNvSpPr/>
          <p:nvPr/>
        </p:nvSpPr>
        <p:spPr>
          <a:xfrm>
            <a:off x="8048105" y="3812604"/>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1</a:t>
            </a:r>
            <a:endParaRPr lang="en-US" sz="1000" b="0" strike="noStrike" spc="-1">
              <a:latin typeface="Arial"/>
            </a:endParaRPr>
          </a:p>
        </p:txBody>
      </p:sp>
      <p:sp>
        <p:nvSpPr>
          <p:cNvPr id="14" name="CustomShape 10">
            <a:extLst>
              <a:ext uri="{FF2B5EF4-FFF2-40B4-BE49-F238E27FC236}">
                <a16:creationId xmlns:a16="http://schemas.microsoft.com/office/drawing/2014/main" id="{CC16FC39-916E-A39E-177A-145018B48912}"/>
              </a:ext>
            </a:extLst>
          </p:cNvPr>
          <p:cNvSpPr/>
          <p:nvPr/>
        </p:nvSpPr>
        <p:spPr>
          <a:xfrm>
            <a:off x="8048105" y="4671204"/>
            <a:ext cx="6354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Read</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data 2</a:t>
            </a:r>
            <a:endParaRPr lang="en-US" sz="1000" b="0" strike="noStrike" spc="-1">
              <a:latin typeface="Arial"/>
            </a:endParaRPr>
          </a:p>
        </p:txBody>
      </p:sp>
      <p:sp>
        <p:nvSpPr>
          <p:cNvPr id="15" name="Line 11">
            <a:extLst>
              <a:ext uri="{FF2B5EF4-FFF2-40B4-BE49-F238E27FC236}">
                <a16:creationId xmlns:a16="http://schemas.microsoft.com/office/drawing/2014/main" id="{A6A117D4-3967-EA57-CB22-297F165BF7AE}"/>
              </a:ext>
            </a:extLst>
          </p:cNvPr>
          <p:cNvSpPr/>
          <p:nvPr/>
        </p:nvSpPr>
        <p:spPr>
          <a:xfrm>
            <a:off x="6088625" y="3972444"/>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6" name="Line 12">
            <a:extLst>
              <a:ext uri="{FF2B5EF4-FFF2-40B4-BE49-F238E27FC236}">
                <a16:creationId xmlns:a16="http://schemas.microsoft.com/office/drawing/2014/main" id="{626C5B31-621F-4936-B83A-F9CB10ACF4E5}"/>
              </a:ext>
            </a:extLst>
          </p:cNvPr>
          <p:cNvSpPr/>
          <p:nvPr/>
        </p:nvSpPr>
        <p:spPr>
          <a:xfrm>
            <a:off x="6088625" y="4290324"/>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7" name="Line 13">
            <a:extLst>
              <a:ext uri="{FF2B5EF4-FFF2-40B4-BE49-F238E27FC236}">
                <a16:creationId xmlns:a16="http://schemas.microsoft.com/office/drawing/2014/main" id="{9E0EB1F6-BA73-A529-3DE4-77D63E964306}"/>
              </a:ext>
            </a:extLst>
          </p:cNvPr>
          <p:cNvSpPr/>
          <p:nvPr/>
        </p:nvSpPr>
        <p:spPr>
          <a:xfrm>
            <a:off x="6088625" y="4648524"/>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nvGrpSpPr>
          <p:cNvPr id="18" name="Group 14">
            <a:extLst>
              <a:ext uri="{FF2B5EF4-FFF2-40B4-BE49-F238E27FC236}">
                <a16:creationId xmlns:a16="http://schemas.microsoft.com/office/drawing/2014/main" id="{9AAEF1F5-109C-EFAE-1F58-B83A47505CE0}"/>
              </a:ext>
            </a:extLst>
          </p:cNvPr>
          <p:cNvGrpSpPr/>
          <p:nvPr/>
        </p:nvGrpSpPr>
        <p:grpSpPr>
          <a:xfrm>
            <a:off x="8713745" y="3979284"/>
            <a:ext cx="343080" cy="874440"/>
            <a:chOff x="6040440" y="1465920"/>
            <a:chExt cx="343080" cy="874440"/>
          </a:xfrm>
        </p:grpSpPr>
        <p:sp>
          <p:nvSpPr>
            <p:cNvPr id="19" name="Line 15">
              <a:extLst>
                <a:ext uri="{FF2B5EF4-FFF2-40B4-BE49-F238E27FC236}">
                  <a16:creationId xmlns:a16="http://schemas.microsoft.com/office/drawing/2014/main" id="{0D201168-34D1-0362-A570-35690D27D487}"/>
                </a:ext>
              </a:extLst>
            </p:cNvPr>
            <p:cNvSpPr/>
            <p:nvPr/>
          </p:nvSpPr>
          <p:spPr>
            <a:xfrm>
              <a:off x="6040440" y="1465920"/>
              <a:ext cx="343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0" name="Line 16">
              <a:extLst>
                <a:ext uri="{FF2B5EF4-FFF2-40B4-BE49-F238E27FC236}">
                  <a16:creationId xmlns:a16="http://schemas.microsoft.com/office/drawing/2014/main" id="{FBF8AA67-EBC5-B3B3-FD2E-E080B6E13A13}"/>
                </a:ext>
              </a:extLst>
            </p:cNvPr>
            <p:cNvSpPr/>
            <p:nvPr/>
          </p:nvSpPr>
          <p:spPr>
            <a:xfrm>
              <a:off x="6040440" y="2340000"/>
              <a:ext cx="343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sp>
        <p:nvSpPr>
          <p:cNvPr id="21" name="CustomShape 17">
            <a:extLst>
              <a:ext uri="{FF2B5EF4-FFF2-40B4-BE49-F238E27FC236}">
                <a16:creationId xmlns:a16="http://schemas.microsoft.com/office/drawing/2014/main" id="{54362167-D94A-AD39-7731-8FDFDA400179}"/>
              </a:ext>
            </a:extLst>
          </p:cNvPr>
          <p:cNvSpPr/>
          <p:nvPr/>
        </p:nvSpPr>
        <p:spPr>
          <a:xfrm>
            <a:off x="7410905" y="4421724"/>
            <a:ext cx="99792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Registers</a:t>
            </a:r>
            <a:endParaRPr lang="en-US" sz="1200" b="0" strike="noStrike" spc="-1">
              <a:latin typeface="Arial"/>
            </a:endParaRPr>
          </a:p>
        </p:txBody>
      </p:sp>
      <p:sp>
        <p:nvSpPr>
          <p:cNvPr id="22" name="Line 18">
            <a:extLst>
              <a:ext uri="{FF2B5EF4-FFF2-40B4-BE49-F238E27FC236}">
                <a16:creationId xmlns:a16="http://schemas.microsoft.com/office/drawing/2014/main" id="{8F581F0D-759E-1C3F-9454-29D52D61419F}"/>
              </a:ext>
            </a:extLst>
          </p:cNvPr>
          <p:cNvSpPr/>
          <p:nvPr/>
        </p:nvSpPr>
        <p:spPr>
          <a:xfrm flipH="1">
            <a:off x="6216425" y="3901884"/>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3" name="Line 19">
            <a:extLst>
              <a:ext uri="{FF2B5EF4-FFF2-40B4-BE49-F238E27FC236}">
                <a16:creationId xmlns:a16="http://schemas.microsoft.com/office/drawing/2014/main" id="{86F61E86-7FF7-E095-A7B9-A93F3EA157A6}"/>
              </a:ext>
            </a:extLst>
          </p:cNvPr>
          <p:cNvSpPr/>
          <p:nvPr/>
        </p:nvSpPr>
        <p:spPr>
          <a:xfrm flipH="1">
            <a:off x="6216425" y="4219404"/>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4" name="Line 20">
            <a:extLst>
              <a:ext uri="{FF2B5EF4-FFF2-40B4-BE49-F238E27FC236}">
                <a16:creationId xmlns:a16="http://schemas.microsoft.com/office/drawing/2014/main" id="{408F50B3-5322-6BF7-5103-30C64DC2DD2A}"/>
              </a:ext>
            </a:extLst>
          </p:cNvPr>
          <p:cNvSpPr/>
          <p:nvPr/>
        </p:nvSpPr>
        <p:spPr>
          <a:xfrm flipH="1">
            <a:off x="6216425" y="4577604"/>
            <a:ext cx="12780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5" name="CustomShape 21">
            <a:extLst>
              <a:ext uri="{FF2B5EF4-FFF2-40B4-BE49-F238E27FC236}">
                <a16:creationId xmlns:a16="http://schemas.microsoft.com/office/drawing/2014/main" id="{73D430C1-C1DE-C5E4-C756-6C288399FFCB}"/>
              </a:ext>
            </a:extLst>
          </p:cNvPr>
          <p:cNvSpPr/>
          <p:nvPr/>
        </p:nvSpPr>
        <p:spPr>
          <a:xfrm>
            <a:off x="6113825" y="3773004"/>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6" name="CustomShape 22">
            <a:extLst>
              <a:ext uri="{FF2B5EF4-FFF2-40B4-BE49-F238E27FC236}">
                <a16:creationId xmlns:a16="http://schemas.microsoft.com/office/drawing/2014/main" id="{6B7F0037-B063-0567-678A-98E59A490284}"/>
              </a:ext>
            </a:extLst>
          </p:cNvPr>
          <p:cNvSpPr/>
          <p:nvPr/>
        </p:nvSpPr>
        <p:spPr>
          <a:xfrm>
            <a:off x="6080705" y="4104204"/>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7" name="CustomShape 23">
            <a:extLst>
              <a:ext uri="{FF2B5EF4-FFF2-40B4-BE49-F238E27FC236}">
                <a16:creationId xmlns:a16="http://schemas.microsoft.com/office/drawing/2014/main" id="{5197B193-00FE-3167-5C50-592A97D68F22}"/>
              </a:ext>
            </a:extLst>
          </p:cNvPr>
          <p:cNvSpPr/>
          <p:nvPr/>
        </p:nvSpPr>
        <p:spPr>
          <a:xfrm>
            <a:off x="6080705" y="4482204"/>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28" name="CustomShape 24">
            <a:extLst>
              <a:ext uri="{FF2B5EF4-FFF2-40B4-BE49-F238E27FC236}">
                <a16:creationId xmlns:a16="http://schemas.microsoft.com/office/drawing/2014/main" id="{0DD95F97-316D-885B-1B97-C824E248A9F9}"/>
              </a:ext>
            </a:extLst>
          </p:cNvPr>
          <p:cNvSpPr/>
          <p:nvPr/>
        </p:nvSpPr>
        <p:spPr>
          <a:xfrm>
            <a:off x="6668585" y="4842924"/>
            <a:ext cx="56988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dirty="0">
                <a:solidFill>
                  <a:srgbClr val="000000"/>
                </a:solidFill>
                <a:latin typeface="Verdana"/>
                <a:ea typeface="ＭＳ Ｐゴシック"/>
              </a:rPr>
              <a:t>Write</a:t>
            </a:r>
            <a:endParaRPr lang="en-US" sz="1000" b="0" strike="noStrike" spc="-1" dirty="0">
              <a:latin typeface="Arial"/>
            </a:endParaRPr>
          </a:p>
          <a:p>
            <a:pPr>
              <a:lnSpc>
                <a:spcPct val="100000"/>
              </a:lnSpc>
            </a:pPr>
            <a:r>
              <a:rPr lang="en-US" sz="1000" b="1" strike="noStrike" spc="-1" dirty="0">
                <a:solidFill>
                  <a:srgbClr val="000000"/>
                </a:solidFill>
                <a:latin typeface="Verdana"/>
                <a:ea typeface="ＭＳ Ｐゴシック"/>
              </a:rPr>
              <a:t>data</a:t>
            </a:r>
            <a:endParaRPr lang="en-US" sz="1000" b="0" strike="noStrike" spc="-1" dirty="0">
              <a:latin typeface="Arial"/>
            </a:endParaRPr>
          </a:p>
        </p:txBody>
      </p:sp>
      <p:sp>
        <p:nvSpPr>
          <p:cNvPr id="29" name="Line 25">
            <a:extLst>
              <a:ext uri="{FF2B5EF4-FFF2-40B4-BE49-F238E27FC236}">
                <a16:creationId xmlns:a16="http://schemas.microsoft.com/office/drawing/2014/main" id="{AEEE8D16-6DB3-4A54-077F-2D57708540E8}"/>
              </a:ext>
            </a:extLst>
          </p:cNvPr>
          <p:cNvSpPr/>
          <p:nvPr/>
        </p:nvSpPr>
        <p:spPr>
          <a:xfrm>
            <a:off x="6032825" y="5033004"/>
            <a:ext cx="5515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Tree>
    <p:extLst>
      <p:ext uri="{BB962C8B-B14F-4D97-AF65-F5344CB8AC3E}">
        <p14:creationId xmlns:p14="http://schemas.microsoft.com/office/powerpoint/2010/main" val="19817847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B837-36B6-E186-44DB-23E21FE87830}"/>
              </a:ext>
            </a:extLst>
          </p:cNvPr>
          <p:cNvSpPr>
            <a:spLocks noGrp="1"/>
          </p:cNvSpPr>
          <p:nvPr>
            <p:ph type="title"/>
          </p:nvPr>
        </p:nvSpPr>
        <p:spPr/>
        <p:txBody>
          <a:bodyPr/>
          <a:lstStyle/>
          <a:p>
            <a:r>
              <a:rPr lang="vi-VN" sz="4000"/>
              <a:t>Giai đoạn lưu trữ kết quả (Result Write)</a:t>
            </a:r>
            <a:endParaRPr lang="en-US"/>
          </a:p>
        </p:txBody>
      </p:sp>
      <p:sp>
        <p:nvSpPr>
          <p:cNvPr id="4" name="Footer Placeholder 3">
            <a:extLst>
              <a:ext uri="{FF2B5EF4-FFF2-40B4-BE49-F238E27FC236}">
                <a16:creationId xmlns:a16="http://schemas.microsoft.com/office/drawing/2014/main" id="{A6968558-B237-1099-B1D5-7F7C18B534C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3154C20-D789-0928-41F7-A66DAC47ED84}"/>
              </a:ext>
            </a:extLst>
          </p:cNvPr>
          <p:cNvSpPr>
            <a:spLocks noGrp="1"/>
          </p:cNvSpPr>
          <p:nvPr>
            <p:ph type="sldNum" sz="quarter" idx="12"/>
          </p:nvPr>
        </p:nvSpPr>
        <p:spPr/>
        <p:txBody>
          <a:bodyPr/>
          <a:lstStyle/>
          <a:p>
            <a:fld id="{D8B0B3AC-44A8-D142-AAF6-9A453466E1A4}" type="slidenum">
              <a:rPr lang="en-VN" smtClean="0"/>
              <a:pPr/>
              <a:t>57</a:t>
            </a:fld>
            <a:endParaRPr lang="en-VN" dirty="0"/>
          </a:p>
        </p:txBody>
      </p:sp>
      <p:sp>
        <p:nvSpPr>
          <p:cNvPr id="6" name="Date Placeholder 5">
            <a:extLst>
              <a:ext uri="{FF2B5EF4-FFF2-40B4-BE49-F238E27FC236}">
                <a16:creationId xmlns:a16="http://schemas.microsoft.com/office/drawing/2014/main" id="{141E8A66-41C9-9CC1-2355-356C3F4EE6D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sp>
        <p:nvSpPr>
          <p:cNvPr id="3" name="CustomShape 1">
            <a:extLst>
              <a:ext uri="{FF2B5EF4-FFF2-40B4-BE49-F238E27FC236}">
                <a16:creationId xmlns:a16="http://schemas.microsoft.com/office/drawing/2014/main" id="{2D59EB0C-0D49-87BF-A13A-747DF37EA6C6}"/>
              </a:ext>
            </a:extLst>
          </p:cNvPr>
          <p:cNvSpPr/>
          <p:nvPr/>
        </p:nvSpPr>
        <p:spPr>
          <a:xfrm>
            <a:off x="5702867" y="5058829"/>
            <a:ext cx="3039780" cy="850320"/>
          </a:xfrm>
          <a:prstGeom prst="roundRect">
            <a:avLst>
              <a:gd name="adj" fmla="val 16667"/>
            </a:avLst>
          </a:prstGeom>
          <a:solidFill>
            <a:schemeClr val="bg1"/>
          </a:solidFill>
          <a:ln w="15840">
            <a:solidFill>
              <a:schemeClr val="tx1"/>
            </a:solidFill>
            <a:custDash>
              <a:ds d="400000" sp="300000"/>
            </a:custDash>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660066"/>
                </a:solidFill>
                <a:latin typeface="Courier New"/>
                <a:ea typeface="ＭＳ Ｐゴシック"/>
              </a:rPr>
              <a:t>MemToReg</a:t>
            </a:r>
            <a:r>
              <a:rPr lang="en-US" sz="1600" b="1" strike="noStrike" spc="-1">
                <a:solidFill>
                  <a:srgbClr val="000000"/>
                </a:solidFill>
                <a:latin typeface="Times New Roman"/>
                <a:ea typeface="ＭＳ Ｐゴシック"/>
              </a:rPr>
              <a:t>:</a:t>
            </a:r>
            <a:endParaRPr lang="en-US" sz="1600" b="0" strike="noStrike" spc="-1">
              <a:latin typeface="Arial"/>
            </a:endParaRPr>
          </a:p>
          <a:p>
            <a:pPr algn="ctr">
              <a:lnSpc>
                <a:spcPct val="100000"/>
              </a:lnSpc>
            </a:pPr>
            <a:r>
              <a:rPr lang="en-US" sz="1400" b="0" strike="noStrike" spc="-1">
                <a:solidFill>
                  <a:srgbClr val="000000"/>
                </a:solidFill>
                <a:latin typeface="Times New Roman"/>
                <a:ea typeface="ＭＳ Ｐゴシック"/>
              </a:rPr>
              <a:t>Tín hiệu điều khiển giúp lựa chọn giá trị lưu vào thanh ghi là từ Read Data hay từ ALU result</a:t>
            </a:r>
            <a:endParaRPr lang="en-US" sz="1400" b="0" strike="noStrike" spc="-1">
              <a:latin typeface="Arial"/>
            </a:endParaRPr>
          </a:p>
        </p:txBody>
      </p:sp>
      <p:sp>
        <p:nvSpPr>
          <p:cNvPr id="7" name="Line 2">
            <a:extLst>
              <a:ext uri="{FF2B5EF4-FFF2-40B4-BE49-F238E27FC236}">
                <a16:creationId xmlns:a16="http://schemas.microsoft.com/office/drawing/2014/main" id="{1C47B55F-2A44-114F-5F26-DF826DC26C0E}"/>
              </a:ext>
            </a:extLst>
          </p:cNvPr>
          <p:cNvSpPr/>
          <p:nvPr/>
        </p:nvSpPr>
        <p:spPr>
          <a:xfrm>
            <a:off x="10749647" y="4612069"/>
            <a:ext cx="252000" cy="360"/>
          </a:xfrm>
          <a:prstGeom prst="line">
            <a:avLst/>
          </a:prstGeom>
          <a:ln w="22320">
            <a:solidFill>
              <a:srgbClr val="C00000"/>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8" name="Line 5">
            <a:extLst>
              <a:ext uri="{FF2B5EF4-FFF2-40B4-BE49-F238E27FC236}">
                <a16:creationId xmlns:a16="http://schemas.microsoft.com/office/drawing/2014/main" id="{875D2972-FE1E-DAEB-2840-AC8E670F1AF8}"/>
              </a:ext>
            </a:extLst>
          </p:cNvPr>
          <p:cNvSpPr/>
          <p:nvPr/>
        </p:nvSpPr>
        <p:spPr>
          <a:xfrm>
            <a:off x="5877407" y="2973709"/>
            <a:ext cx="151200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9" name="Line 6">
            <a:extLst>
              <a:ext uri="{FF2B5EF4-FFF2-40B4-BE49-F238E27FC236}">
                <a16:creationId xmlns:a16="http://schemas.microsoft.com/office/drawing/2014/main" id="{7A4CAAFB-5E6C-3595-0AA3-65182CA10D38}"/>
              </a:ext>
            </a:extLst>
          </p:cNvPr>
          <p:cNvSpPr/>
          <p:nvPr/>
        </p:nvSpPr>
        <p:spPr>
          <a:xfrm>
            <a:off x="5961647" y="3793069"/>
            <a:ext cx="1024920" cy="900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0" name="Line 7">
            <a:extLst>
              <a:ext uri="{FF2B5EF4-FFF2-40B4-BE49-F238E27FC236}">
                <a16:creationId xmlns:a16="http://schemas.microsoft.com/office/drawing/2014/main" id="{0BB63FC1-33EA-48AF-A74C-3838D1426184}"/>
              </a:ext>
            </a:extLst>
          </p:cNvPr>
          <p:cNvSpPr/>
          <p:nvPr/>
        </p:nvSpPr>
        <p:spPr>
          <a:xfrm>
            <a:off x="2646407" y="2863549"/>
            <a:ext cx="1433880" cy="47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1" name="Line 8">
            <a:extLst>
              <a:ext uri="{FF2B5EF4-FFF2-40B4-BE49-F238E27FC236}">
                <a16:creationId xmlns:a16="http://schemas.microsoft.com/office/drawing/2014/main" id="{16D3E19B-D5E7-BA01-9396-E3E29C1BDD84}"/>
              </a:ext>
            </a:extLst>
          </p:cNvPr>
          <p:cNvSpPr/>
          <p:nvPr/>
        </p:nvSpPr>
        <p:spPr>
          <a:xfrm flipV="1">
            <a:off x="2646407" y="3225709"/>
            <a:ext cx="1433880" cy="173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2" name="Line 9">
            <a:extLst>
              <a:ext uri="{FF2B5EF4-FFF2-40B4-BE49-F238E27FC236}">
                <a16:creationId xmlns:a16="http://schemas.microsoft.com/office/drawing/2014/main" id="{4D6FDEF4-84F6-A1AA-C26B-412E011B2B97}"/>
              </a:ext>
            </a:extLst>
          </p:cNvPr>
          <p:cNvSpPr/>
          <p:nvPr/>
        </p:nvSpPr>
        <p:spPr>
          <a:xfrm>
            <a:off x="2685647" y="4107709"/>
            <a:ext cx="1008000" cy="36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3" name="CustomShape 10">
            <a:extLst>
              <a:ext uri="{FF2B5EF4-FFF2-40B4-BE49-F238E27FC236}">
                <a16:creationId xmlns:a16="http://schemas.microsoft.com/office/drawing/2014/main" id="{E506AF7C-9936-D12F-5594-D3E63ADAD1A7}"/>
              </a:ext>
            </a:extLst>
          </p:cNvPr>
          <p:cNvSpPr/>
          <p:nvPr/>
        </p:nvSpPr>
        <p:spPr>
          <a:xfrm>
            <a:off x="2720567" y="2658709"/>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14" name="CustomShape 11">
            <a:extLst>
              <a:ext uri="{FF2B5EF4-FFF2-40B4-BE49-F238E27FC236}">
                <a16:creationId xmlns:a16="http://schemas.microsoft.com/office/drawing/2014/main" id="{C8F5CFF1-5B2D-B260-F59E-7ACCE68CC349}"/>
              </a:ext>
            </a:extLst>
          </p:cNvPr>
          <p:cNvSpPr/>
          <p:nvPr/>
        </p:nvSpPr>
        <p:spPr>
          <a:xfrm rot="21202800">
            <a:off x="2693567" y="3123109"/>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15" name="CustomShape 12">
            <a:extLst>
              <a:ext uri="{FF2B5EF4-FFF2-40B4-BE49-F238E27FC236}">
                <a16:creationId xmlns:a16="http://schemas.microsoft.com/office/drawing/2014/main" id="{434F57FF-1641-6B93-2E6B-25013EDCD4C0}"/>
              </a:ext>
            </a:extLst>
          </p:cNvPr>
          <p:cNvSpPr/>
          <p:nvPr/>
        </p:nvSpPr>
        <p:spPr>
          <a:xfrm>
            <a:off x="2686727" y="4108069"/>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16" name="CustomShape 13">
            <a:extLst>
              <a:ext uri="{FF2B5EF4-FFF2-40B4-BE49-F238E27FC236}">
                <a16:creationId xmlns:a16="http://schemas.microsoft.com/office/drawing/2014/main" id="{C0E591F0-8A51-DF38-3B16-D4FB5A0EDA38}"/>
              </a:ext>
            </a:extLst>
          </p:cNvPr>
          <p:cNvSpPr/>
          <p:nvPr/>
        </p:nvSpPr>
        <p:spPr>
          <a:xfrm>
            <a:off x="3738287" y="3541069"/>
            <a:ext cx="290880" cy="755640"/>
          </a:xfrm>
          <a:prstGeom prst="roundRect">
            <a:avLst>
              <a:gd name="adj" fmla="val 16667"/>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17" name="CustomShape 14">
            <a:extLst>
              <a:ext uri="{FF2B5EF4-FFF2-40B4-BE49-F238E27FC236}">
                <a16:creationId xmlns:a16="http://schemas.microsoft.com/office/drawing/2014/main" id="{79B02707-01A1-ECED-AF74-2C75966D36A1}"/>
              </a:ext>
            </a:extLst>
          </p:cNvPr>
          <p:cNvSpPr/>
          <p:nvPr/>
        </p:nvSpPr>
        <p:spPr>
          <a:xfrm rot="16200000" flipH="1">
            <a:off x="3183527" y="3363949"/>
            <a:ext cx="594720" cy="514440"/>
          </a:xfrm>
          <a:prstGeom prst="bentConnector2">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8" name="Line 15">
            <a:extLst>
              <a:ext uri="{FF2B5EF4-FFF2-40B4-BE49-F238E27FC236}">
                <a16:creationId xmlns:a16="http://schemas.microsoft.com/office/drawing/2014/main" id="{78A9222F-6E3C-D374-099E-2420FEB28474}"/>
              </a:ext>
            </a:extLst>
          </p:cNvPr>
          <p:cNvSpPr/>
          <p:nvPr/>
        </p:nvSpPr>
        <p:spPr>
          <a:xfrm flipV="1">
            <a:off x="4029167" y="3603709"/>
            <a:ext cx="123480" cy="31500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9" name="CustomShape 16">
            <a:extLst>
              <a:ext uri="{FF2B5EF4-FFF2-40B4-BE49-F238E27FC236}">
                <a16:creationId xmlns:a16="http://schemas.microsoft.com/office/drawing/2014/main" id="{93D310F1-CBA3-8187-619F-A9838BAB716C}"/>
              </a:ext>
            </a:extLst>
          </p:cNvPr>
          <p:cNvSpPr/>
          <p:nvPr/>
        </p:nvSpPr>
        <p:spPr>
          <a:xfrm>
            <a:off x="3465407" y="4486069"/>
            <a:ext cx="912600" cy="33300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b="1" strike="noStrike" spc="-1">
                <a:solidFill>
                  <a:srgbClr val="660066"/>
                </a:solidFill>
                <a:latin typeface="Courier New"/>
                <a:ea typeface="ＭＳ Ｐゴシック"/>
              </a:rPr>
              <a:t>RegDst</a:t>
            </a:r>
            <a:endParaRPr lang="en-US" sz="1600" b="0" strike="noStrike" spc="-1">
              <a:latin typeface="Arial"/>
            </a:endParaRPr>
          </a:p>
        </p:txBody>
      </p:sp>
      <p:sp>
        <p:nvSpPr>
          <p:cNvPr id="20" name="Line 17">
            <a:extLst>
              <a:ext uri="{FF2B5EF4-FFF2-40B4-BE49-F238E27FC236}">
                <a16:creationId xmlns:a16="http://schemas.microsoft.com/office/drawing/2014/main" id="{A346C3CE-4F8F-C2E5-48B8-839A1AA9F52B}"/>
              </a:ext>
            </a:extLst>
          </p:cNvPr>
          <p:cNvSpPr/>
          <p:nvPr/>
        </p:nvSpPr>
        <p:spPr>
          <a:xfrm>
            <a:off x="3883727" y="4296709"/>
            <a:ext cx="360" cy="22176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21" name="CustomShape 18">
            <a:extLst>
              <a:ext uri="{FF2B5EF4-FFF2-40B4-BE49-F238E27FC236}">
                <a16:creationId xmlns:a16="http://schemas.microsoft.com/office/drawing/2014/main" id="{F6FBADA8-8D44-360B-6086-FF32811E7CBF}"/>
              </a:ext>
            </a:extLst>
          </p:cNvPr>
          <p:cNvSpPr/>
          <p:nvPr/>
        </p:nvSpPr>
        <p:spPr>
          <a:xfrm flipV="1">
            <a:off x="5856167" y="4044709"/>
            <a:ext cx="868320" cy="850320"/>
          </a:xfrm>
          <a:prstGeom prst="bentConnector3">
            <a:avLst>
              <a:gd name="adj1" fmla="val 50000"/>
            </a:avLst>
          </a:prstGeom>
          <a:noFill/>
          <a:ln w="1260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2" name="CustomShape 19">
            <a:extLst>
              <a:ext uri="{FF2B5EF4-FFF2-40B4-BE49-F238E27FC236}">
                <a16:creationId xmlns:a16="http://schemas.microsoft.com/office/drawing/2014/main" id="{71324E89-7189-AE90-BDED-D1A4578EE8B7}"/>
              </a:ext>
            </a:extLst>
          </p:cNvPr>
          <p:cNvSpPr/>
          <p:nvPr/>
        </p:nvSpPr>
        <p:spPr>
          <a:xfrm>
            <a:off x="2674127" y="4737709"/>
            <a:ext cx="9295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[15:0]</a:t>
            </a:r>
            <a:endParaRPr lang="en-US" sz="1000" b="0" strike="noStrike" spc="-1">
              <a:latin typeface="Arial"/>
            </a:endParaRPr>
          </a:p>
        </p:txBody>
      </p:sp>
      <p:sp>
        <p:nvSpPr>
          <p:cNvPr id="23" name="CustomShape 20">
            <a:extLst>
              <a:ext uri="{FF2B5EF4-FFF2-40B4-BE49-F238E27FC236}">
                <a16:creationId xmlns:a16="http://schemas.microsoft.com/office/drawing/2014/main" id="{B5BE1D11-03BB-DBC9-5CEB-41CC054757E1}"/>
              </a:ext>
            </a:extLst>
          </p:cNvPr>
          <p:cNvSpPr/>
          <p:nvPr/>
        </p:nvSpPr>
        <p:spPr>
          <a:xfrm>
            <a:off x="6724847" y="3667069"/>
            <a:ext cx="290880" cy="755640"/>
          </a:xfrm>
          <a:prstGeom prst="roundRect">
            <a:avLst>
              <a:gd name="adj" fmla="val 16667"/>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24" name="Line 21">
            <a:extLst>
              <a:ext uri="{FF2B5EF4-FFF2-40B4-BE49-F238E27FC236}">
                <a16:creationId xmlns:a16="http://schemas.microsoft.com/office/drawing/2014/main" id="{7F23C30A-BDFF-91A7-6724-0AC57F699EDD}"/>
              </a:ext>
            </a:extLst>
          </p:cNvPr>
          <p:cNvSpPr/>
          <p:nvPr/>
        </p:nvSpPr>
        <p:spPr>
          <a:xfrm>
            <a:off x="2646407" y="4926709"/>
            <a:ext cx="2256480" cy="360"/>
          </a:xfrm>
          <a:prstGeom prst="line">
            <a:avLst/>
          </a:prstGeom>
          <a:ln w="1260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5" name="Line 22">
            <a:extLst>
              <a:ext uri="{FF2B5EF4-FFF2-40B4-BE49-F238E27FC236}">
                <a16:creationId xmlns:a16="http://schemas.microsoft.com/office/drawing/2014/main" id="{F25E6730-6FCF-2B51-799C-B8A813786017}"/>
              </a:ext>
            </a:extLst>
          </p:cNvPr>
          <p:cNvSpPr/>
          <p:nvPr/>
        </p:nvSpPr>
        <p:spPr>
          <a:xfrm>
            <a:off x="7015727" y="4045069"/>
            <a:ext cx="37368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nvGrpSpPr>
          <p:cNvPr id="26" name="Group 23">
            <a:extLst>
              <a:ext uri="{FF2B5EF4-FFF2-40B4-BE49-F238E27FC236}">
                <a16:creationId xmlns:a16="http://schemas.microsoft.com/office/drawing/2014/main" id="{271518BF-3F99-3817-E9F4-D1A53285F83A}"/>
              </a:ext>
            </a:extLst>
          </p:cNvPr>
          <p:cNvGrpSpPr/>
          <p:nvPr/>
        </p:nvGrpSpPr>
        <p:grpSpPr>
          <a:xfrm>
            <a:off x="4079927" y="2722069"/>
            <a:ext cx="1926360" cy="1833120"/>
            <a:chOff x="2822040" y="2268000"/>
            <a:chExt cx="1926360" cy="1833120"/>
          </a:xfrm>
        </p:grpSpPr>
        <p:sp>
          <p:nvSpPr>
            <p:cNvPr id="27" name="Line 24">
              <a:extLst>
                <a:ext uri="{FF2B5EF4-FFF2-40B4-BE49-F238E27FC236}">
                  <a16:creationId xmlns:a16="http://schemas.microsoft.com/office/drawing/2014/main" id="{71CB2B1B-F771-D1ED-5D4B-553C580BDA1C}"/>
                </a:ext>
              </a:extLst>
            </p:cNvPr>
            <p:cNvSpPr/>
            <p:nvPr/>
          </p:nvSpPr>
          <p:spPr>
            <a:xfrm>
              <a:off x="2822040" y="2457000"/>
              <a:ext cx="59904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8" name="Line 25">
              <a:extLst>
                <a:ext uri="{FF2B5EF4-FFF2-40B4-BE49-F238E27FC236}">
                  <a16:creationId xmlns:a16="http://schemas.microsoft.com/office/drawing/2014/main" id="{F4327C98-2D61-BD98-1400-EB8322BAF93B}"/>
                </a:ext>
              </a:extLst>
            </p:cNvPr>
            <p:cNvSpPr/>
            <p:nvPr/>
          </p:nvSpPr>
          <p:spPr>
            <a:xfrm>
              <a:off x="2822040" y="2771640"/>
              <a:ext cx="599040" cy="133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9" name="Line 26">
              <a:extLst>
                <a:ext uri="{FF2B5EF4-FFF2-40B4-BE49-F238E27FC236}">
                  <a16:creationId xmlns:a16="http://schemas.microsoft.com/office/drawing/2014/main" id="{ADDCBBCD-25A9-14CE-5C21-48940C9E92F9}"/>
                </a:ext>
              </a:extLst>
            </p:cNvPr>
            <p:cNvSpPr/>
            <p:nvPr/>
          </p:nvSpPr>
          <p:spPr>
            <a:xfrm flipV="1">
              <a:off x="2894760" y="3143160"/>
              <a:ext cx="526320" cy="64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0" name="Line 27">
              <a:extLst>
                <a:ext uri="{FF2B5EF4-FFF2-40B4-BE49-F238E27FC236}">
                  <a16:creationId xmlns:a16="http://schemas.microsoft.com/office/drawing/2014/main" id="{934BFA89-4D3E-3ADF-7D0C-4C9B6A2FAA08}"/>
                </a:ext>
              </a:extLst>
            </p:cNvPr>
            <p:cNvSpPr/>
            <p:nvPr/>
          </p:nvSpPr>
          <p:spPr>
            <a:xfrm>
              <a:off x="2943720" y="3521160"/>
              <a:ext cx="4773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31" name="Line 28">
              <a:extLst>
                <a:ext uri="{FF2B5EF4-FFF2-40B4-BE49-F238E27FC236}">
                  <a16:creationId xmlns:a16="http://schemas.microsoft.com/office/drawing/2014/main" id="{4A87A07A-053D-E3AF-B648-FBED50FFDA3D}"/>
                </a:ext>
              </a:extLst>
            </p:cNvPr>
            <p:cNvSpPr/>
            <p:nvPr/>
          </p:nvSpPr>
          <p:spPr>
            <a:xfrm>
              <a:off x="4021920" y="3591000"/>
              <a:ext cx="360" cy="2217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32" name="CustomShape 29">
              <a:extLst>
                <a:ext uri="{FF2B5EF4-FFF2-40B4-BE49-F238E27FC236}">
                  <a16:creationId xmlns:a16="http://schemas.microsoft.com/office/drawing/2014/main" id="{C1173A68-91A0-2F8F-70E4-553CFAC23F41}"/>
                </a:ext>
              </a:extLst>
            </p:cNvPr>
            <p:cNvSpPr/>
            <p:nvPr/>
          </p:nvSpPr>
          <p:spPr>
            <a:xfrm>
              <a:off x="3409560" y="2268000"/>
              <a:ext cx="1244880" cy="138564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33" name="CustomShape 30">
              <a:extLst>
                <a:ext uri="{FF2B5EF4-FFF2-40B4-BE49-F238E27FC236}">
                  <a16:creationId xmlns:a16="http://schemas.microsoft.com/office/drawing/2014/main" id="{A1C21282-F88D-CAFD-AA5E-7CDB334D3802}"/>
                </a:ext>
              </a:extLst>
            </p:cNvPr>
            <p:cNvSpPr/>
            <p:nvPr/>
          </p:nvSpPr>
          <p:spPr>
            <a:xfrm>
              <a:off x="3340080" y="2379240"/>
              <a:ext cx="4644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RR1</a:t>
              </a:r>
              <a:endParaRPr lang="en-US" sz="1000" b="0" strike="noStrike" spc="-1">
                <a:latin typeface="Arial"/>
              </a:endParaRPr>
            </a:p>
          </p:txBody>
        </p:sp>
        <p:sp>
          <p:nvSpPr>
            <p:cNvPr id="34" name="CustomShape 31">
              <a:extLst>
                <a:ext uri="{FF2B5EF4-FFF2-40B4-BE49-F238E27FC236}">
                  <a16:creationId xmlns:a16="http://schemas.microsoft.com/office/drawing/2014/main" id="{FC3356FF-D6E1-1E68-482D-09C08AB87C24}"/>
                </a:ext>
              </a:extLst>
            </p:cNvPr>
            <p:cNvSpPr/>
            <p:nvPr/>
          </p:nvSpPr>
          <p:spPr>
            <a:xfrm>
              <a:off x="3340080" y="2694600"/>
              <a:ext cx="4644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RR2</a:t>
              </a:r>
              <a:endParaRPr lang="en-US" sz="1000" b="0" strike="noStrike" spc="-1">
                <a:latin typeface="Arial"/>
              </a:endParaRPr>
            </a:p>
          </p:txBody>
        </p:sp>
        <p:sp>
          <p:nvSpPr>
            <p:cNvPr id="35" name="CustomShape 32">
              <a:extLst>
                <a:ext uri="{FF2B5EF4-FFF2-40B4-BE49-F238E27FC236}">
                  <a16:creationId xmlns:a16="http://schemas.microsoft.com/office/drawing/2014/main" id="{275B8EED-D978-34AF-BD54-C5F75F2B831D}"/>
                </a:ext>
              </a:extLst>
            </p:cNvPr>
            <p:cNvSpPr/>
            <p:nvPr/>
          </p:nvSpPr>
          <p:spPr>
            <a:xfrm>
              <a:off x="3342240" y="3024000"/>
              <a:ext cx="41868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a:t>
              </a:r>
              <a:endParaRPr lang="en-US" sz="1000" b="0" strike="noStrike" spc="-1">
                <a:latin typeface="Arial"/>
              </a:endParaRPr>
            </a:p>
          </p:txBody>
        </p:sp>
        <p:sp>
          <p:nvSpPr>
            <p:cNvPr id="36" name="CustomShape 33">
              <a:extLst>
                <a:ext uri="{FF2B5EF4-FFF2-40B4-BE49-F238E27FC236}">
                  <a16:creationId xmlns:a16="http://schemas.microsoft.com/office/drawing/2014/main" id="{3A336AFD-DD7B-0542-5567-0BED2E9FE3F4}"/>
                </a:ext>
              </a:extLst>
            </p:cNvPr>
            <p:cNvSpPr/>
            <p:nvPr/>
          </p:nvSpPr>
          <p:spPr>
            <a:xfrm>
              <a:off x="3340440" y="3450600"/>
              <a:ext cx="4266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WD</a:t>
              </a:r>
              <a:endParaRPr lang="en-US" sz="1000" b="0" strike="noStrike" spc="-1">
                <a:latin typeface="Arial"/>
              </a:endParaRPr>
            </a:p>
          </p:txBody>
        </p:sp>
        <p:sp>
          <p:nvSpPr>
            <p:cNvPr id="37" name="CustomShape 34">
              <a:extLst>
                <a:ext uri="{FF2B5EF4-FFF2-40B4-BE49-F238E27FC236}">
                  <a16:creationId xmlns:a16="http://schemas.microsoft.com/office/drawing/2014/main" id="{F6040380-5736-1014-13B7-21CC6528C631}"/>
                </a:ext>
              </a:extLst>
            </p:cNvPr>
            <p:cNvSpPr/>
            <p:nvPr/>
          </p:nvSpPr>
          <p:spPr>
            <a:xfrm>
              <a:off x="4276080" y="2393640"/>
              <a:ext cx="47232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RD1</a:t>
              </a:r>
              <a:endParaRPr lang="en-US" sz="1000" b="0" strike="noStrike" spc="-1">
                <a:latin typeface="Arial"/>
              </a:endParaRPr>
            </a:p>
          </p:txBody>
        </p:sp>
        <p:sp>
          <p:nvSpPr>
            <p:cNvPr id="38" name="CustomShape 35">
              <a:extLst>
                <a:ext uri="{FF2B5EF4-FFF2-40B4-BE49-F238E27FC236}">
                  <a16:creationId xmlns:a16="http://schemas.microsoft.com/office/drawing/2014/main" id="{E13971D9-2EAE-AACA-BED7-6B782421EB3B}"/>
                </a:ext>
              </a:extLst>
            </p:cNvPr>
            <p:cNvSpPr/>
            <p:nvPr/>
          </p:nvSpPr>
          <p:spPr>
            <a:xfrm>
              <a:off x="4276080" y="3261600"/>
              <a:ext cx="47232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RD2</a:t>
              </a:r>
              <a:endParaRPr lang="en-US" sz="1000" b="0" strike="noStrike" spc="-1">
                <a:latin typeface="Arial"/>
              </a:endParaRPr>
            </a:p>
          </p:txBody>
        </p:sp>
        <p:sp>
          <p:nvSpPr>
            <p:cNvPr id="39" name="CustomShape 36">
              <a:extLst>
                <a:ext uri="{FF2B5EF4-FFF2-40B4-BE49-F238E27FC236}">
                  <a16:creationId xmlns:a16="http://schemas.microsoft.com/office/drawing/2014/main" id="{A448D53E-D0A9-462F-5B2C-8385E06BC8C2}"/>
                </a:ext>
              </a:extLst>
            </p:cNvPr>
            <p:cNvSpPr/>
            <p:nvPr/>
          </p:nvSpPr>
          <p:spPr>
            <a:xfrm>
              <a:off x="3536640" y="2835000"/>
              <a:ext cx="99792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Registers</a:t>
              </a:r>
              <a:endParaRPr lang="en-US" sz="1200" b="0" strike="noStrike" spc="-1">
                <a:latin typeface="Arial"/>
              </a:endParaRPr>
            </a:p>
          </p:txBody>
        </p:sp>
        <p:sp>
          <p:nvSpPr>
            <p:cNvPr id="40" name="Line 37">
              <a:extLst>
                <a:ext uri="{FF2B5EF4-FFF2-40B4-BE49-F238E27FC236}">
                  <a16:creationId xmlns:a16="http://schemas.microsoft.com/office/drawing/2014/main" id="{59F64F39-71B7-C894-F5A2-7D3BC2C01947}"/>
                </a:ext>
              </a:extLst>
            </p:cNvPr>
            <p:cNvSpPr/>
            <p:nvPr/>
          </p:nvSpPr>
          <p:spPr>
            <a:xfrm flipH="1">
              <a:off x="3054240" y="2396520"/>
              <a:ext cx="110520" cy="1400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1" name="Line 38">
              <a:extLst>
                <a:ext uri="{FF2B5EF4-FFF2-40B4-BE49-F238E27FC236}">
                  <a16:creationId xmlns:a16="http://schemas.microsoft.com/office/drawing/2014/main" id="{8FB32BDA-3563-5AF4-FF9D-2502903C5258}"/>
                </a:ext>
              </a:extLst>
            </p:cNvPr>
            <p:cNvSpPr/>
            <p:nvPr/>
          </p:nvSpPr>
          <p:spPr>
            <a:xfrm flipH="1">
              <a:off x="3054240" y="2714040"/>
              <a:ext cx="11052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2" name="Line 39">
              <a:extLst>
                <a:ext uri="{FF2B5EF4-FFF2-40B4-BE49-F238E27FC236}">
                  <a16:creationId xmlns:a16="http://schemas.microsoft.com/office/drawing/2014/main" id="{0C3B039A-703F-DDB7-D6DB-F5D1A4EA7A8E}"/>
                </a:ext>
              </a:extLst>
            </p:cNvPr>
            <p:cNvSpPr/>
            <p:nvPr/>
          </p:nvSpPr>
          <p:spPr>
            <a:xfrm flipH="1">
              <a:off x="3054240" y="3072600"/>
              <a:ext cx="11052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3" name="CustomShape 40">
              <a:extLst>
                <a:ext uri="{FF2B5EF4-FFF2-40B4-BE49-F238E27FC236}">
                  <a16:creationId xmlns:a16="http://schemas.microsoft.com/office/drawing/2014/main" id="{DC6CB46C-6E25-209D-5222-C7C86E7523B2}"/>
                </a:ext>
              </a:extLst>
            </p:cNvPr>
            <p:cNvSpPr/>
            <p:nvPr/>
          </p:nvSpPr>
          <p:spPr>
            <a:xfrm>
              <a:off x="2947320" y="226800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44" name="CustomShape 41">
              <a:extLst>
                <a:ext uri="{FF2B5EF4-FFF2-40B4-BE49-F238E27FC236}">
                  <a16:creationId xmlns:a16="http://schemas.microsoft.com/office/drawing/2014/main" id="{BE62195C-8BE5-D8FC-7F2E-1E83695C0E8B}"/>
                </a:ext>
              </a:extLst>
            </p:cNvPr>
            <p:cNvSpPr/>
            <p:nvPr/>
          </p:nvSpPr>
          <p:spPr>
            <a:xfrm>
              <a:off x="2918880" y="2598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45" name="CustomShape 42">
              <a:extLst>
                <a:ext uri="{FF2B5EF4-FFF2-40B4-BE49-F238E27FC236}">
                  <a16:creationId xmlns:a16="http://schemas.microsoft.com/office/drawing/2014/main" id="{5F871CD5-ECD5-BBB0-61F6-E8D01EE3800B}"/>
                </a:ext>
              </a:extLst>
            </p:cNvPr>
            <p:cNvSpPr/>
            <p:nvPr/>
          </p:nvSpPr>
          <p:spPr>
            <a:xfrm>
              <a:off x="2918880" y="2976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46" name="CustomShape 43">
              <a:extLst>
                <a:ext uri="{FF2B5EF4-FFF2-40B4-BE49-F238E27FC236}">
                  <a16:creationId xmlns:a16="http://schemas.microsoft.com/office/drawing/2014/main" id="{19BF8258-2C49-A181-FD9A-AEEB71351FB6}"/>
                </a:ext>
              </a:extLst>
            </p:cNvPr>
            <p:cNvSpPr/>
            <p:nvPr/>
          </p:nvSpPr>
          <p:spPr>
            <a:xfrm>
              <a:off x="3519720" y="3798360"/>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grpSp>
      <p:sp>
        <p:nvSpPr>
          <p:cNvPr id="47" name="CustomShape 44">
            <a:extLst>
              <a:ext uri="{FF2B5EF4-FFF2-40B4-BE49-F238E27FC236}">
                <a16:creationId xmlns:a16="http://schemas.microsoft.com/office/drawing/2014/main" id="{1F3FF60C-8533-7C9D-1DEA-7E74754D33CC}"/>
              </a:ext>
            </a:extLst>
          </p:cNvPr>
          <p:cNvSpPr/>
          <p:nvPr/>
        </p:nvSpPr>
        <p:spPr>
          <a:xfrm>
            <a:off x="4596167" y="4675069"/>
            <a:ext cx="1259640" cy="440640"/>
          </a:xfrm>
          <a:prstGeom prst="ellipse">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400" b="0" strike="noStrike" spc="-1">
                <a:solidFill>
                  <a:srgbClr val="000000"/>
                </a:solidFill>
                <a:latin typeface="Times New Roman"/>
                <a:ea typeface="ＭＳ Ｐゴシック"/>
              </a:rPr>
              <a:t>Sign Extend</a:t>
            </a:r>
            <a:endParaRPr lang="en-US" sz="1400" b="0" strike="noStrike" spc="-1">
              <a:latin typeface="Arial"/>
            </a:endParaRPr>
          </a:p>
        </p:txBody>
      </p:sp>
      <p:sp>
        <p:nvSpPr>
          <p:cNvPr id="48" name="Line 45">
            <a:extLst>
              <a:ext uri="{FF2B5EF4-FFF2-40B4-BE49-F238E27FC236}">
                <a16:creationId xmlns:a16="http://schemas.microsoft.com/office/drawing/2014/main" id="{C87DBD59-BA46-A7CF-03FE-E525F9AAC9EA}"/>
              </a:ext>
            </a:extLst>
          </p:cNvPr>
          <p:cNvSpPr/>
          <p:nvPr/>
        </p:nvSpPr>
        <p:spPr>
          <a:xfrm flipH="1">
            <a:off x="4384127" y="4849669"/>
            <a:ext cx="11088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9" name="CustomShape 46">
            <a:extLst>
              <a:ext uri="{FF2B5EF4-FFF2-40B4-BE49-F238E27FC236}">
                <a16:creationId xmlns:a16="http://schemas.microsoft.com/office/drawing/2014/main" id="{AC42CF53-EA93-388B-5C5E-20B836B08ABE}"/>
              </a:ext>
            </a:extLst>
          </p:cNvPr>
          <p:cNvSpPr/>
          <p:nvPr/>
        </p:nvSpPr>
        <p:spPr>
          <a:xfrm>
            <a:off x="4155887" y="4753549"/>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16</a:t>
            </a:r>
            <a:endParaRPr lang="en-US" sz="1000" b="0" strike="noStrike" spc="-1">
              <a:latin typeface="Arial"/>
            </a:endParaRPr>
          </a:p>
        </p:txBody>
      </p:sp>
      <p:sp>
        <p:nvSpPr>
          <p:cNvPr id="50" name="CustomShape 47">
            <a:extLst>
              <a:ext uri="{FF2B5EF4-FFF2-40B4-BE49-F238E27FC236}">
                <a16:creationId xmlns:a16="http://schemas.microsoft.com/office/drawing/2014/main" id="{D2A913CA-B698-608C-2369-16E7B6D42AEF}"/>
              </a:ext>
            </a:extLst>
          </p:cNvPr>
          <p:cNvSpPr/>
          <p:nvPr/>
        </p:nvSpPr>
        <p:spPr>
          <a:xfrm>
            <a:off x="5859047" y="4737709"/>
            <a:ext cx="3578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32</a:t>
            </a:r>
            <a:endParaRPr lang="en-US" sz="1000" b="0" strike="noStrike" spc="-1">
              <a:latin typeface="Arial"/>
            </a:endParaRPr>
          </a:p>
        </p:txBody>
      </p:sp>
      <p:sp>
        <p:nvSpPr>
          <p:cNvPr id="51" name="Line 48">
            <a:extLst>
              <a:ext uri="{FF2B5EF4-FFF2-40B4-BE49-F238E27FC236}">
                <a16:creationId xmlns:a16="http://schemas.microsoft.com/office/drawing/2014/main" id="{B9C53A54-20F6-D02C-F23B-5C3EBD4C66B8}"/>
              </a:ext>
            </a:extLst>
          </p:cNvPr>
          <p:cNvSpPr/>
          <p:nvPr/>
        </p:nvSpPr>
        <p:spPr>
          <a:xfrm flipH="1">
            <a:off x="6098807" y="4821949"/>
            <a:ext cx="110880" cy="140400"/>
          </a:xfrm>
          <a:prstGeom prst="line">
            <a:avLst/>
          </a:prstGeom>
          <a:ln w="2232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2" name="Line 49">
            <a:extLst>
              <a:ext uri="{FF2B5EF4-FFF2-40B4-BE49-F238E27FC236}">
                <a16:creationId xmlns:a16="http://schemas.microsoft.com/office/drawing/2014/main" id="{8FFB3C18-4991-ED82-7133-03D922E8A97B}"/>
              </a:ext>
            </a:extLst>
          </p:cNvPr>
          <p:cNvSpPr/>
          <p:nvPr/>
        </p:nvSpPr>
        <p:spPr>
          <a:xfrm>
            <a:off x="7389407" y="2817469"/>
            <a:ext cx="840240" cy="2822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3" name="Line 50">
            <a:extLst>
              <a:ext uri="{FF2B5EF4-FFF2-40B4-BE49-F238E27FC236}">
                <a16:creationId xmlns:a16="http://schemas.microsoft.com/office/drawing/2014/main" id="{9A676070-80F9-5D5A-5C78-20B0824F1C31}"/>
              </a:ext>
            </a:extLst>
          </p:cNvPr>
          <p:cNvSpPr/>
          <p:nvPr/>
        </p:nvSpPr>
        <p:spPr>
          <a:xfrm>
            <a:off x="8229287" y="3100069"/>
            <a:ext cx="360" cy="7560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4" name="Line 51">
            <a:extLst>
              <a:ext uri="{FF2B5EF4-FFF2-40B4-BE49-F238E27FC236}">
                <a16:creationId xmlns:a16="http://schemas.microsoft.com/office/drawing/2014/main" id="{EEE8583D-117A-7FF0-EBCE-8357E499230D}"/>
              </a:ext>
            </a:extLst>
          </p:cNvPr>
          <p:cNvSpPr/>
          <p:nvPr/>
        </p:nvSpPr>
        <p:spPr>
          <a:xfrm flipH="1">
            <a:off x="7389407" y="3856069"/>
            <a:ext cx="840240" cy="2952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5" name="Line 52">
            <a:extLst>
              <a:ext uri="{FF2B5EF4-FFF2-40B4-BE49-F238E27FC236}">
                <a16:creationId xmlns:a16="http://schemas.microsoft.com/office/drawing/2014/main" id="{8502D463-E100-B4D9-EBA7-7C9C1D17F03A}"/>
              </a:ext>
            </a:extLst>
          </p:cNvPr>
          <p:cNvSpPr/>
          <p:nvPr/>
        </p:nvSpPr>
        <p:spPr>
          <a:xfrm flipV="1">
            <a:off x="7390127" y="3611629"/>
            <a:ext cx="360" cy="5396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6" name="Line 53">
            <a:extLst>
              <a:ext uri="{FF2B5EF4-FFF2-40B4-BE49-F238E27FC236}">
                <a16:creationId xmlns:a16="http://schemas.microsoft.com/office/drawing/2014/main" id="{4714ED98-422F-082A-20E9-3B68F41FE5BD}"/>
              </a:ext>
            </a:extLst>
          </p:cNvPr>
          <p:cNvSpPr/>
          <p:nvPr/>
        </p:nvSpPr>
        <p:spPr>
          <a:xfrm flipV="1">
            <a:off x="7390127" y="3452869"/>
            <a:ext cx="169920" cy="158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7" name="Line 54">
            <a:extLst>
              <a:ext uri="{FF2B5EF4-FFF2-40B4-BE49-F238E27FC236}">
                <a16:creationId xmlns:a16="http://schemas.microsoft.com/office/drawing/2014/main" id="{E70F9993-4751-25B6-E14E-5DB104B9E209}"/>
              </a:ext>
            </a:extLst>
          </p:cNvPr>
          <p:cNvSpPr/>
          <p:nvPr/>
        </p:nvSpPr>
        <p:spPr>
          <a:xfrm>
            <a:off x="7389407" y="3262429"/>
            <a:ext cx="169920" cy="1904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8" name="Line 55">
            <a:extLst>
              <a:ext uri="{FF2B5EF4-FFF2-40B4-BE49-F238E27FC236}">
                <a16:creationId xmlns:a16="http://schemas.microsoft.com/office/drawing/2014/main" id="{06699DCF-7F04-E041-74BE-FEBC1D825266}"/>
              </a:ext>
            </a:extLst>
          </p:cNvPr>
          <p:cNvSpPr/>
          <p:nvPr/>
        </p:nvSpPr>
        <p:spPr>
          <a:xfrm flipV="1">
            <a:off x="7389407" y="2817469"/>
            <a:ext cx="360" cy="444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9" name="Line 56">
            <a:extLst>
              <a:ext uri="{FF2B5EF4-FFF2-40B4-BE49-F238E27FC236}">
                <a16:creationId xmlns:a16="http://schemas.microsoft.com/office/drawing/2014/main" id="{FA4C25EF-24ED-7BE9-FB1C-BAC3CDB664A3}"/>
              </a:ext>
            </a:extLst>
          </p:cNvPr>
          <p:cNvSpPr/>
          <p:nvPr/>
        </p:nvSpPr>
        <p:spPr>
          <a:xfrm>
            <a:off x="7884767" y="2532709"/>
            <a:ext cx="360" cy="44352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60" name="CustomShape 57">
            <a:extLst>
              <a:ext uri="{FF2B5EF4-FFF2-40B4-BE49-F238E27FC236}">
                <a16:creationId xmlns:a16="http://schemas.microsoft.com/office/drawing/2014/main" id="{DF10E0C6-1EF5-0891-DA99-7D4E57FD11A5}"/>
              </a:ext>
            </a:extLst>
          </p:cNvPr>
          <p:cNvSpPr/>
          <p:nvPr/>
        </p:nvSpPr>
        <p:spPr>
          <a:xfrm>
            <a:off x="7587767" y="3528109"/>
            <a:ext cx="5972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ALU</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result</a:t>
            </a:r>
            <a:endParaRPr lang="en-US" sz="1000" b="0" strike="noStrike" spc="-1">
              <a:latin typeface="Arial"/>
            </a:endParaRPr>
          </a:p>
        </p:txBody>
      </p:sp>
      <p:sp>
        <p:nvSpPr>
          <p:cNvPr id="61" name="CustomShape 58">
            <a:extLst>
              <a:ext uri="{FF2B5EF4-FFF2-40B4-BE49-F238E27FC236}">
                <a16:creationId xmlns:a16="http://schemas.microsoft.com/office/drawing/2014/main" id="{1216A9CD-6810-B383-58A9-DF89002AD53A}"/>
              </a:ext>
            </a:extLst>
          </p:cNvPr>
          <p:cNvSpPr/>
          <p:nvPr/>
        </p:nvSpPr>
        <p:spPr>
          <a:xfrm>
            <a:off x="7505327" y="3289069"/>
            <a:ext cx="51336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ALU</a:t>
            </a:r>
            <a:endParaRPr lang="en-US" sz="1200" b="0" strike="noStrike" spc="-1">
              <a:latin typeface="Arial"/>
            </a:endParaRPr>
          </a:p>
        </p:txBody>
      </p:sp>
      <p:sp>
        <p:nvSpPr>
          <p:cNvPr id="62" name="CustomShape 59">
            <a:extLst>
              <a:ext uri="{FF2B5EF4-FFF2-40B4-BE49-F238E27FC236}">
                <a16:creationId xmlns:a16="http://schemas.microsoft.com/office/drawing/2014/main" id="{8C3D238B-642F-100B-E3FB-050A02FB90E3}"/>
              </a:ext>
            </a:extLst>
          </p:cNvPr>
          <p:cNvSpPr/>
          <p:nvPr/>
        </p:nvSpPr>
        <p:spPr>
          <a:xfrm>
            <a:off x="7060367" y="2280709"/>
            <a:ext cx="124776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Courier New"/>
                <a:ea typeface="ＭＳ Ｐゴシック"/>
              </a:rPr>
              <a:t>ALUcontrol</a:t>
            </a:r>
            <a:endParaRPr lang="en-US" sz="1400" b="0" strike="noStrike" spc="-1">
              <a:latin typeface="Arial"/>
            </a:endParaRPr>
          </a:p>
        </p:txBody>
      </p:sp>
      <p:sp>
        <p:nvSpPr>
          <p:cNvPr id="63" name="Line 60">
            <a:extLst>
              <a:ext uri="{FF2B5EF4-FFF2-40B4-BE49-F238E27FC236}">
                <a16:creationId xmlns:a16="http://schemas.microsoft.com/office/drawing/2014/main" id="{F2A7810A-88B8-8470-59A8-C646AE2EA798}"/>
              </a:ext>
            </a:extLst>
          </p:cNvPr>
          <p:cNvSpPr/>
          <p:nvPr/>
        </p:nvSpPr>
        <p:spPr>
          <a:xfrm>
            <a:off x="7756967" y="2850229"/>
            <a:ext cx="254160" cy="6444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64" name="CustomShape 61">
            <a:extLst>
              <a:ext uri="{FF2B5EF4-FFF2-40B4-BE49-F238E27FC236}">
                <a16:creationId xmlns:a16="http://schemas.microsoft.com/office/drawing/2014/main" id="{87A85B7E-DFFB-10FD-BBCA-CDF833115369}"/>
              </a:ext>
            </a:extLst>
          </p:cNvPr>
          <p:cNvSpPr/>
          <p:nvPr/>
        </p:nvSpPr>
        <p:spPr>
          <a:xfrm>
            <a:off x="7573727" y="2669509"/>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660066"/>
                </a:solidFill>
                <a:latin typeface="Verdana"/>
                <a:ea typeface="ＭＳ Ｐゴシック"/>
              </a:rPr>
              <a:t>4</a:t>
            </a:r>
            <a:endParaRPr lang="en-US" sz="1000" b="0" strike="noStrike" spc="-1">
              <a:latin typeface="Arial"/>
            </a:endParaRPr>
          </a:p>
        </p:txBody>
      </p:sp>
      <p:sp>
        <p:nvSpPr>
          <p:cNvPr id="65" name="CustomShape 62">
            <a:extLst>
              <a:ext uri="{FF2B5EF4-FFF2-40B4-BE49-F238E27FC236}">
                <a16:creationId xmlns:a16="http://schemas.microsoft.com/office/drawing/2014/main" id="{0C036680-028B-59D7-7985-FE1EB1D5F9B4}"/>
              </a:ext>
            </a:extLst>
          </p:cNvPr>
          <p:cNvSpPr/>
          <p:nvPr/>
        </p:nvSpPr>
        <p:spPr>
          <a:xfrm>
            <a:off x="8702327" y="3470869"/>
            <a:ext cx="1296000" cy="125964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66" name="Line 63">
            <a:extLst>
              <a:ext uri="{FF2B5EF4-FFF2-40B4-BE49-F238E27FC236}">
                <a16:creationId xmlns:a16="http://schemas.microsoft.com/office/drawing/2014/main" id="{2E7EC603-FFDE-1B6D-1D6C-8B5889541725}"/>
              </a:ext>
            </a:extLst>
          </p:cNvPr>
          <p:cNvSpPr/>
          <p:nvPr/>
        </p:nvSpPr>
        <p:spPr>
          <a:xfrm>
            <a:off x="9993647" y="4423069"/>
            <a:ext cx="504000" cy="360"/>
          </a:xfrm>
          <a:prstGeom prst="line">
            <a:avLst/>
          </a:prstGeom>
          <a:ln w="22320">
            <a:solidFill>
              <a:srgbClr val="C00000"/>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67" name="CustomShape 64">
            <a:extLst>
              <a:ext uri="{FF2B5EF4-FFF2-40B4-BE49-F238E27FC236}">
                <a16:creationId xmlns:a16="http://schemas.microsoft.com/office/drawing/2014/main" id="{0786AC3B-756E-DD71-185C-EDAD0093E7E8}"/>
              </a:ext>
            </a:extLst>
          </p:cNvPr>
          <p:cNvSpPr/>
          <p:nvPr/>
        </p:nvSpPr>
        <p:spPr>
          <a:xfrm>
            <a:off x="8918687" y="3792709"/>
            <a:ext cx="87444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Data</a:t>
            </a:r>
            <a:endParaRPr lang="en-US" sz="1200" b="0" strike="noStrike" spc="-1">
              <a:latin typeface="Arial"/>
            </a:endParaRPr>
          </a:p>
          <a:p>
            <a:pPr algn="ctr">
              <a:lnSpc>
                <a:spcPct val="100000"/>
              </a:lnSpc>
            </a:pPr>
            <a:r>
              <a:rPr lang="en-US" sz="1200" b="1" i="1" strike="noStrike" spc="-1">
                <a:solidFill>
                  <a:srgbClr val="000000"/>
                </a:solidFill>
                <a:latin typeface="Verdana"/>
                <a:ea typeface="ＭＳ Ｐゴシック"/>
              </a:rPr>
              <a:t>Memory</a:t>
            </a:r>
            <a:endParaRPr lang="en-US" sz="1200" b="0" strike="noStrike" spc="-1">
              <a:latin typeface="Arial"/>
            </a:endParaRPr>
          </a:p>
        </p:txBody>
      </p:sp>
      <p:sp>
        <p:nvSpPr>
          <p:cNvPr id="68" name="CustomShape 65">
            <a:extLst>
              <a:ext uri="{FF2B5EF4-FFF2-40B4-BE49-F238E27FC236}">
                <a16:creationId xmlns:a16="http://schemas.microsoft.com/office/drawing/2014/main" id="{F0C7DA1B-E84A-C66A-DC8A-FBD86665BB12}"/>
              </a:ext>
            </a:extLst>
          </p:cNvPr>
          <p:cNvSpPr/>
          <p:nvPr/>
        </p:nvSpPr>
        <p:spPr>
          <a:xfrm>
            <a:off x="8646887" y="3595429"/>
            <a:ext cx="755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Address</a:t>
            </a:r>
            <a:endParaRPr lang="en-US" sz="1000" b="0" strike="noStrike" spc="-1">
              <a:latin typeface="Arial"/>
            </a:endParaRPr>
          </a:p>
        </p:txBody>
      </p:sp>
      <p:sp>
        <p:nvSpPr>
          <p:cNvPr id="69" name="CustomShape 66">
            <a:extLst>
              <a:ext uri="{FF2B5EF4-FFF2-40B4-BE49-F238E27FC236}">
                <a16:creationId xmlns:a16="http://schemas.microsoft.com/office/drawing/2014/main" id="{958A006F-1953-AAB6-0697-31E5C427BDF2}"/>
              </a:ext>
            </a:extLst>
          </p:cNvPr>
          <p:cNvSpPr/>
          <p:nvPr/>
        </p:nvSpPr>
        <p:spPr>
          <a:xfrm>
            <a:off x="9436727" y="4220749"/>
            <a:ext cx="58356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70" name="CustomShape 67">
            <a:extLst>
              <a:ext uri="{FF2B5EF4-FFF2-40B4-BE49-F238E27FC236}">
                <a16:creationId xmlns:a16="http://schemas.microsoft.com/office/drawing/2014/main" id="{C87150B2-6E09-CCB6-8418-9669B668C9BE}"/>
              </a:ext>
            </a:extLst>
          </p:cNvPr>
          <p:cNvSpPr/>
          <p:nvPr/>
        </p:nvSpPr>
        <p:spPr>
          <a:xfrm>
            <a:off x="8605487" y="4423069"/>
            <a:ext cx="6138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71" name="Line 68">
            <a:extLst>
              <a:ext uri="{FF2B5EF4-FFF2-40B4-BE49-F238E27FC236}">
                <a16:creationId xmlns:a16="http://schemas.microsoft.com/office/drawing/2014/main" id="{F6472A10-C9BF-B31B-C84A-0C264D42D940}"/>
              </a:ext>
            </a:extLst>
          </p:cNvPr>
          <p:cNvSpPr/>
          <p:nvPr/>
        </p:nvSpPr>
        <p:spPr>
          <a:xfrm>
            <a:off x="9350327" y="3218869"/>
            <a:ext cx="360" cy="25200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72" name="CustomShape 69">
            <a:extLst>
              <a:ext uri="{FF2B5EF4-FFF2-40B4-BE49-F238E27FC236}">
                <a16:creationId xmlns:a16="http://schemas.microsoft.com/office/drawing/2014/main" id="{DEB95222-BA5D-4DE7-2AA8-7B3E3BC0CE9C}"/>
              </a:ext>
            </a:extLst>
          </p:cNvPr>
          <p:cNvSpPr/>
          <p:nvPr/>
        </p:nvSpPr>
        <p:spPr>
          <a:xfrm>
            <a:off x="8742647" y="2988109"/>
            <a:ext cx="12128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400" b="1" strike="noStrike" spc="-1">
                <a:solidFill>
                  <a:srgbClr val="660066"/>
                </a:solidFill>
                <a:latin typeface="Verdana"/>
                <a:ea typeface="ＭＳ Ｐゴシック"/>
              </a:rPr>
              <a:t>MemWrite</a:t>
            </a:r>
            <a:endParaRPr lang="en-US" sz="1400" b="0" strike="noStrike" spc="-1">
              <a:latin typeface="Arial"/>
            </a:endParaRPr>
          </a:p>
        </p:txBody>
      </p:sp>
      <p:sp>
        <p:nvSpPr>
          <p:cNvPr id="73" name="CustomShape 70">
            <a:extLst>
              <a:ext uri="{FF2B5EF4-FFF2-40B4-BE49-F238E27FC236}">
                <a16:creationId xmlns:a16="http://schemas.microsoft.com/office/drawing/2014/main" id="{D3741B9D-F30F-DA4D-B13C-623BC92B5CF6}"/>
              </a:ext>
            </a:extLst>
          </p:cNvPr>
          <p:cNvSpPr/>
          <p:nvPr/>
        </p:nvSpPr>
        <p:spPr>
          <a:xfrm>
            <a:off x="6465647" y="3793069"/>
            <a:ext cx="2267640" cy="818640"/>
          </a:xfrm>
          <a:prstGeom prst="bentConnector3">
            <a:avLst>
              <a:gd name="adj1" fmla="val -617"/>
            </a:avLst>
          </a:prstGeom>
          <a:noFill/>
          <a:ln w="15840">
            <a:solidFill>
              <a:schemeClr val="tx1"/>
            </a:solidFill>
            <a:round/>
            <a:headEnd type="oval" w="med" len="med"/>
            <a:tailEnd type="triangle" w="med" len="med"/>
          </a:ln>
        </p:spPr>
        <p:style>
          <a:lnRef idx="1">
            <a:schemeClr val="accent1"/>
          </a:lnRef>
          <a:fillRef idx="0">
            <a:schemeClr val="accent1"/>
          </a:fillRef>
          <a:effectRef idx="0">
            <a:schemeClr val="accent1"/>
          </a:effectRef>
          <a:fontRef idx="minor"/>
        </p:style>
        <p:txBody>
          <a:bodyPr/>
          <a:lstStyle/>
          <a:p>
            <a:endParaRPr lang="vi-VN"/>
          </a:p>
        </p:txBody>
      </p:sp>
      <p:sp>
        <p:nvSpPr>
          <p:cNvPr id="74" name="CustomShape 71">
            <a:extLst>
              <a:ext uri="{FF2B5EF4-FFF2-40B4-BE49-F238E27FC236}">
                <a16:creationId xmlns:a16="http://schemas.microsoft.com/office/drawing/2014/main" id="{F66AAF75-B7D9-545E-C2E6-B50C4E2C9736}"/>
              </a:ext>
            </a:extLst>
          </p:cNvPr>
          <p:cNvSpPr/>
          <p:nvPr/>
        </p:nvSpPr>
        <p:spPr>
          <a:xfrm>
            <a:off x="8215607" y="3691909"/>
            <a:ext cx="486720" cy="4320"/>
          </a:xfrm>
          <a:custGeom>
            <a:avLst/>
            <a:gdLst/>
            <a:ahLst/>
            <a:cxnLst/>
            <a:rect l="l" t="t" r="r" b="b"/>
            <a:pathLst>
              <a:path w="21600" h="21600">
                <a:moveTo>
                  <a:pt x="0" y="0"/>
                </a:moveTo>
                <a:lnTo>
                  <a:pt x="21600" y="21600"/>
                </a:lnTo>
              </a:path>
            </a:pathLst>
          </a:custGeom>
          <a:noFill/>
          <a:ln w="158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vi-VN"/>
          </a:p>
        </p:txBody>
      </p:sp>
      <p:grpSp>
        <p:nvGrpSpPr>
          <p:cNvPr id="75" name="Group 72">
            <a:extLst>
              <a:ext uri="{FF2B5EF4-FFF2-40B4-BE49-F238E27FC236}">
                <a16:creationId xmlns:a16="http://schemas.microsoft.com/office/drawing/2014/main" id="{264F7BE4-B589-2449-A23E-87A743E5DA92}"/>
              </a:ext>
            </a:extLst>
          </p:cNvPr>
          <p:cNvGrpSpPr/>
          <p:nvPr/>
        </p:nvGrpSpPr>
        <p:grpSpPr>
          <a:xfrm>
            <a:off x="1846127" y="1745532"/>
            <a:ext cx="503640" cy="4102777"/>
            <a:chOff x="588240" y="1512000"/>
            <a:chExt cx="503640" cy="3401640"/>
          </a:xfrm>
        </p:grpSpPr>
        <p:sp>
          <p:nvSpPr>
            <p:cNvPr id="76" name="CustomShape 73">
              <a:extLst>
                <a:ext uri="{FF2B5EF4-FFF2-40B4-BE49-F238E27FC236}">
                  <a16:creationId xmlns:a16="http://schemas.microsoft.com/office/drawing/2014/main" id="{31FEA746-BAF4-B474-BBCB-290B26E9BE4F}"/>
                </a:ext>
              </a:extLst>
            </p:cNvPr>
            <p:cNvSpPr/>
            <p:nvPr/>
          </p:nvSpPr>
          <p:spPr>
            <a:xfrm rot="5400000">
              <a:off x="524880" y="157500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opcode</a:t>
              </a:r>
              <a:endParaRPr lang="en-US" sz="1200" b="0" strike="noStrike" spc="-1">
                <a:latin typeface="Arial"/>
              </a:endParaRPr>
            </a:p>
            <a:p>
              <a:pPr algn="ctr">
                <a:lnSpc>
                  <a:spcPct val="100000"/>
                </a:lnSpc>
              </a:pPr>
              <a:r>
                <a:rPr lang="en-US" sz="1200" b="1" strike="noStrike" spc="-1">
                  <a:solidFill>
                    <a:srgbClr val="660066"/>
                  </a:solidFill>
                  <a:latin typeface="Courier New"/>
                  <a:ea typeface="ＭＳ Ｐゴシック"/>
                </a:rPr>
                <a:t>31:26</a:t>
              </a:r>
              <a:endParaRPr lang="en-US" sz="1200" b="0" strike="noStrike" spc="-1">
                <a:latin typeface="Arial"/>
              </a:endParaRPr>
            </a:p>
          </p:txBody>
        </p:sp>
        <p:sp>
          <p:nvSpPr>
            <p:cNvPr id="77" name="CustomShape 74">
              <a:extLst>
                <a:ext uri="{FF2B5EF4-FFF2-40B4-BE49-F238E27FC236}">
                  <a16:creationId xmlns:a16="http://schemas.microsoft.com/office/drawing/2014/main" id="{8E7F2C3C-D9F4-20A1-7B8C-C5907B245A74}"/>
                </a:ext>
              </a:extLst>
            </p:cNvPr>
            <p:cNvSpPr/>
            <p:nvPr/>
          </p:nvSpPr>
          <p:spPr>
            <a:xfrm rot="5400000">
              <a:off x="572400" y="215784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rs</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25:21</a:t>
              </a:r>
              <a:endParaRPr lang="en-US" sz="1200" b="0" strike="noStrike" spc="-1">
                <a:latin typeface="Arial"/>
              </a:endParaRPr>
            </a:p>
          </p:txBody>
        </p:sp>
        <p:sp>
          <p:nvSpPr>
            <p:cNvPr id="78" name="CustomShape 75">
              <a:extLst>
                <a:ext uri="{FF2B5EF4-FFF2-40B4-BE49-F238E27FC236}">
                  <a16:creationId xmlns:a16="http://schemas.microsoft.com/office/drawing/2014/main" id="{6B135A14-4A38-1281-0CB9-C3E1A5C37E18}"/>
                </a:ext>
              </a:extLst>
            </p:cNvPr>
            <p:cNvSpPr/>
            <p:nvPr/>
          </p:nvSpPr>
          <p:spPr>
            <a:xfrm rot="5400000">
              <a:off x="572400" y="2693160"/>
              <a:ext cx="53496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rt</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20:16</a:t>
              </a:r>
              <a:endParaRPr lang="en-US" sz="1200" b="0" strike="noStrike" spc="-1">
                <a:latin typeface="Arial"/>
              </a:endParaRPr>
            </a:p>
          </p:txBody>
        </p:sp>
        <p:sp>
          <p:nvSpPr>
            <p:cNvPr id="79" name="CustomShape 76">
              <a:extLst>
                <a:ext uri="{FF2B5EF4-FFF2-40B4-BE49-F238E27FC236}">
                  <a16:creationId xmlns:a16="http://schemas.microsoft.com/office/drawing/2014/main" id="{1518073D-9D3C-902B-00EE-D64CEAEC779F}"/>
                </a:ext>
              </a:extLst>
            </p:cNvPr>
            <p:cNvSpPr/>
            <p:nvPr/>
          </p:nvSpPr>
          <p:spPr>
            <a:xfrm rot="5400000">
              <a:off x="572400" y="322884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rd</a:t>
              </a:r>
              <a:endParaRPr lang="en-US" sz="1200" b="0" strike="noStrike" spc="-1">
                <a:latin typeface="Arial"/>
              </a:endParaRPr>
            </a:p>
            <a:p>
              <a:pPr algn="ctr">
                <a:lnSpc>
                  <a:spcPct val="100000"/>
                </a:lnSpc>
              </a:pPr>
              <a:r>
                <a:rPr lang="en-US" sz="1200" b="1" strike="noStrike" spc="-1">
                  <a:solidFill>
                    <a:srgbClr val="C00000"/>
                  </a:solidFill>
                  <a:latin typeface="Courier New"/>
                  <a:ea typeface="ＭＳ Ｐゴシック"/>
                </a:rPr>
                <a:t>15:11</a:t>
              </a:r>
              <a:endParaRPr lang="en-US" sz="1200" b="0" strike="noStrike" spc="-1">
                <a:latin typeface="Arial"/>
              </a:endParaRPr>
            </a:p>
          </p:txBody>
        </p:sp>
        <p:sp>
          <p:nvSpPr>
            <p:cNvPr id="80" name="CustomShape 77">
              <a:extLst>
                <a:ext uri="{FF2B5EF4-FFF2-40B4-BE49-F238E27FC236}">
                  <a16:creationId xmlns:a16="http://schemas.microsoft.com/office/drawing/2014/main" id="{3711A661-7DC3-DDC8-669C-35D51520584D}"/>
                </a:ext>
              </a:extLst>
            </p:cNvPr>
            <p:cNvSpPr/>
            <p:nvPr/>
          </p:nvSpPr>
          <p:spPr>
            <a:xfrm rot="5400000">
              <a:off x="572400" y="376416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shamt</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10:6</a:t>
              </a:r>
              <a:endParaRPr lang="en-US" sz="1200" b="0" strike="noStrike" spc="-1">
                <a:latin typeface="Arial"/>
              </a:endParaRPr>
            </a:p>
          </p:txBody>
        </p:sp>
        <p:sp>
          <p:nvSpPr>
            <p:cNvPr id="81" name="CustomShape 78">
              <a:extLst>
                <a:ext uri="{FF2B5EF4-FFF2-40B4-BE49-F238E27FC236}">
                  <a16:creationId xmlns:a16="http://schemas.microsoft.com/office/drawing/2014/main" id="{A82A8BE1-43B4-7F03-D3D1-50FC80C23A5B}"/>
                </a:ext>
              </a:extLst>
            </p:cNvPr>
            <p:cNvSpPr/>
            <p:nvPr/>
          </p:nvSpPr>
          <p:spPr>
            <a:xfrm rot="5400000">
              <a:off x="524880" y="434700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funct</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5:0</a:t>
              </a:r>
              <a:endParaRPr lang="en-US" sz="1200" b="0" strike="noStrike" spc="-1">
                <a:latin typeface="Arial"/>
              </a:endParaRPr>
            </a:p>
          </p:txBody>
        </p:sp>
      </p:grpSp>
      <p:grpSp>
        <p:nvGrpSpPr>
          <p:cNvPr id="82" name="Group 79">
            <a:extLst>
              <a:ext uri="{FF2B5EF4-FFF2-40B4-BE49-F238E27FC236}">
                <a16:creationId xmlns:a16="http://schemas.microsoft.com/office/drawing/2014/main" id="{162E62D7-7BB6-99A8-87E6-C999DAE508B8}"/>
              </a:ext>
            </a:extLst>
          </p:cNvPr>
          <p:cNvGrpSpPr/>
          <p:nvPr/>
        </p:nvGrpSpPr>
        <p:grpSpPr>
          <a:xfrm>
            <a:off x="2350127" y="1745749"/>
            <a:ext cx="335520" cy="4102560"/>
            <a:chOff x="1092240" y="1512000"/>
            <a:chExt cx="335520" cy="3401640"/>
          </a:xfrm>
        </p:grpSpPr>
        <p:sp>
          <p:nvSpPr>
            <p:cNvPr id="83" name="CustomShape 80">
              <a:extLst>
                <a:ext uri="{FF2B5EF4-FFF2-40B4-BE49-F238E27FC236}">
                  <a16:creationId xmlns:a16="http://schemas.microsoft.com/office/drawing/2014/main" id="{AC81CF8C-5254-04AB-B5CD-22BC3082EAAC}"/>
                </a:ext>
              </a:extLst>
            </p:cNvPr>
            <p:cNvSpPr/>
            <p:nvPr/>
          </p:nvSpPr>
          <p:spPr>
            <a:xfrm rot="5400000">
              <a:off x="945000" y="1658880"/>
              <a:ext cx="629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000000</a:t>
              </a:r>
              <a:endParaRPr lang="en-US" sz="1200" b="0" strike="noStrike" spc="-1">
                <a:latin typeface="Arial"/>
              </a:endParaRPr>
            </a:p>
          </p:txBody>
        </p:sp>
        <p:sp>
          <p:nvSpPr>
            <p:cNvPr id="84" name="CustomShape 81">
              <a:extLst>
                <a:ext uri="{FF2B5EF4-FFF2-40B4-BE49-F238E27FC236}">
                  <a16:creationId xmlns:a16="http://schemas.microsoft.com/office/drawing/2014/main" id="{5A448420-F2DA-5677-0D97-18E777C9F016}"/>
                </a:ext>
              </a:extLst>
            </p:cNvPr>
            <p:cNvSpPr/>
            <p:nvPr/>
          </p:nvSpPr>
          <p:spPr>
            <a:xfrm rot="5400000">
              <a:off x="992160" y="224172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01001</a:t>
              </a:r>
              <a:endParaRPr lang="en-US" sz="1200" b="0" strike="noStrike" spc="-1">
                <a:latin typeface="Arial"/>
              </a:endParaRPr>
            </a:p>
          </p:txBody>
        </p:sp>
        <p:sp>
          <p:nvSpPr>
            <p:cNvPr id="85" name="CustomShape 82">
              <a:extLst>
                <a:ext uri="{FF2B5EF4-FFF2-40B4-BE49-F238E27FC236}">
                  <a16:creationId xmlns:a16="http://schemas.microsoft.com/office/drawing/2014/main" id="{5EF4E9EE-FF01-872A-2F25-6E77052518ED}"/>
                </a:ext>
              </a:extLst>
            </p:cNvPr>
            <p:cNvSpPr/>
            <p:nvPr/>
          </p:nvSpPr>
          <p:spPr>
            <a:xfrm rot="5400000">
              <a:off x="992160" y="277704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01010</a:t>
              </a:r>
              <a:endParaRPr lang="en-US" sz="1200" b="0" strike="noStrike" spc="-1">
                <a:latin typeface="Arial"/>
              </a:endParaRPr>
            </a:p>
          </p:txBody>
        </p:sp>
        <p:sp>
          <p:nvSpPr>
            <p:cNvPr id="86" name="CustomShape 83">
              <a:extLst>
                <a:ext uri="{FF2B5EF4-FFF2-40B4-BE49-F238E27FC236}">
                  <a16:creationId xmlns:a16="http://schemas.microsoft.com/office/drawing/2014/main" id="{025479CB-DA70-2D17-E949-BEAF76FD5B11}"/>
                </a:ext>
              </a:extLst>
            </p:cNvPr>
            <p:cNvSpPr/>
            <p:nvPr/>
          </p:nvSpPr>
          <p:spPr>
            <a:xfrm rot="5400000">
              <a:off x="992520" y="3312720"/>
              <a:ext cx="53496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01000</a:t>
              </a:r>
              <a:endParaRPr lang="en-US" sz="1200" b="0" strike="noStrike" spc="-1">
                <a:latin typeface="Arial"/>
              </a:endParaRPr>
            </a:p>
          </p:txBody>
        </p:sp>
        <p:sp>
          <p:nvSpPr>
            <p:cNvPr id="87" name="CustomShape 84">
              <a:extLst>
                <a:ext uri="{FF2B5EF4-FFF2-40B4-BE49-F238E27FC236}">
                  <a16:creationId xmlns:a16="http://schemas.microsoft.com/office/drawing/2014/main" id="{01A6E59D-5D58-BBE8-56D4-1EE5DE64F454}"/>
                </a:ext>
              </a:extLst>
            </p:cNvPr>
            <p:cNvSpPr/>
            <p:nvPr/>
          </p:nvSpPr>
          <p:spPr>
            <a:xfrm rot="5400000">
              <a:off x="992160" y="384804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00000</a:t>
              </a:r>
              <a:endParaRPr lang="en-US" sz="1200" b="0" strike="noStrike" spc="-1">
                <a:latin typeface="Arial"/>
              </a:endParaRPr>
            </a:p>
          </p:txBody>
        </p:sp>
        <p:sp>
          <p:nvSpPr>
            <p:cNvPr id="88" name="CustomShape 85">
              <a:extLst>
                <a:ext uri="{FF2B5EF4-FFF2-40B4-BE49-F238E27FC236}">
                  <a16:creationId xmlns:a16="http://schemas.microsoft.com/office/drawing/2014/main" id="{626EB3BA-C75A-2434-3792-0E214791BC74}"/>
                </a:ext>
              </a:extLst>
            </p:cNvPr>
            <p:cNvSpPr/>
            <p:nvPr/>
          </p:nvSpPr>
          <p:spPr>
            <a:xfrm rot="5400000">
              <a:off x="945000" y="4430880"/>
              <a:ext cx="63000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100000</a:t>
              </a:r>
              <a:endParaRPr lang="en-US" sz="1200" b="0" strike="noStrike" spc="-1">
                <a:latin typeface="Arial"/>
              </a:endParaRPr>
            </a:p>
          </p:txBody>
        </p:sp>
      </p:grpSp>
      <p:sp>
        <p:nvSpPr>
          <p:cNvPr id="89" name="CustomShape 86">
            <a:extLst>
              <a:ext uri="{FF2B5EF4-FFF2-40B4-BE49-F238E27FC236}">
                <a16:creationId xmlns:a16="http://schemas.microsoft.com/office/drawing/2014/main" id="{58E1C77E-F422-8ED7-E905-603D6B18F9F7}"/>
              </a:ext>
            </a:extLst>
          </p:cNvPr>
          <p:cNvSpPr/>
          <p:nvPr/>
        </p:nvSpPr>
        <p:spPr>
          <a:xfrm>
            <a:off x="8397767" y="3701989"/>
            <a:ext cx="2099520" cy="1196640"/>
          </a:xfrm>
          <a:prstGeom prst="bentConnector3">
            <a:avLst>
              <a:gd name="adj1" fmla="val -667"/>
            </a:avLst>
          </a:prstGeom>
          <a:noFill/>
          <a:ln w="22320">
            <a:solidFill>
              <a:srgbClr val="C00000"/>
            </a:solidFill>
            <a:round/>
            <a:headEnd type="oval" w="med" len="med"/>
            <a:tailEnd type="triangle" w="med" len="med"/>
          </a:ln>
        </p:spPr>
        <p:style>
          <a:lnRef idx="1">
            <a:schemeClr val="accent1"/>
          </a:lnRef>
          <a:fillRef idx="0">
            <a:schemeClr val="accent1"/>
          </a:fillRef>
          <a:effectRef idx="0">
            <a:schemeClr val="accent1"/>
          </a:effectRef>
          <a:fontRef idx="minor"/>
        </p:style>
        <p:txBody>
          <a:bodyPr/>
          <a:lstStyle/>
          <a:p>
            <a:endParaRPr lang="vi-VN"/>
          </a:p>
        </p:txBody>
      </p:sp>
      <p:sp>
        <p:nvSpPr>
          <p:cNvPr id="90" name="CustomShape 87">
            <a:extLst>
              <a:ext uri="{FF2B5EF4-FFF2-40B4-BE49-F238E27FC236}">
                <a16:creationId xmlns:a16="http://schemas.microsoft.com/office/drawing/2014/main" id="{CEA56B1C-2CEF-5030-360E-4C0B3E7D2897}"/>
              </a:ext>
            </a:extLst>
          </p:cNvPr>
          <p:cNvSpPr/>
          <p:nvPr/>
        </p:nvSpPr>
        <p:spPr>
          <a:xfrm>
            <a:off x="10497647" y="4234069"/>
            <a:ext cx="290880" cy="755640"/>
          </a:xfrm>
          <a:prstGeom prst="roundRect">
            <a:avLst>
              <a:gd name="adj" fmla="val 16667"/>
            </a:avLst>
          </a:prstGeom>
          <a:solidFill>
            <a:schemeClr val="accent1">
              <a:lumMod val="20000"/>
              <a:lumOff val="80000"/>
            </a:schemeClr>
          </a:solid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C00000"/>
                </a:solidFill>
                <a:latin typeface="Times New Roman"/>
                <a:ea typeface="ＭＳ Ｐゴシック"/>
              </a:rPr>
              <a:t>MUX</a:t>
            </a:r>
            <a:endParaRPr lang="en-US" sz="1600" b="0" strike="noStrike" spc="-1">
              <a:latin typeface="Arial"/>
            </a:endParaRPr>
          </a:p>
        </p:txBody>
      </p:sp>
      <p:sp>
        <p:nvSpPr>
          <p:cNvPr id="91" name="Line 89">
            <a:extLst>
              <a:ext uri="{FF2B5EF4-FFF2-40B4-BE49-F238E27FC236}">
                <a16:creationId xmlns:a16="http://schemas.microsoft.com/office/drawing/2014/main" id="{9A154A80-4494-D2E0-D3E9-BA7C44B16EE0}"/>
              </a:ext>
            </a:extLst>
          </p:cNvPr>
          <p:cNvSpPr/>
          <p:nvPr/>
        </p:nvSpPr>
        <p:spPr>
          <a:xfrm>
            <a:off x="10649207" y="4961989"/>
            <a:ext cx="360" cy="22176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92" name="CustomShape 90">
            <a:extLst>
              <a:ext uri="{FF2B5EF4-FFF2-40B4-BE49-F238E27FC236}">
                <a16:creationId xmlns:a16="http://schemas.microsoft.com/office/drawing/2014/main" id="{719C70CC-5A46-CDAC-0DA0-79B2D80F7F6E}"/>
              </a:ext>
            </a:extLst>
          </p:cNvPr>
          <p:cNvSpPr/>
          <p:nvPr/>
        </p:nvSpPr>
        <p:spPr>
          <a:xfrm>
            <a:off x="3945647" y="1840069"/>
            <a:ext cx="4367880" cy="440640"/>
          </a:xfrm>
          <a:prstGeom prst="snip1Rect">
            <a:avLst>
              <a:gd name="adj" fmla="val 16667"/>
            </a:avLst>
          </a:prstGeom>
          <a:solidFill>
            <a:srgbClr val="FFFFCC">
              <a:alpha val="80000"/>
            </a:srgbClr>
          </a:solidFill>
          <a:ln w="1584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marL="343080" indent="-342720" algn="ctr">
              <a:lnSpc>
                <a:spcPct val="100000"/>
              </a:lnSpc>
              <a:spcBef>
                <a:spcPts val="901"/>
              </a:spcBef>
            </a:pPr>
            <a:r>
              <a:rPr lang="en-US" sz="2800" b="1" strike="noStrike" spc="-1">
                <a:solidFill>
                  <a:srgbClr val="660066"/>
                </a:solidFill>
                <a:latin typeface="Courier New"/>
                <a:ea typeface="ＭＳ Ｐゴシック"/>
              </a:rPr>
              <a:t> </a:t>
            </a:r>
            <a:r>
              <a:rPr lang="en-US" sz="3000" b="1" strike="noStrike" spc="-1">
                <a:solidFill>
                  <a:srgbClr val="660066"/>
                </a:solidFill>
                <a:latin typeface="Courier New"/>
                <a:ea typeface="ＭＳ Ｐゴシック"/>
              </a:rPr>
              <a:t>add</a:t>
            </a:r>
            <a:r>
              <a:rPr lang="en-US" sz="3000" b="1" strike="noStrike" spc="-1">
                <a:solidFill>
                  <a:srgbClr val="000000"/>
                </a:solidFill>
                <a:latin typeface="Courier New"/>
                <a:ea typeface="ＭＳ Ｐゴシック"/>
              </a:rPr>
              <a:t> </a:t>
            </a:r>
            <a:r>
              <a:rPr lang="en-US" sz="3000" b="1" strike="noStrike" spc="-1">
                <a:solidFill>
                  <a:srgbClr val="C00000"/>
                </a:solidFill>
                <a:latin typeface="Courier New"/>
                <a:ea typeface="ＭＳ Ｐゴシック"/>
              </a:rPr>
              <a:t>$8</a:t>
            </a:r>
            <a:r>
              <a:rPr lang="en-US" sz="3000" b="1" strike="noStrike" spc="-1">
                <a:solidFill>
                  <a:srgbClr val="000000"/>
                </a:solidFill>
                <a:latin typeface="Courier New"/>
                <a:ea typeface="ＭＳ Ｐゴシック"/>
              </a:rPr>
              <a:t>, </a:t>
            </a:r>
            <a:r>
              <a:rPr lang="en-US" sz="3000" b="1" strike="noStrike" spc="-1">
                <a:solidFill>
                  <a:srgbClr val="006600"/>
                </a:solidFill>
                <a:latin typeface="Courier New"/>
                <a:ea typeface="ＭＳ Ｐゴシック"/>
              </a:rPr>
              <a:t>$9</a:t>
            </a:r>
            <a:r>
              <a:rPr lang="en-US" sz="3000" b="1" strike="noStrike" spc="-1">
                <a:solidFill>
                  <a:srgbClr val="000000"/>
                </a:solidFill>
                <a:latin typeface="Courier New"/>
                <a:ea typeface="ＭＳ Ｐゴシック"/>
              </a:rPr>
              <a:t>, </a:t>
            </a:r>
            <a:r>
              <a:rPr lang="en-US" sz="3000" b="1" strike="noStrike" spc="-1">
                <a:solidFill>
                  <a:srgbClr val="006600"/>
                </a:solidFill>
                <a:latin typeface="Courier New"/>
                <a:ea typeface="ＭＳ Ｐゴシック"/>
              </a:rPr>
              <a:t>$10</a:t>
            </a:r>
            <a:endParaRPr lang="en-US" sz="3000" b="0" strike="noStrike" spc="-1">
              <a:latin typeface="Arial"/>
            </a:endParaRPr>
          </a:p>
        </p:txBody>
      </p:sp>
      <p:sp>
        <p:nvSpPr>
          <p:cNvPr id="93" name="Line 91">
            <a:extLst>
              <a:ext uri="{FF2B5EF4-FFF2-40B4-BE49-F238E27FC236}">
                <a16:creationId xmlns:a16="http://schemas.microsoft.com/office/drawing/2014/main" id="{D21D0F8B-3114-1B79-EE3E-57BD18B9CAAF}"/>
              </a:ext>
            </a:extLst>
          </p:cNvPr>
          <p:cNvSpPr/>
          <p:nvPr/>
        </p:nvSpPr>
        <p:spPr>
          <a:xfrm>
            <a:off x="9356087" y="4737709"/>
            <a:ext cx="360" cy="25200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94" name="CustomShape 92">
            <a:extLst>
              <a:ext uri="{FF2B5EF4-FFF2-40B4-BE49-F238E27FC236}">
                <a16:creationId xmlns:a16="http://schemas.microsoft.com/office/drawing/2014/main" id="{41045394-0542-6F7D-21BE-C58F6CF2066D}"/>
              </a:ext>
            </a:extLst>
          </p:cNvPr>
          <p:cNvSpPr/>
          <p:nvPr/>
        </p:nvSpPr>
        <p:spPr>
          <a:xfrm>
            <a:off x="8792687" y="4990069"/>
            <a:ext cx="117000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400" b="1" strike="noStrike" spc="-1">
                <a:solidFill>
                  <a:srgbClr val="660066"/>
                </a:solidFill>
                <a:latin typeface="Verdana"/>
                <a:ea typeface="ＭＳ Ｐゴシック"/>
              </a:rPr>
              <a:t>MemRead</a:t>
            </a:r>
            <a:endParaRPr lang="en-US" sz="1400" b="0" strike="noStrike" spc="-1">
              <a:latin typeface="Arial"/>
            </a:endParaRPr>
          </a:p>
        </p:txBody>
      </p:sp>
    </p:spTree>
    <p:extLst>
      <p:ext uri="{BB962C8B-B14F-4D97-AF65-F5344CB8AC3E}">
        <p14:creationId xmlns:p14="http://schemas.microsoft.com/office/powerpoint/2010/main" val="13921849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B837-36B6-E186-44DB-23E21FE87830}"/>
              </a:ext>
            </a:extLst>
          </p:cNvPr>
          <p:cNvSpPr>
            <a:spLocks noGrp="1"/>
          </p:cNvSpPr>
          <p:nvPr>
            <p:ph type="title"/>
          </p:nvPr>
        </p:nvSpPr>
        <p:spPr/>
        <p:txBody>
          <a:bodyPr/>
          <a:lstStyle/>
          <a:p>
            <a:r>
              <a:rPr lang="vi-VN" sz="4000"/>
              <a:t>Giai đoạn lưu trữ kết quả (Result Write)</a:t>
            </a:r>
            <a:endParaRPr lang="en-US"/>
          </a:p>
        </p:txBody>
      </p:sp>
      <p:sp>
        <p:nvSpPr>
          <p:cNvPr id="4" name="Footer Placeholder 3">
            <a:extLst>
              <a:ext uri="{FF2B5EF4-FFF2-40B4-BE49-F238E27FC236}">
                <a16:creationId xmlns:a16="http://schemas.microsoft.com/office/drawing/2014/main" id="{A6968558-B237-1099-B1D5-7F7C18B534C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3154C20-D789-0928-41F7-A66DAC47ED84}"/>
              </a:ext>
            </a:extLst>
          </p:cNvPr>
          <p:cNvSpPr>
            <a:spLocks noGrp="1"/>
          </p:cNvSpPr>
          <p:nvPr>
            <p:ph type="sldNum" sz="quarter" idx="12"/>
          </p:nvPr>
        </p:nvSpPr>
        <p:spPr/>
        <p:txBody>
          <a:bodyPr/>
          <a:lstStyle/>
          <a:p>
            <a:fld id="{D8B0B3AC-44A8-D142-AAF6-9A453466E1A4}" type="slidenum">
              <a:rPr lang="en-VN" smtClean="0"/>
              <a:pPr/>
              <a:t>58</a:t>
            </a:fld>
            <a:endParaRPr lang="en-VN" dirty="0"/>
          </a:p>
        </p:txBody>
      </p:sp>
      <p:sp>
        <p:nvSpPr>
          <p:cNvPr id="6" name="Date Placeholder 5">
            <a:extLst>
              <a:ext uri="{FF2B5EF4-FFF2-40B4-BE49-F238E27FC236}">
                <a16:creationId xmlns:a16="http://schemas.microsoft.com/office/drawing/2014/main" id="{141E8A66-41C9-9CC1-2355-356C3F4EE6D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sp>
        <p:nvSpPr>
          <p:cNvPr id="9" name="Line 2">
            <a:extLst>
              <a:ext uri="{FF2B5EF4-FFF2-40B4-BE49-F238E27FC236}">
                <a16:creationId xmlns:a16="http://schemas.microsoft.com/office/drawing/2014/main" id="{13C12610-F535-A338-37CF-B0545A06D619}"/>
              </a:ext>
            </a:extLst>
          </p:cNvPr>
          <p:cNvSpPr/>
          <p:nvPr/>
        </p:nvSpPr>
        <p:spPr>
          <a:xfrm>
            <a:off x="5768913" y="2987015"/>
            <a:ext cx="151200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0" name="Line 3">
            <a:extLst>
              <a:ext uri="{FF2B5EF4-FFF2-40B4-BE49-F238E27FC236}">
                <a16:creationId xmlns:a16="http://schemas.microsoft.com/office/drawing/2014/main" id="{BD0576EF-69DE-F814-DFAF-5969446B29B4}"/>
              </a:ext>
            </a:extLst>
          </p:cNvPr>
          <p:cNvSpPr/>
          <p:nvPr/>
        </p:nvSpPr>
        <p:spPr>
          <a:xfrm>
            <a:off x="5853153" y="3806375"/>
            <a:ext cx="1024920" cy="900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11" name="Line 4">
            <a:extLst>
              <a:ext uri="{FF2B5EF4-FFF2-40B4-BE49-F238E27FC236}">
                <a16:creationId xmlns:a16="http://schemas.microsoft.com/office/drawing/2014/main" id="{03AE39FD-F4F7-DA0B-5C55-28C781373643}"/>
              </a:ext>
            </a:extLst>
          </p:cNvPr>
          <p:cNvSpPr/>
          <p:nvPr/>
        </p:nvSpPr>
        <p:spPr>
          <a:xfrm>
            <a:off x="2537913" y="2876855"/>
            <a:ext cx="1433880" cy="47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2" name="Line 5">
            <a:extLst>
              <a:ext uri="{FF2B5EF4-FFF2-40B4-BE49-F238E27FC236}">
                <a16:creationId xmlns:a16="http://schemas.microsoft.com/office/drawing/2014/main" id="{5E52DADB-4A5A-F50F-7A1E-68DE4E7B7CFB}"/>
              </a:ext>
            </a:extLst>
          </p:cNvPr>
          <p:cNvSpPr/>
          <p:nvPr/>
        </p:nvSpPr>
        <p:spPr>
          <a:xfrm flipV="1">
            <a:off x="2537913" y="3239015"/>
            <a:ext cx="1433880" cy="17352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3" name="Line 6">
            <a:extLst>
              <a:ext uri="{FF2B5EF4-FFF2-40B4-BE49-F238E27FC236}">
                <a16:creationId xmlns:a16="http://schemas.microsoft.com/office/drawing/2014/main" id="{73822D3D-3E8A-4DA4-6274-5DCC13C431F1}"/>
              </a:ext>
            </a:extLst>
          </p:cNvPr>
          <p:cNvSpPr/>
          <p:nvPr/>
        </p:nvSpPr>
        <p:spPr>
          <a:xfrm>
            <a:off x="2577153" y="4121015"/>
            <a:ext cx="1008000" cy="360"/>
          </a:xfrm>
          <a:prstGeom prst="line">
            <a:avLst/>
          </a:prstGeom>
          <a:ln w="1908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4" name="CustomShape 7">
            <a:extLst>
              <a:ext uri="{FF2B5EF4-FFF2-40B4-BE49-F238E27FC236}">
                <a16:creationId xmlns:a16="http://schemas.microsoft.com/office/drawing/2014/main" id="{C5B4F26C-7721-81FB-EE6C-90A6C673AE22}"/>
              </a:ext>
            </a:extLst>
          </p:cNvPr>
          <p:cNvSpPr/>
          <p:nvPr/>
        </p:nvSpPr>
        <p:spPr>
          <a:xfrm>
            <a:off x="2612073" y="2672015"/>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[25:21]</a:t>
            </a:r>
            <a:endParaRPr lang="en-US" sz="1000" b="0" strike="noStrike" spc="-1">
              <a:latin typeface="Arial"/>
            </a:endParaRPr>
          </a:p>
        </p:txBody>
      </p:sp>
      <p:sp>
        <p:nvSpPr>
          <p:cNvPr id="15" name="CustomShape 8">
            <a:extLst>
              <a:ext uri="{FF2B5EF4-FFF2-40B4-BE49-F238E27FC236}">
                <a16:creationId xmlns:a16="http://schemas.microsoft.com/office/drawing/2014/main" id="{5ECB3924-AB93-D9F5-EFD8-D6924C4D77A5}"/>
              </a:ext>
            </a:extLst>
          </p:cNvPr>
          <p:cNvSpPr/>
          <p:nvPr/>
        </p:nvSpPr>
        <p:spPr>
          <a:xfrm rot="21202800">
            <a:off x="2585073" y="3136415"/>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[20:16]</a:t>
            </a:r>
            <a:endParaRPr lang="en-US" sz="1000" b="0" strike="noStrike" spc="-1">
              <a:latin typeface="Arial"/>
            </a:endParaRPr>
          </a:p>
        </p:txBody>
      </p:sp>
      <p:sp>
        <p:nvSpPr>
          <p:cNvPr id="16" name="CustomShape 9">
            <a:extLst>
              <a:ext uri="{FF2B5EF4-FFF2-40B4-BE49-F238E27FC236}">
                <a16:creationId xmlns:a16="http://schemas.microsoft.com/office/drawing/2014/main" id="{72C8A023-29A5-A3B0-65F9-443356975AD3}"/>
              </a:ext>
            </a:extLst>
          </p:cNvPr>
          <p:cNvSpPr/>
          <p:nvPr/>
        </p:nvSpPr>
        <p:spPr>
          <a:xfrm>
            <a:off x="2578233" y="4121375"/>
            <a:ext cx="10177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[15:11]</a:t>
            </a:r>
            <a:endParaRPr lang="en-US" sz="1000" b="0" strike="noStrike" spc="-1">
              <a:latin typeface="Arial"/>
            </a:endParaRPr>
          </a:p>
        </p:txBody>
      </p:sp>
      <p:sp>
        <p:nvSpPr>
          <p:cNvPr id="17" name="CustomShape 10">
            <a:extLst>
              <a:ext uri="{FF2B5EF4-FFF2-40B4-BE49-F238E27FC236}">
                <a16:creationId xmlns:a16="http://schemas.microsoft.com/office/drawing/2014/main" id="{88E4E402-A766-70A8-8F32-F68A97B39E18}"/>
              </a:ext>
            </a:extLst>
          </p:cNvPr>
          <p:cNvSpPr/>
          <p:nvPr/>
        </p:nvSpPr>
        <p:spPr>
          <a:xfrm>
            <a:off x="3629793" y="3554375"/>
            <a:ext cx="290880" cy="755640"/>
          </a:xfrm>
          <a:prstGeom prst="roundRect">
            <a:avLst>
              <a:gd name="adj" fmla="val 16667"/>
            </a:avLst>
          </a:prstGeom>
          <a:solidFill>
            <a:schemeClr val="bg1">
              <a:lumMod val="95000"/>
            </a:schemeClr>
          </a:solidFill>
          <a:ln w="15840">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18" name="CustomShape 11">
            <a:extLst>
              <a:ext uri="{FF2B5EF4-FFF2-40B4-BE49-F238E27FC236}">
                <a16:creationId xmlns:a16="http://schemas.microsoft.com/office/drawing/2014/main" id="{A67BA0FD-C971-1530-BBA7-E917F4413A03}"/>
              </a:ext>
            </a:extLst>
          </p:cNvPr>
          <p:cNvSpPr/>
          <p:nvPr/>
        </p:nvSpPr>
        <p:spPr>
          <a:xfrm rot="16200000" flipH="1">
            <a:off x="3075033" y="3377255"/>
            <a:ext cx="594720" cy="514440"/>
          </a:xfrm>
          <a:prstGeom prst="bentConnector2">
            <a:avLst/>
          </a:prstGeom>
          <a:noFill/>
          <a:ln w="2232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19" name="Line 12">
            <a:extLst>
              <a:ext uri="{FF2B5EF4-FFF2-40B4-BE49-F238E27FC236}">
                <a16:creationId xmlns:a16="http://schemas.microsoft.com/office/drawing/2014/main" id="{1FF214D3-1A5A-3FE3-A792-7426F69894C2}"/>
              </a:ext>
            </a:extLst>
          </p:cNvPr>
          <p:cNvSpPr/>
          <p:nvPr/>
        </p:nvSpPr>
        <p:spPr>
          <a:xfrm flipV="1">
            <a:off x="3920673" y="3617015"/>
            <a:ext cx="123480" cy="315000"/>
          </a:xfrm>
          <a:prstGeom prst="line">
            <a:avLst/>
          </a:prstGeom>
          <a:ln w="1584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0" name="CustomShape 13">
            <a:extLst>
              <a:ext uri="{FF2B5EF4-FFF2-40B4-BE49-F238E27FC236}">
                <a16:creationId xmlns:a16="http://schemas.microsoft.com/office/drawing/2014/main" id="{7D6E9174-E6C3-DEE9-E966-0E35F6090DE3}"/>
              </a:ext>
            </a:extLst>
          </p:cNvPr>
          <p:cNvSpPr/>
          <p:nvPr/>
        </p:nvSpPr>
        <p:spPr>
          <a:xfrm flipV="1">
            <a:off x="5747673" y="4058015"/>
            <a:ext cx="868320" cy="850320"/>
          </a:xfrm>
          <a:prstGeom prst="bentConnector3">
            <a:avLst>
              <a:gd name="adj1" fmla="val 50000"/>
            </a:avLst>
          </a:prstGeom>
          <a:noFill/>
          <a:ln w="1260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1" name="CustomShape 14">
            <a:extLst>
              <a:ext uri="{FF2B5EF4-FFF2-40B4-BE49-F238E27FC236}">
                <a16:creationId xmlns:a16="http://schemas.microsoft.com/office/drawing/2014/main" id="{D1E30668-A696-11AA-A190-CA9F83BBBECE}"/>
              </a:ext>
            </a:extLst>
          </p:cNvPr>
          <p:cNvSpPr/>
          <p:nvPr/>
        </p:nvSpPr>
        <p:spPr>
          <a:xfrm>
            <a:off x="2565633" y="4751015"/>
            <a:ext cx="929520" cy="24192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Inst [15:0]</a:t>
            </a:r>
            <a:endParaRPr lang="en-US" sz="1000" b="0" strike="noStrike" spc="-1">
              <a:latin typeface="Arial"/>
            </a:endParaRPr>
          </a:p>
        </p:txBody>
      </p:sp>
      <p:sp>
        <p:nvSpPr>
          <p:cNvPr id="22" name="CustomShape 15">
            <a:extLst>
              <a:ext uri="{FF2B5EF4-FFF2-40B4-BE49-F238E27FC236}">
                <a16:creationId xmlns:a16="http://schemas.microsoft.com/office/drawing/2014/main" id="{41004E74-0A0F-50A1-0DDD-ECA92B69BD91}"/>
              </a:ext>
            </a:extLst>
          </p:cNvPr>
          <p:cNvSpPr/>
          <p:nvPr/>
        </p:nvSpPr>
        <p:spPr>
          <a:xfrm>
            <a:off x="6616353" y="3680375"/>
            <a:ext cx="290880" cy="755640"/>
          </a:xfrm>
          <a:prstGeom prst="roundRect">
            <a:avLst>
              <a:gd name="adj" fmla="val 16667"/>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23" name="Line 16">
            <a:extLst>
              <a:ext uri="{FF2B5EF4-FFF2-40B4-BE49-F238E27FC236}">
                <a16:creationId xmlns:a16="http://schemas.microsoft.com/office/drawing/2014/main" id="{74A5660B-626A-9FEA-7203-7374E3721824}"/>
              </a:ext>
            </a:extLst>
          </p:cNvPr>
          <p:cNvSpPr/>
          <p:nvPr/>
        </p:nvSpPr>
        <p:spPr>
          <a:xfrm>
            <a:off x="2537913" y="4940015"/>
            <a:ext cx="2256480" cy="360"/>
          </a:xfrm>
          <a:prstGeom prst="line">
            <a:avLst/>
          </a:prstGeom>
          <a:ln w="12600">
            <a:solidFill>
              <a:schemeClr val="tx1"/>
            </a:solidFill>
            <a:round/>
          </a:ln>
        </p:spPr>
        <p:style>
          <a:lnRef idx="1">
            <a:schemeClr val="accent1"/>
          </a:lnRef>
          <a:fillRef idx="0">
            <a:schemeClr val="accent1"/>
          </a:fillRef>
          <a:effectRef idx="0">
            <a:schemeClr val="accent1"/>
          </a:effectRef>
          <a:fontRef idx="minor"/>
        </p:style>
        <p:txBody>
          <a:bodyPr/>
          <a:lstStyle/>
          <a:p>
            <a:endParaRPr lang="vi-VN"/>
          </a:p>
        </p:txBody>
      </p:sp>
      <p:sp>
        <p:nvSpPr>
          <p:cNvPr id="24" name="Line 17">
            <a:extLst>
              <a:ext uri="{FF2B5EF4-FFF2-40B4-BE49-F238E27FC236}">
                <a16:creationId xmlns:a16="http://schemas.microsoft.com/office/drawing/2014/main" id="{AD2EEE51-2294-CB22-3A0E-CC5BB056A3AC}"/>
              </a:ext>
            </a:extLst>
          </p:cNvPr>
          <p:cNvSpPr/>
          <p:nvPr/>
        </p:nvSpPr>
        <p:spPr>
          <a:xfrm>
            <a:off x="6907233" y="4058375"/>
            <a:ext cx="373680" cy="360"/>
          </a:xfrm>
          <a:prstGeom prst="line">
            <a:avLst/>
          </a:prstGeom>
          <a:ln w="1908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grpSp>
        <p:nvGrpSpPr>
          <p:cNvPr id="25" name="Group 18">
            <a:extLst>
              <a:ext uri="{FF2B5EF4-FFF2-40B4-BE49-F238E27FC236}">
                <a16:creationId xmlns:a16="http://schemas.microsoft.com/office/drawing/2014/main" id="{EDB70350-51A3-77F8-CB06-3A9D58C924C4}"/>
              </a:ext>
            </a:extLst>
          </p:cNvPr>
          <p:cNvGrpSpPr/>
          <p:nvPr/>
        </p:nvGrpSpPr>
        <p:grpSpPr>
          <a:xfrm>
            <a:off x="3971433" y="2735375"/>
            <a:ext cx="1926360" cy="1833120"/>
            <a:chOff x="2822040" y="2079000"/>
            <a:chExt cx="1926360" cy="1833120"/>
          </a:xfrm>
        </p:grpSpPr>
        <p:sp>
          <p:nvSpPr>
            <p:cNvPr id="26" name="Line 19">
              <a:extLst>
                <a:ext uri="{FF2B5EF4-FFF2-40B4-BE49-F238E27FC236}">
                  <a16:creationId xmlns:a16="http://schemas.microsoft.com/office/drawing/2014/main" id="{4402DB6B-1377-9D29-E8C4-7B216A4856AD}"/>
                </a:ext>
              </a:extLst>
            </p:cNvPr>
            <p:cNvSpPr/>
            <p:nvPr/>
          </p:nvSpPr>
          <p:spPr>
            <a:xfrm>
              <a:off x="2822040" y="2268000"/>
              <a:ext cx="599040" cy="10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7" name="Line 20">
              <a:extLst>
                <a:ext uri="{FF2B5EF4-FFF2-40B4-BE49-F238E27FC236}">
                  <a16:creationId xmlns:a16="http://schemas.microsoft.com/office/drawing/2014/main" id="{CA456462-316E-8889-26F0-3BC5EA6776BD}"/>
                </a:ext>
              </a:extLst>
            </p:cNvPr>
            <p:cNvSpPr/>
            <p:nvPr/>
          </p:nvSpPr>
          <p:spPr>
            <a:xfrm>
              <a:off x="2822040" y="2582640"/>
              <a:ext cx="599040" cy="133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8" name="Line 21">
              <a:extLst>
                <a:ext uri="{FF2B5EF4-FFF2-40B4-BE49-F238E27FC236}">
                  <a16:creationId xmlns:a16="http://schemas.microsoft.com/office/drawing/2014/main" id="{F0BF6BB0-D9B5-6292-0141-FF217CD2FE0E}"/>
                </a:ext>
              </a:extLst>
            </p:cNvPr>
            <p:cNvSpPr/>
            <p:nvPr/>
          </p:nvSpPr>
          <p:spPr>
            <a:xfrm flipV="1">
              <a:off x="2894760" y="2954160"/>
              <a:ext cx="526320" cy="64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29" name="Line 22">
              <a:extLst>
                <a:ext uri="{FF2B5EF4-FFF2-40B4-BE49-F238E27FC236}">
                  <a16:creationId xmlns:a16="http://schemas.microsoft.com/office/drawing/2014/main" id="{5BF7970D-4DDB-53C4-F835-99730B2933B1}"/>
                </a:ext>
              </a:extLst>
            </p:cNvPr>
            <p:cNvSpPr/>
            <p:nvPr/>
          </p:nvSpPr>
          <p:spPr>
            <a:xfrm>
              <a:off x="4021920" y="3402000"/>
              <a:ext cx="360" cy="22176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30" name="CustomShape 23">
              <a:extLst>
                <a:ext uri="{FF2B5EF4-FFF2-40B4-BE49-F238E27FC236}">
                  <a16:creationId xmlns:a16="http://schemas.microsoft.com/office/drawing/2014/main" id="{D22EC488-5451-2CF3-35EC-6EF410688AE8}"/>
                </a:ext>
              </a:extLst>
            </p:cNvPr>
            <p:cNvSpPr/>
            <p:nvPr/>
          </p:nvSpPr>
          <p:spPr>
            <a:xfrm>
              <a:off x="3409560" y="2079000"/>
              <a:ext cx="1244880" cy="138564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31" name="CustomShape 24">
              <a:extLst>
                <a:ext uri="{FF2B5EF4-FFF2-40B4-BE49-F238E27FC236}">
                  <a16:creationId xmlns:a16="http://schemas.microsoft.com/office/drawing/2014/main" id="{2F0B220C-0D36-4619-0E7A-24FED050A08E}"/>
                </a:ext>
              </a:extLst>
            </p:cNvPr>
            <p:cNvSpPr/>
            <p:nvPr/>
          </p:nvSpPr>
          <p:spPr>
            <a:xfrm>
              <a:off x="3340080" y="2190240"/>
              <a:ext cx="4644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RR1</a:t>
              </a:r>
              <a:endParaRPr lang="en-US" sz="1000" b="0" strike="noStrike" spc="-1">
                <a:latin typeface="Arial"/>
              </a:endParaRPr>
            </a:p>
          </p:txBody>
        </p:sp>
        <p:sp>
          <p:nvSpPr>
            <p:cNvPr id="32" name="CustomShape 25">
              <a:extLst>
                <a:ext uri="{FF2B5EF4-FFF2-40B4-BE49-F238E27FC236}">
                  <a16:creationId xmlns:a16="http://schemas.microsoft.com/office/drawing/2014/main" id="{3D3D782D-9692-48A7-0679-AA841906E023}"/>
                </a:ext>
              </a:extLst>
            </p:cNvPr>
            <p:cNvSpPr/>
            <p:nvPr/>
          </p:nvSpPr>
          <p:spPr>
            <a:xfrm>
              <a:off x="3340080" y="2505600"/>
              <a:ext cx="46440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RR2</a:t>
              </a:r>
              <a:endParaRPr lang="en-US" sz="1000" b="0" strike="noStrike" spc="-1">
                <a:latin typeface="Arial"/>
              </a:endParaRPr>
            </a:p>
          </p:txBody>
        </p:sp>
        <p:sp>
          <p:nvSpPr>
            <p:cNvPr id="33" name="CustomShape 26">
              <a:extLst>
                <a:ext uri="{FF2B5EF4-FFF2-40B4-BE49-F238E27FC236}">
                  <a16:creationId xmlns:a16="http://schemas.microsoft.com/office/drawing/2014/main" id="{C6AE1843-091E-B4D9-C786-92B2E3641EAC}"/>
                </a:ext>
              </a:extLst>
            </p:cNvPr>
            <p:cNvSpPr/>
            <p:nvPr/>
          </p:nvSpPr>
          <p:spPr>
            <a:xfrm>
              <a:off x="3342240" y="2835000"/>
              <a:ext cx="41868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a:t>
              </a:r>
              <a:endParaRPr lang="en-US" sz="1000" b="0" strike="noStrike" spc="-1">
                <a:latin typeface="Arial"/>
              </a:endParaRPr>
            </a:p>
          </p:txBody>
        </p:sp>
        <p:sp>
          <p:nvSpPr>
            <p:cNvPr id="34" name="CustomShape 27">
              <a:extLst>
                <a:ext uri="{FF2B5EF4-FFF2-40B4-BE49-F238E27FC236}">
                  <a16:creationId xmlns:a16="http://schemas.microsoft.com/office/drawing/2014/main" id="{AE2CE245-A285-469C-2F4C-14FD2BEFB07A}"/>
                </a:ext>
              </a:extLst>
            </p:cNvPr>
            <p:cNvSpPr/>
            <p:nvPr/>
          </p:nvSpPr>
          <p:spPr>
            <a:xfrm>
              <a:off x="3371400" y="3261600"/>
              <a:ext cx="659880" cy="241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000" b="1" strike="noStrike" spc="-1">
                  <a:solidFill>
                    <a:srgbClr val="000000"/>
                  </a:solidFill>
                  <a:latin typeface="Verdana"/>
                  <a:ea typeface="ＭＳ Ｐゴシック"/>
                </a:rPr>
                <a:t>WD</a:t>
              </a:r>
              <a:endParaRPr lang="en-US" sz="1000" b="0" strike="noStrike" spc="-1">
                <a:latin typeface="Arial"/>
              </a:endParaRPr>
            </a:p>
          </p:txBody>
        </p:sp>
        <p:sp>
          <p:nvSpPr>
            <p:cNvPr id="35" name="CustomShape 28">
              <a:extLst>
                <a:ext uri="{FF2B5EF4-FFF2-40B4-BE49-F238E27FC236}">
                  <a16:creationId xmlns:a16="http://schemas.microsoft.com/office/drawing/2014/main" id="{AFD195ED-F9DB-F4A6-F20A-1B5FD746742E}"/>
                </a:ext>
              </a:extLst>
            </p:cNvPr>
            <p:cNvSpPr/>
            <p:nvPr/>
          </p:nvSpPr>
          <p:spPr>
            <a:xfrm>
              <a:off x="4276080" y="2204640"/>
              <a:ext cx="47232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RD1</a:t>
              </a:r>
              <a:endParaRPr lang="en-US" sz="1000" b="0" strike="noStrike" spc="-1">
                <a:latin typeface="Arial"/>
              </a:endParaRPr>
            </a:p>
          </p:txBody>
        </p:sp>
        <p:sp>
          <p:nvSpPr>
            <p:cNvPr id="36" name="CustomShape 29">
              <a:extLst>
                <a:ext uri="{FF2B5EF4-FFF2-40B4-BE49-F238E27FC236}">
                  <a16:creationId xmlns:a16="http://schemas.microsoft.com/office/drawing/2014/main" id="{FE0CFA95-D32C-75E6-EBB9-E30B03B69803}"/>
                </a:ext>
              </a:extLst>
            </p:cNvPr>
            <p:cNvSpPr/>
            <p:nvPr/>
          </p:nvSpPr>
          <p:spPr>
            <a:xfrm>
              <a:off x="4276080" y="3072600"/>
              <a:ext cx="47232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RD2</a:t>
              </a:r>
              <a:endParaRPr lang="en-US" sz="1000" b="0" strike="noStrike" spc="-1">
                <a:latin typeface="Arial"/>
              </a:endParaRPr>
            </a:p>
          </p:txBody>
        </p:sp>
        <p:sp>
          <p:nvSpPr>
            <p:cNvPr id="37" name="CustomShape 30">
              <a:extLst>
                <a:ext uri="{FF2B5EF4-FFF2-40B4-BE49-F238E27FC236}">
                  <a16:creationId xmlns:a16="http://schemas.microsoft.com/office/drawing/2014/main" id="{2ACDF215-DCF6-77BD-6D31-CB82ECA57CB8}"/>
                </a:ext>
              </a:extLst>
            </p:cNvPr>
            <p:cNvSpPr/>
            <p:nvPr/>
          </p:nvSpPr>
          <p:spPr>
            <a:xfrm>
              <a:off x="3536640" y="2646000"/>
              <a:ext cx="99792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Registers</a:t>
              </a:r>
              <a:endParaRPr lang="en-US" sz="1200" b="0" strike="noStrike" spc="-1">
                <a:latin typeface="Arial"/>
              </a:endParaRPr>
            </a:p>
          </p:txBody>
        </p:sp>
        <p:sp>
          <p:nvSpPr>
            <p:cNvPr id="38" name="Line 31">
              <a:extLst>
                <a:ext uri="{FF2B5EF4-FFF2-40B4-BE49-F238E27FC236}">
                  <a16:creationId xmlns:a16="http://schemas.microsoft.com/office/drawing/2014/main" id="{A282F751-377A-FFDB-B4BA-43F000B195F4}"/>
                </a:ext>
              </a:extLst>
            </p:cNvPr>
            <p:cNvSpPr/>
            <p:nvPr/>
          </p:nvSpPr>
          <p:spPr>
            <a:xfrm flipH="1">
              <a:off x="3054240" y="2207520"/>
              <a:ext cx="110520" cy="1400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39" name="Line 32">
              <a:extLst>
                <a:ext uri="{FF2B5EF4-FFF2-40B4-BE49-F238E27FC236}">
                  <a16:creationId xmlns:a16="http://schemas.microsoft.com/office/drawing/2014/main" id="{E5BB1266-FB41-674E-6F7A-E7CBF59A777E}"/>
                </a:ext>
              </a:extLst>
            </p:cNvPr>
            <p:cNvSpPr/>
            <p:nvPr/>
          </p:nvSpPr>
          <p:spPr>
            <a:xfrm flipH="1">
              <a:off x="3054240" y="2525040"/>
              <a:ext cx="11052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0" name="Line 33">
              <a:extLst>
                <a:ext uri="{FF2B5EF4-FFF2-40B4-BE49-F238E27FC236}">
                  <a16:creationId xmlns:a16="http://schemas.microsoft.com/office/drawing/2014/main" id="{6343A7A5-CA62-2C62-77F4-DA3FDC581FC7}"/>
                </a:ext>
              </a:extLst>
            </p:cNvPr>
            <p:cNvSpPr/>
            <p:nvPr/>
          </p:nvSpPr>
          <p:spPr>
            <a:xfrm flipH="1">
              <a:off x="3054240" y="2883600"/>
              <a:ext cx="110520" cy="140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1" name="CustomShape 34">
              <a:extLst>
                <a:ext uri="{FF2B5EF4-FFF2-40B4-BE49-F238E27FC236}">
                  <a16:creationId xmlns:a16="http://schemas.microsoft.com/office/drawing/2014/main" id="{1F18C452-B592-8C78-C1E5-CF24450FCC5B}"/>
                </a:ext>
              </a:extLst>
            </p:cNvPr>
            <p:cNvSpPr/>
            <p:nvPr/>
          </p:nvSpPr>
          <p:spPr>
            <a:xfrm>
              <a:off x="2947320" y="207900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42" name="CustomShape 35">
              <a:extLst>
                <a:ext uri="{FF2B5EF4-FFF2-40B4-BE49-F238E27FC236}">
                  <a16:creationId xmlns:a16="http://schemas.microsoft.com/office/drawing/2014/main" id="{762150F7-2113-DE6E-9345-9C832138031E}"/>
                </a:ext>
              </a:extLst>
            </p:cNvPr>
            <p:cNvSpPr/>
            <p:nvPr/>
          </p:nvSpPr>
          <p:spPr>
            <a:xfrm>
              <a:off x="2918880" y="2409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43" name="CustomShape 36">
              <a:extLst>
                <a:ext uri="{FF2B5EF4-FFF2-40B4-BE49-F238E27FC236}">
                  <a16:creationId xmlns:a16="http://schemas.microsoft.com/office/drawing/2014/main" id="{A8D0AE6F-F59F-5A23-752F-252D1F61D489}"/>
                </a:ext>
              </a:extLst>
            </p:cNvPr>
            <p:cNvSpPr/>
            <p:nvPr/>
          </p:nvSpPr>
          <p:spPr>
            <a:xfrm>
              <a:off x="2918880" y="2787480"/>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5</a:t>
              </a:r>
              <a:endParaRPr lang="en-US" sz="1000" b="0" strike="noStrike" spc="-1">
                <a:latin typeface="Arial"/>
              </a:endParaRPr>
            </a:p>
          </p:txBody>
        </p:sp>
        <p:sp>
          <p:nvSpPr>
            <p:cNvPr id="44" name="CustomShape 37">
              <a:extLst>
                <a:ext uri="{FF2B5EF4-FFF2-40B4-BE49-F238E27FC236}">
                  <a16:creationId xmlns:a16="http://schemas.microsoft.com/office/drawing/2014/main" id="{4C56F6C3-B278-0B1B-E51A-616CFEAC1BD5}"/>
                </a:ext>
              </a:extLst>
            </p:cNvPr>
            <p:cNvSpPr/>
            <p:nvPr/>
          </p:nvSpPr>
          <p:spPr>
            <a:xfrm>
              <a:off x="3519720" y="3609360"/>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400" b="1" strike="noStrike" spc="-1">
                  <a:solidFill>
                    <a:srgbClr val="660066"/>
                  </a:solidFill>
                  <a:latin typeface="Courier New"/>
                  <a:ea typeface="ＭＳ Ｐゴシック"/>
                </a:rPr>
                <a:t>RegWrite</a:t>
              </a:r>
              <a:endParaRPr lang="en-US" sz="1400" b="0" strike="noStrike" spc="-1">
                <a:latin typeface="Arial"/>
              </a:endParaRPr>
            </a:p>
          </p:txBody>
        </p:sp>
      </p:grpSp>
      <p:sp>
        <p:nvSpPr>
          <p:cNvPr id="45" name="CustomShape 38">
            <a:extLst>
              <a:ext uri="{FF2B5EF4-FFF2-40B4-BE49-F238E27FC236}">
                <a16:creationId xmlns:a16="http://schemas.microsoft.com/office/drawing/2014/main" id="{2EAD75CD-0360-27AC-CBA5-FBBEE21A0F25}"/>
              </a:ext>
            </a:extLst>
          </p:cNvPr>
          <p:cNvSpPr/>
          <p:nvPr/>
        </p:nvSpPr>
        <p:spPr>
          <a:xfrm>
            <a:off x="4487673" y="4688375"/>
            <a:ext cx="1259640" cy="440640"/>
          </a:xfrm>
          <a:prstGeom prst="ellipse">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400" b="0" strike="noStrike" spc="-1">
                <a:solidFill>
                  <a:srgbClr val="000000"/>
                </a:solidFill>
                <a:latin typeface="Times New Roman"/>
                <a:ea typeface="ＭＳ Ｐゴシック"/>
              </a:rPr>
              <a:t>Sign Extend</a:t>
            </a:r>
            <a:endParaRPr lang="en-US" sz="1400" b="0" strike="noStrike" spc="-1">
              <a:latin typeface="Arial"/>
            </a:endParaRPr>
          </a:p>
        </p:txBody>
      </p:sp>
      <p:sp>
        <p:nvSpPr>
          <p:cNvPr id="46" name="Line 39">
            <a:extLst>
              <a:ext uri="{FF2B5EF4-FFF2-40B4-BE49-F238E27FC236}">
                <a16:creationId xmlns:a16="http://schemas.microsoft.com/office/drawing/2014/main" id="{857FCD4F-C508-70AE-0500-140CA6C6C791}"/>
              </a:ext>
            </a:extLst>
          </p:cNvPr>
          <p:cNvSpPr/>
          <p:nvPr/>
        </p:nvSpPr>
        <p:spPr>
          <a:xfrm>
            <a:off x="7280913" y="2830775"/>
            <a:ext cx="840240" cy="2822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7" name="Line 40">
            <a:extLst>
              <a:ext uri="{FF2B5EF4-FFF2-40B4-BE49-F238E27FC236}">
                <a16:creationId xmlns:a16="http://schemas.microsoft.com/office/drawing/2014/main" id="{1E1BEE61-B7BC-E4EF-DB2F-5C0D49E0CA2D}"/>
              </a:ext>
            </a:extLst>
          </p:cNvPr>
          <p:cNvSpPr/>
          <p:nvPr/>
        </p:nvSpPr>
        <p:spPr>
          <a:xfrm>
            <a:off x="8120793" y="3113375"/>
            <a:ext cx="360" cy="7560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8" name="Line 41">
            <a:extLst>
              <a:ext uri="{FF2B5EF4-FFF2-40B4-BE49-F238E27FC236}">
                <a16:creationId xmlns:a16="http://schemas.microsoft.com/office/drawing/2014/main" id="{1FBCD96F-932F-2033-4D41-AE9C8A794AEC}"/>
              </a:ext>
            </a:extLst>
          </p:cNvPr>
          <p:cNvSpPr/>
          <p:nvPr/>
        </p:nvSpPr>
        <p:spPr>
          <a:xfrm flipH="1">
            <a:off x="7280913" y="3869375"/>
            <a:ext cx="840240" cy="2952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49" name="Line 42">
            <a:extLst>
              <a:ext uri="{FF2B5EF4-FFF2-40B4-BE49-F238E27FC236}">
                <a16:creationId xmlns:a16="http://schemas.microsoft.com/office/drawing/2014/main" id="{FC1F365C-57B5-02C5-1E1F-F9E4E661A1CD}"/>
              </a:ext>
            </a:extLst>
          </p:cNvPr>
          <p:cNvSpPr/>
          <p:nvPr/>
        </p:nvSpPr>
        <p:spPr>
          <a:xfrm flipV="1">
            <a:off x="7281633" y="3624935"/>
            <a:ext cx="360" cy="5396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0" name="Line 43">
            <a:extLst>
              <a:ext uri="{FF2B5EF4-FFF2-40B4-BE49-F238E27FC236}">
                <a16:creationId xmlns:a16="http://schemas.microsoft.com/office/drawing/2014/main" id="{58398A74-A419-CCA3-D934-FD3D72A928B7}"/>
              </a:ext>
            </a:extLst>
          </p:cNvPr>
          <p:cNvSpPr/>
          <p:nvPr/>
        </p:nvSpPr>
        <p:spPr>
          <a:xfrm flipV="1">
            <a:off x="7281633" y="3466175"/>
            <a:ext cx="169920" cy="15840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1" name="Line 44">
            <a:extLst>
              <a:ext uri="{FF2B5EF4-FFF2-40B4-BE49-F238E27FC236}">
                <a16:creationId xmlns:a16="http://schemas.microsoft.com/office/drawing/2014/main" id="{8B50CF9F-6C00-B284-720F-349CD203CDB4}"/>
              </a:ext>
            </a:extLst>
          </p:cNvPr>
          <p:cNvSpPr/>
          <p:nvPr/>
        </p:nvSpPr>
        <p:spPr>
          <a:xfrm>
            <a:off x="7280913" y="3275735"/>
            <a:ext cx="169920" cy="1904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2" name="Line 45">
            <a:extLst>
              <a:ext uri="{FF2B5EF4-FFF2-40B4-BE49-F238E27FC236}">
                <a16:creationId xmlns:a16="http://schemas.microsoft.com/office/drawing/2014/main" id="{047C2E77-3AE8-D3CB-7022-A82F1030146E}"/>
              </a:ext>
            </a:extLst>
          </p:cNvPr>
          <p:cNvSpPr/>
          <p:nvPr/>
        </p:nvSpPr>
        <p:spPr>
          <a:xfrm flipV="1">
            <a:off x="7280913" y="2830775"/>
            <a:ext cx="360" cy="44496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3" name="Line 46">
            <a:extLst>
              <a:ext uri="{FF2B5EF4-FFF2-40B4-BE49-F238E27FC236}">
                <a16:creationId xmlns:a16="http://schemas.microsoft.com/office/drawing/2014/main" id="{1BF23BE8-2798-494A-0256-E5F886B4836F}"/>
              </a:ext>
            </a:extLst>
          </p:cNvPr>
          <p:cNvSpPr/>
          <p:nvPr/>
        </p:nvSpPr>
        <p:spPr>
          <a:xfrm>
            <a:off x="7776273" y="2546015"/>
            <a:ext cx="360" cy="44352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4" name="CustomShape 47">
            <a:extLst>
              <a:ext uri="{FF2B5EF4-FFF2-40B4-BE49-F238E27FC236}">
                <a16:creationId xmlns:a16="http://schemas.microsoft.com/office/drawing/2014/main" id="{342D8CE6-5575-2BE8-419D-E3342C7FF72C}"/>
              </a:ext>
            </a:extLst>
          </p:cNvPr>
          <p:cNvSpPr/>
          <p:nvPr/>
        </p:nvSpPr>
        <p:spPr>
          <a:xfrm>
            <a:off x="7479273" y="3541415"/>
            <a:ext cx="59724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r">
              <a:lnSpc>
                <a:spcPct val="100000"/>
              </a:lnSpc>
            </a:pPr>
            <a:r>
              <a:rPr lang="en-US" sz="1000" b="1" strike="noStrike" spc="-1">
                <a:solidFill>
                  <a:srgbClr val="000000"/>
                </a:solidFill>
                <a:latin typeface="Verdana"/>
                <a:ea typeface="ＭＳ Ｐゴシック"/>
              </a:rPr>
              <a:t>ALU</a:t>
            </a:r>
            <a:endParaRPr lang="en-US" sz="1000" b="0" strike="noStrike" spc="-1">
              <a:latin typeface="Arial"/>
            </a:endParaRPr>
          </a:p>
          <a:p>
            <a:pPr algn="r">
              <a:lnSpc>
                <a:spcPct val="100000"/>
              </a:lnSpc>
            </a:pPr>
            <a:r>
              <a:rPr lang="en-US" sz="1000" b="1" strike="noStrike" spc="-1">
                <a:solidFill>
                  <a:srgbClr val="000000"/>
                </a:solidFill>
                <a:latin typeface="Verdana"/>
                <a:ea typeface="ＭＳ Ｐゴシック"/>
              </a:rPr>
              <a:t>result</a:t>
            </a:r>
            <a:endParaRPr lang="en-US" sz="1000" b="0" strike="noStrike" spc="-1">
              <a:latin typeface="Arial"/>
            </a:endParaRPr>
          </a:p>
        </p:txBody>
      </p:sp>
      <p:sp>
        <p:nvSpPr>
          <p:cNvPr id="55" name="CustomShape 48">
            <a:extLst>
              <a:ext uri="{FF2B5EF4-FFF2-40B4-BE49-F238E27FC236}">
                <a16:creationId xmlns:a16="http://schemas.microsoft.com/office/drawing/2014/main" id="{AF0975C3-FE40-5498-975D-8AA6156C8488}"/>
              </a:ext>
            </a:extLst>
          </p:cNvPr>
          <p:cNvSpPr/>
          <p:nvPr/>
        </p:nvSpPr>
        <p:spPr>
          <a:xfrm>
            <a:off x="7396833" y="3302375"/>
            <a:ext cx="513360" cy="272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ALU</a:t>
            </a:r>
            <a:endParaRPr lang="en-US" sz="1200" b="0" strike="noStrike" spc="-1">
              <a:latin typeface="Arial"/>
            </a:endParaRPr>
          </a:p>
        </p:txBody>
      </p:sp>
      <p:sp>
        <p:nvSpPr>
          <p:cNvPr id="56" name="CustomShape 49">
            <a:extLst>
              <a:ext uri="{FF2B5EF4-FFF2-40B4-BE49-F238E27FC236}">
                <a16:creationId xmlns:a16="http://schemas.microsoft.com/office/drawing/2014/main" id="{FE671D27-5EB4-7DA7-E7F6-B5882FB92A3F}"/>
              </a:ext>
            </a:extLst>
          </p:cNvPr>
          <p:cNvSpPr/>
          <p:nvPr/>
        </p:nvSpPr>
        <p:spPr>
          <a:xfrm>
            <a:off x="6951873" y="2294015"/>
            <a:ext cx="124776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Courier New"/>
                <a:ea typeface="ＭＳ Ｐゴシック"/>
              </a:rPr>
              <a:t>ALUcontrol</a:t>
            </a:r>
            <a:endParaRPr lang="en-US" sz="1400" b="0" strike="noStrike" spc="-1">
              <a:latin typeface="Arial"/>
            </a:endParaRPr>
          </a:p>
        </p:txBody>
      </p:sp>
      <p:sp>
        <p:nvSpPr>
          <p:cNvPr id="57" name="Line 50">
            <a:extLst>
              <a:ext uri="{FF2B5EF4-FFF2-40B4-BE49-F238E27FC236}">
                <a16:creationId xmlns:a16="http://schemas.microsoft.com/office/drawing/2014/main" id="{A6EADB6A-555A-D072-054F-1885FD573760}"/>
              </a:ext>
            </a:extLst>
          </p:cNvPr>
          <p:cNvSpPr/>
          <p:nvPr/>
        </p:nvSpPr>
        <p:spPr>
          <a:xfrm>
            <a:off x="7648473" y="2863535"/>
            <a:ext cx="254160" cy="6444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58" name="CustomShape 51">
            <a:extLst>
              <a:ext uri="{FF2B5EF4-FFF2-40B4-BE49-F238E27FC236}">
                <a16:creationId xmlns:a16="http://schemas.microsoft.com/office/drawing/2014/main" id="{64342CEA-2ACA-48F7-8FE7-6D13BCF3B301}"/>
              </a:ext>
            </a:extLst>
          </p:cNvPr>
          <p:cNvSpPr/>
          <p:nvPr/>
        </p:nvSpPr>
        <p:spPr>
          <a:xfrm>
            <a:off x="7465233" y="2682815"/>
            <a:ext cx="269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660066"/>
                </a:solidFill>
                <a:latin typeface="Verdana"/>
                <a:ea typeface="ＭＳ Ｐゴシック"/>
              </a:rPr>
              <a:t>4</a:t>
            </a:r>
            <a:endParaRPr lang="en-US" sz="1000" b="0" strike="noStrike" spc="-1">
              <a:latin typeface="Arial"/>
            </a:endParaRPr>
          </a:p>
        </p:txBody>
      </p:sp>
      <p:sp>
        <p:nvSpPr>
          <p:cNvPr id="59" name="CustomShape 52">
            <a:extLst>
              <a:ext uri="{FF2B5EF4-FFF2-40B4-BE49-F238E27FC236}">
                <a16:creationId xmlns:a16="http://schemas.microsoft.com/office/drawing/2014/main" id="{13E8085E-DCEB-9E25-DE31-EE169F9DA95F}"/>
              </a:ext>
            </a:extLst>
          </p:cNvPr>
          <p:cNvSpPr/>
          <p:nvPr/>
        </p:nvSpPr>
        <p:spPr>
          <a:xfrm>
            <a:off x="8593833" y="3484175"/>
            <a:ext cx="1296000" cy="125964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vi-VN"/>
          </a:p>
        </p:txBody>
      </p:sp>
      <p:sp>
        <p:nvSpPr>
          <p:cNvPr id="60" name="Line 53">
            <a:extLst>
              <a:ext uri="{FF2B5EF4-FFF2-40B4-BE49-F238E27FC236}">
                <a16:creationId xmlns:a16="http://schemas.microsoft.com/office/drawing/2014/main" id="{44C3C2E4-C525-C2D3-7D05-D42D5E8BFD01}"/>
              </a:ext>
            </a:extLst>
          </p:cNvPr>
          <p:cNvSpPr/>
          <p:nvPr/>
        </p:nvSpPr>
        <p:spPr>
          <a:xfrm>
            <a:off x="9885153" y="4436375"/>
            <a:ext cx="504000" cy="360"/>
          </a:xfrm>
          <a:prstGeom prst="line">
            <a:avLst/>
          </a:prstGeom>
          <a:ln w="12600">
            <a:solidFill>
              <a:schemeClr val="tx1"/>
            </a:solidFill>
            <a:round/>
            <a:tailEnd type="triangle" w="med" len="med"/>
          </a:ln>
        </p:spPr>
        <p:style>
          <a:lnRef idx="0">
            <a:scrgbClr r="0" g="0" b="0"/>
          </a:lnRef>
          <a:fillRef idx="0">
            <a:scrgbClr r="0" g="0" b="0"/>
          </a:fillRef>
          <a:effectRef idx="0">
            <a:scrgbClr r="0" g="0" b="0"/>
          </a:effectRef>
          <a:fontRef idx="minor"/>
        </p:style>
        <p:txBody>
          <a:bodyPr/>
          <a:lstStyle/>
          <a:p>
            <a:endParaRPr lang="vi-VN"/>
          </a:p>
        </p:txBody>
      </p:sp>
      <p:sp>
        <p:nvSpPr>
          <p:cNvPr id="61" name="CustomShape 54">
            <a:extLst>
              <a:ext uri="{FF2B5EF4-FFF2-40B4-BE49-F238E27FC236}">
                <a16:creationId xmlns:a16="http://schemas.microsoft.com/office/drawing/2014/main" id="{A38B0EB8-ECF6-8C40-6938-BBB905484EC8}"/>
              </a:ext>
            </a:extLst>
          </p:cNvPr>
          <p:cNvSpPr/>
          <p:nvPr/>
        </p:nvSpPr>
        <p:spPr>
          <a:xfrm>
            <a:off x="8810193" y="3806015"/>
            <a:ext cx="874440" cy="45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200" b="1" i="1" strike="noStrike" spc="-1">
                <a:solidFill>
                  <a:srgbClr val="000000"/>
                </a:solidFill>
                <a:latin typeface="Verdana"/>
                <a:ea typeface="ＭＳ Ｐゴシック"/>
              </a:rPr>
              <a:t>Data</a:t>
            </a:r>
            <a:endParaRPr lang="en-US" sz="1200" b="0" strike="noStrike" spc="-1">
              <a:latin typeface="Arial"/>
            </a:endParaRPr>
          </a:p>
          <a:p>
            <a:pPr algn="ctr">
              <a:lnSpc>
                <a:spcPct val="100000"/>
              </a:lnSpc>
            </a:pPr>
            <a:r>
              <a:rPr lang="en-US" sz="1200" b="1" i="1" strike="noStrike" spc="-1">
                <a:solidFill>
                  <a:srgbClr val="000000"/>
                </a:solidFill>
                <a:latin typeface="Verdana"/>
                <a:ea typeface="ＭＳ Ｐゴシック"/>
              </a:rPr>
              <a:t>Memory</a:t>
            </a:r>
            <a:endParaRPr lang="en-US" sz="1200" b="0" strike="noStrike" spc="-1">
              <a:latin typeface="Arial"/>
            </a:endParaRPr>
          </a:p>
        </p:txBody>
      </p:sp>
      <p:sp>
        <p:nvSpPr>
          <p:cNvPr id="62" name="CustomShape 55">
            <a:extLst>
              <a:ext uri="{FF2B5EF4-FFF2-40B4-BE49-F238E27FC236}">
                <a16:creationId xmlns:a16="http://schemas.microsoft.com/office/drawing/2014/main" id="{01C2AD18-47E3-4092-BB34-21F4DED45D69}"/>
              </a:ext>
            </a:extLst>
          </p:cNvPr>
          <p:cNvSpPr/>
          <p:nvPr/>
        </p:nvSpPr>
        <p:spPr>
          <a:xfrm>
            <a:off x="8538393" y="3608735"/>
            <a:ext cx="755640" cy="24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000" b="1" strike="noStrike" spc="-1">
                <a:solidFill>
                  <a:srgbClr val="000000"/>
                </a:solidFill>
                <a:latin typeface="Verdana"/>
                <a:ea typeface="ＭＳ Ｐゴシック"/>
              </a:rPr>
              <a:t>Address</a:t>
            </a:r>
            <a:endParaRPr lang="en-US" sz="1000" b="0" strike="noStrike" spc="-1">
              <a:latin typeface="Arial"/>
            </a:endParaRPr>
          </a:p>
        </p:txBody>
      </p:sp>
      <p:sp>
        <p:nvSpPr>
          <p:cNvPr id="63" name="CustomShape 56">
            <a:extLst>
              <a:ext uri="{FF2B5EF4-FFF2-40B4-BE49-F238E27FC236}">
                <a16:creationId xmlns:a16="http://schemas.microsoft.com/office/drawing/2014/main" id="{5D16E435-B4EB-D546-B6EE-64545E1A2E57}"/>
              </a:ext>
            </a:extLst>
          </p:cNvPr>
          <p:cNvSpPr/>
          <p:nvPr/>
        </p:nvSpPr>
        <p:spPr>
          <a:xfrm>
            <a:off x="9328233" y="4234055"/>
            <a:ext cx="58356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Read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64" name="CustomShape 57">
            <a:extLst>
              <a:ext uri="{FF2B5EF4-FFF2-40B4-BE49-F238E27FC236}">
                <a16:creationId xmlns:a16="http://schemas.microsoft.com/office/drawing/2014/main" id="{3E7826B4-724D-1E0D-2E48-61917C60F5FF}"/>
              </a:ext>
            </a:extLst>
          </p:cNvPr>
          <p:cNvSpPr/>
          <p:nvPr/>
        </p:nvSpPr>
        <p:spPr>
          <a:xfrm>
            <a:off x="8496993" y="4436375"/>
            <a:ext cx="613800" cy="394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000000"/>
                </a:solidFill>
                <a:latin typeface="Verdana"/>
                <a:ea typeface="ＭＳ Ｐゴシック"/>
              </a:rPr>
              <a:t>Write </a:t>
            </a:r>
            <a:endParaRPr lang="en-US" sz="1000" b="0" strike="noStrike" spc="-1">
              <a:latin typeface="Arial"/>
            </a:endParaRPr>
          </a:p>
          <a:p>
            <a:pPr>
              <a:lnSpc>
                <a:spcPct val="100000"/>
              </a:lnSpc>
            </a:pPr>
            <a:r>
              <a:rPr lang="en-US" sz="1000" b="1" strike="noStrike" spc="-1">
                <a:solidFill>
                  <a:srgbClr val="000000"/>
                </a:solidFill>
                <a:latin typeface="Verdana"/>
                <a:ea typeface="ＭＳ Ｐゴシック"/>
              </a:rPr>
              <a:t>Data</a:t>
            </a:r>
            <a:endParaRPr lang="en-US" sz="1000" b="0" strike="noStrike" spc="-1">
              <a:latin typeface="Arial"/>
            </a:endParaRPr>
          </a:p>
        </p:txBody>
      </p:sp>
      <p:sp>
        <p:nvSpPr>
          <p:cNvPr id="65" name="Line 58">
            <a:extLst>
              <a:ext uri="{FF2B5EF4-FFF2-40B4-BE49-F238E27FC236}">
                <a16:creationId xmlns:a16="http://schemas.microsoft.com/office/drawing/2014/main" id="{A278AF95-5B95-9918-35B4-186ADC10D4C9}"/>
              </a:ext>
            </a:extLst>
          </p:cNvPr>
          <p:cNvSpPr/>
          <p:nvPr/>
        </p:nvSpPr>
        <p:spPr>
          <a:xfrm>
            <a:off x="9241833" y="3232175"/>
            <a:ext cx="360" cy="25200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66" name="CustomShape 59">
            <a:extLst>
              <a:ext uri="{FF2B5EF4-FFF2-40B4-BE49-F238E27FC236}">
                <a16:creationId xmlns:a16="http://schemas.microsoft.com/office/drawing/2014/main" id="{FEE9C3F7-B252-A710-0101-83B06EAECBDF}"/>
              </a:ext>
            </a:extLst>
          </p:cNvPr>
          <p:cNvSpPr/>
          <p:nvPr/>
        </p:nvSpPr>
        <p:spPr>
          <a:xfrm>
            <a:off x="8781033" y="3001415"/>
            <a:ext cx="103464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400" b="1" strike="noStrike" spc="-1">
                <a:solidFill>
                  <a:srgbClr val="660066"/>
                </a:solidFill>
                <a:latin typeface="Courier New"/>
                <a:ea typeface="ＭＳ Ｐゴシック"/>
              </a:rPr>
              <a:t>MemWrite</a:t>
            </a:r>
            <a:endParaRPr lang="en-US" sz="1400" b="0" strike="noStrike" spc="-1">
              <a:latin typeface="Arial"/>
            </a:endParaRPr>
          </a:p>
        </p:txBody>
      </p:sp>
      <p:sp>
        <p:nvSpPr>
          <p:cNvPr id="67" name="CustomShape 60">
            <a:extLst>
              <a:ext uri="{FF2B5EF4-FFF2-40B4-BE49-F238E27FC236}">
                <a16:creationId xmlns:a16="http://schemas.microsoft.com/office/drawing/2014/main" id="{3906FCDA-D60E-F6C7-B3FA-726722F4370F}"/>
              </a:ext>
            </a:extLst>
          </p:cNvPr>
          <p:cNvSpPr/>
          <p:nvPr/>
        </p:nvSpPr>
        <p:spPr>
          <a:xfrm>
            <a:off x="6357153" y="3806375"/>
            <a:ext cx="2267640" cy="818640"/>
          </a:xfrm>
          <a:prstGeom prst="bentConnector3">
            <a:avLst>
              <a:gd name="adj1" fmla="val -617"/>
            </a:avLst>
          </a:prstGeom>
          <a:noFill/>
          <a:ln w="12600">
            <a:solidFill>
              <a:schemeClr val="tx1"/>
            </a:solidFill>
            <a:round/>
            <a:headEnd type="oval" w="med" len="med"/>
            <a:tailEnd type="triangle" w="med" len="med"/>
          </a:ln>
        </p:spPr>
        <p:style>
          <a:lnRef idx="1">
            <a:schemeClr val="accent1"/>
          </a:lnRef>
          <a:fillRef idx="0">
            <a:schemeClr val="accent1"/>
          </a:fillRef>
          <a:effectRef idx="0">
            <a:schemeClr val="accent1"/>
          </a:effectRef>
          <a:fontRef idx="minor"/>
        </p:style>
        <p:txBody>
          <a:bodyPr/>
          <a:lstStyle/>
          <a:p>
            <a:endParaRPr lang="vi-VN"/>
          </a:p>
        </p:txBody>
      </p:sp>
      <p:sp>
        <p:nvSpPr>
          <p:cNvPr id="68" name="CustomShape 61">
            <a:extLst>
              <a:ext uri="{FF2B5EF4-FFF2-40B4-BE49-F238E27FC236}">
                <a16:creationId xmlns:a16="http://schemas.microsoft.com/office/drawing/2014/main" id="{E3D26956-7AAD-E34C-E3F1-C061B50FE736}"/>
              </a:ext>
            </a:extLst>
          </p:cNvPr>
          <p:cNvSpPr/>
          <p:nvPr/>
        </p:nvSpPr>
        <p:spPr>
          <a:xfrm>
            <a:off x="8107113" y="3705215"/>
            <a:ext cx="486360" cy="4320"/>
          </a:xfrm>
          <a:custGeom>
            <a:avLst/>
            <a:gdLst/>
            <a:ahLst/>
            <a:cxnLst/>
            <a:rect l="l" t="t" r="r" b="b"/>
            <a:pathLst>
              <a:path w="21600" h="21600">
                <a:moveTo>
                  <a:pt x="0" y="0"/>
                </a:moveTo>
                <a:lnTo>
                  <a:pt x="21600" y="21600"/>
                </a:lnTo>
              </a:path>
            </a:pathLst>
          </a:custGeom>
          <a:noFill/>
          <a:ln w="1260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vi-VN"/>
          </a:p>
        </p:txBody>
      </p:sp>
      <p:grpSp>
        <p:nvGrpSpPr>
          <p:cNvPr id="69" name="Group 62">
            <a:extLst>
              <a:ext uri="{FF2B5EF4-FFF2-40B4-BE49-F238E27FC236}">
                <a16:creationId xmlns:a16="http://schemas.microsoft.com/office/drawing/2014/main" id="{FF20E80E-34B3-5A50-5364-4A3926CA285F}"/>
              </a:ext>
            </a:extLst>
          </p:cNvPr>
          <p:cNvGrpSpPr/>
          <p:nvPr/>
        </p:nvGrpSpPr>
        <p:grpSpPr>
          <a:xfrm>
            <a:off x="1737633" y="1747494"/>
            <a:ext cx="503640" cy="4172862"/>
            <a:chOff x="588240" y="1323000"/>
            <a:chExt cx="503640" cy="3401640"/>
          </a:xfrm>
        </p:grpSpPr>
        <p:sp>
          <p:nvSpPr>
            <p:cNvPr id="70" name="CustomShape 63">
              <a:extLst>
                <a:ext uri="{FF2B5EF4-FFF2-40B4-BE49-F238E27FC236}">
                  <a16:creationId xmlns:a16="http://schemas.microsoft.com/office/drawing/2014/main" id="{34B203E1-43D3-8A37-E504-1FFF1B7810E0}"/>
                </a:ext>
              </a:extLst>
            </p:cNvPr>
            <p:cNvSpPr/>
            <p:nvPr/>
          </p:nvSpPr>
          <p:spPr>
            <a:xfrm rot="5400000">
              <a:off x="524880" y="138600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opcode</a:t>
              </a:r>
              <a:endParaRPr lang="en-US" sz="1200" b="0" strike="noStrike" spc="-1">
                <a:latin typeface="Arial"/>
              </a:endParaRPr>
            </a:p>
            <a:p>
              <a:pPr algn="ctr">
                <a:lnSpc>
                  <a:spcPct val="100000"/>
                </a:lnSpc>
              </a:pPr>
              <a:r>
                <a:rPr lang="en-US" sz="1200" b="1" strike="noStrike" spc="-1">
                  <a:solidFill>
                    <a:srgbClr val="660066"/>
                  </a:solidFill>
                  <a:latin typeface="Courier New"/>
                  <a:ea typeface="ＭＳ Ｐゴシック"/>
                </a:rPr>
                <a:t>31:26</a:t>
              </a:r>
              <a:endParaRPr lang="en-US" sz="1200" b="0" strike="noStrike" spc="-1">
                <a:latin typeface="Arial"/>
              </a:endParaRPr>
            </a:p>
          </p:txBody>
        </p:sp>
        <p:sp>
          <p:nvSpPr>
            <p:cNvPr id="71" name="CustomShape 64">
              <a:extLst>
                <a:ext uri="{FF2B5EF4-FFF2-40B4-BE49-F238E27FC236}">
                  <a16:creationId xmlns:a16="http://schemas.microsoft.com/office/drawing/2014/main" id="{6D4141DC-AC96-C4E1-0104-928C43A65E07}"/>
                </a:ext>
              </a:extLst>
            </p:cNvPr>
            <p:cNvSpPr/>
            <p:nvPr/>
          </p:nvSpPr>
          <p:spPr>
            <a:xfrm rot="5400000">
              <a:off x="572400" y="196884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rs</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25:21</a:t>
              </a:r>
              <a:endParaRPr lang="en-US" sz="1200" b="0" strike="noStrike" spc="-1">
                <a:latin typeface="Arial"/>
              </a:endParaRPr>
            </a:p>
          </p:txBody>
        </p:sp>
        <p:sp>
          <p:nvSpPr>
            <p:cNvPr id="72" name="CustomShape 65">
              <a:extLst>
                <a:ext uri="{FF2B5EF4-FFF2-40B4-BE49-F238E27FC236}">
                  <a16:creationId xmlns:a16="http://schemas.microsoft.com/office/drawing/2014/main" id="{41F60EE6-5F1A-C574-8D3D-94E369B06815}"/>
                </a:ext>
              </a:extLst>
            </p:cNvPr>
            <p:cNvSpPr/>
            <p:nvPr/>
          </p:nvSpPr>
          <p:spPr>
            <a:xfrm rot="5400000">
              <a:off x="572400" y="2504160"/>
              <a:ext cx="53496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rt</a:t>
              </a:r>
              <a:endParaRPr lang="en-US" sz="1200" b="0" strike="noStrike" spc="-1">
                <a:latin typeface="Arial"/>
              </a:endParaRPr>
            </a:p>
            <a:p>
              <a:pPr algn="ctr">
                <a:lnSpc>
                  <a:spcPct val="100000"/>
                </a:lnSpc>
              </a:pPr>
              <a:r>
                <a:rPr lang="en-US" sz="1200" b="1" strike="noStrike" spc="-1">
                  <a:solidFill>
                    <a:srgbClr val="006600"/>
                  </a:solidFill>
                  <a:latin typeface="Courier New"/>
                  <a:ea typeface="ＭＳ Ｐゴシック"/>
                </a:rPr>
                <a:t>20:16</a:t>
              </a:r>
              <a:endParaRPr lang="en-US" sz="1200" b="0" strike="noStrike" spc="-1">
                <a:latin typeface="Arial"/>
              </a:endParaRPr>
            </a:p>
          </p:txBody>
        </p:sp>
        <p:sp>
          <p:nvSpPr>
            <p:cNvPr id="73" name="CustomShape 66">
              <a:extLst>
                <a:ext uri="{FF2B5EF4-FFF2-40B4-BE49-F238E27FC236}">
                  <a16:creationId xmlns:a16="http://schemas.microsoft.com/office/drawing/2014/main" id="{E48E529F-B1FA-736F-45FF-3FC3846A8542}"/>
                </a:ext>
              </a:extLst>
            </p:cNvPr>
            <p:cNvSpPr/>
            <p:nvPr/>
          </p:nvSpPr>
          <p:spPr>
            <a:xfrm rot="5400000">
              <a:off x="572400" y="303984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rd</a:t>
              </a:r>
              <a:endParaRPr lang="en-US" sz="1200" b="0" strike="noStrike" spc="-1">
                <a:latin typeface="Arial"/>
              </a:endParaRPr>
            </a:p>
            <a:p>
              <a:pPr algn="ctr">
                <a:lnSpc>
                  <a:spcPct val="100000"/>
                </a:lnSpc>
              </a:pPr>
              <a:r>
                <a:rPr lang="en-US" sz="1200" b="1" strike="noStrike" spc="-1">
                  <a:solidFill>
                    <a:srgbClr val="C00000"/>
                  </a:solidFill>
                  <a:latin typeface="Courier New"/>
                  <a:ea typeface="ＭＳ Ｐゴシック"/>
                </a:rPr>
                <a:t>15:11</a:t>
              </a:r>
              <a:endParaRPr lang="en-US" sz="1200" b="0" strike="noStrike" spc="-1">
                <a:latin typeface="Arial"/>
              </a:endParaRPr>
            </a:p>
          </p:txBody>
        </p:sp>
        <p:sp>
          <p:nvSpPr>
            <p:cNvPr id="74" name="CustomShape 67">
              <a:extLst>
                <a:ext uri="{FF2B5EF4-FFF2-40B4-BE49-F238E27FC236}">
                  <a16:creationId xmlns:a16="http://schemas.microsoft.com/office/drawing/2014/main" id="{64BEE900-153C-CA0D-E48C-CF4F1D83FCD0}"/>
                </a:ext>
              </a:extLst>
            </p:cNvPr>
            <p:cNvSpPr/>
            <p:nvPr/>
          </p:nvSpPr>
          <p:spPr>
            <a:xfrm rot="5400000">
              <a:off x="572400" y="3575160"/>
              <a:ext cx="53532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shamt</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10:6</a:t>
              </a:r>
              <a:endParaRPr lang="en-US" sz="1200" b="0" strike="noStrike" spc="-1">
                <a:latin typeface="Arial"/>
              </a:endParaRPr>
            </a:p>
          </p:txBody>
        </p:sp>
        <p:sp>
          <p:nvSpPr>
            <p:cNvPr id="75" name="CustomShape 68">
              <a:extLst>
                <a:ext uri="{FF2B5EF4-FFF2-40B4-BE49-F238E27FC236}">
                  <a16:creationId xmlns:a16="http://schemas.microsoft.com/office/drawing/2014/main" id="{441E4873-AA15-14DC-0ECB-72865CCE94D6}"/>
                </a:ext>
              </a:extLst>
            </p:cNvPr>
            <p:cNvSpPr/>
            <p:nvPr/>
          </p:nvSpPr>
          <p:spPr>
            <a:xfrm rot="5400000">
              <a:off x="524880" y="4158000"/>
              <a:ext cx="629640" cy="503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funct</a:t>
              </a:r>
              <a:endParaRPr lang="en-US" sz="1200" b="0" strike="noStrike" spc="-1">
                <a:latin typeface="Arial"/>
              </a:endParaRPr>
            </a:p>
            <a:p>
              <a:pPr algn="ctr">
                <a:lnSpc>
                  <a:spcPct val="100000"/>
                </a:lnSpc>
              </a:pPr>
              <a:r>
                <a:rPr lang="en-US" sz="1200" b="1" strike="noStrike" spc="-1">
                  <a:solidFill>
                    <a:srgbClr val="002060"/>
                  </a:solidFill>
                  <a:latin typeface="Courier New"/>
                  <a:ea typeface="ＭＳ Ｐゴシック"/>
                </a:rPr>
                <a:t>5:0</a:t>
              </a:r>
              <a:endParaRPr lang="en-US" sz="1200" b="0" strike="noStrike" spc="-1">
                <a:latin typeface="Arial"/>
              </a:endParaRPr>
            </a:p>
          </p:txBody>
        </p:sp>
      </p:grpSp>
      <p:grpSp>
        <p:nvGrpSpPr>
          <p:cNvPr id="76" name="Group 69">
            <a:extLst>
              <a:ext uri="{FF2B5EF4-FFF2-40B4-BE49-F238E27FC236}">
                <a16:creationId xmlns:a16="http://schemas.microsoft.com/office/drawing/2014/main" id="{91AD9F52-3F6B-CC0A-432F-3CD364ADC747}"/>
              </a:ext>
            </a:extLst>
          </p:cNvPr>
          <p:cNvGrpSpPr/>
          <p:nvPr/>
        </p:nvGrpSpPr>
        <p:grpSpPr>
          <a:xfrm>
            <a:off x="2241633" y="1747715"/>
            <a:ext cx="335520" cy="4172640"/>
            <a:chOff x="1092240" y="1323000"/>
            <a:chExt cx="335520" cy="3401640"/>
          </a:xfrm>
        </p:grpSpPr>
        <p:sp>
          <p:nvSpPr>
            <p:cNvPr id="77" name="CustomShape 70">
              <a:extLst>
                <a:ext uri="{FF2B5EF4-FFF2-40B4-BE49-F238E27FC236}">
                  <a16:creationId xmlns:a16="http://schemas.microsoft.com/office/drawing/2014/main" id="{E76CFC0E-1382-9C64-7801-A9C71155B4C9}"/>
                </a:ext>
              </a:extLst>
            </p:cNvPr>
            <p:cNvSpPr/>
            <p:nvPr/>
          </p:nvSpPr>
          <p:spPr>
            <a:xfrm rot="5400000">
              <a:off x="945000" y="1469880"/>
              <a:ext cx="62964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660066"/>
                  </a:solidFill>
                  <a:latin typeface="Courier New"/>
                  <a:ea typeface="ＭＳ Ｐゴシック"/>
                </a:rPr>
                <a:t>000000</a:t>
              </a:r>
              <a:endParaRPr lang="en-US" sz="1200" b="0" strike="noStrike" spc="-1">
                <a:latin typeface="Arial"/>
              </a:endParaRPr>
            </a:p>
          </p:txBody>
        </p:sp>
        <p:sp>
          <p:nvSpPr>
            <p:cNvPr id="78" name="CustomShape 71">
              <a:extLst>
                <a:ext uri="{FF2B5EF4-FFF2-40B4-BE49-F238E27FC236}">
                  <a16:creationId xmlns:a16="http://schemas.microsoft.com/office/drawing/2014/main" id="{8948D4A5-34F0-EEA3-8E99-1D7183DBA86F}"/>
                </a:ext>
              </a:extLst>
            </p:cNvPr>
            <p:cNvSpPr/>
            <p:nvPr/>
          </p:nvSpPr>
          <p:spPr>
            <a:xfrm rot="5400000">
              <a:off x="992160" y="205272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01001</a:t>
              </a:r>
              <a:endParaRPr lang="en-US" sz="1200" b="0" strike="noStrike" spc="-1">
                <a:latin typeface="Arial"/>
              </a:endParaRPr>
            </a:p>
          </p:txBody>
        </p:sp>
        <p:sp>
          <p:nvSpPr>
            <p:cNvPr id="79" name="CustomShape 72">
              <a:extLst>
                <a:ext uri="{FF2B5EF4-FFF2-40B4-BE49-F238E27FC236}">
                  <a16:creationId xmlns:a16="http://schemas.microsoft.com/office/drawing/2014/main" id="{14E0A54B-2E3A-ED0D-3988-E422CC8B07CB}"/>
                </a:ext>
              </a:extLst>
            </p:cNvPr>
            <p:cNvSpPr/>
            <p:nvPr/>
          </p:nvSpPr>
          <p:spPr>
            <a:xfrm rot="5400000">
              <a:off x="992160" y="258804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6600"/>
                  </a:solidFill>
                  <a:latin typeface="Courier New"/>
                  <a:ea typeface="ＭＳ Ｐゴシック"/>
                </a:rPr>
                <a:t>01010</a:t>
              </a:r>
              <a:endParaRPr lang="en-US" sz="1200" b="0" strike="noStrike" spc="-1">
                <a:latin typeface="Arial"/>
              </a:endParaRPr>
            </a:p>
          </p:txBody>
        </p:sp>
        <p:sp>
          <p:nvSpPr>
            <p:cNvPr id="80" name="CustomShape 73">
              <a:extLst>
                <a:ext uri="{FF2B5EF4-FFF2-40B4-BE49-F238E27FC236}">
                  <a16:creationId xmlns:a16="http://schemas.microsoft.com/office/drawing/2014/main" id="{6AB7CED2-0DCC-163D-6E15-7911D88BC2A9}"/>
                </a:ext>
              </a:extLst>
            </p:cNvPr>
            <p:cNvSpPr/>
            <p:nvPr/>
          </p:nvSpPr>
          <p:spPr>
            <a:xfrm rot="5400000">
              <a:off x="992520" y="3123720"/>
              <a:ext cx="53496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C00000"/>
                  </a:solidFill>
                  <a:latin typeface="Courier New"/>
                  <a:ea typeface="ＭＳ Ｐゴシック"/>
                </a:rPr>
                <a:t>01000</a:t>
              </a:r>
              <a:endParaRPr lang="en-US" sz="1200" b="0" strike="noStrike" spc="-1">
                <a:latin typeface="Arial"/>
              </a:endParaRPr>
            </a:p>
          </p:txBody>
        </p:sp>
        <p:sp>
          <p:nvSpPr>
            <p:cNvPr id="81" name="CustomShape 74">
              <a:extLst>
                <a:ext uri="{FF2B5EF4-FFF2-40B4-BE49-F238E27FC236}">
                  <a16:creationId xmlns:a16="http://schemas.microsoft.com/office/drawing/2014/main" id="{B81FD652-C875-08E9-568B-40223C8E18F8}"/>
                </a:ext>
              </a:extLst>
            </p:cNvPr>
            <p:cNvSpPr/>
            <p:nvPr/>
          </p:nvSpPr>
          <p:spPr>
            <a:xfrm rot="5400000">
              <a:off x="992160" y="3659040"/>
              <a:ext cx="53532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00000</a:t>
              </a:r>
              <a:endParaRPr lang="en-US" sz="1200" b="0" strike="noStrike" spc="-1">
                <a:latin typeface="Arial"/>
              </a:endParaRPr>
            </a:p>
          </p:txBody>
        </p:sp>
        <p:sp>
          <p:nvSpPr>
            <p:cNvPr id="82" name="CustomShape 75">
              <a:extLst>
                <a:ext uri="{FF2B5EF4-FFF2-40B4-BE49-F238E27FC236}">
                  <a16:creationId xmlns:a16="http://schemas.microsoft.com/office/drawing/2014/main" id="{92523B16-4E06-75DB-3F0F-BA37578D5BC5}"/>
                </a:ext>
              </a:extLst>
            </p:cNvPr>
            <p:cNvSpPr/>
            <p:nvPr/>
          </p:nvSpPr>
          <p:spPr>
            <a:xfrm rot="5400000">
              <a:off x="945000" y="4241880"/>
              <a:ext cx="630000" cy="33552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200" b="1" strike="noStrike" spc="-1">
                  <a:solidFill>
                    <a:srgbClr val="002060"/>
                  </a:solidFill>
                  <a:latin typeface="Courier New"/>
                  <a:ea typeface="ＭＳ Ｐゴシック"/>
                </a:rPr>
                <a:t>100000</a:t>
              </a:r>
              <a:endParaRPr lang="en-US" sz="1200" b="0" strike="noStrike" spc="-1">
                <a:latin typeface="Arial"/>
              </a:endParaRPr>
            </a:p>
          </p:txBody>
        </p:sp>
      </p:grpSp>
      <p:sp>
        <p:nvSpPr>
          <p:cNvPr id="83" name="CustomShape 76">
            <a:extLst>
              <a:ext uri="{FF2B5EF4-FFF2-40B4-BE49-F238E27FC236}">
                <a16:creationId xmlns:a16="http://schemas.microsoft.com/office/drawing/2014/main" id="{DA610000-400D-5BB7-BF98-FA8AE16393ED}"/>
              </a:ext>
            </a:extLst>
          </p:cNvPr>
          <p:cNvSpPr/>
          <p:nvPr/>
        </p:nvSpPr>
        <p:spPr>
          <a:xfrm>
            <a:off x="8289273" y="3715295"/>
            <a:ext cx="2099520" cy="1196640"/>
          </a:xfrm>
          <a:prstGeom prst="bentConnector3">
            <a:avLst>
              <a:gd name="adj1" fmla="val -667"/>
            </a:avLst>
          </a:prstGeom>
          <a:noFill/>
          <a:ln w="12600">
            <a:solidFill>
              <a:schemeClr val="tx1"/>
            </a:solidFill>
            <a:round/>
            <a:headEnd type="oval" w="med" len="med"/>
            <a:tailEnd type="triangle" w="med" len="med"/>
          </a:ln>
        </p:spPr>
        <p:style>
          <a:lnRef idx="1">
            <a:schemeClr val="accent1"/>
          </a:lnRef>
          <a:fillRef idx="0">
            <a:schemeClr val="accent1"/>
          </a:fillRef>
          <a:effectRef idx="0">
            <a:schemeClr val="accent1"/>
          </a:effectRef>
          <a:fontRef idx="minor"/>
        </p:style>
        <p:txBody>
          <a:bodyPr/>
          <a:lstStyle/>
          <a:p>
            <a:endParaRPr lang="vi-VN"/>
          </a:p>
        </p:txBody>
      </p:sp>
      <p:sp>
        <p:nvSpPr>
          <p:cNvPr id="84" name="CustomShape 77">
            <a:extLst>
              <a:ext uri="{FF2B5EF4-FFF2-40B4-BE49-F238E27FC236}">
                <a16:creationId xmlns:a16="http://schemas.microsoft.com/office/drawing/2014/main" id="{0C0B1068-F5F3-A4A2-231B-99A5714D922D}"/>
              </a:ext>
            </a:extLst>
          </p:cNvPr>
          <p:cNvSpPr/>
          <p:nvPr/>
        </p:nvSpPr>
        <p:spPr>
          <a:xfrm>
            <a:off x="10389153" y="4247375"/>
            <a:ext cx="290880" cy="755640"/>
          </a:xfrm>
          <a:prstGeom prst="roundRect">
            <a:avLst>
              <a:gd name="adj" fmla="val 16667"/>
            </a:avLst>
          </a:prstGeom>
          <a:solidFill>
            <a:schemeClr val="bg1">
              <a:lumMod val="95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US" sz="1600" b="1" strike="noStrike" spc="-1">
                <a:solidFill>
                  <a:srgbClr val="000000"/>
                </a:solidFill>
                <a:latin typeface="Times New Roman"/>
                <a:ea typeface="ＭＳ Ｐゴシック"/>
              </a:rPr>
              <a:t>MUX</a:t>
            </a:r>
            <a:endParaRPr lang="en-US" sz="1600" b="0" strike="noStrike" spc="-1">
              <a:latin typeface="Arial"/>
            </a:endParaRPr>
          </a:p>
        </p:txBody>
      </p:sp>
      <p:sp>
        <p:nvSpPr>
          <p:cNvPr id="85" name="CustomShape 78">
            <a:extLst>
              <a:ext uri="{FF2B5EF4-FFF2-40B4-BE49-F238E27FC236}">
                <a16:creationId xmlns:a16="http://schemas.microsoft.com/office/drawing/2014/main" id="{426963D2-91EE-C7DF-BD89-F6EE6941F04E}"/>
              </a:ext>
            </a:extLst>
          </p:cNvPr>
          <p:cNvSpPr/>
          <p:nvPr/>
        </p:nvSpPr>
        <p:spPr>
          <a:xfrm flipH="1" flipV="1">
            <a:off x="4520433" y="4019135"/>
            <a:ext cx="6159240" cy="605160"/>
          </a:xfrm>
          <a:prstGeom prst="bentConnector5">
            <a:avLst>
              <a:gd name="adj1" fmla="val -4091"/>
              <a:gd name="adj2" fmla="val -114398"/>
              <a:gd name="adj3" fmla="val 104091"/>
            </a:avLst>
          </a:prstGeom>
          <a:noFill/>
          <a:ln w="22320">
            <a:solidFill>
              <a:srgbClr val="C00000"/>
            </a:solidFill>
            <a:round/>
            <a:headEnd type="oval" w="med" len="med"/>
            <a:tailEnd type="triangle" w="med" len="med"/>
          </a:ln>
        </p:spPr>
        <p:style>
          <a:lnRef idx="1">
            <a:schemeClr val="accent1"/>
          </a:lnRef>
          <a:fillRef idx="0">
            <a:schemeClr val="accent1"/>
          </a:fillRef>
          <a:effectRef idx="0">
            <a:schemeClr val="accent1"/>
          </a:effectRef>
          <a:fontRef idx="minor"/>
        </p:style>
        <p:txBody>
          <a:bodyPr/>
          <a:lstStyle/>
          <a:p>
            <a:endParaRPr lang="vi-VN"/>
          </a:p>
        </p:txBody>
      </p:sp>
      <p:sp>
        <p:nvSpPr>
          <p:cNvPr id="86" name="CustomShape 79">
            <a:extLst>
              <a:ext uri="{FF2B5EF4-FFF2-40B4-BE49-F238E27FC236}">
                <a16:creationId xmlns:a16="http://schemas.microsoft.com/office/drawing/2014/main" id="{6E24E860-F116-68C2-64C3-47BDE5989316}"/>
              </a:ext>
            </a:extLst>
          </p:cNvPr>
          <p:cNvSpPr/>
          <p:nvPr/>
        </p:nvSpPr>
        <p:spPr>
          <a:xfrm>
            <a:off x="10065513" y="3841295"/>
            <a:ext cx="1034640" cy="30276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400" b="1" strike="noStrike" spc="-1">
                <a:solidFill>
                  <a:srgbClr val="660066"/>
                </a:solidFill>
                <a:latin typeface="Courier New"/>
                <a:ea typeface="ＭＳ Ｐゴシック"/>
              </a:rPr>
              <a:t>MemToReg</a:t>
            </a:r>
            <a:endParaRPr lang="en-US" sz="1400" b="0" strike="noStrike" spc="-1">
              <a:latin typeface="Arial"/>
            </a:endParaRPr>
          </a:p>
        </p:txBody>
      </p:sp>
      <p:sp>
        <p:nvSpPr>
          <p:cNvPr id="87" name="Line 80">
            <a:extLst>
              <a:ext uri="{FF2B5EF4-FFF2-40B4-BE49-F238E27FC236}">
                <a16:creationId xmlns:a16="http://schemas.microsoft.com/office/drawing/2014/main" id="{DDCEEFB1-EA0B-3376-3501-D24051C94B84}"/>
              </a:ext>
            </a:extLst>
          </p:cNvPr>
          <p:cNvSpPr/>
          <p:nvPr/>
        </p:nvSpPr>
        <p:spPr>
          <a:xfrm>
            <a:off x="10556913" y="4058015"/>
            <a:ext cx="360" cy="221760"/>
          </a:xfrm>
          <a:prstGeom prst="line">
            <a:avLst/>
          </a:prstGeom>
          <a:ln w="15840">
            <a:solidFill>
              <a:schemeClr val="tx1"/>
            </a:solidFill>
            <a:round/>
          </a:ln>
        </p:spPr>
        <p:style>
          <a:lnRef idx="0">
            <a:scrgbClr r="0" g="0" b="0"/>
          </a:lnRef>
          <a:fillRef idx="0">
            <a:scrgbClr r="0" g="0" b="0"/>
          </a:fillRef>
          <a:effectRef idx="0">
            <a:scrgbClr r="0" g="0" b="0"/>
          </a:effectRef>
          <a:fontRef idx="minor"/>
        </p:style>
        <p:txBody>
          <a:bodyPr/>
          <a:lstStyle/>
          <a:p>
            <a:endParaRPr lang="vi-VN"/>
          </a:p>
        </p:txBody>
      </p:sp>
      <p:sp>
        <p:nvSpPr>
          <p:cNvPr id="88" name="CustomShape 81">
            <a:extLst>
              <a:ext uri="{FF2B5EF4-FFF2-40B4-BE49-F238E27FC236}">
                <a16:creationId xmlns:a16="http://schemas.microsoft.com/office/drawing/2014/main" id="{C9EE0DD0-0FEF-1CB1-8D70-81E3318B1769}"/>
              </a:ext>
            </a:extLst>
          </p:cNvPr>
          <p:cNvSpPr/>
          <p:nvPr/>
        </p:nvSpPr>
        <p:spPr>
          <a:xfrm>
            <a:off x="3837153" y="1601015"/>
            <a:ext cx="4367880" cy="440640"/>
          </a:xfrm>
          <a:prstGeom prst="snip1Rect">
            <a:avLst>
              <a:gd name="adj" fmla="val 16667"/>
            </a:avLst>
          </a:prstGeom>
          <a:solidFill>
            <a:srgbClr val="FFFFCC">
              <a:alpha val="80000"/>
            </a:srgbClr>
          </a:solidFill>
          <a:ln w="15840">
            <a:solidFill>
              <a:schemeClr val="tx1">
                <a:lumMod val="50000"/>
                <a:lumOff val="5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marL="343080" indent="-342720" algn="ctr">
              <a:lnSpc>
                <a:spcPct val="100000"/>
              </a:lnSpc>
              <a:spcBef>
                <a:spcPts val="901"/>
              </a:spcBef>
            </a:pPr>
            <a:r>
              <a:rPr lang="en-US" sz="2800" b="1" strike="noStrike" spc="-1">
                <a:solidFill>
                  <a:srgbClr val="660066"/>
                </a:solidFill>
                <a:latin typeface="Courier New"/>
                <a:ea typeface="ＭＳ Ｐゴシック"/>
              </a:rPr>
              <a:t> </a:t>
            </a:r>
            <a:r>
              <a:rPr lang="en-US" sz="3000" b="1" strike="noStrike" spc="-1">
                <a:solidFill>
                  <a:srgbClr val="660066"/>
                </a:solidFill>
                <a:latin typeface="Courier New"/>
                <a:ea typeface="ＭＳ Ｐゴシック"/>
              </a:rPr>
              <a:t>add</a:t>
            </a:r>
            <a:r>
              <a:rPr lang="en-US" sz="3000" b="1" strike="noStrike" spc="-1">
                <a:solidFill>
                  <a:srgbClr val="000000"/>
                </a:solidFill>
                <a:latin typeface="Courier New"/>
                <a:ea typeface="ＭＳ Ｐゴシック"/>
              </a:rPr>
              <a:t> </a:t>
            </a:r>
            <a:r>
              <a:rPr lang="en-US" sz="3000" b="1" strike="noStrike" spc="-1">
                <a:solidFill>
                  <a:srgbClr val="C00000"/>
                </a:solidFill>
                <a:latin typeface="Courier New"/>
                <a:ea typeface="ＭＳ Ｐゴシック"/>
              </a:rPr>
              <a:t>$8</a:t>
            </a:r>
            <a:r>
              <a:rPr lang="en-US" sz="3000" b="1" strike="noStrike" spc="-1">
                <a:solidFill>
                  <a:srgbClr val="000000"/>
                </a:solidFill>
                <a:latin typeface="Courier New"/>
                <a:ea typeface="ＭＳ Ｐゴシック"/>
              </a:rPr>
              <a:t>, </a:t>
            </a:r>
            <a:r>
              <a:rPr lang="en-US" sz="3000" b="1" strike="noStrike" spc="-1">
                <a:solidFill>
                  <a:srgbClr val="006600"/>
                </a:solidFill>
                <a:latin typeface="Courier New"/>
                <a:ea typeface="ＭＳ Ｐゴシック"/>
              </a:rPr>
              <a:t>$9</a:t>
            </a:r>
            <a:r>
              <a:rPr lang="en-US" sz="3000" b="1" strike="noStrike" spc="-1">
                <a:solidFill>
                  <a:srgbClr val="000000"/>
                </a:solidFill>
                <a:latin typeface="Courier New"/>
                <a:ea typeface="ＭＳ Ｐゴシック"/>
              </a:rPr>
              <a:t>, </a:t>
            </a:r>
            <a:r>
              <a:rPr lang="en-US" sz="3000" b="1" strike="noStrike" spc="-1">
                <a:solidFill>
                  <a:srgbClr val="006600"/>
                </a:solidFill>
                <a:latin typeface="Courier New"/>
                <a:ea typeface="ＭＳ Ｐゴシック"/>
              </a:rPr>
              <a:t>$10</a:t>
            </a:r>
            <a:endParaRPr lang="en-US" sz="3000" b="0" strike="noStrike" spc="-1">
              <a:latin typeface="Arial"/>
            </a:endParaRPr>
          </a:p>
        </p:txBody>
      </p:sp>
      <p:sp>
        <p:nvSpPr>
          <p:cNvPr id="89" name="Line 82">
            <a:extLst>
              <a:ext uri="{FF2B5EF4-FFF2-40B4-BE49-F238E27FC236}">
                <a16:creationId xmlns:a16="http://schemas.microsoft.com/office/drawing/2014/main" id="{707140BA-8991-5CD1-D3CF-358EA436E946}"/>
              </a:ext>
            </a:extLst>
          </p:cNvPr>
          <p:cNvSpPr/>
          <p:nvPr/>
        </p:nvSpPr>
        <p:spPr>
          <a:xfrm>
            <a:off x="9247593" y="4751015"/>
            <a:ext cx="360" cy="252000"/>
          </a:xfrm>
          <a:prstGeom prst="line">
            <a:avLst/>
          </a:prstGeom>
          <a:ln w="9360">
            <a:solidFill>
              <a:srgbClr val="3333FF"/>
            </a:solidFill>
            <a:round/>
          </a:ln>
        </p:spPr>
        <p:style>
          <a:lnRef idx="0">
            <a:scrgbClr r="0" g="0" b="0"/>
          </a:lnRef>
          <a:fillRef idx="0">
            <a:scrgbClr r="0" g="0" b="0"/>
          </a:fillRef>
          <a:effectRef idx="0">
            <a:scrgbClr r="0" g="0" b="0"/>
          </a:effectRef>
          <a:fontRef idx="minor"/>
        </p:style>
        <p:txBody>
          <a:bodyPr/>
          <a:lstStyle/>
          <a:p>
            <a:endParaRPr lang="vi-VN"/>
          </a:p>
        </p:txBody>
      </p:sp>
      <p:sp>
        <p:nvSpPr>
          <p:cNvPr id="90" name="CustomShape 83">
            <a:extLst>
              <a:ext uri="{FF2B5EF4-FFF2-40B4-BE49-F238E27FC236}">
                <a16:creationId xmlns:a16="http://schemas.microsoft.com/office/drawing/2014/main" id="{3E8E3E0B-1652-82E0-F957-8CF5F5BD3961}"/>
              </a:ext>
            </a:extLst>
          </p:cNvPr>
          <p:cNvSpPr/>
          <p:nvPr/>
        </p:nvSpPr>
        <p:spPr>
          <a:xfrm>
            <a:off x="8724153" y="5001935"/>
            <a:ext cx="927720" cy="302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400" b="1" strike="noStrike" spc="-1">
                <a:solidFill>
                  <a:srgbClr val="660066"/>
                </a:solidFill>
                <a:latin typeface="Courier New"/>
                <a:ea typeface="ＭＳ Ｐゴシック"/>
              </a:rPr>
              <a:t>MemRead</a:t>
            </a:r>
            <a:endParaRPr lang="en-US" sz="1400" b="0" strike="noStrike" spc="-1">
              <a:latin typeface="Arial"/>
            </a:endParaRPr>
          </a:p>
        </p:txBody>
      </p:sp>
    </p:spTree>
    <p:extLst>
      <p:ext uri="{BB962C8B-B14F-4D97-AF65-F5344CB8AC3E}">
        <p14:creationId xmlns:p14="http://schemas.microsoft.com/office/powerpoint/2010/main" val="21086018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E959-0C41-FC1D-6205-1CC464675AE6}"/>
              </a:ext>
            </a:extLst>
          </p:cNvPr>
          <p:cNvSpPr>
            <a:spLocks noGrp="1"/>
          </p:cNvSpPr>
          <p:nvPr>
            <p:ph type="title"/>
          </p:nvPr>
        </p:nvSpPr>
        <p:spPr/>
        <p:txBody>
          <a:bodyPr/>
          <a:lstStyle/>
          <a:p>
            <a:r>
              <a:rPr lang="en-US"/>
              <a:t>Datapath của một bộ xử lý với 8 lệnh MIPS</a:t>
            </a:r>
          </a:p>
        </p:txBody>
      </p:sp>
      <p:sp>
        <p:nvSpPr>
          <p:cNvPr id="4" name="Footer Placeholder 3">
            <a:extLst>
              <a:ext uri="{FF2B5EF4-FFF2-40B4-BE49-F238E27FC236}">
                <a16:creationId xmlns:a16="http://schemas.microsoft.com/office/drawing/2014/main" id="{A2943067-86FD-EC34-FB84-E1C625FA2005}"/>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86EA9048-D456-15C2-CE28-E7DA00176C21}"/>
              </a:ext>
            </a:extLst>
          </p:cNvPr>
          <p:cNvSpPr>
            <a:spLocks noGrp="1"/>
          </p:cNvSpPr>
          <p:nvPr>
            <p:ph type="sldNum" sz="quarter" idx="12"/>
          </p:nvPr>
        </p:nvSpPr>
        <p:spPr/>
        <p:txBody>
          <a:bodyPr/>
          <a:lstStyle/>
          <a:p>
            <a:fld id="{D8B0B3AC-44A8-D142-AAF6-9A453466E1A4}" type="slidenum">
              <a:rPr lang="en-VN" smtClean="0"/>
              <a:pPr/>
              <a:t>59</a:t>
            </a:fld>
            <a:endParaRPr lang="en-VN" dirty="0"/>
          </a:p>
        </p:txBody>
      </p:sp>
      <p:sp>
        <p:nvSpPr>
          <p:cNvPr id="6" name="Date Placeholder 5">
            <a:extLst>
              <a:ext uri="{FF2B5EF4-FFF2-40B4-BE49-F238E27FC236}">
                <a16:creationId xmlns:a16="http://schemas.microsoft.com/office/drawing/2014/main" id="{097D4DD3-4D53-26A3-A13E-2480164DEE5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5" descr="f04-17-P374493">
            <a:extLst>
              <a:ext uri="{FF2B5EF4-FFF2-40B4-BE49-F238E27FC236}">
                <a16:creationId xmlns:a16="http://schemas.microsoft.com/office/drawing/2014/main" id="{FBFE8B37-F23C-291E-5D50-A4AB5641B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9134" y="1368275"/>
            <a:ext cx="5795029" cy="4503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98608D8C-860A-27F0-82AB-E1A6EC92A73A}"/>
              </a:ext>
            </a:extLst>
          </p:cNvPr>
          <p:cNvSpPr/>
          <p:nvPr/>
        </p:nvSpPr>
        <p:spPr>
          <a:xfrm>
            <a:off x="2853699" y="1287325"/>
            <a:ext cx="1978925"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CA9C8402-04E5-0DBE-555D-C871BB480314}"/>
              </a:ext>
            </a:extLst>
          </p:cNvPr>
          <p:cNvSpPr/>
          <p:nvPr/>
        </p:nvSpPr>
        <p:spPr>
          <a:xfrm>
            <a:off x="4832624" y="1287325"/>
            <a:ext cx="1901914"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3EDE0ED-673A-505D-FC68-C05576EA8229}"/>
              </a:ext>
            </a:extLst>
          </p:cNvPr>
          <p:cNvSpPr/>
          <p:nvPr/>
        </p:nvSpPr>
        <p:spPr>
          <a:xfrm>
            <a:off x="6734538" y="1287325"/>
            <a:ext cx="858349"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5A84DB99-AD9C-244B-204C-4F16C5C0F536}"/>
              </a:ext>
            </a:extLst>
          </p:cNvPr>
          <p:cNvSpPr/>
          <p:nvPr/>
        </p:nvSpPr>
        <p:spPr>
          <a:xfrm>
            <a:off x="7592887" y="1287325"/>
            <a:ext cx="858349"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0213BEA5-2133-1629-1CF2-1C196B566528}"/>
              </a:ext>
            </a:extLst>
          </p:cNvPr>
          <p:cNvSpPr/>
          <p:nvPr/>
        </p:nvSpPr>
        <p:spPr>
          <a:xfrm>
            <a:off x="8451236" y="1287325"/>
            <a:ext cx="858349" cy="466516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8934675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60</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8831311" cy="884656"/>
          </a:xfrm>
        </p:spPr>
        <p:txBody>
          <a:bodyPr>
            <a:normAutofit/>
          </a:bodyPr>
          <a:lstStyle/>
          <a:p>
            <a:r>
              <a:rPr lang="en-US"/>
              <a:t>Control</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3</a:t>
            </a:r>
          </a:p>
        </p:txBody>
      </p:sp>
    </p:spTree>
    <p:extLst>
      <p:ext uri="{BB962C8B-B14F-4D97-AF65-F5344CB8AC3E}">
        <p14:creationId xmlns:p14="http://schemas.microsoft.com/office/powerpoint/2010/main" val="30887663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B837-36B6-E186-44DB-23E21FE87830}"/>
              </a:ext>
            </a:extLst>
          </p:cNvPr>
          <p:cNvSpPr>
            <a:spLocks noGrp="1"/>
          </p:cNvSpPr>
          <p:nvPr>
            <p:ph type="title"/>
          </p:nvPr>
        </p:nvSpPr>
        <p:spPr/>
        <p:txBody>
          <a:bodyPr/>
          <a:lstStyle/>
          <a:p>
            <a:r>
              <a:rPr lang="vi-VN" sz="4000"/>
              <a:t>Datapath của một bộ xử lý với 8 lệnh MIPS</a:t>
            </a:r>
            <a:endParaRPr lang="en-US"/>
          </a:p>
        </p:txBody>
      </p:sp>
      <p:sp>
        <p:nvSpPr>
          <p:cNvPr id="4" name="Footer Placeholder 3">
            <a:extLst>
              <a:ext uri="{FF2B5EF4-FFF2-40B4-BE49-F238E27FC236}">
                <a16:creationId xmlns:a16="http://schemas.microsoft.com/office/drawing/2014/main" id="{A6968558-B237-1099-B1D5-7F7C18B534C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3154C20-D789-0928-41F7-A66DAC47ED84}"/>
              </a:ext>
            </a:extLst>
          </p:cNvPr>
          <p:cNvSpPr>
            <a:spLocks noGrp="1"/>
          </p:cNvSpPr>
          <p:nvPr>
            <p:ph type="sldNum" sz="quarter" idx="12"/>
          </p:nvPr>
        </p:nvSpPr>
        <p:spPr/>
        <p:txBody>
          <a:bodyPr/>
          <a:lstStyle/>
          <a:p>
            <a:fld id="{D8B0B3AC-44A8-D142-AAF6-9A453466E1A4}" type="slidenum">
              <a:rPr lang="en-VN" smtClean="0"/>
              <a:pPr/>
              <a:t>61</a:t>
            </a:fld>
            <a:endParaRPr lang="en-VN" dirty="0"/>
          </a:p>
        </p:txBody>
      </p:sp>
      <p:sp>
        <p:nvSpPr>
          <p:cNvPr id="6" name="Date Placeholder 5">
            <a:extLst>
              <a:ext uri="{FF2B5EF4-FFF2-40B4-BE49-F238E27FC236}">
                <a16:creationId xmlns:a16="http://schemas.microsoft.com/office/drawing/2014/main" id="{141E8A66-41C9-9CC1-2355-356C3F4EE6DF}"/>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9" name="Picture 5" descr="f04-17-P374493">
            <a:extLst>
              <a:ext uri="{FF2B5EF4-FFF2-40B4-BE49-F238E27FC236}">
                <a16:creationId xmlns:a16="http://schemas.microsoft.com/office/drawing/2014/main" id="{B9E10CE4-B887-DDF2-3366-6B4F4A5A6D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298" y="1232656"/>
            <a:ext cx="6506389" cy="5056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a:extLst>
              <a:ext uri="{FF2B5EF4-FFF2-40B4-BE49-F238E27FC236}">
                <a16:creationId xmlns:a16="http://schemas.microsoft.com/office/drawing/2014/main" id="{C60F23E1-E45F-226D-7FE0-D3933EC567A2}"/>
              </a:ext>
            </a:extLst>
          </p:cNvPr>
          <p:cNvSpPr/>
          <p:nvPr/>
        </p:nvSpPr>
        <p:spPr>
          <a:xfrm>
            <a:off x="4995550" y="2392938"/>
            <a:ext cx="1578277" cy="1416864"/>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1384226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Control - RegDst</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62</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0" name="Content Placeholder 9">
            <a:extLst>
              <a:ext uri="{FF2B5EF4-FFF2-40B4-BE49-F238E27FC236}">
                <a16:creationId xmlns:a16="http://schemas.microsoft.com/office/drawing/2014/main" id="{68F2A13D-5959-7F6C-CD5A-5892B9D4DBAE}"/>
              </a:ext>
            </a:extLst>
          </p:cNvPr>
          <p:cNvSpPr>
            <a:spLocks noGrp="1"/>
          </p:cNvSpPr>
          <p:nvPr>
            <p:ph idx="1"/>
          </p:nvPr>
        </p:nvSpPr>
        <p:spPr>
          <a:xfrm>
            <a:off x="549328" y="1180422"/>
            <a:ext cx="4757071" cy="5160527"/>
          </a:xfrm>
        </p:spPr>
        <p:txBody>
          <a:bodyPr/>
          <a:lstStyle/>
          <a:p>
            <a:r>
              <a:rPr lang="vi-VN"/>
              <a:t>RegDst dùng để chọn thanh ghi đích cho thao tác ghi: </a:t>
            </a:r>
          </a:p>
          <a:p>
            <a:pPr lvl="1"/>
            <a:r>
              <a:rPr lang="vi-VN"/>
              <a:t>RegDst = 0: Các bit từ 16:20 được chọn (rt - dành cho lệnh loadword)</a:t>
            </a:r>
          </a:p>
          <a:p>
            <a:pPr lvl="1"/>
            <a:r>
              <a:rPr lang="vi-VN"/>
              <a:t>RegDst = 1: Các bit từ 11:15 được chọn (rd - dành cho các lệnh còn lại như add, sub, and, or, slt)</a:t>
            </a:r>
          </a:p>
          <a:p>
            <a:pPr lvl="1"/>
            <a:r>
              <a:rPr lang="vi-VN"/>
              <a:t>Lệnh sw và beq không sử dụng giá trị này</a:t>
            </a:r>
          </a:p>
          <a:p>
            <a:endParaRPr lang="en-US"/>
          </a:p>
        </p:txBody>
      </p:sp>
      <p:pic>
        <p:nvPicPr>
          <p:cNvPr id="11" name="Picture 10">
            <a:extLst>
              <a:ext uri="{FF2B5EF4-FFF2-40B4-BE49-F238E27FC236}">
                <a16:creationId xmlns:a16="http://schemas.microsoft.com/office/drawing/2014/main" id="{3D9EA9E0-1047-5299-3EBC-776032B81559}"/>
              </a:ext>
            </a:extLst>
          </p:cNvPr>
          <p:cNvPicPr>
            <a:picLocks noChangeAspect="1"/>
          </p:cNvPicPr>
          <p:nvPr/>
        </p:nvPicPr>
        <p:blipFill>
          <a:blip r:embed="rId3"/>
          <a:stretch>
            <a:fillRect/>
          </a:stretch>
        </p:blipFill>
        <p:spPr>
          <a:xfrm>
            <a:off x="5522016" y="1883737"/>
            <a:ext cx="6373465" cy="3753897"/>
          </a:xfrm>
          <a:prstGeom prst="rect">
            <a:avLst/>
          </a:prstGeom>
        </p:spPr>
      </p:pic>
    </p:spTree>
    <p:extLst>
      <p:ext uri="{BB962C8B-B14F-4D97-AF65-F5344CB8AC3E}">
        <p14:creationId xmlns:p14="http://schemas.microsoft.com/office/powerpoint/2010/main" val="4811711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Control - RegWrite</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0" name="Content Placeholder 9">
            <a:extLst>
              <a:ext uri="{FF2B5EF4-FFF2-40B4-BE49-F238E27FC236}">
                <a16:creationId xmlns:a16="http://schemas.microsoft.com/office/drawing/2014/main" id="{68F2A13D-5959-7F6C-CD5A-5892B9D4DBAE}"/>
              </a:ext>
            </a:extLst>
          </p:cNvPr>
          <p:cNvSpPr>
            <a:spLocks noGrp="1"/>
          </p:cNvSpPr>
          <p:nvPr>
            <p:ph idx="1"/>
          </p:nvPr>
        </p:nvSpPr>
        <p:spPr>
          <a:xfrm>
            <a:off x="549328" y="1180422"/>
            <a:ext cx="4757071" cy="5160527"/>
          </a:xfrm>
        </p:spPr>
        <p:txBody>
          <a:bodyPr>
            <a:normAutofit lnSpcReduction="10000"/>
          </a:bodyPr>
          <a:lstStyle/>
          <a:p>
            <a:r>
              <a:rPr lang="vi-VN"/>
              <a:t>RegWrite dùng để cho phép thao tác ghi vào khối thanh ghi: </a:t>
            </a:r>
          </a:p>
          <a:p>
            <a:pPr lvl="1"/>
            <a:r>
              <a:rPr lang="vi-VN"/>
              <a:t>RegWrite = 0: Khối thanh ghi chỉ có chức năng đọc (dành cho các lệnh sw và beq)</a:t>
            </a:r>
          </a:p>
          <a:p>
            <a:pPr lvl="1"/>
            <a:r>
              <a:rPr lang="vi-VN"/>
              <a:t>RegWrite = 1: Khối thanh ghi có thể thực hiện chứ năng đọc và ghi. Thanh ghi được ghi là thanh ghi có chỉ số được đưa vào từ ngõ “Write register” và dữ liệu dùng ghi vào thanh ghi này được lấy từ ngõ “Write data” (dành cho các lệnh còn lại)</a:t>
            </a:r>
          </a:p>
        </p:txBody>
      </p:sp>
      <p:pic>
        <p:nvPicPr>
          <p:cNvPr id="3" name="Picture 2">
            <a:extLst>
              <a:ext uri="{FF2B5EF4-FFF2-40B4-BE49-F238E27FC236}">
                <a16:creationId xmlns:a16="http://schemas.microsoft.com/office/drawing/2014/main" id="{8AC91BA3-88D1-2069-230E-33DE32F393BA}"/>
              </a:ext>
            </a:extLst>
          </p:cNvPr>
          <p:cNvPicPr>
            <a:picLocks noChangeAspect="1"/>
          </p:cNvPicPr>
          <p:nvPr/>
        </p:nvPicPr>
        <p:blipFill>
          <a:blip r:embed="rId3"/>
          <a:stretch>
            <a:fillRect/>
          </a:stretch>
        </p:blipFill>
        <p:spPr>
          <a:xfrm>
            <a:off x="5544812" y="1743800"/>
            <a:ext cx="6290199" cy="3671322"/>
          </a:xfrm>
          <a:prstGeom prst="rect">
            <a:avLst/>
          </a:prstGeom>
        </p:spPr>
      </p:pic>
    </p:spTree>
    <p:extLst>
      <p:ext uri="{BB962C8B-B14F-4D97-AF65-F5344CB8AC3E}">
        <p14:creationId xmlns:p14="http://schemas.microsoft.com/office/powerpoint/2010/main" val="4299108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Control - ALUSrc</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64</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0" name="Content Placeholder 9">
            <a:extLst>
              <a:ext uri="{FF2B5EF4-FFF2-40B4-BE49-F238E27FC236}">
                <a16:creationId xmlns:a16="http://schemas.microsoft.com/office/drawing/2014/main" id="{68F2A13D-5959-7F6C-CD5A-5892B9D4DBAE}"/>
              </a:ext>
            </a:extLst>
          </p:cNvPr>
          <p:cNvSpPr>
            <a:spLocks noGrp="1"/>
          </p:cNvSpPr>
          <p:nvPr>
            <p:ph idx="1"/>
          </p:nvPr>
        </p:nvSpPr>
        <p:spPr>
          <a:xfrm>
            <a:off x="549328" y="1180422"/>
            <a:ext cx="4757071" cy="5160527"/>
          </a:xfrm>
        </p:spPr>
        <p:txBody>
          <a:bodyPr/>
          <a:lstStyle/>
          <a:p>
            <a:r>
              <a:rPr lang="vi-VN"/>
              <a:t>ALUSrc dùng để chọn đầu vào thứ 2 cho khối ALU: </a:t>
            </a:r>
          </a:p>
          <a:p>
            <a:pPr lvl="1"/>
            <a:r>
              <a:rPr lang="vi-VN"/>
              <a:t>ALUSrc = 0: Đầu vào thứ 2 cho ALU đến từ “Read data 2” của khối “Registers (dành cho các lệnh add, sub, and, or, slt, beq)</a:t>
            </a:r>
          </a:p>
          <a:p>
            <a:pPr lvl="1"/>
            <a:r>
              <a:rPr lang="vi-VN"/>
              <a:t>ALUSrc = 1: Đầu vào thứ 2 cho ALU đến từ output của khối “Sign-extend” (dành cho các lệnh còn lại như lw và sw)</a:t>
            </a:r>
          </a:p>
        </p:txBody>
      </p:sp>
      <p:pic>
        <p:nvPicPr>
          <p:cNvPr id="3" name="Picture 2">
            <a:extLst>
              <a:ext uri="{FF2B5EF4-FFF2-40B4-BE49-F238E27FC236}">
                <a16:creationId xmlns:a16="http://schemas.microsoft.com/office/drawing/2014/main" id="{EF6EF3A0-35D4-85DC-A259-32E26597A39F}"/>
              </a:ext>
            </a:extLst>
          </p:cNvPr>
          <p:cNvPicPr>
            <a:picLocks noChangeAspect="1"/>
          </p:cNvPicPr>
          <p:nvPr/>
        </p:nvPicPr>
        <p:blipFill>
          <a:blip r:embed="rId3"/>
          <a:stretch>
            <a:fillRect/>
          </a:stretch>
        </p:blipFill>
        <p:spPr>
          <a:xfrm>
            <a:off x="5783551" y="1902156"/>
            <a:ext cx="6257730" cy="3717059"/>
          </a:xfrm>
          <a:prstGeom prst="rect">
            <a:avLst/>
          </a:prstGeom>
        </p:spPr>
      </p:pic>
    </p:spTree>
    <p:extLst>
      <p:ext uri="{BB962C8B-B14F-4D97-AF65-F5344CB8AC3E}">
        <p14:creationId xmlns:p14="http://schemas.microsoft.com/office/powerpoint/2010/main" val="9524022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Control - Branch</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0" name="Content Placeholder 9">
            <a:extLst>
              <a:ext uri="{FF2B5EF4-FFF2-40B4-BE49-F238E27FC236}">
                <a16:creationId xmlns:a16="http://schemas.microsoft.com/office/drawing/2014/main" id="{68F2A13D-5959-7F6C-CD5A-5892B9D4DBAE}"/>
              </a:ext>
            </a:extLst>
          </p:cNvPr>
          <p:cNvSpPr>
            <a:spLocks noGrp="1"/>
          </p:cNvSpPr>
          <p:nvPr>
            <p:ph idx="1"/>
          </p:nvPr>
        </p:nvSpPr>
        <p:spPr>
          <a:xfrm>
            <a:off x="549328" y="1180422"/>
            <a:ext cx="4903304" cy="5160527"/>
          </a:xfrm>
        </p:spPr>
        <p:txBody>
          <a:bodyPr>
            <a:normAutofit fontScale="92500" lnSpcReduction="10000"/>
          </a:bodyPr>
          <a:lstStyle/>
          <a:p>
            <a:r>
              <a:rPr lang="vi-VN"/>
              <a:t>Branch dùng để kết hợp (AND) với giá trị Zero của ALU chọn giá trị sẽ được nạp vào thanh ghi PC: </a:t>
            </a:r>
          </a:p>
          <a:p>
            <a:pPr lvl="1"/>
            <a:r>
              <a:rPr lang="vi-VN"/>
              <a:t>Branch = 0: Giá trị của PC đến từ khối Add (4) PC = PC + 4 (dành cho các lệnh add, sub, and, or, slt, lw, sw)</a:t>
            </a:r>
          </a:p>
          <a:p>
            <a:pPr lvl="1"/>
            <a:r>
              <a:rPr lang="vi-VN"/>
              <a:t>Branch = 1: Tùy thuộc vào giá trị của Zero của khối ALU (dành cho lệnh beq).</a:t>
            </a:r>
          </a:p>
          <a:p>
            <a:pPr lvl="2"/>
            <a:r>
              <a:rPr lang="vi-VN"/>
              <a:t> Nếu Zero = 0: Giá trị của PC đến từ khối Add (4) PC = PC + 4</a:t>
            </a:r>
          </a:p>
          <a:p>
            <a:pPr lvl="2"/>
            <a:r>
              <a:rPr lang="vi-VN"/>
              <a:t>Nếu Zero = 1: Giá trị của PC đến từ khối Add (Shift left 2) PC = PC + 4 + Lable</a:t>
            </a:r>
          </a:p>
        </p:txBody>
      </p:sp>
      <p:pic>
        <p:nvPicPr>
          <p:cNvPr id="3" name="Picture 2">
            <a:extLst>
              <a:ext uri="{FF2B5EF4-FFF2-40B4-BE49-F238E27FC236}">
                <a16:creationId xmlns:a16="http://schemas.microsoft.com/office/drawing/2014/main" id="{D037E06B-33EF-5001-0CA5-114CD9024994}"/>
              </a:ext>
            </a:extLst>
          </p:cNvPr>
          <p:cNvPicPr>
            <a:picLocks noChangeAspect="1"/>
          </p:cNvPicPr>
          <p:nvPr/>
        </p:nvPicPr>
        <p:blipFill>
          <a:blip r:embed="rId3"/>
          <a:stretch>
            <a:fillRect/>
          </a:stretch>
        </p:blipFill>
        <p:spPr>
          <a:xfrm>
            <a:off x="5694794" y="1870769"/>
            <a:ext cx="6346487" cy="3779832"/>
          </a:xfrm>
          <a:prstGeom prst="rect">
            <a:avLst/>
          </a:prstGeom>
        </p:spPr>
      </p:pic>
    </p:spTree>
    <p:extLst>
      <p:ext uri="{BB962C8B-B14F-4D97-AF65-F5344CB8AC3E}">
        <p14:creationId xmlns:p14="http://schemas.microsoft.com/office/powerpoint/2010/main" val="19467857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Control – Memread</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66</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0" name="Content Placeholder 9">
            <a:extLst>
              <a:ext uri="{FF2B5EF4-FFF2-40B4-BE49-F238E27FC236}">
                <a16:creationId xmlns:a16="http://schemas.microsoft.com/office/drawing/2014/main" id="{68F2A13D-5959-7F6C-CD5A-5892B9D4DBAE}"/>
              </a:ext>
            </a:extLst>
          </p:cNvPr>
          <p:cNvSpPr>
            <a:spLocks noGrp="1"/>
          </p:cNvSpPr>
          <p:nvPr>
            <p:ph idx="1"/>
          </p:nvPr>
        </p:nvSpPr>
        <p:spPr>
          <a:xfrm>
            <a:off x="549328" y="1180422"/>
            <a:ext cx="4757071" cy="5160527"/>
          </a:xfrm>
        </p:spPr>
        <p:txBody>
          <a:bodyPr>
            <a:normAutofit lnSpcReduction="10000"/>
          </a:bodyPr>
          <a:lstStyle/>
          <a:p>
            <a:r>
              <a:rPr lang="vi-VN"/>
              <a:t>MemRead dùng để cho phép thao tác đọc từ khối Data memory: </a:t>
            </a:r>
          </a:p>
          <a:p>
            <a:pPr lvl="1"/>
            <a:r>
              <a:rPr lang="vi-VN"/>
              <a:t>MemRead = 1: Khối “Data memory” thực hiện chức năng đọc dữ liệu. Địa chỉ dữ liệu cần đọc được đưa vào từ ngõ “Address” và nội dung đọc được xuất ra ngõ “Read data” (dành cho lệnh lw)</a:t>
            </a:r>
          </a:p>
          <a:p>
            <a:pPr lvl="1"/>
            <a:r>
              <a:rPr lang="vi-VN"/>
              <a:t>MemRead = 0: Khối “Data memory” không thực hiện chức năng đọc dữ liệu (dành cho các lệnh còn lại)</a:t>
            </a:r>
          </a:p>
          <a:p>
            <a:endParaRPr lang="en-US"/>
          </a:p>
        </p:txBody>
      </p:sp>
      <p:pic>
        <p:nvPicPr>
          <p:cNvPr id="3" name="Picture 2">
            <a:extLst>
              <a:ext uri="{FF2B5EF4-FFF2-40B4-BE49-F238E27FC236}">
                <a16:creationId xmlns:a16="http://schemas.microsoft.com/office/drawing/2014/main" id="{B27E058F-E03D-2E3D-B8CA-BE4CFB1DC69A}"/>
              </a:ext>
            </a:extLst>
          </p:cNvPr>
          <p:cNvPicPr>
            <a:picLocks noChangeAspect="1"/>
          </p:cNvPicPr>
          <p:nvPr/>
        </p:nvPicPr>
        <p:blipFill>
          <a:blip r:embed="rId3"/>
          <a:stretch>
            <a:fillRect/>
          </a:stretch>
        </p:blipFill>
        <p:spPr>
          <a:xfrm>
            <a:off x="5670475" y="1904264"/>
            <a:ext cx="6370806" cy="3712842"/>
          </a:xfrm>
          <a:prstGeom prst="rect">
            <a:avLst/>
          </a:prstGeom>
        </p:spPr>
      </p:pic>
    </p:spTree>
    <p:extLst>
      <p:ext uri="{BB962C8B-B14F-4D97-AF65-F5344CB8AC3E}">
        <p14:creationId xmlns:p14="http://schemas.microsoft.com/office/powerpoint/2010/main" val="28116532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Control - MemWrite</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67</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0" name="Content Placeholder 9">
            <a:extLst>
              <a:ext uri="{FF2B5EF4-FFF2-40B4-BE49-F238E27FC236}">
                <a16:creationId xmlns:a16="http://schemas.microsoft.com/office/drawing/2014/main" id="{68F2A13D-5959-7F6C-CD5A-5892B9D4DBAE}"/>
              </a:ext>
            </a:extLst>
          </p:cNvPr>
          <p:cNvSpPr>
            <a:spLocks noGrp="1"/>
          </p:cNvSpPr>
          <p:nvPr>
            <p:ph idx="1"/>
          </p:nvPr>
        </p:nvSpPr>
        <p:spPr>
          <a:xfrm>
            <a:off x="549328" y="1180422"/>
            <a:ext cx="4757071" cy="5160527"/>
          </a:xfrm>
        </p:spPr>
        <p:txBody>
          <a:bodyPr>
            <a:normAutofit lnSpcReduction="10000"/>
          </a:bodyPr>
          <a:lstStyle/>
          <a:p>
            <a:r>
              <a:rPr lang="vi-VN"/>
              <a:t>MemWrite dùng để cho phép thao tác ghi vào khối Data memory: </a:t>
            </a:r>
          </a:p>
          <a:p>
            <a:pPr lvl="1"/>
            <a:r>
              <a:rPr lang="vi-VN"/>
              <a:t>MemWrite = 1: Khối “Data memory” thực hiện chức năng ghi dữ liệu. Địa chỉ dữ liệu cần ghi được đưa vào từ ngõ “Address” và nội dung ghi vào lấy từ ngõ “Write data” (dành cho lệnh sw)</a:t>
            </a:r>
          </a:p>
          <a:p>
            <a:pPr lvl="1"/>
            <a:r>
              <a:rPr lang="vi-VN"/>
              <a:t>MemWrite = 0: Khối “Data memory” không thực hiện chức năng ghi dữ liệu (dành cho các lệnh còn lại)</a:t>
            </a:r>
          </a:p>
          <a:p>
            <a:endParaRPr lang="en-US"/>
          </a:p>
        </p:txBody>
      </p:sp>
      <p:pic>
        <p:nvPicPr>
          <p:cNvPr id="3" name="Picture 2">
            <a:extLst>
              <a:ext uri="{FF2B5EF4-FFF2-40B4-BE49-F238E27FC236}">
                <a16:creationId xmlns:a16="http://schemas.microsoft.com/office/drawing/2014/main" id="{EED585B9-31F1-7A32-D025-128480FA7AE7}"/>
              </a:ext>
            </a:extLst>
          </p:cNvPr>
          <p:cNvPicPr>
            <a:picLocks noChangeAspect="1"/>
          </p:cNvPicPr>
          <p:nvPr/>
        </p:nvPicPr>
        <p:blipFill>
          <a:blip r:embed="rId3"/>
          <a:stretch>
            <a:fillRect/>
          </a:stretch>
        </p:blipFill>
        <p:spPr>
          <a:xfrm>
            <a:off x="5734098" y="1952012"/>
            <a:ext cx="6239317" cy="3617347"/>
          </a:xfrm>
          <a:prstGeom prst="rect">
            <a:avLst/>
          </a:prstGeom>
        </p:spPr>
      </p:pic>
    </p:spTree>
    <p:extLst>
      <p:ext uri="{BB962C8B-B14F-4D97-AF65-F5344CB8AC3E}">
        <p14:creationId xmlns:p14="http://schemas.microsoft.com/office/powerpoint/2010/main" val="31776761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Control - MemtoReg</a:t>
            </a:r>
            <a:endParaRPr lang="en-VN"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68</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0" name="Content Placeholder 9">
            <a:extLst>
              <a:ext uri="{FF2B5EF4-FFF2-40B4-BE49-F238E27FC236}">
                <a16:creationId xmlns:a16="http://schemas.microsoft.com/office/drawing/2014/main" id="{68F2A13D-5959-7F6C-CD5A-5892B9D4DBAE}"/>
              </a:ext>
            </a:extLst>
          </p:cNvPr>
          <p:cNvSpPr>
            <a:spLocks noGrp="1"/>
          </p:cNvSpPr>
          <p:nvPr>
            <p:ph idx="1"/>
          </p:nvPr>
        </p:nvSpPr>
        <p:spPr>
          <a:xfrm>
            <a:off x="549328" y="1180422"/>
            <a:ext cx="4757071" cy="5160527"/>
          </a:xfrm>
        </p:spPr>
        <p:txBody>
          <a:bodyPr>
            <a:normAutofit/>
          </a:bodyPr>
          <a:lstStyle/>
          <a:p>
            <a:r>
              <a:rPr lang="vi-VN"/>
              <a:t>MemtoReg dùng để chọn giá trị được đưa vào ngõ Write data của khối Registers: </a:t>
            </a:r>
          </a:p>
          <a:p>
            <a:pPr lvl="1"/>
            <a:r>
              <a:rPr lang="vi-VN"/>
              <a:t>MemtoReg = 0: Giá trị đưa vào ngõ “Write data” đến từ ALU (dành cho các lệnh add, sub, and, or, slt)</a:t>
            </a:r>
          </a:p>
          <a:p>
            <a:pPr lvl="1"/>
            <a:r>
              <a:rPr lang="vi-VN"/>
              <a:t>MemtoReg = 1: Giá trị đưa vào ngõ “Write data” đến từ khối “Data memory” (dành cho lệnh lw)</a:t>
            </a:r>
          </a:p>
          <a:p>
            <a:pPr lvl="1"/>
            <a:r>
              <a:rPr lang="vi-VN"/>
              <a:t>Lệnh sw và beq không sử dụng giá trị này</a:t>
            </a:r>
          </a:p>
          <a:p>
            <a:endParaRPr lang="en-US"/>
          </a:p>
        </p:txBody>
      </p:sp>
      <p:pic>
        <p:nvPicPr>
          <p:cNvPr id="3" name="Picture 2">
            <a:extLst>
              <a:ext uri="{FF2B5EF4-FFF2-40B4-BE49-F238E27FC236}">
                <a16:creationId xmlns:a16="http://schemas.microsoft.com/office/drawing/2014/main" id="{4D9668E7-910D-FAE6-BDA5-560BB78F22C6}"/>
              </a:ext>
            </a:extLst>
          </p:cNvPr>
          <p:cNvPicPr>
            <a:picLocks noChangeAspect="1"/>
          </p:cNvPicPr>
          <p:nvPr/>
        </p:nvPicPr>
        <p:blipFill>
          <a:blip r:embed="rId3"/>
          <a:stretch>
            <a:fillRect/>
          </a:stretch>
        </p:blipFill>
        <p:spPr>
          <a:xfrm>
            <a:off x="5644836" y="1932126"/>
            <a:ext cx="6250645" cy="3657118"/>
          </a:xfrm>
          <a:prstGeom prst="rect">
            <a:avLst/>
          </a:prstGeom>
        </p:spPr>
      </p:pic>
    </p:spTree>
    <p:extLst>
      <p:ext uri="{BB962C8B-B14F-4D97-AF65-F5344CB8AC3E}">
        <p14:creationId xmlns:p14="http://schemas.microsoft.com/office/powerpoint/2010/main" val="19757474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Control – Ví dụ</a:t>
            </a:r>
            <a:endParaRPr lang="en-VN"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69</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CustomShape 3">
            <a:extLst>
              <a:ext uri="{FF2B5EF4-FFF2-40B4-BE49-F238E27FC236}">
                <a16:creationId xmlns:a16="http://schemas.microsoft.com/office/drawing/2014/main" id="{18799210-8B94-6029-9765-F916E5DDD5D6}"/>
              </a:ext>
            </a:extLst>
          </p:cNvPr>
          <p:cNvSpPr/>
          <p:nvPr/>
        </p:nvSpPr>
        <p:spPr>
          <a:xfrm>
            <a:off x="1142797" y="2020625"/>
            <a:ext cx="9575640" cy="394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Aft>
                <a:spcPts val="1199"/>
              </a:spcAft>
            </a:pPr>
            <a:r>
              <a:rPr lang="en-US" sz="2000" b="1" strike="noStrike" spc="-1">
                <a:solidFill>
                  <a:srgbClr val="000000"/>
                </a:solidFill>
                <a:latin typeface="Arial" panose="020B0604020202020204" pitchFamily="34" charset="0"/>
                <a:ea typeface="ＭＳ Ｐゴシック"/>
                <a:cs typeface="Arial" panose="020B0604020202020204" pitchFamily="34" charset="0"/>
              </a:rPr>
              <a:t>Giá trị các tín hiệu điều khiển tương ứng với mỗi lệnh như sau:</a:t>
            </a:r>
            <a:endParaRPr lang="en-US" sz="2000" b="0" strike="noStrike" spc="-1">
              <a:latin typeface="Arial" panose="020B0604020202020204" pitchFamily="34" charset="0"/>
              <a:cs typeface="Arial" panose="020B0604020202020204" pitchFamily="34" charset="0"/>
            </a:endParaRPr>
          </a:p>
        </p:txBody>
      </p:sp>
      <p:sp>
        <p:nvSpPr>
          <p:cNvPr id="7" name="CustomShape 4">
            <a:extLst>
              <a:ext uri="{FF2B5EF4-FFF2-40B4-BE49-F238E27FC236}">
                <a16:creationId xmlns:a16="http://schemas.microsoft.com/office/drawing/2014/main" id="{6A858119-E002-E6C3-886A-D13CE831CEAF}"/>
              </a:ext>
            </a:extLst>
          </p:cNvPr>
          <p:cNvSpPr/>
          <p:nvPr/>
        </p:nvSpPr>
        <p:spPr>
          <a:xfrm>
            <a:off x="2032044" y="4781011"/>
            <a:ext cx="8315640" cy="638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800" b="0" i="1" strike="noStrike" spc="-1">
                <a:solidFill>
                  <a:srgbClr val="000000"/>
                </a:solidFill>
                <a:latin typeface="Arial" panose="020B0604020202020204" pitchFamily="34" charset="0"/>
                <a:ea typeface="ＭＳ Ｐゴシック"/>
                <a:cs typeface="Arial" panose="020B0604020202020204" pitchFamily="34" charset="0"/>
              </a:rPr>
              <a:t>Khối “Control” trong datapath nhận input là 6 bits từ trường “opcode” của mã máy, dựa vào đó các tín hiệu điều khiển được sinh ra tương ứng như bảng.</a:t>
            </a:r>
            <a:endParaRPr lang="en-US" sz="1800" b="0" strike="noStrike" spc="-1">
              <a:latin typeface="Arial" panose="020B0604020202020204" pitchFamily="34" charset="0"/>
              <a:cs typeface="Arial" panose="020B0604020202020204" pitchFamily="34" charset="0"/>
            </a:endParaRPr>
          </a:p>
        </p:txBody>
      </p:sp>
      <p:pic>
        <p:nvPicPr>
          <p:cNvPr id="8" name="Picture 2">
            <a:extLst>
              <a:ext uri="{FF2B5EF4-FFF2-40B4-BE49-F238E27FC236}">
                <a16:creationId xmlns:a16="http://schemas.microsoft.com/office/drawing/2014/main" id="{26B19B8B-500D-124C-CCE0-40041E5B4455}"/>
              </a:ext>
            </a:extLst>
          </p:cNvPr>
          <p:cNvPicPr/>
          <p:nvPr/>
        </p:nvPicPr>
        <p:blipFill>
          <a:blip r:embed="rId3"/>
          <a:stretch/>
        </p:blipFill>
        <p:spPr>
          <a:xfrm>
            <a:off x="916936" y="2527156"/>
            <a:ext cx="10835092" cy="2141883"/>
          </a:xfrm>
          <a:prstGeom prst="rect">
            <a:avLst/>
          </a:prstGeom>
          <a:ln w="9360">
            <a:noFill/>
          </a:ln>
        </p:spPr>
      </p:pic>
    </p:spTree>
    <p:extLst>
      <p:ext uri="{BB962C8B-B14F-4D97-AF65-F5344CB8AC3E}">
        <p14:creationId xmlns:p14="http://schemas.microsoft.com/office/powerpoint/2010/main" val="40964548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966A7-DA49-3FEF-A4FD-072D0DF5471F}"/>
              </a:ext>
            </a:extLst>
          </p:cNvPr>
          <p:cNvSpPr>
            <a:spLocks noGrp="1"/>
          </p:cNvSpPr>
          <p:nvPr>
            <p:ph type="title"/>
          </p:nvPr>
        </p:nvSpPr>
        <p:spPr/>
        <p:txBody>
          <a:bodyPr/>
          <a:lstStyle/>
          <a:p>
            <a:r>
              <a:rPr lang="vi-VN" sz="4000"/>
              <a:t>Datapath của một bộ xử lý với 8 lệnh MIPS</a:t>
            </a:r>
            <a:endParaRPr lang="en-US"/>
          </a:p>
        </p:txBody>
      </p:sp>
      <p:sp>
        <p:nvSpPr>
          <p:cNvPr id="4" name="Footer Placeholder 3">
            <a:extLst>
              <a:ext uri="{FF2B5EF4-FFF2-40B4-BE49-F238E27FC236}">
                <a16:creationId xmlns:a16="http://schemas.microsoft.com/office/drawing/2014/main" id="{721DB4EE-53D5-B692-BFDE-03E814EFF021}"/>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1EC80432-0CC2-D2F7-C550-15EE78034698}"/>
              </a:ext>
            </a:extLst>
          </p:cNvPr>
          <p:cNvSpPr>
            <a:spLocks noGrp="1"/>
          </p:cNvSpPr>
          <p:nvPr>
            <p:ph type="sldNum" sz="quarter" idx="12"/>
          </p:nvPr>
        </p:nvSpPr>
        <p:spPr/>
        <p:txBody>
          <a:bodyPr/>
          <a:lstStyle/>
          <a:p>
            <a:fld id="{D8B0B3AC-44A8-D142-AAF6-9A453466E1A4}" type="slidenum">
              <a:rPr lang="en-VN" smtClean="0"/>
              <a:pPr/>
              <a:t>70</a:t>
            </a:fld>
            <a:endParaRPr lang="en-VN" dirty="0"/>
          </a:p>
        </p:txBody>
      </p:sp>
      <p:sp>
        <p:nvSpPr>
          <p:cNvPr id="6" name="Date Placeholder 5">
            <a:extLst>
              <a:ext uri="{FF2B5EF4-FFF2-40B4-BE49-F238E27FC236}">
                <a16:creationId xmlns:a16="http://schemas.microsoft.com/office/drawing/2014/main" id="{EB5A167F-6639-7B36-9592-708FDE8004E5}"/>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5" descr="f04-17-P374493">
            <a:extLst>
              <a:ext uri="{FF2B5EF4-FFF2-40B4-BE49-F238E27FC236}">
                <a16:creationId xmlns:a16="http://schemas.microsoft.com/office/drawing/2014/main" id="{7729F85C-56AE-C754-AEB3-143AE43415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1253" y="1045751"/>
            <a:ext cx="7031175" cy="546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7">
            <a:extLst>
              <a:ext uri="{FF2B5EF4-FFF2-40B4-BE49-F238E27FC236}">
                <a16:creationId xmlns:a16="http://schemas.microsoft.com/office/drawing/2014/main" id="{31BADB5A-A9F3-0621-7B85-D55C061452E7}"/>
              </a:ext>
            </a:extLst>
          </p:cNvPr>
          <p:cNvSpPr/>
          <p:nvPr/>
        </p:nvSpPr>
        <p:spPr>
          <a:xfrm>
            <a:off x="7173315" y="5241282"/>
            <a:ext cx="864625" cy="1005223"/>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21135781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22BB3-F256-17D0-7036-5ECDE72CCDE2}"/>
              </a:ext>
            </a:extLst>
          </p:cNvPr>
          <p:cNvSpPr>
            <a:spLocks noGrp="1"/>
          </p:cNvSpPr>
          <p:nvPr>
            <p:ph type="title"/>
          </p:nvPr>
        </p:nvSpPr>
        <p:spPr/>
        <p:txBody>
          <a:bodyPr/>
          <a:lstStyle/>
          <a:p>
            <a:r>
              <a:rPr lang="en-US"/>
              <a:t>ALU Control</a:t>
            </a:r>
          </a:p>
        </p:txBody>
      </p:sp>
      <p:sp>
        <p:nvSpPr>
          <p:cNvPr id="3" name="Content Placeholder 2">
            <a:extLst>
              <a:ext uri="{FF2B5EF4-FFF2-40B4-BE49-F238E27FC236}">
                <a16:creationId xmlns:a16="http://schemas.microsoft.com/office/drawing/2014/main" id="{D2CB7E5B-F70D-4EE2-3073-6826BFBAC38E}"/>
              </a:ext>
            </a:extLst>
          </p:cNvPr>
          <p:cNvSpPr>
            <a:spLocks noGrp="1"/>
          </p:cNvSpPr>
          <p:nvPr>
            <p:ph idx="1"/>
          </p:nvPr>
        </p:nvSpPr>
        <p:spPr/>
        <p:txBody>
          <a:bodyPr/>
          <a:lstStyle/>
          <a:p>
            <a:r>
              <a:rPr lang="vi-VN"/>
              <a:t>Bộ ALU của MIPS gồm 6 chức năng tính toán dựa trên 4 bits điều khiển đầu vào, tùy thuộc vào từng nhóm lệnh mà ALU sẽ thực hiện 1 trong 5 chức năng đầu (NOR sẽ được dùng cho các phần khác)</a:t>
            </a:r>
          </a:p>
          <a:p>
            <a:pPr lvl="1"/>
            <a:r>
              <a:rPr lang="vi-VN"/>
              <a:t>Với các lệnh load word và store word, ALU sử dụng chức năng ‘add’ để tính toán địa chỉ của bộ nhớ</a:t>
            </a:r>
          </a:p>
          <a:p>
            <a:pPr lvl="1"/>
            <a:r>
              <a:rPr lang="vi-VN"/>
              <a:t>Với các lệnh thuộc nhóm logic và số học, ALU thực hiện 1 trong 5 chức năng (and, or, subtract, add, và set on less than), tùy thuộc vào giá trị của trường funct (6 bits) trong mã máy lệnh.</a:t>
            </a:r>
          </a:p>
          <a:p>
            <a:pPr lvl="1"/>
            <a:r>
              <a:rPr lang="vi-VN"/>
              <a:t>Với lệnh nhảy nếu bằng, ALU thực hiện chức năng ‘subtract’ để xem điều khiện bằng có đúng không.</a:t>
            </a:r>
          </a:p>
          <a:p>
            <a:endParaRPr lang="en-US"/>
          </a:p>
        </p:txBody>
      </p:sp>
      <p:sp>
        <p:nvSpPr>
          <p:cNvPr id="4" name="Footer Placeholder 3">
            <a:extLst>
              <a:ext uri="{FF2B5EF4-FFF2-40B4-BE49-F238E27FC236}">
                <a16:creationId xmlns:a16="http://schemas.microsoft.com/office/drawing/2014/main" id="{B1E05141-62D1-F79B-3BE7-22381AD918E8}"/>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42089C26-8D62-EF2C-F9C1-88382D7865F8}"/>
              </a:ext>
            </a:extLst>
          </p:cNvPr>
          <p:cNvSpPr>
            <a:spLocks noGrp="1"/>
          </p:cNvSpPr>
          <p:nvPr>
            <p:ph type="sldNum" sz="quarter" idx="12"/>
          </p:nvPr>
        </p:nvSpPr>
        <p:spPr/>
        <p:txBody>
          <a:bodyPr/>
          <a:lstStyle/>
          <a:p>
            <a:fld id="{D8B0B3AC-44A8-D142-AAF6-9A453466E1A4}" type="slidenum">
              <a:rPr lang="en-VN" smtClean="0"/>
              <a:pPr/>
              <a:t>71</a:t>
            </a:fld>
            <a:endParaRPr lang="en-VN" dirty="0"/>
          </a:p>
        </p:txBody>
      </p:sp>
      <p:sp>
        <p:nvSpPr>
          <p:cNvPr id="6" name="Date Placeholder 5">
            <a:extLst>
              <a:ext uri="{FF2B5EF4-FFF2-40B4-BE49-F238E27FC236}">
                <a16:creationId xmlns:a16="http://schemas.microsoft.com/office/drawing/2014/main" id="{3DB900BB-532D-1940-7F50-83C9700AD460}"/>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4">
            <a:extLst>
              <a:ext uri="{FF2B5EF4-FFF2-40B4-BE49-F238E27FC236}">
                <a16:creationId xmlns:a16="http://schemas.microsoft.com/office/drawing/2014/main" id="{197DE1EC-F1C4-00DA-B885-7D7056E69B4B}"/>
              </a:ext>
            </a:extLst>
          </p:cNvPr>
          <p:cNvPicPr/>
          <p:nvPr/>
        </p:nvPicPr>
        <p:blipFill>
          <a:blip r:embed="rId2"/>
          <a:stretch/>
        </p:blipFill>
        <p:spPr>
          <a:xfrm>
            <a:off x="7034160" y="5093344"/>
            <a:ext cx="4319640" cy="1322640"/>
          </a:xfrm>
          <a:prstGeom prst="rect">
            <a:avLst/>
          </a:prstGeom>
          <a:ln w="9360">
            <a:noFill/>
          </a:ln>
        </p:spPr>
      </p:pic>
    </p:spTree>
    <p:extLst>
      <p:ext uri="{BB962C8B-B14F-4D97-AF65-F5344CB8AC3E}">
        <p14:creationId xmlns:p14="http://schemas.microsoft.com/office/powerpoint/2010/main" val="262972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22BB3-F256-17D0-7036-5ECDE72CCDE2}"/>
              </a:ext>
            </a:extLst>
          </p:cNvPr>
          <p:cNvSpPr>
            <a:spLocks noGrp="1"/>
          </p:cNvSpPr>
          <p:nvPr>
            <p:ph type="title"/>
          </p:nvPr>
        </p:nvSpPr>
        <p:spPr/>
        <p:txBody>
          <a:bodyPr/>
          <a:lstStyle/>
          <a:p>
            <a:r>
              <a:rPr lang="en-US"/>
              <a:t>ALU Control (tt)</a:t>
            </a:r>
          </a:p>
        </p:txBody>
      </p:sp>
      <p:sp>
        <p:nvSpPr>
          <p:cNvPr id="3" name="Content Placeholder 2">
            <a:extLst>
              <a:ext uri="{FF2B5EF4-FFF2-40B4-BE49-F238E27FC236}">
                <a16:creationId xmlns:a16="http://schemas.microsoft.com/office/drawing/2014/main" id="{D2CB7E5B-F70D-4EE2-3073-6826BFBAC38E}"/>
              </a:ext>
            </a:extLst>
          </p:cNvPr>
          <p:cNvSpPr>
            <a:spLocks noGrp="1"/>
          </p:cNvSpPr>
          <p:nvPr>
            <p:ph idx="1"/>
          </p:nvPr>
        </p:nvSpPr>
        <p:spPr/>
        <p:txBody>
          <a:bodyPr/>
          <a:lstStyle/>
          <a:p>
            <a:r>
              <a:rPr lang="vi-VN"/>
              <a:t>Như vậy, để sinh ra 4 bits điều khiển ALU, một trong số các cách hiện thực có thể là sử dụng thêm một khối điều khiển “ALU Control”</a:t>
            </a:r>
          </a:p>
          <a:p>
            <a:r>
              <a:rPr lang="vi-VN"/>
              <a:t>“ALU Control” nhận input là 6 bits từ trường funct của mã máy, đồng thời dựa vào 2 bits “ALUOp” được sinh ra từ khối “Control” để sinh ra output là 4 bits điều khiển ALU, theo quy tắc như bảng sau:</a:t>
            </a:r>
          </a:p>
          <a:p>
            <a:pPr marL="0" indent="0">
              <a:buNone/>
            </a:pPr>
            <a:endParaRPr lang="en-US"/>
          </a:p>
        </p:txBody>
      </p:sp>
      <p:sp>
        <p:nvSpPr>
          <p:cNvPr id="4" name="Footer Placeholder 3">
            <a:extLst>
              <a:ext uri="{FF2B5EF4-FFF2-40B4-BE49-F238E27FC236}">
                <a16:creationId xmlns:a16="http://schemas.microsoft.com/office/drawing/2014/main" id="{B1E05141-62D1-F79B-3BE7-22381AD918E8}"/>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42089C26-8D62-EF2C-F9C1-88382D7865F8}"/>
              </a:ext>
            </a:extLst>
          </p:cNvPr>
          <p:cNvSpPr>
            <a:spLocks noGrp="1"/>
          </p:cNvSpPr>
          <p:nvPr>
            <p:ph type="sldNum" sz="quarter" idx="12"/>
          </p:nvPr>
        </p:nvSpPr>
        <p:spPr/>
        <p:txBody>
          <a:bodyPr/>
          <a:lstStyle/>
          <a:p>
            <a:fld id="{D8B0B3AC-44A8-D142-AAF6-9A453466E1A4}" type="slidenum">
              <a:rPr lang="en-VN" smtClean="0"/>
              <a:pPr/>
              <a:t>72</a:t>
            </a:fld>
            <a:endParaRPr lang="en-VN" dirty="0"/>
          </a:p>
        </p:txBody>
      </p:sp>
      <p:sp>
        <p:nvSpPr>
          <p:cNvPr id="6" name="Date Placeholder 5">
            <a:extLst>
              <a:ext uri="{FF2B5EF4-FFF2-40B4-BE49-F238E27FC236}">
                <a16:creationId xmlns:a16="http://schemas.microsoft.com/office/drawing/2014/main" id="{3DB900BB-532D-1940-7F50-83C9700AD460}"/>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8" name="Picture 5">
            <a:extLst>
              <a:ext uri="{FF2B5EF4-FFF2-40B4-BE49-F238E27FC236}">
                <a16:creationId xmlns:a16="http://schemas.microsoft.com/office/drawing/2014/main" id="{CFBB9361-A30E-9F11-B158-E31614F8BC81}"/>
              </a:ext>
            </a:extLst>
          </p:cNvPr>
          <p:cNvPicPr/>
          <p:nvPr/>
        </p:nvPicPr>
        <p:blipFill>
          <a:blip r:embed="rId2"/>
          <a:stretch/>
        </p:blipFill>
        <p:spPr>
          <a:xfrm>
            <a:off x="2137144" y="4134678"/>
            <a:ext cx="8724338" cy="2340942"/>
          </a:xfrm>
          <a:prstGeom prst="rect">
            <a:avLst/>
          </a:prstGeom>
          <a:ln w="9360">
            <a:noFill/>
          </a:ln>
        </p:spPr>
      </p:pic>
    </p:spTree>
    <p:extLst>
      <p:ext uri="{BB962C8B-B14F-4D97-AF65-F5344CB8AC3E}">
        <p14:creationId xmlns:p14="http://schemas.microsoft.com/office/powerpoint/2010/main" val="1391448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73</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8526511" cy="884656"/>
          </a:xfrm>
        </p:spPr>
        <p:txBody>
          <a:bodyPr>
            <a:normAutofit/>
          </a:bodyPr>
          <a:lstStyle/>
          <a:p>
            <a:r>
              <a:rPr lang="en-US"/>
              <a:t>Thực thi lệnh</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4</a:t>
            </a:r>
          </a:p>
        </p:txBody>
      </p:sp>
    </p:spTree>
    <p:extLst>
      <p:ext uri="{BB962C8B-B14F-4D97-AF65-F5344CB8AC3E}">
        <p14:creationId xmlns:p14="http://schemas.microsoft.com/office/powerpoint/2010/main" val="13297138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fontScale="90000"/>
          </a:bodyPr>
          <a:lstStyle/>
          <a:p>
            <a:r>
              <a:rPr lang="en-US" sz="4000"/>
              <a:t>C</a:t>
            </a:r>
            <a:r>
              <a:rPr lang="vi-VN" sz="4000"/>
              <a:t>ác đường hoạt động khi lệnh thuộc nhóm logic và số học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29"/>
            <a:ext cx="1735575" cy="2986563"/>
          </a:xfrm>
        </p:spPr>
        <p:txBody>
          <a:bodyPr/>
          <a:lstStyle/>
          <a:p>
            <a:pPr marL="0" indent="0">
              <a:buNone/>
            </a:pPr>
            <a:r>
              <a:rPr lang="vi-VN" sz="2400"/>
              <a:t>Trình bày các khối chức năng được sử dụng khi thực thi lệnh add?</a:t>
            </a:r>
          </a:p>
          <a:p>
            <a:endParaRPr lang="en-US"/>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74</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2">
            <a:extLst>
              <a:ext uri="{FF2B5EF4-FFF2-40B4-BE49-F238E27FC236}">
                <a16:creationId xmlns:a16="http://schemas.microsoft.com/office/drawing/2014/main" id="{8D686080-1DCA-A894-64A0-3E382D5D7E5C}"/>
              </a:ext>
            </a:extLst>
          </p:cNvPr>
          <p:cNvPicPr>
            <a:picLocks noChangeAspect="1" noChangeArrowheads="1"/>
          </p:cNvPicPr>
          <p:nvPr/>
        </p:nvPicPr>
        <p:blipFill>
          <a:blip r:embed="rId2" cstate="print"/>
          <a:srcRect/>
          <a:stretch>
            <a:fillRect/>
          </a:stretch>
        </p:blipFill>
        <p:spPr bwMode="auto">
          <a:xfrm>
            <a:off x="2662914" y="1297838"/>
            <a:ext cx="8995483" cy="5071157"/>
          </a:xfrm>
          <a:prstGeom prst="rect">
            <a:avLst/>
          </a:prstGeom>
          <a:noFill/>
          <a:ln w="9525">
            <a:noFill/>
            <a:miter lim="800000"/>
            <a:headEnd/>
            <a:tailEnd/>
          </a:ln>
        </p:spPr>
      </p:pic>
    </p:spTree>
    <p:extLst>
      <p:ext uri="{BB962C8B-B14F-4D97-AF65-F5344CB8AC3E}">
        <p14:creationId xmlns:p14="http://schemas.microsoft.com/office/powerpoint/2010/main" val="12784666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fontScale="90000"/>
          </a:bodyPr>
          <a:lstStyle/>
          <a:p>
            <a:r>
              <a:rPr lang="en-US" sz="4000"/>
              <a:t>C</a:t>
            </a:r>
            <a:r>
              <a:rPr lang="vi-VN" sz="4000"/>
              <a:t>ác đường hoạt động khi lệnh thuộc nhóm logic và số học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30"/>
            <a:ext cx="1735575" cy="2135774"/>
          </a:xfrm>
        </p:spPr>
        <p:txBody>
          <a:bodyPr/>
          <a:lstStyle/>
          <a:p>
            <a:pPr marL="0" indent="0">
              <a:buNone/>
            </a:pPr>
            <a:r>
              <a:rPr lang="vi-VN" sz="2400"/>
              <a:t>Tính thời gian cần thiết tối thiểu để thực thi lệnh add?</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75</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2">
            <a:extLst>
              <a:ext uri="{FF2B5EF4-FFF2-40B4-BE49-F238E27FC236}">
                <a16:creationId xmlns:a16="http://schemas.microsoft.com/office/drawing/2014/main" id="{8D686080-1DCA-A894-64A0-3E382D5D7E5C}"/>
              </a:ext>
            </a:extLst>
          </p:cNvPr>
          <p:cNvPicPr>
            <a:picLocks noChangeAspect="1" noChangeArrowheads="1"/>
          </p:cNvPicPr>
          <p:nvPr/>
        </p:nvPicPr>
        <p:blipFill>
          <a:blip r:embed="rId2" cstate="print"/>
          <a:srcRect/>
          <a:stretch>
            <a:fillRect/>
          </a:stretch>
        </p:blipFill>
        <p:spPr bwMode="auto">
          <a:xfrm>
            <a:off x="2662914" y="1297838"/>
            <a:ext cx="8995483" cy="5071157"/>
          </a:xfrm>
          <a:prstGeom prst="rect">
            <a:avLst/>
          </a:prstGeom>
          <a:noFill/>
          <a:ln w="9525">
            <a:noFill/>
            <a:miter lim="800000"/>
            <a:headEnd/>
            <a:tailEnd/>
          </a:ln>
        </p:spPr>
      </p:pic>
      <p:graphicFrame>
        <p:nvGraphicFramePr>
          <p:cNvPr id="8" name="Table 7">
            <a:extLst>
              <a:ext uri="{FF2B5EF4-FFF2-40B4-BE49-F238E27FC236}">
                <a16:creationId xmlns:a16="http://schemas.microsoft.com/office/drawing/2014/main" id="{2BE8C9B4-92F0-ED07-7976-4FEFE92F14B4}"/>
              </a:ext>
            </a:extLst>
          </p:cNvPr>
          <p:cNvGraphicFramePr>
            <a:graphicFrameLocks noGrp="1"/>
          </p:cNvGraphicFramePr>
          <p:nvPr>
            <p:extLst>
              <p:ext uri="{D42A27DB-BD31-4B8C-83A1-F6EECF244321}">
                <p14:modId xmlns:p14="http://schemas.microsoft.com/office/powerpoint/2010/main" val="1137881066"/>
              </p:ext>
            </p:extLst>
          </p:nvPr>
        </p:nvGraphicFramePr>
        <p:xfrm>
          <a:off x="533603" y="5785337"/>
          <a:ext cx="4927250" cy="673028"/>
        </p:xfrm>
        <a:graphic>
          <a:graphicData uri="http://schemas.openxmlformats.org/drawingml/2006/table">
            <a:tbl>
              <a:tblPr firstRow="1" firstCol="1" bandRow="1">
                <a:tableStyleId>{D7AC3CCA-C797-4891-BE02-D94E43425B78}</a:tableStyleId>
              </a:tblPr>
              <a:tblGrid>
                <a:gridCol w="821306">
                  <a:extLst>
                    <a:ext uri="{9D8B030D-6E8A-4147-A177-3AD203B41FA5}">
                      <a16:colId xmlns:a16="http://schemas.microsoft.com/office/drawing/2014/main" val="2633390230"/>
                    </a:ext>
                  </a:extLst>
                </a:gridCol>
                <a:gridCol w="821306">
                  <a:extLst>
                    <a:ext uri="{9D8B030D-6E8A-4147-A177-3AD203B41FA5}">
                      <a16:colId xmlns:a16="http://schemas.microsoft.com/office/drawing/2014/main" val="3762224460"/>
                    </a:ext>
                  </a:extLst>
                </a:gridCol>
                <a:gridCol w="820720">
                  <a:extLst>
                    <a:ext uri="{9D8B030D-6E8A-4147-A177-3AD203B41FA5}">
                      <a16:colId xmlns:a16="http://schemas.microsoft.com/office/drawing/2014/main" val="4258638023"/>
                    </a:ext>
                  </a:extLst>
                </a:gridCol>
                <a:gridCol w="821306">
                  <a:extLst>
                    <a:ext uri="{9D8B030D-6E8A-4147-A177-3AD203B41FA5}">
                      <a16:colId xmlns:a16="http://schemas.microsoft.com/office/drawing/2014/main" val="61280907"/>
                    </a:ext>
                  </a:extLst>
                </a:gridCol>
                <a:gridCol w="821306">
                  <a:extLst>
                    <a:ext uri="{9D8B030D-6E8A-4147-A177-3AD203B41FA5}">
                      <a16:colId xmlns:a16="http://schemas.microsoft.com/office/drawing/2014/main" val="3786562957"/>
                    </a:ext>
                  </a:extLst>
                </a:gridCol>
                <a:gridCol w="821306">
                  <a:extLst>
                    <a:ext uri="{9D8B030D-6E8A-4147-A177-3AD203B41FA5}">
                      <a16:colId xmlns:a16="http://schemas.microsoft.com/office/drawing/2014/main" val="1044823693"/>
                    </a:ext>
                  </a:extLst>
                </a:gridCol>
              </a:tblGrid>
              <a:tr h="336514">
                <a:tc>
                  <a:txBody>
                    <a:bodyPr/>
                    <a:lstStyle/>
                    <a:p>
                      <a:pPr algn="ctr">
                        <a:lnSpc>
                          <a:spcPct val="150000"/>
                        </a:lnSpc>
                      </a:pPr>
                      <a:r>
                        <a:rPr lang="en-US" sz="1300" dirty="0">
                          <a:effectLst/>
                        </a:rPr>
                        <a:t>I-Mem</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dirty="0">
                          <a:effectLst/>
                        </a:rPr>
                        <a:t>Add</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Mux</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ALU</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Regs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D-Mem</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786770085"/>
                  </a:ext>
                </a:extLst>
              </a:tr>
              <a:tr h="336514">
                <a:tc>
                  <a:txBody>
                    <a:bodyPr/>
                    <a:lstStyle/>
                    <a:p>
                      <a:pPr algn="ctr">
                        <a:lnSpc>
                          <a:spcPct val="150000"/>
                        </a:lnSpc>
                      </a:pPr>
                      <a:r>
                        <a:rPr lang="en-US" sz="1300" dirty="0">
                          <a:effectLst/>
                        </a:rPr>
                        <a:t>400ps</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100ps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30ps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120ps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200ps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dirty="0">
                          <a:effectLst/>
                        </a:rPr>
                        <a:t>350ps</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716073725"/>
                  </a:ext>
                </a:extLst>
              </a:tr>
            </a:tbl>
          </a:graphicData>
        </a:graphic>
      </p:graphicFrame>
    </p:spTree>
    <p:extLst>
      <p:ext uri="{BB962C8B-B14F-4D97-AF65-F5344CB8AC3E}">
        <p14:creationId xmlns:p14="http://schemas.microsoft.com/office/powerpoint/2010/main" val="23445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fontScale="90000"/>
          </a:bodyPr>
          <a:lstStyle/>
          <a:p>
            <a:r>
              <a:rPr lang="en-US" sz="4000"/>
              <a:t>C</a:t>
            </a:r>
            <a:r>
              <a:rPr lang="vi-VN" sz="4000"/>
              <a:t>ác đường hoạt động khi lệnh thuộc nhóm logic và số học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29"/>
            <a:ext cx="1735575" cy="2986563"/>
          </a:xfrm>
        </p:spPr>
        <p:txBody>
          <a:bodyPr/>
          <a:lstStyle/>
          <a:p>
            <a:pPr marL="0" indent="0">
              <a:buNone/>
            </a:pPr>
            <a:r>
              <a:rPr lang="vi-VN" sz="2400"/>
              <a:t>Trình bày các tín hiệu điều khiển khi thực thi lệnh add?</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76</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2">
            <a:extLst>
              <a:ext uri="{FF2B5EF4-FFF2-40B4-BE49-F238E27FC236}">
                <a16:creationId xmlns:a16="http://schemas.microsoft.com/office/drawing/2014/main" id="{8D686080-1DCA-A894-64A0-3E382D5D7E5C}"/>
              </a:ext>
            </a:extLst>
          </p:cNvPr>
          <p:cNvPicPr>
            <a:picLocks noChangeAspect="1" noChangeArrowheads="1"/>
          </p:cNvPicPr>
          <p:nvPr/>
        </p:nvPicPr>
        <p:blipFill>
          <a:blip r:embed="rId2" cstate="print"/>
          <a:srcRect/>
          <a:stretch>
            <a:fillRect/>
          </a:stretch>
        </p:blipFill>
        <p:spPr bwMode="auto">
          <a:xfrm>
            <a:off x="2662914" y="1297838"/>
            <a:ext cx="8995483" cy="5071157"/>
          </a:xfrm>
          <a:prstGeom prst="rect">
            <a:avLst/>
          </a:prstGeom>
          <a:noFill/>
          <a:ln w="9525">
            <a:noFill/>
            <a:miter lim="800000"/>
            <a:headEnd/>
            <a:tailEnd/>
          </a:ln>
        </p:spPr>
      </p:pic>
    </p:spTree>
    <p:extLst>
      <p:ext uri="{BB962C8B-B14F-4D97-AF65-F5344CB8AC3E}">
        <p14:creationId xmlns:p14="http://schemas.microsoft.com/office/powerpoint/2010/main" val="629863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Bài tập 1</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430466" y="1502797"/>
            <a:ext cx="2090098" cy="3498574"/>
          </a:xfrm>
        </p:spPr>
        <p:txBody>
          <a:bodyPr>
            <a:normAutofit/>
          </a:bodyPr>
          <a:lstStyle/>
          <a:p>
            <a:pPr marL="0" indent="0">
              <a:buNone/>
            </a:pPr>
            <a:r>
              <a:rPr lang="vi-VN" sz="2400"/>
              <a:t>Mô tả đường đi dữ liệu và tính thời gian cần thiết tối thiểu để thực thi lệnh:</a:t>
            </a:r>
          </a:p>
          <a:p>
            <a:pPr marL="0" indent="0">
              <a:buNone/>
            </a:pPr>
            <a:r>
              <a:rPr lang="vi-VN" sz="1900"/>
              <a:t>slt $t0, $s1, $s2</a:t>
            </a:r>
          </a:p>
          <a:p>
            <a:pPr marL="0" indent="0">
              <a:buNone/>
            </a:pPr>
            <a:r>
              <a:rPr lang="vi-VN" sz="1900"/>
              <a:t>s1 = 0x00002022</a:t>
            </a:r>
          </a:p>
          <a:p>
            <a:pPr marL="0" indent="0">
              <a:buNone/>
            </a:pPr>
            <a:r>
              <a:rPr lang="vi-VN" sz="1900"/>
              <a:t>s2 = 0x00002023</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77</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9" name="Picture 8">
            <a:extLst>
              <a:ext uri="{FF2B5EF4-FFF2-40B4-BE49-F238E27FC236}">
                <a16:creationId xmlns:a16="http://schemas.microsoft.com/office/drawing/2014/main" id="{D43984D5-B939-F4EC-EB29-0446CFC3D8C4}"/>
              </a:ext>
            </a:extLst>
          </p:cNvPr>
          <p:cNvPicPr>
            <a:picLocks noChangeAspect="1"/>
          </p:cNvPicPr>
          <p:nvPr/>
        </p:nvPicPr>
        <p:blipFill>
          <a:blip r:embed="rId3"/>
          <a:stretch>
            <a:fillRect/>
          </a:stretch>
        </p:blipFill>
        <p:spPr>
          <a:xfrm>
            <a:off x="4571401" y="1260040"/>
            <a:ext cx="7110849" cy="4448934"/>
          </a:xfrm>
          <a:prstGeom prst="rect">
            <a:avLst/>
          </a:prstGeom>
        </p:spPr>
      </p:pic>
      <p:pic>
        <p:nvPicPr>
          <p:cNvPr id="10" name="Picture 9">
            <a:extLst>
              <a:ext uri="{FF2B5EF4-FFF2-40B4-BE49-F238E27FC236}">
                <a16:creationId xmlns:a16="http://schemas.microsoft.com/office/drawing/2014/main" id="{467C2DCF-AD4A-0C42-0C2D-C3B8EAA20971}"/>
              </a:ext>
            </a:extLst>
          </p:cNvPr>
          <p:cNvPicPr>
            <a:picLocks noChangeAspect="1"/>
          </p:cNvPicPr>
          <p:nvPr/>
        </p:nvPicPr>
        <p:blipFill>
          <a:blip r:embed="rId4"/>
          <a:stretch>
            <a:fillRect/>
          </a:stretch>
        </p:blipFill>
        <p:spPr>
          <a:xfrm>
            <a:off x="509750" y="5487410"/>
            <a:ext cx="6352226" cy="850214"/>
          </a:xfrm>
          <a:prstGeom prst="rect">
            <a:avLst/>
          </a:prstGeom>
        </p:spPr>
      </p:pic>
    </p:spTree>
    <p:extLst>
      <p:ext uri="{BB962C8B-B14F-4D97-AF65-F5344CB8AC3E}">
        <p14:creationId xmlns:p14="http://schemas.microsoft.com/office/powerpoint/2010/main" val="18057099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C</a:t>
            </a:r>
            <a:r>
              <a:rPr lang="vi-VN" sz="4000"/>
              <a:t>ác đường hoạt động khi lệnh </a:t>
            </a:r>
            <a:r>
              <a:rPr lang="en-US" sz="4000"/>
              <a:t>lw</a:t>
            </a:r>
            <a:r>
              <a:rPr lang="vi-VN" sz="4000"/>
              <a:t>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29"/>
            <a:ext cx="1735575" cy="2986563"/>
          </a:xfrm>
        </p:spPr>
        <p:txBody>
          <a:bodyPr/>
          <a:lstStyle/>
          <a:p>
            <a:pPr marL="0" indent="0">
              <a:buNone/>
            </a:pPr>
            <a:r>
              <a:rPr lang="vi-VN" sz="2400"/>
              <a:t>Trình bày các khối chức năng được sử dụng khi thực thi lệnh </a:t>
            </a:r>
            <a:r>
              <a:rPr lang="en-US" sz="2400"/>
              <a:t>lw</a:t>
            </a:r>
            <a:r>
              <a:rPr lang="vi-VN" sz="2400"/>
              <a:t>?</a:t>
            </a:r>
          </a:p>
          <a:p>
            <a:endParaRPr lang="en-US"/>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78</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8" name="Picture 7">
            <a:extLst>
              <a:ext uri="{FF2B5EF4-FFF2-40B4-BE49-F238E27FC236}">
                <a16:creationId xmlns:a16="http://schemas.microsoft.com/office/drawing/2014/main" id="{85984AE7-38E8-B229-BDFF-F05C37C404C8}"/>
              </a:ext>
            </a:extLst>
          </p:cNvPr>
          <p:cNvPicPr/>
          <p:nvPr/>
        </p:nvPicPr>
        <p:blipFill>
          <a:blip r:embed="rId2"/>
          <a:stretch/>
        </p:blipFill>
        <p:spPr>
          <a:xfrm>
            <a:off x="2734731" y="1045751"/>
            <a:ext cx="9160750" cy="5235779"/>
          </a:xfrm>
          <a:prstGeom prst="rect">
            <a:avLst/>
          </a:prstGeom>
          <a:ln w="9360">
            <a:noFill/>
          </a:ln>
        </p:spPr>
      </p:pic>
    </p:spTree>
    <p:extLst>
      <p:ext uri="{BB962C8B-B14F-4D97-AF65-F5344CB8AC3E}">
        <p14:creationId xmlns:p14="http://schemas.microsoft.com/office/powerpoint/2010/main" val="25805234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C</a:t>
            </a:r>
            <a:r>
              <a:rPr lang="vi-VN" sz="4000"/>
              <a:t>ác đường hoạt động khi lệnh </a:t>
            </a:r>
            <a:r>
              <a:rPr lang="en-US" sz="4000"/>
              <a:t>lw</a:t>
            </a:r>
            <a:r>
              <a:rPr lang="vi-VN" sz="4000"/>
              <a:t>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30"/>
            <a:ext cx="1735575" cy="2135774"/>
          </a:xfrm>
        </p:spPr>
        <p:txBody>
          <a:bodyPr/>
          <a:lstStyle/>
          <a:p>
            <a:pPr marL="0" indent="0">
              <a:buNone/>
            </a:pPr>
            <a:r>
              <a:rPr lang="vi-VN" sz="2400"/>
              <a:t>Tính thời gian cần thiết tối thiểu để thực thi lệnh </a:t>
            </a:r>
            <a:r>
              <a:rPr lang="en-US" sz="2400"/>
              <a:t>lw</a:t>
            </a:r>
            <a:r>
              <a:rPr lang="vi-VN" sz="2400"/>
              <a:t>?</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79</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9" name="Picture 8">
            <a:extLst>
              <a:ext uri="{FF2B5EF4-FFF2-40B4-BE49-F238E27FC236}">
                <a16:creationId xmlns:a16="http://schemas.microsoft.com/office/drawing/2014/main" id="{56488069-4CF3-5692-A7BB-761779036AF9}"/>
              </a:ext>
            </a:extLst>
          </p:cNvPr>
          <p:cNvPicPr/>
          <p:nvPr/>
        </p:nvPicPr>
        <p:blipFill>
          <a:blip r:embed="rId2"/>
          <a:stretch/>
        </p:blipFill>
        <p:spPr>
          <a:xfrm>
            <a:off x="2734731" y="1045751"/>
            <a:ext cx="9160750" cy="5235779"/>
          </a:xfrm>
          <a:prstGeom prst="rect">
            <a:avLst/>
          </a:prstGeom>
          <a:ln w="9360">
            <a:noFill/>
          </a:ln>
        </p:spPr>
      </p:pic>
      <p:graphicFrame>
        <p:nvGraphicFramePr>
          <p:cNvPr id="10" name="Table 9">
            <a:extLst>
              <a:ext uri="{FF2B5EF4-FFF2-40B4-BE49-F238E27FC236}">
                <a16:creationId xmlns:a16="http://schemas.microsoft.com/office/drawing/2014/main" id="{E047001A-4ED3-06BB-0FCD-F74D896B7385}"/>
              </a:ext>
            </a:extLst>
          </p:cNvPr>
          <p:cNvGraphicFramePr>
            <a:graphicFrameLocks noGrp="1"/>
          </p:cNvGraphicFramePr>
          <p:nvPr/>
        </p:nvGraphicFramePr>
        <p:xfrm>
          <a:off x="533603" y="5785337"/>
          <a:ext cx="4927250" cy="673028"/>
        </p:xfrm>
        <a:graphic>
          <a:graphicData uri="http://schemas.openxmlformats.org/drawingml/2006/table">
            <a:tbl>
              <a:tblPr firstRow="1" firstCol="1" bandRow="1">
                <a:tableStyleId>{D7AC3CCA-C797-4891-BE02-D94E43425B78}</a:tableStyleId>
              </a:tblPr>
              <a:tblGrid>
                <a:gridCol w="821306">
                  <a:extLst>
                    <a:ext uri="{9D8B030D-6E8A-4147-A177-3AD203B41FA5}">
                      <a16:colId xmlns:a16="http://schemas.microsoft.com/office/drawing/2014/main" val="2633390230"/>
                    </a:ext>
                  </a:extLst>
                </a:gridCol>
                <a:gridCol w="821306">
                  <a:extLst>
                    <a:ext uri="{9D8B030D-6E8A-4147-A177-3AD203B41FA5}">
                      <a16:colId xmlns:a16="http://schemas.microsoft.com/office/drawing/2014/main" val="3762224460"/>
                    </a:ext>
                  </a:extLst>
                </a:gridCol>
                <a:gridCol w="820720">
                  <a:extLst>
                    <a:ext uri="{9D8B030D-6E8A-4147-A177-3AD203B41FA5}">
                      <a16:colId xmlns:a16="http://schemas.microsoft.com/office/drawing/2014/main" val="4258638023"/>
                    </a:ext>
                  </a:extLst>
                </a:gridCol>
                <a:gridCol w="821306">
                  <a:extLst>
                    <a:ext uri="{9D8B030D-6E8A-4147-A177-3AD203B41FA5}">
                      <a16:colId xmlns:a16="http://schemas.microsoft.com/office/drawing/2014/main" val="61280907"/>
                    </a:ext>
                  </a:extLst>
                </a:gridCol>
                <a:gridCol w="821306">
                  <a:extLst>
                    <a:ext uri="{9D8B030D-6E8A-4147-A177-3AD203B41FA5}">
                      <a16:colId xmlns:a16="http://schemas.microsoft.com/office/drawing/2014/main" val="3786562957"/>
                    </a:ext>
                  </a:extLst>
                </a:gridCol>
                <a:gridCol w="821306">
                  <a:extLst>
                    <a:ext uri="{9D8B030D-6E8A-4147-A177-3AD203B41FA5}">
                      <a16:colId xmlns:a16="http://schemas.microsoft.com/office/drawing/2014/main" val="1044823693"/>
                    </a:ext>
                  </a:extLst>
                </a:gridCol>
              </a:tblGrid>
              <a:tr h="336514">
                <a:tc>
                  <a:txBody>
                    <a:bodyPr/>
                    <a:lstStyle/>
                    <a:p>
                      <a:pPr algn="ctr">
                        <a:lnSpc>
                          <a:spcPct val="150000"/>
                        </a:lnSpc>
                      </a:pPr>
                      <a:r>
                        <a:rPr lang="en-US" sz="1300" dirty="0">
                          <a:effectLst/>
                        </a:rPr>
                        <a:t>I-Mem</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dirty="0">
                          <a:effectLst/>
                        </a:rPr>
                        <a:t>Add</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Mux</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ALU</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Regs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D-Mem</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786770085"/>
                  </a:ext>
                </a:extLst>
              </a:tr>
              <a:tr h="336514">
                <a:tc>
                  <a:txBody>
                    <a:bodyPr/>
                    <a:lstStyle/>
                    <a:p>
                      <a:pPr algn="ctr">
                        <a:lnSpc>
                          <a:spcPct val="150000"/>
                        </a:lnSpc>
                      </a:pPr>
                      <a:r>
                        <a:rPr lang="en-US" sz="1300" dirty="0">
                          <a:effectLst/>
                        </a:rPr>
                        <a:t>400ps</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100ps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30ps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120ps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200ps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dirty="0">
                          <a:effectLst/>
                        </a:rPr>
                        <a:t>350ps</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716073725"/>
                  </a:ext>
                </a:extLst>
              </a:tr>
            </a:tbl>
          </a:graphicData>
        </a:graphic>
      </p:graphicFrame>
    </p:spTree>
    <p:extLst>
      <p:ext uri="{BB962C8B-B14F-4D97-AF65-F5344CB8AC3E}">
        <p14:creationId xmlns:p14="http://schemas.microsoft.com/office/powerpoint/2010/main" val="1564532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C</a:t>
            </a:r>
            <a:r>
              <a:rPr lang="vi-VN" sz="4000"/>
              <a:t>ác đường hoạt động khi lệnh </a:t>
            </a:r>
            <a:r>
              <a:rPr lang="en-US" sz="4000"/>
              <a:t>lw</a:t>
            </a:r>
            <a:r>
              <a:rPr lang="vi-VN" sz="4000"/>
              <a:t>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29"/>
            <a:ext cx="1735575" cy="2986563"/>
          </a:xfrm>
        </p:spPr>
        <p:txBody>
          <a:bodyPr/>
          <a:lstStyle/>
          <a:p>
            <a:pPr marL="0" indent="0">
              <a:buNone/>
            </a:pPr>
            <a:r>
              <a:rPr lang="vi-VN" sz="2400"/>
              <a:t>Trình bày các tín hiệu điều khiển khi thực thi lệnh </a:t>
            </a:r>
            <a:r>
              <a:rPr lang="en-US" sz="2400"/>
              <a:t>lw</a:t>
            </a:r>
            <a:r>
              <a:rPr lang="vi-VN" sz="2400"/>
              <a:t>?</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80</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9" name="Picture 8">
            <a:extLst>
              <a:ext uri="{FF2B5EF4-FFF2-40B4-BE49-F238E27FC236}">
                <a16:creationId xmlns:a16="http://schemas.microsoft.com/office/drawing/2014/main" id="{CFC65131-1E2E-BC81-CDAC-C339C442B804}"/>
              </a:ext>
            </a:extLst>
          </p:cNvPr>
          <p:cNvPicPr/>
          <p:nvPr/>
        </p:nvPicPr>
        <p:blipFill>
          <a:blip r:embed="rId2"/>
          <a:stretch/>
        </p:blipFill>
        <p:spPr>
          <a:xfrm>
            <a:off x="2734731" y="1045751"/>
            <a:ext cx="9160750" cy="5235779"/>
          </a:xfrm>
          <a:prstGeom prst="rect">
            <a:avLst/>
          </a:prstGeom>
          <a:ln w="9360">
            <a:noFill/>
          </a:ln>
        </p:spPr>
      </p:pic>
    </p:spTree>
    <p:extLst>
      <p:ext uri="{BB962C8B-B14F-4D97-AF65-F5344CB8AC3E}">
        <p14:creationId xmlns:p14="http://schemas.microsoft.com/office/powerpoint/2010/main" val="29705048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Bài tập 2</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430466" y="1502797"/>
            <a:ext cx="2090098" cy="3498574"/>
          </a:xfrm>
        </p:spPr>
        <p:txBody>
          <a:bodyPr>
            <a:normAutofit/>
          </a:bodyPr>
          <a:lstStyle/>
          <a:p>
            <a:pPr marL="0" indent="0">
              <a:buNone/>
            </a:pPr>
            <a:r>
              <a:rPr lang="vi-VN" sz="2400"/>
              <a:t>Mô tả đường đi dữ liệu và tính thời gian cần thiết tối thiểu để thực thi lệnh:</a:t>
            </a:r>
          </a:p>
          <a:p>
            <a:pPr marL="0" indent="0">
              <a:buNone/>
            </a:pPr>
            <a:r>
              <a:rPr lang="vi-VN" sz="1900"/>
              <a:t>lw $t0, 20($s2)</a:t>
            </a:r>
          </a:p>
          <a:p>
            <a:pPr marL="0" indent="0">
              <a:buNone/>
            </a:pPr>
            <a:r>
              <a:rPr lang="vi-VN" sz="1900"/>
              <a:t>s2 = 0x00002023</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81</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9" name="Picture 8">
            <a:extLst>
              <a:ext uri="{FF2B5EF4-FFF2-40B4-BE49-F238E27FC236}">
                <a16:creationId xmlns:a16="http://schemas.microsoft.com/office/drawing/2014/main" id="{D43984D5-B939-F4EC-EB29-0446CFC3D8C4}"/>
              </a:ext>
            </a:extLst>
          </p:cNvPr>
          <p:cNvPicPr>
            <a:picLocks noChangeAspect="1"/>
          </p:cNvPicPr>
          <p:nvPr/>
        </p:nvPicPr>
        <p:blipFill>
          <a:blip r:embed="rId3"/>
          <a:stretch>
            <a:fillRect/>
          </a:stretch>
        </p:blipFill>
        <p:spPr>
          <a:xfrm>
            <a:off x="3644348" y="1152895"/>
            <a:ext cx="7110849" cy="4448934"/>
          </a:xfrm>
          <a:prstGeom prst="rect">
            <a:avLst/>
          </a:prstGeom>
        </p:spPr>
      </p:pic>
      <p:pic>
        <p:nvPicPr>
          <p:cNvPr id="7" name="Picture 6">
            <a:extLst>
              <a:ext uri="{FF2B5EF4-FFF2-40B4-BE49-F238E27FC236}">
                <a16:creationId xmlns:a16="http://schemas.microsoft.com/office/drawing/2014/main" id="{648B2D96-F118-6E9D-7E72-EB3EA56849CF}"/>
              </a:ext>
            </a:extLst>
          </p:cNvPr>
          <p:cNvPicPr>
            <a:picLocks noChangeAspect="1"/>
          </p:cNvPicPr>
          <p:nvPr/>
        </p:nvPicPr>
        <p:blipFill>
          <a:blip r:embed="rId4"/>
          <a:stretch>
            <a:fillRect/>
          </a:stretch>
        </p:blipFill>
        <p:spPr>
          <a:xfrm>
            <a:off x="509750" y="5601829"/>
            <a:ext cx="6036652" cy="807976"/>
          </a:xfrm>
          <a:prstGeom prst="rect">
            <a:avLst/>
          </a:prstGeom>
        </p:spPr>
      </p:pic>
    </p:spTree>
    <p:extLst>
      <p:ext uri="{BB962C8B-B14F-4D97-AF65-F5344CB8AC3E}">
        <p14:creationId xmlns:p14="http://schemas.microsoft.com/office/powerpoint/2010/main" val="15337171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C</a:t>
            </a:r>
            <a:r>
              <a:rPr lang="vi-VN" sz="4000"/>
              <a:t>ác đường hoạt động khi lệnh </a:t>
            </a:r>
            <a:r>
              <a:rPr lang="en-US"/>
              <a:t>s</a:t>
            </a:r>
            <a:r>
              <a:rPr lang="en-US" sz="4000"/>
              <a:t>w</a:t>
            </a:r>
            <a:r>
              <a:rPr lang="vi-VN" sz="4000"/>
              <a:t>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29"/>
            <a:ext cx="1735575" cy="2986563"/>
          </a:xfrm>
        </p:spPr>
        <p:txBody>
          <a:bodyPr/>
          <a:lstStyle/>
          <a:p>
            <a:pPr marL="0" indent="0">
              <a:buNone/>
            </a:pPr>
            <a:r>
              <a:rPr lang="vi-VN" sz="2400"/>
              <a:t>Trình bày các khối chức năng được sử dụng khi thực thi lệnh </a:t>
            </a:r>
            <a:r>
              <a:rPr lang="en-US" sz="2400"/>
              <a:t>sw</a:t>
            </a:r>
            <a:r>
              <a:rPr lang="vi-VN" sz="2400"/>
              <a:t>?</a:t>
            </a:r>
          </a:p>
          <a:p>
            <a:endParaRPr lang="en-US"/>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82</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3">
            <a:extLst>
              <a:ext uri="{FF2B5EF4-FFF2-40B4-BE49-F238E27FC236}">
                <a16:creationId xmlns:a16="http://schemas.microsoft.com/office/drawing/2014/main" id="{3EA8A573-4DEE-4381-C88E-BE7B95B96149}"/>
              </a:ext>
            </a:extLst>
          </p:cNvPr>
          <p:cNvPicPr/>
          <p:nvPr/>
        </p:nvPicPr>
        <p:blipFill>
          <a:blip r:embed="rId2"/>
          <a:stretch/>
        </p:blipFill>
        <p:spPr>
          <a:xfrm>
            <a:off x="2928297" y="977136"/>
            <a:ext cx="8967183" cy="5264638"/>
          </a:xfrm>
          <a:prstGeom prst="rect">
            <a:avLst/>
          </a:prstGeom>
          <a:ln w="9360">
            <a:noFill/>
          </a:ln>
        </p:spPr>
      </p:pic>
    </p:spTree>
    <p:extLst>
      <p:ext uri="{BB962C8B-B14F-4D97-AF65-F5344CB8AC3E}">
        <p14:creationId xmlns:p14="http://schemas.microsoft.com/office/powerpoint/2010/main" val="32571543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C</a:t>
            </a:r>
            <a:r>
              <a:rPr lang="vi-VN" sz="4000"/>
              <a:t>ác đường hoạt động khi lệnh </a:t>
            </a:r>
            <a:r>
              <a:rPr lang="en-US"/>
              <a:t>s</a:t>
            </a:r>
            <a:r>
              <a:rPr lang="en-US" sz="4000"/>
              <a:t>w</a:t>
            </a:r>
            <a:r>
              <a:rPr lang="vi-VN" sz="4000"/>
              <a:t>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30"/>
            <a:ext cx="1735575" cy="2135774"/>
          </a:xfrm>
        </p:spPr>
        <p:txBody>
          <a:bodyPr/>
          <a:lstStyle/>
          <a:p>
            <a:pPr marL="0" indent="0">
              <a:buNone/>
            </a:pPr>
            <a:r>
              <a:rPr lang="vi-VN" sz="2400"/>
              <a:t>Tính thời gian cần thiết tối thiểu để thực thi lệnh </a:t>
            </a:r>
            <a:r>
              <a:rPr lang="en-US" sz="2400"/>
              <a:t>sw</a:t>
            </a:r>
            <a:r>
              <a:rPr lang="vi-VN" sz="2400"/>
              <a:t>?</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83</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3">
            <a:extLst>
              <a:ext uri="{FF2B5EF4-FFF2-40B4-BE49-F238E27FC236}">
                <a16:creationId xmlns:a16="http://schemas.microsoft.com/office/drawing/2014/main" id="{73630FD7-1557-F9CE-4B7F-9DAA4043843C}"/>
              </a:ext>
            </a:extLst>
          </p:cNvPr>
          <p:cNvPicPr/>
          <p:nvPr/>
        </p:nvPicPr>
        <p:blipFill>
          <a:blip r:embed="rId2"/>
          <a:stretch/>
        </p:blipFill>
        <p:spPr>
          <a:xfrm>
            <a:off x="2928297" y="977136"/>
            <a:ext cx="8967183" cy="5264638"/>
          </a:xfrm>
          <a:prstGeom prst="rect">
            <a:avLst/>
          </a:prstGeom>
          <a:ln w="9360">
            <a:noFill/>
          </a:ln>
        </p:spPr>
      </p:pic>
      <p:graphicFrame>
        <p:nvGraphicFramePr>
          <p:cNvPr id="8" name="Table 7">
            <a:extLst>
              <a:ext uri="{FF2B5EF4-FFF2-40B4-BE49-F238E27FC236}">
                <a16:creationId xmlns:a16="http://schemas.microsoft.com/office/drawing/2014/main" id="{AB0BAB8C-D1C7-9717-2053-17A9601D4A2B}"/>
              </a:ext>
            </a:extLst>
          </p:cNvPr>
          <p:cNvGraphicFramePr>
            <a:graphicFrameLocks noGrp="1"/>
          </p:cNvGraphicFramePr>
          <p:nvPr>
            <p:extLst>
              <p:ext uri="{D42A27DB-BD31-4B8C-83A1-F6EECF244321}">
                <p14:modId xmlns:p14="http://schemas.microsoft.com/office/powerpoint/2010/main" val="3588678468"/>
              </p:ext>
            </p:extLst>
          </p:nvPr>
        </p:nvGraphicFramePr>
        <p:xfrm>
          <a:off x="533602" y="5764696"/>
          <a:ext cx="5072067" cy="693670"/>
        </p:xfrm>
        <a:graphic>
          <a:graphicData uri="http://schemas.openxmlformats.org/drawingml/2006/table">
            <a:tbl>
              <a:tblPr firstRow="1" firstCol="1" bandRow="1">
                <a:tableStyleId>{D7AC3CCA-C797-4891-BE02-D94E43425B78}</a:tableStyleId>
              </a:tblPr>
              <a:tblGrid>
                <a:gridCol w="845445">
                  <a:extLst>
                    <a:ext uri="{9D8B030D-6E8A-4147-A177-3AD203B41FA5}">
                      <a16:colId xmlns:a16="http://schemas.microsoft.com/office/drawing/2014/main" val="2633390230"/>
                    </a:ext>
                  </a:extLst>
                </a:gridCol>
                <a:gridCol w="845445">
                  <a:extLst>
                    <a:ext uri="{9D8B030D-6E8A-4147-A177-3AD203B41FA5}">
                      <a16:colId xmlns:a16="http://schemas.microsoft.com/office/drawing/2014/main" val="3762224460"/>
                    </a:ext>
                  </a:extLst>
                </a:gridCol>
                <a:gridCol w="844842">
                  <a:extLst>
                    <a:ext uri="{9D8B030D-6E8A-4147-A177-3AD203B41FA5}">
                      <a16:colId xmlns:a16="http://schemas.microsoft.com/office/drawing/2014/main" val="4258638023"/>
                    </a:ext>
                  </a:extLst>
                </a:gridCol>
                <a:gridCol w="845445">
                  <a:extLst>
                    <a:ext uri="{9D8B030D-6E8A-4147-A177-3AD203B41FA5}">
                      <a16:colId xmlns:a16="http://schemas.microsoft.com/office/drawing/2014/main" val="61280907"/>
                    </a:ext>
                  </a:extLst>
                </a:gridCol>
                <a:gridCol w="845445">
                  <a:extLst>
                    <a:ext uri="{9D8B030D-6E8A-4147-A177-3AD203B41FA5}">
                      <a16:colId xmlns:a16="http://schemas.microsoft.com/office/drawing/2014/main" val="3786562957"/>
                    </a:ext>
                  </a:extLst>
                </a:gridCol>
                <a:gridCol w="845445">
                  <a:extLst>
                    <a:ext uri="{9D8B030D-6E8A-4147-A177-3AD203B41FA5}">
                      <a16:colId xmlns:a16="http://schemas.microsoft.com/office/drawing/2014/main" val="1044823693"/>
                    </a:ext>
                  </a:extLst>
                </a:gridCol>
              </a:tblGrid>
              <a:tr h="346835">
                <a:tc>
                  <a:txBody>
                    <a:bodyPr/>
                    <a:lstStyle/>
                    <a:p>
                      <a:pPr algn="ctr">
                        <a:lnSpc>
                          <a:spcPct val="150000"/>
                        </a:lnSpc>
                      </a:pPr>
                      <a:r>
                        <a:rPr lang="en-US" sz="1300" dirty="0">
                          <a:effectLst/>
                        </a:rPr>
                        <a:t>I-Mem</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dirty="0">
                          <a:effectLst/>
                        </a:rPr>
                        <a:t>Add</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Mux</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ALU</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Regs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D-Mem</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786770085"/>
                  </a:ext>
                </a:extLst>
              </a:tr>
              <a:tr h="346835">
                <a:tc>
                  <a:txBody>
                    <a:bodyPr/>
                    <a:lstStyle/>
                    <a:p>
                      <a:pPr algn="ctr">
                        <a:lnSpc>
                          <a:spcPct val="150000"/>
                        </a:lnSpc>
                      </a:pPr>
                      <a:r>
                        <a:rPr lang="en-US" sz="1300" dirty="0">
                          <a:effectLst/>
                        </a:rPr>
                        <a:t>400ps</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100ps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30ps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120ps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200ps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dirty="0">
                          <a:effectLst/>
                        </a:rPr>
                        <a:t>350ps</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716073725"/>
                  </a:ext>
                </a:extLst>
              </a:tr>
            </a:tbl>
          </a:graphicData>
        </a:graphic>
      </p:graphicFrame>
    </p:spTree>
    <p:extLst>
      <p:ext uri="{BB962C8B-B14F-4D97-AF65-F5344CB8AC3E}">
        <p14:creationId xmlns:p14="http://schemas.microsoft.com/office/powerpoint/2010/main" val="407118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C</a:t>
            </a:r>
            <a:r>
              <a:rPr lang="vi-VN" sz="4000"/>
              <a:t>ác đường hoạt động khi lệnh </a:t>
            </a:r>
            <a:r>
              <a:rPr lang="en-US"/>
              <a:t>s</a:t>
            </a:r>
            <a:r>
              <a:rPr lang="en-US" sz="4000"/>
              <a:t>w</a:t>
            </a:r>
            <a:r>
              <a:rPr lang="vi-VN" sz="4000"/>
              <a:t>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29"/>
            <a:ext cx="1735575" cy="2986563"/>
          </a:xfrm>
        </p:spPr>
        <p:txBody>
          <a:bodyPr/>
          <a:lstStyle/>
          <a:p>
            <a:pPr marL="0" indent="0">
              <a:buNone/>
            </a:pPr>
            <a:r>
              <a:rPr lang="vi-VN" sz="2400"/>
              <a:t>Trình bày các tín hiệu điều khiển khi thực thi lệnh </a:t>
            </a:r>
            <a:r>
              <a:rPr lang="en-US" sz="2400"/>
              <a:t>sw</a:t>
            </a:r>
            <a:r>
              <a:rPr lang="vi-VN" sz="2400"/>
              <a:t>?</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84</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7" name="Picture 3">
            <a:extLst>
              <a:ext uri="{FF2B5EF4-FFF2-40B4-BE49-F238E27FC236}">
                <a16:creationId xmlns:a16="http://schemas.microsoft.com/office/drawing/2014/main" id="{3A364220-4902-6AE3-7754-11875EB3705E}"/>
              </a:ext>
            </a:extLst>
          </p:cNvPr>
          <p:cNvPicPr/>
          <p:nvPr/>
        </p:nvPicPr>
        <p:blipFill>
          <a:blip r:embed="rId2"/>
          <a:stretch/>
        </p:blipFill>
        <p:spPr>
          <a:xfrm>
            <a:off x="2928297" y="977136"/>
            <a:ext cx="8967183" cy="5264638"/>
          </a:xfrm>
          <a:prstGeom prst="rect">
            <a:avLst/>
          </a:prstGeom>
          <a:ln w="9360">
            <a:noFill/>
          </a:ln>
        </p:spPr>
      </p:pic>
    </p:spTree>
    <p:extLst>
      <p:ext uri="{BB962C8B-B14F-4D97-AF65-F5344CB8AC3E}">
        <p14:creationId xmlns:p14="http://schemas.microsoft.com/office/powerpoint/2010/main" val="26865198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Bài tập 3</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430466" y="1502797"/>
            <a:ext cx="2090098" cy="3498574"/>
          </a:xfrm>
        </p:spPr>
        <p:txBody>
          <a:bodyPr>
            <a:normAutofit/>
          </a:bodyPr>
          <a:lstStyle/>
          <a:p>
            <a:pPr marL="0" indent="0">
              <a:buNone/>
            </a:pPr>
            <a:r>
              <a:rPr lang="vi-VN" sz="2400"/>
              <a:t>Mô tả đường đi dữ liệu và tính thời gian cần thiết tối thiểu để thực thi lệnh:</a:t>
            </a:r>
          </a:p>
          <a:p>
            <a:pPr marL="0" indent="0">
              <a:buNone/>
            </a:pPr>
            <a:r>
              <a:rPr lang="vi-VN" sz="1900"/>
              <a:t>sw $t0, 20($s2)</a:t>
            </a:r>
          </a:p>
          <a:p>
            <a:pPr marL="0" indent="0">
              <a:buNone/>
            </a:pPr>
            <a:r>
              <a:rPr lang="vi-VN" sz="1900"/>
              <a:t>t0 = 0x00002022</a:t>
            </a:r>
          </a:p>
          <a:p>
            <a:pPr marL="0" indent="0">
              <a:buNone/>
            </a:pPr>
            <a:r>
              <a:rPr lang="vi-VN" sz="1900"/>
              <a:t>s2 = 0x00002023</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85</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9" name="Picture 8">
            <a:extLst>
              <a:ext uri="{FF2B5EF4-FFF2-40B4-BE49-F238E27FC236}">
                <a16:creationId xmlns:a16="http://schemas.microsoft.com/office/drawing/2014/main" id="{D43984D5-B939-F4EC-EB29-0446CFC3D8C4}"/>
              </a:ext>
            </a:extLst>
          </p:cNvPr>
          <p:cNvPicPr>
            <a:picLocks noChangeAspect="1"/>
          </p:cNvPicPr>
          <p:nvPr/>
        </p:nvPicPr>
        <p:blipFill>
          <a:blip r:embed="rId3"/>
          <a:stretch>
            <a:fillRect/>
          </a:stretch>
        </p:blipFill>
        <p:spPr>
          <a:xfrm>
            <a:off x="3644348" y="1152895"/>
            <a:ext cx="7110849" cy="4448934"/>
          </a:xfrm>
          <a:prstGeom prst="rect">
            <a:avLst/>
          </a:prstGeom>
        </p:spPr>
      </p:pic>
      <p:pic>
        <p:nvPicPr>
          <p:cNvPr id="7" name="Picture 6">
            <a:extLst>
              <a:ext uri="{FF2B5EF4-FFF2-40B4-BE49-F238E27FC236}">
                <a16:creationId xmlns:a16="http://schemas.microsoft.com/office/drawing/2014/main" id="{648B2D96-F118-6E9D-7E72-EB3EA56849CF}"/>
              </a:ext>
            </a:extLst>
          </p:cNvPr>
          <p:cNvPicPr>
            <a:picLocks noChangeAspect="1"/>
          </p:cNvPicPr>
          <p:nvPr/>
        </p:nvPicPr>
        <p:blipFill>
          <a:blip r:embed="rId4"/>
          <a:stretch>
            <a:fillRect/>
          </a:stretch>
        </p:blipFill>
        <p:spPr>
          <a:xfrm>
            <a:off x="509750" y="5601829"/>
            <a:ext cx="6036652" cy="807976"/>
          </a:xfrm>
          <a:prstGeom prst="rect">
            <a:avLst/>
          </a:prstGeom>
        </p:spPr>
      </p:pic>
    </p:spTree>
    <p:extLst>
      <p:ext uri="{BB962C8B-B14F-4D97-AF65-F5344CB8AC3E}">
        <p14:creationId xmlns:p14="http://schemas.microsoft.com/office/powerpoint/2010/main" val="18999005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C</a:t>
            </a:r>
            <a:r>
              <a:rPr lang="vi-VN" sz="4000"/>
              <a:t>ác đường hoạt động khi lệnh </a:t>
            </a:r>
            <a:r>
              <a:rPr lang="en-US" sz="4000"/>
              <a:t>beq</a:t>
            </a:r>
            <a:r>
              <a:rPr lang="vi-VN" sz="4000"/>
              <a:t>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29"/>
            <a:ext cx="1735575" cy="2986563"/>
          </a:xfrm>
        </p:spPr>
        <p:txBody>
          <a:bodyPr/>
          <a:lstStyle/>
          <a:p>
            <a:pPr marL="0" indent="0">
              <a:buNone/>
            </a:pPr>
            <a:r>
              <a:rPr lang="vi-VN" sz="2400"/>
              <a:t>Trình bày các khối chức năng được sử dụng khi thực thi lệnh </a:t>
            </a:r>
            <a:r>
              <a:rPr lang="en-US" sz="2400"/>
              <a:t>beq</a:t>
            </a:r>
            <a:r>
              <a:rPr lang="vi-VN" sz="2400"/>
              <a:t>?</a:t>
            </a:r>
          </a:p>
          <a:p>
            <a:endParaRPr lang="en-US"/>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86</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8" name="Picture 7">
            <a:extLst>
              <a:ext uri="{FF2B5EF4-FFF2-40B4-BE49-F238E27FC236}">
                <a16:creationId xmlns:a16="http://schemas.microsoft.com/office/drawing/2014/main" id="{5391A547-45D8-B18F-D732-2D0C5CC65E81}"/>
              </a:ext>
            </a:extLst>
          </p:cNvPr>
          <p:cNvPicPr/>
          <p:nvPr/>
        </p:nvPicPr>
        <p:blipFill>
          <a:blip r:embed="rId2"/>
          <a:stretch/>
        </p:blipFill>
        <p:spPr>
          <a:xfrm>
            <a:off x="2662132" y="1045751"/>
            <a:ext cx="9145555" cy="5331195"/>
          </a:xfrm>
          <a:prstGeom prst="rect">
            <a:avLst/>
          </a:prstGeom>
          <a:ln w="9360">
            <a:solidFill>
              <a:schemeClr val="tx1"/>
            </a:solidFill>
            <a:miter/>
          </a:ln>
        </p:spPr>
      </p:pic>
    </p:spTree>
    <p:extLst>
      <p:ext uri="{BB962C8B-B14F-4D97-AF65-F5344CB8AC3E}">
        <p14:creationId xmlns:p14="http://schemas.microsoft.com/office/powerpoint/2010/main" val="38166420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C</a:t>
            </a:r>
            <a:r>
              <a:rPr lang="vi-VN" sz="4000"/>
              <a:t>ác đường hoạt động khi lệnh </a:t>
            </a:r>
            <a:r>
              <a:rPr lang="en-US" sz="4000"/>
              <a:t>beq</a:t>
            </a:r>
            <a:r>
              <a:rPr lang="vi-VN" sz="4000"/>
              <a:t>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30"/>
            <a:ext cx="1735575" cy="2135774"/>
          </a:xfrm>
        </p:spPr>
        <p:txBody>
          <a:bodyPr/>
          <a:lstStyle/>
          <a:p>
            <a:pPr marL="0" indent="0">
              <a:buNone/>
            </a:pPr>
            <a:r>
              <a:rPr lang="vi-VN" sz="2400"/>
              <a:t>Tính thời gian cần thiết tối thiểu để thực thi lệnh </a:t>
            </a:r>
            <a:r>
              <a:rPr lang="en-US" sz="2400"/>
              <a:t>beq</a:t>
            </a:r>
            <a:r>
              <a:rPr lang="vi-VN" sz="2400"/>
              <a:t>?</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87</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9" name="Picture 8">
            <a:extLst>
              <a:ext uri="{FF2B5EF4-FFF2-40B4-BE49-F238E27FC236}">
                <a16:creationId xmlns:a16="http://schemas.microsoft.com/office/drawing/2014/main" id="{0D7733BD-5838-0C16-5106-47A84788E2B1}"/>
              </a:ext>
            </a:extLst>
          </p:cNvPr>
          <p:cNvPicPr/>
          <p:nvPr/>
        </p:nvPicPr>
        <p:blipFill>
          <a:blip r:embed="rId2"/>
          <a:stretch/>
        </p:blipFill>
        <p:spPr>
          <a:xfrm>
            <a:off x="2662132" y="1045751"/>
            <a:ext cx="9145555" cy="5331195"/>
          </a:xfrm>
          <a:prstGeom prst="rect">
            <a:avLst/>
          </a:prstGeom>
          <a:ln w="9360">
            <a:solidFill>
              <a:schemeClr val="tx1"/>
            </a:solidFill>
            <a:miter/>
          </a:ln>
        </p:spPr>
      </p:pic>
      <p:graphicFrame>
        <p:nvGraphicFramePr>
          <p:cNvPr id="10" name="Table 9">
            <a:extLst>
              <a:ext uri="{FF2B5EF4-FFF2-40B4-BE49-F238E27FC236}">
                <a16:creationId xmlns:a16="http://schemas.microsoft.com/office/drawing/2014/main" id="{22E69210-46FD-7500-2969-EFB77E4EEB96}"/>
              </a:ext>
            </a:extLst>
          </p:cNvPr>
          <p:cNvGraphicFramePr>
            <a:graphicFrameLocks noGrp="1"/>
          </p:cNvGraphicFramePr>
          <p:nvPr/>
        </p:nvGraphicFramePr>
        <p:xfrm>
          <a:off x="533602" y="5764696"/>
          <a:ext cx="5072067" cy="693670"/>
        </p:xfrm>
        <a:graphic>
          <a:graphicData uri="http://schemas.openxmlformats.org/drawingml/2006/table">
            <a:tbl>
              <a:tblPr firstRow="1" firstCol="1" bandRow="1">
                <a:tableStyleId>{D7AC3CCA-C797-4891-BE02-D94E43425B78}</a:tableStyleId>
              </a:tblPr>
              <a:tblGrid>
                <a:gridCol w="845445">
                  <a:extLst>
                    <a:ext uri="{9D8B030D-6E8A-4147-A177-3AD203B41FA5}">
                      <a16:colId xmlns:a16="http://schemas.microsoft.com/office/drawing/2014/main" val="2633390230"/>
                    </a:ext>
                  </a:extLst>
                </a:gridCol>
                <a:gridCol w="845445">
                  <a:extLst>
                    <a:ext uri="{9D8B030D-6E8A-4147-A177-3AD203B41FA5}">
                      <a16:colId xmlns:a16="http://schemas.microsoft.com/office/drawing/2014/main" val="3762224460"/>
                    </a:ext>
                  </a:extLst>
                </a:gridCol>
                <a:gridCol w="844842">
                  <a:extLst>
                    <a:ext uri="{9D8B030D-6E8A-4147-A177-3AD203B41FA5}">
                      <a16:colId xmlns:a16="http://schemas.microsoft.com/office/drawing/2014/main" val="4258638023"/>
                    </a:ext>
                  </a:extLst>
                </a:gridCol>
                <a:gridCol w="845445">
                  <a:extLst>
                    <a:ext uri="{9D8B030D-6E8A-4147-A177-3AD203B41FA5}">
                      <a16:colId xmlns:a16="http://schemas.microsoft.com/office/drawing/2014/main" val="61280907"/>
                    </a:ext>
                  </a:extLst>
                </a:gridCol>
                <a:gridCol w="845445">
                  <a:extLst>
                    <a:ext uri="{9D8B030D-6E8A-4147-A177-3AD203B41FA5}">
                      <a16:colId xmlns:a16="http://schemas.microsoft.com/office/drawing/2014/main" val="3786562957"/>
                    </a:ext>
                  </a:extLst>
                </a:gridCol>
                <a:gridCol w="845445">
                  <a:extLst>
                    <a:ext uri="{9D8B030D-6E8A-4147-A177-3AD203B41FA5}">
                      <a16:colId xmlns:a16="http://schemas.microsoft.com/office/drawing/2014/main" val="1044823693"/>
                    </a:ext>
                  </a:extLst>
                </a:gridCol>
              </a:tblGrid>
              <a:tr h="346835">
                <a:tc>
                  <a:txBody>
                    <a:bodyPr/>
                    <a:lstStyle/>
                    <a:p>
                      <a:pPr algn="ctr">
                        <a:lnSpc>
                          <a:spcPct val="150000"/>
                        </a:lnSpc>
                      </a:pPr>
                      <a:r>
                        <a:rPr lang="en-US" sz="1300" dirty="0">
                          <a:effectLst/>
                        </a:rPr>
                        <a:t>I-Mem</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dirty="0">
                          <a:effectLst/>
                        </a:rPr>
                        <a:t>Add</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Mux</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ALU</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Regs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D-Mem</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786770085"/>
                  </a:ext>
                </a:extLst>
              </a:tr>
              <a:tr h="346835">
                <a:tc>
                  <a:txBody>
                    <a:bodyPr/>
                    <a:lstStyle/>
                    <a:p>
                      <a:pPr algn="ctr">
                        <a:lnSpc>
                          <a:spcPct val="150000"/>
                        </a:lnSpc>
                      </a:pPr>
                      <a:r>
                        <a:rPr lang="en-US" sz="1300" dirty="0">
                          <a:effectLst/>
                        </a:rPr>
                        <a:t>400ps</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100ps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30ps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120ps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a:effectLst/>
                        </a:rPr>
                        <a:t>200ps</a:t>
                      </a:r>
                      <a:endParaRPr lang="en-VN" sz="13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50000"/>
                        </a:lnSpc>
                      </a:pPr>
                      <a:r>
                        <a:rPr lang="en-US" sz="1300" dirty="0">
                          <a:effectLst/>
                        </a:rPr>
                        <a:t>350ps</a:t>
                      </a:r>
                      <a:endParaRPr lang="en-VN" sz="13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716073725"/>
                  </a:ext>
                </a:extLst>
              </a:tr>
            </a:tbl>
          </a:graphicData>
        </a:graphic>
      </p:graphicFrame>
    </p:spTree>
    <p:extLst>
      <p:ext uri="{BB962C8B-B14F-4D97-AF65-F5344CB8AC3E}">
        <p14:creationId xmlns:p14="http://schemas.microsoft.com/office/powerpoint/2010/main" val="2222140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C</a:t>
            </a:r>
            <a:r>
              <a:rPr lang="vi-VN" sz="4000"/>
              <a:t>ác đường hoạt động khi lệnh </a:t>
            </a:r>
            <a:r>
              <a:rPr lang="en-US" sz="4000"/>
              <a:t>beq</a:t>
            </a:r>
            <a:r>
              <a:rPr lang="vi-VN" sz="4000"/>
              <a:t> thực thi</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721378" y="2452129"/>
            <a:ext cx="1735575" cy="2986563"/>
          </a:xfrm>
        </p:spPr>
        <p:txBody>
          <a:bodyPr/>
          <a:lstStyle/>
          <a:p>
            <a:pPr marL="0" indent="0">
              <a:buNone/>
            </a:pPr>
            <a:r>
              <a:rPr lang="vi-VN" sz="2400"/>
              <a:t>Trình bày các tín hiệu điều khiển khi thực thi lệnh </a:t>
            </a:r>
            <a:r>
              <a:rPr lang="en-US" sz="2400"/>
              <a:t>beq</a:t>
            </a:r>
            <a:r>
              <a:rPr lang="vi-VN" sz="2400"/>
              <a:t>?</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88</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8" name="Picture 7">
            <a:extLst>
              <a:ext uri="{FF2B5EF4-FFF2-40B4-BE49-F238E27FC236}">
                <a16:creationId xmlns:a16="http://schemas.microsoft.com/office/drawing/2014/main" id="{740E6FD8-196A-0EB2-FDD9-79D0468BB63E}"/>
              </a:ext>
            </a:extLst>
          </p:cNvPr>
          <p:cNvPicPr/>
          <p:nvPr/>
        </p:nvPicPr>
        <p:blipFill>
          <a:blip r:embed="rId2"/>
          <a:stretch/>
        </p:blipFill>
        <p:spPr>
          <a:xfrm>
            <a:off x="2662132" y="1045751"/>
            <a:ext cx="9145555" cy="5331195"/>
          </a:xfrm>
          <a:prstGeom prst="rect">
            <a:avLst/>
          </a:prstGeom>
          <a:ln w="9360">
            <a:solidFill>
              <a:schemeClr val="tx1"/>
            </a:solidFill>
            <a:miter/>
          </a:ln>
        </p:spPr>
      </p:pic>
    </p:spTree>
    <p:extLst>
      <p:ext uri="{BB962C8B-B14F-4D97-AF65-F5344CB8AC3E}">
        <p14:creationId xmlns:p14="http://schemas.microsoft.com/office/powerpoint/2010/main" val="359372974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92F-8DB6-322C-CCF7-465E13C01B5D}"/>
              </a:ext>
            </a:extLst>
          </p:cNvPr>
          <p:cNvSpPr>
            <a:spLocks noGrp="1"/>
          </p:cNvSpPr>
          <p:nvPr>
            <p:ph type="title"/>
          </p:nvPr>
        </p:nvSpPr>
        <p:spPr/>
        <p:txBody>
          <a:bodyPr>
            <a:normAutofit/>
          </a:bodyPr>
          <a:lstStyle/>
          <a:p>
            <a:r>
              <a:rPr lang="en-US" sz="4000"/>
              <a:t>Bài tập 4</a:t>
            </a:r>
            <a:endParaRPr lang="en-US"/>
          </a:p>
        </p:txBody>
      </p:sp>
      <p:sp>
        <p:nvSpPr>
          <p:cNvPr id="3" name="Content Placeholder 2">
            <a:extLst>
              <a:ext uri="{FF2B5EF4-FFF2-40B4-BE49-F238E27FC236}">
                <a16:creationId xmlns:a16="http://schemas.microsoft.com/office/drawing/2014/main" id="{E26996B0-D332-90A3-3DF5-8F1B8997136C}"/>
              </a:ext>
            </a:extLst>
          </p:cNvPr>
          <p:cNvSpPr>
            <a:spLocks noGrp="1"/>
          </p:cNvSpPr>
          <p:nvPr>
            <p:ph idx="1"/>
          </p:nvPr>
        </p:nvSpPr>
        <p:spPr>
          <a:xfrm>
            <a:off x="430465" y="1502797"/>
            <a:ext cx="2988595" cy="3498574"/>
          </a:xfrm>
        </p:spPr>
        <p:txBody>
          <a:bodyPr>
            <a:normAutofit/>
          </a:bodyPr>
          <a:lstStyle/>
          <a:p>
            <a:pPr marL="0" indent="0">
              <a:buNone/>
            </a:pPr>
            <a:r>
              <a:rPr lang="vi-VN" sz="2400"/>
              <a:t>Mô tả đường đi dữ liệu và tính thời gian cần thiết tối thiểu để thực thi lệnh:</a:t>
            </a:r>
          </a:p>
          <a:p>
            <a:pPr marL="0" indent="0">
              <a:buNone/>
            </a:pPr>
            <a:r>
              <a:rPr lang="vi-VN" sz="2400" i="1"/>
              <a:t>beq $t0, $t1, 3</a:t>
            </a:r>
          </a:p>
          <a:p>
            <a:pPr marL="0" indent="0">
              <a:buNone/>
            </a:pPr>
            <a:r>
              <a:rPr lang="vi-VN" sz="2400" i="1"/>
              <a:t>t0 = 0x00002022</a:t>
            </a:r>
          </a:p>
          <a:p>
            <a:pPr marL="0" indent="0">
              <a:buNone/>
            </a:pPr>
            <a:r>
              <a:rPr lang="vi-VN" sz="2400" i="1"/>
              <a:t>t1 = 0x00002022</a:t>
            </a:r>
          </a:p>
        </p:txBody>
      </p:sp>
      <p:sp>
        <p:nvSpPr>
          <p:cNvPr id="4" name="Footer Placeholder 3">
            <a:extLst>
              <a:ext uri="{FF2B5EF4-FFF2-40B4-BE49-F238E27FC236}">
                <a16:creationId xmlns:a16="http://schemas.microsoft.com/office/drawing/2014/main" id="{D36BACD2-548A-18C2-B7A7-8FAE3D397B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C573D439-67AE-3A28-47E1-66DA1A941723}"/>
              </a:ext>
            </a:extLst>
          </p:cNvPr>
          <p:cNvSpPr>
            <a:spLocks noGrp="1"/>
          </p:cNvSpPr>
          <p:nvPr>
            <p:ph type="sldNum" sz="quarter" idx="12"/>
          </p:nvPr>
        </p:nvSpPr>
        <p:spPr/>
        <p:txBody>
          <a:bodyPr/>
          <a:lstStyle/>
          <a:p>
            <a:fld id="{D8B0B3AC-44A8-D142-AAF6-9A453466E1A4}" type="slidenum">
              <a:rPr lang="en-VN" smtClean="0"/>
              <a:pPr/>
              <a:t>89</a:t>
            </a:fld>
            <a:endParaRPr lang="en-VN" dirty="0"/>
          </a:p>
        </p:txBody>
      </p:sp>
      <p:sp>
        <p:nvSpPr>
          <p:cNvPr id="6" name="Date Placeholder 5">
            <a:extLst>
              <a:ext uri="{FF2B5EF4-FFF2-40B4-BE49-F238E27FC236}">
                <a16:creationId xmlns:a16="http://schemas.microsoft.com/office/drawing/2014/main" id="{4A00F117-ADB5-7D92-5A93-46D94F70B5D9}"/>
              </a:ext>
            </a:extLst>
          </p:cNvPr>
          <p:cNvSpPr>
            <a:spLocks noGrp="1"/>
          </p:cNvSpPr>
          <p:nvPr>
            <p:ph type="dt" sz="half" idx="13"/>
          </p:nvPr>
        </p:nvSpPr>
        <p:spPr/>
        <p:txBody>
          <a:bodyPr/>
          <a:lstStyle/>
          <a:p>
            <a:fld id="{46CDDB1B-AAE9-1649-A755-11FADEB7E97E}" type="datetime4">
              <a:rPr lang="en-US" smtClean="0"/>
              <a:pPr/>
              <a:t>May 13, 2024</a:t>
            </a:fld>
            <a:endParaRPr lang="en-US" dirty="0"/>
          </a:p>
        </p:txBody>
      </p:sp>
      <p:pic>
        <p:nvPicPr>
          <p:cNvPr id="9" name="Picture 8">
            <a:extLst>
              <a:ext uri="{FF2B5EF4-FFF2-40B4-BE49-F238E27FC236}">
                <a16:creationId xmlns:a16="http://schemas.microsoft.com/office/drawing/2014/main" id="{D43984D5-B939-F4EC-EB29-0446CFC3D8C4}"/>
              </a:ext>
            </a:extLst>
          </p:cNvPr>
          <p:cNvPicPr>
            <a:picLocks noChangeAspect="1"/>
          </p:cNvPicPr>
          <p:nvPr/>
        </p:nvPicPr>
        <p:blipFill>
          <a:blip r:embed="rId3"/>
          <a:stretch>
            <a:fillRect/>
          </a:stretch>
        </p:blipFill>
        <p:spPr>
          <a:xfrm>
            <a:off x="3644348" y="1152895"/>
            <a:ext cx="7110849" cy="4448934"/>
          </a:xfrm>
          <a:prstGeom prst="rect">
            <a:avLst/>
          </a:prstGeom>
        </p:spPr>
      </p:pic>
      <p:pic>
        <p:nvPicPr>
          <p:cNvPr id="7" name="Picture 6">
            <a:extLst>
              <a:ext uri="{FF2B5EF4-FFF2-40B4-BE49-F238E27FC236}">
                <a16:creationId xmlns:a16="http://schemas.microsoft.com/office/drawing/2014/main" id="{648B2D96-F118-6E9D-7E72-EB3EA56849CF}"/>
              </a:ext>
            </a:extLst>
          </p:cNvPr>
          <p:cNvPicPr>
            <a:picLocks noChangeAspect="1"/>
          </p:cNvPicPr>
          <p:nvPr/>
        </p:nvPicPr>
        <p:blipFill>
          <a:blip r:embed="rId4"/>
          <a:stretch>
            <a:fillRect/>
          </a:stretch>
        </p:blipFill>
        <p:spPr>
          <a:xfrm>
            <a:off x="509750" y="5601829"/>
            <a:ext cx="6036652" cy="807976"/>
          </a:xfrm>
          <a:prstGeom prst="rect">
            <a:avLst/>
          </a:prstGeom>
        </p:spPr>
      </p:pic>
    </p:spTree>
    <p:extLst>
      <p:ext uri="{BB962C8B-B14F-4D97-AF65-F5344CB8AC3E}">
        <p14:creationId xmlns:p14="http://schemas.microsoft.com/office/powerpoint/2010/main" val="358082831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ltLang="ja-JP" dirty="0" err="1"/>
              <a:t>Tóm</a:t>
            </a:r>
            <a:r>
              <a:rPr lang="en-US" altLang="ja-JP" dirty="0"/>
              <a:t> </a:t>
            </a:r>
            <a:r>
              <a:rPr lang="en-US" altLang="ja-JP" dirty="0" err="1"/>
              <a:t>tắt</a:t>
            </a:r>
            <a:r>
              <a:rPr lang="en-US" altLang="ja-JP" dirty="0"/>
              <a:t> </a:t>
            </a:r>
            <a:r>
              <a:rPr lang="en-US" altLang="ja-JP" dirty="0" err="1"/>
              <a:t>lại</a:t>
            </a:r>
            <a:r>
              <a:rPr lang="en-US" altLang="ja-JP" dirty="0"/>
              <a:t> </a:t>
            </a:r>
            <a:r>
              <a:rPr lang="en-US" altLang="ja-JP" dirty="0" err="1"/>
              <a:t>nội</a:t>
            </a:r>
            <a:r>
              <a:rPr lang="en-US" altLang="ja-JP" dirty="0"/>
              <a:t> dung </a:t>
            </a:r>
            <a:r>
              <a:rPr lang="en-US" altLang="ja-JP" dirty="0" err="1"/>
              <a:t>buổi</a:t>
            </a:r>
            <a:r>
              <a:rPr lang="en-US" altLang="ja-JP" dirty="0"/>
              <a:t> </a:t>
            </a:r>
            <a:r>
              <a:rPr lang="en-US" altLang="ja-JP" dirty="0" err="1"/>
              <a:t>học</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90</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7" name="Content Placeholder 6">
            <a:extLst>
              <a:ext uri="{FF2B5EF4-FFF2-40B4-BE49-F238E27FC236}">
                <a16:creationId xmlns:a16="http://schemas.microsoft.com/office/drawing/2014/main" id="{E47E921A-D3ED-8231-8D37-BB4F13F904B4}"/>
              </a:ext>
            </a:extLst>
          </p:cNvPr>
          <p:cNvSpPr>
            <a:spLocks noGrp="1"/>
          </p:cNvSpPr>
          <p:nvPr>
            <p:ph idx="1"/>
          </p:nvPr>
        </p:nvSpPr>
        <p:spPr/>
        <p:txBody>
          <a:bodyPr/>
          <a:lstStyle/>
          <a:p>
            <a:pPr>
              <a:lnSpc>
                <a:spcPct val="200000"/>
              </a:lnSpc>
            </a:pPr>
            <a:r>
              <a:rPr lang="en-US" dirty="0" err="1"/>
              <a:t>Kiến</a:t>
            </a:r>
            <a:r>
              <a:rPr lang="en-US" dirty="0"/>
              <a:t> </a:t>
            </a:r>
            <a:r>
              <a:rPr lang="en-US" dirty="0" err="1"/>
              <a:t>trúc</a:t>
            </a:r>
            <a:r>
              <a:rPr lang="en-US" dirty="0"/>
              <a:t> </a:t>
            </a:r>
            <a:r>
              <a:rPr lang="en-US" dirty="0" err="1"/>
              <a:t>tổng</a:t>
            </a:r>
            <a:r>
              <a:rPr lang="en-US" dirty="0"/>
              <a:t> </a:t>
            </a:r>
            <a:r>
              <a:rPr lang="en-US" dirty="0" err="1"/>
              <a:t>quan</a:t>
            </a:r>
            <a:r>
              <a:rPr lang="en-US" dirty="0"/>
              <a:t> bộ </a:t>
            </a:r>
            <a:r>
              <a:rPr lang="en-US" dirty="0" err="1"/>
              <a:t>xử</a:t>
            </a:r>
            <a:r>
              <a:rPr lang="en-US" dirty="0"/>
              <a:t> </a:t>
            </a:r>
            <a:r>
              <a:rPr lang="en-US" dirty="0" err="1"/>
              <a:t>lý</a:t>
            </a:r>
            <a:endParaRPr lang="en-US" dirty="0"/>
          </a:p>
          <a:p>
            <a:pPr>
              <a:lnSpc>
                <a:spcPct val="200000"/>
              </a:lnSpc>
            </a:pPr>
            <a:r>
              <a:rPr lang="en-US" dirty="0"/>
              <a:t>Datapath</a:t>
            </a:r>
          </a:p>
          <a:p>
            <a:pPr>
              <a:lnSpc>
                <a:spcPct val="200000"/>
              </a:lnSpc>
            </a:pPr>
            <a:r>
              <a:rPr lang="en-US" dirty="0"/>
              <a:t>Control</a:t>
            </a:r>
          </a:p>
          <a:p>
            <a:pPr>
              <a:lnSpc>
                <a:spcPct val="200000"/>
              </a:lnSpc>
            </a:pPr>
            <a:r>
              <a:rPr lang="en-US" dirty="0" err="1"/>
              <a:t>Thực</a:t>
            </a:r>
            <a:r>
              <a:rPr lang="en-US" dirty="0"/>
              <a:t> </a:t>
            </a:r>
            <a:r>
              <a:rPr lang="en-US" dirty="0" err="1"/>
              <a:t>thi</a:t>
            </a:r>
            <a:r>
              <a:rPr lang="en-US" dirty="0"/>
              <a:t> </a:t>
            </a:r>
            <a:r>
              <a:rPr lang="en-US" dirty="0" err="1"/>
              <a:t>lệnh</a:t>
            </a:r>
            <a:endParaRPr lang="en-US" dirty="0"/>
          </a:p>
          <a:p>
            <a:endParaRPr lang="en-US" dirty="0"/>
          </a:p>
        </p:txBody>
      </p:sp>
    </p:spTree>
    <p:extLst>
      <p:ext uri="{BB962C8B-B14F-4D97-AF65-F5344CB8AC3E}">
        <p14:creationId xmlns:p14="http://schemas.microsoft.com/office/powerpoint/2010/main" val="16712348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8756CC-FF80-6915-444D-795BAF1CD5A1}"/>
              </a:ext>
            </a:extLst>
          </p:cNvPr>
          <p:cNvSpPr>
            <a:spLocks noGrp="1"/>
          </p:cNvSpPr>
          <p:nvPr>
            <p:ph type="sldNum" sz="quarter" idx="12"/>
          </p:nvPr>
        </p:nvSpPr>
        <p:spPr/>
        <p:txBody>
          <a:bodyPr/>
          <a:lstStyle/>
          <a:p>
            <a:fld id="{D8B0B3AC-44A8-D142-AAF6-9A453466E1A4}" type="slidenum">
              <a:rPr lang="en-VN" smtClean="0"/>
              <a:pPr/>
              <a:t>91</a:t>
            </a:fld>
            <a:endParaRPr lang="en-VN" dirty="0"/>
          </a:p>
        </p:txBody>
      </p:sp>
      <p:sp>
        <p:nvSpPr>
          <p:cNvPr id="3" name="Footer Placeholder 2">
            <a:extLst>
              <a:ext uri="{FF2B5EF4-FFF2-40B4-BE49-F238E27FC236}">
                <a16:creationId xmlns:a16="http://schemas.microsoft.com/office/drawing/2014/main" id="{BF1000C4-9A2E-05A2-1818-684E7F99594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Title 1">
            <a:extLst>
              <a:ext uri="{FF2B5EF4-FFF2-40B4-BE49-F238E27FC236}">
                <a16:creationId xmlns:a16="http://schemas.microsoft.com/office/drawing/2014/main" id="{7A14E97F-0DB8-D467-8B0C-A879824FD45F}"/>
              </a:ext>
            </a:extLst>
          </p:cNvPr>
          <p:cNvSpPr txBox="1">
            <a:spLocks/>
          </p:cNvSpPr>
          <p:nvPr/>
        </p:nvSpPr>
        <p:spPr>
          <a:xfrm>
            <a:off x="4684910" y="1918010"/>
            <a:ext cx="4012558" cy="1100921"/>
          </a:xfrm>
          <a:prstGeom prst="rect">
            <a:avLst/>
          </a:prstGeom>
        </p:spPr>
        <p:txBody>
          <a:bodyPr/>
          <a:lst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dirty="0"/>
              <a:t>THẢO LUẬN</a:t>
            </a:r>
          </a:p>
        </p:txBody>
      </p:sp>
      <p:pic>
        <p:nvPicPr>
          <p:cNvPr id="5" name="Picture 4" descr="http://data.sinhvienit.net/2013/T09/img/SinhVienIT.Net---suy-nghi.jpg">
            <a:extLst>
              <a:ext uri="{FF2B5EF4-FFF2-40B4-BE49-F238E27FC236}">
                <a16:creationId xmlns:a16="http://schemas.microsoft.com/office/drawing/2014/main" id="{91D62A03-02AF-AB7F-80A0-89E3D2490D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95842" y="3018931"/>
            <a:ext cx="3211551" cy="240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60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977</TotalTime>
  <Words>7463</Words>
  <Application>Microsoft Office PowerPoint</Application>
  <PresentationFormat>Widescreen</PresentationFormat>
  <Paragraphs>1570</Paragraphs>
  <Slides>91</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91</vt:i4>
      </vt:variant>
    </vt:vector>
  </HeadingPairs>
  <TitlesOfParts>
    <vt:vector size="99" baseType="lpstr">
      <vt:lpstr>Arial</vt:lpstr>
      <vt:lpstr>Calibri</vt:lpstr>
      <vt:lpstr>Courier New</vt:lpstr>
      <vt:lpstr>Symbol</vt:lpstr>
      <vt:lpstr>Times New Roman</vt:lpstr>
      <vt:lpstr>Verdana</vt:lpstr>
      <vt:lpstr>Wingdings</vt:lpstr>
      <vt:lpstr>Office Theme</vt:lpstr>
      <vt:lpstr>PowerPoint Presentation</vt:lpstr>
      <vt:lpstr>PowerPoint Presentation</vt:lpstr>
      <vt:lpstr>PowerPoint Presentation</vt:lpstr>
      <vt:lpstr>PowerPoint Presentation</vt:lpstr>
      <vt:lpstr>Kiến trúc tổng quan bộ xử lý</vt:lpstr>
      <vt:lpstr>Kiến trúc tổng quan bộ xử lý (tt)</vt:lpstr>
      <vt:lpstr>PowerPoint Presentation</vt:lpstr>
      <vt:lpstr>Datapath</vt:lpstr>
      <vt:lpstr>Quy trình thực thi lệnh của MIPS </vt:lpstr>
      <vt:lpstr>Datapath (tt)</vt:lpstr>
      <vt:lpstr>Quy trình thực thi lệnh của MIPS</vt:lpstr>
      <vt:lpstr>PowerPoint Presentation</vt:lpstr>
      <vt:lpstr>Giai đoạn tìm nạp lệnh (Instruction Fetch)</vt:lpstr>
      <vt:lpstr>Giai đoạn tìm nạp lệnh (tt)</vt:lpstr>
      <vt:lpstr>Khối Instruction Memory</vt:lpstr>
      <vt:lpstr>Bộ cộng</vt:lpstr>
      <vt:lpstr>Datapath của một bộ xử lý với 8 lệnh MIPS</vt:lpstr>
      <vt:lpstr>Quy trình thực thi lệnh của MIPS</vt:lpstr>
      <vt:lpstr>PowerPoint Presentation</vt:lpstr>
      <vt:lpstr>Giai đoạn giải mã (Decode)</vt:lpstr>
      <vt:lpstr>Giai đoạn giải mã (tt)</vt:lpstr>
      <vt:lpstr>Giai đoạn giải mã (tt)</vt:lpstr>
      <vt:lpstr>Giai đoạn giải mã (tt)</vt:lpstr>
      <vt:lpstr>Khối Register File</vt:lpstr>
      <vt:lpstr>Giải mã: lệnh R-Type</vt:lpstr>
      <vt:lpstr>Giải mã: lệnh I-Type</vt:lpstr>
      <vt:lpstr>Giải mã: giải pháp cho ngõ “Write register”</vt:lpstr>
      <vt:lpstr>Khối Mux</vt:lpstr>
      <vt:lpstr>Giải mã: giải pháp cho ngõ “Toán hạng 2”</vt:lpstr>
      <vt:lpstr>Giải mã: lệnh sw</vt:lpstr>
      <vt:lpstr>Giải mã: lệnh beq</vt:lpstr>
      <vt:lpstr>Giải mã: tổng hợp</vt:lpstr>
      <vt:lpstr>Datapath của một bộ xử lý với 8 lệnh MIPS</vt:lpstr>
      <vt:lpstr>Quy trình thực thi lệnh của MIPS</vt:lpstr>
      <vt:lpstr>PowerPoint Presentation</vt:lpstr>
      <vt:lpstr>Công đoạn ALU (thực thi)</vt:lpstr>
      <vt:lpstr>Công đoạn ALU (thực thi)</vt:lpstr>
      <vt:lpstr>Khối ALU (Arithmetic Logical Unit)</vt:lpstr>
      <vt:lpstr>Công đoạn ALU: các lệnh non-branch</vt:lpstr>
      <vt:lpstr>Quy trình thực thi lệnh của MIPS </vt:lpstr>
      <vt:lpstr>Công đoạn ALU: Các lệnh Branch</vt:lpstr>
      <vt:lpstr>Công đoạn ALU: Các lệnh Branch</vt:lpstr>
      <vt:lpstr>Datapath với  công đoạn ALU hoàn chỉnh</vt:lpstr>
      <vt:lpstr>Datapath của một bộ xử lý với 8 lệnh MIPS</vt:lpstr>
      <vt:lpstr>Quy trình thực thi lệnh của MIPS</vt:lpstr>
      <vt:lpstr>PowerPoint Presentation</vt:lpstr>
      <vt:lpstr>Giai đoạn truy xuất vùng nhớ (Memory stage)</vt:lpstr>
      <vt:lpstr>Giai đoạn truy xuất vùng nhớ (Memory stage)</vt:lpstr>
      <vt:lpstr>Khối Data Memory</vt:lpstr>
      <vt:lpstr>Giai đoạn Memory: lệnh Load</vt:lpstr>
      <vt:lpstr>Giai đoạn Memory: lệnh Store</vt:lpstr>
      <vt:lpstr>Datapath của một bộ xử lý với 8 lệnh MIPS</vt:lpstr>
      <vt:lpstr>Quy trình thực thi lệnh của MIPS</vt:lpstr>
      <vt:lpstr>PowerPoint Presentation</vt:lpstr>
      <vt:lpstr>Giai đoạn lưu trữ kết quả (Result Write)</vt:lpstr>
      <vt:lpstr>Giai đoạn lưu trữ kết quả (Result Write)</vt:lpstr>
      <vt:lpstr>Giai đoạn lưu trữ kết quả (Result Write)</vt:lpstr>
      <vt:lpstr>Giai đoạn lưu trữ kết quả (Result Write)</vt:lpstr>
      <vt:lpstr>Datapath của một bộ xử lý với 8 lệnh MIPS</vt:lpstr>
      <vt:lpstr>PowerPoint Presentation</vt:lpstr>
      <vt:lpstr>Datapath của một bộ xử lý với 8 lệnh MIPS</vt:lpstr>
      <vt:lpstr>Control - RegDst</vt:lpstr>
      <vt:lpstr>Control - RegWrite</vt:lpstr>
      <vt:lpstr>Control - ALUSrc</vt:lpstr>
      <vt:lpstr>Control - Branch</vt:lpstr>
      <vt:lpstr>Control – Memread</vt:lpstr>
      <vt:lpstr>Control - MemWrite</vt:lpstr>
      <vt:lpstr>Control - MemtoReg</vt:lpstr>
      <vt:lpstr>Control – Ví dụ</vt:lpstr>
      <vt:lpstr>Datapath của một bộ xử lý với 8 lệnh MIPS</vt:lpstr>
      <vt:lpstr>ALU Control</vt:lpstr>
      <vt:lpstr>ALU Control (tt)</vt:lpstr>
      <vt:lpstr>PowerPoint Presentation</vt:lpstr>
      <vt:lpstr>Các đường hoạt động khi lệnh thuộc nhóm logic và số học thực thi</vt:lpstr>
      <vt:lpstr>Các đường hoạt động khi lệnh thuộc nhóm logic và số học thực thi</vt:lpstr>
      <vt:lpstr>Các đường hoạt động khi lệnh thuộc nhóm logic và số học thực thi</vt:lpstr>
      <vt:lpstr>Bài tập 1</vt:lpstr>
      <vt:lpstr>Các đường hoạt động khi lệnh lw thực thi</vt:lpstr>
      <vt:lpstr>Các đường hoạt động khi lệnh lw thực thi</vt:lpstr>
      <vt:lpstr>Các đường hoạt động khi lệnh lw thực thi</vt:lpstr>
      <vt:lpstr>Bài tập 2</vt:lpstr>
      <vt:lpstr>Các đường hoạt động khi lệnh sw thực thi</vt:lpstr>
      <vt:lpstr>Các đường hoạt động khi lệnh sw thực thi</vt:lpstr>
      <vt:lpstr>Các đường hoạt động khi lệnh sw thực thi</vt:lpstr>
      <vt:lpstr>Bài tập 3</vt:lpstr>
      <vt:lpstr>Các đường hoạt động khi lệnh beq thực thi</vt:lpstr>
      <vt:lpstr>Các đường hoạt động khi lệnh beq thực thi</vt:lpstr>
      <vt:lpstr>Các đường hoạt động khi lệnh beq thực thi</vt:lpstr>
      <vt:lpstr>Bài tập 4</vt:lpstr>
      <vt:lpstr>Tóm tắt lại nội dung buổi học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Trần Hoàng Lộc</dc:creator>
  <cp:lastModifiedBy>Phan Đình Duy</cp:lastModifiedBy>
  <cp:revision>124</cp:revision>
  <dcterms:created xsi:type="dcterms:W3CDTF">2023-03-03T01:55:04Z</dcterms:created>
  <dcterms:modified xsi:type="dcterms:W3CDTF">2024-05-13T05:49:50Z</dcterms:modified>
</cp:coreProperties>
</file>