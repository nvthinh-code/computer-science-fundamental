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8"/>
  </p:notesMasterIdLst>
  <p:sldIdLst>
    <p:sldId id="314" r:id="rId2"/>
    <p:sldId id="394" r:id="rId3"/>
    <p:sldId id="395" r:id="rId4"/>
    <p:sldId id="269" r:id="rId5"/>
    <p:sldId id="398" r:id="rId6"/>
    <p:sldId id="261" r:id="rId7"/>
    <p:sldId id="345" r:id="rId8"/>
    <p:sldId id="346" r:id="rId9"/>
    <p:sldId id="347" r:id="rId10"/>
    <p:sldId id="263" r:id="rId11"/>
    <p:sldId id="396" r:id="rId12"/>
    <p:sldId id="270" r:id="rId13"/>
    <p:sldId id="277" r:id="rId14"/>
    <p:sldId id="325" r:id="rId15"/>
    <p:sldId id="348" r:id="rId16"/>
    <p:sldId id="349" r:id="rId17"/>
    <p:sldId id="397" r:id="rId18"/>
    <p:sldId id="376" r:id="rId19"/>
    <p:sldId id="377" r:id="rId20"/>
    <p:sldId id="378" r:id="rId21"/>
    <p:sldId id="379" r:id="rId22"/>
    <p:sldId id="380" r:id="rId23"/>
    <p:sldId id="381" r:id="rId24"/>
    <p:sldId id="382" r:id="rId25"/>
    <p:sldId id="383" r:id="rId26"/>
    <p:sldId id="384" r:id="rId27"/>
    <p:sldId id="386" r:id="rId28"/>
    <p:sldId id="385" r:id="rId29"/>
    <p:sldId id="387" r:id="rId30"/>
    <p:sldId id="388" r:id="rId31"/>
    <p:sldId id="295" r:id="rId32"/>
    <p:sldId id="350" r:id="rId33"/>
    <p:sldId id="351" r:id="rId34"/>
    <p:sldId id="352" r:id="rId35"/>
    <p:sldId id="353" r:id="rId36"/>
    <p:sldId id="271" r:id="rId37"/>
    <p:sldId id="328" r:id="rId38"/>
    <p:sldId id="354" r:id="rId39"/>
    <p:sldId id="355" r:id="rId40"/>
    <p:sldId id="356" r:id="rId41"/>
    <p:sldId id="357" r:id="rId42"/>
    <p:sldId id="358" r:id="rId43"/>
    <p:sldId id="276" r:id="rId44"/>
    <p:sldId id="268" r:id="rId45"/>
    <p:sldId id="313" r:id="rId46"/>
    <p:sldId id="392" r:id="rId47"/>
  </p:sldIdLst>
  <p:sldSz cx="12192000" cy="6858000"/>
  <p:notesSz cx="6858000" cy="9144000"/>
  <p:defaultText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C6FF"/>
    <a:srgbClr val="0072FF"/>
    <a:srgbClr val="1CB5E0"/>
    <a:srgbClr val="000046"/>
    <a:srgbClr val="00F7FF"/>
    <a:srgbClr val="0A4671"/>
    <a:srgbClr val="114F9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470"/>
    <p:restoredTop sz="93447" autoAdjust="0"/>
  </p:normalViewPr>
  <p:slideViewPr>
    <p:cSldViewPr snapToGrid="0">
      <p:cViewPr varScale="1">
        <p:scale>
          <a:sx n="56" d="100"/>
          <a:sy n="56" d="100"/>
        </p:scale>
        <p:origin x="1172"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01B713-64C2-0949-8ADC-A04FFD1F6467}" type="datetimeFigureOut">
              <a:rPr lang="en-VN" smtClean="0"/>
              <a:t>04/21/2024</a:t>
            </a:fld>
            <a:endParaRPr lang="en-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19F204-C7F4-F140-967F-D2FA889DA617}" type="slidenum">
              <a:rPr lang="en-VN" smtClean="0"/>
              <a:t>‹#›</a:t>
            </a:fld>
            <a:endParaRPr lang="en-VN"/>
          </a:p>
        </p:txBody>
      </p:sp>
    </p:spTree>
    <p:extLst>
      <p:ext uri="{BB962C8B-B14F-4D97-AF65-F5344CB8AC3E}">
        <p14:creationId xmlns:p14="http://schemas.microsoft.com/office/powerpoint/2010/main" val="29899649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a:t>Trước những năm 1980 thì kiến trúc tập lệnh chủ yếu là ngăn xếp và bộ tích lũy. Nhược điểm là phải truy xuất theo thứ tự và thiếu tính linh hoạt</a:t>
            </a:r>
          </a:p>
          <a:p>
            <a:pPr marL="228600" indent="-228600">
              <a:buAutoNum type="arabicPeriod"/>
            </a:pPr>
            <a:r>
              <a:rPr lang="en-US"/>
              <a:t>Sau những năm 1980 thì kiến trúc tập lệnh chủ yếu là thanh ghi – thanh ghi vì </a:t>
            </a:r>
          </a:p>
          <a:p>
            <a:pPr marL="685800" lvl="1" indent="-228600">
              <a:buAutoNum type="arabicPeriod"/>
            </a:pPr>
            <a:r>
              <a:rPr lang="en-US"/>
              <a:t>Thanh ghi nằm trong bộ xử lý nên hoạt động ở tốc độ rất cao</a:t>
            </a:r>
          </a:p>
          <a:p>
            <a:pPr marL="685800" lvl="1" indent="-228600">
              <a:buAutoNum type="arabicPeriod"/>
            </a:pPr>
            <a:r>
              <a:rPr lang="en-US"/>
              <a:t>Thanh ghi hiệu quả cho việc viết trình biên dịch</a:t>
            </a:r>
          </a:p>
          <a:p>
            <a:pPr marL="685800" lvl="1" indent="-228600">
              <a:buAutoNum type="arabicPeriod"/>
            </a:pPr>
            <a:r>
              <a:rPr lang="en-US"/>
              <a:t>Phạm vi môn học này chỉ trình bày về kiến trúc thanh ghi – thanh ghi</a:t>
            </a:r>
          </a:p>
          <a:p>
            <a:pPr marL="228600" indent="-228600">
              <a:buAutoNum type="arabicPeriod"/>
            </a:pPr>
            <a:r>
              <a:rPr lang="en-US"/>
              <a:t>Kiến trúc thanh ghi – bộ nhớ không còn xuất hiện trên thị trường vì tốc độ bộ nhớ quá chậm so với bộ xử lý</a:t>
            </a:r>
          </a:p>
          <a:p>
            <a:endParaRPr lang="en-US"/>
          </a:p>
          <a:p>
            <a:endParaRPr lang="en-US"/>
          </a:p>
        </p:txBody>
      </p:sp>
      <p:sp>
        <p:nvSpPr>
          <p:cNvPr id="4" name="Slide Number Placeholder 3"/>
          <p:cNvSpPr>
            <a:spLocks noGrp="1"/>
          </p:cNvSpPr>
          <p:nvPr>
            <p:ph type="sldNum" sz="quarter" idx="5"/>
          </p:nvPr>
        </p:nvSpPr>
        <p:spPr/>
        <p:txBody>
          <a:bodyPr/>
          <a:lstStyle/>
          <a:p>
            <a:fld id="{DC19F204-C7F4-F140-967F-D2FA889DA617}" type="slidenum">
              <a:rPr lang="en-VN" smtClean="0"/>
              <a:t>8</a:t>
            </a:fld>
            <a:endParaRPr lang="en-VN"/>
          </a:p>
        </p:txBody>
      </p:sp>
    </p:spTree>
    <p:extLst>
      <p:ext uri="{BB962C8B-B14F-4D97-AF65-F5344CB8AC3E}">
        <p14:creationId xmlns:p14="http://schemas.microsoft.com/office/powerpoint/2010/main" val="2224688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a:t>Trước những năm 1980 thì kiến trúc tập lệnh chủ yếu là ngăn xếp và bộ tích lũy. Nhược điểm là phải truy xuất theo thứ tự và thiếu tính linh hoạt</a:t>
            </a:r>
          </a:p>
          <a:p>
            <a:pPr marL="228600" indent="-228600">
              <a:buAutoNum type="arabicPeriod"/>
            </a:pPr>
            <a:r>
              <a:rPr lang="en-US"/>
              <a:t>Sau những năm 1980 thì kiến trúc tập lệnh chủ yếu là thanh ghi – thanh ghi vì </a:t>
            </a:r>
          </a:p>
          <a:p>
            <a:pPr marL="685800" lvl="1" indent="-228600">
              <a:buAutoNum type="arabicPeriod"/>
            </a:pPr>
            <a:r>
              <a:rPr lang="en-US"/>
              <a:t>Thanh ghi nằm trong bộ xử lý nên hoạt động ở tốc độ rất cao</a:t>
            </a:r>
          </a:p>
          <a:p>
            <a:pPr marL="685800" lvl="1" indent="-228600">
              <a:buAutoNum type="arabicPeriod"/>
            </a:pPr>
            <a:r>
              <a:rPr lang="en-US"/>
              <a:t>Thanh ghi hiệu quả cho việc viết trình biên dịch</a:t>
            </a:r>
          </a:p>
          <a:p>
            <a:pPr marL="685800" lvl="1" indent="-228600">
              <a:buAutoNum type="arabicPeriod"/>
            </a:pPr>
            <a:r>
              <a:rPr lang="en-US"/>
              <a:t>Phạm vi môn học này chỉ trình bày về kiến trúc thanh ghi – thanh ghi</a:t>
            </a:r>
          </a:p>
          <a:p>
            <a:pPr marL="228600" indent="-228600">
              <a:buAutoNum type="arabicPeriod"/>
            </a:pPr>
            <a:r>
              <a:rPr lang="en-US"/>
              <a:t>Kiến trúc thanh ghi – bộ nhớ không còn xuất hiện trên thị trường vì tốc độ bộ nhớ quá chậm so với bộ xử lý</a:t>
            </a:r>
          </a:p>
          <a:p>
            <a:endParaRPr lang="en-US"/>
          </a:p>
          <a:p>
            <a:endParaRPr lang="en-US"/>
          </a:p>
        </p:txBody>
      </p:sp>
      <p:sp>
        <p:nvSpPr>
          <p:cNvPr id="4" name="Slide Number Placeholder 3"/>
          <p:cNvSpPr>
            <a:spLocks noGrp="1"/>
          </p:cNvSpPr>
          <p:nvPr>
            <p:ph type="sldNum" sz="quarter" idx="5"/>
          </p:nvPr>
        </p:nvSpPr>
        <p:spPr/>
        <p:txBody>
          <a:bodyPr/>
          <a:lstStyle/>
          <a:p>
            <a:fld id="{DC19F204-C7F4-F140-967F-D2FA889DA617}" type="slidenum">
              <a:rPr lang="en-VN" smtClean="0"/>
              <a:t>9</a:t>
            </a:fld>
            <a:endParaRPr lang="en-VN"/>
          </a:p>
        </p:txBody>
      </p:sp>
    </p:spTree>
    <p:extLst>
      <p:ext uri="{BB962C8B-B14F-4D97-AF65-F5344CB8AC3E}">
        <p14:creationId xmlns:p14="http://schemas.microsoft.com/office/powerpoint/2010/main" val="22943716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a:t>Ngôn ngữ con người: a cộng b bằng c</a:t>
            </a:r>
          </a:p>
          <a:p>
            <a:pPr marL="228600" indent="-228600">
              <a:buAutoNum type="arabicPeriod"/>
            </a:pPr>
            <a:r>
              <a:rPr lang="en-US"/>
              <a:t>Ngôn ngữ lập trình: c = a + b</a:t>
            </a:r>
          </a:p>
          <a:p>
            <a:pPr marL="228600" indent="-228600">
              <a:buAutoNum type="arabicPeriod"/>
            </a:pPr>
            <a:r>
              <a:rPr lang="en-US"/>
              <a:t>Ngôn ngữ máy tính: &lt;là một chuỗi các tín hiệu 0 và 1&gt; =&gt; Khó hiểu nhưng có định dạng rõ ràng theo thứ tự, đầu tiên là Mã thao tác, sau đó là các toáng hạng</a:t>
            </a:r>
          </a:p>
          <a:p>
            <a:pPr marL="628650" lvl="1" indent="-171450">
              <a:buFont typeface="Symbol" panose="05050102010706020507" pitchFamily="18" charset="2"/>
              <a:buChar char="Þ"/>
            </a:pPr>
            <a:r>
              <a:rPr lang="en-US"/>
              <a:t>Thay vì dùng  các chuỗi 0 1 khó nhớ thì có thể sử dụng các từ gợi nhớ: add c, a, b</a:t>
            </a:r>
          </a:p>
          <a:p>
            <a:pPr marL="628650" lvl="1" indent="-171450">
              <a:buFont typeface="Symbol" panose="05050102010706020507" pitchFamily="18" charset="2"/>
              <a:buChar char="Þ"/>
            </a:pPr>
            <a:r>
              <a:rPr lang="en-US"/>
              <a:t>add c, a, b chỉ dẫn cho máy tính thực hiện thao tác cộng 2 biến a và b sau đó gán kết quả vào biến c</a:t>
            </a:r>
          </a:p>
          <a:p>
            <a:pPr marL="628650" lvl="1" indent="-171450">
              <a:buFont typeface="Symbol" panose="05050102010706020507" pitchFamily="18" charset="2"/>
              <a:buChar char="Þ"/>
            </a:pPr>
            <a:r>
              <a:rPr lang="en-US"/>
              <a:t>Trong phạm vi môn học này, khi nhắc tới LỆNH là nhắc tới LỆNH GỢI NHỚ của lệnh hay còn gọi là HỢP NGỮ (ASSEMBLY) thay vì LỆNH MÃ MÁY</a:t>
            </a:r>
          </a:p>
          <a:p>
            <a:pPr marL="628650" lvl="1" indent="-171450">
              <a:buFont typeface="Symbol" panose="05050102010706020507" pitchFamily="18" charset="2"/>
              <a:buChar char="Þ"/>
            </a:pPr>
            <a:r>
              <a:rPr lang="en-US" b="1">
                <a:solidFill>
                  <a:srgbClr val="FF0000"/>
                </a:solidFill>
              </a:rPr>
              <a:t>Lưu ý: lệnh trong slide này chỉ mang tính minh họa chứ không theo một kiến trúc tập lệnh thực tế nào</a:t>
            </a:r>
          </a:p>
          <a:p>
            <a:endParaRPr lang="en-US"/>
          </a:p>
          <a:p>
            <a:endParaRPr lang="en-US"/>
          </a:p>
          <a:p>
            <a:endParaRPr lang="en-US"/>
          </a:p>
        </p:txBody>
      </p:sp>
      <p:sp>
        <p:nvSpPr>
          <p:cNvPr id="4" name="Slide Number Placeholder 3"/>
          <p:cNvSpPr>
            <a:spLocks noGrp="1"/>
          </p:cNvSpPr>
          <p:nvPr>
            <p:ph type="sldNum" sz="quarter" idx="5"/>
          </p:nvPr>
        </p:nvSpPr>
        <p:spPr/>
        <p:txBody>
          <a:bodyPr/>
          <a:lstStyle/>
          <a:p>
            <a:fld id="{DC19F204-C7F4-F140-967F-D2FA889DA617}" type="slidenum">
              <a:rPr lang="en-VN" smtClean="0"/>
              <a:t>12</a:t>
            </a:fld>
            <a:endParaRPr lang="en-VN"/>
          </a:p>
        </p:txBody>
      </p:sp>
    </p:spTree>
    <p:extLst>
      <p:ext uri="{BB962C8B-B14F-4D97-AF65-F5344CB8AC3E}">
        <p14:creationId xmlns:p14="http://schemas.microsoft.com/office/powerpoint/2010/main" val="13728662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vi-VN"/>
              <a:t>Bảng trên slide trình bày một số lệnh số học và luận lý thường dùng (MIPS còn nhiều lệnh số học và luận lý khác)</a:t>
            </a:r>
          </a:p>
          <a:p>
            <a:pPr marL="228600" indent="-228600">
              <a:buAutoNum type="arabicPeriod"/>
            </a:pPr>
            <a:r>
              <a:rPr lang="vi-VN"/>
              <a:t>i là viết tắt của immediate, addi nghĩa là cộng với số tức thời</a:t>
            </a:r>
          </a:p>
          <a:p>
            <a:pPr marL="228600" indent="-228600">
              <a:buAutoNum type="arabicPeriod"/>
            </a:pPr>
            <a:r>
              <a:rPr lang="vi-VN"/>
              <a:t>u là viết tắt của unsigned, addu nghĩa là kết quả của phép cộng là một số không dấu</a:t>
            </a:r>
          </a:p>
          <a:p>
            <a:pPr marL="228600" indent="-228600">
              <a:buAutoNum type="arabicPeriod"/>
            </a:pPr>
            <a:r>
              <a:rPr lang="vi-VN"/>
              <a:t>MIPS sử dụng lệnh nor thay cho not</a:t>
            </a:r>
          </a:p>
          <a:p>
            <a:pPr marL="685800" lvl="1" indent="-228600">
              <a:buAutoNum type="arabicPeriod"/>
            </a:pPr>
            <a:r>
              <a:rPr lang="vi-VN"/>
              <a:t>NOT(A) = NOR(A, A)</a:t>
            </a:r>
          </a:p>
          <a:p>
            <a:endParaRPr lang="en-US"/>
          </a:p>
        </p:txBody>
      </p:sp>
      <p:sp>
        <p:nvSpPr>
          <p:cNvPr id="4" name="Slide Number Placeholder 3"/>
          <p:cNvSpPr>
            <a:spLocks noGrp="1"/>
          </p:cNvSpPr>
          <p:nvPr>
            <p:ph type="sldNum" sz="quarter" idx="5"/>
          </p:nvPr>
        </p:nvSpPr>
        <p:spPr/>
        <p:txBody>
          <a:bodyPr/>
          <a:lstStyle/>
          <a:p>
            <a:fld id="{DC19F204-C7F4-F140-967F-D2FA889DA617}" type="slidenum">
              <a:rPr lang="en-VN" smtClean="0"/>
              <a:t>18</a:t>
            </a:fld>
            <a:endParaRPr lang="en-VN"/>
          </a:p>
        </p:txBody>
      </p:sp>
    </p:spTree>
    <p:extLst>
      <p:ext uri="{BB962C8B-B14F-4D97-AF65-F5344CB8AC3E}">
        <p14:creationId xmlns:p14="http://schemas.microsoft.com/office/powerpoint/2010/main" val="42308086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SLL dịch trái </a:t>
            </a:r>
            <a:r>
              <a:rPr lang="vi-VN" i="1"/>
              <a:t>i</a:t>
            </a:r>
            <a:r>
              <a:rPr lang="vi-VN"/>
              <a:t> bit nghĩa là nhân với 2</a:t>
            </a:r>
            <a:r>
              <a:rPr lang="vi-VN" i="1" baseline="30000"/>
              <a:t>i</a:t>
            </a:r>
            <a:endParaRPr lang="vi-VN"/>
          </a:p>
          <a:p>
            <a:r>
              <a:rPr lang="vi-VN"/>
              <a:t>SRL dịch phải </a:t>
            </a:r>
            <a:r>
              <a:rPr lang="vi-VN" i="1"/>
              <a:t>i</a:t>
            </a:r>
            <a:r>
              <a:rPr lang="vi-VN"/>
              <a:t> bit nghĩa là chia cho 2</a:t>
            </a:r>
            <a:r>
              <a:rPr lang="vi-VN" i="1" baseline="30000"/>
              <a:t>i</a:t>
            </a:r>
            <a:r>
              <a:rPr lang="vi-VN" i="1"/>
              <a:t> </a:t>
            </a:r>
            <a:r>
              <a:rPr lang="vi-VN"/>
              <a:t>(chỉ áp dụng với không dấu)</a:t>
            </a:r>
          </a:p>
          <a:p>
            <a:pPr marL="228600" indent="-228600">
              <a:buAutoNum type="arabicPeriod"/>
            </a:pPr>
            <a:endParaRPr lang="vi-VN"/>
          </a:p>
          <a:p>
            <a:endParaRPr lang="en-US"/>
          </a:p>
        </p:txBody>
      </p:sp>
      <p:sp>
        <p:nvSpPr>
          <p:cNvPr id="4" name="Slide Number Placeholder 3"/>
          <p:cNvSpPr>
            <a:spLocks noGrp="1"/>
          </p:cNvSpPr>
          <p:nvPr>
            <p:ph type="sldNum" sz="quarter" idx="5"/>
          </p:nvPr>
        </p:nvSpPr>
        <p:spPr/>
        <p:txBody>
          <a:bodyPr/>
          <a:lstStyle/>
          <a:p>
            <a:fld id="{DC19F204-C7F4-F140-967F-D2FA889DA617}" type="slidenum">
              <a:rPr lang="en-VN" smtClean="0"/>
              <a:t>21</a:t>
            </a:fld>
            <a:endParaRPr lang="en-VN"/>
          </a:p>
        </p:txBody>
      </p:sp>
    </p:spTree>
    <p:extLst>
      <p:ext uri="{BB962C8B-B14F-4D97-AF65-F5344CB8AC3E}">
        <p14:creationId xmlns:p14="http://schemas.microsoft.com/office/powerpoint/2010/main" val="8700461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vi-VN"/>
          </a:p>
          <a:p>
            <a:endParaRPr lang="en-US"/>
          </a:p>
        </p:txBody>
      </p:sp>
      <p:sp>
        <p:nvSpPr>
          <p:cNvPr id="4" name="Slide Number Placeholder 3"/>
          <p:cNvSpPr>
            <a:spLocks noGrp="1"/>
          </p:cNvSpPr>
          <p:nvPr>
            <p:ph type="sldNum" sz="quarter" idx="5"/>
          </p:nvPr>
        </p:nvSpPr>
        <p:spPr/>
        <p:txBody>
          <a:bodyPr/>
          <a:lstStyle/>
          <a:p>
            <a:fld id="{DC19F204-C7F4-F140-967F-D2FA889DA617}" type="slidenum">
              <a:rPr lang="en-VN" smtClean="0"/>
              <a:t>22</a:t>
            </a:fld>
            <a:endParaRPr lang="en-VN"/>
          </a:p>
        </p:txBody>
      </p:sp>
    </p:spTree>
    <p:extLst>
      <p:ext uri="{BB962C8B-B14F-4D97-AF65-F5344CB8AC3E}">
        <p14:creationId xmlns:p14="http://schemas.microsoft.com/office/powerpoint/2010/main" val="28893330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a:t>Bảng trên slide trình bày một số lệnh </a:t>
            </a:r>
            <a:r>
              <a:rPr lang="en-US"/>
              <a:t>truyền dữ liệu </a:t>
            </a:r>
            <a:r>
              <a:rPr lang="vi-VN"/>
              <a:t>thường dùng (MIPS còn nhiều lệnh </a:t>
            </a:r>
            <a:r>
              <a:rPr lang="en-US"/>
              <a:t>truyền dữ liệu </a:t>
            </a:r>
            <a:r>
              <a:rPr lang="vi-VN"/>
              <a:t>khác)</a:t>
            </a:r>
          </a:p>
          <a:p>
            <a:endParaRPr lang="en-US"/>
          </a:p>
          <a:p>
            <a:endParaRPr lang="en-US"/>
          </a:p>
        </p:txBody>
      </p:sp>
      <p:sp>
        <p:nvSpPr>
          <p:cNvPr id="4" name="Slide Number Placeholder 3"/>
          <p:cNvSpPr>
            <a:spLocks noGrp="1"/>
          </p:cNvSpPr>
          <p:nvPr>
            <p:ph type="sldNum" sz="quarter" idx="5"/>
          </p:nvPr>
        </p:nvSpPr>
        <p:spPr/>
        <p:txBody>
          <a:bodyPr/>
          <a:lstStyle/>
          <a:p>
            <a:fld id="{DC19F204-C7F4-F140-967F-D2FA889DA617}" type="slidenum">
              <a:rPr lang="en-VN" smtClean="0"/>
              <a:t>23</a:t>
            </a:fld>
            <a:endParaRPr lang="en-VN"/>
          </a:p>
        </p:txBody>
      </p:sp>
    </p:spTree>
    <p:extLst>
      <p:ext uri="{BB962C8B-B14F-4D97-AF65-F5344CB8AC3E}">
        <p14:creationId xmlns:p14="http://schemas.microsoft.com/office/powerpoint/2010/main" val="41579913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Khi sử dụng các ngôn ngữ lập trình như C/C++ thì việc sử dụng số lượng biến là không hạn chế.</a:t>
            </a:r>
          </a:p>
          <a:p>
            <a:r>
              <a:rPr lang="en-US"/>
              <a:t>Nhưng khi sử dụng hợp ngữ hoặc mã máy thì số lượng thanh ghi được sử dụng cho biến là giới hạn số lượng vì phần cứng là có giới hạn!</a:t>
            </a:r>
          </a:p>
          <a:p>
            <a:r>
              <a:rPr lang="en-US"/>
              <a:t>2. Toán hạng thanh ghi là toán hạng nằm trong thanh ghi</a:t>
            </a:r>
          </a:p>
          <a:p>
            <a:endParaRPr lang="en-US"/>
          </a:p>
        </p:txBody>
      </p:sp>
      <p:sp>
        <p:nvSpPr>
          <p:cNvPr id="4" name="Slide Number Placeholder 3"/>
          <p:cNvSpPr>
            <a:spLocks noGrp="1"/>
          </p:cNvSpPr>
          <p:nvPr>
            <p:ph type="sldNum" sz="quarter" idx="5"/>
          </p:nvPr>
        </p:nvSpPr>
        <p:spPr/>
        <p:txBody>
          <a:bodyPr/>
          <a:lstStyle/>
          <a:p>
            <a:fld id="{DC19F204-C7F4-F140-967F-D2FA889DA617}" type="slidenum">
              <a:rPr lang="en-VN" smtClean="0"/>
              <a:t>33</a:t>
            </a:fld>
            <a:endParaRPr lang="en-VN"/>
          </a:p>
        </p:txBody>
      </p:sp>
    </p:spTree>
    <p:extLst>
      <p:ext uri="{BB962C8B-B14F-4D97-AF65-F5344CB8AC3E}">
        <p14:creationId xmlns:p14="http://schemas.microsoft.com/office/powerpoint/2010/main" val="1733948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C19F204-C7F4-F140-967F-D2FA889DA617}" type="slidenum">
              <a:rPr lang="en-VN" smtClean="0"/>
              <a:t>34</a:t>
            </a:fld>
            <a:endParaRPr lang="en-VN"/>
          </a:p>
        </p:txBody>
      </p:sp>
    </p:spTree>
    <p:extLst>
      <p:ext uri="{BB962C8B-B14F-4D97-AF65-F5344CB8AC3E}">
        <p14:creationId xmlns:p14="http://schemas.microsoft.com/office/powerpoint/2010/main" val="26685581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a:t>32 thanh ghi vừa trình bày được thiết kế nằm trong Tập thanh ghi (hay còn gọi là Register Files)</a:t>
            </a:r>
          </a:p>
          <a:p>
            <a:pPr marL="228600" indent="-228600">
              <a:buAutoNum type="arabicPeriod"/>
            </a:pPr>
            <a:r>
              <a:rPr lang="en-US"/>
              <a:t>Giả sử lệnh add với 3 toán hạng thanh ghi bao gồm $ra, $0 và $t3.</a:t>
            </a:r>
          </a:p>
          <a:p>
            <a:pPr marL="685800" lvl="1" indent="-228600">
              <a:buAutoNum type="arabicPeriod"/>
            </a:pPr>
            <a:r>
              <a:rPr lang="en-US"/>
              <a:t>Dựa vào số của thanh ghi hoặc tên của thanh ghi mà chúng ta có thể biết để lấy giá trị của toán hạng ở đâu trong tập thanh ghi</a:t>
            </a:r>
            <a:endParaRPr lang="en-US" dirty="0"/>
          </a:p>
        </p:txBody>
      </p:sp>
      <p:sp>
        <p:nvSpPr>
          <p:cNvPr id="4" name="Slide Number Placeholder 3"/>
          <p:cNvSpPr>
            <a:spLocks noGrp="1"/>
          </p:cNvSpPr>
          <p:nvPr>
            <p:ph type="sldNum" sz="quarter" idx="5"/>
          </p:nvPr>
        </p:nvSpPr>
        <p:spPr/>
        <p:txBody>
          <a:bodyPr/>
          <a:lstStyle/>
          <a:p>
            <a:fld id="{DC19F204-C7F4-F140-967F-D2FA889DA617}" type="slidenum">
              <a:rPr lang="en-VN" smtClean="0"/>
              <a:t>35</a:t>
            </a:fld>
            <a:endParaRPr lang="en-VN"/>
          </a:p>
        </p:txBody>
      </p:sp>
    </p:spTree>
    <p:extLst>
      <p:ext uri="{BB962C8B-B14F-4D97-AF65-F5344CB8AC3E}">
        <p14:creationId xmlns:p14="http://schemas.microsoft.com/office/powerpoint/2010/main" val="15685231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a:t>Toán hạng bộ nhớ nghĩa là toán hạng nằm trong bộ nhớ, đối với kiến trúc thanh ghi – thanh ghi thì để thao tác với toán hạng này (toán hạng nguồn) thì cần phải nạp lên thanh ghi hoặc lưu giá trị thanh ghi vào nó (toán hạng đích)</a:t>
            </a:r>
          </a:p>
          <a:p>
            <a:pPr marL="228600" indent="-228600">
              <a:buAutoNum type="arabicPeriod"/>
            </a:pPr>
            <a:r>
              <a:rPr lang="en-US"/>
              <a:t>Các kiến trúc máy tính khác thì 1 word có thể là 2 byte, 4 byte, 8 byte, …</a:t>
            </a:r>
          </a:p>
          <a:p>
            <a:pPr marL="228600" indent="-228600">
              <a:buAutoNum type="arabicPeriod"/>
            </a:pPr>
            <a:r>
              <a:rPr lang="en-US"/>
              <a:t>Đặc biệt lưu ý là với kiến trúc MIPS thì khi truy xuất bộ nhớ thì địa chỉ phải là bội số của 4, bất kỳ địa chỉ nào không là bội số của 4 sẽ gây ra lỗi</a:t>
            </a:r>
          </a:p>
          <a:p>
            <a:endParaRPr lang="en-US"/>
          </a:p>
        </p:txBody>
      </p:sp>
      <p:sp>
        <p:nvSpPr>
          <p:cNvPr id="4" name="Slide Number Placeholder 3"/>
          <p:cNvSpPr>
            <a:spLocks noGrp="1"/>
          </p:cNvSpPr>
          <p:nvPr>
            <p:ph type="sldNum" sz="quarter" idx="5"/>
          </p:nvPr>
        </p:nvSpPr>
        <p:spPr/>
        <p:txBody>
          <a:bodyPr/>
          <a:lstStyle/>
          <a:p>
            <a:fld id="{DC19F204-C7F4-F140-967F-D2FA889DA617}" type="slidenum">
              <a:rPr lang="en-VN" smtClean="0"/>
              <a:t>37</a:t>
            </a:fld>
            <a:endParaRPr lang="en-VN"/>
          </a:p>
        </p:txBody>
      </p:sp>
    </p:spTree>
    <p:extLst>
      <p:ext uri="{BB962C8B-B14F-4D97-AF65-F5344CB8AC3E}">
        <p14:creationId xmlns:p14="http://schemas.microsoft.com/office/powerpoint/2010/main" val="39384718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C19F204-C7F4-F140-967F-D2FA889DA617}" type="slidenum">
              <a:rPr lang="en-VN" smtClean="0"/>
              <a:t>38</a:t>
            </a:fld>
            <a:endParaRPr lang="en-VN"/>
          </a:p>
        </p:txBody>
      </p:sp>
    </p:spTree>
    <p:extLst>
      <p:ext uri="{BB962C8B-B14F-4D97-AF65-F5344CB8AC3E}">
        <p14:creationId xmlns:p14="http://schemas.microsoft.com/office/powerpoint/2010/main" val="40270162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C19F204-C7F4-F140-967F-D2FA889DA617}" type="slidenum">
              <a:rPr lang="en-VN" smtClean="0"/>
              <a:t>39</a:t>
            </a:fld>
            <a:endParaRPr lang="en-VN"/>
          </a:p>
        </p:txBody>
      </p:sp>
    </p:spTree>
    <p:extLst>
      <p:ext uri="{BB962C8B-B14F-4D97-AF65-F5344CB8AC3E}">
        <p14:creationId xmlns:p14="http://schemas.microsoft.com/office/powerpoint/2010/main" val="23665537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Lưu ý là MIPS đánh địa chỉ theo byte, nên B[3] sẽ có địa chỉ là ($t0 + 0xC)</a:t>
            </a:r>
          </a:p>
          <a:p>
            <a:endParaRPr lang="en-US"/>
          </a:p>
          <a:p>
            <a:endParaRPr lang="en-US"/>
          </a:p>
        </p:txBody>
      </p:sp>
      <p:sp>
        <p:nvSpPr>
          <p:cNvPr id="4" name="Slide Number Placeholder 3"/>
          <p:cNvSpPr>
            <a:spLocks noGrp="1"/>
          </p:cNvSpPr>
          <p:nvPr>
            <p:ph type="sldNum" sz="quarter" idx="5"/>
          </p:nvPr>
        </p:nvSpPr>
        <p:spPr/>
        <p:txBody>
          <a:bodyPr/>
          <a:lstStyle/>
          <a:p>
            <a:fld id="{DC19F204-C7F4-F140-967F-D2FA889DA617}" type="slidenum">
              <a:rPr lang="en-VN" smtClean="0"/>
              <a:t>40</a:t>
            </a:fld>
            <a:endParaRPr lang="en-VN"/>
          </a:p>
        </p:txBody>
      </p:sp>
    </p:spTree>
    <p:extLst>
      <p:ext uri="{BB962C8B-B14F-4D97-AF65-F5344CB8AC3E}">
        <p14:creationId xmlns:p14="http://schemas.microsoft.com/office/powerpoint/2010/main" val="38462988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C19F204-C7F4-F140-967F-D2FA889DA617}" type="slidenum">
              <a:rPr lang="en-VN" smtClean="0"/>
              <a:t>41</a:t>
            </a:fld>
            <a:endParaRPr lang="en-VN"/>
          </a:p>
        </p:txBody>
      </p:sp>
    </p:spTree>
    <p:extLst>
      <p:ext uri="{BB962C8B-B14F-4D97-AF65-F5344CB8AC3E}">
        <p14:creationId xmlns:p14="http://schemas.microsoft.com/office/powerpoint/2010/main" val="16730387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C19F204-C7F4-F140-967F-D2FA889DA617}" type="slidenum">
              <a:rPr lang="en-VN" smtClean="0"/>
              <a:t>42</a:t>
            </a:fld>
            <a:endParaRPr lang="en-VN"/>
          </a:p>
        </p:txBody>
      </p:sp>
    </p:spTree>
    <p:extLst>
      <p:ext uri="{BB962C8B-B14F-4D97-AF65-F5344CB8AC3E}">
        <p14:creationId xmlns:p14="http://schemas.microsoft.com/office/powerpoint/2010/main" val="409154699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êu đề">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454F319A-62FB-D9AB-91DD-E1478E7A521A}"/>
              </a:ext>
            </a:extLst>
          </p:cNvPr>
          <p:cNvSpPr>
            <a:spLocks noGrp="1"/>
          </p:cNvSpPr>
          <p:nvPr>
            <p:ph type="ftr" sz="quarter" idx="11"/>
          </p:nvPr>
        </p:nvSpPr>
        <p:spPr>
          <a:xfrm>
            <a:off x="2353680" y="6480629"/>
            <a:ext cx="4288103" cy="236770"/>
          </a:xfrm>
        </p:spPr>
        <p:txBody>
          <a:bodyPr/>
          <a:lstStyle>
            <a:lvl1pPr algn="l">
              <a:defRPr sz="1100">
                <a:latin typeface="Arial" panose="020B0604020202020204" pitchFamily="34" charset="0"/>
                <a:cs typeface="Arial" panose="020B0604020202020204" pitchFamily="34" charset="0"/>
              </a:defRPr>
            </a:lvl1pPr>
          </a:lstStyle>
          <a:p>
            <a:r>
              <a:rPr lang="vi-VN" dirty="0"/>
              <a:t>Thực hiện bởi Trường Đại học Công nghệ Thông tin, ĐHQG-HCM</a:t>
            </a:r>
            <a:endParaRPr lang="en-VN" dirty="0"/>
          </a:p>
        </p:txBody>
      </p:sp>
      <p:sp>
        <p:nvSpPr>
          <p:cNvPr id="7" name="Freeform 6">
            <a:extLst>
              <a:ext uri="{FF2B5EF4-FFF2-40B4-BE49-F238E27FC236}">
                <a16:creationId xmlns:a16="http://schemas.microsoft.com/office/drawing/2014/main" id="{88E55FBA-E532-BB1F-9AD4-40205F001925}"/>
              </a:ext>
            </a:extLst>
          </p:cNvPr>
          <p:cNvSpPr/>
          <p:nvPr userDrawn="1"/>
        </p:nvSpPr>
        <p:spPr>
          <a:xfrm rot="10800000">
            <a:off x="-1" y="0"/>
            <a:ext cx="12192000" cy="6858000"/>
          </a:xfrm>
          <a:custGeom>
            <a:avLst/>
            <a:gdLst>
              <a:gd name="connsiteX0" fmla="*/ 12192000 w 12192000"/>
              <a:gd name="connsiteY0" fmla="*/ 304800 h 6858000"/>
              <a:gd name="connsiteX1" fmla="*/ 9909279 w 12192000"/>
              <a:gd name="connsiteY1" fmla="*/ 304800 h 6858000"/>
              <a:gd name="connsiteX2" fmla="*/ 9732789 w 12192000"/>
              <a:gd name="connsiteY2" fmla="*/ 152400 h 6858000"/>
              <a:gd name="connsiteX3" fmla="*/ 5617499 w 12192000"/>
              <a:gd name="connsiteY3" fmla="*/ 152400 h 6858000"/>
              <a:gd name="connsiteX4" fmla="*/ 5441009 w 12192000"/>
              <a:gd name="connsiteY4" fmla="*/ 0 h 6858000"/>
              <a:gd name="connsiteX5" fmla="*/ 12192000 w 12192000"/>
              <a:gd name="connsiteY5" fmla="*/ 0 h 6858000"/>
              <a:gd name="connsiteX6" fmla="*/ 0 w 12192000"/>
              <a:gd name="connsiteY6" fmla="*/ 616911 h 6858000"/>
              <a:gd name="connsiteX7" fmla="*/ 0 w 12192000"/>
              <a:gd name="connsiteY7" fmla="*/ 0 h 6858000"/>
              <a:gd name="connsiteX8" fmla="*/ 715617 w 12192000"/>
              <a:gd name="connsiteY8" fmla="*/ 0 h 6858000"/>
              <a:gd name="connsiteX9" fmla="*/ 12191999 w 12192000"/>
              <a:gd name="connsiteY9" fmla="*/ 6858000 h 6858000"/>
              <a:gd name="connsiteX10" fmla="*/ 11476382 w 12192000"/>
              <a:gd name="connsiteY10" fmla="*/ 6858000 h 6858000"/>
              <a:gd name="connsiteX11" fmla="*/ 12191999 w 12192000"/>
              <a:gd name="connsiteY11" fmla="*/ 6241089 h 6858000"/>
              <a:gd name="connsiteX12" fmla="*/ 6750991 w 12192000"/>
              <a:gd name="connsiteY12" fmla="*/ 6858000 h 6858000"/>
              <a:gd name="connsiteX13" fmla="*/ 0 w 12192000"/>
              <a:gd name="connsiteY13" fmla="*/ 6858000 h 6858000"/>
              <a:gd name="connsiteX14" fmla="*/ 0 w 12192000"/>
              <a:gd name="connsiteY14" fmla="*/ 6553200 h 6858000"/>
              <a:gd name="connsiteX15" fmla="*/ 2282721 w 12192000"/>
              <a:gd name="connsiteY15" fmla="*/ 6553200 h 6858000"/>
              <a:gd name="connsiteX16" fmla="*/ 2459211 w 12192000"/>
              <a:gd name="connsiteY16" fmla="*/ 6705600 h 6858000"/>
              <a:gd name="connsiteX17" fmla="*/ 6574500 w 12192000"/>
              <a:gd name="connsiteY17" fmla="*/ 67056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2000" h="6858000">
                <a:moveTo>
                  <a:pt x="12192000" y="304800"/>
                </a:moveTo>
                <a:lnTo>
                  <a:pt x="9909279" y="304800"/>
                </a:lnTo>
                <a:lnTo>
                  <a:pt x="9732789" y="152400"/>
                </a:lnTo>
                <a:lnTo>
                  <a:pt x="5617499" y="152400"/>
                </a:lnTo>
                <a:lnTo>
                  <a:pt x="5441009" y="0"/>
                </a:lnTo>
                <a:lnTo>
                  <a:pt x="12192000" y="0"/>
                </a:lnTo>
                <a:close/>
                <a:moveTo>
                  <a:pt x="0" y="616911"/>
                </a:moveTo>
                <a:lnTo>
                  <a:pt x="0" y="0"/>
                </a:lnTo>
                <a:lnTo>
                  <a:pt x="715617" y="0"/>
                </a:lnTo>
                <a:close/>
                <a:moveTo>
                  <a:pt x="12191999" y="6858000"/>
                </a:moveTo>
                <a:lnTo>
                  <a:pt x="11476382" y="6858000"/>
                </a:lnTo>
                <a:lnTo>
                  <a:pt x="12191999" y="6241089"/>
                </a:lnTo>
                <a:close/>
                <a:moveTo>
                  <a:pt x="6750991" y="6858000"/>
                </a:moveTo>
                <a:lnTo>
                  <a:pt x="0" y="6858000"/>
                </a:lnTo>
                <a:lnTo>
                  <a:pt x="0" y="6553200"/>
                </a:lnTo>
                <a:lnTo>
                  <a:pt x="2282721" y="6553200"/>
                </a:lnTo>
                <a:lnTo>
                  <a:pt x="2459211" y="6705600"/>
                </a:lnTo>
                <a:lnTo>
                  <a:pt x="6574500" y="6705600"/>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Isosceles Triangle 12">
            <a:extLst>
              <a:ext uri="{FF2B5EF4-FFF2-40B4-BE49-F238E27FC236}">
                <a16:creationId xmlns:a16="http://schemas.microsoft.com/office/drawing/2014/main" id="{BF14C68C-3577-C657-9E87-056612AF8E42}"/>
              </a:ext>
            </a:extLst>
          </p:cNvPr>
          <p:cNvSpPr/>
          <p:nvPr userDrawn="1"/>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9B88E437-A7E4-9E4B-E374-2DBE3AB8DADD}"/>
              </a:ext>
            </a:extLst>
          </p:cNvPr>
          <p:cNvGrpSpPr/>
          <p:nvPr userDrawn="1"/>
        </p:nvGrpSpPr>
        <p:grpSpPr>
          <a:xfrm>
            <a:off x="58527" y="40944"/>
            <a:ext cx="2869771" cy="1563379"/>
            <a:chOff x="44879" y="27296"/>
            <a:chExt cx="2869771" cy="1563379"/>
          </a:xfrm>
          <a:solidFill>
            <a:srgbClr val="0072FF"/>
          </a:solidFill>
        </p:grpSpPr>
        <p:cxnSp>
          <p:nvCxnSpPr>
            <p:cNvPr id="10" name="Straight Connector 9">
              <a:extLst>
                <a:ext uri="{FF2B5EF4-FFF2-40B4-BE49-F238E27FC236}">
                  <a16:creationId xmlns:a16="http://schemas.microsoft.com/office/drawing/2014/main" id="{F4A3AA59-2194-A31F-AA96-7C291846580A}"/>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1C352A7-0B18-D7E9-465D-F3B1274BB055}"/>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01A6BB9-0E9C-8F74-60DB-2DA463D47FDB}"/>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3" name="Isosceles Triangle 12">
            <a:extLst>
              <a:ext uri="{FF2B5EF4-FFF2-40B4-BE49-F238E27FC236}">
                <a16:creationId xmlns:a16="http://schemas.microsoft.com/office/drawing/2014/main" id="{1DA43496-358A-E9F0-8CFC-6A952BD4F3E7}"/>
              </a:ext>
            </a:extLst>
          </p:cNvPr>
          <p:cNvSpPr/>
          <p:nvPr userDrawn="1"/>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8593DC9D-C96B-54B0-5413-508E29245B5C}"/>
              </a:ext>
            </a:extLst>
          </p:cNvPr>
          <p:cNvGrpSpPr/>
          <p:nvPr userDrawn="1"/>
        </p:nvGrpSpPr>
        <p:grpSpPr>
          <a:xfrm flipH="1" flipV="1">
            <a:off x="9263702" y="5253677"/>
            <a:ext cx="2869771" cy="1563379"/>
            <a:chOff x="44879" y="27296"/>
            <a:chExt cx="2869771" cy="1563379"/>
          </a:xfrm>
          <a:solidFill>
            <a:srgbClr val="0072FF"/>
          </a:solidFill>
        </p:grpSpPr>
        <p:cxnSp>
          <p:nvCxnSpPr>
            <p:cNvPr id="15" name="Straight Connector 14">
              <a:extLst>
                <a:ext uri="{FF2B5EF4-FFF2-40B4-BE49-F238E27FC236}">
                  <a16:creationId xmlns:a16="http://schemas.microsoft.com/office/drawing/2014/main" id="{81C856C5-8D5F-4945-AAA3-959D25DF2A5E}"/>
                </a:ext>
              </a:extLst>
            </p:cNvPr>
            <p:cNvCxnSpPr>
              <a:cxnSpLocks/>
            </p:cNvCxnSpPr>
            <p:nvPr/>
          </p:nvCxnSpPr>
          <p:spPr>
            <a:xfrm flipH="1">
              <a:off x="766351" y="34631"/>
              <a:ext cx="2148299" cy="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8FA7FF3-8245-17A0-DB3A-F0257D516679}"/>
                </a:ext>
              </a:extLst>
            </p:cNvPr>
            <p:cNvCxnSpPr>
              <a:cxnSpLocks/>
            </p:cNvCxnSpPr>
            <p:nvPr/>
          </p:nvCxnSpPr>
          <p:spPr>
            <a:xfrm flipH="1">
              <a:off x="44879" y="27296"/>
              <a:ext cx="737495" cy="64421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31A1CF5-6C4E-34E9-65C0-4B4D78575756}"/>
                </a:ext>
              </a:extLst>
            </p:cNvPr>
            <p:cNvCxnSpPr>
              <a:cxnSpLocks/>
            </p:cNvCxnSpPr>
            <p:nvPr/>
          </p:nvCxnSpPr>
          <p:spPr>
            <a:xfrm flipV="1">
              <a:off x="52214" y="654128"/>
              <a:ext cx="0" cy="936547"/>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grpSp>
      <p:sp>
        <p:nvSpPr>
          <p:cNvPr id="18" name="Freeform 17">
            <a:extLst>
              <a:ext uri="{FF2B5EF4-FFF2-40B4-BE49-F238E27FC236}">
                <a16:creationId xmlns:a16="http://schemas.microsoft.com/office/drawing/2014/main" id="{3366D05A-8A62-ADE1-F4B2-73F9CA085276}"/>
              </a:ext>
            </a:extLst>
          </p:cNvPr>
          <p:cNvSpPr/>
          <p:nvPr userDrawn="1"/>
        </p:nvSpPr>
        <p:spPr>
          <a:xfrm flipH="1">
            <a:off x="5441009" y="0"/>
            <a:ext cx="6750991" cy="304800"/>
          </a:xfrm>
          <a:custGeom>
            <a:avLst/>
            <a:gdLst>
              <a:gd name="connsiteX0" fmla="*/ 0 w 6750991"/>
              <a:gd name="connsiteY0" fmla="*/ 0 h 304800"/>
              <a:gd name="connsiteX1" fmla="*/ 6750991 w 6750991"/>
              <a:gd name="connsiteY1" fmla="*/ 0 h 304800"/>
              <a:gd name="connsiteX2" fmla="*/ 6574501 w 6750991"/>
              <a:gd name="connsiteY2" fmla="*/ 152400 h 304800"/>
              <a:gd name="connsiteX3" fmla="*/ 2459211 w 6750991"/>
              <a:gd name="connsiteY3" fmla="*/ 152400 h 304800"/>
              <a:gd name="connsiteX4" fmla="*/ 2282721 w 6750991"/>
              <a:gd name="connsiteY4" fmla="*/ 304800 h 304800"/>
              <a:gd name="connsiteX5" fmla="*/ 0 w 6750991"/>
              <a:gd name="connsiteY5" fmla="*/ 304800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50991" h="304800">
                <a:moveTo>
                  <a:pt x="0" y="0"/>
                </a:moveTo>
                <a:lnTo>
                  <a:pt x="6750991" y="0"/>
                </a:lnTo>
                <a:lnTo>
                  <a:pt x="6574501" y="152400"/>
                </a:lnTo>
                <a:lnTo>
                  <a:pt x="2459211" y="152400"/>
                </a:lnTo>
                <a:lnTo>
                  <a:pt x="2282721" y="304800"/>
                </a:lnTo>
                <a:lnTo>
                  <a:pt x="0" y="304800"/>
                </a:lnTo>
                <a:close/>
              </a:path>
            </a:pathLst>
          </a:custGeom>
          <a:gradFill flip="none" rotWithShape="1">
            <a:gsLst>
              <a:gs pos="0">
                <a:srgbClr val="0072FF">
                  <a:alpha val="80000"/>
                </a:srgbClr>
              </a:gs>
              <a:gs pos="100000">
                <a:srgbClr val="00C6FF">
                  <a:alpha val="8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sp>
        <p:nvSpPr>
          <p:cNvPr id="19" name="Freeform 18">
            <a:extLst>
              <a:ext uri="{FF2B5EF4-FFF2-40B4-BE49-F238E27FC236}">
                <a16:creationId xmlns:a16="http://schemas.microsoft.com/office/drawing/2014/main" id="{E7E6E6A9-35CE-D953-F678-DB52C8ED6EC1}"/>
              </a:ext>
            </a:extLst>
          </p:cNvPr>
          <p:cNvSpPr/>
          <p:nvPr userDrawn="1"/>
        </p:nvSpPr>
        <p:spPr>
          <a:xfrm flipV="1">
            <a:off x="0" y="6553200"/>
            <a:ext cx="6750991" cy="304800"/>
          </a:xfrm>
          <a:custGeom>
            <a:avLst/>
            <a:gdLst>
              <a:gd name="connsiteX0" fmla="*/ 0 w 6750991"/>
              <a:gd name="connsiteY0" fmla="*/ 0 h 304800"/>
              <a:gd name="connsiteX1" fmla="*/ 6750991 w 6750991"/>
              <a:gd name="connsiteY1" fmla="*/ 0 h 304800"/>
              <a:gd name="connsiteX2" fmla="*/ 6574501 w 6750991"/>
              <a:gd name="connsiteY2" fmla="*/ 152400 h 304800"/>
              <a:gd name="connsiteX3" fmla="*/ 2459211 w 6750991"/>
              <a:gd name="connsiteY3" fmla="*/ 152400 h 304800"/>
              <a:gd name="connsiteX4" fmla="*/ 2282721 w 6750991"/>
              <a:gd name="connsiteY4" fmla="*/ 304800 h 304800"/>
              <a:gd name="connsiteX5" fmla="*/ 0 w 6750991"/>
              <a:gd name="connsiteY5" fmla="*/ 304800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50991" h="304800">
                <a:moveTo>
                  <a:pt x="0" y="0"/>
                </a:moveTo>
                <a:lnTo>
                  <a:pt x="6750991" y="0"/>
                </a:lnTo>
                <a:lnTo>
                  <a:pt x="6574501" y="152400"/>
                </a:lnTo>
                <a:lnTo>
                  <a:pt x="2459211" y="152400"/>
                </a:lnTo>
                <a:lnTo>
                  <a:pt x="2282721" y="304800"/>
                </a:lnTo>
                <a:lnTo>
                  <a:pt x="0" y="304800"/>
                </a:lnTo>
                <a:close/>
              </a:path>
            </a:pathLst>
          </a:custGeom>
          <a:gradFill flip="none" rotWithShape="1">
            <a:gsLst>
              <a:gs pos="0">
                <a:srgbClr val="0072FF">
                  <a:alpha val="80000"/>
                </a:srgbClr>
              </a:gs>
              <a:gs pos="100000">
                <a:srgbClr val="00C6FF">
                  <a:alpha val="8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pic>
        <p:nvPicPr>
          <p:cNvPr id="23" name="Picture 22" descr="A picture containing clipart, vector graphics&#10;&#10;Description automatically generated">
            <a:extLst>
              <a:ext uri="{FF2B5EF4-FFF2-40B4-BE49-F238E27FC236}">
                <a16:creationId xmlns:a16="http://schemas.microsoft.com/office/drawing/2014/main" id="{314FA3D3-A61E-753A-BCC3-7785EC3F2C1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12638" y="362637"/>
            <a:ext cx="544288" cy="450213"/>
          </a:xfrm>
          <a:prstGeom prst="rect">
            <a:avLst/>
          </a:prstGeom>
        </p:spPr>
      </p:pic>
      <p:sp>
        <p:nvSpPr>
          <p:cNvPr id="24" name="TextBox 23">
            <a:extLst>
              <a:ext uri="{FF2B5EF4-FFF2-40B4-BE49-F238E27FC236}">
                <a16:creationId xmlns:a16="http://schemas.microsoft.com/office/drawing/2014/main" id="{3272C38A-5DF7-B873-F169-2EA590FF1122}"/>
              </a:ext>
            </a:extLst>
          </p:cNvPr>
          <p:cNvSpPr txBox="1"/>
          <p:nvPr userDrawn="1"/>
        </p:nvSpPr>
        <p:spPr>
          <a:xfrm>
            <a:off x="956926" y="326133"/>
            <a:ext cx="3996607" cy="523220"/>
          </a:xfrm>
          <a:prstGeom prst="rect">
            <a:avLst/>
          </a:prstGeom>
          <a:noFill/>
        </p:spPr>
        <p:txBody>
          <a:bodyPr wrap="none" rtlCol="0" anchor="ctr">
            <a:spAutoFit/>
          </a:bodyPr>
          <a:lstStyle/>
          <a:p>
            <a:r>
              <a:rPr lang="en-VN" sz="1400" dirty="0">
                <a:gradFill flip="none" rotWithShape="1">
                  <a:gsLst>
                    <a:gs pos="0">
                      <a:srgbClr val="000046"/>
                    </a:gs>
                    <a:gs pos="100000">
                      <a:srgbClr val="1CB5E0"/>
                    </a:gs>
                  </a:gsLst>
                  <a:lin ang="2700000" scaled="1"/>
                  <a:tileRect/>
                </a:gradFill>
                <a:latin typeface="Arial" panose="020B0604020202020204" pitchFamily="34" charset="0"/>
                <a:cs typeface="Arial" panose="020B0604020202020204" pitchFamily="34" charset="0"/>
              </a:rPr>
              <a:t>ĐẠI HỌC QUỐC GIA TP. HỒ CHÍ MINH</a:t>
            </a:r>
          </a:p>
          <a:p>
            <a:r>
              <a:rPr lang="en-VN" sz="1400" b="1" dirty="0">
                <a:gradFill flip="none" rotWithShape="1">
                  <a:gsLst>
                    <a:gs pos="0">
                      <a:srgbClr val="000046"/>
                    </a:gs>
                    <a:gs pos="100000">
                      <a:srgbClr val="1CB5E0"/>
                    </a:gs>
                  </a:gsLst>
                  <a:lin ang="2700000" scaled="1"/>
                  <a:tileRect/>
                </a:gradFill>
                <a:latin typeface="Arial" panose="020B0604020202020204" pitchFamily="34" charset="0"/>
                <a:cs typeface="Arial" panose="020B0604020202020204" pitchFamily="34" charset="0"/>
              </a:rPr>
              <a:t>TRƯỜNG ĐẠI HỌC CÔNG NGHỆ THÔNG TIN</a:t>
            </a:r>
          </a:p>
        </p:txBody>
      </p:sp>
      <p:sp>
        <p:nvSpPr>
          <p:cNvPr id="26" name="Oval 25">
            <a:extLst>
              <a:ext uri="{FF2B5EF4-FFF2-40B4-BE49-F238E27FC236}">
                <a16:creationId xmlns:a16="http://schemas.microsoft.com/office/drawing/2014/main" id="{390A5A10-F9AF-733C-8C7D-94D87B311EF5}"/>
              </a:ext>
            </a:extLst>
          </p:cNvPr>
          <p:cNvSpPr/>
          <p:nvPr/>
        </p:nvSpPr>
        <p:spPr>
          <a:xfrm>
            <a:off x="11924591" y="6583140"/>
            <a:ext cx="233916" cy="233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2E21DEB9-E93C-A8E4-074F-F195EB1D8ABF}"/>
              </a:ext>
            </a:extLst>
          </p:cNvPr>
          <p:cNvSpPr>
            <a:spLocks noGrp="1" noChangeAspect="1"/>
          </p:cNvSpPr>
          <p:nvPr>
            <p:ph type="sldNum" sz="quarter" idx="12"/>
          </p:nvPr>
        </p:nvSpPr>
        <p:spPr>
          <a:xfrm>
            <a:off x="11894359" y="6566401"/>
            <a:ext cx="291600" cy="291600"/>
          </a:xfrm>
          <a:prstGeom prst="rect">
            <a:avLst/>
          </a:prstGeom>
        </p:spPr>
        <p:txBody>
          <a:bodyPr vert="horz" lIns="91440" tIns="45720" rIns="91440" bIns="45720" rtlCol="0" anchor="ctr"/>
          <a:lstStyle>
            <a:lvl1pPr>
              <a:defRPr lang="en-VN" sz="700" smtClean="0">
                <a:solidFill>
                  <a:schemeClr val="tx1"/>
                </a:solidFill>
                <a:latin typeface="Arial" panose="020B0604020202020204" pitchFamily="34" charset="0"/>
                <a:cs typeface="Arial" panose="020B0604020202020204" pitchFamily="34" charset="0"/>
              </a:defRPr>
            </a:lvl1pPr>
          </a:lstStyle>
          <a:p>
            <a:pPr algn="ctr"/>
            <a:fld id="{D8B0B3AC-44A8-D142-AAF6-9A453466E1A4}" type="slidenum">
              <a:rPr lang="en-VN" smtClean="0"/>
              <a:pPr algn="ctr"/>
              <a:t>‹#›</a:t>
            </a:fld>
            <a:endParaRPr lang="en-VN" dirty="0"/>
          </a:p>
        </p:txBody>
      </p:sp>
      <p:sp>
        <p:nvSpPr>
          <p:cNvPr id="34" name="Text Placeholder 33">
            <a:extLst>
              <a:ext uri="{FF2B5EF4-FFF2-40B4-BE49-F238E27FC236}">
                <a16:creationId xmlns:a16="http://schemas.microsoft.com/office/drawing/2014/main" id="{C4981174-E1E5-D0CF-F74E-4BBA287A5C73}"/>
              </a:ext>
            </a:extLst>
          </p:cNvPr>
          <p:cNvSpPr>
            <a:spLocks noGrp="1"/>
          </p:cNvSpPr>
          <p:nvPr>
            <p:ph type="body" sz="quarter" idx="13" hasCustomPrompt="1"/>
          </p:nvPr>
        </p:nvSpPr>
        <p:spPr>
          <a:xfrm>
            <a:off x="1850807" y="2208158"/>
            <a:ext cx="8490387" cy="696165"/>
          </a:xfrm>
        </p:spPr>
        <p:txBody>
          <a:bodyPr anchor="ctr">
            <a:normAutofit/>
          </a:bodyPr>
          <a:lstStyle>
            <a:lvl1pPr marL="0" indent="0" algn="ctr" defTabSz="914400" rtl="0" eaLnBrk="1" latinLnBrk="0" hangingPunct="1">
              <a:buNone/>
              <a:defRPr lang="en-VN" sz="4400" b="1" kern="1200" dirty="0">
                <a:ln>
                  <a:gradFill>
                    <a:gsLst>
                      <a:gs pos="0">
                        <a:srgbClr val="000046"/>
                      </a:gs>
                      <a:gs pos="100000">
                        <a:srgbClr val="1CB5E0"/>
                      </a:gs>
                    </a:gsLst>
                    <a:lin ang="5400000" scaled="1"/>
                  </a:gradFill>
                </a:ln>
                <a:noFill/>
                <a:latin typeface="Arial" panose="020B0604020202020204" pitchFamily="34" charset="0"/>
                <a:ea typeface="+mn-ea"/>
                <a:cs typeface="Arial" panose="020B0604020202020204" pitchFamily="34" charset="0"/>
              </a:defRPr>
            </a:lvl1pPr>
          </a:lstStyle>
          <a:p>
            <a:pPr lvl="0"/>
            <a:r>
              <a:rPr lang="en-VN" dirty="0"/>
              <a:t>TÊN MÔN HỌC</a:t>
            </a:r>
          </a:p>
        </p:txBody>
      </p:sp>
      <p:sp>
        <p:nvSpPr>
          <p:cNvPr id="36" name="Text Placeholder 35">
            <a:extLst>
              <a:ext uri="{FF2B5EF4-FFF2-40B4-BE49-F238E27FC236}">
                <a16:creationId xmlns:a16="http://schemas.microsoft.com/office/drawing/2014/main" id="{F1F814F0-EAC8-84E1-83C4-B5C359387C5C}"/>
              </a:ext>
            </a:extLst>
          </p:cNvPr>
          <p:cNvSpPr>
            <a:spLocks noGrp="1"/>
          </p:cNvSpPr>
          <p:nvPr>
            <p:ph type="body" sz="quarter" idx="14" hasCustomPrompt="1"/>
          </p:nvPr>
        </p:nvSpPr>
        <p:spPr>
          <a:xfrm>
            <a:off x="876991" y="3039455"/>
            <a:ext cx="10438019" cy="459447"/>
          </a:xfrm>
        </p:spPr>
        <p:txBody>
          <a:bodyPr anchor="ctr">
            <a:normAutofit/>
          </a:bodyPr>
          <a:lstStyle>
            <a:lvl1pPr marL="0" indent="0" algn="ctr" defTabSz="914400" rtl="0" eaLnBrk="1" latinLnBrk="0" hangingPunct="1">
              <a:buNone/>
              <a:defRPr lang="en-VN" sz="2000" b="1" kern="1200" dirty="0">
                <a:gradFill>
                  <a:gsLst>
                    <a:gs pos="0">
                      <a:srgbClr val="000046"/>
                    </a:gs>
                    <a:gs pos="100000">
                      <a:srgbClr val="1CB5E0"/>
                    </a:gs>
                  </a:gsLst>
                  <a:lin ang="2700000" scaled="1"/>
                </a:gradFill>
                <a:effectLst>
                  <a:innerShdw blurRad="114300">
                    <a:schemeClr val="bg1"/>
                  </a:innerShdw>
                </a:effectLst>
                <a:latin typeface="Times New Roman" panose="02020603050405020304" pitchFamily="18" charset="0"/>
                <a:ea typeface="+mn-ea"/>
                <a:cs typeface="Times New Roman" panose="02020603050405020304" pitchFamily="18" charset="0"/>
              </a:defRPr>
            </a:lvl1pPr>
          </a:lstStyle>
          <a:p>
            <a:pPr lvl="0"/>
            <a:r>
              <a:rPr lang="en-VN" dirty="0"/>
              <a:t>CHƯƠNG X: TÊN CHƯƠNG</a:t>
            </a:r>
          </a:p>
        </p:txBody>
      </p:sp>
      <p:sp>
        <p:nvSpPr>
          <p:cNvPr id="42" name="Text Placeholder 41">
            <a:extLst>
              <a:ext uri="{FF2B5EF4-FFF2-40B4-BE49-F238E27FC236}">
                <a16:creationId xmlns:a16="http://schemas.microsoft.com/office/drawing/2014/main" id="{2B8543E7-0085-7DF3-5351-E097219BEE40}"/>
              </a:ext>
            </a:extLst>
          </p:cNvPr>
          <p:cNvSpPr>
            <a:spLocks noGrp="1"/>
          </p:cNvSpPr>
          <p:nvPr>
            <p:ph type="body" sz="quarter" idx="15" hasCustomPrompt="1"/>
          </p:nvPr>
        </p:nvSpPr>
        <p:spPr>
          <a:xfrm>
            <a:off x="4680970" y="4963048"/>
            <a:ext cx="2830058" cy="345005"/>
          </a:xfrm>
          <a:gradFill>
            <a:gsLst>
              <a:gs pos="0">
                <a:srgbClr val="0072FF"/>
              </a:gs>
              <a:gs pos="100000">
                <a:srgbClr val="00C6FF"/>
              </a:gs>
            </a:gsLst>
            <a:lin ang="2700000" scaled="1"/>
          </a:gradFill>
        </p:spPr>
        <p:txBody>
          <a:bodyPr anchor="ctr">
            <a:normAutofit/>
          </a:bodyPr>
          <a:lstStyle>
            <a:lvl1pPr marL="0" indent="0" algn="ctr">
              <a:buNone/>
              <a:defRPr sz="1400" b="1" i="0">
                <a:solidFill>
                  <a:schemeClr val="bg1"/>
                </a:solidFill>
                <a:latin typeface="Times New Roman" panose="02020603050405020304" pitchFamily="18" charset="0"/>
                <a:cs typeface="Times New Roman" panose="02020603050405020304" pitchFamily="18" charset="0"/>
              </a:defRPr>
            </a:lvl1pPr>
          </a:lstStyle>
          <a:p>
            <a:pPr lvl="0"/>
            <a:r>
              <a:rPr lang="en-VN" dirty="0"/>
              <a:t>Trình bày: Tên Giảng viên</a:t>
            </a:r>
          </a:p>
        </p:txBody>
      </p:sp>
      <p:sp>
        <p:nvSpPr>
          <p:cNvPr id="46" name="Text Placeholder 45">
            <a:extLst>
              <a:ext uri="{FF2B5EF4-FFF2-40B4-BE49-F238E27FC236}">
                <a16:creationId xmlns:a16="http://schemas.microsoft.com/office/drawing/2014/main" id="{18BC0B81-9708-34C0-3CBB-EA50270B9105}"/>
              </a:ext>
            </a:extLst>
          </p:cNvPr>
          <p:cNvSpPr>
            <a:spLocks noGrp="1"/>
          </p:cNvSpPr>
          <p:nvPr>
            <p:ph type="body" sz="quarter" idx="16" hasCustomPrompt="1"/>
          </p:nvPr>
        </p:nvSpPr>
        <p:spPr>
          <a:xfrm>
            <a:off x="1850807" y="3630811"/>
            <a:ext cx="8490387" cy="644210"/>
          </a:xfrm>
        </p:spPr>
        <p:txBody>
          <a:bodyPr anchor="ctr">
            <a:normAutofit/>
          </a:bodyPr>
          <a:lstStyle>
            <a:lvl1pPr marL="0" indent="0" algn="ctr">
              <a:buNone/>
              <a:defRPr sz="1200" spc="150" baseline="0">
                <a:solidFill>
                  <a:schemeClr val="bg1">
                    <a:lumMod val="75000"/>
                  </a:schemeClr>
                </a:solidFill>
                <a:latin typeface="Times New Roman" panose="02020603050405020304" pitchFamily="18" charset="0"/>
                <a:cs typeface="Times New Roman" panose="02020603050405020304" pitchFamily="18" charset="0"/>
              </a:defRPr>
            </a:lvl1pPr>
          </a:lstStyle>
          <a:p>
            <a:pPr lvl="0"/>
            <a:r>
              <a:rPr lang="en-US" dirty="0"/>
              <a:t>(</a:t>
            </a:r>
            <a:r>
              <a:rPr lang="en-US" dirty="0" err="1"/>
              <a:t>Tóm</a:t>
            </a:r>
            <a:r>
              <a:rPr lang="en-US" dirty="0"/>
              <a:t> </a:t>
            </a:r>
            <a:r>
              <a:rPr lang="en-US" dirty="0" err="1"/>
              <a:t>tắt</a:t>
            </a:r>
            <a:r>
              <a:rPr lang="en-US" dirty="0"/>
              <a:t> </a:t>
            </a:r>
            <a:r>
              <a:rPr lang="en-US" dirty="0" err="1"/>
              <a:t>nếu</a:t>
            </a:r>
            <a:r>
              <a:rPr lang="en-US" dirty="0"/>
              <a:t> </a:t>
            </a:r>
            <a:r>
              <a:rPr lang="en-US" dirty="0" err="1"/>
              <a:t>có</a:t>
            </a:r>
            <a:r>
              <a:rPr lang="en-US" dirty="0"/>
              <a:t>): Lorem ipsum dolor sit amet, consectetuer adipiscing elit. Maecenas porttitor congue massa. Fusce posuere, magna sed pulvinar ultricies, purus lectus malesuada libero, sit amet commodo magna eros quis </a:t>
            </a:r>
            <a:r>
              <a:rPr lang="en-US" dirty="0" err="1"/>
              <a:t>urna</a:t>
            </a:r>
            <a:r>
              <a:rPr lang="en-US" dirty="0"/>
              <a:t>.</a:t>
            </a:r>
            <a:endParaRPr lang="en-VN" dirty="0"/>
          </a:p>
        </p:txBody>
      </p:sp>
      <p:sp>
        <p:nvSpPr>
          <p:cNvPr id="2" name="Date Placeholder 1">
            <a:extLst>
              <a:ext uri="{FF2B5EF4-FFF2-40B4-BE49-F238E27FC236}">
                <a16:creationId xmlns:a16="http://schemas.microsoft.com/office/drawing/2014/main" id="{98B28119-6BAB-C115-873B-3333E0D709F1}"/>
              </a:ext>
            </a:extLst>
          </p:cNvPr>
          <p:cNvSpPr>
            <a:spLocks noGrp="1"/>
          </p:cNvSpPr>
          <p:nvPr>
            <p:ph type="dt" sz="half" idx="17"/>
          </p:nvPr>
        </p:nvSpPr>
        <p:spPr>
          <a:xfrm>
            <a:off x="6767806" y="6476999"/>
            <a:ext cx="2495896" cy="236763"/>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pPr/>
              <a:t>April 21, 2024</a:t>
            </a:fld>
            <a:endParaRPr lang="en-US" dirty="0"/>
          </a:p>
        </p:txBody>
      </p:sp>
    </p:spTree>
    <p:extLst>
      <p:ext uri="{BB962C8B-B14F-4D97-AF65-F5344CB8AC3E}">
        <p14:creationId xmlns:p14="http://schemas.microsoft.com/office/powerpoint/2010/main" val="36952346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Mục lục">
    <p:spTree>
      <p:nvGrpSpPr>
        <p:cNvPr id="1" name=""/>
        <p:cNvGrpSpPr/>
        <p:nvPr/>
      </p:nvGrpSpPr>
      <p:grpSpPr>
        <a:xfrm>
          <a:off x="0" y="0"/>
          <a:ext cx="0" cy="0"/>
          <a:chOff x="0" y="0"/>
          <a:chExt cx="0" cy="0"/>
        </a:xfrm>
      </p:grpSpPr>
      <p:sp>
        <p:nvSpPr>
          <p:cNvPr id="80" name="Isosceles Triangle 12">
            <a:extLst>
              <a:ext uri="{FF2B5EF4-FFF2-40B4-BE49-F238E27FC236}">
                <a16:creationId xmlns:a16="http://schemas.microsoft.com/office/drawing/2014/main" id="{72826670-EA95-0D41-31A4-F445474455F7}"/>
              </a:ext>
            </a:extLst>
          </p:cNvPr>
          <p:cNvSpPr/>
          <p:nvPr userDrawn="1"/>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1" name="Group 80">
            <a:extLst>
              <a:ext uri="{FF2B5EF4-FFF2-40B4-BE49-F238E27FC236}">
                <a16:creationId xmlns:a16="http://schemas.microsoft.com/office/drawing/2014/main" id="{FC178CED-135F-0B63-CD69-F01713607F73}"/>
              </a:ext>
            </a:extLst>
          </p:cNvPr>
          <p:cNvGrpSpPr/>
          <p:nvPr userDrawn="1"/>
        </p:nvGrpSpPr>
        <p:grpSpPr>
          <a:xfrm flipH="1" flipV="1">
            <a:off x="9263702" y="5930537"/>
            <a:ext cx="2869771" cy="886519"/>
            <a:chOff x="44879" y="27296"/>
            <a:chExt cx="2869771" cy="886519"/>
          </a:xfrm>
          <a:solidFill>
            <a:srgbClr val="0072FF"/>
          </a:solidFill>
        </p:grpSpPr>
        <p:cxnSp>
          <p:nvCxnSpPr>
            <p:cNvPr id="82" name="Straight Connector 81">
              <a:extLst>
                <a:ext uri="{FF2B5EF4-FFF2-40B4-BE49-F238E27FC236}">
                  <a16:creationId xmlns:a16="http://schemas.microsoft.com/office/drawing/2014/main" id="{D0441D2A-FC76-0844-7EA5-B632F99E2E0D}"/>
                </a:ext>
              </a:extLst>
            </p:cNvPr>
            <p:cNvCxnSpPr>
              <a:cxnSpLocks/>
            </p:cNvCxnSpPr>
            <p:nvPr/>
          </p:nvCxnSpPr>
          <p:spPr>
            <a:xfrm flipH="1">
              <a:off x="766351" y="34631"/>
              <a:ext cx="2148299" cy="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E0C48DFD-25B4-6AF8-8C94-3C8B50B23C18}"/>
                </a:ext>
              </a:extLst>
            </p:cNvPr>
            <p:cNvCxnSpPr>
              <a:cxnSpLocks/>
            </p:cNvCxnSpPr>
            <p:nvPr/>
          </p:nvCxnSpPr>
          <p:spPr>
            <a:xfrm flipH="1">
              <a:off x="44879" y="27296"/>
              <a:ext cx="737495" cy="64421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0CA6305E-4BEE-7CC0-EE96-38938F764389}"/>
                </a:ext>
              </a:extLst>
            </p:cNvPr>
            <p:cNvCxnSpPr>
              <a:cxnSpLocks/>
            </p:cNvCxnSpPr>
            <p:nvPr/>
          </p:nvCxnSpPr>
          <p:spPr>
            <a:xfrm flipH="1" flipV="1">
              <a:off x="52214" y="654128"/>
              <a:ext cx="0" cy="259687"/>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grpSp>
      <p:sp>
        <p:nvSpPr>
          <p:cNvPr id="4" name="Footer Placeholder 3">
            <a:extLst>
              <a:ext uri="{FF2B5EF4-FFF2-40B4-BE49-F238E27FC236}">
                <a16:creationId xmlns:a16="http://schemas.microsoft.com/office/drawing/2014/main" id="{745F02F9-19CB-F108-6F35-1A02C9BECF5E}"/>
              </a:ext>
            </a:extLst>
          </p:cNvPr>
          <p:cNvSpPr>
            <a:spLocks noGrp="1"/>
          </p:cNvSpPr>
          <p:nvPr>
            <p:ph type="ftr" sz="quarter" idx="11"/>
          </p:nvPr>
        </p:nvSpPr>
        <p:spPr>
          <a:xfrm>
            <a:off x="3465443" y="6466114"/>
            <a:ext cx="5261114" cy="255361"/>
          </a:xfrm>
        </p:spPr>
        <p:txBody>
          <a:bodyPr/>
          <a:lstStyle>
            <a:lvl1pPr>
              <a:defRPr sz="1100">
                <a:latin typeface="Arial" panose="020B0604020202020204" pitchFamily="34" charset="0"/>
                <a:cs typeface="Arial" panose="020B0604020202020204" pitchFamily="34" charset="0"/>
              </a:defRPr>
            </a:lvl1pPr>
          </a:lstStyle>
          <a:p>
            <a:r>
              <a:rPr lang="vi-VN" dirty="0"/>
              <a:t>Thực hiện bởi Trường Đại học Công nghệ Thông tin, ĐHQG-HCM</a:t>
            </a:r>
            <a:endParaRPr lang="en-VN" dirty="0"/>
          </a:p>
        </p:txBody>
      </p:sp>
      <p:grpSp>
        <p:nvGrpSpPr>
          <p:cNvPr id="36" name="Group 35">
            <a:extLst>
              <a:ext uri="{FF2B5EF4-FFF2-40B4-BE49-F238E27FC236}">
                <a16:creationId xmlns:a16="http://schemas.microsoft.com/office/drawing/2014/main" id="{11E5AAB4-F14E-4F9C-E123-7635A7EF6275}"/>
              </a:ext>
            </a:extLst>
          </p:cNvPr>
          <p:cNvGrpSpPr/>
          <p:nvPr userDrawn="1"/>
        </p:nvGrpSpPr>
        <p:grpSpPr>
          <a:xfrm>
            <a:off x="-1259888" y="1121391"/>
            <a:ext cx="4841288" cy="5054000"/>
            <a:chOff x="-1259888" y="901609"/>
            <a:chExt cx="4841288" cy="5054000"/>
          </a:xfrm>
        </p:grpSpPr>
        <p:grpSp>
          <p:nvGrpSpPr>
            <p:cNvPr id="6" name="Group 5">
              <a:extLst>
                <a:ext uri="{FF2B5EF4-FFF2-40B4-BE49-F238E27FC236}">
                  <a16:creationId xmlns:a16="http://schemas.microsoft.com/office/drawing/2014/main" id="{A2E31223-939B-D84C-4ACC-CDC6CEB64FEF}"/>
                </a:ext>
              </a:extLst>
            </p:cNvPr>
            <p:cNvGrpSpPr/>
            <p:nvPr userDrawn="1"/>
          </p:nvGrpSpPr>
          <p:grpSpPr>
            <a:xfrm>
              <a:off x="-1225468" y="901609"/>
              <a:ext cx="4806868" cy="664514"/>
              <a:chOff x="0" y="901609"/>
              <a:chExt cx="4806868" cy="664514"/>
            </a:xfrm>
          </p:grpSpPr>
          <p:cxnSp>
            <p:nvCxnSpPr>
              <p:cNvPr id="7" name="Straight Connector 6">
                <a:extLst>
                  <a:ext uri="{FF2B5EF4-FFF2-40B4-BE49-F238E27FC236}">
                    <a16:creationId xmlns:a16="http://schemas.microsoft.com/office/drawing/2014/main" id="{2DB06BED-50E6-B29E-B929-6D7717DB8E5E}"/>
                  </a:ext>
                </a:extLst>
              </p:cNvPr>
              <p:cNvCxnSpPr/>
              <p:nvPr/>
            </p:nvCxnSpPr>
            <p:spPr>
              <a:xfrm>
                <a:off x="0" y="1566123"/>
                <a:ext cx="253393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58C69F9-0B5B-5D9E-7034-C8237177065E}"/>
                  </a:ext>
                </a:extLst>
              </p:cNvPr>
              <p:cNvCxnSpPr>
                <a:cxnSpLocks/>
              </p:cNvCxnSpPr>
              <p:nvPr/>
            </p:nvCxnSpPr>
            <p:spPr>
              <a:xfrm flipV="1">
                <a:off x="2520285" y="1059987"/>
                <a:ext cx="591405" cy="506136"/>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F5F07FD-916F-9286-7ADA-4A2252FCBB28}"/>
                  </a:ext>
                </a:extLst>
              </p:cNvPr>
              <p:cNvCxnSpPr>
                <a:cxnSpLocks/>
              </p:cNvCxnSpPr>
              <p:nvPr/>
            </p:nvCxnSpPr>
            <p:spPr>
              <a:xfrm>
                <a:off x="3111690" y="1059987"/>
                <a:ext cx="13784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23A8BE15-FC97-76D3-BF6B-29B7114D4716}"/>
                  </a:ext>
                </a:extLst>
              </p:cNvPr>
              <p:cNvSpPr/>
              <p:nvPr/>
            </p:nvSpPr>
            <p:spPr>
              <a:xfrm>
                <a:off x="4490113" y="901609"/>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1" name="Group 10">
              <a:extLst>
                <a:ext uri="{FF2B5EF4-FFF2-40B4-BE49-F238E27FC236}">
                  <a16:creationId xmlns:a16="http://schemas.microsoft.com/office/drawing/2014/main" id="{04AB711F-106D-5EA6-AAFA-CF1A979FF6F9}"/>
                </a:ext>
              </a:extLst>
            </p:cNvPr>
            <p:cNvGrpSpPr/>
            <p:nvPr userDrawn="1"/>
          </p:nvGrpSpPr>
          <p:grpSpPr>
            <a:xfrm flipV="1">
              <a:off x="-1225468" y="5291095"/>
              <a:ext cx="4806868" cy="664514"/>
              <a:chOff x="0" y="1232525"/>
              <a:chExt cx="4806868" cy="664514"/>
            </a:xfrm>
          </p:grpSpPr>
          <p:cxnSp>
            <p:nvCxnSpPr>
              <p:cNvPr id="12" name="Straight Connector 11">
                <a:extLst>
                  <a:ext uri="{FF2B5EF4-FFF2-40B4-BE49-F238E27FC236}">
                    <a16:creationId xmlns:a16="http://schemas.microsoft.com/office/drawing/2014/main" id="{5660A401-E892-4348-0DC3-086E4EF0B6E4}"/>
                  </a:ext>
                </a:extLst>
              </p:cNvPr>
              <p:cNvCxnSpPr/>
              <p:nvPr/>
            </p:nvCxnSpPr>
            <p:spPr>
              <a:xfrm>
                <a:off x="0" y="1897039"/>
                <a:ext cx="253393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AFDB122-E638-017C-654A-F8EC6AB0B27F}"/>
                  </a:ext>
                </a:extLst>
              </p:cNvPr>
              <p:cNvCxnSpPr>
                <a:cxnSpLocks/>
              </p:cNvCxnSpPr>
              <p:nvPr/>
            </p:nvCxnSpPr>
            <p:spPr>
              <a:xfrm flipV="1">
                <a:off x="2520285" y="1390903"/>
                <a:ext cx="591405" cy="506136"/>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C676F38-72FE-4F76-7E67-580148C08A51}"/>
                  </a:ext>
                </a:extLst>
              </p:cNvPr>
              <p:cNvCxnSpPr>
                <a:cxnSpLocks/>
              </p:cNvCxnSpPr>
              <p:nvPr/>
            </p:nvCxnSpPr>
            <p:spPr>
              <a:xfrm>
                <a:off x="3111690" y="1390903"/>
                <a:ext cx="13784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B7E06E3C-C182-FD6B-BB7B-4847F4323944}"/>
                  </a:ext>
                </a:extLst>
              </p:cNvPr>
              <p:cNvSpPr/>
              <p:nvPr/>
            </p:nvSpPr>
            <p:spPr>
              <a:xfrm>
                <a:off x="4490113" y="1232525"/>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821F68F9-560D-A608-4130-5D9040FE3F01}"/>
                </a:ext>
              </a:extLst>
            </p:cNvPr>
            <p:cNvGrpSpPr/>
            <p:nvPr userDrawn="1"/>
          </p:nvGrpSpPr>
          <p:grpSpPr>
            <a:xfrm>
              <a:off x="-1225469" y="1860637"/>
              <a:ext cx="3835321" cy="547270"/>
              <a:chOff x="-1" y="1860637"/>
              <a:chExt cx="3835321" cy="547270"/>
            </a:xfrm>
          </p:grpSpPr>
          <p:sp>
            <p:nvSpPr>
              <p:cNvPr id="17" name="Oval 16">
                <a:extLst>
                  <a:ext uri="{FF2B5EF4-FFF2-40B4-BE49-F238E27FC236}">
                    <a16:creationId xmlns:a16="http://schemas.microsoft.com/office/drawing/2014/main" id="{A6A5574E-F30D-A49F-E874-231C445514E4}"/>
                  </a:ext>
                </a:extLst>
              </p:cNvPr>
              <p:cNvSpPr/>
              <p:nvPr/>
            </p:nvSpPr>
            <p:spPr>
              <a:xfrm>
                <a:off x="3518565" y="1860637"/>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8" name="Straight Connector 17">
                <a:extLst>
                  <a:ext uri="{FF2B5EF4-FFF2-40B4-BE49-F238E27FC236}">
                    <a16:creationId xmlns:a16="http://schemas.microsoft.com/office/drawing/2014/main" id="{1AABF66E-DE89-B1F6-062E-2BC96ADE0530}"/>
                  </a:ext>
                </a:extLst>
              </p:cNvPr>
              <p:cNvCxnSpPr/>
              <p:nvPr/>
            </p:nvCxnSpPr>
            <p:spPr>
              <a:xfrm>
                <a:off x="-1" y="2407907"/>
                <a:ext cx="1985654"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B0E2531-6E1E-6A7F-6704-D0334B1AB6C8}"/>
                  </a:ext>
                </a:extLst>
              </p:cNvPr>
              <p:cNvCxnSpPr>
                <a:cxnSpLocks/>
              </p:cNvCxnSpPr>
              <p:nvPr/>
            </p:nvCxnSpPr>
            <p:spPr>
              <a:xfrm flipV="1">
                <a:off x="1974958" y="2019015"/>
                <a:ext cx="463440" cy="388892"/>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F6A1DDC-0D65-0297-E1E5-DC4B2441C524}"/>
                  </a:ext>
                </a:extLst>
              </p:cNvPr>
              <p:cNvCxnSpPr>
                <a:cxnSpLocks/>
              </p:cNvCxnSpPr>
              <p:nvPr/>
            </p:nvCxnSpPr>
            <p:spPr>
              <a:xfrm>
                <a:off x="2438398" y="2019015"/>
                <a:ext cx="1080167"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21" name="Group 20">
              <a:extLst>
                <a:ext uri="{FF2B5EF4-FFF2-40B4-BE49-F238E27FC236}">
                  <a16:creationId xmlns:a16="http://schemas.microsoft.com/office/drawing/2014/main" id="{C25C9018-B01E-F47F-3802-C002B3E7B2AF}"/>
                </a:ext>
              </a:extLst>
            </p:cNvPr>
            <p:cNvGrpSpPr/>
            <p:nvPr userDrawn="1"/>
          </p:nvGrpSpPr>
          <p:grpSpPr>
            <a:xfrm flipV="1">
              <a:off x="-1259888" y="4408929"/>
              <a:ext cx="3835321" cy="547270"/>
              <a:chOff x="-1" y="1860637"/>
              <a:chExt cx="3835321" cy="547270"/>
            </a:xfrm>
          </p:grpSpPr>
          <p:sp>
            <p:nvSpPr>
              <p:cNvPr id="22" name="Oval 21">
                <a:extLst>
                  <a:ext uri="{FF2B5EF4-FFF2-40B4-BE49-F238E27FC236}">
                    <a16:creationId xmlns:a16="http://schemas.microsoft.com/office/drawing/2014/main" id="{17C82ECD-21F2-F43B-6992-AE7FB9F2798F}"/>
                  </a:ext>
                </a:extLst>
              </p:cNvPr>
              <p:cNvSpPr/>
              <p:nvPr/>
            </p:nvSpPr>
            <p:spPr>
              <a:xfrm>
                <a:off x="3518565" y="1860637"/>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3" name="Straight Connector 22">
                <a:extLst>
                  <a:ext uri="{FF2B5EF4-FFF2-40B4-BE49-F238E27FC236}">
                    <a16:creationId xmlns:a16="http://schemas.microsoft.com/office/drawing/2014/main" id="{99F69DC7-3AE7-E60B-2377-4B4F72314B92}"/>
                  </a:ext>
                </a:extLst>
              </p:cNvPr>
              <p:cNvCxnSpPr/>
              <p:nvPr/>
            </p:nvCxnSpPr>
            <p:spPr>
              <a:xfrm>
                <a:off x="-1" y="2407907"/>
                <a:ext cx="1985654"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0E27743B-09AF-DFA3-B333-99F4D9A43DFB}"/>
                  </a:ext>
                </a:extLst>
              </p:cNvPr>
              <p:cNvCxnSpPr>
                <a:cxnSpLocks/>
              </p:cNvCxnSpPr>
              <p:nvPr/>
            </p:nvCxnSpPr>
            <p:spPr>
              <a:xfrm flipV="1">
                <a:off x="1974958" y="2019015"/>
                <a:ext cx="463440" cy="388892"/>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9F40737-164C-459C-2ABE-C4DE4A29E373}"/>
                  </a:ext>
                </a:extLst>
              </p:cNvPr>
              <p:cNvCxnSpPr>
                <a:cxnSpLocks/>
              </p:cNvCxnSpPr>
              <p:nvPr/>
            </p:nvCxnSpPr>
            <p:spPr>
              <a:xfrm>
                <a:off x="2438398" y="2019015"/>
                <a:ext cx="1080167"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26" name="Group 25">
              <a:extLst>
                <a:ext uri="{FF2B5EF4-FFF2-40B4-BE49-F238E27FC236}">
                  <a16:creationId xmlns:a16="http://schemas.microsoft.com/office/drawing/2014/main" id="{74A28006-5F76-1896-7905-6715849C97AC}"/>
                </a:ext>
              </a:extLst>
            </p:cNvPr>
            <p:cNvGrpSpPr/>
            <p:nvPr userDrawn="1"/>
          </p:nvGrpSpPr>
          <p:grpSpPr>
            <a:xfrm>
              <a:off x="-1252333" y="2715185"/>
              <a:ext cx="2776521" cy="436736"/>
              <a:chOff x="-26865" y="2715185"/>
              <a:chExt cx="2776521" cy="436736"/>
            </a:xfrm>
          </p:grpSpPr>
          <p:cxnSp>
            <p:nvCxnSpPr>
              <p:cNvPr id="27" name="Straight Connector 26">
                <a:extLst>
                  <a:ext uri="{FF2B5EF4-FFF2-40B4-BE49-F238E27FC236}">
                    <a16:creationId xmlns:a16="http://schemas.microsoft.com/office/drawing/2014/main" id="{02985FB7-4D54-A096-221C-AB21916398BD}"/>
                  </a:ext>
                </a:extLst>
              </p:cNvPr>
              <p:cNvCxnSpPr/>
              <p:nvPr/>
            </p:nvCxnSpPr>
            <p:spPr>
              <a:xfrm>
                <a:off x="-26865" y="3151921"/>
                <a:ext cx="14027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DDEC85B-E1F4-38FE-0E5C-E5850D2C995F}"/>
                  </a:ext>
                </a:extLst>
              </p:cNvPr>
              <p:cNvCxnSpPr>
                <a:cxnSpLocks/>
              </p:cNvCxnSpPr>
              <p:nvPr/>
            </p:nvCxnSpPr>
            <p:spPr>
              <a:xfrm flipV="1">
                <a:off x="1368303" y="2877197"/>
                <a:ext cx="327387" cy="274724"/>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DE6622AE-52DB-9FD4-5FA6-F8C5F2606706}"/>
                  </a:ext>
                </a:extLst>
              </p:cNvPr>
              <p:cNvCxnSpPr>
                <a:cxnSpLocks/>
              </p:cNvCxnSpPr>
              <p:nvPr/>
            </p:nvCxnSpPr>
            <p:spPr>
              <a:xfrm>
                <a:off x="1695690" y="2877197"/>
                <a:ext cx="763061"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69264108-0C61-CCC7-04EF-695A004F44BA}"/>
                  </a:ext>
                </a:extLst>
              </p:cNvPr>
              <p:cNvSpPr/>
              <p:nvPr/>
            </p:nvSpPr>
            <p:spPr>
              <a:xfrm>
                <a:off x="2432901" y="2715185"/>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1" name="Group 30">
              <a:extLst>
                <a:ext uri="{FF2B5EF4-FFF2-40B4-BE49-F238E27FC236}">
                  <a16:creationId xmlns:a16="http://schemas.microsoft.com/office/drawing/2014/main" id="{A1F8E5A4-A013-ABE4-F3E5-36BBEE45994B}"/>
                </a:ext>
              </a:extLst>
            </p:cNvPr>
            <p:cNvGrpSpPr/>
            <p:nvPr userDrawn="1"/>
          </p:nvGrpSpPr>
          <p:grpSpPr>
            <a:xfrm>
              <a:off x="-1225468" y="3843225"/>
              <a:ext cx="2802371" cy="433101"/>
              <a:chOff x="-34420" y="3843718"/>
              <a:chExt cx="2802371" cy="433101"/>
            </a:xfrm>
          </p:grpSpPr>
          <p:cxnSp>
            <p:nvCxnSpPr>
              <p:cNvPr id="32" name="Straight Connector 31">
                <a:extLst>
                  <a:ext uri="{FF2B5EF4-FFF2-40B4-BE49-F238E27FC236}">
                    <a16:creationId xmlns:a16="http://schemas.microsoft.com/office/drawing/2014/main" id="{92CA967D-77D2-F89E-9996-2B247282DA6A}"/>
                  </a:ext>
                </a:extLst>
              </p:cNvPr>
              <p:cNvCxnSpPr/>
              <p:nvPr/>
            </p:nvCxnSpPr>
            <p:spPr>
              <a:xfrm flipV="1">
                <a:off x="-34420" y="3843718"/>
                <a:ext cx="14027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D106A27-9FB0-65D0-E42B-5A9345BBE7A8}"/>
                  </a:ext>
                </a:extLst>
              </p:cNvPr>
              <p:cNvCxnSpPr>
                <a:cxnSpLocks/>
              </p:cNvCxnSpPr>
              <p:nvPr/>
            </p:nvCxnSpPr>
            <p:spPr>
              <a:xfrm>
                <a:off x="1360748" y="3843718"/>
                <a:ext cx="327387" cy="274724"/>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BDA310D0-0781-F61D-3188-05A327C3E38C}"/>
                  </a:ext>
                </a:extLst>
              </p:cNvPr>
              <p:cNvCxnSpPr>
                <a:cxnSpLocks/>
              </p:cNvCxnSpPr>
              <p:nvPr/>
            </p:nvCxnSpPr>
            <p:spPr>
              <a:xfrm flipV="1">
                <a:off x="1688135" y="4118442"/>
                <a:ext cx="763061"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35" name="Oval 34">
                <a:extLst>
                  <a:ext uri="{FF2B5EF4-FFF2-40B4-BE49-F238E27FC236}">
                    <a16:creationId xmlns:a16="http://schemas.microsoft.com/office/drawing/2014/main" id="{74C60948-61FC-2116-FCE6-F05185B2432A}"/>
                  </a:ext>
                </a:extLst>
              </p:cNvPr>
              <p:cNvSpPr/>
              <p:nvPr/>
            </p:nvSpPr>
            <p:spPr>
              <a:xfrm>
                <a:off x="2451196" y="3960064"/>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37" name="Group 36">
            <a:extLst>
              <a:ext uri="{FF2B5EF4-FFF2-40B4-BE49-F238E27FC236}">
                <a16:creationId xmlns:a16="http://schemas.microsoft.com/office/drawing/2014/main" id="{A9D55038-C512-E74F-0316-32FA44AC85DA}"/>
              </a:ext>
            </a:extLst>
          </p:cNvPr>
          <p:cNvGrpSpPr/>
          <p:nvPr userDrawn="1"/>
        </p:nvGrpSpPr>
        <p:grpSpPr>
          <a:xfrm flipH="1">
            <a:off x="8607643" y="1121391"/>
            <a:ext cx="4841288" cy="5054000"/>
            <a:chOff x="-1259888" y="901609"/>
            <a:chExt cx="4841288" cy="5054000"/>
          </a:xfrm>
        </p:grpSpPr>
        <p:grpSp>
          <p:nvGrpSpPr>
            <p:cNvPr id="38" name="Group 37">
              <a:extLst>
                <a:ext uri="{FF2B5EF4-FFF2-40B4-BE49-F238E27FC236}">
                  <a16:creationId xmlns:a16="http://schemas.microsoft.com/office/drawing/2014/main" id="{CC8D5E8A-34C2-98F5-01F2-D2CAA76A0A9E}"/>
                </a:ext>
              </a:extLst>
            </p:cNvPr>
            <p:cNvGrpSpPr/>
            <p:nvPr userDrawn="1"/>
          </p:nvGrpSpPr>
          <p:grpSpPr>
            <a:xfrm>
              <a:off x="-1225468" y="901609"/>
              <a:ext cx="4806868" cy="664514"/>
              <a:chOff x="0" y="901609"/>
              <a:chExt cx="4806868" cy="664514"/>
            </a:xfrm>
          </p:grpSpPr>
          <p:cxnSp>
            <p:nvCxnSpPr>
              <p:cNvPr id="64" name="Straight Connector 63">
                <a:extLst>
                  <a:ext uri="{FF2B5EF4-FFF2-40B4-BE49-F238E27FC236}">
                    <a16:creationId xmlns:a16="http://schemas.microsoft.com/office/drawing/2014/main" id="{E6EEF1F3-D1D1-DEB4-E491-3B5E510B766B}"/>
                  </a:ext>
                </a:extLst>
              </p:cNvPr>
              <p:cNvCxnSpPr/>
              <p:nvPr/>
            </p:nvCxnSpPr>
            <p:spPr>
              <a:xfrm>
                <a:off x="0" y="1566123"/>
                <a:ext cx="253393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6BAF104D-64C5-1843-2B4A-2AEDAF0D6175}"/>
                  </a:ext>
                </a:extLst>
              </p:cNvPr>
              <p:cNvCxnSpPr>
                <a:cxnSpLocks/>
              </p:cNvCxnSpPr>
              <p:nvPr/>
            </p:nvCxnSpPr>
            <p:spPr>
              <a:xfrm flipV="1">
                <a:off x="2520285" y="1059987"/>
                <a:ext cx="591405" cy="506136"/>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591F5277-EE93-31FB-AAD8-F64F97837DDA}"/>
                  </a:ext>
                </a:extLst>
              </p:cNvPr>
              <p:cNvCxnSpPr>
                <a:cxnSpLocks/>
              </p:cNvCxnSpPr>
              <p:nvPr/>
            </p:nvCxnSpPr>
            <p:spPr>
              <a:xfrm>
                <a:off x="3111690" y="1059987"/>
                <a:ext cx="13784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67" name="Oval 66">
                <a:extLst>
                  <a:ext uri="{FF2B5EF4-FFF2-40B4-BE49-F238E27FC236}">
                    <a16:creationId xmlns:a16="http://schemas.microsoft.com/office/drawing/2014/main" id="{36A6A4EA-512C-BD8D-6200-C1B6D161AF96}"/>
                  </a:ext>
                </a:extLst>
              </p:cNvPr>
              <p:cNvSpPr/>
              <p:nvPr/>
            </p:nvSpPr>
            <p:spPr>
              <a:xfrm>
                <a:off x="4490113" y="901609"/>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9" name="Group 38">
              <a:extLst>
                <a:ext uri="{FF2B5EF4-FFF2-40B4-BE49-F238E27FC236}">
                  <a16:creationId xmlns:a16="http://schemas.microsoft.com/office/drawing/2014/main" id="{48417325-5CBC-9245-EBBF-5495BB114BB9}"/>
                </a:ext>
              </a:extLst>
            </p:cNvPr>
            <p:cNvGrpSpPr/>
            <p:nvPr userDrawn="1"/>
          </p:nvGrpSpPr>
          <p:grpSpPr>
            <a:xfrm flipV="1">
              <a:off x="-1225468" y="5291095"/>
              <a:ext cx="4806868" cy="664514"/>
              <a:chOff x="0" y="1232525"/>
              <a:chExt cx="4806868" cy="664514"/>
            </a:xfrm>
          </p:grpSpPr>
          <p:cxnSp>
            <p:nvCxnSpPr>
              <p:cNvPr id="60" name="Straight Connector 59">
                <a:extLst>
                  <a:ext uri="{FF2B5EF4-FFF2-40B4-BE49-F238E27FC236}">
                    <a16:creationId xmlns:a16="http://schemas.microsoft.com/office/drawing/2014/main" id="{2ABA872F-CF9E-97F0-0BEB-43E95F81970F}"/>
                  </a:ext>
                </a:extLst>
              </p:cNvPr>
              <p:cNvCxnSpPr/>
              <p:nvPr/>
            </p:nvCxnSpPr>
            <p:spPr>
              <a:xfrm>
                <a:off x="0" y="1897039"/>
                <a:ext cx="253393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CE558871-BCDE-178B-024F-81DBE95811F1}"/>
                  </a:ext>
                </a:extLst>
              </p:cNvPr>
              <p:cNvCxnSpPr>
                <a:cxnSpLocks/>
              </p:cNvCxnSpPr>
              <p:nvPr/>
            </p:nvCxnSpPr>
            <p:spPr>
              <a:xfrm flipV="1">
                <a:off x="2520285" y="1390903"/>
                <a:ext cx="591405" cy="506136"/>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13BB9F5-0BB8-705B-E8A1-5FA6735325E4}"/>
                  </a:ext>
                </a:extLst>
              </p:cNvPr>
              <p:cNvCxnSpPr>
                <a:cxnSpLocks/>
              </p:cNvCxnSpPr>
              <p:nvPr/>
            </p:nvCxnSpPr>
            <p:spPr>
              <a:xfrm>
                <a:off x="3111690" y="1390903"/>
                <a:ext cx="13784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63" name="Oval 62">
                <a:extLst>
                  <a:ext uri="{FF2B5EF4-FFF2-40B4-BE49-F238E27FC236}">
                    <a16:creationId xmlns:a16="http://schemas.microsoft.com/office/drawing/2014/main" id="{2DF72871-077F-48BE-91AF-DE72A1841D14}"/>
                  </a:ext>
                </a:extLst>
              </p:cNvPr>
              <p:cNvSpPr/>
              <p:nvPr/>
            </p:nvSpPr>
            <p:spPr>
              <a:xfrm>
                <a:off x="4490113" y="1232525"/>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0" name="Group 39">
              <a:extLst>
                <a:ext uri="{FF2B5EF4-FFF2-40B4-BE49-F238E27FC236}">
                  <a16:creationId xmlns:a16="http://schemas.microsoft.com/office/drawing/2014/main" id="{0917CABE-75B7-599D-4246-DCB5968A10A9}"/>
                </a:ext>
              </a:extLst>
            </p:cNvPr>
            <p:cNvGrpSpPr/>
            <p:nvPr userDrawn="1"/>
          </p:nvGrpSpPr>
          <p:grpSpPr>
            <a:xfrm>
              <a:off x="-1225469" y="1860637"/>
              <a:ext cx="3835321" cy="547270"/>
              <a:chOff x="-1" y="1860637"/>
              <a:chExt cx="3835321" cy="547270"/>
            </a:xfrm>
          </p:grpSpPr>
          <p:sp>
            <p:nvSpPr>
              <p:cNvPr id="56" name="Oval 55">
                <a:extLst>
                  <a:ext uri="{FF2B5EF4-FFF2-40B4-BE49-F238E27FC236}">
                    <a16:creationId xmlns:a16="http://schemas.microsoft.com/office/drawing/2014/main" id="{98A88CE2-C346-6A1C-2ECA-F96ED3759F52}"/>
                  </a:ext>
                </a:extLst>
              </p:cNvPr>
              <p:cNvSpPr/>
              <p:nvPr/>
            </p:nvSpPr>
            <p:spPr>
              <a:xfrm>
                <a:off x="3518565" y="1860637"/>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7" name="Straight Connector 56">
                <a:extLst>
                  <a:ext uri="{FF2B5EF4-FFF2-40B4-BE49-F238E27FC236}">
                    <a16:creationId xmlns:a16="http://schemas.microsoft.com/office/drawing/2014/main" id="{5A2C42DA-B857-1726-C8D9-FE4710E5AF27}"/>
                  </a:ext>
                </a:extLst>
              </p:cNvPr>
              <p:cNvCxnSpPr/>
              <p:nvPr/>
            </p:nvCxnSpPr>
            <p:spPr>
              <a:xfrm>
                <a:off x="-1" y="2407907"/>
                <a:ext cx="1985654"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022A1339-07A9-9E34-F0B5-0FC956E053B1}"/>
                  </a:ext>
                </a:extLst>
              </p:cNvPr>
              <p:cNvCxnSpPr>
                <a:cxnSpLocks/>
              </p:cNvCxnSpPr>
              <p:nvPr/>
            </p:nvCxnSpPr>
            <p:spPr>
              <a:xfrm flipV="1">
                <a:off x="1974958" y="2019015"/>
                <a:ext cx="463440" cy="388892"/>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39CB6646-AD5A-592F-1BBF-6F86BE47C2E5}"/>
                  </a:ext>
                </a:extLst>
              </p:cNvPr>
              <p:cNvCxnSpPr>
                <a:cxnSpLocks/>
              </p:cNvCxnSpPr>
              <p:nvPr/>
            </p:nvCxnSpPr>
            <p:spPr>
              <a:xfrm>
                <a:off x="2438398" y="2019015"/>
                <a:ext cx="1080167"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41" name="Group 40">
              <a:extLst>
                <a:ext uri="{FF2B5EF4-FFF2-40B4-BE49-F238E27FC236}">
                  <a16:creationId xmlns:a16="http://schemas.microsoft.com/office/drawing/2014/main" id="{D2335E1C-3065-23F6-E27F-3F0198899BD3}"/>
                </a:ext>
              </a:extLst>
            </p:cNvPr>
            <p:cNvGrpSpPr/>
            <p:nvPr userDrawn="1"/>
          </p:nvGrpSpPr>
          <p:grpSpPr>
            <a:xfrm flipV="1">
              <a:off x="-1259888" y="4408929"/>
              <a:ext cx="3835321" cy="547270"/>
              <a:chOff x="-1" y="1860637"/>
              <a:chExt cx="3835321" cy="547270"/>
            </a:xfrm>
          </p:grpSpPr>
          <p:sp>
            <p:nvSpPr>
              <p:cNvPr id="52" name="Oval 51">
                <a:extLst>
                  <a:ext uri="{FF2B5EF4-FFF2-40B4-BE49-F238E27FC236}">
                    <a16:creationId xmlns:a16="http://schemas.microsoft.com/office/drawing/2014/main" id="{0054D5F9-BD76-DFA5-747D-63210423AF11}"/>
                  </a:ext>
                </a:extLst>
              </p:cNvPr>
              <p:cNvSpPr/>
              <p:nvPr/>
            </p:nvSpPr>
            <p:spPr>
              <a:xfrm>
                <a:off x="3518565" y="1860637"/>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3" name="Straight Connector 52">
                <a:extLst>
                  <a:ext uri="{FF2B5EF4-FFF2-40B4-BE49-F238E27FC236}">
                    <a16:creationId xmlns:a16="http://schemas.microsoft.com/office/drawing/2014/main" id="{CCE92875-704E-A1B5-07E6-FAEFE45DBA51}"/>
                  </a:ext>
                </a:extLst>
              </p:cNvPr>
              <p:cNvCxnSpPr/>
              <p:nvPr/>
            </p:nvCxnSpPr>
            <p:spPr>
              <a:xfrm>
                <a:off x="-1" y="2407907"/>
                <a:ext cx="1985654"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465DD13-4162-48B0-8660-1DA77169F84E}"/>
                  </a:ext>
                </a:extLst>
              </p:cNvPr>
              <p:cNvCxnSpPr>
                <a:cxnSpLocks/>
              </p:cNvCxnSpPr>
              <p:nvPr/>
            </p:nvCxnSpPr>
            <p:spPr>
              <a:xfrm flipV="1">
                <a:off x="1974958" y="2019015"/>
                <a:ext cx="463440" cy="388892"/>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85D16174-2600-C069-974A-6FEA86E0360D}"/>
                  </a:ext>
                </a:extLst>
              </p:cNvPr>
              <p:cNvCxnSpPr>
                <a:cxnSpLocks/>
              </p:cNvCxnSpPr>
              <p:nvPr/>
            </p:nvCxnSpPr>
            <p:spPr>
              <a:xfrm>
                <a:off x="2438398" y="2019015"/>
                <a:ext cx="1080167"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42" name="Group 41">
              <a:extLst>
                <a:ext uri="{FF2B5EF4-FFF2-40B4-BE49-F238E27FC236}">
                  <a16:creationId xmlns:a16="http://schemas.microsoft.com/office/drawing/2014/main" id="{273999E9-4737-2309-371C-9E0670D1FA16}"/>
                </a:ext>
              </a:extLst>
            </p:cNvPr>
            <p:cNvGrpSpPr/>
            <p:nvPr userDrawn="1"/>
          </p:nvGrpSpPr>
          <p:grpSpPr>
            <a:xfrm>
              <a:off x="-1252333" y="2715185"/>
              <a:ext cx="2776521" cy="436736"/>
              <a:chOff x="-26865" y="2715185"/>
              <a:chExt cx="2776521" cy="436736"/>
            </a:xfrm>
          </p:grpSpPr>
          <p:cxnSp>
            <p:nvCxnSpPr>
              <p:cNvPr id="48" name="Straight Connector 47">
                <a:extLst>
                  <a:ext uri="{FF2B5EF4-FFF2-40B4-BE49-F238E27FC236}">
                    <a16:creationId xmlns:a16="http://schemas.microsoft.com/office/drawing/2014/main" id="{F8BEE6AC-D79B-8E2A-ABF5-4EEEA5212958}"/>
                  </a:ext>
                </a:extLst>
              </p:cNvPr>
              <p:cNvCxnSpPr/>
              <p:nvPr/>
            </p:nvCxnSpPr>
            <p:spPr>
              <a:xfrm>
                <a:off x="-26865" y="3151921"/>
                <a:ext cx="14027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D71D58E6-0CF0-201A-6AC4-AC76E73B91AC}"/>
                  </a:ext>
                </a:extLst>
              </p:cNvPr>
              <p:cNvCxnSpPr>
                <a:cxnSpLocks/>
              </p:cNvCxnSpPr>
              <p:nvPr/>
            </p:nvCxnSpPr>
            <p:spPr>
              <a:xfrm flipV="1">
                <a:off x="1368303" y="2877197"/>
                <a:ext cx="327387" cy="274724"/>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03F8ECCF-CC37-3AD1-B56C-A8D4EAB0F408}"/>
                  </a:ext>
                </a:extLst>
              </p:cNvPr>
              <p:cNvCxnSpPr>
                <a:cxnSpLocks/>
              </p:cNvCxnSpPr>
              <p:nvPr/>
            </p:nvCxnSpPr>
            <p:spPr>
              <a:xfrm>
                <a:off x="1695690" y="2877197"/>
                <a:ext cx="763061"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51" name="Oval 50">
                <a:extLst>
                  <a:ext uri="{FF2B5EF4-FFF2-40B4-BE49-F238E27FC236}">
                    <a16:creationId xmlns:a16="http://schemas.microsoft.com/office/drawing/2014/main" id="{31674892-B2C7-136E-8594-C11B8E269F87}"/>
                  </a:ext>
                </a:extLst>
              </p:cNvPr>
              <p:cNvSpPr/>
              <p:nvPr/>
            </p:nvSpPr>
            <p:spPr>
              <a:xfrm>
                <a:off x="2432901" y="2715185"/>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43" name="Group 42">
              <a:extLst>
                <a:ext uri="{FF2B5EF4-FFF2-40B4-BE49-F238E27FC236}">
                  <a16:creationId xmlns:a16="http://schemas.microsoft.com/office/drawing/2014/main" id="{831C3464-516C-C4D2-7CEC-A8FAE9B21FCD}"/>
                </a:ext>
              </a:extLst>
            </p:cNvPr>
            <p:cNvGrpSpPr/>
            <p:nvPr userDrawn="1"/>
          </p:nvGrpSpPr>
          <p:grpSpPr>
            <a:xfrm>
              <a:off x="-1225468" y="3843225"/>
              <a:ext cx="2802371" cy="433101"/>
              <a:chOff x="-34420" y="3843718"/>
              <a:chExt cx="2802371" cy="433101"/>
            </a:xfrm>
          </p:grpSpPr>
          <p:cxnSp>
            <p:nvCxnSpPr>
              <p:cNvPr id="44" name="Straight Connector 43">
                <a:extLst>
                  <a:ext uri="{FF2B5EF4-FFF2-40B4-BE49-F238E27FC236}">
                    <a16:creationId xmlns:a16="http://schemas.microsoft.com/office/drawing/2014/main" id="{408CCADE-8B1D-0E30-0A68-1F46B13BC757}"/>
                  </a:ext>
                </a:extLst>
              </p:cNvPr>
              <p:cNvCxnSpPr/>
              <p:nvPr/>
            </p:nvCxnSpPr>
            <p:spPr>
              <a:xfrm flipV="1">
                <a:off x="-34420" y="3843718"/>
                <a:ext cx="14027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F817E267-84D9-FC0C-E5D5-1DD3288DCC70}"/>
                  </a:ext>
                </a:extLst>
              </p:cNvPr>
              <p:cNvCxnSpPr>
                <a:cxnSpLocks/>
              </p:cNvCxnSpPr>
              <p:nvPr/>
            </p:nvCxnSpPr>
            <p:spPr>
              <a:xfrm>
                <a:off x="1360748" y="3843718"/>
                <a:ext cx="327387" cy="274724"/>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CA383401-6B48-1369-8E23-310FBDF1E0DF}"/>
                  </a:ext>
                </a:extLst>
              </p:cNvPr>
              <p:cNvCxnSpPr>
                <a:cxnSpLocks/>
              </p:cNvCxnSpPr>
              <p:nvPr/>
            </p:nvCxnSpPr>
            <p:spPr>
              <a:xfrm flipV="1">
                <a:off x="1688135" y="4118442"/>
                <a:ext cx="763061"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47" name="Oval 46">
                <a:extLst>
                  <a:ext uri="{FF2B5EF4-FFF2-40B4-BE49-F238E27FC236}">
                    <a16:creationId xmlns:a16="http://schemas.microsoft.com/office/drawing/2014/main" id="{715E2EA8-3EC1-AFA6-AC3A-1F5D01C1902E}"/>
                  </a:ext>
                </a:extLst>
              </p:cNvPr>
              <p:cNvSpPr/>
              <p:nvPr/>
            </p:nvSpPr>
            <p:spPr>
              <a:xfrm>
                <a:off x="2451196" y="3960064"/>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69" name="Oval 68">
            <a:extLst>
              <a:ext uri="{FF2B5EF4-FFF2-40B4-BE49-F238E27FC236}">
                <a16:creationId xmlns:a16="http://schemas.microsoft.com/office/drawing/2014/main" id="{18EDBFE5-F6A7-D377-B524-2A5E293A8580}"/>
              </a:ext>
            </a:extLst>
          </p:cNvPr>
          <p:cNvSpPr/>
          <p:nvPr userDrawn="1"/>
        </p:nvSpPr>
        <p:spPr>
          <a:xfrm>
            <a:off x="11924591" y="6583140"/>
            <a:ext cx="233916" cy="233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F24298E1-B4F3-31E6-9C4D-5AE100CD89B6}"/>
              </a:ext>
            </a:extLst>
          </p:cNvPr>
          <p:cNvSpPr>
            <a:spLocks noGrp="1"/>
          </p:cNvSpPr>
          <p:nvPr>
            <p:ph type="sldNum" sz="quarter" idx="12"/>
          </p:nvPr>
        </p:nvSpPr>
        <p:spPr>
          <a:xfrm>
            <a:off x="11900400" y="6566400"/>
            <a:ext cx="291600" cy="291600"/>
          </a:xfrm>
        </p:spPr>
        <p:txBody>
          <a:bodyPr/>
          <a:lstStyle>
            <a:lvl1pPr algn="ctr">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sp>
        <p:nvSpPr>
          <p:cNvPr id="70" name="TextBox 69">
            <a:extLst>
              <a:ext uri="{FF2B5EF4-FFF2-40B4-BE49-F238E27FC236}">
                <a16:creationId xmlns:a16="http://schemas.microsoft.com/office/drawing/2014/main" id="{03E32705-3D72-A324-09E4-62DB4F73E8B8}"/>
              </a:ext>
            </a:extLst>
          </p:cNvPr>
          <p:cNvSpPr txBox="1"/>
          <p:nvPr userDrawn="1"/>
        </p:nvSpPr>
        <p:spPr>
          <a:xfrm>
            <a:off x="4702630" y="640081"/>
            <a:ext cx="3028822" cy="646331"/>
          </a:xfrm>
          <a:prstGeom prst="rect">
            <a:avLst/>
          </a:prstGeom>
          <a:gradFill>
            <a:gsLst>
              <a:gs pos="0">
                <a:srgbClr val="0072FF"/>
              </a:gs>
              <a:gs pos="100000">
                <a:srgbClr val="00C6FF"/>
              </a:gs>
            </a:gsLst>
            <a:path path="shape">
              <a:fillToRect l="50000" t="50000" r="50000" b="50000"/>
            </a:path>
          </a:gradFill>
        </p:spPr>
        <p:txBody>
          <a:bodyPr wrap="square" rtlCol="0" anchor="ctr">
            <a:spAutoFit/>
          </a:bodyPr>
          <a:lstStyle/>
          <a:p>
            <a:pPr algn="ctr"/>
            <a:r>
              <a:rPr lang="en-US" sz="3600" b="1">
                <a:solidFill>
                  <a:schemeClr val="bg1"/>
                </a:solidFill>
                <a:latin typeface="Times New Roman" panose="02020603050405020304" pitchFamily="18" charset="0"/>
                <a:cs typeface="Times New Roman" panose="02020603050405020304" pitchFamily="18" charset="0"/>
              </a:rPr>
              <a:t>MỤC TIÊU</a:t>
            </a:r>
            <a:endParaRPr lang="en-VN" sz="3600" b="1" dirty="0">
              <a:solidFill>
                <a:schemeClr val="bg1"/>
              </a:solidFill>
              <a:latin typeface="Times New Roman" panose="02020603050405020304" pitchFamily="18" charset="0"/>
              <a:cs typeface="Times New Roman" panose="02020603050405020304" pitchFamily="18" charset="0"/>
            </a:endParaRPr>
          </a:p>
        </p:txBody>
      </p:sp>
      <p:sp>
        <p:nvSpPr>
          <p:cNvPr id="73" name="Text Placeholder 72">
            <a:extLst>
              <a:ext uri="{FF2B5EF4-FFF2-40B4-BE49-F238E27FC236}">
                <a16:creationId xmlns:a16="http://schemas.microsoft.com/office/drawing/2014/main" id="{76C3F59F-1B16-EF53-7B37-4235433DF423}"/>
              </a:ext>
            </a:extLst>
          </p:cNvPr>
          <p:cNvSpPr>
            <a:spLocks noGrp="1"/>
          </p:cNvSpPr>
          <p:nvPr>
            <p:ph type="body" sz="quarter" idx="13" hasCustomPrompt="1"/>
          </p:nvPr>
        </p:nvSpPr>
        <p:spPr>
          <a:xfrm>
            <a:off x="2735144" y="1286346"/>
            <a:ext cx="6721714" cy="4699000"/>
          </a:xfrm>
        </p:spPr>
        <p:txBody>
          <a:bodyPr anchor="ctr">
            <a:normAutofit/>
          </a:bodyPr>
          <a:lstStyle>
            <a:lvl1pPr marL="514350" indent="-514350" algn="just">
              <a:buFont typeface="+mj-lt"/>
              <a:buAutoNum type="arabicPeriod"/>
              <a:defRPr sz="2200">
                <a:latin typeface="Arial" panose="020B0604020202020204" pitchFamily="34" charset="0"/>
                <a:cs typeface="Arial" panose="020B0604020202020204" pitchFamily="34" charset="0"/>
              </a:defRPr>
            </a:lvl1pPr>
            <a:lvl2pPr marL="914400" indent="-457200" algn="ctr">
              <a:buFont typeface="+mj-lt"/>
              <a:buAutoNum type="arabicPeriod"/>
              <a:defRPr>
                <a:latin typeface="Arial" panose="020B0604020202020204" pitchFamily="34" charset="0"/>
                <a:cs typeface="Arial" panose="020B0604020202020204" pitchFamily="34" charset="0"/>
              </a:defRPr>
            </a:lvl2pPr>
            <a:lvl3pPr marL="1371600" indent="-457200" algn="ctr">
              <a:buFont typeface="+mj-lt"/>
              <a:buAutoNum type="arabicPeriod"/>
              <a:defRPr>
                <a:latin typeface="Arial" panose="020B0604020202020204" pitchFamily="34" charset="0"/>
                <a:cs typeface="Arial" panose="020B0604020202020204" pitchFamily="34" charset="0"/>
              </a:defRPr>
            </a:lvl3pPr>
            <a:lvl4pPr marL="1714500" indent="-342900" algn="ctr">
              <a:buFont typeface="+mj-lt"/>
              <a:buAutoNum type="arabicPeriod"/>
              <a:defRPr>
                <a:latin typeface="Arial" panose="020B0604020202020204" pitchFamily="34" charset="0"/>
                <a:cs typeface="Arial" panose="020B0604020202020204" pitchFamily="34" charset="0"/>
              </a:defRPr>
            </a:lvl4pPr>
            <a:lvl5pPr marL="2171700" indent="-342900" algn="ctr">
              <a:buFont typeface="+mj-lt"/>
              <a:buAutoNum type="arabicPeriod"/>
              <a:defRPr>
                <a:latin typeface="Arial" panose="020B0604020202020204" pitchFamily="34" charset="0"/>
                <a:cs typeface="Arial" panose="020B0604020202020204" pitchFamily="34" charset="0"/>
              </a:defRPr>
            </a:lvl5pPr>
          </a:lstStyle>
          <a:p>
            <a:pPr lvl="0"/>
            <a:r>
              <a:rPr lang="en-US" dirty="0" err="1"/>
              <a:t>Mục</a:t>
            </a:r>
            <a:r>
              <a:rPr lang="en-US" dirty="0"/>
              <a:t> 1</a:t>
            </a:r>
          </a:p>
          <a:p>
            <a:pPr lvl="0"/>
            <a:r>
              <a:rPr lang="en-US" dirty="0" err="1"/>
              <a:t>Mục</a:t>
            </a:r>
            <a:r>
              <a:rPr lang="en-US" dirty="0"/>
              <a:t> 2</a:t>
            </a:r>
          </a:p>
          <a:p>
            <a:pPr lvl="0"/>
            <a:r>
              <a:rPr lang="en-US" dirty="0" err="1"/>
              <a:t>Mục</a:t>
            </a:r>
            <a:r>
              <a:rPr lang="en-US" dirty="0"/>
              <a:t> 3</a:t>
            </a:r>
          </a:p>
          <a:p>
            <a:pPr lvl="0"/>
            <a:r>
              <a:rPr lang="en-US" dirty="0" err="1"/>
              <a:t>Mục</a:t>
            </a:r>
            <a:r>
              <a:rPr lang="en-US" dirty="0"/>
              <a:t> 4</a:t>
            </a:r>
          </a:p>
          <a:p>
            <a:pPr lvl="0"/>
            <a:r>
              <a:rPr lang="en-US" dirty="0" err="1"/>
              <a:t>Mục</a:t>
            </a:r>
            <a:r>
              <a:rPr lang="en-US" dirty="0"/>
              <a:t> 5</a:t>
            </a:r>
          </a:p>
        </p:txBody>
      </p:sp>
      <p:sp>
        <p:nvSpPr>
          <p:cNvPr id="75" name="Isosceles Triangle 12">
            <a:extLst>
              <a:ext uri="{FF2B5EF4-FFF2-40B4-BE49-F238E27FC236}">
                <a16:creationId xmlns:a16="http://schemas.microsoft.com/office/drawing/2014/main" id="{A388E1C1-619D-B3DE-405E-FEBD285E8A4D}"/>
              </a:ext>
            </a:extLst>
          </p:cNvPr>
          <p:cNvSpPr/>
          <p:nvPr userDrawn="1"/>
        </p:nvSpPr>
        <p:spPr>
          <a:xfrm rot="10800000">
            <a:off x="0" y="0"/>
            <a:ext cx="715617" cy="616911"/>
          </a:xfrm>
          <a:prstGeom prst="triangle">
            <a:avLst>
              <a:gd name="adj" fmla="val 100000"/>
            </a:avLst>
          </a:prstGeom>
          <a:solidFill>
            <a:srgbClr val="007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6" name="Group 75">
            <a:extLst>
              <a:ext uri="{FF2B5EF4-FFF2-40B4-BE49-F238E27FC236}">
                <a16:creationId xmlns:a16="http://schemas.microsoft.com/office/drawing/2014/main" id="{7C853EEA-59DB-F0D6-265D-88168C2394BB}"/>
              </a:ext>
            </a:extLst>
          </p:cNvPr>
          <p:cNvGrpSpPr/>
          <p:nvPr userDrawn="1"/>
        </p:nvGrpSpPr>
        <p:grpSpPr>
          <a:xfrm>
            <a:off x="58527" y="40944"/>
            <a:ext cx="2869771" cy="886519"/>
            <a:chOff x="44879" y="27296"/>
            <a:chExt cx="2869771" cy="886519"/>
          </a:xfrm>
          <a:solidFill>
            <a:srgbClr val="0072FF"/>
          </a:solidFill>
        </p:grpSpPr>
        <p:cxnSp>
          <p:nvCxnSpPr>
            <p:cNvPr id="77" name="Straight Connector 76">
              <a:extLst>
                <a:ext uri="{FF2B5EF4-FFF2-40B4-BE49-F238E27FC236}">
                  <a16:creationId xmlns:a16="http://schemas.microsoft.com/office/drawing/2014/main" id="{F437A5D6-1DC7-D389-82D2-23162AC05FBF}"/>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896068C2-8F0E-EB5D-CA9A-7015104FFBD1}"/>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C8D9F136-81C9-C695-8C54-BACD26A69D63}"/>
                </a:ext>
              </a:extLst>
            </p:cNvPr>
            <p:cNvCxnSpPr>
              <a:cxnSpLocks/>
            </p:cNvCxnSpPr>
            <p:nvPr/>
          </p:nvCxnSpPr>
          <p:spPr>
            <a:xfrm flipV="1">
              <a:off x="52214" y="654128"/>
              <a:ext cx="0" cy="25968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pic>
        <p:nvPicPr>
          <p:cNvPr id="86" name="Picture 85" descr="A picture containing clipart, vector graphics&#10;&#10;Description automatically generated">
            <a:extLst>
              <a:ext uri="{FF2B5EF4-FFF2-40B4-BE49-F238E27FC236}">
                <a16:creationId xmlns:a16="http://schemas.microsoft.com/office/drawing/2014/main" id="{59A81B3C-3C09-2267-567B-AD3F47296CD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12638" y="362637"/>
            <a:ext cx="544288" cy="450213"/>
          </a:xfrm>
          <a:prstGeom prst="rect">
            <a:avLst/>
          </a:prstGeom>
        </p:spPr>
      </p:pic>
      <p:sp>
        <p:nvSpPr>
          <p:cNvPr id="2" name="Date Placeholder 1">
            <a:extLst>
              <a:ext uri="{FF2B5EF4-FFF2-40B4-BE49-F238E27FC236}">
                <a16:creationId xmlns:a16="http://schemas.microsoft.com/office/drawing/2014/main" id="{D1B4C13D-5A18-5AEA-36B7-4E32F182BE34}"/>
              </a:ext>
            </a:extLst>
          </p:cNvPr>
          <p:cNvSpPr>
            <a:spLocks noGrp="1"/>
          </p:cNvSpPr>
          <p:nvPr>
            <p:ph type="dt" sz="half" idx="14"/>
          </p:nvPr>
        </p:nvSpPr>
        <p:spPr>
          <a:xfrm>
            <a:off x="796022" y="6454635"/>
            <a:ext cx="2132276" cy="266840"/>
          </a:xfrm>
        </p:spPr>
        <p:txBody>
          <a:bodyPr/>
          <a:lstStyle>
            <a:lvl1pPr>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pPr/>
              <a:t>April 21, 2024</a:t>
            </a:fld>
            <a:endParaRPr lang="en-US" dirty="0"/>
          </a:p>
        </p:txBody>
      </p:sp>
    </p:spTree>
    <p:extLst>
      <p:ext uri="{BB962C8B-B14F-4D97-AF65-F5344CB8AC3E}">
        <p14:creationId xmlns:p14="http://schemas.microsoft.com/office/powerpoint/2010/main" val="42336695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Mục lục">
    <p:spTree>
      <p:nvGrpSpPr>
        <p:cNvPr id="1" name=""/>
        <p:cNvGrpSpPr/>
        <p:nvPr/>
      </p:nvGrpSpPr>
      <p:grpSpPr>
        <a:xfrm>
          <a:off x="0" y="0"/>
          <a:ext cx="0" cy="0"/>
          <a:chOff x="0" y="0"/>
          <a:chExt cx="0" cy="0"/>
        </a:xfrm>
      </p:grpSpPr>
      <p:sp>
        <p:nvSpPr>
          <p:cNvPr id="80" name="Isosceles Triangle 12">
            <a:extLst>
              <a:ext uri="{FF2B5EF4-FFF2-40B4-BE49-F238E27FC236}">
                <a16:creationId xmlns:a16="http://schemas.microsoft.com/office/drawing/2014/main" id="{72826670-EA95-0D41-31A4-F445474455F7}"/>
              </a:ext>
            </a:extLst>
          </p:cNvPr>
          <p:cNvSpPr/>
          <p:nvPr userDrawn="1"/>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1" name="Group 80">
            <a:extLst>
              <a:ext uri="{FF2B5EF4-FFF2-40B4-BE49-F238E27FC236}">
                <a16:creationId xmlns:a16="http://schemas.microsoft.com/office/drawing/2014/main" id="{FC178CED-135F-0B63-CD69-F01713607F73}"/>
              </a:ext>
            </a:extLst>
          </p:cNvPr>
          <p:cNvGrpSpPr/>
          <p:nvPr userDrawn="1"/>
        </p:nvGrpSpPr>
        <p:grpSpPr>
          <a:xfrm flipH="1" flipV="1">
            <a:off x="9263702" y="5930537"/>
            <a:ext cx="2869771" cy="886519"/>
            <a:chOff x="44879" y="27296"/>
            <a:chExt cx="2869771" cy="886519"/>
          </a:xfrm>
          <a:solidFill>
            <a:srgbClr val="0072FF"/>
          </a:solidFill>
        </p:grpSpPr>
        <p:cxnSp>
          <p:nvCxnSpPr>
            <p:cNvPr id="82" name="Straight Connector 81">
              <a:extLst>
                <a:ext uri="{FF2B5EF4-FFF2-40B4-BE49-F238E27FC236}">
                  <a16:creationId xmlns:a16="http://schemas.microsoft.com/office/drawing/2014/main" id="{D0441D2A-FC76-0844-7EA5-B632F99E2E0D}"/>
                </a:ext>
              </a:extLst>
            </p:cNvPr>
            <p:cNvCxnSpPr>
              <a:cxnSpLocks/>
            </p:cNvCxnSpPr>
            <p:nvPr/>
          </p:nvCxnSpPr>
          <p:spPr>
            <a:xfrm flipH="1">
              <a:off x="766351" y="34631"/>
              <a:ext cx="2148299" cy="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E0C48DFD-25B4-6AF8-8C94-3C8B50B23C18}"/>
                </a:ext>
              </a:extLst>
            </p:cNvPr>
            <p:cNvCxnSpPr>
              <a:cxnSpLocks/>
            </p:cNvCxnSpPr>
            <p:nvPr/>
          </p:nvCxnSpPr>
          <p:spPr>
            <a:xfrm flipH="1">
              <a:off x="44879" y="27296"/>
              <a:ext cx="737495" cy="64421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0CA6305E-4BEE-7CC0-EE96-38938F764389}"/>
                </a:ext>
              </a:extLst>
            </p:cNvPr>
            <p:cNvCxnSpPr>
              <a:cxnSpLocks/>
            </p:cNvCxnSpPr>
            <p:nvPr/>
          </p:nvCxnSpPr>
          <p:spPr>
            <a:xfrm flipH="1" flipV="1">
              <a:off x="52214" y="654128"/>
              <a:ext cx="0" cy="259687"/>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grpSp>
      <p:sp>
        <p:nvSpPr>
          <p:cNvPr id="4" name="Footer Placeholder 3">
            <a:extLst>
              <a:ext uri="{FF2B5EF4-FFF2-40B4-BE49-F238E27FC236}">
                <a16:creationId xmlns:a16="http://schemas.microsoft.com/office/drawing/2014/main" id="{745F02F9-19CB-F108-6F35-1A02C9BECF5E}"/>
              </a:ext>
            </a:extLst>
          </p:cNvPr>
          <p:cNvSpPr>
            <a:spLocks noGrp="1"/>
          </p:cNvSpPr>
          <p:nvPr>
            <p:ph type="ftr" sz="quarter" idx="11"/>
          </p:nvPr>
        </p:nvSpPr>
        <p:spPr>
          <a:xfrm>
            <a:off x="3465443" y="6466114"/>
            <a:ext cx="5261114" cy="255361"/>
          </a:xfrm>
        </p:spPr>
        <p:txBody>
          <a:bodyPr/>
          <a:lstStyle>
            <a:lvl1pPr>
              <a:defRPr sz="1100">
                <a:latin typeface="Arial" panose="020B0604020202020204" pitchFamily="34" charset="0"/>
                <a:cs typeface="Arial" panose="020B0604020202020204" pitchFamily="34" charset="0"/>
              </a:defRPr>
            </a:lvl1pPr>
          </a:lstStyle>
          <a:p>
            <a:r>
              <a:rPr lang="vi-VN" dirty="0"/>
              <a:t>Thực hiện bởi Trường Đại học Công nghệ Thông tin, ĐHQG-HCM</a:t>
            </a:r>
            <a:endParaRPr lang="en-VN" dirty="0"/>
          </a:p>
        </p:txBody>
      </p:sp>
      <p:grpSp>
        <p:nvGrpSpPr>
          <p:cNvPr id="36" name="Group 35">
            <a:extLst>
              <a:ext uri="{FF2B5EF4-FFF2-40B4-BE49-F238E27FC236}">
                <a16:creationId xmlns:a16="http://schemas.microsoft.com/office/drawing/2014/main" id="{11E5AAB4-F14E-4F9C-E123-7635A7EF6275}"/>
              </a:ext>
            </a:extLst>
          </p:cNvPr>
          <p:cNvGrpSpPr/>
          <p:nvPr userDrawn="1"/>
        </p:nvGrpSpPr>
        <p:grpSpPr>
          <a:xfrm>
            <a:off x="-1259888" y="1121391"/>
            <a:ext cx="4841288" cy="5054000"/>
            <a:chOff x="-1259888" y="901609"/>
            <a:chExt cx="4841288" cy="5054000"/>
          </a:xfrm>
        </p:grpSpPr>
        <p:grpSp>
          <p:nvGrpSpPr>
            <p:cNvPr id="6" name="Group 5">
              <a:extLst>
                <a:ext uri="{FF2B5EF4-FFF2-40B4-BE49-F238E27FC236}">
                  <a16:creationId xmlns:a16="http://schemas.microsoft.com/office/drawing/2014/main" id="{A2E31223-939B-D84C-4ACC-CDC6CEB64FEF}"/>
                </a:ext>
              </a:extLst>
            </p:cNvPr>
            <p:cNvGrpSpPr/>
            <p:nvPr userDrawn="1"/>
          </p:nvGrpSpPr>
          <p:grpSpPr>
            <a:xfrm>
              <a:off x="-1225468" y="901609"/>
              <a:ext cx="4806868" cy="664514"/>
              <a:chOff x="0" y="901609"/>
              <a:chExt cx="4806868" cy="664514"/>
            </a:xfrm>
          </p:grpSpPr>
          <p:cxnSp>
            <p:nvCxnSpPr>
              <p:cNvPr id="7" name="Straight Connector 6">
                <a:extLst>
                  <a:ext uri="{FF2B5EF4-FFF2-40B4-BE49-F238E27FC236}">
                    <a16:creationId xmlns:a16="http://schemas.microsoft.com/office/drawing/2014/main" id="{2DB06BED-50E6-B29E-B929-6D7717DB8E5E}"/>
                  </a:ext>
                </a:extLst>
              </p:cNvPr>
              <p:cNvCxnSpPr/>
              <p:nvPr/>
            </p:nvCxnSpPr>
            <p:spPr>
              <a:xfrm>
                <a:off x="0" y="1566123"/>
                <a:ext cx="253393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58C69F9-0B5B-5D9E-7034-C8237177065E}"/>
                  </a:ext>
                </a:extLst>
              </p:cNvPr>
              <p:cNvCxnSpPr>
                <a:cxnSpLocks/>
              </p:cNvCxnSpPr>
              <p:nvPr/>
            </p:nvCxnSpPr>
            <p:spPr>
              <a:xfrm flipV="1">
                <a:off x="2520285" y="1059987"/>
                <a:ext cx="591405" cy="506136"/>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F5F07FD-916F-9286-7ADA-4A2252FCBB28}"/>
                  </a:ext>
                </a:extLst>
              </p:cNvPr>
              <p:cNvCxnSpPr>
                <a:cxnSpLocks/>
              </p:cNvCxnSpPr>
              <p:nvPr/>
            </p:nvCxnSpPr>
            <p:spPr>
              <a:xfrm>
                <a:off x="3111690" y="1059987"/>
                <a:ext cx="13784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23A8BE15-FC97-76D3-BF6B-29B7114D4716}"/>
                  </a:ext>
                </a:extLst>
              </p:cNvPr>
              <p:cNvSpPr/>
              <p:nvPr/>
            </p:nvSpPr>
            <p:spPr>
              <a:xfrm>
                <a:off x="4490113" y="901609"/>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1" name="Group 10">
              <a:extLst>
                <a:ext uri="{FF2B5EF4-FFF2-40B4-BE49-F238E27FC236}">
                  <a16:creationId xmlns:a16="http://schemas.microsoft.com/office/drawing/2014/main" id="{04AB711F-106D-5EA6-AAFA-CF1A979FF6F9}"/>
                </a:ext>
              </a:extLst>
            </p:cNvPr>
            <p:cNvGrpSpPr/>
            <p:nvPr userDrawn="1"/>
          </p:nvGrpSpPr>
          <p:grpSpPr>
            <a:xfrm flipV="1">
              <a:off x="-1225468" y="5291095"/>
              <a:ext cx="4806868" cy="664514"/>
              <a:chOff x="0" y="1232525"/>
              <a:chExt cx="4806868" cy="664514"/>
            </a:xfrm>
          </p:grpSpPr>
          <p:cxnSp>
            <p:nvCxnSpPr>
              <p:cNvPr id="12" name="Straight Connector 11">
                <a:extLst>
                  <a:ext uri="{FF2B5EF4-FFF2-40B4-BE49-F238E27FC236}">
                    <a16:creationId xmlns:a16="http://schemas.microsoft.com/office/drawing/2014/main" id="{5660A401-E892-4348-0DC3-086E4EF0B6E4}"/>
                  </a:ext>
                </a:extLst>
              </p:cNvPr>
              <p:cNvCxnSpPr/>
              <p:nvPr/>
            </p:nvCxnSpPr>
            <p:spPr>
              <a:xfrm>
                <a:off x="0" y="1897039"/>
                <a:ext cx="253393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AFDB122-E638-017C-654A-F8EC6AB0B27F}"/>
                  </a:ext>
                </a:extLst>
              </p:cNvPr>
              <p:cNvCxnSpPr>
                <a:cxnSpLocks/>
              </p:cNvCxnSpPr>
              <p:nvPr/>
            </p:nvCxnSpPr>
            <p:spPr>
              <a:xfrm flipV="1">
                <a:off x="2520285" y="1390903"/>
                <a:ext cx="591405" cy="506136"/>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C676F38-72FE-4F76-7E67-580148C08A51}"/>
                  </a:ext>
                </a:extLst>
              </p:cNvPr>
              <p:cNvCxnSpPr>
                <a:cxnSpLocks/>
              </p:cNvCxnSpPr>
              <p:nvPr/>
            </p:nvCxnSpPr>
            <p:spPr>
              <a:xfrm>
                <a:off x="3111690" y="1390903"/>
                <a:ext cx="13784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B7E06E3C-C182-FD6B-BB7B-4847F4323944}"/>
                  </a:ext>
                </a:extLst>
              </p:cNvPr>
              <p:cNvSpPr/>
              <p:nvPr/>
            </p:nvSpPr>
            <p:spPr>
              <a:xfrm>
                <a:off x="4490113" y="1232525"/>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821F68F9-560D-A608-4130-5D9040FE3F01}"/>
                </a:ext>
              </a:extLst>
            </p:cNvPr>
            <p:cNvGrpSpPr/>
            <p:nvPr userDrawn="1"/>
          </p:nvGrpSpPr>
          <p:grpSpPr>
            <a:xfrm>
              <a:off x="-1225469" y="1860637"/>
              <a:ext cx="3835321" cy="547270"/>
              <a:chOff x="-1" y="1860637"/>
              <a:chExt cx="3835321" cy="547270"/>
            </a:xfrm>
          </p:grpSpPr>
          <p:sp>
            <p:nvSpPr>
              <p:cNvPr id="17" name="Oval 16">
                <a:extLst>
                  <a:ext uri="{FF2B5EF4-FFF2-40B4-BE49-F238E27FC236}">
                    <a16:creationId xmlns:a16="http://schemas.microsoft.com/office/drawing/2014/main" id="{A6A5574E-F30D-A49F-E874-231C445514E4}"/>
                  </a:ext>
                </a:extLst>
              </p:cNvPr>
              <p:cNvSpPr/>
              <p:nvPr/>
            </p:nvSpPr>
            <p:spPr>
              <a:xfrm>
                <a:off x="3518565" y="1860637"/>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8" name="Straight Connector 17">
                <a:extLst>
                  <a:ext uri="{FF2B5EF4-FFF2-40B4-BE49-F238E27FC236}">
                    <a16:creationId xmlns:a16="http://schemas.microsoft.com/office/drawing/2014/main" id="{1AABF66E-DE89-B1F6-062E-2BC96ADE0530}"/>
                  </a:ext>
                </a:extLst>
              </p:cNvPr>
              <p:cNvCxnSpPr/>
              <p:nvPr/>
            </p:nvCxnSpPr>
            <p:spPr>
              <a:xfrm>
                <a:off x="-1" y="2407907"/>
                <a:ext cx="1985654"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B0E2531-6E1E-6A7F-6704-D0334B1AB6C8}"/>
                  </a:ext>
                </a:extLst>
              </p:cNvPr>
              <p:cNvCxnSpPr>
                <a:cxnSpLocks/>
              </p:cNvCxnSpPr>
              <p:nvPr/>
            </p:nvCxnSpPr>
            <p:spPr>
              <a:xfrm flipV="1">
                <a:off x="1974958" y="2019015"/>
                <a:ext cx="463440" cy="388892"/>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F6A1DDC-0D65-0297-E1E5-DC4B2441C524}"/>
                  </a:ext>
                </a:extLst>
              </p:cNvPr>
              <p:cNvCxnSpPr>
                <a:cxnSpLocks/>
              </p:cNvCxnSpPr>
              <p:nvPr/>
            </p:nvCxnSpPr>
            <p:spPr>
              <a:xfrm>
                <a:off x="2438398" y="2019015"/>
                <a:ext cx="1080167"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21" name="Group 20">
              <a:extLst>
                <a:ext uri="{FF2B5EF4-FFF2-40B4-BE49-F238E27FC236}">
                  <a16:creationId xmlns:a16="http://schemas.microsoft.com/office/drawing/2014/main" id="{C25C9018-B01E-F47F-3802-C002B3E7B2AF}"/>
                </a:ext>
              </a:extLst>
            </p:cNvPr>
            <p:cNvGrpSpPr/>
            <p:nvPr userDrawn="1"/>
          </p:nvGrpSpPr>
          <p:grpSpPr>
            <a:xfrm flipV="1">
              <a:off x="-1259888" y="4408929"/>
              <a:ext cx="3835321" cy="547270"/>
              <a:chOff x="-1" y="1860637"/>
              <a:chExt cx="3835321" cy="547270"/>
            </a:xfrm>
          </p:grpSpPr>
          <p:sp>
            <p:nvSpPr>
              <p:cNvPr id="22" name="Oval 21">
                <a:extLst>
                  <a:ext uri="{FF2B5EF4-FFF2-40B4-BE49-F238E27FC236}">
                    <a16:creationId xmlns:a16="http://schemas.microsoft.com/office/drawing/2014/main" id="{17C82ECD-21F2-F43B-6992-AE7FB9F2798F}"/>
                  </a:ext>
                </a:extLst>
              </p:cNvPr>
              <p:cNvSpPr/>
              <p:nvPr/>
            </p:nvSpPr>
            <p:spPr>
              <a:xfrm>
                <a:off x="3518565" y="1860637"/>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3" name="Straight Connector 22">
                <a:extLst>
                  <a:ext uri="{FF2B5EF4-FFF2-40B4-BE49-F238E27FC236}">
                    <a16:creationId xmlns:a16="http://schemas.microsoft.com/office/drawing/2014/main" id="{99F69DC7-3AE7-E60B-2377-4B4F72314B92}"/>
                  </a:ext>
                </a:extLst>
              </p:cNvPr>
              <p:cNvCxnSpPr/>
              <p:nvPr/>
            </p:nvCxnSpPr>
            <p:spPr>
              <a:xfrm>
                <a:off x="-1" y="2407907"/>
                <a:ext cx="1985654"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0E27743B-09AF-DFA3-B333-99F4D9A43DFB}"/>
                  </a:ext>
                </a:extLst>
              </p:cNvPr>
              <p:cNvCxnSpPr>
                <a:cxnSpLocks/>
              </p:cNvCxnSpPr>
              <p:nvPr/>
            </p:nvCxnSpPr>
            <p:spPr>
              <a:xfrm flipV="1">
                <a:off x="1974958" y="2019015"/>
                <a:ext cx="463440" cy="388892"/>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9F40737-164C-459C-2ABE-C4DE4A29E373}"/>
                  </a:ext>
                </a:extLst>
              </p:cNvPr>
              <p:cNvCxnSpPr>
                <a:cxnSpLocks/>
              </p:cNvCxnSpPr>
              <p:nvPr/>
            </p:nvCxnSpPr>
            <p:spPr>
              <a:xfrm>
                <a:off x="2438398" y="2019015"/>
                <a:ext cx="1080167"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26" name="Group 25">
              <a:extLst>
                <a:ext uri="{FF2B5EF4-FFF2-40B4-BE49-F238E27FC236}">
                  <a16:creationId xmlns:a16="http://schemas.microsoft.com/office/drawing/2014/main" id="{74A28006-5F76-1896-7905-6715849C97AC}"/>
                </a:ext>
              </a:extLst>
            </p:cNvPr>
            <p:cNvGrpSpPr/>
            <p:nvPr userDrawn="1"/>
          </p:nvGrpSpPr>
          <p:grpSpPr>
            <a:xfrm>
              <a:off x="-1252333" y="2715185"/>
              <a:ext cx="2776521" cy="436736"/>
              <a:chOff x="-26865" y="2715185"/>
              <a:chExt cx="2776521" cy="436736"/>
            </a:xfrm>
          </p:grpSpPr>
          <p:cxnSp>
            <p:nvCxnSpPr>
              <p:cNvPr id="27" name="Straight Connector 26">
                <a:extLst>
                  <a:ext uri="{FF2B5EF4-FFF2-40B4-BE49-F238E27FC236}">
                    <a16:creationId xmlns:a16="http://schemas.microsoft.com/office/drawing/2014/main" id="{02985FB7-4D54-A096-221C-AB21916398BD}"/>
                  </a:ext>
                </a:extLst>
              </p:cNvPr>
              <p:cNvCxnSpPr/>
              <p:nvPr/>
            </p:nvCxnSpPr>
            <p:spPr>
              <a:xfrm>
                <a:off x="-26865" y="3151921"/>
                <a:ext cx="14027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DDEC85B-E1F4-38FE-0E5C-E5850D2C995F}"/>
                  </a:ext>
                </a:extLst>
              </p:cNvPr>
              <p:cNvCxnSpPr>
                <a:cxnSpLocks/>
              </p:cNvCxnSpPr>
              <p:nvPr/>
            </p:nvCxnSpPr>
            <p:spPr>
              <a:xfrm flipV="1">
                <a:off x="1368303" y="2877197"/>
                <a:ext cx="327387" cy="274724"/>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DE6622AE-52DB-9FD4-5FA6-F8C5F2606706}"/>
                  </a:ext>
                </a:extLst>
              </p:cNvPr>
              <p:cNvCxnSpPr>
                <a:cxnSpLocks/>
              </p:cNvCxnSpPr>
              <p:nvPr/>
            </p:nvCxnSpPr>
            <p:spPr>
              <a:xfrm>
                <a:off x="1695690" y="2877197"/>
                <a:ext cx="763061"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69264108-0C61-CCC7-04EF-695A004F44BA}"/>
                  </a:ext>
                </a:extLst>
              </p:cNvPr>
              <p:cNvSpPr/>
              <p:nvPr/>
            </p:nvSpPr>
            <p:spPr>
              <a:xfrm>
                <a:off x="2432901" y="2715185"/>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1" name="Group 30">
              <a:extLst>
                <a:ext uri="{FF2B5EF4-FFF2-40B4-BE49-F238E27FC236}">
                  <a16:creationId xmlns:a16="http://schemas.microsoft.com/office/drawing/2014/main" id="{A1F8E5A4-A013-ABE4-F3E5-36BBEE45994B}"/>
                </a:ext>
              </a:extLst>
            </p:cNvPr>
            <p:cNvGrpSpPr/>
            <p:nvPr userDrawn="1"/>
          </p:nvGrpSpPr>
          <p:grpSpPr>
            <a:xfrm>
              <a:off x="-1225468" y="3843225"/>
              <a:ext cx="2802371" cy="433101"/>
              <a:chOff x="-34420" y="3843718"/>
              <a:chExt cx="2802371" cy="433101"/>
            </a:xfrm>
          </p:grpSpPr>
          <p:cxnSp>
            <p:nvCxnSpPr>
              <p:cNvPr id="32" name="Straight Connector 31">
                <a:extLst>
                  <a:ext uri="{FF2B5EF4-FFF2-40B4-BE49-F238E27FC236}">
                    <a16:creationId xmlns:a16="http://schemas.microsoft.com/office/drawing/2014/main" id="{92CA967D-77D2-F89E-9996-2B247282DA6A}"/>
                  </a:ext>
                </a:extLst>
              </p:cNvPr>
              <p:cNvCxnSpPr/>
              <p:nvPr/>
            </p:nvCxnSpPr>
            <p:spPr>
              <a:xfrm flipV="1">
                <a:off x="-34420" y="3843718"/>
                <a:ext cx="14027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D106A27-9FB0-65D0-E42B-5A9345BBE7A8}"/>
                  </a:ext>
                </a:extLst>
              </p:cNvPr>
              <p:cNvCxnSpPr>
                <a:cxnSpLocks/>
              </p:cNvCxnSpPr>
              <p:nvPr/>
            </p:nvCxnSpPr>
            <p:spPr>
              <a:xfrm>
                <a:off x="1360748" y="3843718"/>
                <a:ext cx="327387" cy="274724"/>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BDA310D0-0781-F61D-3188-05A327C3E38C}"/>
                  </a:ext>
                </a:extLst>
              </p:cNvPr>
              <p:cNvCxnSpPr>
                <a:cxnSpLocks/>
              </p:cNvCxnSpPr>
              <p:nvPr/>
            </p:nvCxnSpPr>
            <p:spPr>
              <a:xfrm flipV="1">
                <a:off x="1688135" y="4118442"/>
                <a:ext cx="763061"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35" name="Oval 34">
                <a:extLst>
                  <a:ext uri="{FF2B5EF4-FFF2-40B4-BE49-F238E27FC236}">
                    <a16:creationId xmlns:a16="http://schemas.microsoft.com/office/drawing/2014/main" id="{74C60948-61FC-2116-FCE6-F05185B2432A}"/>
                  </a:ext>
                </a:extLst>
              </p:cNvPr>
              <p:cNvSpPr/>
              <p:nvPr/>
            </p:nvSpPr>
            <p:spPr>
              <a:xfrm>
                <a:off x="2451196" y="3960064"/>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37" name="Group 36">
            <a:extLst>
              <a:ext uri="{FF2B5EF4-FFF2-40B4-BE49-F238E27FC236}">
                <a16:creationId xmlns:a16="http://schemas.microsoft.com/office/drawing/2014/main" id="{A9D55038-C512-E74F-0316-32FA44AC85DA}"/>
              </a:ext>
            </a:extLst>
          </p:cNvPr>
          <p:cNvGrpSpPr/>
          <p:nvPr userDrawn="1"/>
        </p:nvGrpSpPr>
        <p:grpSpPr>
          <a:xfrm flipH="1">
            <a:off x="8607643" y="1121391"/>
            <a:ext cx="4841288" cy="5054000"/>
            <a:chOff x="-1259888" y="901609"/>
            <a:chExt cx="4841288" cy="5054000"/>
          </a:xfrm>
        </p:grpSpPr>
        <p:grpSp>
          <p:nvGrpSpPr>
            <p:cNvPr id="38" name="Group 37">
              <a:extLst>
                <a:ext uri="{FF2B5EF4-FFF2-40B4-BE49-F238E27FC236}">
                  <a16:creationId xmlns:a16="http://schemas.microsoft.com/office/drawing/2014/main" id="{CC8D5E8A-34C2-98F5-01F2-D2CAA76A0A9E}"/>
                </a:ext>
              </a:extLst>
            </p:cNvPr>
            <p:cNvGrpSpPr/>
            <p:nvPr userDrawn="1"/>
          </p:nvGrpSpPr>
          <p:grpSpPr>
            <a:xfrm>
              <a:off x="-1225468" y="901609"/>
              <a:ext cx="4806868" cy="664514"/>
              <a:chOff x="0" y="901609"/>
              <a:chExt cx="4806868" cy="664514"/>
            </a:xfrm>
          </p:grpSpPr>
          <p:cxnSp>
            <p:nvCxnSpPr>
              <p:cNvPr id="64" name="Straight Connector 63">
                <a:extLst>
                  <a:ext uri="{FF2B5EF4-FFF2-40B4-BE49-F238E27FC236}">
                    <a16:creationId xmlns:a16="http://schemas.microsoft.com/office/drawing/2014/main" id="{E6EEF1F3-D1D1-DEB4-E491-3B5E510B766B}"/>
                  </a:ext>
                </a:extLst>
              </p:cNvPr>
              <p:cNvCxnSpPr/>
              <p:nvPr/>
            </p:nvCxnSpPr>
            <p:spPr>
              <a:xfrm>
                <a:off x="0" y="1566123"/>
                <a:ext cx="253393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6BAF104D-64C5-1843-2B4A-2AEDAF0D6175}"/>
                  </a:ext>
                </a:extLst>
              </p:cNvPr>
              <p:cNvCxnSpPr>
                <a:cxnSpLocks/>
              </p:cNvCxnSpPr>
              <p:nvPr/>
            </p:nvCxnSpPr>
            <p:spPr>
              <a:xfrm flipV="1">
                <a:off x="2520285" y="1059987"/>
                <a:ext cx="591405" cy="506136"/>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591F5277-EE93-31FB-AAD8-F64F97837DDA}"/>
                  </a:ext>
                </a:extLst>
              </p:cNvPr>
              <p:cNvCxnSpPr>
                <a:cxnSpLocks/>
              </p:cNvCxnSpPr>
              <p:nvPr/>
            </p:nvCxnSpPr>
            <p:spPr>
              <a:xfrm>
                <a:off x="3111690" y="1059987"/>
                <a:ext cx="13784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67" name="Oval 66">
                <a:extLst>
                  <a:ext uri="{FF2B5EF4-FFF2-40B4-BE49-F238E27FC236}">
                    <a16:creationId xmlns:a16="http://schemas.microsoft.com/office/drawing/2014/main" id="{36A6A4EA-512C-BD8D-6200-C1B6D161AF96}"/>
                  </a:ext>
                </a:extLst>
              </p:cNvPr>
              <p:cNvSpPr/>
              <p:nvPr/>
            </p:nvSpPr>
            <p:spPr>
              <a:xfrm>
                <a:off x="4490113" y="901609"/>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9" name="Group 38">
              <a:extLst>
                <a:ext uri="{FF2B5EF4-FFF2-40B4-BE49-F238E27FC236}">
                  <a16:creationId xmlns:a16="http://schemas.microsoft.com/office/drawing/2014/main" id="{48417325-5CBC-9245-EBBF-5495BB114BB9}"/>
                </a:ext>
              </a:extLst>
            </p:cNvPr>
            <p:cNvGrpSpPr/>
            <p:nvPr userDrawn="1"/>
          </p:nvGrpSpPr>
          <p:grpSpPr>
            <a:xfrm flipV="1">
              <a:off x="-1225468" y="5291095"/>
              <a:ext cx="4806868" cy="664514"/>
              <a:chOff x="0" y="1232525"/>
              <a:chExt cx="4806868" cy="664514"/>
            </a:xfrm>
          </p:grpSpPr>
          <p:cxnSp>
            <p:nvCxnSpPr>
              <p:cNvPr id="60" name="Straight Connector 59">
                <a:extLst>
                  <a:ext uri="{FF2B5EF4-FFF2-40B4-BE49-F238E27FC236}">
                    <a16:creationId xmlns:a16="http://schemas.microsoft.com/office/drawing/2014/main" id="{2ABA872F-CF9E-97F0-0BEB-43E95F81970F}"/>
                  </a:ext>
                </a:extLst>
              </p:cNvPr>
              <p:cNvCxnSpPr/>
              <p:nvPr/>
            </p:nvCxnSpPr>
            <p:spPr>
              <a:xfrm>
                <a:off x="0" y="1897039"/>
                <a:ext cx="253393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CE558871-BCDE-178B-024F-81DBE95811F1}"/>
                  </a:ext>
                </a:extLst>
              </p:cNvPr>
              <p:cNvCxnSpPr>
                <a:cxnSpLocks/>
              </p:cNvCxnSpPr>
              <p:nvPr/>
            </p:nvCxnSpPr>
            <p:spPr>
              <a:xfrm flipV="1">
                <a:off x="2520285" y="1390903"/>
                <a:ext cx="591405" cy="506136"/>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13BB9F5-0BB8-705B-E8A1-5FA6735325E4}"/>
                  </a:ext>
                </a:extLst>
              </p:cNvPr>
              <p:cNvCxnSpPr>
                <a:cxnSpLocks/>
              </p:cNvCxnSpPr>
              <p:nvPr/>
            </p:nvCxnSpPr>
            <p:spPr>
              <a:xfrm>
                <a:off x="3111690" y="1390903"/>
                <a:ext cx="13784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63" name="Oval 62">
                <a:extLst>
                  <a:ext uri="{FF2B5EF4-FFF2-40B4-BE49-F238E27FC236}">
                    <a16:creationId xmlns:a16="http://schemas.microsoft.com/office/drawing/2014/main" id="{2DF72871-077F-48BE-91AF-DE72A1841D14}"/>
                  </a:ext>
                </a:extLst>
              </p:cNvPr>
              <p:cNvSpPr/>
              <p:nvPr/>
            </p:nvSpPr>
            <p:spPr>
              <a:xfrm>
                <a:off x="4490113" y="1232525"/>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0" name="Group 39">
              <a:extLst>
                <a:ext uri="{FF2B5EF4-FFF2-40B4-BE49-F238E27FC236}">
                  <a16:creationId xmlns:a16="http://schemas.microsoft.com/office/drawing/2014/main" id="{0917CABE-75B7-599D-4246-DCB5968A10A9}"/>
                </a:ext>
              </a:extLst>
            </p:cNvPr>
            <p:cNvGrpSpPr/>
            <p:nvPr userDrawn="1"/>
          </p:nvGrpSpPr>
          <p:grpSpPr>
            <a:xfrm>
              <a:off x="-1225469" y="1860637"/>
              <a:ext cx="3835321" cy="547270"/>
              <a:chOff x="-1" y="1860637"/>
              <a:chExt cx="3835321" cy="547270"/>
            </a:xfrm>
          </p:grpSpPr>
          <p:sp>
            <p:nvSpPr>
              <p:cNvPr id="56" name="Oval 55">
                <a:extLst>
                  <a:ext uri="{FF2B5EF4-FFF2-40B4-BE49-F238E27FC236}">
                    <a16:creationId xmlns:a16="http://schemas.microsoft.com/office/drawing/2014/main" id="{98A88CE2-C346-6A1C-2ECA-F96ED3759F52}"/>
                  </a:ext>
                </a:extLst>
              </p:cNvPr>
              <p:cNvSpPr/>
              <p:nvPr/>
            </p:nvSpPr>
            <p:spPr>
              <a:xfrm>
                <a:off x="3518565" y="1860637"/>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7" name="Straight Connector 56">
                <a:extLst>
                  <a:ext uri="{FF2B5EF4-FFF2-40B4-BE49-F238E27FC236}">
                    <a16:creationId xmlns:a16="http://schemas.microsoft.com/office/drawing/2014/main" id="{5A2C42DA-B857-1726-C8D9-FE4710E5AF27}"/>
                  </a:ext>
                </a:extLst>
              </p:cNvPr>
              <p:cNvCxnSpPr/>
              <p:nvPr/>
            </p:nvCxnSpPr>
            <p:spPr>
              <a:xfrm>
                <a:off x="-1" y="2407907"/>
                <a:ext cx="1985654"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022A1339-07A9-9E34-F0B5-0FC956E053B1}"/>
                  </a:ext>
                </a:extLst>
              </p:cNvPr>
              <p:cNvCxnSpPr>
                <a:cxnSpLocks/>
              </p:cNvCxnSpPr>
              <p:nvPr/>
            </p:nvCxnSpPr>
            <p:spPr>
              <a:xfrm flipV="1">
                <a:off x="1974958" y="2019015"/>
                <a:ext cx="463440" cy="388892"/>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39CB6646-AD5A-592F-1BBF-6F86BE47C2E5}"/>
                  </a:ext>
                </a:extLst>
              </p:cNvPr>
              <p:cNvCxnSpPr>
                <a:cxnSpLocks/>
              </p:cNvCxnSpPr>
              <p:nvPr/>
            </p:nvCxnSpPr>
            <p:spPr>
              <a:xfrm>
                <a:off x="2438398" y="2019015"/>
                <a:ext cx="1080167"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41" name="Group 40">
              <a:extLst>
                <a:ext uri="{FF2B5EF4-FFF2-40B4-BE49-F238E27FC236}">
                  <a16:creationId xmlns:a16="http://schemas.microsoft.com/office/drawing/2014/main" id="{D2335E1C-3065-23F6-E27F-3F0198899BD3}"/>
                </a:ext>
              </a:extLst>
            </p:cNvPr>
            <p:cNvGrpSpPr/>
            <p:nvPr userDrawn="1"/>
          </p:nvGrpSpPr>
          <p:grpSpPr>
            <a:xfrm flipV="1">
              <a:off x="-1259888" y="4408929"/>
              <a:ext cx="3835321" cy="547270"/>
              <a:chOff x="-1" y="1860637"/>
              <a:chExt cx="3835321" cy="547270"/>
            </a:xfrm>
          </p:grpSpPr>
          <p:sp>
            <p:nvSpPr>
              <p:cNvPr id="52" name="Oval 51">
                <a:extLst>
                  <a:ext uri="{FF2B5EF4-FFF2-40B4-BE49-F238E27FC236}">
                    <a16:creationId xmlns:a16="http://schemas.microsoft.com/office/drawing/2014/main" id="{0054D5F9-BD76-DFA5-747D-63210423AF11}"/>
                  </a:ext>
                </a:extLst>
              </p:cNvPr>
              <p:cNvSpPr/>
              <p:nvPr/>
            </p:nvSpPr>
            <p:spPr>
              <a:xfrm>
                <a:off x="3518565" y="1860637"/>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3" name="Straight Connector 52">
                <a:extLst>
                  <a:ext uri="{FF2B5EF4-FFF2-40B4-BE49-F238E27FC236}">
                    <a16:creationId xmlns:a16="http://schemas.microsoft.com/office/drawing/2014/main" id="{CCE92875-704E-A1B5-07E6-FAEFE45DBA51}"/>
                  </a:ext>
                </a:extLst>
              </p:cNvPr>
              <p:cNvCxnSpPr/>
              <p:nvPr/>
            </p:nvCxnSpPr>
            <p:spPr>
              <a:xfrm>
                <a:off x="-1" y="2407907"/>
                <a:ext cx="1985654"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465DD13-4162-48B0-8660-1DA77169F84E}"/>
                  </a:ext>
                </a:extLst>
              </p:cNvPr>
              <p:cNvCxnSpPr>
                <a:cxnSpLocks/>
              </p:cNvCxnSpPr>
              <p:nvPr/>
            </p:nvCxnSpPr>
            <p:spPr>
              <a:xfrm flipV="1">
                <a:off x="1974958" y="2019015"/>
                <a:ext cx="463440" cy="388892"/>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85D16174-2600-C069-974A-6FEA86E0360D}"/>
                  </a:ext>
                </a:extLst>
              </p:cNvPr>
              <p:cNvCxnSpPr>
                <a:cxnSpLocks/>
              </p:cNvCxnSpPr>
              <p:nvPr/>
            </p:nvCxnSpPr>
            <p:spPr>
              <a:xfrm>
                <a:off x="2438398" y="2019015"/>
                <a:ext cx="1080167"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42" name="Group 41">
              <a:extLst>
                <a:ext uri="{FF2B5EF4-FFF2-40B4-BE49-F238E27FC236}">
                  <a16:creationId xmlns:a16="http://schemas.microsoft.com/office/drawing/2014/main" id="{273999E9-4737-2309-371C-9E0670D1FA16}"/>
                </a:ext>
              </a:extLst>
            </p:cNvPr>
            <p:cNvGrpSpPr/>
            <p:nvPr userDrawn="1"/>
          </p:nvGrpSpPr>
          <p:grpSpPr>
            <a:xfrm>
              <a:off x="-1252333" y="2715185"/>
              <a:ext cx="2776521" cy="436736"/>
              <a:chOff x="-26865" y="2715185"/>
              <a:chExt cx="2776521" cy="436736"/>
            </a:xfrm>
          </p:grpSpPr>
          <p:cxnSp>
            <p:nvCxnSpPr>
              <p:cNvPr id="48" name="Straight Connector 47">
                <a:extLst>
                  <a:ext uri="{FF2B5EF4-FFF2-40B4-BE49-F238E27FC236}">
                    <a16:creationId xmlns:a16="http://schemas.microsoft.com/office/drawing/2014/main" id="{F8BEE6AC-D79B-8E2A-ABF5-4EEEA5212958}"/>
                  </a:ext>
                </a:extLst>
              </p:cNvPr>
              <p:cNvCxnSpPr/>
              <p:nvPr/>
            </p:nvCxnSpPr>
            <p:spPr>
              <a:xfrm>
                <a:off x="-26865" y="3151921"/>
                <a:ext cx="14027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D71D58E6-0CF0-201A-6AC4-AC76E73B91AC}"/>
                  </a:ext>
                </a:extLst>
              </p:cNvPr>
              <p:cNvCxnSpPr>
                <a:cxnSpLocks/>
              </p:cNvCxnSpPr>
              <p:nvPr/>
            </p:nvCxnSpPr>
            <p:spPr>
              <a:xfrm flipV="1">
                <a:off x="1368303" y="2877197"/>
                <a:ext cx="327387" cy="274724"/>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03F8ECCF-CC37-3AD1-B56C-A8D4EAB0F408}"/>
                  </a:ext>
                </a:extLst>
              </p:cNvPr>
              <p:cNvCxnSpPr>
                <a:cxnSpLocks/>
              </p:cNvCxnSpPr>
              <p:nvPr/>
            </p:nvCxnSpPr>
            <p:spPr>
              <a:xfrm>
                <a:off x="1695690" y="2877197"/>
                <a:ext cx="763061"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51" name="Oval 50">
                <a:extLst>
                  <a:ext uri="{FF2B5EF4-FFF2-40B4-BE49-F238E27FC236}">
                    <a16:creationId xmlns:a16="http://schemas.microsoft.com/office/drawing/2014/main" id="{31674892-B2C7-136E-8594-C11B8E269F87}"/>
                  </a:ext>
                </a:extLst>
              </p:cNvPr>
              <p:cNvSpPr/>
              <p:nvPr/>
            </p:nvSpPr>
            <p:spPr>
              <a:xfrm>
                <a:off x="2432901" y="2715185"/>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43" name="Group 42">
              <a:extLst>
                <a:ext uri="{FF2B5EF4-FFF2-40B4-BE49-F238E27FC236}">
                  <a16:creationId xmlns:a16="http://schemas.microsoft.com/office/drawing/2014/main" id="{831C3464-516C-C4D2-7CEC-A8FAE9B21FCD}"/>
                </a:ext>
              </a:extLst>
            </p:cNvPr>
            <p:cNvGrpSpPr/>
            <p:nvPr userDrawn="1"/>
          </p:nvGrpSpPr>
          <p:grpSpPr>
            <a:xfrm>
              <a:off x="-1225468" y="3843225"/>
              <a:ext cx="2802371" cy="433101"/>
              <a:chOff x="-34420" y="3843718"/>
              <a:chExt cx="2802371" cy="433101"/>
            </a:xfrm>
          </p:grpSpPr>
          <p:cxnSp>
            <p:nvCxnSpPr>
              <p:cNvPr id="44" name="Straight Connector 43">
                <a:extLst>
                  <a:ext uri="{FF2B5EF4-FFF2-40B4-BE49-F238E27FC236}">
                    <a16:creationId xmlns:a16="http://schemas.microsoft.com/office/drawing/2014/main" id="{408CCADE-8B1D-0E30-0A68-1F46B13BC757}"/>
                  </a:ext>
                </a:extLst>
              </p:cNvPr>
              <p:cNvCxnSpPr/>
              <p:nvPr/>
            </p:nvCxnSpPr>
            <p:spPr>
              <a:xfrm flipV="1">
                <a:off x="-34420" y="3843718"/>
                <a:ext cx="14027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F817E267-84D9-FC0C-E5D5-1DD3288DCC70}"/>
                  </a:ext>
                </a:extLst>
              </p:cNvPr>
              <p:cNvCxnSpPr>
                <a:cxnSpLocks/>
              </p:cNvCxnSpPr>
              <p:nvPr/>
            </p:nvCxnSpPr>
            <p:spPr>
              <a:xfrm>
                <a:off x="1360748" y="3843718"/>
                <a:ext cx="327387" cy="274724"/>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CA383401-6B48-1369-8E23-310FBDF1E0DF}"/>
                  </a:ext>
                </a:extLst>
              </p:cNvPr>
              <p:cNvCxnSpPr>
                <a:cxnSpLocks/>
              </p:cNvCxnSpPr>
              <p:nvPr/>
            </p:nvCxnSpPr>
            <p:spPr>
              <a:xfrm flipV="1">
                <a:off x="1688135" y="4118442"/>
                <a:ext cx="763061"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47" name="Oval 46">
                <a:extLst>
                  <a:ext uri="{FF2B5EF4-FFF2-40B4-BE49-F238E27FC236}">
                    <a16:creationId xmlns:a16="http://schemas.microsoft.com/office/drawing/2014/main" id="{715E2EA8-3EC1-AFA6-AC3A-1F5D01C1902E}"/>
                  </a:ext>
                </a:extLst>
              </p:cNvPr>
              <p:cNvSpPr/>
              <p:nvPr/>
            </p:nvSpPr>
            <p:spPr>
              <a:xfrm>
                <a:off x="2451196" y="3960064"/>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69" name="Oval 68">
            <a:extLst>
              <a:ext uri="{FF2B5EF4-FFF2-40B4-BE49-F238E27FC236}">
                <a16:creationId xmlns:a16="http://schemas.microsoft.com/office/drawing/2014/main" id="{18EDBFE5-F6A7-D377-B524-2A5E293A8580}"/>
              </a:ext>
            </a:extLst>
          </p:cNvPr>
          <p:cNvSpPr/>
          <p:nvPr userDrawn="1"/>
        </p:nvSpPr>
        <p:spPr>
          <a:xfrm>
            <a:off x="11924591" y="6583140"/>
            <a:ext cx="233916" cy="233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F24298E1-B4F3-31E6-9C4D-5AE100CD89B6}"/>
              </a:ext>
            </a:extLst>
          </p:cNvPr>
          <p:cNvSpPr>
            <a:spLocks noGrp="1"/>
          </p:cNvSpPr>
          <p:nvPr>
            <p:ph type="sldNum" sz="quarter" idx="12"/>
          </p:nvPr>
        </p:nvSpPr>
        <p:spPr>
          <a:xfrm>
            <a:off x="11900400" y="6566400"/>
            <a:ext cx="291600" cy="291600"/>
          </a:xfrm>
        </p:spPr>
        <p:txBody>
          <a:bodyPr/>
          <a:lstStyle>
            <a:lvl1pPr algn="ctr">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sp>
        <p:nvSpPr>
          <p:cNvPr id="70" name="TextBox 69">
            <a:extLst>
              <a:ext uri="{FF2B5EF4-FFF2-40B4-BE49-F238E27FC236}">
                <a16:creationId xmlns:a16="http://schemas.microsoft.com/office/drawing/2014/main" id="{03E32705-3D72-A324-09E4-62DB4F73E8B8}"/>
              </a:ext>
            </a:extLst>
          </p:cNvPr>
          <p:cNvSpPr txBox="1"/>
          <p:nvPr userDrawn="1"/>
        </p:nvSpPr>
        <p:spPr>
          <a:xfrm>
            <a:off x="4702630" y="640081"/>
            <a:ext cx="3028822" cy="646331"/>
          </a:xfrm>
          <a:prstGeom prst="rect">
            <a:avLst/>
          </a:prstGeom>
          <a:gradFill>
            <a:gsLst>
              <a:gs pos="0">
                <a:srgbClr val="0072FF"/>
              </a:gs>
              <a:gs pos="100000">
                <a:srgbClr val="00C6FF"/>
              </a:gs>
            </a:gsLst>
            <a:path path="shape">
              <a:fillToRect l="50000" t="50000" r="50000" b="50000"/>
            </a:path>
          </a:gradFill>
        </p:spPr>
        <p:txBody>
          <a:bodyPr wrap="square" rtlCol="0" anchor="ctr">
            <a:spAutoFit/>
          </a:bodyPr>
          <a:lstStyle/>
          <a:p>
            <a:pPr algn="ctr"/>
            <a:r>
              <a:rPr lang="en-VN" sz="3600" b="1" dirty="0">
                <a:solidFill>
                  <a:schemeClr val="bg1"/>
                </a:solidFill>
                <a:latin typeface="Times New Roman" panose="02020603050405020304" pitchFamily="18" charset="0"/>
                <a:cs typeface="Times New Roman" panose="02020603050405020304" pitchFamily="18" charset="0"/>
              </a:rPr>
              <a:t>NỘI DUNG</a:t>
            </a:r>
          </a:p>
        </p:txBody>
      </p:sp>
      <p:sp>
        <p:nvSpPr>
          <p:cNvPr id="73" name="Text Placeholder 72">
            <a:extLst>
              <a:ext uri="{FF2B5EF4-FFF2-40B4-BE49-F238E27FC236}">
                <a16:creationId xmlns:a16="http://schemas.microsoft.com/office/drawing/2014/main" id="{76C3F59F-1B16-EF53-7B37-4235433DF423}"/>
              </a:ext>
            </a:extLst>
          </p:cNvPr>
          <p:cNvSpPr>
            <a:spLocks noGrp="1"/>
          </p:cNvSpPr>
          <p:nvPr>
            <p:ph type="body" sz="quarter" idx="13" hasCustomPrompt="1"/>
          </p:nvPr>
        </p:nvSpPr>
        <p:spPr>
          <a:xfrm>
            <a:off x="2735144" y="1286346"/>
            <a:ext cx="6721714" cy="4699000"/>
          </a:xfrm>
        </p:spPr>
        <p:txBody>
          <a:bodyPr anchor="ctr">
            <a:normAutofit/>
          </a:bodyPr>
          <a:lstStyle>
            <a:lvl1pPr marL="514350" indent="-514350" algn="just">
              <a:buFont typeface="+mj-lt"/>
              <a:buAutoNum type="arabicPeriod"/>
              <a:defRPr sz="2200">
                <a:latin typeface="Arial" panose="020B0604020202020204" pitchFamily="34" charset="0"/>
                <a:cs typeface="Arial" panose="020B0604020202020204" pitchFamily="34" charset="0"/>
              </a:defRPr>
            </a:lvl1pPr>
            <a:lvl2pPr marL="914400" indent="-457200" algn="ctr">
              <a:buFont typeface="+mj-lt"/>
              <a:buAutoNum type="arabicPeriod"/>
              <a:defRPr>
                <a:latin typeface="Arial" panose="020B0604020202020204" pitchFamily="34" charset="0"/>
                <a:cs typeface="Arial" panose="020B0604020202020204" pitchFamily="34" charset="0"/>
              </a:defRPr>
            </a:lvl2pPr>
            <a:lvl3pPr marL="1371600" indent="-457200" algn="ctr">
              <a:buFont typeface="+mj-lt"/>
              <a:buAutoNum type="arabicPeriod"/>
              <a:defRPr>
                <a:latin typeface="Arial" panose="020B0604020202020204" pitchFamily="34" charset="0"/>
                <a:cs typeface="Arial" panose="020B0604020202020204" pitchFamily="34" charset="0"/>
              </a:defRPr>
            </a:lvl3pPr>
            <a:lvl4pPr marL="1714500" indent="-342900" algn="ctr">
              <a:buFont typeface="+mj-lt"/>
              <a:buAutoNum type="arabicPeriod"/>
              <a:defRPr>
                <a:latin typeface="Arial" panose="020B0604020202020204" pitchFamily="34" charset="0"/>
                <a:cs typeface="Arial" panose="020B0604020202020204" pitchFamily="34" charset="0"/>
              </a:defRPr>
            </a:lvl4pPr>
            <a:lvl5pPr marL="2171700" indent="-342900" algn="ctr">
              <a:buFont typeface="+mj-lt"/>
              <a:buAutoNum type="arabicPeriod"/>
              <a:defRPr>
                <a:latin typeface="Arial" panose="020B0604020202020204" pitchFamily="34" charset="0"/>
                <a:cs typeface="Arial" panose="020B0604020202020204" pitchFamily="34" charset="0"/>
              </a:defRPr>
            </a:lvl5pPr>
          </a:lstStyle>
          <a:p>
            <a:pPr lvl="0"/>
            <a:r>
              <a:rPr lang="en-US" dirty="0" err="1"/>
              <a:t>Mục</a:t>
            </a:r>
            <a:r>
              <a:rPr lang="en-US" dirty="0"/>
              <a:t> 1</a:t>
            </a:r>
          </a:p>
          <a:p>
            <a:pPr lvl="0"/>
            <a:r>
              <a:rPr lang="en-US" dirty="0" err="1"/>
              <a:t>Mục</a:t>
            </a:r>
            <a:r>
              <a:rPr lang="en-US" dirty="0"/>
              <a:t> 2</a:t>
            </a:r>
          </a:p>
          <a:p>
            <a:pPr lvl="0"/>
            <a:r>
              <a:rPr lang="en-US" dirty="0" err="1"/>
              <a:t>Mục</a:t>
            </a:r>
            <a:r>
              <a:rPr lang="en-US" dirty="0"/>
              <a:t> 3</a:t>
            </a:r>
          </a:p>
          <a:p>
            <a:pPr lvl="0"/>
            <a:r>
              <a:rPr lang="en-US" dirty="0" err="1"/>
              <a:t>Mục</a:t>
            </a:r>
            <a:r>
              <a:rPr lang="en-US" dirty="0"/>
              <a:t> 4</a:t>
            </a:r>
          </a:p>
          <a:p>
            <a:pPr lvl="0"/>
            <a:r>
              <a:rPr lang="en-US" dirty="0" err="1"/>
              <a:t>Mục</a:t>
            </a:r>
            <a:r>
              <a:rPr lang="en-US" dirty="0"/>
              <a:t> 5</a:t>
            </a:r>
          </a:p>
        </p:txBody>
      </p:sp>
      <p:sp>
        <p:nvSpPr>
          <p:cNvPr id="75" name="Isosceles Triangle 12">
            <a:extLst>
              <a:ext uri="{FF2B5EF4-FFF2-40B4-BE49-F238E27FC236}">
                <a16:creationId xmlns:a16="http://schemas.microsoft.com/office/drawing/2014/main" id="{A388E1C1-619D-B3DE-405E-FEBD285E8A4D}"/>
              </a:ext>
            </a:extLst>
          </p:cNvPr>
          <p:cNvSpPr/>
          <p:nvPr userDrawn="1"/>
        </p:nvSpPr>
        <p:spPr>
          <a:xfrm rot="10800000">
            <a:off x="0" y="0"/>
            <a:ext cx="715617" cy="616911"/>
          </a:xfrm>
          <a:prstGeom prst="triangle">
            <a:avLst>
              <a:gd name="adj" fmla="val 100000"/>
            </a:avLst>
          </a:prstGeom>
          <a:solidFill>
            <a:srgbClr val="007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6" name="Group 75">
            <a:extLst>
              <a:ext uri="{FF2B5EF4-FFF2-40B4-BE49-F238E27FC236}">
                <a16:creationId xmlns:a16="http://schemas.microsoft.com/office/drawing/2014/main" id="{7C853EEA-59DB-F0D6-265D-88168C2394BB}"/>
              </a:ext>
            </a:extLst>
          </p:cNvPr>
          <p:cNvGrpSpPr/>
          <p:nvPr userDrawn="1"/>
        </p:nvGrpSpPr>
        <p:grpSpPr>
          <a:xfrm>
            <a:off x="58527" y="40944"/>
            <a:ext cx="2869771" cy="886519"/>
            <a:chOff x="44879" y="27296"/>
            <a:chExt cx="2869771" cy="886519"/>
          </a:xfrm>
          <a:solidFill>
            <a:srgbClr val="0072FF"/>
          </a:solidFill>
        </p:grpSpPr>
        <p:cxnSp>
          <p:nvCxnSpPr>
            <p:cNvPr id="77" name="Straight Connector 76">
              <a:extLst>
                <a:ext uri="{FF2B5EF4-FFF2-40B4-BE49-F238E27FC236}">
                  <a16:creationId xmlns:a16="http://schemas.microsoft.com/office/drawing/2014/main" id="{F437A5D6-1DC7-D389-82D2-23162AC05FBF}"/>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896068C2-8F0E-EB5D-CA9A-7015104FFBD1}"/>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C8D9F136-81C9-C695-8C54-BACD26A69D63}"/>
                </a:ext>
              </a:extLst>
            </p:cNvPr>
            <p:cNvCxnSpPr>
              <a:cxnSpLocks/>
            </p:cNvCxnSpPr>
            <p:nvPr/>
          </p:nvCxnSpPr>
          <p:spPr>
            <a:xfrm flipV="1">
              <a:off x="52214" y="654128"/>
              <a:ext cx="0" cy="25968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pic>
        <p:nvPicPr>
          <p:cNvPr id="86" name="Picture 85" descr="A picture containing clipart, vector graphics&#10;&#10;Description automatically generated">
            <a:extLst>
              <a:ext uri="{FF2B5EF4-FFF2-40B4-BE49-F238E27FC236}">
                <a16:creationId xmlns:a16="http://schemas.microsoft.com/office/drawing/2014/main" id="{59A81B3C-3C09-2267-567B-AD3F47296CD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12638" y="362637"/>
            <a:ext cx="544288" cy="450213"/>
          </a:xfrm>
          <a:prstGeom prst="rect">
            <a:avLst/>
          </a:prstGeom>
        </p:spPr>
      </p:pic>
      <p:sp>
        <p:nvSpPr>
          <p:cNvPr id="2" name="Date Placeholder 1">
            <a:extLst>
              <a:ext uri="{FF2B5EF4-FFF2-40B4-BE49-F238E27FC236}">
                <a16:creationId xmlns:a16="http://schemas.microsoft.com/office/drawing/2014/main" id="{D1B4C13D-5A18-5AEA-36B7-4E32F182BE34}"/>
              </a:ext>
            </a:extLst>
          </p:cNvPr>
          <p:cNvSpPr>
            <a:spLocks noGrp="1"/>
          </p:cNvSpPr>
          <p:nvPr>
            <p:ph type="dt" sz="half" idx="14"/>
          </p:nvPr>
        </p:nvSpPr>
        <p:spPr>
          <a:xfrm>
            <a:off x="796022" y="6454635"/>
            <a:ext cx="2132276" cy="266840"/>
          </a:xfrm>
        </p:spPr>
        <p:txBody>
          <a:bodyPr/>
          <a:lstStyle>
            <a:lvl1pPr>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pPr/>
              <a:t>April 21, 2024</a:t>
            </a:fld>
            <a:endParaRPr lang="en-US" dirty="0"/>
          </a:p>
        </p:txBody>
      </p:sp>
    </p:spTree>
    <p:extLst>
      <p:ext uri="{BB962C8B-B14F-4D97-AF65-F5344CB8AC3E}">
        <p14:creationId xmlns:p14="http://schemas.microsoft.com/office/powerpoint/2010/main" val="10274836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êu đề chương">
    <p:spTree>
      <p:nvGrpSpPr>
        <p:cNvPr id="1" name=""/>
        <p:cNvGrpSpPr/>
        <p:nvPr/>
      </p:nvGrpSpPr>
      <p:grpSpPr>
        <a:xfrm>
          <a:off x="0" y="0"/>
          <a:ext cx="0" cy="0"/>
          <a:chOff x="0" y="0"/>
          <a:chExt cx="0" cy="0"/>
        </a:xfrm>
      </p:grpSpPr>
      <p:pic>
        <p:nvPicPr>
          <p:cNvPr id="6" name="Picture 5" descr="Background pattern&#10;&#10;Description automatically generated">
            <a:extLst>
              <a:ext uri="{FF2B5EF4-FFF2-40B4-BE49-F238E27FC236}">
                <a16:creationId xmlns:a16="http://schemas.microsoft.com/office/drawing/2014/main" id="{76021CEA-9826-5DD2-8F9F-FCB0E58DFFA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 y="-1"/>
            <a:ext cx="12192001" cy="6854889"/>
          </a:xfrm>
          <a:prstGeom prst="rect">
            <a:avLst/>
          </a:prstGeom>
        </p:spPr>
      </p:pic>
      <p:sp>
        <p:nvSpPr>
          <p:cNvPr id="7" name="Rectangle 6">
            <a:extLst>
              <a:ext uri="{FF2B5EF4-FFF2-40B4-BE49-F238E27FC236}">
                <a16:creationId xmlns:a16="http://schemas.microsoft.com/office/drawing/2014/main" id="{70A8EA08-4ACD-C298-69F2-2D88060DD062}"/>
              </a:ext>
            </a:extLst>
          </p:cNvPr>
          <p:cNvSpPr/>
          <p:nvPr userDrawn="1"/>
        </p:nvSpPr>
        <p:spPr>
          <a:xfrm>
            <a:off x="0" y="0"/>
            <a:ext cx="12192000" cy="6858000"/>
          </a:xfrm>
          <a:prstGeom prst="rect">
            <a:avLst/>
          </a:prstGeom>
          <a:gradFill flip="none" rotWithShape="1">
            <a:gsLst>
              <a:gs pos="0">
                <a:srgbClr val="0A4671">
                  <a:alpha val="75000"/>
                </a:srgbClr>
              </a:gs>
              <a:gs pos="100000">
                <a:srgbClr val="0A4671"/>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8" name="Rectangle 7">
            <a:extLst>
              <a:ext uri="{FF2B5EF4-FFF2-40B4-BE49-F238E27FC236}">
                <a16:creationId xmlns:a16="http://schemas.microsoft.com/office/drawing/2014/main" id="{050A66F8-E091-9C03-CD6B-317D0180ADDD}"/>
              </a:ext>
            </a:extLst>
          </p:cNvPr>
          <p:cNvSpPr/>
          <p:nvPr userDrawn="1"/>
        </p:nvSpPr>
        <p:spPr>
          <a:xfrm>
            <a:off x="16026" y="4629289"/>
            <a:ext cx="434350" cy="346950"/>
          </a:xfrm>
          <a:prstGeom prst="rect">
            <a:avLst/>
          </a:prstGeom>
          <a:solidFill>
            <a:srgbClr val="00F7FF"/>
          </a:solidFill>
          <a:ln>
            <a:solidFill>
              <a:srgbClr val="00F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6A5F01B-1418-7515-A2D9-40BE42BE32BD}"/>
              </a:ext>
            </a:extLst>
          </p:cNvPr>
          <p:cNvSpPr/>
          <p:nvPr userDrawn="1"/>
        </p:nvSpPr>
        <p:spPr>
          <a:xfrm>
            <a:off x="16026" y="5005641"/>
            <a:ext cx="434350" cy="346950"/>
          </a:xfrm>
          <a:prstGeom prst="rect">
            <a:avLst/>
          </a:prstGeom>
          <a:solidFill>
            <a:srgbClr val="00F7FF"/>
          </a:solidFill>
          <a:ln>
            <a:solidFill>
              <a:srgbClr val="00F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EA161D7-9C70-83EF-EE51-E59464E9FF79}"/>
              </a:ext>
            </a:extLst>
          </p:cNvPr>
          <p:cNvSpPr/>
          <p:nvPr userDrawn="1"/>
        </p:nvSpPr>
        <p:spPr>
          <a:xfrm>
            <a:off x="16026" y="5381993"/>
            <a:ext cx="434350" cy="346950"/>
          </a:xfrm>
          <a:prstGeom prst="rect">
            <a:avLst/>
          </a:prstGeom>
          <a:solidFill>
            <a:srgbClr val="00F7FF"/>
          </a:solidFill>
          <a:ln>
            <a:solidFill>
              <a:srgbClr val="00F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794F566-E8F9-197C-FC4C-0E96F2163AA2}"/>
              </a:ext>
            </a:extLst>
          </p:cNvPr>
          <p:cNvSpPr/>
          <p:nvPr userDrawn="1"/>
        </p:nvSpPr>
        <p:spPr>
          <a:xfrm>
            <a:off x="16026" y="5758345"/>
            <a:ext cx="434350" cy="346950"/>
          </a:xfrm>
          <a:prstGeom prst="rect">
            <a:avLst/>
          </a:prstGeom>
          <a:noFill/>
          <a:ln>
            <a:solidFill>
              <a:srgbClr val="00F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E20CF87-B708-06C0-11BA-20052748E49F}"/>
              </a:ext>
            </a:extLst>
          </p:cNvPr>
          <p:cNvSpPr/>
          <p:nvPr userDrawn="1"/>
        </p:nvSpPr>
        <p:spPr>
          <a:xfrm>
            <a:off x="16026" y="6134697"/>
            <a:ext cx="434350" cy="346950"/>
          </a:xfrm>
          <a:prstGeom prst="rect">
            <a:avLst/>
          </a:prstGeom>
          <a:noFill/>
          <a:ln>
            <a:solidFill>
              <a:srgbClr val="00F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2E2ADF-9658-9B1B-7EA8-E37B1FC3CB44}"/>
              </a:ext>
            </a:extLst>
          </p:cNvPr>
          <p:cNvSpPr/>
          <p:nvPr userDrawn="1"/>
        </p:nvSpPr>
        <p:spPr>
          <a:xfrm>
            <a:off x="16026" y="6511050"/>
            <a:ext cx="434350" cy="346950"/>
          </a:xfrm>
          <a:prstGeom prst="rect">
            <a:avLst/>
          </a:prstGeom>
          <a:noFill/>
          <a:ln>
            <a:solidFill>
              <a:srgbClr val="00F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Isosceles Triangle 12">
            <a:extLst>
              <a:ext uri="{FF2B5EF4-FFF2-40B4-BE49-F238E27FC236}">
                <a16:creationId xmlns:a16="http://schemas.microsoft.com/office/drawing/2014/main" id="{A49F0DD3-DC56-8398-42AE-9819F17BDE3D}"/>
              </a:ext>
            </a:extLst>
          </p:cNvPr>
          <p:cNvSpPr/>
          <p:nvPr userDrawn="1"/>
        </p:nvSpPr>
        <p:spPr>
          <a:xfrm rot="10800000">
            <a:off x="0" y="0"/>
            <a:ext cx="715617" cy="616911"/>
          </a:xfrm>
          <a:prstGeom prst="triangle">
            <a:avLst>
              <a:gd name="adj" fmla="val 100000"/>
            </a:avLst>
          </a:prstGeom>
          <a:solidFill>
            <a:srgbClr val="00F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18">
            <a:extLst>
              <a:ext uri="{FF2B5EF4-FFF2-40B4-BE49-F238E27FC236}">
                <a16:creationId xmlns:a16="http://schemas.microsoft.com/office/drawing/2014/main" id="{8033CAF6-1926-D8C9-805D-C62294874052}"/>
              </a:ext>
            </a:extLst>
          </p:cNvPr>
          <p:cNvGrpSpPr/>
          <p:nvPr userDrawn="1"/>
        </p:nvGrpSpPr>
        <p:grpSpPr>
          <a:xfrm>
            <a:off x="58527" y="40944"/>
            <a:ext cx="2869771" cy="1563379"/>
            <a:chOff x="44879" y="27296"/>
            <a:chExt cx="2869771" cy="1563379"/>
          </a:xfrm>
          <a:solidFill>
            <a:srgbClr val="0072FF"/>
          </a:solidFill>
        </p:grpSpPr>
        <p:cxnSp>
          <p:nvCxnSpPr>
            <p:cNvPr id="20" name="Straight Connector 19">
              <a:extLst>
                <a:ext uri="{FF2B5EF4-FFF2-40B4-BE49-F238E27FC236}">
                  <a16:creationId xmlns:a16="http://schemas.microsoft.com/office/drawing/2014/main" id="{70625E9E-73EA-1C70-6330-DACC8A9A20A2}"/>
                </a:ext>
              </a:extLst>
            </p:cNvPr>
            <p:cNvCxnSpPr>
              <a:cxnSpLocks/>
            </p:cNvCxnSpPr>
            <p:nvPr/>
          </p:nvCxnSpPr>
          <p:spPr>
            <a:xfrm flipH="1">
              <a:off x="766351" y="34631"/>
              <a:ext cx="2148299" cy="0"/>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225C7FE-6858-40F1-0A49-2AD56C0D4925}"/>
                </a:ext>
              </a:extLst>
            </p:cNvPr>
            <p:cNvCxnSpPr>
              <a:cxnSpLocks/>
            </p:cNvCxnSpPr>
            <p:nvPr/>
          </p:nvCxnSpPr>
          <p:spPr>
            <a:xfrm flipH="1">
              <a:off x="44879" y="27296"/>
              <a:ext cx="737495" cy="644210"/>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8FBED07-28E7-32D7-F629-E50519173585}"/>
                </a:ext>
              </a:extLst>
            </p:cNvPr>
            <p:cNvCxnSpPr>
              <a:cxnSpLocks/>
            </p:cNvCxnSpPr>
            <p:nvPr/>
          </p:nvCxnSpPr>
          <p:spPr>
            <a:xfrm flipV="1">
              <a:off x="52214" y="654128"/>
              <a:ext cx="0" cy="936547"/>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grpSp>
      <p:sp>
        <p:nvSpPr>
          <p:cNvPr id="23" name="Isosceles Triangle 12">
            <a:extLst>
              <a:ext uri="{FF2B5EF4-FFF2-40B4-BE49-F238E27FC236}">
                <a16:creationId xmlns:a16="http://schemas.microsoft.com/office/drawing/2014/main" id="{5DB9FA21-5387-C238-85F9-516A2379F6C0}"/>
              </a:ext>
            </a:extLst>
          </p:cNvPr>
          <p:cNvSpPr/>
          <p:nvPr userDrawn="1"/>
        </p:nvSpPr>
        <p:spPr>
          <a:xfrm rot="10800000" flipH="1" flipV="1">
            <a:off x="11476383" y="6241089"/>
            <a:ext cx="715617" cy="616911"/>
          </a:xfrm>
          <a:prstGeom prst="triangle">
            <a:avLst>
              <a:gd name="adj" fmla="val 100000"/>
            </a:avLst>
          </a:prstGeom>
          <a:solidFill>
            <a:srgbClr val="00F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DFCC0B98-57DA-D911-8CE1-C15A09E2C7EC}"/>
              </a:ext>
            </a:extLst>
          </p:cNvPr>
          <p:cNvGrpSpPr/>
          <p:nvPr userDrawn="1"/>
        </p:nvGrpSpPr>
        <p:grpSpPr>
          <a:xfrm flipH="1" flipV="1">
            <a:off x="9263702" y="5253677"/>
            <a:ext cx="2869771" cy="1563379"/>
            <a:chOff x="44879" y="27296"/>
            <a:chExt cx="2869771" cy="1563379"/>
          </a:xfrm>
          <a:solidFill>
            <a:srgbClr val="0072FF"/>
          </a:solidFill>
        </p:grpSpPr>
        <p:cxnSp>
          <p:nvCxnSpPr>
            <p:cNvPr id="25" name="Straight Connector 24">
              <a:extLst>
                <a:ext uri="{FF2B5EF4-FFF2-40B4-BE49-F238E27FC236}">
                  <a16:creationId xmlns:a16="http://schemas.microsoft.com/office/drawing/2014/main" id="{8B160133-C90F-5924-8C1C-D5FAECA895FD}"/>
                </a:ext>
              </a:extLst>
            </p:cNvPr>
            <p:cNvCxnSpPr>
              <a:cxnSpLocks/>
            </p:cNvCxnSpPr>
            <p:nvPr/>
          </p:nvCxnSpPr>
          <p:spPr>
            <a:xfrm flipH="1">
              <a:off x="766351" y="34631"/>
              <a:ext cx="2148299" cy="0"/>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C5892685-43A4-5ED1-12EC-FAE1547CC149}"/>
                </a:ext>
              </a:extLst>
            </p:cNvPr>
            <p:cNvCxnSpPr>
              <a:cxnSpLocks/>
            </p:cNvCxnSpPr>
            <p:nvPr/>
          </p:nvCxnSpPr>
          <p:spPr>
            <a:xfrm flipH="1">
              <a:off x="44879" y="27296"/>
              <a:ext cx="737495" cy="644210"/>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92B5B59-89DB-8D47-B8D4-6475631C5C47}"/>
                </a:ext>
              </a:extLst>
            </p:cNvPr>
            <p:cNvCxnSpPr>
              <a:cxnSpLocks/>
            </p:cNvCxnSpPr>
            <p:nvPr/>
          </p:nvCxnSpPr>
          <p:spPr>
            <a:xfrm flipV="1">
              <a:off x="52214" y="654128"/>
              <a:ext cx="0" cy="936547"/>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grpSp>
      <p:sp>
        <p:nvSpPr>
          <p:cNvPr id="29" name="Oval 28">
            <a:extLst>
              <a:ext uri="{FF2B5EF4-FFF2-40B4-BE49-F238E27FC236}">
                <a16:creationId xmlns:a16="http://schemas.microsoft.com/office/drawing/2014/main" id="{D48BE0DC-C12B-7B32-5521-E1BCC5CB89B7}"/>
              </a:ext>
            </a:extLst>
          </p:cNvPr>
          <p:cNvSpPr/>
          <p:nvPr/>
        </p:nvSpPr>
        <p:spPr>
          <a:xfrm>
            <a:off x="11928738" y="6583150"/>
            <a:ext cx="233916" cy="233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31" name="Freeform 30">
            <a:extLst>
              <a:ext uri="{FF2B5EF4-FFF2-40B4-BE49-F238E27FC236}">
                <a16:creationId xmlns:a16="http://schemas.microsoft.com/office/drawing/2014/main" id="{F5D728B6-8658-2A5A-4406-097B8D68238B}"/>
              </a:ext>
            </a:extLst>
          </p:cNvPr>
          <p:cNvSpPr/>
          <p:nvPr userDrawn="1"/>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chemeClr val="bg1"/>
          </a:solidFill>
          <a:ln w="2090" cap="flat">
            <a:noFill/>
            <a:prstDash val="solid"/>
            <a:miter/>
          </a:ln>
        </p:spPr>
        <p:txBody>
          <a:bodyPr rtlCol="0" anchor="ctr"/>
          <a:lstStyle/>
          <a:p>
            <a:endParaRPr lang="en-VN"/>
          </a:p>
        </p:txBody>
      </p:sp>
      <p:sp>
        <p:nvSpPr>
          <p:cNvPr id="5" name="Slide Number Placeholder 4">
            <a:extLst>
              <a:ext uri="{FF2B5EF4-FFF2-40B4-BE49-F238E27FC236}">
                <a16:creationId xmlns:a16="http://schemas.microsoft.com/office/drawing/2014/main" id="{BB42E132-2B15-1D22-000B-D9DC548D1B2D}"/>
              </a:ext>
            </a:extLst>
          </p:cNvPr>
          <p:cNvSpPr>
            <a:spLocks noGrp="1"/>
          </p:cNvSpPr>
          <p:nvPr userDrawn="1">
            <p:ph type="sldNum" sz="quarter" idx="12"/>
          </p:nvPr>
        </p:nvSpPr>
        <p:spPr>
          <a:xfrm>
            <a:off x="11899392" y="6542216"/>
            <a:ext cx="292608" cy="315784"/>
          </a:xfrm>
        </p:spPr>
        <p:txBody>
          <a:bodyPr/>
          <a:lstStyle>
            <a:lvl1pPr marL="0" algn="ctr" defTabSz="914400" rtl="0" eaLnBrk="1" latinLnBrk="0" hangingPunct="1">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sp>
        <p:nvSpPr>
          <p:cNvPr id="33" name="Text Placeholder 32">
            <a:extLst>
              <a:ext uri="{FF2B5EF4-FFF2-40B4-BE49-F238E27FC236}">
                <a16:creationId xmlns:a16="http://schemas.microsoft.com/office/drawing/2014/main" id="{16FB8E2A-4378-29FE-41E3-42BAD72ADA63}"/>
              </a:ext>
            </a:extLst>
          </p:cNvPr>
          <p:cNvSpPr>
            <a:spLocks noGrp="1"/>
          </p:cNvSpPr>
          <p:nvPr userDrawn="1">
            <p:ph type="body" sz="quarter" idx="13" hasCustomPrompt="1"/>
          </p:nvPr>
        </p:nvSpPr>
        <p:spPr>
          <a:xfrm>
            <a:off x="1470930" y="2095027"/>
            <a:ext cx="6264164" cy="884656"/>
          </a:xfrm>
        </p:spPr>
        <p:txBody>
          <a:bodyPr anchor="ctr">
            <a:normAutofit/>
          </a:bodyPr>
          <a:lstStyle>
            <a:lvl1pPr marL="0" indent="0" algn="l" defTabSz="914400" rtl="0" eaLnBrk="1" latinLnBrk="0" hangingPunct="1">
              <a:buNone/>
              <a:defRPr lang="en-VN" sz="4400" b="1" kern="1200" spc="100" dirty="0">
                <a:solidFill>
                  <a:srgbClr val="00F7FF"/>
                </a:solidFill>
                <a:effectLst>
                  <a:innerShdw blurRad="114300">
                    <a:srgbClr val="0072FF"/>
                  </a:innerShdw>
                </a:effectLst>
                <a:latin typeface="Arial" panose="020B0604020202020204" pitchFamily="34" charset="0"/>
                <a:ea typeface="+mn-ea"/>
                <a:cs typeface="Arial" panose="020B0604020202020204" pitchFamily="34" charset="0"/>
              </a:defRPr>
            </a:lvl1pPr>
          </a:lstStyle>
          <a:p>
            <a:pPr lvl="0"/>
            <a:r>
              <a:rPr lang="en-VN" dirty="0"/>
              <a:t>TÊN MỤC</a:t>
            </a:r>
          </a:p>
        </p:txBody>
      </p:sp>
      <p:sp>
        <p:nvSpPr>
          <p:cNvPr id="35" name="Text Placeholder 34">
            <a:extLst>
              <a:ext uri="{FF2B5EF4-FFF2-40B4-BE49-F238E27FC236}">
                <a16:creationId xmlns:a16="http://schemas.microsoft.com/office/drawing/2014/main" id="{5224296A-39BF-05BD-6DFB-8046C021F7C6}"/>
              </a:ext>
            </a:extLst>
          </p:cNvPr>
          <p:cNvSpPr>
            <a:spLocks noGrp="1"/>
          </p:cNvSpPr>
          <p:nvPr userDrawn="1">
            <p:ph type="body" sz="quarter" idx="14" hasCustomPrompt="1"/>
          </p:nvPr>
        </p:nvSpPr>
        <p:spPr>
          <a:xfrm>
            <a:off x="1470930" y="3169159"/>
            <a:ext cx="8913813" cy="695175"/>
          </a:xfrm>
        </p:spPr>
        <p:txBody>
          <a:bodyPr anchor="ctr">
            <a:normAutofit/>
          </a:bodyPr>
          <a:lstStyle>
            <a:lvl1pPr marL="0" indent="0" algn="l" defTabSz="914400" rtl="0" eaLnBrk="1" latinLnBrk="0" hangingPunct="1">
              <a:buNone/>
              <a:defRPr lang="en-VN" sz="2800" b="1" kern="1200" spc="100" dirty="0">
                <a:solidFill>
                  <a:schemeClr val="bg1"/>
                </a:solidFill>
                <a:latin typeface="Times New Roman" panose="02020603050405020304" pitchFamily="18" charset="0"/>
                <a:ea typeface="+mn-ea"/>
                <a:cs typeface="Times New Roman" panose="02020603050405020304" pitchFamily="18" charset="0"/>
              </a:defRPr>
            </a:lvl1pPr>
          </a:lstStyle>
          <a:p>
            <a:pPr lvl="0"/>
            <a:r>
              <a:rPr lang="en-VN" dirty="0"/>
              <a:t>1.x. TÊN MỤC CON (NẾU CÓ)</a:t>
            </a:r>
          </a:p>
        </p:txBody>
      </p:sp>
      <p:sp>
        <p:nvSpPr>
          <p:cNvPr id="37" name="Text Placeholder 36">
            <a:extLst>
              <a:ext uri="{FF2B5EF4-FFF2-40B4-BE49-F238E27FC236}">
                <a16:creationId xmlns:a16="http://schemas.microsoft.com/office/drawing/2014/main" id="{BE1131F0-02AD-0F75-0384-22C665D9450D}"/>
              </a:ext>
            </a:extLst>
          </p:cNvPr>
          <p:cNvSpPr>
            <a:spLocks noGrp="1"/>
          </p:cNvSpPr>
          <p:nvPr userDrawn="1">
            <p:ph type="body" sz="quarter" idx="15" hasCustomPrompt="1"/>
          </p:nvPr>
        </p:nvSpPr>
        <p:spPr>
          <a:xfrm>
            <a:off x="1470930" y="4137397"/>
            <a:ext cx="7147030" cy="916698"/>
          </a:xfrm>
        </p:spPr>
        <p:txBody>
          <a:bodyPr anchor="ctr">
            <a:normAutofit/>
          </a:bodyPr>
          <a:lstStyle>
            <a:lvl1pPr marL="0" indent="0" algn="l" defTabSz="914400" rtl="0" eaLnBrk="1" latinLnBrk="0" hangingPunct="1">
              <a:lnSpc>
                <a:spcPct val="150000"/>
              </a:lnSpc>
              <a:buNone/>
              <a:defRPr lang="en-US" sz="1000" kern="1200" spc="100" dirty="0" smtClean="0">
                <a:solidFill>
                  <a:schemeClr val="bg1">
                    <a:lumMod val="95000"/>
                  </a:schemeClr>
                </a:solidFill>
                <a:latin typeface="Times New Roman" panose="02020603050405020304" pitchFamily="18" charset="0"/>
                <a:ea typeface="+mn-ea"/>
                <a:cs typeface="Times New Roman" panose="02020603050405020304" pitchFamily="18" charset="0"/>
              </a:defRPr>
            </a:lvl1pPr>
          </a:lstStyle>
          <a:p>
            <a:pPr lvl="0"/>
            <a:r>
              <a:rPr lang="en-VN" dirty="0"/>
              <a:t>(Tóm tắt mục nếu có) </a:t>
            </a:r>
            <a:r>
              <a:rPr lang="en-US" dirty="0"/>
              <a:t>Lorem ipsum dolor sit amet, consectetuer adipiscing elit. Maecenas porttitor congue massa. Fusce posuere, magna sed pulvinar ultricies, purus lectus malesuada libero, sit amet commodo magna eros quis </a:t>
            </a:r>
            <a:r>
              <a:rPr lang="en-US" dirty="0" err="1"/>
              <a:t>urna</a:t>
            </a:r>
            <a:r>
              <a:rPr lang="en-US" dirty="0"/>
              <a:t>.</a:t>
            </a:r>
          </a:p>
        </p:txBody>
      </p:sp>
      <p:sp>
        <p:nvSpPr>
          <p:cNvPr id="39" name="Text Placeholder 38">
            <a:extLst>
              <a:ext uri="{FF2B5EF4-FFF2-40B4-BE49-F238E27FC236}">
                <a16:creationId xmlns:a16="http://schemas.microsoft.com/office/drawing/2014/main" id="{9E2EB23E-8F15-CEEB-55D8-12309376C6F8}"/>
              </a:ext>
            </a:extLst>
          </p:cNvPr>
          <p:cNvSpPr>
            <a:spLocks noGrp="1"/>
          </p:cNvSpPr>
          <p:nvPr>
            <p:ph type="body" sz="quarter" idx="16" hasCustomPrompt="1"/>
          </p:nvPr>
        </p:nvSpPr>
        <p:spPr>
          <a:xfrm>
            <a:off x="8896576" y="5231902"/>
            <a:ext cx="2521280" cy="1577819"/>
          </a:xfrm>
        </p:spPr>
        <p:txBody>
          <a:bodyPr>
            <a:normAutofit/>
          </a:bodyPr>
          <a:lstStyle>
            <a:lvl1pPr marL="0" indent="0" algn="r" defTabSz="914400" rtl="0" eaLnBrk="1" latinLnBrk="0" hangingPunct="1">
              <a:buNone/>
              <a:defRPr lang="en-VN" sz="12000" b="1" kern="1200" spc="100" dirty="0">
                <a:solidFill>
                  <a:srgbClr val="00F7FF"/>
                </a:solidFill>
                <a:effectLst>
                  <a:innerShdw blurRad="114300">
                    <a:srgbClr val="0072FF"/>
                  </a:innerShdw>
                </a:effectLst>
                <a:latin typeface="Arial" panose="020B0604020202020204" pitchFamily="34" charset="0"/>
                <a:ea typeface="+mn-ea"/>
                <a:cs typeface="Arial" panose="020B0604020202020204" pitchFamily="34" charset="0"/>
              </a:defRPr>
            </a:lvl1pPr>
          </a:lstStyle>
          <a:p>
            <a:pPr lvl="0"/>
            <a:r>
              <a:rPr lang="en-VN" dirty="0"/>
              <a:t>01.</a:t>
            </a:r>
          </a:p>
        </p:txBody>
      </p:sp>
      <p:cxnSp>
        <p:nvCxnSpPr>
          <p:cNvPr id="41" name="Straight Connector 40">
            <a:extLst>
              <a:ext uri="{FF2B5EF4-FFF2-40B4-BE49-F238E27FC236}">
                <a16:creationId xmlns:a16="http://schemas.microsoft.com/office/drawing/2014/main" id="{88382EF5-131E-F7DD-C939-044C31C113C7}"/>
              </a:ext>
            </a:extLst>
          </p:cNvPr>
          <p:cNvCxnSpPr/>
          <p:nvPr userDrawn="1"/>
        </p:nvCxnSpPr>
        <p:spPr>
          <a:xfrm>
            <a:off x="1574156" y="2979683"/>
            <a:ext cx="3565003" cy="0"/>
          </a:xfrm>
          <a:prstGeom prst="line">
            <a:avLst/>
          </a:prstGeom>
          <a:ln w="25400" cap="rnd">
            <a:solidFill>
              <a:srgbClr val="00F7FF"/>
            </a:solidFill>
            <a:round/>
          </a:ln>
        </p:spPr>
        <p:style>
          <a:lnRef idx="1">
            <a:schemeClr val="accent1"/>
          </a:lnRef>
          <a:fillRef idx="0">
            <a:schemeClr val="accent1"/>
          </a:fillRef>
          <a:effectRef idx="0">
            <a:schemeClr val="accent1"/>
          </a:effectRef>
          <a:fontRef idx="minor">
            <a:schemeClr val="tx1"/>
          </a:fontRef>
        </p:style>
      </p:cxnSp>
      <p:sp>
        <p:nvSpPr>
          <p:cNvPr id="2" name="Date Placeholder 1">
            <a:extLst>
              <a:ext uri="{FF2B5EF4-FFF2-40B4-BE49-F238E27FC236}">
                <a16:creationId xmlns:a16="http://schemas.microsoft.com/office/drawing/2014/main" id="{91C15ADC-6970-920B-F52B-57201C4697FC}"/>
              </a:ext>
            </a:extLst>
          </p:cNvPr>
          <p:cNvSpPr>
            <a:spLocks noGrp="1"/>
          </p:cNvSpPr>
          <p:nvPr>
            <p:ph type="dt" sz="half" idx="17"/>
          </p:nvPr>
        </p:nvSpPr>
        <p:spPr>
          <a:xfrm>
            <a:off x="838200" y="6481647"/>
            <a:ext cx="2090098" cy="239828"/>
          </a:xfrm>
        </p:spPr>
        <p:txBody>
          <a:bodyPr/>
          <a:lstStyle>
            <a:lvl1pPr marL="0" algn="ctr" defTabSz="914400" rtl="0" eaLnBrk="1" latinLnBrk="0" hangingPunct="1">
              <a:defRPr lang="en-US" sz="1100" kern="1200" smtClean="0">
                <a:solidFill>
                  <a:schemeClr val="bg1">
                    <a:lumMod val="8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pPr/>
              <a:t>April 21, 2024</a:t>
            </a:fld>
            <a:endParaRPr lang="en-US" dirty="0"/>
          </a:p>
        </p:txBody>
      </p:sp>
      <p:sp>
        <p:nvSpPr>
          <p:cNvPr id="3" name="Footer Placeholder 2">
            <a:extLst>
              <a:ext uri="{FF2B5EF4-FFF2-40B4-BE49-F238E27FC236}">
                <a16:creationId xmlns:a16="http://schemas.microsoft.com/office/drawing/2014/main" id="{DDBDDEB0-1D95-2535-D22B-34266EA304CC}"/>
              </a:ext>
            </a:extLst>
          </p:cNvPr>
          <p:cNvSpPr>
            <a:spLocks noGrp="1"/>
          </p:cNvSpPr>
          <p:nvPr>
            <p:ph type="ftr" sz="quarter" idx="18"/>
          </p:nvPr>
        </p:nvSpPr>
        <p:spPr>
          <a:xfrm>
            <a:off x="3677478" y="6481647"/>
            <a:ext cx="4475922" cy="239828"/>
          </a:xfrm>
        </p:spPr>
        <p:txBody>
          <a:bodyPr/>
          <a:lstStyle>
            <a:lvl1pPr marL="0" algn="ctr" defTabSz="914400" rtl="0" eaLnBrk="1" latinLnBrk="0" hangingPunct="1">
              <a:defRPr lang="vi-VN" sz="1100" kern="1200" smtClean="0">
                <a:solidFill>
                  <a:schemeClr val="bg1">
                    <a:lumMod val="85000"/>
                  </a:schemeClr>
                </a:solidFill>
                <a:latin typeface="Arial" panose="020B0604020202020204" pitchFamily="34" charset="0"/>
                <a:ea typeface="+mn-ea"/>
                <a:cs typeface="Arial" panose="020B0604020202020204" pitchFamily="34" charset="0"/>
              </a:defRPr>
            </a:lvl1pPr>
          </a:lstStyle>
          <a:p>
            <a:r>
              <a:rPr lang="vi-VN"/>
              <a:t>Thực hiện bởi Trường Đại học Công nghệ Thông tin, ĐHQG-HCM</a:t>
            </a:r>
            <a:endParaRPr lang="vi-VN" dirty="0"/>
          </a:p>
        </p:txBody>
      </p:sp>
    </p:spTree>
    <p:extLst>
      <p:ext uri="{BB962C8B-B14F-4D97-AF65-F5344CB8AC3E}">
        <p14:creationId xmlns:p14="http://schemas.microsoft.com/office/powerpoint/2010/main" val="17559124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Mẫu nội dung 1">
    <p:spTree>
      <p:nvGrpSpPr>
        <p:cNvPr id="1" name=""/>
        <p:cNvGrpSpPr/>
        <p:nvPr/>
      </p:nvGrpSpPr>
      <p:grpSpPr>
        <a:xfrm>
          <a:off x="0" y="0"/>
          <a:ext cx="0" cy="0"/>
          <a:chOff x="0" y="0"/>
          <a:chExt cx="0" cy="0"/>
        </a:xfrm>
      </p:grpSpPr>
      <p:sp>
        <p:nvSpPr>
          <p:cNvPr id="22" name="Freeform 21">
            <a:extLst>
              <a:ext uri="{FF2B5EF4-FFF2-40B4-BE49-F238E27FC236}">
                <a16:creationId xmlns:a16="http://schemas.microsoft.com/office/drawing/2014/main" id="{D6D55076-2521-0210-0FB5-E329AB53FF7F}"/>
              </a:ext>
            </a:extLst>
          </p:cNvPr>
          <p:cNvSpPr/>
          <p:nvPr userDrawn="1"/>
        </p:nvSpPr>
        <p:spPr>
          <a:xfrm rot="10800000">
            <a:off x="-2" y="0"/>
            <a:ext cx="12192000" cy="6858000"/>
          </a:xfrm>
          <a:custGeom>
            <a:avLst/>
            <a:gdLst>
              <a:gd name="connsiteX0" fmla="*/ 0 w 12192000"/>
              <a:gd name="connsiteY0" fmla="*/ 616911 h 6858000"/>
              <a:gd name="connsiteX1" fmla="*/ 0 w 12192000"/>
              <a:gd name="connsiteY1" fmla="*/ 0 h 6858000"/>
              <a:gd name="connsiteX2" fmla="*/ 715617 w 12192000"/>
              <a:gd name="connsiteY2" fmla="*/ 0 h 6858000"/>
              <a:gd name="connsiteX3" fmla="*/ 12192000 w 12192000"/>
              <a:gd name="connsiteY3" fmla="*/ 6858000 h 6858000"/>
              <a:gd name="connsiteX4" fmla="*/ 11476383 w 12192000"/>
              <a:gd name="connsiteY4" fmla="*/ 6858000 h 6858000"/>
              <a:gd name="connsiteX5" fmla="*/ 12192000 w 12192000"/>
              <a:gd name="connsiteY5" fmla="*/ 624108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616911"/>
                </a:moveTo>
                <a:lnTo>
                  <a:pt x="0" y="0"/>
                </a:lnTo>
                <a:lnTo>
                  <a:pt x="715617" y="0"/>
                </a:lnTo>
                <a:close/>
                <a:moveTo>
                  <a:pt x="12192000" y="6858000"/>
                </a:moveTo>
                <a:lnTo>
                  <a:pt x="11476383" y="6858000"/>
                </a:lnTo>
                <a:lnTo>
                  <a:pt x="12192000" y="6241089"/>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Isosceles Triangle 12">
            <a:extLst>
              <a:ext uri="{FF2B5EF4-FFF2-40B4-BE49-F238E27FC236}">
                <a16:creationId xmlns:a16="http://schemas.microsoft.com/office/drawing/2014/main" id="{C8EDB823-A30A-47C8-25D2-A9B8E2AED349}"/>
              </a:ext>
            </a:extLst>
          </p:cNvPr>
          <p:cNvSpPr/>
          <p:nvPr userDrawn="1"/>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8E509037-4CE1-ED5D-C6FC-8CA081A0A39F}"/>
              </a:ext>
            </a:extLst>
          </p:cNvPr>
          <p:cNvGrpSpPr/>
          <p:nvPr userDrawn="1"/>
        </p:nvGrpSpPr>
        <p:grpSpPr>
          <a:xfrm>
            <a:off x="58527" y="40944"/>
            <a:ext cx="2869771" cy="1563379"/>
            <a:chOff x="44879" y="27296"/>
            <a:chExt cx="2869771" cy="1563379"/>
          </a:xfrm>
          <a:solidFill>
            <a:srgbClr val="0072FF"/>
          </a:solidFill>
        </p:grpSpPr>
        <p:cxnSp>
          <p:nvCxnSpPr>
            <p:cNvPr id="9" name="Straight Connector 8">
              <a:extLst>
                <a:ext uri="{FF2B5EF4-FFF2-40B4-BE49-F238E27FC236}">
                  <a16:creationId xmlns:a16="http://schemas.microsoft.com/office/drawing/2014/main" id="{70B4ADA5-DE61-CAE3-8EC7-FC27E8BC1D55}"/>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E7213C0-7CE0-59BB-B719-DC871B564E8C}"/>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4AE7820-5FA4-F879-12FF-D34B0A957EF6}"/>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2" name="Isosceles Triangle 12">
            <a:extLst>
              <a:ext uri="{FF2B5EF4-FFF2-40B4-BE49-F238E27FC236}">
                <a16:creationId xmlns:a16="http://schemas.microsoft.com/office/drawing/2014/main" id="{17B543D4-758D-BD1C-FCD1-D6196FEF3479}"/>
              </a:ext>
            </a:extLst>
          </p:cNvPr>
          <p:cNvSpPr/>
          <p:nvPr userDrawn="1"/>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F00BFBF3-F42E-C38E-AF17-FD619F663C49}"/>
              </a:ext>
            </a:extLst>
          </p:cNvPr>
          <p:cNvGrpSpPr/>
          <p:nvPr userDrawn="1"/>
        </p:nvGrpSpPr>
        <p:grpSpPr>
          <a:xfrm flipH="1" flipV="1">
            <a:off x="9263702" y="5253677"/>
            <a:ext cx="2869771" cy="1563379"/>
            <a:chOff x="44879" y="27296"/>
            <a:chExt cx="2869771" cy="1563379"/>
          </a:xfrm>
          <a:solidFill>
            <a:srgbClr val="0072FF"/>
          </a:solidFill>
        </p:grpSpPr>
        <p:cxnSp>
          <p:nvCxnSpPr>
            <p:cNvPr id="14" name="Straight Connector 13">
              <a:extLst>
                <a:ext uri="{FF2B5EF4-FFF2-40B4-BE49-F238E27FC236}">
                  <a16:creationId xmlns:a16="http://schemas.microsoft.com/office/drawing/2014/main" id="{72E22F67-0343-EE26-97E1-B065633E3FF9}"/>
                </a:ext>
              </a:extLst>
            </p:cNvPr>
            <p:cNvCxnSpPr>
              <a:cxnSpLocks/>
            </p:cNvCxnSpPr>
            <p:nvPr/>
          </p:nvCxnSpPr>
          <p:spPr>
            <a:xfrm flipH="1">
              <a:off x="766351" y="34631"/>
              <a:ext cx="2148299" cy="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269246E-D1BA-1A1E-722A-214AD903B192}"/>
                </a:ext>
              </a:extLst>
            </p:cNvPr>
            <p:cNvCxnSpPr>
              <a:cxnSpLocks/>
            </p:cNvCxnSpPr>
            <p:nvPr/>
          </p:nvCxnSpPr>
          <p:spPr>
            <a:xfrm flipH="1">
              <a:off x="44879" y="27296"/>
              <a:ext cx="737495" cy="64421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5B20816-E2A4-5501-1802-D77B2C234103}"/>
                </a:ext>
              </a:extLst>
            </p:cNvPr>
            <p:cNvCxnSpPr>
              <a:cxnSpLocks/>
            </p:cNvCxnSpPr>
            <p:nvPr/>
          </p:nvCxnSpPr>
          <p:spPr>
            <a:xfrm flipV="1">
              <a:off x="52214" y="654128"/>
              <a:ext cx="0" cy="936547"/>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grpSp>
      <p:sp>
        <p:nvSpPr>
          <p:cNvPr id="17" name="Oval 16">
            <a:extLst>
              <a:ext uri="{FF2B5EF4-FFF2-40B4-BE49-F238E27FC236}">
                <a16:creationId xmlns:a16="http://schemas.microsoft.com/office/drawing/2014/main" id="{352054BC-1463-3EF3-7931-D0745EFC8FB2}"/>
              </a:ext>
            </a:extLst>
          </p:cNvPr>
          <p:cNvSpPr/>
          <p:nvPr userDrawn="1"/>
        </p:nvSpPr>
        <p:spPr>
          <a:xfrm>
            <a:off x="11924323" y="6588855"/>
            <a:ext cx="233916" cy="233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6B7BE735-40A7-63BD-ABCF-0C393CEC8682}"/>
              </a:ext>
            </a:extLst>
          </p:cNvPr>
          <p:cNvSpPr>
            <a:spLocks noGrp="1"/>
          </p:cNvSpPr>
          <p:nvPr>
            <p:ph type="title"/>
          </p:nvPr>
        </p:nvSpPr>
        <p:spPr>
          <a:xfrm>
            <a:off x="1142797" y="150069"/>
            <a:ext cx="10515600" cy="895682"/>
          </a:xfrm>
        </p:spPr>
        <p:txBody>
          <a:bodyPr/>
          <a:lstStyle/>
          <a:p>
            <a:r>
              <a:rPr lang="en-US" dirty="0"/>
              <a:t>Click to edit Master title style</a:t>
            </a:r>
            <a:endParaRPr lang="en-VN" dirty="0"/>
          </a:p>
        </p:txBody>
      </p:sp>
      <p:sp>
        <p:nvSpPr>
          <p:cNvPr id="3" name="Content Placeholder 2">
            <a:extLst>
              <a:ext uri="{FF2B5EF4-FFF2-40B4-BE49-F238E27FC236}">
                <a16:creationId xmlns:a16="http://schemas.microsoft.com/office/drawing/2014/main" id="{1923943F-B5CB-101B-ED28-FD0D9E84E1C1}"/>
              </a:ext>
            </a:extLst>
          </p:cNvPr>
          <p:cNvSpPr>
            <a:spLocks noGrp="1"/>
          </p:cNvSpPr>
          <p:nvPr>
            <p:ph idx="1"/>
          </p:nvPr>
        </p:nvSpPr>
        <p:spPr>
          <a:xfrm>
            <a:off x="1142797" y="1195821"/>
            <a:ext cx="10515600" cy="5160527"/>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VN" dirty="0"/>
          </a:p>
        </p:txBody>
      </p:sp>
      <p:sp>
        <p:nvSpPr>
          <p:cNvPr id="5" name="Footer Placeholder 4">
            <a:extLst>
              <a:ext uri="{FF2B5EF4-FFF2-40B4-BE49-F238E27FC236}">
                <a16:creationId xmlns:a16="http://schemas.microsoft.com/office/drawing/2014/main" id="{A269E902-5084-53A0-D082-6066977D82D2}"/>
              </a:ext>
            </a:extLst>
          </p:cNvPr>
          <p:cNvSpPr>
            <a:spLocks noGrp="1"/>
          </p:cNvSpPr>
          <p:nvPr>
            <p:ph type="ftr" sz="quarter" idx="11"/>
          </p:nvPr>
        </p:nvSpPr>
        <p:spPr>
          <a:xfrm>
            <a:off x="3644348" y="6475620"/>
            <a:ext cx="4903304" cy="263110"/>
          </a:xfrm>
        </p:spPr>
        <p:txBody>
          <a:bodyPr/>
          <a:lstStyle>
            <a:lvl1pPr marL="0" algn="ctr" defTabSz="914400" rtl="0" eaLnBrk="1" latinLnBrk="0" hangingPunct="1">
              <a:defRPr lang="en-VN" sz="1100" kern="1200" dirty="0">
                <a:solidFill>
                  <a:schemeClr val="tx1">
                    <a:tint val="75000"/>
                  </a:schemeClr>
                </a:solidFill>
                <a:latin typeface="Arial" panose="020B0604020202020204" pitchFamily="34" charset="0"/>
                <a:ea typeface="+mn-ea"/>
                <a:cs typeface="Arial" panose="020B0604020202020204" pitchFamily="34" charset="0"/>
              </a:defRPr>
            </a:lvl1pPr>
          </a:lstStyle>
          <a:p>
            <a:r>
              <a:rPr lang="vi-VN" dirty="0"/>
              <a:t>Thực hiện bởi Trường Đại học Công nghệ Thông tin, ĐHQG-HCM</a:t>
            </a:r>
            <a:endParaRPr lang="en-VN" dirty="0"/>
          </a:p>
        </p:txBody>
      </p:sp>
      <p:sp>
        <p:nvSpPr>
          <p:cNvPr id="6" name="Slide Number Placeholder 5">
            <a:extLst>
              <a:ext uri="{FF2B5EF4-FFF2-40B4-BE49-F238E27FC236}">
                <a16:creationId xmlns:a16="http://schemas.microsoft.com/office/drawing/2014/main" id="{30B647E7-265A-EC77-C304-8D4B5EFE754E}"/>
              </a:ext>
            </a:extLst>
          </p:cNvPr>
          <p:cNvSpPr>
            <a:spLocks noGrp="1"/>
          </p:cNvSpPr>
          <p:nvPr>
            <p:ph type="sldNum" sz="quarter" idx="12"/>
          </p:nvPr>
        </p:nvSpPr>
        <p:spPr>
          <a:xfrm>
            <a:off x="11895481" y="6560013"/>
            <a:ext cx="291600" cy="291600"/>
          </a:xfrm>
        </p:spPr>
        <p:txBody>
          <a:bodyPr/>
          <a:lstStyle>
            <a:lvl1pPr algn="ctr">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sp>
        <p:nvSpPr>
          <p:cNvPr id="23" name="Rectangle 22">
            <a:extLst>
              <a:ext uri="{FF2B5EF4-FFF2-40B4-BE49-F238E27FC236}">
                <a16:creationId xmlns:a16="http://schemas.microsoft.com/office/drawing/2014/main" id="{A13CBF57-2F7D-2F8B-E033-48DD98A5DC35}"/>
              </a:ext>
            </a:extLst>
          </p:cNvPr>
          <p:cNvSpPr/>
          <p:nvPr userDrawn="1"/>
        </p:nvSpPr>
        <p:spPr>
          <a:xfrm>
            <a:off x="16026" y="4629289"/>
            <a:ext cx="434350" cy="346950"/>
          </a:xfrm>
          <a:prstGeom prst="rect">
            <a:avLst/>
          </a:prstGeom>
          <a:gradFill flip="none" rotWithShape="1">
            <a:gsLst>
              <a:gs pos="0">
                <a:srgbClr val="0072FF"/>
              </a:gs>
              <a:gs pos="100000">
                <a:srgbClr val="00C6FF"/>
              </a:gs>
            </a:gsLst>
            <a:lin ang="2700000" scaled="1"/>
            <a:tileRect/>
          </a:grad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CD65719-8246-A233-C1B4-DB819BF7BDF6}"/>
              </a:ext>
            </a:extLst>
          </p:cNvPr>
          <p:cNvSpPr/>
          <p:nvPr userDrawn="1"/>
        </p:nvSpPr>
        <p:spPr>
          <a:xfrm>
            <a:off x="16026" y="5005641"/>
            <a:ext cx="434350" cy="346950"/>
          </a:xfrm>
          <a:prstGeom prst="rect">
            <a:avLst/>
          </a:prstGeom>
          <a:gradFill flip="none" rotWithShape="1">
            <a:gsLst>
              <a:gs pos="0">
                <a:srgbClr val="0072FF"/>
              </a:gs>
              <a:gs pos="100000">
                <a:srgbClr val="00C6FF"/>
              </a:gs>
            </a:gsLst>
            <a:lin ang="2700000" scaled="1"/>
            <a:tileRect/>
          </a:grad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1304AFD-95A6-09D5-127B-FE511B7DAAFF}"/>
              </a:ext>
            </a:extLst>
          </p:cNvPr>
          <p:cNvSpPr/>
          <p:nvPr userDrawn="1"/>
        </p:nvSpPr>
        <p:spPr>
          <a:xfrm>
            <a:off x="16026" y="5381993"/>
            <a:ext cx="434350" cy="346950"/>
          </a:xfrm>
          <a:prstGeom prst="rect">
            <a:avLst/>
          </a:prstGeom>
          <a:gradFill flip="none" rotWithShape="1">
            <a:gsLst>
              <a:gs pos="0">
                <a:srgbClr val="0072FF"/>
              </a:gs>
              <a:gs pos="100000">
                <a:srgbClr val="00C6FF"/>
              </a:gs>
            </a:gsLst>
            <a:lin ang="2700000" scaled="1"/>
            <a:tileRect/>
          </a:grad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790A148C-3EA2-CE72-6D2A-813DD2AE8F6A}"/>
              </a:ext>
            </a:extLst>
          </p:cNvPr>
          <p:cNvSpPr/>
          <p:nvPr userDrawn="1"/>
        </p:nvSpPr>
        <p:spPr>
          <a:xfrm>
            <a:off x="16026" y="5758345"/>
            <a:ext cx="434350" cy="346950"/>
          </a:xfrm>
          <a:prstGeom prst="rect">
            <a:avLst/>
          </a:prstGeom>
          <a:no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F847E55-C751-3276-D97D-327FE6F09B70}"/>
              </a:ext>
            </a:extLst>
          </p:cNvPr>
          <p:cNvSpPr/>
          <p:nvPr userDrawn="1"/>
        </p:nvSpPr>
        <p:spPr>
          <a:xfrm>
            <a:off x="16026" y="6134697"/>
            <a:ext cx="434350" cy="346950"/>
          </a:xfrm>
          <a:prstGeom prst="rect">
            <a:avLst/>
          </a:prstGeom>
          <a:no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84BC8C50-583B-E3C0-3421-61D6D2869653}"/>
              </a:ext>
            </a:extLst>
          </p:cNvPr>
          <p:cNvSpPr/>
          <p:nvPr userDrawn="1"/>
        </p:nvSpPr>
        <p:spPr>
          <a:xfrm>
            <a:off x="16026" y="6511050"/>
            <a:ext cx="434350" cy="346950"/>
          </a:xfrm>
          <a:prstGeom prst="rect">
            <a:avLst/>
          </a:prstGeom>
          <a:no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 name="Picture 28" descr="A picture containing clipart, vector graphics&#10;&#10;Description automatically generated">
            <a:extLst>
              <a:ext uri="{FF2B5EF4-FFF2-40B4-BE49-F238E27FC236}">
                <a16:creationId xmlns:a16="http://schemas.microsoft.com/office/drawing/2014/main" id="{EDF99A97-3339-5B0A-DF0C-FBEE5263900F}"/>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12638" y="362637"/>
            <a:ext cx="544288" cy="450213"/>
          </a:xfrm>
          <a:prstGeom prst="rect">
            <a:avLst/>
          </a:prstGeom>
        </p:spPr>
      </p:pic>
      <p:sp>
        <p:nvSpPr>
          <p:cNvPr id="4" name="Date Placeholder 3">
            <a:extLst>
              <a:ext uri="{FF2B5EF4-FFF2-40B4-BE49-F238E27FC236}">
                <a16:creationId xmlns:a16="http://schemas.microsoft.com/office/drawing/2014/main" id="{85952F19-40DF-B11E-2E00-94556129CFC5}"/>
              </a:ext>
            </a:extLst>
          </p:cNvPr>
          <p:cNvSpPr>
            <a:spLocks noGrp="1"/>
          </p:cNvSpPr>
          <p:nvPr>
            <p:ph type="dt" sz="half" idx="13"/>
          </p:nvPr>
        </p:nvSpPr>
        <p:spPr>
          <a:xfrm>
            <a:off x="838200" y="6458365"/>
            <a:ext cx="2090098" cy="263110"/>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pPr/>
              <a:t>April 21, 2024</a:t>
            </a:fld>
            <a:endParaRPr lang="en-US" dirty="0"/>
          </a:p>
        </p:txBody>
      </p:sp>
    </p:spTree>
    <p:extLst>
      <p:ext uri="{BB962C8B-B14F-4D97-AF65-F5344CB8AC3E}">
        <p14:creationId xmlns:p14="http://schemas.microsoft.com/office/powerpoint/2010/main" val="8646508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Mẫu nội dung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75E2B-3264-B7AA-B33F-4F514D4416A1}"/>
              </a:ext>
            </a:extLst>
          </p:cNvPr>
          <p:cNvSpPr>
            <a:spLocks noGrp="1"/>
          </p:cNvSpPr>
          <p:nvPr>
            <p:ph type="title"/>
          </p:nvPr>
        </p:nvSpPr>
        <p:spPr>
          <a:xfrm>
            <a:off x="838200" y="914804"/>
            <a:ext cx="10515600" cy="978614"/>
          </a:xfrm>
        </p:spPr>
        <p:txBody>
          <a:bodyPr/>
          <a:lstStyle/>
          <a:p>
            <a:r>
              <a:rPr lang="en-US"/>
              <a:t>Click to edit Master title style</a:t>
            </a:r>
            <a:endParaRPr lang="en-VN"/>
          </a:p>
        </p:txBody>
      </p:sp>
      <p:sp>
        <p:nvSpPr>
          <p:cNvPr id="3" name="Content Placeholder 2">
            <a:extLst>
              <a:ext uri="{FF2B5EF4-FFF2-40B4-BE49-F238E27FC236}">
                <a16:creationId xmlns:a16="http://schemas.microsoft.com/office/drawing/2014/main" id="{D663BF43-5431-28A4-4A9C-84A3FDAFF031}"/>
              </a:ext>
            </a:extLst>
          </p:cNvPr>
          <p:cNvSpPr>
            <a:spLocks noGrp="1"/>
          </p:cNvSpPr>
          <p:nvPr>
            <p:ph sz="half" idx="1"/>
          </p:nvPr>
        </p:nvSpPr>
        <p:spPr>
          <a:xfrm>
            <a:off x="838200" y="2028355"/>
            <a:ext cx="5181600" cy="435133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VN" dirty="0"/>
          </a:p>
        </p:txBody>
      </p:sp>
      <p:sp>
        <p:nvSpPr>
          <p:cNvPr id="4" name="Content Placeholder 3">
            <a:extLst>
              <a:ext uri="{FF2B5EF4-FFF2-40B4-BE49-F238E27FC236}">
                <a16:creationId xmlns:a16="http://schemas.microsoft.com/office/drawing/2014/main" id="{14B97936-93F6-FD89-211F-FC49B02B5734}"/>
              </a:ext>
            </a:extLst>
          </p:cNvPr>
          <p:cNvSpPr>
            <a:spLocks noGrp="1"/>
          </p:cNvSpPr>
          <p:nvPr>
            <p:ph sz="half" idx="2"/>
          </p:nvPr>
        </p:nvSpPr>
        <p:spPr>
          <a:xfrm>
            <a:off x="6172200" y="2028355"/>
            <a:ext cx="5181600" cy="435133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6" name="Footer Placeholder 5">
            <a:extLst>
              <a:ext uri="{FF2B5EF4-FFF2-40B4-BE49-F238E27FC236}">
                <a16:creationId xmlns:a16="http://schemas.microsoft.com/office/drawing/2014/main" id="{CECF69EC-AF21-6413-B0C6-09E3D2808EC9}"/>
              </a:ext>
            </a:extLst>
          </p:cNvPr>
          <p:cNvSpPr>
            <a:spLocks noGrp="1"/>
          </p:cNvSpPr>
          <p:nvPr>
            <p:ph type="ftr" sz="quarter" idx="11"/>
          </p:nvPr>
        </p:nvSpPr>
        <p:spPr>
          <a:xfrm>
            <a:off x="3535017" y="6481647"/>
            <a:ext cx="5121966" cy="239828"/>
          </a:xfrm>
        </p:spPr>
        <p:txBody>
          <a:bodyPr/>
          <a:lstStyle>
            <a:lvl1pPr>
              <a:defRPr lang="en-VN" sz="1100" kern="1200" dirty="0">
                <a:solidFill>
                  <a:schemeClr val="tx1">
                    <a:tint val="75000"/>
                  </a:schemeClr>
                </a:solidFill>
                <a:latin typeface="Arial" panose="020B0604020202020204" pitchFamily="34" charset="0"/>
                <a:ea typeface="+mn-ea"/>
                <a:cs typeface="Arial" panose="020B0604020202020204" pitchFamily="34" charset="0"/>
              </a:defRPr>
            </a:lvl1pPr>
          </a:lstStyle>
          <a:p>
            <a:r>
              <a:rPr lang="vi-VN" dirty="0"/>
              <a:t>Thực hiện bởi Trường Đại học Công nghệ Thông tin, ĐHQG-HCM</a:t>
            </a:r>
            <a:endParaRPr lang="en-VN" dirty="0"/>
          </a:p>
        </p:txBody>
      </p:sp>
      <p:sp>
        <p:nvSpPr>
          <p:cNvPr id="10" name="Freeform 9">
            <a:extLst>
              <a:ext uri="{FF2B5EF4-FFF2-40B4-BE49-F238E27FC236}">
                <a16:creationId xmlns:a16="http://schemas.microsoft.com/office/drawing/2014/main" id="{43873188-0611-6A2D-B3B7-E844F601E758}"/>
              </a:ext>
            </a:extLst>
          </p:cNvPr>
          <p:cNvSpPr/>
          <p:nvPr userDrawn="1"/>
        </p:nvSpPr>
        <p:spPr>
          <a:xfrm rot="10800000">
            <a:off x="-2" y="0"/>
            <a:ext cx="12192000" cy="6858000"/>
          </a:xfrm>
          <a:custGeom>
            <a:avLst/>
            <a:gdLst>
              <a:gd name="connsiteX0" fmla="*/ 0 w 12192000"/>
              <a:gd name="connsiteY0" fmla="*/ 616911 h 6858000"/>
              <a:gd name="connsiteX1" fmla="*/ 0 w 12192000"/>
              <a:gd name="connsiteY1" fmla="*/ 0 h 6858000"/>
              <a:gd name="connsiteX2" fmla="*/ 715617 w 12192000"/>
              <a:gd name="connsiteY2" fmla="*/ 0 h 6858000"/>
              <a:gd name="connsiteX3" fmla="*/ 12192000 w 12192000"/>
              <a:gd name="connsiteY3" fmla="*/ 6858000 h 6858000"/>
              <a:gd name="connsiteX4" fmla="*/ 11476383 w 12192000"/>
              <a:gd name="connsiteY4" fmla="*/ 6858000 h 6858000"/>
              <a:gd name="connsiteX5" fmla="*/ 12192000 w 12192000"/>
              <a:gd name="connsiteY5" fmla="*/ 624108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616911"/>
                </a:moveTo>
                <a:lnTo>
                  <a:pt x="0" y="0"/>
                </a:lnTo>
                <a:lnTo>
                  <a:pt x="715617" y="0"/>
                </a:lnTo>
                <a:close/>
                <a:moveTo>
                  <a:pt x="12192000" y="6858000"/>
                </a:moveTo>
                <a:lnTo>
                  <a:pt x="11476383" y="6858000"/>
                </a:lnTo>
                <a:lnTo>
                  <a:pt x="12192000" y="6241089"/>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Isosceles Triangle 12">
            <a:extLst>
              <a:ext uri="{FF2B5EF4-FFF2-40B4-BE49-F238E27FC236}">
                <a16:creationId xmlns:a16="http://schemas.microsoft.com/office/drawing/2014/main" id="{400BFBC5-D436-63D0-74FC-6A07673AEE42}"/>
              </a:ext>
            </a:extLst>
          </p:cNvPr>
          <p:cNvSpPr/>
          <p:nvPr userDrawn="1"/>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2739C28B-61DE-71CF-E56C-5EDD4BA30029}"/>
              </a:ext>
            </a:extLst>
          </p:cNvPr>
          <p:cNvGrpSpPr/>
          <p:nvPr userDrawn="1"/>
        </p:nvGrpSpPr>
        <p:grpSpPr>
          <a:xfrm>
            <a:off x="58527" y="40944"/>
            <a:ext cx="2869771" cy="1563379"/>
            <a:chOff x="44879" y="27296"/>
            <a:chExt cx="2869771" cy="1563379"/>
          </a:xfrm>
          <a:solidFill>
            <a:srgbClr val="0072FF"/>
          </a:solidFill>
        </p:grpSpPr>
        <p:cxnSp>
          <p:nvCxnSpPr>
            <p:cNvPr id="13" name="Straight Connector 12">
              <a:extLst>
                <a:ext uri="{FF2B5EF4-FFF2-40B4-BE49-F238E27FC236}">
                  <a16:creationId xmlns:a16="http://schemas.microsoft.com/office/drawing/2014/main" id="{258FC900-2C32-ED18-13F9-130B2DF50383}"/>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D4FACA0-AFAE-D152-410A-170D637D3357}"/>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C5F4754-527C-AE63-2C13-4F23BF87556C}"/>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6" name="Isosceles Triangle 12">
            <a:extLst>
              <a:ext uri="{FF2B5EF4-FFF2-40B4-BE49-F238E27FC236}">
                <a16:creationId xmlns:a16="http://schemas.microsoft.com/office/drawing/2014/main" id="{07F91C74-ED4C-0A16-32E0-004F48F54DEB}"/>
              </a:ext>
            </a:extLst>
          </p:cNvPr>
          <p:cNvSpPr/>
          <p:nvPr userDrawn="1"/>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FC5ACEEF-4425-1088-FA6F-A273B4DE887C}"/>
              </a:ext>
            </a:extLst>
          </p:cNvPr>
          <p:cNvGrpSpPr/>
          <p:nvPr userDrawn="1"/>
        </p:nvGrpSpPr>
        <p:grpSpPr>
          <a:xfrm flipH="1" flipV="1">
            <a:off x="9263702" y="5253677"/>
            <a:ext cx="2869771" cy="1563379"/>
            <a:chOff x="44879" y="27296"/>
            <a:chExt cx="2869771" cy="1563379"/>
          </a:xfrm>
          <a:solidFill>
            <a:srgbClr val="0072FF"/>
          </a:solidFill>
        </p:grpSpPr>
        <p:cxnSp>
          <p:nvCxnSpPr>
            <p:cNvPr id="18" name="Straight Connector 17">
              <a:extLst>
                <a:ext uri="{FF2B5EF4-FFF2-40B4-BE49-F238E27FC236}">
                  <a16:creationId xmlns:a16="http://schemas.microsoft.com/office/drawing/2014/main" id="{ED3CB0EA-66BA-01B6-70C4-D5330A4D257B}"/>
                </a:ext>
              </a:extLst>
            </p:cNvPr>
            <p:cNvCxnSpPr>
              <a:cxnSpLocks/>
            </p:cNvCxnSpPr>
            <p:nvPr/>
          </p:nvCxnSpPr>
          <p:spPr>
            <a:xfrm flipH="1">
              <a:off x="766351" y="34631"/>
              <a:ext cx="2148299" cy="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FE5A466E-AA55-B549-D160-0442C43CF551}"/>
                </a:ext>
              </a:extLst>
            </p:cNvPr>
            <p:cNvCxnSpPr>
              <a:cxnSpLocks/>
            </p:cNvCxnSpPr>
            <p:nvPr/>
          </p:nvCxnSpPr>
          <p:spPr>
            <a:xfrm flipH="1">
              <a:off x="44879" y="27296"/>
              <a:ext cx="737495" cy="64421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68CFF73-AB26-6C8F-FB32-54601A35ABA4}"/>
                </a:ext>
              </a:extLst>
            </p:cNvPr>
            <p:cNvCxnSpPr>
              <a:cxnSpLocks/>
            </p:cNvCxnSpPr>
            <p:nvPr/>
          </p:nvCxnSpPr>
          <p:spPr>
            <a:xfrm flipV="1">
              <a:off x="52214" y="654128"/>
              <a:ext cx="0" cy="936547"/>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grpSp>
      <p:sp>
        <p:nvSpPr>
          <p:cNvPr id="21" name="Oval 20">
            <a:extLst>
              <a:ext uri="{FF2B5EF4-FFF2-40B4-BE49-F238E27FC236}">
                <a16:creationId xmlns:a16="http://schemas.microsoft.com/office/drawing/2014/main" id="{318E1593-E5CD-3AE1-93DE-5F387C82F4F6}"/>
              </a:ext>
            </a:extLst>
          </p:cNvPr>
          <p:cNvSpPr/>
          <p:nvPr userDrawn="1"/>
        </p:nvSpPr>
        <p:spPr>
          <a:xfrm>
            <a:off x="11928288" y="6592262"/>
            <a:ext cx="233916" cy="233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22" name="Rectangle 21">
            <a:extLst>
              <a:ext uri="{FF2B5EF4-FFF2-40B4-BE49-F238E27FC236}">
                <a16:creationId xmlns:a16="http://schemas.microsoft.com/office/drawing/2014/main" id="{D2C202E4-A0E1-2253-7874-62B7B89FFCA9}"/>
              </a:ext>
            </a:extLst>
          </p:cNvPr>
          <p:cNvSpPr/>
          <p:nvPr userDrawn="1"/>
        </p:nvSpPr>
        <p:spPr>
          <a:xfrm>
            <a:off x="16026" y="4629289"/>
            <a:ext cx="434350" cy="346950"/>
          </a:xfrm>
          <a:prstGeom prst="rect">
            <a:avLst/>
          </a:prstGeom>
          <a:gradFill flip="none" rotWithShape="1">
            <a:gsLst>
              <a:gs pos="0">
                <a:srgbClr val="0072FF"/>
              </a:gs>
              <a:gs pos="100000">
                <a:srgbClr val="00C6FF"/>
              </a:gs>
            </a:gsLst>
            <a:lin ang="2700000" scaled="1"/>
            <a:tileRect/>
          </a:grad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C58EC501-80CF-6C51-5383-56852B541437}"/>
              </a:ext>
            </a:extLst>
          </p:cNvPr>
          <p:cNvSpPr/>
          <p:nvPr userDrawn="1"/>
        </p:nvSpPr>
        <p:spPr>
          <a:xfrm>
            <a:off x="16026" y="5005641"/>
            <a:ext cx="434350" cy="346950"/>
          </a:xfrm>
          <a:prstGeom prst="rect">
            <a:avLst/>
          </a:prstGeom>
          <a:gradFill flip="none" rotWithShape="1">
            <a:gsLst>
              <a:gs pos="0">
                <a:srgbClr val="0072FF"/>
              </a:gs>
              <a:gs pos="100000">
                <a:srgbClr val="00C6FF"/>
              </a:gs>
            </a:gsLst>
            <a:lin ang="2700000" scaled="1"/>
            <a:tileRect/>
          </a:grad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BF5FA64-88FB-ECEF-001B-760404721A90}"/>
              </a:ext>
            </a:extLst>
          </p:cNvPr>
          <p:cNvSpPr/>
          <p:nvPr userDrawn="1"/>
        </p:nvSpPr>
        <p:spPr>
          <a:xfrm>
            <a:off x="16026" y="5381993"/>
            <a:ext cx="434350" cy="346950"/>
          </a:xfrm>
          <a:prstGeom prst="rect">
            <a:avLst/>
          </a:prstGeom>
          <a:gradFill flip="none" rotWithShape="1">
            <a:gsLst>
              <a:gs pos="0">
                <a:srgbClr val="0072FF"/>
              </a:gs>
              <a:gs pos="100000">
                <a:srgbClr val="00C6FF"/>
              </a:gs>
            </a:gsLst>
            <a:lin ang="2700000" scaled="1"/>
            <a:tileRect/>
          </a:grad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9108B137-1E4C-27A2-6C24-2EBFE5E125B6}"/>
              </a:ext>
            </a:extLst>
          </p:cNvPr>
          <p:cNvSpPr/>
          <p:nvPr userDrawn="1"/>
        </p:nvSpPr>
        <p:spPr>
          <a:xfrm>
            <a:off x="16026" y="5758345"/>
            <a:ext cx="434350" cy="346950"/>
          </a:xfrm>
          <a:prstGeom prst="rect">
            <a:avLst/>
          </a:prstGeom>
          <a:no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F1EE92B3-2829-E731-1ABB-AE81C101058A}"/>
              </a:ext>
            </a:extLst>
          </p:cNvPr>
          <p:cNvSpPr/>
          <p:nvPr userDrawn="1"/>
        </p:nvSpPr>
        <p:spPr>
          <a:xfrm>
            <a:off x="16026" y="6134697"/>
            <a:ext cx="434350" cy="346950"/>
          </a:xfrm>
          <a:prstGeom prst="rect">
            <a:avLst/>
          </a:prstGeom>
          <a:no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713D946B-F6D0-FA25-B029-CFF45E1960C8}"/>
              </a:ext>
            </a:extLst>
          </p:cNvPr>
          <p:cNvSpPr/>
          <p:nvPr userDrawn="1"/>
        </p:nvSpPr>
        <p:spPr>
          <a:xfrm>
            <a:off x="16026" y="6511050"/>
            <a:ext cx="434350" cy="346950"/>
          </a:xfrm>
          <a:prstGeom prst="rect">
            <a:avLst/>
          </a:prstGeom>
          <a:no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Picture 27" descr="A picture containing clipart, vector graphics&#10;&#10;Description automatically generated">
            <a:extLst>
              <a:ext uri="{FF2B5EF4-FFF2-40B4-BE49-F238E27FC236}">
                <a16:creationId xmlns:a16="http://schemas.microsoft.com/office/drawing/2014/main" id="{0CAA0DB2-C26C-AB0D-0115-266290CA1090}"/>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12638" y="362637"/>
            <a:ext cx="544288" cy="450213"/>
          </a:xfrm>
          <a:prstGeom prst="rect">
            <a:avLst/>
          </a:prstGeom>
        </p:spPr>
      </p:pic>
      <p:sp>
        <p:nvSpPr>
          <p:cNvPr id="7" name="Slide Number Placeholder 6">
            <a:extLst>
              <a:ext uri="{FF2B5EF4-FFF2-40B4-BE49-F238E27FC236}">
                <a16:creationId xmlns:a16="http://schemas.microsoft.com/office/drawing/2014/main" id="{D11060A1-174E-8F45-E778-6645800D6C72}"/>
              </a:ext>
            </a:extLst>
          </p:cNvPr>
          <p:cNvSpPr>
            <a:spLocks noGrp="1"/>
          </p:cNvSpPr>
          <p:nvPr>
            <p:ph type="sldNum" sz="quarter" idx="12"/>
          </p:nvPr>
        </p:nvSpPr>
        <p:spPr>
          <a:xfrm>
            <a:off x="11899446" y="6563420"/>
            <a:ext cx="291600" cy="291600"/>
          </a:xfrm>
        </p:spPr>
        <p:txBody>
          <a:bodyPr/>
          <a:lstStyle>
            <a:lvl1pPr marL="0" algn="ctr" defTabSz="914400" rtl="0" eaLnBrk="1" latinLnBrk="0" hangingPunct="1">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sp>
        <p:nvSpPr>
          <p:cNvPr id="5" name="Date Placeholder 4">
            <a:extLst>
              <a:ext uri="{FF2B5EF4-FFF2-40B4-BE49-F238E27FC236}">
                <a16:creationId xmlns:a16="http://schemas.microsoft.com/office/drawing/2014/main" id="{D35DB78F-AE91-A123-68A6-7B8F206075C0}"/>
              </a:ext>
            </a:extLst>
          </p:cNvPr>
          <p:cNvSpPr>
            <a:spLocks noGrp="1"/>
          </p:cNvSpPr>
          <p:nvPr>
            <p:ph type="dt" sz="half" idx="13"/>
          </p:nvPr>
        </p:nvSpPr>
        <p:spPr>
          <a:xfrm>
            <a:off x="838200" y="6481647"/>
            <a:ext cx="2090098" cy="239828"/>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pPr/>
              <a:t>April 21, 2024</a:t>
            </a:fld>
            <a:endParaRPr lang="en-US" dirty="0"/>
          </a:p>
        </p:txBody>
      </p:sp>
    </p:spTree>
    <p:extLst>
      <p:ext uri="{BB962C8B-B14F-4D97-AF65-F5344CB8AC3E}">
        <p14:creationId xmlns:p14="http://schemas.microsoft.com/office/powerpoint/2010/main" val="23069757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Mẫu nội dung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C37E1-287C-992F-926C-6BE139038F7A}"/>
              </a:ext>
            </a:extLst>
          </p:cNvPr>
          <p:cNvSpPr>
            <a:spLocks noGrp="1"/>
          </p:cNvSpPr>
          <p:nvPr>
            <p:ph type="title"/>
          </p:nvPr>
        </p:nvSpPr>
        <p:spPr>
          <a:xfrm>
            <a:off x="839788" y="812850"/>
            <a:ext cx="10515600" cy="1045464"/>
          </a:xfrm>
        </p:spPr>
        <p:txBody>
          <a:bodyPr/>
          <a:lstStyle/>
          <a:p>
            <a:r>
              <a:rPr lang="en-US" dirty="0"/>
              <a:t>Click to edit Master title style</a:t>
            </a:r>
            <a:endParaRPr lang="en-VN" dirty="0"/>
          </a:p>
        </p:txBody>
      </p:sp>
      <p:sp>
        <p:nvSpPr>
          <p:cNvPr id="3" name="Text Placeholder 2">
            <a:extLst>
              <a:ext uri="{FF2B5EF4-FFF2-40B4-BE49-F238E27FC236}">
                <a16:creationId xmlns:a16="http://schemas.microsoft.com/office/drawing/2014/main" id="{6C453A4A-EE94-A702-F0E2-603C1150FA32}"/>
              </a:ext>
            </a:extLst>
          </p:cNvPr>
          <p:cNvSpPr>
            <a:spLocks noGrp="1"/>
          </p:cNvSpPr>
          <p:nvPr>
            <p:ph type="body" idx="1"/>
          </p:nvPr>
        </p:nvSpPr>
        <p:spPr>
          <a:xfrm>
            <a:off x="839788" y="1848789"/>
            <a:ext cx="5157787" cy="823912"/>
          </a:xfrm>
        </p:spPr>
        <p:txBody>
          <a:bodyPr anchor="b"/>
          <a:lstStyle>
            <a:lvl1pPr marL="0" indent="0">
              <a:buNone/>
              <a:defRPr sz="2400" b="1">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7B8F5AF-E6EF-4CF4-8B05-BF3FDB4C6885}"/>
              </a:ext>
            </a:extLst>
          </p:cNvPr>
          <p:cNvSpPr>
            <a:spLocks noGrp="1"/>
          </p:cNvSpPr>
          <p:nvPr>
            <p:ph sz="half" idx="2"/>
          </p:nvPr>
        </p:nvSpPr>
        <p:spPr>
          <a:xfrm>
            <a:off x="839788" y="2672701"/>
            <a:ext cx="5157787" cy="368458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5" name="Text Placeholder 4">
            <a:extLst>
              <a:ext uri="{FF2B5EF4-FFF2-40B4-BE49-F238E27FC236}">
                <a16:creationId xmlns:a16="http://schemas.microsoft.com/office/drawing/2014/main" id="{1BFCC438-C0ED-1F8F-4BB6-689F30C8CC53}"/>
              </a:ext>
            </a:extLst>
          </p:cNvPr>
          <p:cNvSpPr>
            <a:spLocks noGrp="1"/>
          </p:cNvSpPr>
          <p:nvPr>
            <p:ph type="body" sz="quarter" idx="3"/>
          </p:nvPr>
        </p:nvSpPr>
        <p:spPr>
          <a:xfrm>
            <a:off x="6172200" y="1848789"/>
            <a:ext cx="5183188" cy="823912"/>
          </a:xfrm>
        </p:spPr>
        <p:txBody>
          <a:bodyPr anchor="b"/>
          <a:lstStyle>
            <a:lvl1pPr marL="0" indent="0">
              <a:buNone/>
              <a:defRPr sz="2400" b="1">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F689F5A-2C2F-0B8F-615C-B41C7F2B19E1}"/>
              </a:ext>
            </a:extLst>
          </p:cNvPr>
          <p:cNvSpPr>
            <a:spLocks noGrp="1"/>
          </p:cNvSpPr>
          <p:nvPr>
            <p:ph sz="quarter" idx="4"/>
          </p:nvPr>
        </p:nvSpPr>
        <p:spPr>
          <a:xfrm>
            <a:off x="6172200" y="2672701"/>
            <a:ext cx="5183188" cy="368458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8" name="Footer Placeholder 7">
            <a:extLst>
              <a:ext uri="{FF2B5EF4-FFF2-40B4-BE49-F238E27FC236}">
                <a16:creationId xmlns:a16="http://schemas.microsoft.com/office/drawing/2014/main" id="{C3D7DFAC-60B5-9BD1-8D23-4494639CC2E8}"/>
              </a:ext>
            </a:extLst>
          </p:cNvPr>
          <p:cNvSpPr>
            <a:spLocks noGrp="1"/>
          </p:cNvSpPr>
          <p:nvPr>
            <p:ph type="ftr" sz="quarter" idx="11"/>
          </p:nvPr>
        </p:nvSpPr>
        <p:spPr>
          <a:xfrm>
            <a:off x="3533429" y="6481647"/>
            <a:ext cx="5125142" cy="239828"/>
          </a:xfrm>
        </p:spPr>
        <p:txBody>
          <a:bodyPr/>
          <a:lstStyle>
            <a:lvl1pPr>
              <a:defRPr lang="en-VN" sz="1100" kern="1200" dirty="0">
                <a:solidFill>
                  <a:schemeClr val="tx1">
                    <a:tint val="75000"/>
                  </a:schemeClr>
                </a:solidFill>
                <a:latin typeface="Arial" panose="020B0604020202020204" pitchFamily="34" charset="0"/>
                <a:ea typeface="+mn-ea"/>
                <a:cs typeface="Arial" panose="020B0604020202020204" pitchFamily="34" charset="0"/>
              </a:defRPr>
            </a:lvl1pPr>
          </a:lstStyle>
          <a:p>
            <a:r>
              <a:rPr lang="vi-VN" dirty="0"/>
              <a:t>Thực hiện bởi Trường Đại học Công nghệ Thông tin, ĐHQG-HCM</a:t>
            </a:r>
            <a:endParaRPr lang="en-VN" dirty="0"/>
          </a:p>
        </p:txBody>
      </p:sp>
      <p:sp>
        <p:nvSpPr>
          <p:cNvPr id="10" name="Freeform 9">
            <a:extLst>
              <a:ext uri="{FF2B5EF4-FFF2-40B4-BE49-F238E27FC236}">
                <a16:creationId xmlns:a16="http://schemas.microsoft.com/office/drawing/2014/main" id="{B75C2D9D-4765-3FD3-75BD-4E4DFF9C7F0D}"/>
              </a:ext>
            </a:extLst>
          </p:cNvPr>
          <p:cNvSpPr/>
          <p:nvPr userDrawn="1"/>
        </p:nvSpPr>
        <p:spPr>
          <a:xfrm rot="10800000">
            <a:off x="-2" y="0"/>
            <a:ext cx="12192000" cy="6858000"/>
          </a:xfrm>
          <a:custGeom>
            <a:avLst/>
            <a:gdLst>
              <a:gd name="connsiteX0" fmla="*/ 0 w 12192000"/>
              <a:gd name="connsiteY0" fmla="*/ 616911 h 6858000"/>
              <a:gd name="connsiteX1" fmla="*/ 0 w 12192000"/>
              <a:gd name="connsiteY1" fmla="*/ 0 h 6858000"/>
              <a:gd name="connsiteX2" fmla="*/ 715617 w 12192000"/>
              <a:gd name="connsiteY2" fmla="*/ 0 h 6858000"/>
              <a:gd name="connsiteX3" fmla="*/ 12192000 w 12192000"/>
              <a:gd name="connsiteY3" fmla="*/ 6858000 h 6858000"/>
              <a:gd name="connsiteX4" fmla="*/ 11476383 w 12192000"/>
              <a:gd name="connsiteY4" fmla="*/ 6858000 h 6858000"/>
              <a:gd name="connsiteX5" fmla="*/ 12192000 w 12192000"/>
              <a:gd name="connsiteY5" fmla="*/ 624108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616911"/>
                </a:moveTo>
                <a:lnTo>
                  <a:pt x="0" y="0"/>
                </a:lnTo>
                <a:lnTo>
                  <a:pt x="715617" y="0"/>
                </a:lnTo>
                <a:close/>
                <a:moveTo>
                  <a:pt x="12192000" y="6858000"/>
                </a:moveTo>
                <a:lnTo>
                  <a:pt x="11476383" y="6858000"/>
                </a:lnTo>
                <a:lnTo>
                  <a:pt x="12192000" y="6241089"/>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Isosceles Triangle 12">
            <a:extLst>
              <a:ext uri="{FF2B5EF4-FFF2-40B4-BE49-F238E27FC236}">
                <a16:creationId xmlns:a16="http://schemas.microsoft.com/office/drawing/2014/main" id="{3AD591D0-42C1-C83D-D97B-315279CAEE49}"/>
              </a:ext>
            </a:extLst>
          </p:cNvPr>
          <p:cNvSpPr/>
          <p:nvPr userDrawn="1"/>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BC49EA05-357C-0347-C6CD-EE67C566EBD0}"/>
              </a:ext>
            </a:extLst>
          </p:cNvPr>
          <p:cNvGrpSpPr/>
          <p:nvPr userDrawn="1"/>
        </p:nvGrpSpPr>
        <p:grpSpPr>
          <a:xfrm>
            <a:off x="58527" y="40944"/>
            <a:ext cx="2869771" cy="1563379"/>
            <a:chOff x="44879" y="27296"/>
            <a:chExt cx="2869771" cy="1563379"/>
          </a:xfrm>
          <a:solidFill>
            <a:srgbClr val="0072FF"/>
          </a:solidFill>
        </p:grpSpPr>
        <p:cxnSp>
          <p:nvCxnSpPr>
            <p:cNvPr id="13" name="Straight Connector 12">
              <a:extLst>
                <a:ext uri="{FF2B5EF4-FFF2-40B4-BE49-F238E27FC236}">
                  <a16:creationId xmlns:a16="http://schemas.microsoft.com/office/drawing/2014/main" id="{F63A430E-1EF6-53ED-B258-E65C14BBC4CE}"/>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2BC14D-AC20-6673-4A8D-7DE3FE988F33}"/>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61FFA6F-2FC8-1174-B8D5-60E8BE001CF3}"/>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6" name="Isosceles Triangle 12">
            <a:extLst>
              <a:ext uri="{FF2B5EF4-FFF2-40B4-BE49-F238E27FC236}">
                <a16:creationId xmlns:a16="http://schemas.microsoft.com/office/drawing/2014/main" id="{39240330-79C3-21F6-446A-3E039AFD3A39}"/>
              </a:ext>
            </a:extLst>
          </p:cNvPr>
          <p:cNvSpPr/>
          <p:nvPr userDrawn="1"/>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CBDA796D-C2B0-5287-F4C3-E9C3DEA3FFEF}"/>
              </a:ext>
            </a:extLst>
          </p:cNvPr>
          <p:cNvGrpSpPr/>
          <p:nvPr userDrawn="1"/>
        </p:nvGrpSpPr>
        <p:grpSpPr>
          <a:xfrm flipH="1" flipV="1">
            <a:off x="9263702" y="5253677"/>
            <a:ext cx="2869771" cy="1563379"/>
            <a:chOff x="44879" y="27296"/>
            <a:chExt cx="2869771" cy="1563379"/>
          </a:xfrm>
          <a:solidFill>
            <a:srgbClr val="0072FF"/>
          </a:solidFill>
        </p:grpSpPr>
        <p:cxnSp>
          <p:nvCxnSpPr>
            <p:cNvPr id="18" name="Straight Connector 17">
              <a:extLst>
                <a:ext uri="{FF2B5EF4-FFF2-40B4-BE49-F238E27FC236}">
                  <a16:creationId xmlns:a16="http://schemas.microsoft.com/office/drawing/2014/main" id="{701CD2C9-117E-7A90-F02C-95AB5B37723A}"/>
                </a:ext>
              </a:extLst>
            </p:cNvPr>
            <p:cNvCxnSpPr>
              <a:cxnSpLocks/>
            </p:cNvCxnSpPr>
            <p:nvPr/>
          </p:nvCxnSpPr>
          <p:spPr>
            <a:xfrm flipH="1">
              <a:off x="766351" y="34631"/>
              <a:ext cx="2148299" cy="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3E69259-DC90-479A-D797-34F04F64243B}"/>
                </a:ext>
              </a:extLst>
            </p:cNvPr>
            <p:cNvCxnSpPr>
              <a:cxnSpLocks/>
            </p:cNvCxnSpPr>
            <p:nvPr/>
          </p:nvCxnSpPr>
          <p:spPr>
            <a:xfrm flipH="1">
              <a:off x="44879" y="27296"/>
              <a:ext cx="737495" cy="64421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57EE3B6-EE34-8496-104E-9B1F8F51B2DE}"/>
                </a:ext>
              </a:extLst>
            </p:cNvPr>
            <p:cNvCxnSpPr>
              <a:cxnSpLocks/>
            </p:cNvCxnSpPr>
            <p:nvPr/>
          </p:nvCxnSpPr>
          <p:spPr>
            <a:xfrm flipV="1">
              <a:off x="52214" y="654128"/>
              <a:ext cx="0" cy="936547"/>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grpSp>
      <p:sp>
        <p:nvSpPr>
          <p:cNvPr id="21" name="Oval 20">
            <a:extLst>
              <a:ext uri="{FF2B5EF4-FFF2-40B4-BE49-F238E27FC236}">
                <a16:creationId xmlns:a16="http://schemas.microsoft.com/office/drawing/2014/main" id="{C6B6596A-8077-EEBC-4221-61CB055E23C4}"/>
              </a:ext>
            </a:extLst>
          </p:cNvPr>
          <p:cNvSpPr/>
          <p:nvPr userDrawn="1"/>
        </p:nvSpPr>
        <p:spPr>
          <a:xfrm>
            <a:off x="11920781" y="6595999"/>
            <a:ext cx="233916" cy="233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22" name="Rectangle 21">
            <a:extLst>
              <a:ext uri="{FF2B5EF4-FFF2-40B4-BE49-F238E27FC236}">
                <a16:creationId xmlns:a16="http://schemas.microsoft.com/office/drawing/2014/main" id="{8E0195D6-5215-7209-4E44-3598DDF6BF73}"/>
              </a:ext>
            </a:extLst>
          </p:cNvPr>
          <p:cNvSpPr/>
          <p:nvPr userDrawn="1"/>
        </p:nvSpPr>
        <p:spPr>
          <a:xfrm>
            <a:off x="16026" y="4629289"/>
            <a:ext cx="434350" cy="346950"/>
          </a:xfrm>
          <a:prstGeom prst="rect">
            <a:avLst/>
          </a:prstGeom>
          <a:gradFill flip="none" rotWithShape="1">
            <a:gsLst>
              <a:gs pos="0">
                <a:srgbClr val="0072FF"/>
              </a:gs>
              <a:gs pos="100000">
                <a:srgbClr val="00C6FF"/>
              </a:gs>
            </a:gsLst>
            <a:lin ang="2700000" scaled="1"/>
            <a:tileRect/>
          </a:grad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C34F9F4C-59B6-44A2-8089-C9632F72F016}"/>
              </a:ext>
            </a:extLst>
          </p:cNvPr>
          <p:cNvSpPr/>
          <p:nvPr userDrawn="1"/>
        </p:nvSpPr>
        <p:spPr>
          <a:xfrm>
            <a:off x="16026" y="5005641"/>
            <a:ext cx="434350" cy="346950"/>
          </a:xfrm>
          <a:prstGeom prst="rect">
            <a:avLst/>
          </a:prstGeom>
          <a:gradFill flip="none" rotWithShape="1">
            <a:gsLst>
              <a:gs pos="0">
                <a:srgbClr val="0072FF"/>
              </a:gs>
              <a:gs pos="100000">
                <a:srgbClr val="00C6FF"/>
              </a:gs>
            </a:gsLst>
            <a:lin ang="2700000" scaled="1"/>
            <a:tileRect/>
          </a:grad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D39E34E-2D5A-7F18-3D5E-F38434C35041}"/>
              </a:ext>
            </a:extLst>
          </p:cNvPr>
          <p:cNvSpPr/>
          <p:nvPr userDrawn="1"/>
        </p:nvSpPr>
        <p:spPr>
          <a:xfrm>
            <a:off x="16026" y="5381993"/>
            <a:ext cx="434350" cy="346950"/>
          </a:xfrm>
          <a:prstGeom prst="rect">
            <a:avLst/>
          </a:prstGeom>
          <a:gradFill flip="none" rotWithShape="1">
            <a:gsLst>
              <a:gs pos="0">
                <a:srgbClr val="0072FF"/>
              </a:gs>
              <a:gs pos="100000">
                <a:srgbClr val="00C6FF"/>
              </a:gs>
            </a:gsLst>
            <a:lin ang="2700000" scaled="1"/>
            <a:tileRect/>
          </a:grad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66B4D7BA-684B-4CA9-75B2-7C633D5F5824}"/>
              </a:ext>
            </a:extLst>
          </p:cNvPr>
          <p:cNvSpPr/>
          <p:nvPr userDrawn="1"/>
        </p:nvSpPr>
        <p:spPr>
          <a:xfrm>
            <a:off x="16026" y="5758345"/>
            <a:ext cx="434350" cy="346950"/>
          </a:xfrm>
          <a:prstGeom prst="rect">
            <a:avLst/>
          </a:prstGeom>
          <a:no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EEEF9AF2-8C75-A883-C6CC-39115A1F8615}"/>
              </a:ext>
            </a:extLst>
          </p:cNvPr>
          <p:cNvSpPr/>
          <p:nvPr userDrawn="1"/>
        </p:nvSpPr>
        <p:spPr>
          <a:xfrm>
            <a:off x="16026" y="6134697"/>
            <a:ext cx="434350" cy="346950"/>
          </a:xfrm>
          <a:prstGeom prst="rect">
            <a:avLst/>
          </a:prstGeom>
          <a:no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9E365D23-7485-954D-5E3D-2DB7FDD1011D}"/>
              </a:ext>
            </a:extLst>
          </p:cNvPr>
          <p:cNvSpPr/>
          <p:nvPr userDrawn="1"/>
        </p:nvSpPr>
        <p:spPr>
          <a:xfrm>
            <a:off x="16026" y="6511050"/>
            <a:ext cx="434350" cy="346950"/>
          </a:xfrm>
          <a:prstGeom prst="rect">
            <a:avLst/>
          </a:prstGeom>
          <a:no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Picture 27" descr="A picture containing clipart, vector graphics&#10;&#10;Description automatically generated">
            <a:extLst>
              <a:ext uri="{FF2B5EF4-FFF2-40B4-BE49-F238E27FC236}">
                <a16:creationId xmlns:a16="http://schemas.microsoft.com/office/drawing/2014/main" id="{9491656A-A1BE-90F8-B747-D9FA28F4494A}"/>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12638" y="362637"/>
            <a:ext cx="544288" cy="450213"/>
          </a:xfrm>
          <a:prstGeom prst="rect">
            <a:avLst/>
          </a:prstGeom>
        </p:spPr>
      </p:pic>
      <p:sp>
        <p:nvSpPr>
          <p:cNvPr id="9" name="Slide Number Placeholder 8">
            <a:extLst>
              <a:ext uri="{FF2B5EF4-FFF2-40B4-BE49-F238E27FC236}">
                <a16:creationId xmlns:a16="http://schemas.microsoft.com/office/drawing/2014/main" id="{67CFCA39-DA8E-D2BC-F038-9C53D5D95746}"/>
              </a:ext>
            </a:extLst>
          </p:cNvPr>
          <p:cNvSpPr>
            <a:spLocks noGrp="1"/>
          </p:cNvSpPr>
          <p:nvPr>
            <p:ph type="sldNum" sz="quarter" idx="12"/>
          </p:nvPr>
        </p:nvSpPr>
        <p:spPr>
          <a:xfrm>
            <a:off x="11891939" y="6567157"/>
            <a:ext cx="291600" cy="291600"/>
          </a:xfrm>
        </p:spPr>
        <p:txBody>
          <a:bodyPr/>
          <a:lstStyle>
            <a:lvl1pPr marL="0" algn="ctr" defTabSz="914400" rtl="0" eaLnBrk="1" latinLnBrk="0" hangingPunct="1">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sp>
        <p:nvSpPr>
          <p:cNvPr id="7" name="Date Placeholder 6">
            <a:extLst>
              <a:ext uri="{FF2B5EF4-FFF2-40B4-BE49-F238E27FC236}">
                <a16:creationId xmlns:a16="http://schemas.microsoft.com/office/drawing/2014/main" id="{9EC1AA4D-B13B-AA0A-E780-09B8CC670664}"/>
              </a:ext>
            </a:extLst>
          </p:cNvPr>
          <p:cNvSpPr>
            <a:spLocks noGrp="1"/>
          </p:cNvSpPr>
          <p:nvPr>
            <p:ph type="dt" sz="half" idx="13"/>
          </p:nvPr>
        </p:nvSpPr>
        <p:spPr>
          <a:xfrm>
            <a:off x="838200" y="6481647"/>
            <a:ext cx="2090098" cy="239828"/>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pPr/>
              <a:t>April 21, 2024</a:t>
            </a:fld>
            <a:endParaRPr lang="en-US" dirty="0"/>
          </a:p>
        </p:txBody>
      </p:sp>
    </p:spTree>
    <p:extLst>
      <p:ext uri="{BB962C8B-B14F-4D97-AF65-F5344CB8AC3E}">
        <p14:creationId xmlns:p14="http://schemas.microsoft.com/office/powerpoint/2010/main" val="18676272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Mẫu nội dung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451A8-C849-9E82-96FE-C28448A63035}"/>
              </a:ext>
            </a:extLst>
          </p:cNvPr>
          <p:cNvSpPr>
            <a:spLocks noGrp="1"/>
          </p:cNvSpPr>
          <p:nvPr>
            <p:ph type="title"/>
          </p:nvPr>
        </p:nvSpPr>
        <p:spPr>
          <a:xfrm>
            <a:off x="839788" y="794059"/>
            <a:ext cx="3932237" cy="1600200"/>
          </a:xfrm>
        </p:spPr>
        <p:txBody>
          <a:bodyPr anchor="b"/>
          <a:lstStyle>
            <a:lvl1pPr>
              <a:defRPr sz="3200"/>
            </a:lvl1pPr>
          </a:lstStyle>
          <a:p>
            <a:r>
              <a:rPr lang="en-US"/>
              <a:t>Click to edit Master title style</a:t>
            </a:r>
            <a:endParaRPr lang="en-VN"/>
          </a:p>
        </p:txBody>
      </p:sp>
      <p:sp>
        <p:nvSpPr>
          <p:cNvPr id="3" name="Content Placeholder 2">
            <a:extLst>
              <a:ext uri="{FF2B5EF4-FFF2-40B4-BE49-F238E27FC236}">
                <a16:creationId xmlns:a16="http://schemas.microsoft.com/office/drawing/2014/main" id="{A9A510C4-25DA-E657-8490-3BBA6C9F1EC2}"/>
              </a:ext>
            </a:extLst>
          </p:cNvPr>
          <p:cNvSpPr>
            <a:spLocks noGrp="1"/>
          </p:cNvSpPr>
          <p:nvPr>
            <p:ph idx="1"/>
          </p:nvPr>
        </p:nvSpPr>
        <p:spPr>
          <a:xfrm>
            <a:off x="5183188" y="1332222"/>
            <a:ext cx="6172200" cy="4873625"/>
          </a:xfrm>
        </p:spPr>
        <p:txBody>
          <a:bodyPr/>
          <a:lstStyle>
            <a:lvl1pPr>
              <a:defRPr sz="3200">
                <a:latin typeface="Arial" panose="020B0604020202020204" pitchFamily="34" charset="0"/>
                <a:cs typeface="Arial" panose="020B0604020202020204" pitchFamily="34" charset="0"/>
              </a:defRPr>
            </a:lvl1pPr>
            <a:lvl2pPr>
              <a:defRPr sz="2800">
                <a:latin typeface="Arial" panose="020B0604020202020204" pitchFamily="34" charset="0"/>
                <a:cs typeface="Arial" panose="020B0604020202020204" pitchFamily="34" charset="0"/>
              </a:defRPr>
            </a:lvl2pPr>
            <a:lvl3pPr>
              <a:defRPr sz="2400">
                <a:latin typeface="Arial" panose="020B0604020202020204" pitchFamily="34" charset="0"/>
                <a:cs typeface="Arial" panose="020B0604020202020204" pitchFamily="34" charset="0"/>
              </a:defRPr>
            </a:lvl3pPr>
            <a:lvl4pPr>
              <a:defRPr sz="2000">
                <a:latin typeface="Arial" panose="020B0604020202020204" pitchFamily="34" charset="0"/>
                <a:cs typeface="Arial" panose="020B0604020202020204" pitchFamily="34" charset="0"/>
              </a:defRPr>
            </a:lvl4pPr>
            <a:lvl5pPr>
              <a:defRPr sz="2000">
                <a:latin typeface="Arial" panose="020B0604020202020204" pitchFamily="34" charset="0"/>
                <a:cs typeface="Arial" panose="020B0604020202020204" pitchFamily="34"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Text Placeholder 3">
            <a:extLst>
              <a:ext uri="{FF2B5EF4-FFF2-40B4-BE49-F238E27FC236}">
                <a16:creationId xmlns:a16="http://schemas.microsoft.com/office/drawing/2014/main" id="{6AAD4FDC-90BC-2A18-9D26-88E9016BDCFE}"/>
              </a:ext>
            </a:extLst>
          </p:cNvPr>
          <p:cNvSpPr>
            <a:spLocks noGrp="1"/>
          </p:cNvSpPr>
          <p:nvPr>
            <p:ph type="body" sz="half" idx="2"/>
          </p:nvPr>
        </p:nvSpPr>
        <p:spPr>
          <a:xfrm>
            <a:off x="839788" y="2394259"/>
            <a:ext cx="3932237" cy="3811588"/>
          </a:xfrm>
        </p:spPr>
        <p:txBody>
          <a:bodyPr/>
          <a:lstStyle>
            <a:lvl1pPr marL="0" indent="0">
              <a:buNone/>
              <a:defRPr sz="1600">
                <a:latin typeface="Arial" panose="020B0604020202020204" pitchFamily="34"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6" name="Footer Placeholder 5">
            <a:extLst>
              <a:ext uri="{FF2B5EF4-FFF2-40B4-BE49-F238E27FC236}">
                <a16:creationId xmlns:a16="http://schemas.microsoft.com/office/drawing/2014/main" id="{5525D253-E1CB-6DD3-1298-626DE84CCF40}"/>
              </a:ext>
            </a:extLst>
          </p:cNvPr>
          <p:cNvSpPr>
            <a:spLocks noGrp="1"/>
          </p:cNvSpPr>
          <p:nvPr>
            <p:ph type="ftr" sz="quarter" idx="11"/>
          </p:nvPr>
        </p:nvSpPr>
        <p:spPr>
          <a:xfrm>
            <a:off x="3564835" y="6481647"/>
            <a:ext cx="5062330" cy="239828"/>
          </a:xfrm>
        </p:spPr>
        <p:txBody>
          <a:bodyPr/>
          <a:lstStyle>
            <a:lvl1pPr>
              <a:defRPr lang="en-VN" sz="1100" kern="1200" dirty="0">
                <a:solidFill>
                  <a:schemeClr val="tx1">
                    <a:tint val="75000"/>
                  </a:schemeClr>
                </a:solidFill>
                <a:latin typeface="Arial" panose="020B0604020202020204" pitchFamily="34" charset="0"/>
                <a:ea typeface="+mn-ea"/>
                <a:cs typeface="Arial" panose="020B0604020202020204" pitchFamily="34" charset="0"/>
              </a:defRPr>
            </a:lvl1pPr>
          </a:lstStyle>
          <a:p>
            <a:r>
              <a:rPr lang="vi-VN" dirty="0"/>
              <a:t>Thực hiện bởi Trường Đại học Công nghệ Thông tin, ĐHQG-HCM</a:t>
            </a:r>
            <a:endParaRPr lang="en-VN" dirty="0"/>
          </a:p>
        </p:txBody>
      </p:sp>
      <p:sp>
        <p:nvSpPr>
          <p:cNvPr id="8" name="Freeform 7">
            <a:extLst>
              <a:ext uri="{FF2B5EF4-FFF2-40B4-BE49-F238E27FC236}">
                <a16:creationId xmlns:a16="http://schemas.microsoft.com/office/drawing/2014/main" id="{9D2646A9-20B2-4E9D-002E-A164C93A765E}"/>
              </a:ext>
            </a:extLst>
          </p:cNvPr>
          <p:cNvSpPr/>
          <p:nvPr userDrawn="1"/>
        </p:nvSpPr>
        <p:spPr>
          <a:xfrm rot="10800000">
            <a:off x="-2" y="0"/>
            <a:ext cx="12192000" cy="6858000"/>
          </a:xfrm>
          <a:custGeom>
            <a:avLst/>
            <a:gdLst>
              <a:gd name="connsiteX0" fmla="*/ 0 w 12192000"/>
              <a:gd name="connsiteY0" fmla="*/ 616911 h 6858000"/>
              <a:gd name="connsiteX1" fmla="*/ 0 w 12192000"/>
              <a:gd name="connsiteY1" fmla="*/ 0 h 6858000"/>
              <a:gd name="connsiteX2" fmla="*/ 715617 w 12192000"/>
              <a:gd name="connsiteY2" fmla="*/ 0 h 6858000"/>
              <a:gd name="connsiteX3" fmla="*/ 12192000 w 12192000"/>
              <a:gd name="connsiteY3" fmla="*/ 6858000 h 6858000"/>
              <a:gd name="connsiteX4" fmla="*/ 11476383 w 12192000"/>
              <a:gd name="connsiteY4" fmla="*/ 6858000 h 6858000"/>
              <a:gd name="connsiteX5" fmla="*/ 12192000 w 12192000"/>
              <a:gd name="connsiteY5" fmla="*/ 624108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616911"/>
                </a:moveTo>
                <a:lnTo>
                  <a:pt x="0" y="0"/>
                </a:lnTo>
                <a:lnTo>
                  <a:pt x="715617" y="0"/>
                </a:lnTo>
                <a:close/>
                <a:moveTo>
                  <a:pt x="12192000" y="6858000"/>
                </a:moveTo>
                <a:lnTo>
                  <a:pt x="11476383" y="6858000"/>
                </a:lnTo>
                <a:lnTo>
                  <a:pt x="12192000" y="6241089"/>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Isosceles Triangle 12">
            <a:extLst>
              <a:ext uri="{FF2B5EF4-FFF2-40B4-BE49-F238E27FC236}">
                <a16:creationId xmlns:a16="http://schemas.microsoft.com/office/drawing/2014/main" id="{E3DA3820-010F-54E6-12EE-340FD2FE0CB9}"/>
              </a:ext>
            </a:extLst>
          </p:cNvPr>
          <p:cNvSpPr/>
          <p:nvPr userDrawn="1"/>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9C01C7F-55E1-F2CB-795D-14ADA6F747EF}"/>
              </a:ext>
            </a:extLst>
          </p:cNvPr>
          <p:cNvGrpSpPr/>
          <p:nvPr userDrawn="1"/>
        </p:nvGrpSpPr>
        <p:grpSpPr>
          <a:xfrm>
            <a:off x="58527" y="40944"/>
            <a:ext cx="2869771" cy="1563379"/>
            <a:chOff x="44879" y="27296"/>
            <a:chExt cx="2869771" cy="1563379"/>
          </a:xfrm>
          <a:solidFill>
            <a:srgbClr val="0072FF"/>
          </a:solidFill>
        </p:grpSpPr>
        <p:cxnSp>
          <p:nvCxnSpPr>
            <p:cNvPr id="11" name="Straight Connector 10">
              <a:extLst>
                <a:ext uri="{FF2B5EF4-FFF2-40B4-BE49-F238E27FC236}">
                  <a16:creationId xmlns:a16="http://schemas.microsoft.com/office/drawing/2014/main" id="{27EFB461-265B-447E-AE53-F0AB83B5002D}"/>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A811A0C-899E-BD2A-2B6B-F76A3CDCA121}"/>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4B5CB31-1B06-6224-B8E2-D0F08CE59076}"/>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4" name="Isosceles Triangle 12">
            <a:extLst>
              <a:ext uri="{FF2B5EF4-FFF2-40B4-BE49-F238E27FC236}">
                <a16:creationId xmlns:a16="http://schemas.microsoft.com/office/drawing/2014/main" id="{EBCAC4CC-6B14-0AD9-B30D-7B94535D4473}"/>
              </a:ext>
            </a:extLst>
          </p:cNvPr>
          <p:cNvSpPr/>
          <p:nvPr userDrawn="1"/>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AABFA2BC-06E9-F841-D06E-DEBB7129CD94}"/>
              </a:ext>
            </a:extLst>
          </p:cNvPr>
          <p:cNvGrpSpPr/>
          <p:nvPr userDrawn="1"/>
        </p:nvGrpSpPr>
        <p:grpSpPr>
          <a:xfrm flipH="1" flipV="1">
            <a:off x="9263702" y="5253677"/>
            <a:ext cx="2869771" cy="1563379"/>
            <a:chOff x="44879" y="27296"/>
            <a:chExt cx="2869771" cy="1563379"/>
          </a:xfrm>
          <a:solidFill>
            <a:srgbClr val="0072FF"/>
          </a:solidFill>
        </p:grpSpPr>
        <p:cxnSp>
          <p:nvCxnSpPr>
            <p:cNvPr id="16" name="Straight Connector 15">
              <a:extLst>
                <a:ext uri="{FF2B5EF4-FFF2-40B4-BE49-F238E27FC236}">
                  <a16:creationId xmlns:a16="http://schemas.microsoft.com/office/drawing/2014/main" id="{FC8E81B6-D5AC-F9AA-7729-98A69A809FE3}"/>
                </a:ext>
              </a:extLst>
            </p:cNvPr>
            <p:cNvCxnSpPr>
              <a:cxnSpLocks/>
            </p:cNvCxnSpPr>
            <p:nvPr/>
          </p:nvCxnSpPr>
          <p:spPr>
            <a:xfrm flipH="1">
              <a:off x="766351" y="34631"/>
              <a:ext cx="2148299" cy="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EFB5E89-FF82-2441-3C96-2E40FFE648D5}"/>
                </a:ext>
              </a:extLst>
            </p:cNvPr>
            <p:cNvCxnSpPr>
              <a:cxnSpLocks/>
            </p:cNvCxnSpPr>
            <p:nvPr/>
          </p:nvCxnSpPr>
          <p:spPr>
            <a:xfrm flipH="1">
              <a:off x="44879" y="27296"/>
              <a:ext cx="737495" cy="64421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562BEED6-4AFE-006D-2D1B-6B7FF1399D30}"/>
                </a:ext>
              </a:extLst>
            </p:cNvPr>
            <p:cNvCxnSpPr>
              <a:cxnSpLocks/>
            </p:cNvCxnSpPr>
            <p:nvPr/>
          </p:nvCxnSpPr>
          <p:spPr>
            <a:xfrm flipV="1">
              <a:off x="52214" y="654128"/>
              <a:ext cx="0" cy="936547"/>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grpSp>
      <p:sp>
        <p:nvSpPr>
          <p:cNvPr id="19" name="Oval 18">
            <a:extLst>
              <a:ext uri="{FF2B5EF4-FFF2-40B4-BE49-F238E27FC236}">
                <a16:creationId xmlns:a16="http://schemas.microsoft.com/office/drawing/2014/main" id="{F3765DC4-E546-6CB3-C32B-5002168C1885}"/>
              </a:ext>
            </a:extLst>
          </p:cNvPr>
          <p:cNvSpPr/>
          <p:nvPr userDrawn="1"/>
        </p:nvSpPr>
        <p:spPr>
          <a:xfrm>
            <a:off x="11928288" y="6594127"/>
            <a:ext cx="233916" cy="233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20" name="Rectangle 19">
            <a:extLst>
              <a:ext uri="{FF2B5EF4-FFF2-40B4-BE49-F238E27FC236}">
                <a16:creationId xmlns:a16="http://schemas.microsoft.com/office/drawing/2014/main" id="{704CF68F-86DE-9DE4-02A9-28AFB5A5AAFF}"/>
              </a:ext>
            </a:extLst>
          </p:cNvPr>
          <p:cNvSpPr/>
          <p:nvPr userDrawn="1"/>
        </p:nvSpPr>
        <p:spPr>
          <a:xfrm>
            <a:off x="16026" y="4629289"/>
            <a:ext cx="434350" cy="346950"/>
          </a:xfrm>
          <a:prstGeom prst="rect">
            <a:avLst/>
          </a:prstGeom>
          <a:gradFill flip="none" rotWithShape="1">
            <a:gsLst>
              <a:gs pos="0">
                <a:srgbClr val="0072FF"/>
              </a:gs>
              <a:gs pos="100000">
                <a:srgbClr val="00C6FF"/>
              </a:gs>
            </a:gsLst>
            <a:lin ang="2700000" scaled="1"/>
            <a:tileRect/>
          </a:grad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970D253A-5ACF-E7B4-CB94-7CE385706947}"/>
              </a:ext>
            </a:extLst>
          </p:cNvPr>
          <p:cNvSpPr/>
          <p:nvPr userDrawn="1"/>
        </p:nvSpPr>
        <p:spPr>
          <a:xfrm>
            <a:off x="16026" y="5005641"/>
            <a:ext cx="434350" cy="346950"/>
          </a:xfrm>
          <a:prstGeom prst="rect">
            <a:avLst/>
          </a:prstGeom>
          <a:gradFill flip="none" rotWithShape="1">
            <a:gsLst>
              <a:gs pos="0">
                <a:srgbClr val="0072FF"/>
              </a:gs>
              <a:gs pos="100000">
                <a:srgbClr val="00C6FF"/>
              </a:gs>
            </a:gsLst>
            <a:lin ang="2700000" scaled="1"/>
            <a:tileRect/>
          </a:grad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B412634D-8462-7774-CD62-1BCCD3C66D98}"/>
              </a:ext>
            </a:extLst>
          </p:cNvPr>
          <p:cNvSpPr/>
          <p:nvPr userDrawn="1"/>
        </p:nvSpPr>
        <p:spPr>
          <a:xfrm>
            <a:off x="16026" y="5381993"/>
            <a:ext cx="434350" cy="346950"/>
          </a:xfrm>
          <a:prstGeom prst="rect">
            <a:avLst/>
          </a:prstGeom>
          <a:gradFill flip="none" rotWithShape="1">
            <a:gsLst>
              <a:gs pos="0">
                <a:srgbClr val="0072FF"/>
              </a:gs>
              <a:gs pos="100000">
                <a:srgbClr val="00C6FF"/>
              </a:gs>
            </a:gsLst>
            <a:lin ang="2700000" scaled="1"/>
            <a:tileRect/>
          </a:grad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9DE8F499-81C5-DFD9-74F8-F76C0953643C}"/>
              </a:ext>
            </a:extLst>
          </p:cNvPr>
          <p:cNvSpPr/>
          <p:nvPr userDrawn="1"/>
        </p:nvSpPr>
        <p:spPr>
          <a:xfrm>
            <a:off x="16026" y="5758345"/>
            <a:ext cx="434350" cy="346950"/>
          </a:xfrm>
          <a:prstGeom prst="rect">
            <a:avLst/>
          </a:prstGeom>
          <a:no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2323D2CF-0CBB-FBC2-6960-BFB0F1C90BFA}"/>
              </a:ext>
            </a:extLst>
          </p:cNvPr>
          <p:cNvSpPr/>
          <p:nvPr userDrawn="1"/>
        </p:nvSpPr>
        <p:spPr>
          <a:xfrm>
            <a:off x="16026" y="6134697"/>
            <a:ext cx="434350" cy="346950"/>
          </a:xfrm>
          <a:prstGeom prst="rect">
            <a:avLst/>
          </a:prstGeom>
          <a:no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EAADE3BD-9DA6-DD92-09E2-110656AC1B47}"/>
              </a:ext>
            </a:extLst>
          </p:cNvPr>
          <p:cNvSpPr/>
          <p:nvPr userDrawn="1"/>
        </p:nvSpPr>
        <p:spPr>
          <a:xfrm>
            <a:off x="16026" y="6511050"/>
            <a:ext cx="434350" cy="346950"/>
          </a:xfrm>
          <a:prstGeom prst="rect">
            <a:avLst/>
          </a:prstGeom>
          <a:no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descr="A picture containing clipart, vector graphics&#10;&#10;Description automatically generated">
            <a:extLst>
              <a:ext uri="{FF2B5EF4-FFF2-40B4-BE49-F238E27FC236}">
                <a16:creationId xmlns:a16="http://schemas.microsoft.com/office/drawing/2014/main" id="{1B5C196E-D0AE-CCC2-7ED7-5FD1F3D44B4E}"/>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12638" y="362637"/>
            <a:ext cx="544288" cy="450213"/>
          </a:xfrm>
          <a:prstGeom prst="rect">
            <a:avLst/>
          </a:prstGeom>
        </p:spPr>
      </p:pic>
      <p:sp>
        <p:nvSpPr>
          <p:cNvPr id="7" name="Slide Number Placeholder 6">
            <a:extLst>
              <a:ext uri="{FF2B5EF4-FFF2-40B4-BE49-F238E27FC236}">
                <a16:creationId xmlns:a16="http://schemas.microsoft.com/office/drawing/2014/main" id="{3BE365E8-16C7-CA1B-5178-544D2DD77227}"/>
              </a:ext>
            </a:extLst>
          </p:cNvPr>
          <p:cNvSpPr>
            <a:spLocks noGrp="1"/>
          </p:cNvSpPr>
          <p:nvPr>
            <p:ph type="sldNum" sz="quarter" idx="12"/>
          </p:nvPr>
        </p:nvSpPr>
        <p:spPr>
          <a:xfrm>
            <a:off x="11899446" y="6565285"/>
            <a:ext cx="291600" cy="291600"/>
          </a:xfrm>
        </p:spPr>
        <p:txBody>
          <a:bodyPr/>
          <a:lstStyle>
            <a:lvl1pPr algn="ctr">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sp>
        <p:nvSpPr>
          <p:cNvPr id="5" name="Date Placeholder 4">
            <a:extLst>
              <a:ext uri="{FF2B5EF4-FFF2-40B4-BE49-F238E27FC236}">
                <a16:creationId xmlns:a16="http://schemas.microsoft.com/office/drawing/2014/main" id="{F4A2DD06-FBE3-7873-A44C-AF7E41B47032}"/>
              </a:ext>
            </a:extLst>
          </p:cNvPr>
          <p:cNvSpPr>
            <a:spLocks noGrp="1"/>
          </p:cNvSpPr>
          <p:nvPr>
            <p:ph type="dt" sz="half" idx="13"/>
          </p:nvPr>
        </p:nvSpPr>
        <p:spPr>
          <a:xfrm>
            <a:off x="838200" y="6481647"/>
            <a:ext cx="2090098" cy="239828"/>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pPr/>
              <a:t>April 21, 2024</a:t>
            </a:fld>
            <a:endParaRPr lang="en-US" dirty="0"/>
          </a:p>
        </p:txBody>
      </p:sp>
    </p:spTree>
    <p:extLst>
      <p:ext uri="{BB962C8B-B14F-4D97-AF65-F5344CB8AC3E}">
        <p14:creationId xmlns:p14="http://schemas.microsoft.com/office/powerpoint/2010/main" val="26870224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Mẫu nội dung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E29DC-55F0-F47B-3718-A35859CDD6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VN"/>
          </a:p>
        </p:txBody>
      </p:sp>
      <p:sp>
        <p:nvSpPr>
          <p:cNvPr id="3" name="Picture Placeholder 2">
            <a:extLst>
              <a:ext uri="{FF2B5EF4-FFF2-40B4-BE49-F238E27FC236}">
                <a16:creationId xmlns:a16="http://schemas.microsoft.com/office/drawing/2014/main" id="{298E4A4A-E817-C827-E00E-45BE2297F8F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VN"/>
          </a:p>
        </p:txBody>
      </p:sp>
      <p:sp>
        <p:nvSpPr>
          <p:cNvPr id="4" name="Text Placeholder 3">
            <a:extLst>
              <a:ext uri="{FF2B5EF4-FFF2-40B4-BE49-F238E27FC236}">
                <a16:creationId xmlns:a16="http://schemas.microsoft.com/office/drawing/2014/main" id="{DD1CBCD9-BF05-A0CA-F591-8757A370E53A}"/>
              </a:ext>
            </a:extLst>
          </p:cNvPr>
          <p:cNvSpPr>
            <a:spLocks noGrp="1"/>
          </p:cNvSpPr>
          <p:nvPr>
            <p:ph type="body" sz="half" idx="2"/>
          </p:nvPr>
        </p:nvSpPr>
        <p:spPr>
          <a:xfrm>
            <a:off x="839788" y="2057400"/>
            <a:ext cx="3932237" cy="3811588"/>
          </a:xfrm>
        </p:spPr>
        <p:txBody>
          <a:bodyPr/>
          <a:lstStyle>
            <a:lvl1pPr marL="0" indent="0">
              <a:buNone/>
              <a:defRPr sz="1600">
                <a:latin typeface="Arial" panose="020B0604020202020204" pitchFamily="34"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6" name="Footer Placeholder 5">
            <a:extLst>
              <a:ext uri="{FF2B5EF4-FFF2-40B4-BE49-F238E27FC236}">
                <a16:creationId xmlns:a16="http://schemas.microsoft.com/office/drawing/2014/main" id="{46EB012B-14DB-4805-E51C-850F8761054D}"/>
              </a:ext>
            </a:extLst>
          </p:cNvPr>
          <p:cNvSpPr>
            <a:spLocks noGrp="1"/>
          </p:cNvSpPr>
          <p:nvPr>
            <p:ph type="ftr" sz="quarter" idx="11"/>
          </p:nvPr>
        </p:nvSpPr>
        <p:spPr>
          <a:xfrm>
            <a:off x="3485322" y="6481647"/>
            <a:ext cx="5221356" cy="239828"/>
          </a:xfrm>
        </p:spPr>
        <p:txBody>
          <a:bodyPr/>
          <a:lstStyle>
            <a:lvl1pPr>
              <a:defRPr lang="en-VN" sz="1100" kern="1200" dirty="0">
                <a:solidFill>
                  <a:schemeClr val="tx1">
                    <a:tint val="75000"/>
                  </a:schemeClr>
                </a:solidFill>
                <a:latin typeface="Arial" panose="020B0604020202020204" pitchFamily="34" charset="0"/>
                <a:ea typeface="+mn-ea"/>
                <a:cs typeface="Arial" panose="020B0604020202020204" pitchFamily="34" charset="0"/>
              </a:defRPr>
            </a:lvl1pPr>
          </a:lstStyle>
          <a:p>
            <a:r>
              <a:rPr lang="vi-VN" dirty="0"/>
              <a:t>Thực hiện bởi Trường Đại học Công nghệ Thông tin, ĐHQG-HCM</a:t>
            </a:r>
            <a:endParaRPr lang="en-VN" dirty="0"/>
          </a:p>
        </p:txBody>
      </p:sp>
      <p:sp>
        <p:nvSpPr>
          <p:cNvPr id="8" name="Freeform 7">
            <a:extLst>
              <a:ext uri="{FF2B5EF4-FFF2-40B4-BE49-F238E27FC236}">
                <a16:creationId xmlns:a16="http://schemas.microsoft.com/office/drawing/2014/main" id="{091CF413-55DD-58D0-694A-0DD1DC5F0CCF}"/>
              </a:ext>
            </a:extLst>
          </p:cNvPr>
          <p:cNvSpPr/>
          <p:nvPr userDrawn="1"/>
        </p:nvSpPr>
        <p:spPr>
          <a:xfrm rot="10800000">
            <a:off x="-2" y="0"/>
            <a:ext cx="12192000" cy="6858000"/>
          </a:xfrm>
          <a:custGeom>
            <a:avLst/>
            <a:gdLst>
              <a:gd name="connsiteX0" fmla="*/ 0 w 12192000"/>
              <a:gd name="connsiteY0" fmla="*/ 616911 h 6858000"/>
              <a:gd name="connsiteX1" fmla="*/ 0 w 12192000"/>
              <a:gd name="connsiteY1" fmla="*/ 0 h 6858000"/>
              <a:gd name="connsiteX2" fmla="*/ 715617 w 12192000"/>
              <a:gd name="connsiteY2" fmla="*/ 0 h 6858000"/>
              <a:gd name="connsiteX3" fmla="*/ 12192000 w 12192000"/>
              <a:gd name="connsiteY3" fmla="*/ 6858000 h 6858000"/>
              <a:gd name="connsiteX4" fmla="*/ 11476383 w 12192000"/>
              <a:gd name="connsiteY4" fmla="*/ 6858000 h 6858000"/>
              <a:gd name="connsiteX5" fmla="*/ 12192000 w 12192000"/>
              <a:gd name="connsiteY5" fmla="*/ 624108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616911"/>
                </a:moveTo>
                <a:lnTo>
                  <a:pt x="0" y="0"/>
                </a:lnTo>
                <a:lnTo>
                  <a:pt x="715617" y="0"/>
                </a:lnTo>
                <a:close/>
                <a:moveTo>
                  <a:pt x="12192000" y="6858000"/>
                </a:moveTo>
                <a:lnTo>
                  <a:pt x="11476383" y="6858000"/>
                </a:lnTo>
                <a:lnTo>
                  <a:pt x="12192000" y="6241089"/>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Isosceles Triangle 12">
            <a:extLst>
              <a:ext uri="{FF2B5EF4-FFF2-40B4-BE49-F238E27FC236}">
                <a16:creationId xmlns:a16="http://schemas.microsoft.com/office/drawing/2014/main" id="{D0838B7F-C9B8-5774-F077-530355943B43}"/>
              </a:ext>
            </a:extLst>
          </p:cNvPr>
          <p:cNvSpPr/>
          <p:nvPr userDrawn="1"/>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8BB0766C-1141-EF46-A49F-1355FBAABD0F}"/>
              </a:ext>
            </a:extLst>
          </p:cNvPr>
          <p:cNvGrpSpPr/>
          <p:nvPr userDrawn="1"/>
        </p:nvGrpSpPr>
        <p:grpSpPr>
          <a:xfrm>
            <a:off x="58527" y="40944"/>
            <a:ext cx="2869771" cy="1563379"/>
            <a:chOff x="44879" y="27296"/>
            <a:chExt cx="2869771" cy="1563379"/>
          </a:xfrm>
          <a:solidFill>
            <a:srgbClr val="0072FF"/>
          </a:solidFill>
        </p:grpSpPr>
        <p:cxnSp>
          <p:nvCxnSpPr>
            <p:cNvPr id="11" name="Straight Connector 10">
              <a:extLst>
                <a:ext uri="{FF2B5EF4-FFF2-40B4-BE49-F238E27FC236}">
                  <a16:creationId xmlns:a16="http://schemas.microsoft.com/office/drawing/2014/main" id="{4ABF3C35-2161-E4C8-E673-CCF35A0B4807}"/>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2348080-E29C-4997-A409-76FA41D3C43A}"/>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4D9E9411-6A6B-5C7F-F0EE-071A0DBF0D05}"/>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4" name="Isosceles Triangle 12">
            <a:extLst>
              <a:ext uri="{FF2B5EF4-FFF2-40B4-BE49-F238E27FC236}">
                <a16:creationId xmlns:a16="http://schemas.microsoft.com/office/drawing/2014/main" id="{DC674C23-BC8F-9996-69A1-8E7ABD8C60C2}"/>
              </a:ext>
            </a:extLst>
          </p:cNvPr>
          <p:cNvSpPr/>
          <p:nvPr userDrawn="1"/>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07C409ED-36BC-003F-845E-497279365061}"/>
              </a:ext>
            </a:extLst>
          </p:cNvPr>
          <p:cNvGrpSpPr/>
          <p:nvPr userDrawn="1"/>
        </p:nvGrpSpPr>
        <p:grpSpPr>
          <a:xfrm flipH="1" flipV="1">
            <a:off x="9263702" y="5253677"/>
            <a:ext cx="2869771" cy="1563379"/>
            <a:chOff x="44879" y="27296"/>
            <a:chExt cx="2869771" cy="1563379"/>
          </a:xfrm>
          <a:solidFill>
            <a:srgbClr val="0072FF"/>
          </a:solidFill>
        </p:grpSpPr>
        <p:cxnSp>
          <p:nvCxnSpPr>
            <p:cNvPr id="16" name="Straight Connector 15">
              <a:extLst>
                <a:ext uri="{FF2B5EF4-FFF2-40B4-BE49-F238E27FC236}">
                  <a16:creationId xmlns:a16="http://schemas.microsoft.com/office/drawing/2014/main" id="{F7C05C62-5535-F81F-976D-9A335041D158}"/>
                </a:ext>
              </a:extLst>
            </p:cNvPr>
            <p:cNvCxnSpPr>
              <a:cxnSpLocks/>
            </p:cNvCxnSpPr>
            <p:nvPr/>
          </p:nvCxnSpPr>
          <p:spPr>
            <a:xfrm flipH="1">
              <a:off x="766351" y="34631"/>
              <a:ext cx="2148299" cy="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F420A0D-917B-C624-28A3-C0C824C2B226}"/>
                </a:ext>
              </a:extLst>
            </p:cNvPr>
            <p:cNvCxnSpPr>
              <a:cxnSpLocks/>
            </p:cNvCxnSpPr>
            <p:nvPr/>
          </p:nvCxnSpPr>
          <p:spPr>
            <a:xfrm flipH="1">
              <a:off x="44879" y="27296"/>
              <a:ext cx="737495" cy="64421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6367E11-6F4E-99ED-4B0B-7522FA43F7E0}"/>
                </a:ext>
              </a:extLst>
            </p:cNvPr>
            <p:cNvCxnSpPr>
              <a:cxnSpLocks/>
            </p:cNvCxnSpPr>
            <p:nvPr/>
          </p:nvCxnSpPr>
          <p:spPr>
            <a:xfrm flipV="1">
              <a:off x="52214" y="654128"/>
              <a:ext cx="0" cy="936547"/>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grpSp>
      <p:sp>
        <p:nvSpPr>
          <p:cNvPr id="19" name="Oval 18">
            <a:extLst>
              <a:ext uri="{FF2B5EF4-FFF2-40B4-BE49-F238E27FC236}">
                <a16:creationId xmlns:a16="http://schemas.microsoft.com/office/drawing/2014/main" id="{3CB33257-2B8E-6873-E8FD-C4F8FF8DCD25}"/>
              </a:ext>
            </a:extLst>
          </p:cNvPr>
          <p:cNvSpPr/>
          <p:nvPr userDrawn="1"/>
        </p:nvSpPr>
        <p:spPr>
          <a:xfrm>
            <a:off x="11929297" y="6593855"/>
            <a:ext cx="233916" cy="233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20" name="Rectangle 19">
            <a:extLst>
              <a:ext uri="{FF2B5EF4-FFF2-40B4-BE49-F238E27FC236}">
                <a16:creationId xmlns:a16="http://schemas.microsoft.com/office/drawing/2014/main" id="{30AFF6BE-7E65-931F-E1CD-6187FEE7D4EE}"/>
              </a:ext>
            </a:extLst>
          </p:cNvPr>
          <p:cNvSpPr/>
          <p:nvPr userDrawn="1"/>
        </p:nvSpPr>
        <p:spPr>
          <a:xfrm>
            <a:off x="16026" y="4629289"/>
            <a:ext cx="434350" cy="346950"/>
          </a:xfrm>
          <a:prstGeom prst="rect">
            <a:avLst/>
          </a:prstGeom>
          <a:gradFill flip="none" rotWithShape="1">
            <a:gsLst>
              <a:gs pos="0">
                <a:srgbClr val="0072FF"/>
              </a:gs>
              <a:gs pos="100000">
                <a:srgbClr val="00C6FF"/>
              </a:gs>
            </a:gsLst>
            <a:lin ang="2700000" scaled="1"/>
            <a:tileRect/>
          </a:grad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8494812A-A981-DB3F-4202-2EDAAEB9815A}"/>
              </a:ext>
            </a:extLst>
          </p:cNvPr>
          <p:cNvSpPr/>
          <p:nvPr userDrawn="1"/>
        </p:nvSpPr>
        <p:spPr>
          <a:xfrm>
            <a:off x="16026" y="5005641"/>
            <a:ext cx="434350" cy="346950"/>
          </a:xfrm>
          <a:prstGeom prst="rect">
            <a:avLst/>
          </a:prstGeom>
          <a:gradFill flip="none" rotWithShape="1">
            <a:gsLst>
              <a:gs pos="0">
                <a:srgbClr val="0072FF"/>
              </a:gs>
              <a:gs pos="100000">
                <a:srgbClr val="00C6FF"/>
              </a:gs>
            </a:gsLst>
            <a:lin ang="2700000" scaled="1"/>
            <a:tileRect/>
          </a:grad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CA980ED-F1D8-2698-18CD-9DC6DEFF348A}"/>
              </a:ext>
            </a:extLst>
          </p:cNvPr>
          <p:cNvSpPr/>
          <p:nvPr userDrawn="1"/>
        </p:nvSpPr>
        <p:spPr>
          <a:xfrm>
            <a:off x="16026" y="5381993"/>
            <a:ext cx="434350" cy="346950"/>
          </a:xfrm>
          <a:prstGeom prst="rect">
            <a:avLst/>
          </a:prstGeom>
          <a:gradFill flip="none" rotWithShape="1">
            <a:gsLst>
              <a:gs pos="0">
                <a:srgbClr val="0072FF"/>
              </a:gs>
              <a:gs pos="100000">
                <a:srgbClr val="00C6FF"/>
              </a:gs>
            </a:gsLst>
            <a:lin ang="2700000" scaled="1"/>
            <a:tileRect/>
          </a:grad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257A1BEE-0967-806A-FED8-28BE6225F412}"/>
              </a:ext>
            </a:extLst>
          </p:cNvPr>
          <p:cNvSpPr/>
          <p:nvPr userDrawn="1"/>
        </p:nvSpPr>
        <p:spPr>
          <a:xfrm>
            <a:off x="16026" y="5758345"/>
            <a:ext cx="434350" cy="346950"/>
          </a:xfrm>
          <a:prstGeom prst="rect">
            <a:avLst/>
          </a:prstGeom>
          <a:no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9B33D227-3B6F-CC84-F43C-7FBDC74D7027}"/>
              </a:ext>
            </a:extLst>
          </p:cNvPr>
          <p:cNvSpPr/>
          <p:nvPr userDrawn="1"/>
        </p:nvSpPr>
        <p:spPr>
          <a:xfrm>
            <a:off x="16026" y="6134697"/>
            <a:ext cx="434350" cy="346950"/>
          </a:xfrm>
          <a:prstGeom prst="rect">
            <a:avLst/>
          </a:prstGeom>
          <a:no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35F350F5-BC8F-5B4F-FA94-F5A886F3859E}"/>
              </a:ext>
            </a:extLst>
          </p:cNvPr>
          <p:cNvSpPr/>
          <p:nvPr userDrawn="1"/>
        </p:nvSpPr>
        <p:spPr>
          <a:xfrm>
            <a:off x="16026" y="6511050"/>
            <a:ext cx="434350" cy="346950"/>
          </a:xfrm>
          <a:prstGeom prst="rect">
            <a:avLst/>
          </a:prstGeom>
          <a:no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descr="A picture containing clipart, vector graphics&#10;&#10;Description automatically generated">
            <a:extLst>
              <a:ext uri="{FF2B5EF4-FFF2-40B4-BE49-F238E27FC236}">
                <a16:creationId xmlns:a16="http://schemas.microsoft.com/office/drawing/2014/main" id="{1159E91D-76B6-E388-6E9A-90AF56327829}"/>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12638" y="362637"/>
            <a:ext cx="544288" cy="450213"/>
          </a:xfrm>
          <a:prstGeom prst="rect">
            <a:avLst/>
          </a:prstGeom>
        </p:spPr>
      </p:pic>
      <p:sp>
        <p:nvSpPr>
          <p:cNvPr id="7" name="Slide Number Placeholder 6">
            <a:extLst>
              <a:ext uri="{FF2B5EF4-FFF2-40B4-BE49-F238E27FC236}">
                <a16:creationId xmlns:a16="http://schemas.microsoft.com/office/drawing/2014/main" id="{7401E60B-49E0-F1AF-2056-D979BF688F24}"/>
              </a:ext>
            </a:extLst>
          </p:cNvPr>
          <p:cNvSpPr>
            <a:spLocks noGrp="1"/>
          </p:cNvSpPr>
          <p:nvPr>
            <p:ph type="sldNum" sz="quarter" idx="12"/>
          </p:nvPr>
        </p:nvSpPr>
        <p:spPr>
          <a:xfrm>
            <a:off x="11900455" y="6565013"/>
            <a:ext cx="291600" cy="291600"/>
          </a:xfrm>
        </p:spPr>
        <p:txBody>
          <a:bodyPr/>
          <a:lstStyle>
            <a:lvl1pPr marL="0" algn="ctr" defTabSz="914400" rtl="0" eaLnBrk="1" latinLnBrk="0" hangingPunct="1">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sp>
        <p:nvSpPr>
          <p:cNvPr id="5" name="Date Placeholder 4">
            <a:extLst>
              <a:ext uri="{FF2B5EF4-FFF2-40B4-BE49-F238E27FC236}">
                <a16:creationId xmlns:a16="http://schemas.microsoft.com/office/drawing/2014/main" id="{2B42D31F-1378-BD90-39BE-0040CC48E6CF}"/>
              </a:ext>
            </a:extLst>
          </p:cNvPr>
          <p:cNvSpPr>
            <a:spLocks noGrp="1"/>
          </p:cNvSpPr>
          <p:nvPr>
            <p:ph type="dt" sz="half" idx="13"/>
          </p:nvPr>
        </p:nvSpPr>
        <p:spPr>
          <a:xfrm>
            <a:off x="838200" y="6481647"/>
            <a:ext cx="2090098" cy="239828"/>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pPr/>
              <a:t>April 21, 2024</a:t>
            </a:fld>
            <a:endParaRPr lang="en-US" dirty="0"/>
          </a:p>
        </p:txBody>
      </p:sp>
    </p:spTree>
    <p:extLst>
      <p:ext uri="{BB962C8B-B14F-4D97-AF65-F5344CB8AC3E}">
        <p14:creationId xmlns:p14="http://schemas.microsoft.com/office/powerpoint/2010/main" val="7164233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Trang trốn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8FCF4205-FE69-B110-BFEC-96C243E846C8}"/>
              </a:ext>
            </a:extLst>
          </p:cNvPr>
          <p:cNvSpPr>
            <a:spLocks noGrp="1"/>
          </p:cNvSpPr>
          <p:nvPr>
            <p:ph type="ftr" sz="quarter" idx="11"/>
          </p:nvPr>
        </p:nvSpPr>
        <p:spPr>
          <a:xfrm>
            <a:off x="3684104" y="6481647"/>
            <a:ext cx="4823792" cy="239828"/>
          </a:xfrm>
        </p:spPr>
        <p:txBody>
          <a:bodyPr/>
          <a:lstStyle>
            <a:lvl1pPr>
              <a:defRPr lang="en-VN" sz="1100" kern="1200" dirty="0">
                <a:solidFill>
                  <a:schemeClr val="tx1">
                    <a:tint val="75000"/>
                  </a:schemeClr>
                </a:solidFill>
                <a:latin typeface="Arial" panose="020B0604020202020204" pitchFamily="34" charset="0"/>
                <a:ea typeface="+mn-ea"/>
                <a:cs typeface="Arial" panose="020B0604020202020204" pitchFamily="34" charset="0"/>
              </a:defRPr>
            </a:lvl1pPr>
          </a:lstStyle>
          <a:p>
            <a:r>
              <a:rPr lang="vi-VN" dirty="0"/>
              <a:t>Thực hiện bởi Trường Đại học Công nghệ Thông tin, ĐHQG-HCM</a:t>
            </a:r>
            <a:endParaRPr lang="en-VN" dirty="0"/>
          </a:p>
        </p:txBody>
      </p:sp>
      <p:sp>
        <p:nvSpPr>
          <p:cNvPr id="5" name="Freeform 4">
            <a:extLst>
              <a:ext uri="{FF2B5EF4-FFF2-40B4-BE49-F238E27FC236}">
                <a16:creationId xmlns:a16="http://schemas.microsoft.com/office/drawing/2014/main" id="{7B001B7A-ACFD-E95F-12D9-19AAE5D26050}"/>
              </a:ext>
            </a:extLst>
          </p:cNvPr>
          <p:cNvSpPr/>
          <p:nvPr userDrawn="1"/>
        </p:nvSpPr>
        <p:spPr>
          <a:xfrm rot="10800000">
            <a:off x="-2" y="0"/>
            <a:ext cx="12192000" cy="6858000"/>
          </a:xfrm>
          <a:custGeom>
            <a:avLst/>
            <a:gdLst>
              <a:gd name="connsiteX0" fmla="*/ 0 w 12192000"/>
              <a:gd name="connsiteY0" fmla="*/ 616911 h 6858000"/>
              <a:gd name="connsiteX1" fmla="*/ 0 w 12192000"/>
              <a:gd name="connsiteY1" fmla="*/ 0 h 6858000"/>
              <a:gd name="connsiteX2" fmla="*/ 715617 w 12192000"/>
              <a:gd name="connsiteY2" fmla="*/ 0 h 6858000"/>
              <a:gd name="connsiteX3" fmla="*/ 12192000 w 12192000"/>
              <a:gd name="connsiteY3" fmla="*/ 6858000 h 6858000"/>
              <a:gd name="connsiteX4" fmla="*/ 11476383 w 12192000"/>
              <a:gd name="connsiteY4" fmla="*/ 6858000 h 6858000"/>
              <a:gd name="connsiteX5" fmla="*/ 12192000 w 12192000"/>
              <a:gd name="connsiteY5" fmla="*/ 624108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616911"/>
                </a:moveTo>
                <a:lnTo>
                  <a:pt x="0" y="0"/>
                </a:lnTo>
                <a:lnTo>
                  <a:pt x="715617" y="0"/>
                </a:lnTo>
                <a:close/>
                <a:moveTo>
                  <a:pt x="12192000" y="6858000"/>
                </a:moveTo>
                <a:lnTo>
                  <a:pt x="11476383" y="6858000"/>
                </a:lnTo>
                <a:lnTo>
                  <a:pt x="12192000" y="6241089"/>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Isosceles Triangle 12">
            <a:extLst>
              <a:ext uri="{FF2B5EF4-FFF2-40B4-BE49-F238E27FC236}">
                <a16:creationId xmlns:a16="http://schemas.microsoft.com/office/drawing/2014/main" id="{EC54FC6D-4EA2-05B8-622E-978CA44EE451}"/>
              </a:ext>
            </a:extLst>
          </p:cNvPr>
          <p:cNvSpPr/>
          <p:nvPr userDrawn="1"/>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686BFCC2-A4FC-FD21-E540-274D8A5E86A6}"/>
              </a:ext>
            </a:extLst>
          </p:cNvPr>
          <p:cNvGrpSpPr/>
          <p:nvPr userDrawn="1"/>
        </p:nvGrpSpPr>
        <p:grpSpPr>
          <a:xfrm>
            <a:off x="58527" y="40944"/>
            <a:ext cx="2869771" cy="1563379"/>
            <a:chOff x="44879" y="27296"/>
            <a:chExt cx="2869771" cy="1563379"/>
          </a:xfrm>
          <a:solidFill>
            <a:srgbClr val="0072FF"/>
          </a:solidFill>
        </p:grpSpPr>
        <p:cxnSp>
          <p:nvCxnSpPr>
            <p:cNvPr id="8" name="Straight Connector 7">
              <a:extLst>
                <a:ext uri="{FF2B5EF4-FFF2-40B4-BE49-F238E27FC236}">
                  <a16:creationId xmlns:a16="http://schemas.microsoft.com/office/drawing/2014/main" id="{FE02FF7A-C97B-6315-EE50-502DD70172C7}"/>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FBB8E8B-5D54-0BE8-2B45-A52136DC7C14}"/>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26865F1-6407-106A-3054-46BDFFCABBCE}"/>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1" name="Isosceles Triangle 12">
            <a:extLst>
              <a:ext uri="{FF2B5EF4-FFF2-40B4-BE49-F238E27FC236}">
                <a16:creationId xmlns:a16="http://schemas.microsoft.com/office/drawing/2014/main" id="{F7A0C3F8-4035-744F-55A7-EA06C1D5C7EA}"/>
              </a:ext>
            </a:extLst>
          </p:cNvPr>
          <p:cNvSpPr/>
          <p:nvPr userDrawn="1"/>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CC9E4668-1010-687F-A942-6C4D5A705103}"/>
              </a:ext>
            </a:extLst>
          </p:cNvPr>
          <p:cNvGrpSpPr/>
          <p:nvPr userDrawn="1"/>
        </p:nvGrpSpPr>
        <p:grpSpPr>
          <a:xfrm flipH="1" flipV="1">
            <a:off x="9263702" y="5253677"/>
            <a:ext cx="2869771" cy="1563379"/>
            <a:chOff x="44879" y="27296"/>
            <a:chExt cx="2869771" cy="1563379"/>
          </a:xfrm>
          <a:solidFill>
            <a:srgbClr val="0072FF"/>
          </a:solidFill>
        </p:grpSpPr>
        <p:cxnSp>
          <p:nvCxnSpPr>
            <p:cNvPr id="13" name="Straight Connector 12">
              <a:extLst>
                <a:ext uri="{FF2B5EF4-FFF2-40B4-BE49-F238E27FC236}">
                  <a16:creationId xmlns:a16="http://schemas.microsoft.com/office/drawing/2014/main" id="{5C38CE8D-69BB-4124-0995-8FFFD3591CF4}"/>
                </a:ext>
              </a:extLst>
            </p:cNvPr>
            <p:cNvCxnSpPr>
              <a:cxnSpLocks/>
            </p:cNvCxnSpPr>
            <p:nvPr/>
          </p:nvCxnSpPr>
          <p:spPr>
            <a:xfrm flipH="1">
              <a:off x="766351" y="34631"/>
              <a:ext cx="2148299" cy="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67A915F-DF8B-DE38-6935-2EF2855BD441}"/>
                </a:ext>
              </a:extLst>
            </p:cNvPr>
            <p:cNvCxnSpPr>
              <a:cxnSpLocks/>
            </p:cNvCxnSpPr>
            <p:nvPr/>
          </p:nvCxnSpPr>
          <p:spPr>
            <a:xfrm flipH="1">
              <a:off x="44879" y="27296"/>
              <a:ext cx="737495" cy="64421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9EE0435-0ACC-2AB8-1B9F-A6029A49FCEA}"/>
                </a:ext>
              </a:extLst>
            </p:cNvPr>
            <p:cNvCxnSpPr>
              <a:cxnSpLocks/>
            </p:cNvCxnSpPr>
            <p:nvPr/>
          </p:nvCxnSpPr>
          <p:spPr>
            <a:xfrm flipV="1">
              <a:off x="52214" y="654128"/>
              <a:ext cx="0" cy="936547"/>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grpSp>
      <p:sp>
        <p:nvSpPr>
          <p:cNvPr id="16" name="Oval 15">
            <a:extLst>
              <a:ext uri="{FF2B5EF4-FFF2-40B4-BE49-F238E27FC236}">
                <a16:creationId xmlns:a16="http://schemas.microsoft.com/office/drawing/2014/main" id="{193E2330-6133-BE87-4D2E-C83A58844D20}"/>
              </a:ext>
            </a:extLst>
          </p:cNvPr>
          <p:cNvSpPr/>
          <p:nvPr userDrawn="1"/>
        </p:nvSpPr>
        <p:spPr>
          <a:xfrm>
            <a:off x="11926541" y="6589084"/>
            <a:ext cx="233916" cy="233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A037ACE3-8FB7-24F0-3868-FE9125A2AECB}"/>
              </a:ext>
            </a:extLst>
          </p:cNvPr>
          <p:cNvSpPr/>
          <p:nvPr userDrawn="1"/>
        </p:nvSpPr>
        <p:spPr>
          <a:xfrm>
            <a:off x="16026" y="4629289"/>
            <a:ext cx="434350" cy="346950"/>
          </a:xfrm>
          <a:prstGeom prst="rect">
            <a:avLst/>
          </a:prstGeom>
          <a:gradFill flip="none" rotWithShape="1">
            <a:gsLst>
              <a:gs pos="0">
                <a:srgbClr val="0072FF"/>
              </a:gs>
              <a:gs pos="100000">
                <a:srgbClr val="00C6FF"/>
              </a:gs>
            </a:gsLst>
            <a:lin ang="2700000" scaled="1"/>
            <a:tileRect/>
          </a:grad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CCA5D02D-0007-4DC9-960D-BEF3BFABF7BF}"/>
              </a:ext>
            </a:extLst>
          </p:cNvPr>
          <p:cNvSpPr/>
          <p:nvPr userDrawn="1"/>
        </p:nvSpPr>
        <p:spPr>
          <a:xfrm>
            <a:off x="16026" y="5005641"/>
            <a:ext cx="434350" cy="346950"/>
          </a:xfrm>
          <a:prstGeom prst="rect">
            <a:avLst/>
          </a:prstGeom>
          <a:gradFill flip="none" rotWithShape="1">
            <a:gsLst>
              <a:gs pos="0">
                <a:srgbClr val="0072FF"/>
              </a:gs>
              <a:gs pos="100000">
                <a:srgbClr val="00C6FF"/>
              </a:gs>
            </a:gsLst>
            <a:lin ang="2700000" scaled="1"/>
            <a:tileRect/>
          </a:grad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A0C732A1-B62D-CEEA-BA05-6809BA51F8BD}"/>
              </a:ext>
            </a:extLst>
          </p:cNvPr>
          <p:cNvSpPr/>
          <p:nvPr userDrawn="1"/>
        </p:nvSpPr>
        <p:spPr>
          <a:xfrm>
            <a:off x="16026" y="5381993"/>
            <a:ext cx="434350" cy="346950"/>
          </a:xfrm>
          <a:prstGeom prst="rect">
            <a:avLst/>
          </a:prstGeom>
          <a:gradFill flip="none" rotWithShape="1">
            <a:gsLst>
              <a:gs pos="0">
                <a:srgbClr val="0072FF"/>
              </a:gs>
              <a:gs pos="100000">
                <a:srgbClr val="00C6FF"/>
              </a:gs>
            </a:gsLst>
            <a:lin ang="2700000" scaled="1"/>
            <a:tileRect/>
          </a:grad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4F4BF2B8-4151-6AB5-64CB-17CA8871FA1F}"/>
              </a:ext>
            </a:extLst>
          </p:cNvPr>
          <p:cNvSpPr/>
          <p:nvPr userDrawn="1"/>
        </p:nvSpPr>
        <p:spPr>
          <a:xfrm>
            <a:off x="16026" y="5758345"/>
            <a:ext cx="434350" cy="346950"/>
          </a:xfrm>
          <a:prstGeom prst="rect">
            <a:avLst/>
          </a:prstGeom>
          <a:no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0EAEE115-474E-0C83-1F8A-40C90DC3E1A5}"/>
              </a:ext>
            </a:extLst>
          </p:cNvPr>
          <p:cNvSpPr/>
          <p:nvPr userDrawn="1"/>
        </p:nvSpPr>
        <p:spPr>
          <a:xfrm>
            <a:off x="16026" y="6134697"/>
            <a:ext cx="434350" cy="346950"/>
          </a:xfrm>
          <a:prstGeom prst="rect">
            <a:avLst/>
          </a:prstGeom>
          <a:no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18BB15EA-009D-0AD0-1DD5-9E5E43B737E1}"/>
              </a:ext>
            </a:extLst>
          </p:cNvPr>
          <p:cNvSpPr/>
          <p:nvPr userDrawn="1"/>
        </p:nvSpPr>
        <p:spPr>
          <a:xfrm>
            <a:off x="16026" y="6511050"/>
            <a:ext cx="434350" cy="346950"/>
          </a:xfrm>
          <a:prstGeom prst="rect">
            <a:avLst/>
          </a:prstGeom>
          <a:no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Picture 22" descr="A picture containing clipart, vector graphics&#10;&#10;Description automatically generated">
            <a:extLst>
              <a:ext uri="{FF2B5EF4-FFF2-40B4-BE49-F238E27FC236}">
                <a16:creationId xmlns:a16="http://schemas.microsoft.com/office/drawing/2014/main" id="{0750E473-BE75-9843-7989-024278E0E268}"/>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12638" y="362637"/>
            <a:ext cx="544288" cy="450213"/>
          </a:xfrm>
          <a:prstGeom prst="rect">
            <a:avLst/>
          </a:prstGeom>
        </p:spPr>
      </p:pic>
      <p:sp>
        <p:nvSpPr>
          <p:cNvPr id="4" name="Slide Number Placeholder 3">
            <a:extLst>
              <a:ext uri="{FF2B5EF4-FFF2-40B4-BE49-F238E27FC236}">
                <a16:creationId xmlns:a16="http://schemas.microsoft.com/office/drawing/2014/main" id="{807543E0-8536-7E05-8D77-79C6CEA07DB9}"/>
              </a:ext>
            </a:extLst>
          </p:cNvPr>
          <p:cNvSpPr>
            <a:spLocks noGrp="1"/>
          </p:cNvSpPr>
          <p:nvPr>
            <p:ph type="sldNum" sz="quarter" idx="12"/>
          </p:nvPr>
        </p:nvSpPr>
        <p:spPr>
          <a:xfrm>
            <a:off x="11897699" y="6560242"/>
            <a:ext cx="291600" cy="291600"/>
          </a:xfrm>
        </p:spPr>
        <p:txBody>
          <a:bodyPr/>
          <a:lstStyle>
            <a:lvl1pPr algn="ctr">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sp>
        <p:nvSpPr>
          <p:cNvPr id="2" name="Date Placeholder 1">
            <a:extLst>
              <a:ext uri="{FF2B5EF4-FFF2-40B4-BE49-F238E27FC236}">
                <a16:creationId xmlns:a16="http://schemas.microsoft.com/office/drawing/2014/main" id="{90AD0C70-2015-36A0-DCB1-0E2322D0D364}"/>
              </a:ext>
            </a:extLst>
          </p:cNvPr>
          <p:cNvSpPr>
            <a:spLocks noGrp="1"/>
          </p:cNvSpPr>
          <p:nvPr>
            <p:ph type="dt" sz="half" idx="13"/>
          </p:nvPr>
        </p:nvSpPr>
        <p:spPr>
          <a:xfrm>
            <a:off x="838200" y="6481647"/>
            <a:ext cx="2148299" cy="239828"/>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pPr/>
              <a:t>April 21, 2024</a:t>
            </a:fld>
            <a:endParaRPr lang="en-US" dirty="0"/>
          </a:p>
        </p:txBody>
      </p:sp>
    </p:spTree>
    <p:extLst>
      <p:ext uri="{BB962C8B-B14F-4D97-AF65-F5344CB8AC3E}">
        <p14:creationId xmlns:p14="http://schemas.microsoft.com/office/powerpoint/2010/main" val="1119857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BCB126-07C1-993D-D40F-CC928946B4B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1. TÊN MỤC</a:t>
            </a:r>
            <a:endParaRPr lang="en-VN" dirty="0"/>
          </a:p>
        </p:txBody>
      </p:sp>
      <p:sp>
        <p:nvSpPr>
          <p:cNvPr id="3" name="Text Placeholder 2">
            <a:extLst>
              <a:ext uri="{FF2B5EF4-FFF2-40B4-BE49-F238E27FC236}">
                <a16:creationId xmlns:a16="http://schemas.microsoft.com/office/drawing/2014/main" id="{B5BBBD58-B33F-3C47-5551-9A2A2CE2775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83F5A01D-3EDB-1F54-F4EE-AFD1EF9962F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6CDDB1B-AAE9-1649-A755-11FADEB7E97E}" type="datetime4">
              <a:rPr lang="en-US" smtClean="0"/>
              <a:t>April 21, 2024</a:t>
            </a:fld>
            <a:endParaRPr lang="en-VN"/>
          </a:p>
        </p:txBody>
      </p:sp>
      <p:sp>
        <p:nvSpPr>
          <p:cNvPr id="5" name="Footer Placeholder 4">
            <a:extLst>
              <a:ext uri="{FF2B5EF4-FFF2-40B4-BE49-F238E27FC236}">
                <a16:creationId xmlns:a16="http://schemas.microsoft.com/office/drawing/2014/main" id="{F95D1C7E-53C3-CE2D-B996-7F970213827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vi-VN"/>
              <a:t>Thực hiện bởi Trường Đại học Công nghệ Thông tin, ĐHQG-HCM</a:t>
            </a:r>
            <a:endParaRPr lang="en-VN"/>
          </a:p>
        </p:txBody>
      </p:sp>
      <p:sp>
        <p:nvSpPr>
          <p:cNvPr id="6" name="Slide Number Placeholder 5">
            <a:extLst>
              <a:ext uri="{FF2B5EF4-FFF2-40B4-BE49-F238E27FC236}">
                <a16:creationId xmlns:a16="http://schemas.microsoft.com/office/drawing/2014/main" id="{1A91A76A-6303-F16B-A578-8E129753AC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B0B3AC-44A8-D142-AAF6-9A453466E1A4}" type="slidenum">
              <a:rPr lang="en-VN" smtClean="0"/>
              <a:t>‹#›</a:t>
            </a:fld>
            <a:endParaRPr lang="en-VN"/>
          </a:p>
        </p:txBody>
      </p:sp>
    </p:spTree>
    <p:extLst>
      <p:ext uri="{BB962C8B-B14F-4D97-AF65-F5344CB8AC3E}">
        <p14:creationId xmlns:p14="http://schemas.microsoft.com/office/powerpoint/2010/main" val="1204367988"/>
      </p:ext>
    </p:extLst>
  </p:cSld>
  <p:clrMap bg1="lt1" tx1="dk1" bg2="lt2" tx2="dk2" accent1="accent1" accent2="accent2" accent3="accent3" accent4="accent4" accent5="accent5" accent6="accent6" hlink="hlink" folHlink="folHlink"/>
  <p:sldLayoutIdLst>
    <p:sldLayoutId id="2147483649" r:id="rId1"/>
    <p:sldLayoutId id="2147483662" r:id="rId2"/>
    <p:sldLayoutId id="2147483664" r:id="rId3"/>
    <p:sldLayoutId id="2147483663" r:id="rId4"/>
    <p:sldLayoutId id="2147483650" r:id="rId5"/>
    <p:sldLayoutId id="2147483652" r:id="rId6"/>
    <p:sldLayoutId id="2147483653" r:id="rId7"/>
    <p:sldLayoutId id="2147483656" r:id="rId8"/>
    <p:sldLayoutId id="2147483657" r:id="rId9"/>
    <p:sldLayoutId id="2147483655" r:id="rId10"/>
  </p:sldLayoutIdLst>
  <p:hf hdr="0"/>
  <p:txStyles>
    <p:titleStyle>
      <a:lvl1pPr algn="l" defTabSz="914400" rtl="0" eaLnBrk="1" latinLnBrk="0" hangingPunct="1">
        <a:lnSpc>
          <a:spcPct val="90000"/>
        </a:lnSpc>
        <a:spcBef>
          <a:spcPct val="0"/>
        </a:spcBef>
        <a:buNone/>
        <a:defRPr sz="4000" b="1" kern="1200">
          <a:gradFill flip="none" rotWithShape="1">
            <a:gsLst>
              <a:gs pos="0">
                <a:srgbClr val="0072FF"/>
              </a:gs>
              <a:gs pos="100000">
                <a:srgbClr val="00C6FF"/>
              </a:gs>
            </a:gsLst>
            <a:lin ang="2700000" scaled="1"/>
            <a:tileRect/>
          </a:gradFill>
          <a:effectLst>
            <a:innerShdw blurRad="114300">
              <a:schemeClr val="bg1"/>
            </a:innerShdw>
          </a:effectLst>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B88DCF8-0D88-9852-95C4-4F568F0A7200}"/>
              </a:ext>
            </a:extLst>
          </p:cNvPr>
          <p:cNvSpPr>
            <a:spLocks noGrp="1"/>
          </p:cNvSpPr>
          <p:nvPr>
            <p:ph type="sldNum" sz="quarter" idx="12"/>
          </p:nvPr>
        </p:nvSpPr>
        <p:spPr/>
        <p:txBody>
          <a:bodyPr/>
          <a:lstStyle/>
          <a:p>
            <a:fld id="{D8B0B3AC-44A8-D142-AAF6-9A453466E1A4}" type="slidenum">
              <a:rPr lang="en-VN" smtClean="0"/>
              <a:pPr/>
              <a:t>1</a:t>
            </a:fld>
            <a:endParaRPr lang="en-VN" dirty="0"/>
          </a:p>
        </p:txBody>
      </p:sp>
      <p:sp>
        <p:nvSpPr>
          <p:cNvPr id="7" name="Text Placeholder 6">
            <a:extLst>
              <a:ext uri="{FF2B5EF4-FFF2-40B4-BE49-F238E27FC236}">
                <a16:creationId xmlns:a16="http://schemas.microsoft.com/office/drawing/2014/main" id="{11F55CA5-843C-3510-DCA9-291216FC7646}"/>
              </a:ext>
            </a:extLst>
          </p:cNvPr>
          <p:cNvSpPr>
            <a:spLocks noGrp="1"/>
          </p:cNvSpPr>
          <p:nvPr>
            <p:ph type="body" sz="quarter" idx="13"/>
          </p:nvPr>
        </p:nvSpPr>
        <p:spPr/>
        <p:txBody>
          <a:bodyPr>
            <a:normAutofit fontScale="77500" lnSpcReduction="20000"/>
          </a:bodyPr>
          <a:lstStyle/>
          <a:p>
            <a:r>
              <a:rPr lang="en-US"/>
              <a:t>TỔ CHỨC VÀ CẤU TRÚC MÁY TÍNH II</a:t>
            </a:r>
            <a:endParaRPr lang="en-VN" dirty="0"/>
          </a:p>
        </p:txBody>
      </p:sp>
      <p:sp>
        <p:nvSpPr>
          <p:cNvPr id="8" name="Text Placeholder 7">
            <a:extLst>
              <a:ext uri="{FF2B5EF4-FFF2-40B4-BE49-F238E27FC236}">
                <a16:creationId xmlns:a16="http://schemas.microsoft.com/office/drawing/2014/main" id="{A2113BCF-E52A-540A-4540-2833CA1A0E44}"/>
              </a:ext>
            </a:extLst>
          </p:cNvPr>
          <p:cNvSpPr>
            <a:spLocks noGrp="1"/>
          </p:cNvSpPr>
          <p:nvPr>
            <p:ph type="body" sz="quarter" idx="14"/>
          </p:nvPr>
        </p:nvSpPr>
        <p:spPr/>
        <p:txBody>
          <a:bodyPr/>
          <a:lstStyle/>
          <a:p>
            <a:r>
              <a:rPr lang="en-US"/>
              <a:t>CHƯƠNG 6: </a:t>
            </a:r>
            <a:r>
              <a:rPr lang="en-US" sz="2000"/>
              <a:t>KIẾN TRÚC TẬP LỆNH</a:t>
            </a:r>
            <a:endParaRPr lang="en-VN"/>
          </a:p>
        </p:txBody>
      </p:sp>
      <p:sp>
        <p:nvSpPr>
          <p:cNvPr id="9" name="Text Placeholder 8">
            <a:extLst>
              <a:ext uri="{FF2B5EF4-FFF2-40B4-BE49-F238E27FC236}">
                <a16:creationId xmlns:a16="http://schemas.microsoft.com/office/drawing/2014/main" id="{4F41A4B7-48D3-1CAE-C056-FDAD586D0469}"/>
              </a:ext>
            </a:extLst>
          </p:cNvPr>
          <p:cNvSpPr>
            <a:spLocks noGrp="1"/>
          </p:cNvSpPr>
          <p:nvPr>
            <p:ph type="body" sz="quarter" idx="15"/>
          </p:nvPr>
        </p:nvSpPr>
        <p:spPr/>
        <p:txBody>
          <a:bodyPr/>
          <a:lstStyle/>
          <a:p>
            <a:r>
              <a:rPr lang="en-US"/>
              <a:t>PHAN ĐÌNH DUY</a:t>
            </a:r>
            <a:endParaRPr lang="en-VN"/>
          </a:p>
        </p:txBody>
      </p:sp>
      <p:sp>
        <p:nvSpPr>
          <p:cNvPr id="10" name="Text Placeholder 9">
            <a:extLst>
              <a:ext uri="{FF2B5EF4-FFF2-40B4-BE49-F238E27FC236}">
                <a16:creationId xmlns:a16="http://schemas.microsoft.com/office/drawing/2014/main" id="{A673612D-1002-64DC-D3C2-F4E546D79283}"/>
              </a:ext>
            </a:extLst>
          </p:cNvPr>
          <p:cNvSpPr>
            <a:spLocks noGrp="1"/>
          </p:cNvSpPr>
          <p:nvPr>
            <p:ph type="body" sz="quarter" idx="16"/>
          </p:nvPr>
        </p:nvSpPr>
        <p:spPr/>
        <p:txBody>
          <a:bodyPr/>
          <a:lstStyle/>
          <a:p>
            <a:r>
              <a:rPr lang="en-US"/>
              <a:t>Trình bày các thông tin giới thiệu chung về kiến trúc tập lệnh. Sau đó sẽ đi sâu trình bày về kiến trúc tập lệnh MIPS và cách viết một số chương trình sử dụng các lệnh ASM của MIPS</a:t>
            </a:r>
            <a:endParaRPr lang="en-VN"/>
          </a:p>
        </p:txBody>
      </p:sp>
      <p:sp>
        <p:nvSpPr>
          <p:cNvPr id="2" name="Footer Placeholder 1">
            <a:extLst>
              <a:ext uri="{FF2B5EF4-FFF2-40B4-BE49-F238E27FC236}">
                <a16:creationId xmlns:a16="http://schemas.microsoft.com/office/drawing/2014/main" id="{2D72110C-D077-8C1D-3057-3378C02C490F}"/>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Tree>
    <p:extLst>
      <p:ext uri="{BB962C8B-B14F-4D97-AF65-F5344CB8AC3E}">
        <p14:creationId xmlns:p14="http://schemas.microsoft.com/office/powerpoint/2010/main" val="29806574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8129C3-16E2-4C40-66ED-C0936CB5E906}"/>
              </a:ext>
            </a:extLst>
          </p:cNvPr>
          <p:cNvSpPr>
            <a:spLocks noGrp="1"/>
          </p:cNvSpPr>
          <p:nvPr>
            <p:ph type="title"/>
          </p:nvPr>
        </p:nvSpPr>
        <p:spPr/>
        <p:txBody>
          <a:bodyPr/>
          <a:lstStyle/>
          <a:p>
            <a:r>
              <a:rPr lang="en-VN" dirty="0"/>
              <a:t>Ôn tập các chương trước</a:t>
            </a:r>
          </a:p>
        </p:txBody>
      </p:sp>
      <p:sp>
        <p:nvSpPr>
          <p:cNvPr id="3" name="Content Placeholder 2">
            <a:extLst>
              <a:ext uri="{FF2B5EF4-FFF2-40B4-BE49-F238E27FC236}">
                <a16:creationId xmlns:a16="http://schemas.microsoft.com/office/drawing/2014/main" id="{24F67D93-98C4-7681-673E-503CBAF2A28E}"/>
              </a:ext>
            </a:extLst>
          </p:cNvPr>
          <p:cNvSpPr>
            <a:spLocks noGrp="1"/>
          </p:cNvSpPr>
          <p:nvPr>
            <p:ph idx="1"/>
          </p:nvPr>
        </p:nvSpPr>
        <p:spPr/>
        <p:txBody>
          <a:bodyPr/>
          <a:lstStyle/>
          <a:p>
            <a:r>
              <a:rPr lang="en-VN" dirty="0"/>
              <a:t>Chương 1: Tổng quan về máy tính</a:t>
            </a:r>
          </a:p>
          <a:p>
            <a:r>
              <a:rPr lang="en-VN" dirty="0"/>
              <a:t>Chương 2: Biểu diễn thông tin trong máy tính</a:t>
            </a:r>
          </a:p>
          <a:p>
            <a:r>
              <a:rPr lang="en-VN" dirty="0"/>
              <a:t>Chương 3: Đại số Boolean</a:t>
            </a:r>
          </a:p>
          <a:p>
            <a:r>
              <a:rPr lang="en-VN" dirty="0"/>
              <a:t>Chương 4: Mạch số</a:t>
            </a:r>
          </a:p>
          <a:p>
            <a:r>
              <a:rPr lang="en-VN" dirty="0"/>
              <a:t>Chương 5: Ứng dụng mạch số</a:t>
            </a:r>
          </a:p>
          <a:p>
            <a:r>
              <a:rPr lang="en-VN" dirty="0"/>
              <a:t>Chương 6: Kiến trúc tập lệnh -&gt; cách chương trình được biên dịch và lưu trữ trên phần cứng trên máy tính như thế nào?</a:t>
            </a:r>
          </a:p>
        </p:txBody>
      </p:sp>
      <p:sp>
        <p:nvSpPr>
          <p:cNvPr id="4" name="Footer Placeholder 3">
            <a:extLst>
              <a:ext uri="{FF2B5EF4-FFF2-40B4-BE49-F238E27FC236}">
                <a16:creationId xmlns:a16="http://schemas.microsoft.com/office/drawing/2014/main" id="{0B56912B-6623-1DE9-0621-BCB7D557585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Slide Number Placeholder 4">
            <a:extLst>
              <a:ext uri="{FF2B5EF4-FFF2-40B4-BE49-F238E27FC236}">
                <a16:creationId xmlns:a16="http://schemas.microsoft.com/office/drawing/2014/main" id="{2ADD5DBC-7BFF-3387-D113-42C08D3B9D68}"/>
              </a:ext>
            </a:extLst>
          </p:cNvPr>
          <p:cNvSpPr>
            <a:spLocks noGrp="1"/>
          </p:cNvSpPr>
          <p:nvPr>
            <p:ph type="sldNum" sz="quarter" idx="12"/>
          </p:nvPr>
        </p:nvSpPr>
        <p:spPr/>
        <p:txBody>
          <a:bodyPr/>
          <a:lstStyle/>
          <a:p>
            <a:fld id="{D8B0B3AC-44A8-D142-AAF6-9A453466E1A4}" type="slidenum">
              <a:rPr lang="en-VN" smtClean="0"/>
              <a:pPr/>
              <a:t>2</a:t>
            </a:fld>
            <a:endParaRPr lang="en-VN" dirty="0"/>
          </a:p>
        </p:txBody>
      </p:sp>
      <p:sp>
        <p:nvSpPr>
          <p:cNvPr id="6" name="Date Placeholder 5">
            <a:extLst>
              <a:ext uri="{FF2B5EF4-FFF2-40B4-BE49-F238E27FC236}">
                <a16:creationId xmlns:a16="http://schemas.microsoft.com/office/drawing/2014/main" id="{0EA2DCB4-A196-9825-0208-DF25953E7725}"/>
              </a:ext>
            </a:extLst>
          </p:cNvPr>
          <p:cNvSpPr>
            <a:spLocks noGrp="1"/>
          </p:cNvSpPr>
          <p:nvPr>
            <p:ph type="dt" sz="half" idx="13"/>
          </p:nvPr>
        </p:nvSpPr>
        <p:spPr/>
        <p:txBody>
          <a:bodyPr/>
          <a:lstStyle/>
          <a:p>
            <a:fld id="{46CDDB1B-AAE9-1649-A755-11FADEB7E97E}" type="datetime4">
              <a:rPr lang="en-US" smtClean="0"/>
              <a:pPr/>
              <a:t>April 21, 2024</a:t>
            </a:fld>
            <a:endParaRPr lang="en-US" dirty="0"/>
          </a:p>
        </p:txBody>
      </p:sp>
    </p:spTree>
    <p:extLst>
      <p:ext uri="{BB962C8B-B14F-4D97-AF65-F5344CB8AC3E}">
        <p14:creationId xmlns:p14="http://schemas.microsoft.com/office/powerpoint/2010/main" val="3135006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445DA71-D31F-9887-DE52-B20E746F06B4}"/>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3" name="Slide Number Placeholder 2">
            <a:extLst>
              <a:ext uri="{FF2B5EF4-FFF2-40B4-BE49-F238E27FC236}">
                <a16:creationId xmlns:a16="http://schemas.microsoft.com/office/drawing/2014/main" id="{4FA13B48-145E-154E-C73D-7BDF6E592BDC}"/>
              </a:ext>
            </a:extLst>
          </p:cNvPr>
          <p:cNvSpPr>
            <a:spLocks noGrp="1"/>
          </p:cNvSpPr>
          <p:nvPr>
            <p:ph type="sldNum" sz="quarter" idx="12"/>
          </p:nvPr>
        </p:nvSpPr>
        <p:spPr/>
        <p:txBody>
          <a:bodyPr/>
          <a:lstStyle/>
          <a:p>
            <a:fld id="{D8B0B3AC-44A8-D142-AAF6-9A453466E1A4}" type="slidenum">
              <a:rPr lang="en-VN" smtClean="0"/>
              <a:pPr/>
              <a:t>3</a:t>
            </a:fld>
            <a:endParaRPr lang="en-VN" dirty="0"/>
          </a:p>
        </p:txBody>
      </p:sp>
      <p:sp>
        <p:nvSpPr>
          <p:cNvPr id="4" name="Text Placeholder 3">
            <a:extLst>
              <a:ext uri="{FF2B5EF4-FFF2-40B4-BE49-F238E27FC236}">
                <a16:creationId xmlns:a16="http://schemas.microsoft.com/office/drawing/2014/main" id="{1D0412C8-5920-43EC-3B54-219B28F20C51}"/>
              </a:ext>
            </a:extLst>
          </p:cNvPr>
          <p:cNvSpPr>
            <a:spLocks noGrp="1"/>
          </p:cNvSpPr>
          <p:nvPr>
            <p:ph type="body" sz="quarter" idx="13"/>
          </p:nvPr>
        </p:nvSpPr>
        <p:spPr/>
        <p:txBody>
          <a:bodyPr>
            <a:normAutofit/>
          </a:bodyPr>
          <a:lstStyle/>
          <a:p>
            <a:r>
              <a:rPr lang="vi-VN" sz="2800" dirty="0"/>
              <a:t>Trình bày được khái niệm về lệnh, tập lệnh</a:t>
            </a:r>
          </a:p>
          <a:p>
            <a:r>
              <a:rPr lang="vi-VN" sz="2800" dirty="0"/>
              <a:t>Phân biệt được những nhóm lệnh cơ bản, các loại toán hạng của kiến trúc MIPS</a:t>
            </a:r>
          </a:p>
          <a:p>
            <a:r>
              <a:rPr lang="vi-VN" sz="2800" dirty="0"/>
              <a:t>Phân biệt được các định dạng lệnh của MIPS</a:t>
            </a:r>
          </a:p>
          <a:p>
            <a:r>
              <a:rPr lang="vi-VN" sz="2800" dirty="0"/>
              <a:t>Sử dụng được các lệnh để viết chương trình hợp ngữ</a:t>
            </a:r>
          </a:p>
        </p:txBody>
      </p:sp>
      <p:sp>
        <p:nvSpPr>
          <p:cNvPr id="5" name="Date Placeholder 4">
            <a:extLst>
              <a:ext uri="{FF2B5EF4-FFF2-40B4-BE49-F238E27FC236}">
                <a16:creationId xmlns:a16="http://schemas.microsoft.com/office/drawing/2014/main" id="{B759237A-7097-0D23-3C9E-D2F49E50F26F}"/>
              </a:ext>
            </a:extLst>
          </p:cNvPr>
          <p:cNvSpPr>
            <a:spLocks noGrp="1"/>
          </p:cNvSpPr>
          <p:nvPr>
            <p:ph type="dt" sz="half" idx="14"/>
          </p:nvPr>
        </p:nvSpPr>
        <p:spPr/>
        <p:txBody>
          <a:bodyPr/>
          <a:lstStyle/>
          <a:p>
            <a:fld id="{46CDDB1B-AAE9-1649-A755-11FADEB7E97E}" type="datetime4">
              <a:rPr lang="en-US" smtClean="0"/>
              <a:pPr/>
              <a:t>April 21, 2024</a:t>
            </a:fld>
            <a:endParaRPr lang="en-US" dirty="0"/>
          </a:p>
        </p:txBody>
      </p:sp>
    </p:spTree>
    <p:extLst>
      <p:ext uri="{BB962C8B-B14F-4D97-AF65-F5344CB8AC3E}">
        <p14:creationId xmlns:p14="http://schemas.microsoft.com/office/powerpoint/2010/main" val="1772767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EB6FCBF-4D71-BDAD-8392-99213DE0C5AA}"/>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2" name="Slide Number Placeholder 1">
            <a:extLst>
              <a:ext uri="{FF2B5EF4-FFF2-40B4-BE49-F238E27FC236}">
                <a16:creationId xmlns:a16="http://schemas.microsoft.com/office/drawing/2014/main" id="{9A9BD337-3CBD-0719-2FDF-03E1A46887FD}"/>
              </a:ext>
            </a:extLst>
          </p:cNvPr>
          <p:cNvSpPr>
            <a:spLocks noGrp="1"/>
          </p:cNvSpPr>
          <p:nvPr>
            <p:ph type="sldNum" sz="quarter" idx="12"/>
          </p:nvPr>
        </p:nvSpPr>
        <p:spPr/>
        <p:txBody>
          <a:bodyPr/>
          <a:lstStyle/>
          <a:p>
            <a:fld id="{D8B0B3AC-44A8-D142-AAF6-9A453466E1A4}" type="slidenum">
              <a:rPr lang="en-VN" smtClean="0"/>
              <a:pPr/>
              <a:t>4</a:t>
            </a:fld>
            <a:endParaRPr lang="en-VN" dirty="0"/>
          </a:p>
        </p:txBody>
      </p:sp>
      <p:sp>
        <p:nvSpPr>
          <p:cNvPr id="8" name="Text Placeholder 7">
            <a:extLst>
              <a:ext uri="{FF2B5EF4-FFF2-40B4-BE49-F238E27FC236}">
                <a16:creationId xmlns:a16="http://schemas.microsoft.com/office/drawing/2014/main" id="{B731AA46-0122-C94C-6F5A-7B04744570FF}"/>
              </a:ext>
            </a:extLst>
          </p:cNvPr>
          <p:cNvSpPr>
            <a:spLocks noGrp="1"/>
          </p:cNvSpPr>
          <p:nvPr>
            <p:ph type="body" sz="quarter" idx="13"/>
          </p:nvPr>
        </p:nvSpPr>
        <p:spPr/>
        <p:txBody>
          <a:bodyPr>
            <a:normAutofit fontScale="85000" lnSpcReduction="20000"/>
          </a:bodyPr>
          <a:lstStyle/>
          <a:p>
            <a:pPr>
              <a:lnSpc>
                <a:spcPct val="150000"/>
              </a:lnSpc>
            </a:pPr>
            <a:r>
              <a:rPr lang="en-US" sz="3200" dirty="0" err="1"/>
              <a:t>Kiến</a:t>
            </a:r>
            <a:r>
              <a:rPr lang="en-US" sz="3200" dirty="0"/>
              <a:t> </a:t>
            </a:r>
            <a:r>
              <a:rPr lang="en-US" sz="3200" dirty="0" err="1"/>
              <a:t>trúc</a:t>
            </a:r>
            <a:r>
              <a:rPr lang="en-US" sz="3200" dirty="0"/>
              <a:t> </a:t>
            </a:r>
            <a:r>
              <a:rPr lang="en-US" sz="3200" dirty="0" err="1"/>
              <a:t>tập</a:t>
            </a:r>
            <a:r>
              <a:rPr lang="en-US" sz="3200" dirty="0"/>
              <a:t> </a:t>
            </a:r>
            <a:r>
              <a:rPr lang="en-US" sz="3200" dirty="0" err="1"/>
              <a:t>lệnh</a:t>
            </a:r>
            <a:endParaRPr lang="en-US" sz="3200" dirty="0"/>
          </a:p>
          <a:p>
            <a:pPr>
              <a:lnSpc>
                <a:spcPct val="150000"/>
              </a:lnSpc>
            </a:pPr>
            <a:r>
              <a:rPr lang="en-US" sz="3200" dirty="0" err="1"/>
              <a:t>Lệnh</a:t>
            </a:r>
            <a:r>
              <a:rPr lang="en-US" sz="3200" dirty="0"/>
              <a:t> </a:t>
            </a:r>
            <a:r>
              <a:rPr lang="en-US" sz="3200" dirty="0" err="1"/>
              <a:t>và</a:t>
            </a:r>
            <a:r>
              <a:rPr lang="en-US" sz="3200" dirty="0"/>
              <a:t> </a:t>
            </a:r>
            <a:r>
              <a:rPr lang="en-US" sz="3200" dirty="0" err="1"/>
              <a:t>tập</a:t>
            </a:r>
            <a:r>
              <a:rPr lang="en-US" sz="3200" dirty="0"/>
              <a:t> </a:t>
            </a:r>
            <a:r>
              <a:rPr lang="en-US" sz="3200" dirty="0" err="1"/>
              <a:t>lệnh</a:t>
            </a:r>
            <a:r>
              <a:rPr lang="en-US" sz="3200" dirty="0"/>
              <a:t> MIPS</a:t>
            </a:r>
          </a:p>
          <a:p>
            <a:pPr>
              <a:lnSpc>
                <a:spcPct val="150000"/>
              </a:lnSpc>
            </a:pPr>
            <a:r>
              <a:rPr lang="en-US" sz="3200" dirty="0" err="1"/>
              <a:t>Các</a:t>
            </a:r>
            <a:r>
              <a:rPr lang="en-US" sz="3200" dirty="0"/>
              <a:t> </a:t>
            </a:r>
            <a:r>
              <a:rPr lang="en-US" sz="3200" dirty="0" err="1"/>
              <a:t>nhóm</a:t>
            </a:r>
            <a:r>
              <a:rPr lang="en-US" sz="3200" dirty="0"/>
              <a:t> </a:t>
            </a:r>
            <a:r>
              <a:rPr lang="en-US" sz="3200" dirty="0" err="1"/>
              <a:t>lệnh</a:t>
            </a:r>
            <a:r>
              <a:rPr lang="en-US" sz="3200" dirty="0"/>
              <a:t> MIPS</a:t>
            </a:r>
          </a:p>
          <a:p>
            <a:pPr>
              <a:lnSpc>
                <a:spcPct val="150000"/>
              </a:lnSpc>
            </a:pPr>
            <a:r>
              <a:rPr lang="en-US" sz="3200" dirty="0" err="1"/>
              <a:t>Toán</a:t>
            </a:r>
            <a:r>
              <a:rPr lang="en-US" sz="3200" dirty="0"/>
              <a:t> </a:t>
            </a:r>
            <a:r>
              <a:rPr lang="en-US" sz="3200" dirty="0" err="1"/>
              <a:t>hạng</a:t>
            </a:r>
            <a:endParaRPr lang="en-US" sz="3200" dirty="0"/>
          </a:p>
          <a:p>
            <a:pPr>
              <a:lnSpc>
                <a:spcPct val="150000"/>
              </a:lnSpc>
            </a:pPr>
            <a:r>
              <a:rPr lang="en-US" sz="3200" dirty="0" err="1"/>
              <a:t>Định</a:t>
            </a:r>
            <a:r>
              <a:rPr lang="en-US" sz="3200" dirty="0"/>
              <a:t> </a:t>
            </a:r>
            <a:r>
              <a:rPr lang="en-US" sz="3200" dirty="0" err="1"/>
              <a:t>dạng</a:t>
            </a:r>
            <a:r>
              <a:rPr lang="en-US" sz="3200" dirty="0"/>
              <a:t> </a:t>
            </a:r>
            <a:r>
              <a:rPr lang="en-US" sz="3200" dirty="0" err="1"/>
              <a:t>lệnh</a:t>
            </a:r>
            <a:endParaRPr lang="en-US" sz="3200" dirty="0"/>
          </a:p>
          <a:p>
            <a:pPr>
              <a:lnSpc>
                <a:spcPct val="150000"/>
              </a:lnSpc>
            </a:pPr>
            <a:r>
              <a:rPr lang="vi-VN" sz="3200" dirty="0"/>
              <a:t>Các mô hình định địa chỉ</a:t>
            </a:r>
          </a:p>
          <a:p>
            <a:pPr>
              <a:lnSpc>
                <a:spcPct val="150000"/>
              </a:lnSpc>
            </a:pPr>
            <a:r>
              <a:rPr lang="vi-VN" sz="3200" dirty="0"/>
              <a:t>Chương trình hợp ngữ</a:t>
            </a:r>
          </a:p>
        </p:txBody>
      </p:sp>
    </p:spTree>
    <p:extLst>
      <p:ext uri="{BB962C8B-B14F-4D97-AF65-F5344CB8AC3E}">
        <p14:creationId xmlns:p14="http://schemas.microsoft.com/office/powerpoint/2010/main" val="22190570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EB6FCBF-4D71-BDAD-8392-99213DE0C5AA}"/>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2" name="Slide Number Placeholder 1">
            <a:extLst>
              <a:ext uri="{FF2B5EF4-FFF2-40B4-BE49-F238E27FC236}">
                <a16:creationId xmlns:a16="http://schemas.microsoft.com/office/drawing/2014/main" id="{9A9BD337-3CBD-0719-2FDF-03E1A46887FD}"/>
              </a:ext>
            </a:extLst>
          </p:cNvPr>
          <p:cNvSpPr>
            <a:spLocks noGrp="1"/>
          </p:cNvSpPr>
          <p:nvPr>
            <p:ph type="sldNum" sz="quarter" idx="12"/>
          </p:nvPr>
        </p:nvSpPr>
        <p:spPr/>
        <p:txBody>
          <a:bodyPr/>
          <a:lstStyle/>
          <a:p>
            <a:fld id="{D8B0B3AC-44A8-D142-AAF6-9A453466E1A4}" type="slidenum">
              <a:rPr lang="en-VN" smtClean="0"/>
              <a:pPr/>
              <a:t>5</a:t>
            </a:fld>
            <a:endParaRPr lang="en-VN" dirty="0"/>
          </a:p>
        </p:txBody>
      </p:sp>
      <p:sp>
        <p:nvSpPr>
          <p:cNvPr id="8" name="Text Placeholder 7">
            <a:extLst>
              <a:ext uri="{FF2B5EF4-FFF2-40B4-BE49-F238E27FC236}">
                <a16:creationId xmlns:a16="http://schemas.microsoft.com/office/drawing/2014/main" id="{B731AA46-0122-C94C-6F5A-7B04744570FF}"/>
              </a:ext>
            </a:extLst>
          </p:cNvPr>
          <p:cNvSpPr>
            <a:spLocks noGrp="1"/>
          </p:cNvSpPr>
          <p:nvPr>
            <p:ph type="body" sz="quarter" idx="13"/>
          </p:nvPr>
        </p:nvSpPr>
        <p:spPr/>
        <p:txBody>
          <a:bodyPr>
            <a:normAutofit/>
          </a:bodyPr>
          <a:lstStyle/>
          <a:p>
            <a:pPr>
              <a:lnSpc>
                <a:spcPct val="150000"/>
              </a:lnSpc>
            </a:pPr>
            <a:r>
              <a:rPr lang="en-US" sz="3200" dirty="0" err="1"/>
              <a:t>Kiến</a:t>
            </a:r>
            <a:r>
              <a:rPr lang="en-US" sz="3200" dirty="0"/>
              <a:t> </a:t>
            </a:r>
            <a:r>
              <a:rPr lang="en-US" sz="3200" dirty="0" err="1"/>
              <a:t>trúc</a:t>
            </a:r>
            <a:r>
              <a:rPr lang="en-US" sz="3200" dirty="0"/>
              <a:t> </a:t>
            </a:r>
            <a:r>
              <a:rPr lang="en-US" sz="3200" dirty="0" err="1"/>
              <a:t>tập</a:t>
            </a:r>
            <a:r>
              <a:rPr lang="en-US" sz="3200" dirty="0"/>
              <a:t> </a:t>
            </a:r>
            <a:r>
              <a:rPr lang="en-US" sz="3200" dirty="0" err="1"/>
              <a:t>lệnh</a:t>
            </a:r>
            <a:endParaRPr lang="en-US" sz="3200" dirty="0"/>
          </a:p>
          <a:p>
            <a:pPr>
              <a:lnSpc>
                <a:spcPct val="150000"/>
              </a:lnSpc>
            </a:pPr>
            <a:r>
              <a:rPr lang="en-US" sz="3200" dirty="0" err="1"/>
              <a:t>Lệnh</a:t>
            </a:r>
            <a:r>
              <a:rPr lang="en-US" sz="3200" dirty="0"/>
              <a:t> </a:t>
            </a:r>
            <a:r>
              <a:rPr lang="en-US" sz="3200" dirty="0" err="1"/>
              <a:t>và</a:t>
            </a:r>
            <a:r>
              <a:rPr lang="en-US" sz="3200" dirty="0"/>
              <a:t> </a:t>
            </a:r>
            <a:r>
              <a:rPr lang="en-US" sz="3200" dirty="0" err="1"/>
              <a:t>tập</a:t>
            </a:r>
            <a:r>
              <a:rPr lang="en-US" sz="3200" dirty="0"/>
              <a:t> </a:t>
            </a:r>
            <a:r>
              <a:rPr lang="en-US" sz="3200" dirty="0" err="1"/>
              <a:t>lệnh</a:t>
            </a:r>
            <a:r>
              <a:rPr lang="en-US" sz="3200" dirty="0"/>
              <a:t> MIPS</a:t>
            </a:r>
          </a:p>
          <a:p>
            <a:pPr>
              <a:lnSpc>
                <a:spcPct val="150000"/>
              </a:lnSpc>
            </a:pPr>
            <a:r>
              <a:rPr lang="en-US" sz="3200" dirty="0" err="1"/>
              <a:t>Các</a:t>
            </a:r>
            <a:r>
              <a:rPr lang="en-US" sz="3200" dirty="0"/>
              <a:t> </a:t>
            </a:r>
            <a:r>
              <a:rPr lang="en-US" sz="3200" dirty="0" err="1"/>
              <a:t>nhóm</a:t>
            </a:r>
            <a:r>
              <a:rPr lang="en-US" sz="3200" dirty="0"/>
              <a:t> </a:t>
            </a:r>
            <a:r>
              <a:rPr lang="en-US" sz="3200" dirty="0" err="1"/>
              <a:t>lệnh</a:t>
            </a:r>
            <a:r>
              <a:rPr lang="en-US" sz="3200" dirty="0"/>
              <a:t> MIPS</a:t>
            </a:r>
          </a:p>
          <a:p>
            <a:pPr>
              <a:lnSpc>
                <a:spcPct val="150000"/>
              </a:lnSpc>
            </a:pPr>
            <a:r>
              <a:rPr lang="en-US" sz="3200" dirty="0" err="1"/>
              <a:t>Toán</a:t>
            </a:r>
            <a:r>
              <a:rPr lang="en-US" sz="3200" dirty="0"/>
              <a:t> </a:t>
            </a:r>
            <a:r>
              <a:rPr lang="en-US" sz="3200" dirty="0" err="1"/>
              <a:t>hạng</a:t>
            </a:r>
            <a:endParaRPr lang="en-US" sz="3200" dirty="0"/>
          </a:p>
        </p:txBody>
      </p:sp>
    </p:spTree>
    <p:extLst>
      <p:ext uri="{BB962C8B-B14F-4D97-AF65-F5344CB8AC3E}">
        <p14:creationId xmlns:p14="http://schemas.microsoft.com/office/powerpoint/2010/main" val="155358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2138E7-0BF8-4FBE-AB49-4184E532FD1F}"/>
              </a:ext>
            </a:extLst>
          </p:cNvPr>
          <p:cNvSpPr>
            <a:spLocks noGrp="1"/>
          </p:cNvSpPr>
          <p:nvPr>
            <p:ph type="sldNum" sz="quarter" idx="12"/>
          </p:nvPr>
        </p:nvSpPr>
        <p:spPr/>
        <p:txBody>
          <a:bodyPr/>
          <a:lstStyle/>
          <a:p>
            <a:fld id="{D8B0B3AC-44A8-D142-AAF6-9A453466E1A4}" type="slidenum">
              <a:rPr lang="en-VN" smtClean="0"/>
              <a:pPr/>
              <a:t>6</a:t>
            </a:fld>
            <a:endParaRPr lang="en-VN" dirty="0"/>
          </a:p>
        </p:txBody>
      </p:sp>
      <p:sp>
        <p:nvSpPr>
          <p:cNvPr id="7" name="Text Placeholder 6">
            <a:extLst>
              <a:ext uri="{FF2B5EF4-FFF2-40B4-BE49-F238E27FC236}">
                <a16:creationId xmlns:a16="http://schemas.microsoft.com/office/drawing/2014/main" id="{0602C380-9011-23F7-8E4B-E195C0DFFBC9}"/>
              </a:ext>
            </a:extLst>
          </p:cNvPr>
          <p:cNvSpPr>
            <a:spLocks noGrp="1"/>
          </p:cNvSpPr>
          <p:nvPr>
            <p:ph type="body" sz="quarter" idx="13"/>
          </p:nvPr>
        </p:nvSpPr>
        <p:spPr>
          <a:xfrm>
            <a:off x="1470929" y="2095027"/>
            <a:ext cx="7918398" cy="884656"/>
          </a:xfrm>
        </p:spPr>
        <p:txBody>
          <a:bodyPr>
            <a:normAutofit/>
          </a:bodyPr>
          <a:lstStyle/>
          <a:p>
            <a:r>
              <a:rPr lang="en-US"/>
              <a:t>Kiến trúc tập lệnh</a:t>
            </a:r>
            <a:endParaRPr lang="en-VN"/>
          </a:p>
        </p:txBody>
      </p:sp>
      <p:sp>
        <p:nvSpPr>
          <p:cNvPr id="8" name="Text Placeholder 7">
            <a:extLst>
              <a:ext uri="{FF2B5EF4-FFF2-40B4-BE49-F238E27FC236}">
                <a16:creationId xmlns:a16="http://schemas.microsoft.com/office/drawing/2014/main" id="{883EE24F-70E8-C3FA-399B-07DCA2C415CE}"/>
              </a:ext>
            </a:extLst>
          </p:cNvPr>
          <p:cNvSpPr>
            <a:spLocks noGrp="1"/>
          </p:cNvSpPr>
          <p:nvPr>
            <p:ph type="body" sz="quarter" idx="14"/>
          </p:nvPr>
        </p:nvSpPr>
        <p:spPr/>
        <p:txBody>
          <a:bodyPr/>
          <a:lstStyle/>
          <a:p>
            <a:endParaRPr lang="vi-VN" sz="2800" dirty="0"/>
          </a:p>
        </p:txBody>
      </p:sp>
      <p:sp>
        <p:nvSpPr>
          <p:cNvPr id="9" name="Text Placeholder 8">
            <a:extLst>
              <a:ext uri="{FF2B5EF4-FFF2-40B4-BE49-F238E27FC236}">
                <a16:creationId xmlns:a16="http://schemas.microsoft.com/office/drawing/2014/main" id="{7F04BBE0-C7C7-D804-DD85-D99BEB36007C}"/>
              </a:ext>
            </a:extLst>
          </p:cNvPr>
          <p:cNvSpPr>
            <a:spLocks noGrp="1"/>
          </p:cNvSpPr>
          <p:nvPr>
            <p:ph type="body" sz="quarter" idx="15"/>
          </p:nvPr>
        </p:nvSpPr>
        <p:spPr/>
        <p:txBody>
          <a:bodyPr/>
          <a:lstStyle/>
          <a:p>
            <a:endParaRPr lang="en-VN"/>
          </a:p>
        </p:txBody>
      </p:sp>
      <p:sp>
        <p:nvSpPr>
          <p:cNvPr id="10" name="Text Placeholder 9">
            <a:extLst>
              <a:ext uri="{FF2B5EF4-FFF2-40B4-BE49-F238E27FC236}">
                <a16:creationId xmlns:a16="http://schemas.microsoft.com/office/drawing/2014/main" id="{3C2CDC7B-AFE9-6C1F-2CD6-AA61695C23FD}"/>
              </a:ext>
            </a:extLst>
          </p:cNvPr>
          <p:cNvSpPr>
            <a:spLocks noGrp="1"/>
          </p:cNvSpPr>
          <p:nvPr>
            <p:ph type="body" sz="quarter" idx="16"/>
          </p:nvPr>
        </p:nvSpPr>
        <p:spPr/>
        <p:txBody>
          <a:bodyPr>
            <a:normAutofit lnSpcReduction="10000"/>
          </a:bodyPr>
          <a:lstStyle/>
          <a:p>
            <a:r>
              <a:rPr lang="en-VN" dirty="0"/>
              <a:t>1</a:t>
            </a:r>
          </a:p>
        </p:txBody>
      </p:sp>
    </p:spTree>
    <p:extLst>
      <p:ext uri="{BB962C8B-B14F-4D97-AF65-F5344CB8AC3E}">
        <p14:creationId xmlns:p14="http://schemas.microsoft.com/office/powerpoint/2010/main" val="17045684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r>
              <a:rPr lang="en-US"/>
              <a:t>Kiến trúc tập lệnh - Định nghĩa</a:t>
            </a:r>
            <a:endParaRPr lang="en-VN"/>
          </a:p>
        </p:txBody>
      </p:sp>
      <p:sp>
        <p:nvSpPr>
          <p:cNvPr id="3" name="Content Placeholder 2">
            <a:extLst>
              <a:ext uri="{FF2B5EF4-FFF2-40B4-BE49-F238E27FC236}">
                <a16:creationId xmlns:a16="http://schemas.microsoft.com/office/drawing/2014/main" id="{75A01CFC-41FA-4D7B-A058-603D95BA37C2}"/>
              </a:ext>
            </a:extLst>
          </p:cNvPr>
          <p:cNvSpPr>
            <a:spLocks noGrp="1"/>
          </p:cNvSpPr>
          <p:nvPr>
            <p:ph idx="1"/>
          </p:nvPr>
        </p:nvSpPr>
        <p:spPr/>
        <p:txBody>
          <a:bodyPr>
            <a:normAutofit lnSpcReduction="10000"/>
          </a:bodyPr>
          <a:lstStyle/>
          <a:p>
            <a:pPr>
              <a:lnSpc>
                <a:spcPct val="150000"/>
              </a:lnSpc>
            </a:pPr>
            <a:r>
              <a:rPr lang="vi-VN"/>
              <a:t>Lệnh (Instruction) là một chỉ dẫn để máy tính thực hiện công việc nào đó</a:t>
            </a:r>
          </a:p>
          <a:p>
            <a:pPr lvl="1">
              <a:lnSpc>
                <a:spcPct val="150000"/>
              </a:lnSpc>
            </a:pPr>
            <a:r>
              <a:rPr lang="vi-VN"/>
              <a:t>Ví dụ: Lệnh ADD chỉ dẫn máy tính thực hiện phép toán cộng</a:t>
            </a:r>
          </a:p>
          <a:p>
            <a:pPr>
              <a:lnSpc>
                <a:spcPct val="150000"/>
              </a:lnSpc>
            </a:pPr>
            <a:r>
              <a:rPr lang="vi-VN"/>
              <a:t>Tập lệnh (Instruction Set) là tập hợp các lệnh của máy tính</a:t>
            </a:r>
          </a:p>
          <a:p>
            <a:pPr lvl="1">
              <a:lnSpc>
                <a:spcPct val="150000"/>
              </a:lnSpc>
            </a:pPr>
            <a:r>
              <a:rPr lang="vi-VN"/>
              <a:t>Tập lệnh quy định máy tính có thể làm những gì!</a:t>
            </a:r>
          </a:p>
          <a:p>
            <a:pPr lvl="1">
              <a:lnSpc>
                <a:spcPct val="150000"/>
              </a:lnSpc>
            </a:pPr>
            <a:r>
              <a:rPr lang="vi-VN"/>
              <a:t>Những máy tính khác nhau sẽ có tập lệnh khác nhau!</a:t>
            </a:r>
          </a:p>
          <a:p>
            <a:pPr lvl="1">
              <a:lnSpc>
                <a:spcPct val="150000"/>
              </a:lnSpc>
            </a:pPr>
            <a:r>
              <a:rPr lang="vi-VN"/>
              <a:t>NHƯNG! Các tập lệnh đều có điểm chung!!!</a:t>
            </a:r>
          </a:p>
          <a:p>
            <a:pPr>
              <a:lnSpc>
                <a:spcPct val="150000"/>
              </a:lnSpc>
            </a:pPr>
            <a:r>
              <a:rPr lang="vi-VN"/>
              <a:t>Kiến trúc Tập lệnh = Tập lệnh + Biểu diễn lệnh</a:t>
            </a:r>
          </a:p>
          <a:p>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7</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Tree>
    <p:extLst>
      <p:ext uri="{BB962C8B-B14F-4D97-AF65-F5344CB8AC3E}">
        <p14:creationId xmlns:p14="http://schemas.microsoft.com/office/powerpoint/2010/main" val="30611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r>
              <a:rPr lang="en-US"/>
              <a:t>Kiến trúc tập lệnh - Phân loại</a:t>
            </a:r>
            <a:endParaRPr lang="en-VN"/>
          </a:p>
        </p:txBody>
      </p:sp>
      <p:sp>
        <p:nvSpPr>
          <p:cNvPr id="3" name="Content Placeholder 2">
            <a:extLst>
              <a:ext uri="{FF2B5EF4-FFF2-40B4-BE49-F238E27FC236}">
                <a16:creationId xmlns:a16="http://schemas.microsoft.com/office/drawing/2014/main" id="{75A01CFC-41FA-4D7B-A058-603D95BA37C2}"/>
              </a:ext>
            </a:extLst>
          </p:cNvPr>
          <p:cNvSpPr>
            <a:spLocks noGrp="1"/>
          </p:cNvSpPr>
          <p:nvPr>
            <p:ph idx="1"/>
          </p:nvPr>
        </p:nvSpPr>
        <p:spPr/>
        <p:txBody>
          <a:bodyPr>
            <a:normAutofit/>
          </a:bodyPr>
          <a:lstStyle/>
          <a:p>
            <a:pPr>
              <a:lnSpc>
                <a:spcPct val="150000"/>
              </a:lnSpc>
            </a:pPr>
            <a:r>
              <a:rPr lang="vi-VN" dirty="0"/>
              <a:t>Ngăn xếp (stack)</a:t>
            </a:r>
          </a:p>
          <a:p>
            <a:pPr>
              <a:lnSpc>
                <a:spcPct val="150000"/>
              </a:lnSpc>
            </a:pPr>
            <a:r>
              <a:rPr lang="vi-VN" dirty="0"/>
              <a:t>Bộ tích lũy (accumulator)</a:t>
            </a:r>
          </a:p>
          <a:p>
            <a:pPr>
              <a:lnSpc>
                <a:spcPct val="150000"/>
              </a:lnSpc>
            </a:pPr>
            <a:r>
              <a:rPr lang="vi-VN" dirty="0"/>
              <a:t>Thanh ghi – Bộ nhớ (register–memory)</a:t>
            </a:r>
          </a:p>
          <a:p>
            <a:pPr>
              <a:lnSpc>
                <a:spcPct val="150000"/>
              </a:lnSpc>
            </a:pPr>
            <a:r>
              <a:rPr lang="vi-VN" dirty="0"/>
              <a:t>Thanh ghi – thanh ghi / nạp – lưu (register-register/load-store)</a:t>
            </a:r>
          </a:p>
          <a:p>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8</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pic>
        <p:nvPicPr>
          <p:cNvPr id="6" name="Picture 5">
            <a:extLst>
              <a:ext uri="{FF2B5EF4-FFF2-40B4-BE49-F238E27FC236}">
                <a16:creationId xmlns:a16="http://schemas.microsoft.com/office/drawing/2014/main" id="{B59BD198-7B51-AD0E-122B-17AD931A4C06}"/>
              </a:ext>
            </a:extLst>
          </p:cNvPr>
          <p:cNvPicPr>
            <a:picLocks noChangeAspect="1"/>
          </p:cNvPicPr>
          <p:nvPr/>
        </p:nvPicPr>
        <p:blipFill>
          <a:blip r:embed="rId3"/>
          <a:stretch>
            <a:fillRect/>
          </a:stretch>
        </p:blipFill>
        <p:spPr>
          <a:xfrm>
            <a:off x="2240641" y="4261276"/>
            <a:ext cx="8415636" cy="2444324"/>
          </a:xfrm>
          <a:prstGeom prst="rect">
            <a:avLst/>
          </a:prstGeom>
        </p:spPr>
      </p:pic>
    </p:spTree>
    <p:extLst>
      <p:ext uri="{BB962C8B-B14F-4D97-AF65-F5344CB8AC3E}">
        <p14:creationId xmlns:p14="http://schemas.microsoft.com/office/powerpoint/2010/main" val="2181941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r>
              <a:rPr lang="en-US"/>
              <a:t>Kiến trúc tập lệnh - Thanh ghi-thanh ghi</a:t>
            </a:r>
            <a:endParaRPr lang="en-VN"/>
          </a:p>
        </p:txBody>
      </p:sp>
      <p:sp>
        <p:nvSpPr>
          <p:cNvPr id="3" name="Content Placeholder 2">
            <a:extLst>
              <a:ext uri="{FF2B5EF4-FFF2-40B4-BE49-F238E27FC236}">
                <a16:creationId xmlns:a16="http://schemas.microsoft.com/office/drawing/2014/main" id="{75A01CFC-41FA-4D7B-A058-603D95BA37C2}"/>
              </a:ext>
            </a:extLst>
          </p:cNvPr>
          <p:cNvSpPr>
            <a:spLocks noGrp="1"/>
          </p:cNvSpPr>
          <p:nvPr>
            <p:ph idx="1"/>
          </p:nvPr>
        </p:nvSpPr>
        <p:spPr>
          <a:xfrm>
            <a:off x="6286499" y="1195821"/>
            <a:ext cx="5371897" cy="5160527"/>
          </a:xfrm>
        </p:spPr>
        <p:txBody>
          <a:bodyPr>
            <a:normAutofit/>
          </a:bodyPr>
          <a:lstStyle/>
          <a:p>
            <a:pPr>
              <a:lnSpc>
                <a:spcPct val="150000"/>
              </a:lnSpc>
            </a:pPr>
            <a:r>
              <a:rPr lang="vi-VN"/>
              <a:t>Dữ liệu được lưu trữ ở bộ nhớ</a:t>
            </a:r>
          </a:p>
          <a:p>
            <a:pPr>
              <a:lnSpc>
                <a:spcPct val="150000"/>
              </a:lnSpc>
            </a:pPr>
            <a:r>
              <a:rPr lang="vi-VN"/>
              <a:t>Tính toán trên thanh ghi (không tính toán trên bộ nhớ)</a:t>
            </a:r>
          </a:p>
          <a:p>
            <a:pPr>
              <a:lnSpc>
                <a:spcPct val="150000"/>
              </a:lnSpc>
            </a:pPr>
            <a:r>
              <a:rPr lang="vi-VN"/>
              <a:t>Cần nạp dữ liệu từ bộ nhớ vào thanh ghi để tính toán</a:t>
            </a:r>
          </a:p>
          <a:p>
            <a:pPr>
              <a:lnSpc>
                <a:spcPct val="150000"/>
              </a:lnSpc>
            </a:pPr>
            <a:r>
              <a:rPr lang="vi-VN"/>
              <a:t>Cần lưu giá trị thanh ghi vào bộ nhớ sau khi tính toán</a:t>
            </a:r>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9</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pic>
        <p:nvPicPr>
          <p:cNvPr id="7" name="Picture 6">
            <a:extLst>
              <a:ext uri="{FF2B5EF4-FFF2-40B4-BE49-F238E27FC236}">
                <a16:creationId xmlns:a16="http://schemas.microsoft.com/office/drawing/2014/main" id="{A9BA5054-F21D-0246-9478-632876182856}"/>
              </a:ext>
            </a:extLst>
          </p:cNvPr>
          <p:cNvPicPr>
            <a:picLocks noChangeAspect="1"/>
          </p:cNvPicPr>
          <p:nvPr/>
        </p:nvPicPr>
        <p:blipFill rotWithShape="1">
          <a:blip r:embed="rId3"/>
          <a:srcRect l="20768"/>
          <a:stretch/>
        </p:blipFill>
        <p:spPr>
          <a:xfrm>
            <a:off x="429751" y="1317031"/>
            <a:ext cx="5475751" cy="3027343"/>
          </a:xfrm>
          <a:prstGeom prst="rect">
            <a:avLst/>
          </a:prstGeom>
        </p:spPr>
      </p:pic>
    </p:spTree>
    <p:extLst>
      <p:ext uri="{BB962C8B-B14F-4D97-AF65-F5344CB8AC3E}">
        <p14:creationId xmlns:p14="http://schemas.microsoft.com/office/powerpoint/2010/main" val="2493796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r>
              <a:rPr lang="en-US"/>
              <a:t>Kiến trúc tập lệnh</a:t>
            </a:r>
            <a:endParaRPr lang="en-VN"/>
          </a:p>
        </p:txBody>
      </p:sp>
      <p:sp>
        <p:nvSpPr>
          <p:cNvPr id="3" name="Content Placeholder 2">
            <a:extLst>
              <a:ext uri="{FF2B5EF4-FFF2-40B4-BE49-F238E27FC236}">
                <a16:creationId xmlns:a16="http://schemas.microsoft.com/office/drawing/2014/main" id="{75A01CFC-41FA-4D7B-A058-603D95BA37C2}"/>
              </a:ext>
            </a:extLst>
          </p:cNvPr>
          <p:cNvSpPr>
            <a:spLocks noGrp="1"/>
          </p:cNvSpPr>
          <p:nvPr>
            <p:ph idx="1"/>
          </p:nvPr>
        </p:nvSpPr>
        <p:spPr/>
        <p:txBody>
          <a:bodyPr/>
          <a:lstStyle/>
          <a:p>
            <a:pPr>
              <a:lnSpc>
                <a:spcPct val="150000"/>
              </a:lnSpc>
            </a:pPr>
            <a:r>
              <a:rPr lang="en-US"/>
              <a:t>ARM</a:t>
            </a:r>
          </a:p>
          <a:p>
            <a:pPr>
              <a:lnSpc>
                <a:spcPct val="150000"/>
              </a:lnSpc>
            </a:pPr>
            <a:r>
              <a:rPr lang="en-US"/>
              <a:t>Intel (x86)</a:t>
            </a:r>
          </a:p>
          <a:p>
            <a:pPr>
              <a:lnSpc>
                <a:spcPct val="150000"/>
              </a:lnSpc>
            </a:pPr>
            <a:r>
              <a:rPr lang="en-US"/>
              <a:t>MIPS</a:t>
            </a:r>
          </a:p>
          <a:p>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10</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pic>
        <p:nvPicPr>
          <p:cNvPr id="6" name="Picture 5">
            <a:extLst>
              <a:ext uri="{FF2B5EF4-FFF2-40B4-BE49-F238E27FC236}">
                <a16:creationId xmlns:a16="http://schemas.microsoft.com/office/drawing/2014/main" id="{BFE77FDD-C9B3-6932-D3E2-7B55368BFD92}"/>
              </a:ext>
            </a:extLst>
          </p:cNvPr>
          <p:cNvPicPr>
            <a:picLocks noChangeAspect="1"/>
          </p:cNvPicPr>
          <p:nvPr/>
        </p:nvPicPr>
        <p:blipFill>
          <a:blip r:embed="rId2"/>
          <a:stretch>
            <a:fillRect/>
          </a:stretch>
        </p:blipFill>
        <p:spPr>
          <a:xfrm>
            <a:off x="3404990" y="1631542"/>
            <a:ext cx="7848448" cy="4686706"/>
          </a:xfrm>
          <a:prstGeom prst="rect">
            <a:avLst/>
          </a:prstGeom>
        </p:spPr>
      </p:pic>
    </p:spTree>
    <p:extLst>
      <p:ext uri="{BB962C8B-B14F-4D97-AF65-F5344CB8AC3E}">
        <p14:creationId xmlns:p14="http://schemas.microsoft.com/office/powerpoint/2010/main" val="2492640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2138E7-0BF8-4FBE-AB49-4184E532FD1F}"/>
              </a:ext>
            </a:extLst>
          </p:cNvPr>
          <p:cNvSpPr>
            <a:spLocks noGrp="1"/>
          </p:cNvSpPr>
          <p:nvPr>
            <p:ph type="sldNum" sz="quarter" idx="12"/>
          </p:nvPr>
        </p:nvSpPr>
        <p:spPr/>
        <p:txBody>
          <a:bodyPr/>
          <a:lstStyle/>
          <a:p>
            <a:fld id="{D8B0B3AC-44A8-D142-AAF6-9A453466E1A4}" type="slidenum">
              <a:rPr lang="en-VN" smtClean="0"/>
              <a:pPr/>
              <a:t>11</a:t>
            </a:fld>
            <a:endParaRPr lang="en-VN" dirty="0"/>
          </a:p>
        </p:txBody>
      </p:sp>
      <p:sp>
        <p:nvSpPr>
          <p:cNvPr id="7" name="Text Placeholder 6">
            <a:extLst>
              <a:ext uri="{FF2B5EF4-FFF2-40B4-BE49-F238E27FC236}">
                <a16:creationId xmlns:a16="http://schemas.microsoft.com/office/drawing/2014/main" id="{0602C380-9011-23F7-8E4B-E195C0DFFBC9}"/>
              </a:ext>
            </a:extLst>
          </p:cNvPr>
          <p:cNvSpPr>
            <a:spLocks noGrp="1"/>
          </p:cNvSpPr>
          <p:nvPr>
            <p:ph type="body" sz="quarter" idx="13"/>
          </p:nvPr>
        </p:nvSpPr>
        <p:spPr>
          <a:xfrm>
            <a:off x="1470929" y="2095027"/>
            <a:ext cx="7918398" cy="884656"/>
          </a:xfrm>
        </p:spPr>
        <p:txBody>
          <a:bodyPr>
            <a:normAutofit/>
          </a:bodyPr>
          <a:lstStyle/>
          <a:p>
            <a:r>
              <a:rPr lang="en-US" dirty="0" err="1"/>
              <a:t>Lệnh</a:t>
            </a:r>
            <a:r>
              <a:rPr lang="en-US" dirty="0"/>
              <a:t> </a:t>
            </a:r>
            <a:r>
              <a:rPr lang="en-US" dirty="0" err="1"/>
              <a:t>và</a:t>
            </a:r>
            <a:r>
              <a:rPr lang="en-US" dirty="0"/>
              <a:t> </a:t>
            </a:r>
            <a:r>
              <a:rPr lang="en-US" dirty="0" err="1"/>
              <a:t>tập</a:t>
            </a:r>
            <a:r>
              <a:rPr lang="en-US" dirty="0"/>
              <a:t> </a:t>
            </a:r>
            <a:r>
              <a:rPr lang="en-US" dirty="0" err="1"/>
              <a:t>lệnh</a:t>
            </a:r>
            <a:r>
              <a:rPr lang="en-US" dirty="0"/>
              <a:t> MIPS</a:t>
            </a:r>
            <a:endParaRPr lang="en-VN" dirty="0"/>
          </a:p>
        </p:txBody>
      </p:sp>
      <p:sp>
        <p:nvSpPr>
          <p:cNvPr id="8" name="Text Placeholder 7">
            <a:extLst>
              <a:ext uri="{FF2B5EF4-FFF2-40B4-BE49-F238E27FC236}">
                <a16:creationId xmlns:a16="http://schemas.microsoft.com/office/drawing/2014/main" id="{883EE24F-70E8-C3FA-399B-07DCA2C415CE}"/>
              </a:ext>
            </a:extLst>
          </p:cNvPr>
          <p:cNvSpPr>
            <a:spLocks noGrp="1"/>
          </p:cNvSpPr>
          <p:nvPr>
            <p:ph type="body" sz="quarter" idx="14"/>
          </p:nvPr>
        </p:nvSpPr>
        <p:spPr/>
        <p:txBody>
          <a:bodyPr/>
          <a:lstStyle/>
          <a:p>
            <a:endParaRPr lang="vi-VN" sz="2800" dirty="0"/>
          </a:p>
        </p:txBody>
      </p:sp>
      <p:sp>
        <p:nvSpPr>
          <p:cNvPr id="9" name="Text Placeholder 8">
            <a:extLst>
              <a:ext uri="{FF2B5EF4-FFF2-40B4-BE49-F238E27FC236}">
                <a16:creationId xmlns:a16="http://schemas.microsoft.com/office/drawing/2014/main" id="{7F04BBE0-C7C7-D804-DD85-D99BEB36007C}"/>
              </a:ext>
            </a:extLst>
          </p:cNvPr>
          <p:cNvSpPr>
            <a:spLocks noGrp="1"/>
          </p:cNvSpPr>
          <p:nvPr>
            <p:ph type="body" sz="quarter" idx="15"/>
          </p:nvPr>
        </p:nvSpPr>
        <p:spPr/>
        <p:txBody>
          <a:bodyPr/>
          <a:lstStyle/>
          <a:p>
            <a:endParaRPr lang="en-VN"/>
          </a:p>
        </p:txBody>
      </p:sp>
      <p:sp>
        <p:nvSpPr>
          <p:cNvPr id="10" name="Text Placeholder 9">
            <a:extLst>
              <a:ext uri="{FF2B5EF4-FFF2-40B4-BE49-F238E27FC236}">
                <a16:creationId xmlns:a16="http://schemas.microsoft.com/office/drawing/2014/main" id="{3C2CDC7B-AFE9-6C1F-2CD6-AA61695C23FD}"/>
              </a:ext>
            </a:extLst>
          </p:cNvPr>
          <p:cNvSpPr>
            <a:spLocks noGrp="1"/>
          </p:cNvSpPr>
          <p:nvPr>
            <p:ph type="body" sz="quarter" idx="16"/>
          </p:nvPr>
        </p:nvSpPr>
        <p:spPr/>
        <p:txBody>
          <a:bodyPr>
            <a:normAutofit lnSpcReduction="10000"/>
          </a:bodyPr>
          <a:lstStyle/>
          <a:p>
            <a:r>
              <a:rPr lang="en-VN" dirty="0"/>
              <a:t>2</a:t>
            </a:r>
          </a:p>
        </p:txBody>
      </p:sp>
    </p:spTree>
    <p:extLst>
      <p:ext uri="{BB962C8B-B14F-4D97-AF65-F5344CB8AC3E}">
        <p14:creationId xmlns:p14="http://schemas.microsoft.com/office/powerpoint/2010/main" val="6870095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r>
              <a:rPr lang="en-US"/>
              <a:t>Kiến trúc tập lệnh - Lệnh</a:t>
            </a:r>
            <a:endParaRPr lang="vi-VN" altLang="ja-JP" dirty="0" err="1"/>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12</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10" name="TextBox 9">
            <a:extLst>
              <a:ext uri="{FF2B5EF4-FFF2-40B4-BE49-F238E27FC236}">
                <a16:creationId xmlns:a16="http://schemas.microsoft.com/office/drawing/2014/main" id="{FC0052D0-D4A2-C5B1-C5C5-2C0054F22A7E}"/>
              </a:ext>
            </a:extLst>
          </p:cNvPr>
          <p:cNvSpPr txBox="1"/>
          <p:nvPr/>
        </p:nvSpPr>
        <p:spPr>
          <a:xfrm>
            <a:off x="3472670" y="2196624"/>
            <a:ext cx="4569801" cy="461665"/>
          </a:xfrm>
          <a:prstGeom prst="rect">
            <a:avLst/>
          </a:prstGeom>
          <a:noFill/>
        </p:spPr>
        <p:txBody>
          <a:bodyPr wrap="square">
            <a:spAutoFit/>
          </a:bodyPr>
          <a:lstStyle/>
          <a:p>
            <a:pPr algn="ctr"/>
            <a:r>
              <a:rPr lang="en-US" sz="2400" dirty="0">
                <a:latin typeface="Times New Roman" panose="02020603050405020304" pitchFamily="18" charset="0"/>
                <a:cs typeface="Times New Roman" panose="02020603050405020304" pitchFamily="18" charset="0"/>
              </a:rPr>
              <a:t>Con </a:t>
            </a:r>
            <a:r>
              <a:rPr lang="en-US" sz="2400" dirty="0" err="1">
                <a:latin typeface="Times New Roman" panose="02020603050405020304" pitchFamily="18" charset="0"/>
                <a:cs typeface="Times New Roman" panose="02020603050405020304" pitchFamily="18" charset="0"/>
              </a:rPr>
              <a:t>người</a:t>
            </a:r>
            <a:r>
              <a:rPr lang="en-US" sz="2400" dirty="0">
                <a:latin typeface="Times New Roman" panose="02020603050405020304" pitchFamily="18" charset="0"/>
                <a:cs typeface="Times New Roman" panose="02020603050405020304" pitchFamily="18" charset="0"/>
              </a:rPr>
              <a:t>: </a:t>
            </a:r>
            <a:r>
              <a:rPr lang="en-US" sz="2400" b="1" dirty="0">
                <a:solidFill>
                  <a:srgbClr val="00B050"/>
                </a:solidFill>
                <a:latin typeface="Times New Roman" panose="02020603050405020304" pitchFamily="18" charset="0"/>
                <a:cs typeface="Times New Roman" panose="02020603050405020304" pitchFamily="18" charset="0"/>
              </a:rPr>
              <a:t>a</a:t>
            </a:r>
            <a:r>
              <a:rPr lang="en-US" sz="2400" dirty="0">
                <a:solidFill>
                  <a:srgbClr val="FF0000"/>
                </a:solidFill>
                <a:latin typeface="Times New Roman" panose="02020603050405020304" pitchFamily="18" charset="0"/>
                <a:cs typeface="Times New Roman" panose="02020603050405020304" pitchFamily="18" charset="0"/>
              </a:rPr>
              <a:t> </a:t>
            </a:r>
            <a:r>
              <a:rPr lang="en-US" sz="2400" dirty="0" err="1">
                <a:solidFill>
                  <a:srgbClr val="FF0000"/>
                </a:solidFill>
                <a:latin typeface="Times New Roman" panose="02020603050405020304" pitchFamily="18" charset="0"/>
                <a:cs typeface="Times New Roman" panose="02020603050405020304" pitchFamily="18" charset="0"/>
              </a:rPr>
              <a:t>cộng</a:t>
            </a:r>
            <a:r>
              <a:rPr lang="en-US" sz="24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C000"/>
                </a:solidFill>
                <a:latin typeface="Times New Roman" panose="02020603050405020304" pitchFamily="18" charset="0"/>
                <a:cs typeface="Times New Roman" panose="02020603050405020304" pitchFamily="18" charset="0"/>
              </a:rPr>
              <a:t>b</a:t>
            </a:r>
            <a:r>
              <a:rPr lang="en-US" sz="2400" dirty="0">
                <a:solidFill>
                  <a:srgbClr val="FF0000"/>
                </a:solidFill>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bằng</a:t>
            </a:r>
            <a:r>
              <a:rPr lang="en-US" sz="24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7030A0"/>
                </a:solidFill>
                <a:latin typeface="Times New Roman" panose="02020603050405020304" pitchFamily="18" charset="0"/>
                <a:cs typeface="Times New Roman" panose="02020603050405020304" pitchFamily="18" charset="0"/>
              </a:rPr>
              <a:t>c</a:t>
            </a:r>
          </a:p>
        </p:txBody>
      </p:sp>
      <p:sp>
        <p:nvSpPr>
          <p:cNvPr id="11" name="TextBox 10">
            <a:extLst>
              <a:ext uri="{FF2B5EF4-FFF2-40B4-BE49-F238E27FC236}">
                <a16:creationId xmlns:a16="http://schemas.microsoft.com/office/drawing/2014/main" id="{AABE633B-E261-B7E9-552E-A239F2A218B5}"/>
              </a:ext>
            </a:extLst>
          </p:cNvPr>
          <p:cNvSpPr txBox="1"/>
          <p:nvPr/>
        </p:nvSpPr>
        <p:spPr>
          <a:xfrm>
            <a:off x="3340387" y="3152150"/>
            <a:ext cx="4838333" cy="461665"/>
          </a:xfrm>
          <a:prstGeom prst="rect">
            <a:avLst/>
          </a:prstGeom>
          <a:noFill/>
        </p:spPr>
        <p:txBody>
          <a:bodyPr wrap="square">
            <a:spAutoFit/>
          </a:bodyPr>
          <a:lstStyle/>
          <a:p>
            <a:pPr algn="ctr"/>
            <a:r>
              <a:rPr lang="en-US" sz="2400" dirty="0" err="1">
                <a:latin typeface="Times New Roman" panose="02020603050405020304" pitchFamily="18" charset="0"/>
                <a:cs typeface="Times New Roman" panose="02020603050405020304" pitchFamily="18" charset="0"/>
              </a:rPr>
              <a:t>Lập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trình</a:t>
            </a:r>
            <a:r>
              <a:rPr lang="en-US" sz="2400" dirty="0">
                <a:latin typeface="Times New Roman" panose="02020603050405020304" pitchFamily="18" charset="0"/>
                <a:cs typeface="Times New Roman" panose="02020603050405020304" pitchFamily="18" charset="0"/>
              </a:rPr>
              <a:t>: </a:t>
            </a:r>
            <a:r>
              <a:rPr lang="en-US" sz="2400" b="1" dirty="0">
                <a:solidFill>
                  <a:srgbClr val="7030A0"/>
                </a:solidFill>
                <a:latin typeface="Times New Roman" panose="02020603050405020304" pitchFamily="18" charset="0"/>
                <a:cs typeface="Times New Roman" panose="02020603050405020304" pitchFamily="18" charset="0"/>
              </a:rPr>
              <a:t>c</a:t>
            </a:r>
            <a:r>
              <a:rPr lang="en-US" sz="2400" dirty="0">
                <a:solidFill>
                  <a:srgbClr val="FF0000"/>
                </a:solidFill>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t>
            </a:r>
            <a:r>
              <a:rPr lang="en-US" sz="24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00B050"/>
                </a:solidFill>
                <a:latin typeface="Times New Roman" panose="02020603050405020304" pitchFamily="18" charset="0"/>
                <a:cs typeface="Times New Roman" panose="02020603050405020304" pitchFamily="18" charset="0"/>
              </a:rPr>
              <a:t>a</a:t>
            </a:r>
            <a:r>
              <a:rPr lang="en-US" sz="2400" dirty="0">
                <a:solidFill>
                  <a:srgbClr val="FF0000"/>
                </a:solidFill>
                <a:latin typeface="Times New Roman" panose="02020603050405020304" pitchFamily="18" charset="0"/>
                <a:cs typeface="Times New Roman" panose="02020603050405020304" pitchFamily="18" charset="0"/>
              </a:rPr>
              <a:t> + </a:t>
            </a:r>
            <a:r>
              <a:rPr lang="en-US" sz="2400" b="1" dirty="0">
                <a:solidFill>
                  <a:srgbClr val="FFC000"/>
                </a:solidFill>
                <a:latin typeface="Times New Roman" panose="02020603050405020304" pitchFamily="18" charset="0"/>
                <a:cs typeface="Times New Roman" panose="02020603050405020304" pitchFamily="18" charset="0"/>
              </a:rPr>
              <a:t>b</a:t>
            </a:r>
            <a:endParaRPr lang="en-US" sz="2400" dirty="0">
              <a:solidFill>
                <a:srgbClr val="FFC000"/>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61E445D8-AE60-0D1C-D5B7-7F2EDA9A7702}"/>
              </a:ext>
            </a:extLst>
          </p:cNvPr>
          <p:cNvSpPr txBox="1"/>
          <p:nvPr/>
        </p:nvSpPr>
        <p:spPr>
          <a:xfrm>
            <a:off x="3046237" y="4048825"/>
            <a:ext cx="5427458" cy="461665"/>
          </a:xfrm>
          <a:prstGeom prst="rect">
            <a:avLst/>
          </a:prstGeom>
          <a:noFill/>
        </p:spPr>
        <p:txBody>
          <a:bodyPr wrap="square">
            <a:spAutoFit/>
          </a:bodyPr>
          <a:lstStyle/>
          <a:p>
            <a:pPr algn="ctr"/>
            <a:r>
              <a:rPr lang="en-US" sz="2400" dirty="0" err="1">
                <a:latin typeface="Times New Roman" panose="02020603050405020304" pitchFamily="18" charset="0"/>
                <a:cs typeface="Times New Roman" panose="02020603050405020304" pitchFamily="18" charset="0"/>
              </a:rPr>
              <a:t>Máy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tính</a:t>
            </a:r>
            <a:r>
              <a:rPr lang="en-US" sz="2400" dirty="0">
                <a:latin typeface="Times New Roman" panose="02020603050405020304" pitchFamily="18" charset="0"/>
                <a:cs typeface="Times New Roman" panose="02020603050405020304" pitchFamily="18" charset="0"/>
              </a:rPr>
              <a:t>: </a:t>
            </a:r>
            <a:r>
              <a:rPr lang="en-US" sz="2400" dirty="0">
                <a:solidFill>
                  <a:srgbClr val="FF0000"/>
                </a:solidFill>
                <a:latin typeface="Times New Roman" panose="02020603050405020304" pitchFamily="18" charset="0"/>
                <a:cs typeface="Times New Roman" panose="02020603050405020304" pitchFamily="18" charset="0"/>
              </a:rPr>
              <a:t>000010</a:t>
            </a:r>
            <a:r>
              <a:rPr lang="en-US" sz="2400" dirty="0">
                <a:solidFill>
                  <a:srgbClr val="7030A0"/>
                </a:solidFill>
                <a:latin typeface="Times New Roman" panose="02020603050405020304" pitchFamily="18" charset="0"/>
                <a:cs typeface="Times New Roman" panose="02020603050405020304" pitchFamily="18" charset="0"/>
              </a:rPr>
              <a:t>01100</a:t>
            </a:r>
            <a:r>
              <a:rPr lang="en-US" sz="2400" dirty="0">
                <a:solidFill>
                  <a:srgbClr val="00B050"/>
                </a:solidFill>
                <a:latin typeface="Times New Roman" panose="02020603050405020304" pitchFamily="18" charset="0"/>
                <a:cs typeface="Times New Roman" panose="02020603050405020304" pitchFamily="18" charset="0"/>
              </a:rPr>
              <a:t>01010</a:t>
            </a:r>
            <a:r>
              <a:rPr lang="en-US" sz="2400" dirty="0">
                <a:solidFill>
                  <a:srgbClr val="FFC000"/>
                </a:solidFill>
                <a:latin typeface="Times New Roman" panose="02020603050405020304" pitchFamily="18" charset="0"/>
                <a:cs typeface="Times New Roman" panose="02020603050405020304" pitchFamily="18" charset="0"/>
              </a:rPr>
              <a:t>00110</a:t>
            </a:r>
            <a:endParaRPr lang="en-US" sz="2400" b="1" dirty="0">
              <a:solidFill>
                <a:srgbClr val="FFC000"/>
              </a:solidFill>
              <a:latin typeface="Times New Roman" panose="02020603050405020304" pitchFamily="18" charset="0"/>
              <a:cs typeface="Times New Roman" panose="02020603050405020304" pitchFamily="18" charset="0"/>
            </a:endParaRPr>
          </a:p>
        </p:txBody>
      </p:sp>
      <p:cxnSp>
        <p:nvCxnSpPr>
          <p:cNvPr id="13" name="Straight Arrow Connector 12">
            <a:extLst>
              <a:ext uri="{FF2B5EF4-FFF2-40B4-BE49-F238E27FC236}">
                <a16:creationId xmlns:a16="http://schemas.microsoft.com/office/drawing/2014/main" id="{9EBFD811-578B-CF8E-0934-B2D5474A9E11}"/>
              </a:ext>
            </a:extLst>
          </p:cNvPr>
          <p:cNvCxnSpPr>
            <a:cxnSpLocks/>
            <a:stCxn id="10" idx="2"/>
          </p:cNvCxnSpPr>
          <p:nvPr/>
        </p:nvCxnSpPr>
        <p:spPr>
          <a:xfrm flipH="1">
            <a:off x="5757570" y="2658289"/>
            <a:ext cx="1" cy="415498"/>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C8D54CA1-1C15-96C2-2441-31C8B7D6F28F}"/>
              </a:ext>
            </a:extLst>
          </p:cNvPr>
          <p:cNvCxnSpPr>
            <a:cxnSpLocks/>
          </p:cNvCxnSpPr>
          <p:nvPr/>
        </p:nvCxnSpPr>
        <p:spPr>
          <a:xfrm>
            <a:off x="5733589" y="3610244"/>
            <a:ext cx="11903" cy="43858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15" name="TextBox 14">
            <a:extLst>
              <a:ext uri="{FF2B5EF4-FFF2-40B4-BE49-F238E27FC236}">
                <a16:creationId xmlns:a16="http://schemas.microsoft.com/office/drawing/2014/main" id="{7DDF4840-31D4-9F2C-14F9-C620E4D1FFB4}"/>
              </a:ext>
            </a:extLst>
          </p:cNvPr>
          <p:cNvSpPr txBox="1"/>
          <p:nvPr/>
        </p:nvSpPr>
        <p:spPr>
          <a:xfrm>
            <a:off x="1674245" y="4706697"/>
            <a:ext cx="1666142" cy="461665"/>
          </a:xfrm>
          <a:prstGeom prst="rect">
            <a:avLst/>
          </a:prstGeom>
          <a:noFill/>
        </p:spPr>
        <p:txBody>
          <a:bodyPr wrap="square">
            <a:spAutoFit/>
          </a:bodyPr>
          <a:lstStyle/>
          <a:p>
            <a:pPr algn="ctr"/>
            <a:r>
              <a:rPr lang="en-US" sz="2400" err="1">
                <a:solidFill>
                  <a:srgbClr val="FF0000"/>
                </a:solidFill>
                <a:latin typeface="Times New Roman" panose="02020603050405020304" pitchFamily="18" charset="0"/>
                <a:cs typeface="Times New Roman" panose="02020603050405020304" pitchFamily="18" charset="0"/>
              </a:rPr>
              <a:t>Mã</a:t>
            </a:r>
            <a:r>
              <a:rPr lang="en-US" sz="2400">
                <a:solidFill>
                  <a:srgbClr val="FF0000"/>
                </a:solidFill>
                <a:latin typeface="Times New Roman" panose="02020603050405020304" pitchFamily="18" charset="0"/>
                <a:cs typeface="Times New Roman" panose="02020603050405020304" pitchFamily="18" charset="0"/>
              </a:rPr>
              <a:t> lệnh</a:t>
            </a:r>
            <a:endParaRPr lang="en-US" sz="2400" dirty="0">
              <a:solidFill>
                <a:srgbClr val="FF0000"/>
              </a:solidFill>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77697A4D-BF3D-A04D-0890-F0DC557960AD}"/>
              </a:ext>
            </a:extLst>
          </p:cNvPr>
          <p:cNvSpPr txBox="1"/>
          <p:nvPr/>
        </p:nvSpPr>
        <p:spPr>
          <a:xfrm>
            <a:off x="3792643" y="4739122"/>
            <a:ext cx="2080877" cy="461665"/>
          </a:xfrm>
          <a:prstGeom prst="rect">
            <a:avLst/>
          </a:prstGeom>
          <a:noFill/>
        </p:spPr>
        <p:txBody>
          <a:bodyPr wrap="square">
            <a:spAutoFit/>
          </a:bodyPr>
          <a:lstStyle/>
          <a:p>
            <a:pPr algn="ctr"/>
            <a:r>
              <a:rPr lang="en-US" sz="2400" dirty="0" err="1">
                <a:solidFill>
                  <a:srgbClr val="7030A0"/>
                </a:solidFill>
                <a:latin typeface="Times New Roman" panose="02020603050405020304" pitchFamily="18" charset="0"/>
                <a:cs typeface="Times New Roman" panose="02020603050405020304" pitchFamily="18" charset="0"/>
              </a:rPr>
              <a:t>Toán</a:t>
            </a:r>
            <a:r>
              <a:rPr lang="en-US" sz="2400" dirty="0">
                <a:solidFill>
                  <a:srgbClr val="7030A0"/>
                </a:solidFill>
                <a:latin typeface="Times New Roman" panose="02020603050405020304" pitchFamily="18" charset="0"/>
                <a:cs typeface="Times New Roman" panose="02020603050405020304" pitchFamily="18" charset="0"/>
              </a:rPr>
              <a:t> </a:t>
            </a:r>
            <a:r>
              <a:rPr lang="en-US" sz="2400" dirty="0" err="1">
                <a:solidFill>
                  <a:srgbClr val="7030A0"/>
                </a:solidFill>
                <a:latin typeface="Times New Roman" panose="02020603050405020304" pitchFamily="18" charset="0"/>
                <a:cs typeface="Times New Roman" panose="02020603050405020304" pitchFamily="18" charset="0"/>
              </a:rPr>
              <a:t>hạng</a:t>
            </a:r>
            <a:r>
              <a:rPr lang="en-US" sz="2400" dirty="0">
                <a:solidFill>
                  <a:srgbClr val="7030A0"/>
                </a:solidFill>
                <a:latin typeface="Times New Roman" panose="02020603050405020304" pitchFamily="18" charset="0"/>
                <a:cs typeface="Times New Roman" panose="02020603050405020304" pitchFamily="18" charset="0"/>
              </a:rPr>
              <a:t> </a:t>
            </a:r>
            <a:r>
              <a:rPr lang="en-US" sz="2400" dirty="0" err="1">
                <a:solidFill>
                  <a:srgbClr val="7030A0"/>
                </a:solidFill>
                <a:latin typeface="Times New Roman" panose="02020603050405020304" pitchFamily="18" charset="0"/>
                <a:cs typeface="Times New Roman" panose="02020603050405020304" pitchFamily="18" charset="0"/>
              </a:rPr>
              <a:t>đích</a:t>
            </a:r>
            <a:endParaRPr lang="en-US" sz="2400" dirty="0">
              <a:solidFill>
                <a:srgbClr val="7030A0"/>
              </a:solidFill>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AC4FA974-9196-DDBD-EAE7-20D963866E54}"/>
              </a:ext>
            </a:extLst>
          </p:cNvPr>
          <p:cNvSpPr txBox="1"/>
          <p:nvPr/>
        </p:nvSpPr>
        <p:spPr>
          <a:xfrm>
            <a:off x="6114360" y="4706697"/>
            <a:ext cx="1666142" cy="830997"/>
          </a:xfrm>
          <a:prstGeom prst="rect">
            <a:avLst/>
          </a:prstGeom>
          <a:noFill/>
        </p:spPr>
        <p:txBody>
          <a:bodyPr wrap="square">
            <a:spAutoFit/>
          </a:bodyPr>
          <a:lstStyle/>
          <a:p>
            <a:pPr algn="ctr"/>
            <a:r>
              <a:rPr lang="en-US" sz="2400" dirty="0" err="1">
                <a:solidFill>
                  <a:srgbClr val="00B050"/>
                </a:solidFill>
                <a:latin typeface="Times New Roman" panose="02020603050405020304" pitchFamily="18" charset="0"/>
                <a:cs typeface="Times New Roman" panose="02020603050405020304" pitchFamily="18" charset="0"/>
              </a:rPr>
              <a:t>Toán</a:t>
            </a:r>
            <a:r>
              <a:rPr lang="en-US" sz="2400" dirty="0">
                <a:solidFill>
                  <a:srgbClr val="00B050"/>
                </a:solidFill>
                <a:latin typeface="Times New Roman" panose="02020603050405020304" pitchFamily="18" charset="0"/>
                <a:cs typeface="Times New Roman" panose="02020603050405020304" pitchFamily="18" charset="0"/>
              </a:rPr>
              <a:t> </a:t>
            </a:r>
            <a:r>
              <a:rPr lang="en-US" sz="2400" dirty="0" err="1">
                <a:solidFill>
                  <a:srgbClr val="00B050"/>
                </a:solidFill>
                <a:latin typeface="Times New Roman" panose="02020603050405020304" pitchFamily="18" charset="0"/>
                <a:cs typeface="Times New Roman" panose="02020603050405020304" pitchFamily="18" charset="0"/>
              </a:rPr>
              <a:t>hạng</a:t>
            </a:r>
            <a:r>
              <a:rPr lang="en-US" sz="2400" dirty="0">
                <a:solidFill>
                  <a:srgbClr val="00B050"/>
                </a:solidFill>
                <a:latin typeface="Times New Roman" panose="02020603050405020304" pitchFamily="18" charset="0"/>
                <a:cs typeface="Times New Roman" panose="02020603050405020304" pitchFamily="18" charset="0"/>
              </a:rPr>
              <a:t> </a:t>
            </a:r>
            <a:r>
              <a:rPr lang="en-US" sz="2400" dirty="0" err="1">
                <a:solidFill>
                  <a:srgbClr val="00B050"/>
                </a:solidFill>
                <a:latin typeface="Times New Roman" panose="02020603050405020304" pitchFamily="18" charset="0"/>
                <a:cs typeface="Times New Roman" panose="02020603050405020304" pitchFamily="18" charset="0"/>
              </a:rPr>
              <a:t>nguồn</a:t>
            </a:r>
            <a:r>
              <a:rPr lang="en-US" sz="2400" dirty="0">
                <a:solidFill>
                  <a:srgbClr val="00B050"/>
                </a:solidFill>
                <a:latin typeface="Times New Roman" panose="02020603050405020304" pitchFamily="18" charset="0"/>
                <a:cs typeface="Times New Roman" panose="02020603050405020304" pitchFamily="18" charset="0"/>
              </a:rPr>
              <a:t> </a:t>
            </a:r>
            <a:r>
              <a:rPr lang="en-US" sz="2400" dirty="0" err="1">
                <a:solidFill>
                  <a:srgbClr val="00B050"/>
                </a:solidFill>
                <a:latin typeface="Times New Roman" panose="02020603050405020304" pitchFamily="18" charset="0"/>
                <a:cs typeface="Times New Roman" panose="02020603050405020304" pitchFamily="18" charset="0"/>
              </a:rPr>
              <a:t>thứ</a:t>
            </a:r>
            <a:r>
              <a:rPr lang="en-US" sz="2400" dirty="0">
                <a:solidFill>
                  <a:srgbClr val="00B050"/>
                </a:solidFill>
                <a:latin typeface="Times New Roman" panose="02020603050405020304" pitchFamily="18" charset="0"/>
                <a:cs typeface="Times New Roman" panose="02020603050405020304" pitchFamily="18" charset="0"/>
              </a:rPr>
              <a:t> 1</a:t>
            </a:r>
          </a:p>
        </p:txBody>
      </p:sp>
      <p:sp>
        <p:nvSpPr>
          <p:cNvPr id="18" name="TextBox 17">
            <a:extLst>
              <a:ext uri="{FF2B5EF4-FFF2-40B4-BE49-F238E27FC236}">
                <a16:creationId xmlns:a16="http://schemas.microsoft.com/office/drawing/2014/main" id="{E0A8305A-8E17-E248-643E-1C587F9366B9}"/>
              </a:ext>
            </a:extLst>
          </p:cNvPr>
          <p:cNvSpPr txBox="1"/>
          <p:nvPr/>
        </p:nvSpPr>
        <p:spPr>
          <a:xfrm>
            <a:off x="8178720" y="4702299"/>
            <a:ext cx="1666142" cy="830997"/>
          </a:xfrm>
          <a:prstGeom prst="rect">
            <a:avLst/>
          </a:prstGeom>
          <a:noFill/>
        </p:spPr>
        <p:txBody>
          <a:bodyPr wrap="square">
            <a:spAutoFit/>
          </a:bodyPr>
          <a:lstStyle/>
          <a:p>
            <a:pPr algn="ctr"/>
            <a:r>
              <a:rPr lang="en-US" sz="2400" dirty="0" err="1">
                <a:solidFill>
                  <a:srgbClr val="FFC000"/>
                </a:solidFill>
                <a:latin typeface="Times New Roman" panose="02020603050405020304" pitchFamily="18" charset="0"/>
                <a:cs typeface="Times New Roman" panose="02020603050405020304" pitchFamily="18" charset="0"/>
              </a:rPr>
              <a:t>Toán</a:t>
            </a:r>
            <a:r>
              <a:rPr lang="en-US" sz="2400" dirty="0">
                <a:solidFill>
                  <a:srgbClr val="FFC000"/>
                </a:solidFill>
                <a:latin typeface="Times New Roman" panose="02020603050405020304" pitchFamily="18" charset="0"/>
                <a:cs typeface="Times New Roman" panose="02020603050405020304" pitchFamily="18" charset="0"/>
              </a:rPr>
              <a:t> </a:t>
            </a:r>
            <a:r>
              <a:rPr lang="en-US" sz="2400" dirty="0" err="1">
                <a:solidFill>
                  <a:srgbClr val="FFC000"/>
                </a:solidFill>
                <a:latin typeface="Times New Roman" panose="02020603050405020304" pitchFamily="18" charset="0"/>
                <a:cs typeface="Times New Roman" panose="02020603050405020304" pitchFamily="18" charset="0"/>
              </a:rPr>
              <a:t>hạng</a:t>
            </a:r>
            <a:r>
              <a:rPr lang="en-US" sz="2400" dirty="0">
                <a:solidFill>
                  <a:srgbClr val="FFC000"/>
                </a:solidFill>
                <a:latin typeface="Times New Roman" panose="02020603050405020304" pitchFamily="18" charset="0"/>
                <a:cs typeface="Times New Roman" panose="02020603050405020304" pitchFamily="18" charset="0"/>
              </a:rPr>
              <a:t> </a:t>
            </a:r>
            <a:r>
              <a:rPr lang="en-US" sz="2400" dirty="0" err="1">
                <a:solidFill>
                  <a:srgbClr val="FFC000"/>
                </a:solidFill>
                <a:latin typeface="Times New Roman" panose="02020603050405020304" pitchFamily="18" charset="0"/>
                <a:cs typeface="Times New Roman" panose="02020603050405020304" pitchFamily="18" charset="0"/>
              </a:rPr>
              <a:t>nguồn</a:t>
            </a:r>
            <a:r>
              <a:rPr lang="en-US" sz="2400" dirty="0">
                <a:solidFill>
                  <a:srgbClr val="FFC000"/>
                </a:solidFill>
                <a:latin typeface="Times New Roman" panose="02020603050405020304" pitchFamily="18" charset="0"/>
                <a:cs typeface="Times New Roman" panose="02020603050405020304" pitchFamily="18" charset="0"/>
              </a:rPr>
              <a:t> </a:t>
            </a:r>
            <a:r>
              <a:rPr lang="en-US" sz="2400" dirty="0" err="1">
                <a:solidFill>
                  <a:srgbClr val="FFC000"/>
                </a:solidFill>
                <a:latin typeface="Times New Roman" panose="02020603050405020304" pitchFamily="18" charset="0"/>
                <a:cs typeface="Times New Roman" panose="02020603050405020304" pitchFamily="18" charset="0"/>
              </a:rPr>
              <a:t>thứ</a:t>
            </a:r>
            <a:r>
              <a:rPr lang="en-US" sz="2400" dirty="0">
                <a:solidFill>
                  <a:srgbClr val="FFC000"/>
                </a:solidFill>
                <a:latin typeface="Times New Roman" panose="02020603050405020304" pitchFamily="18" charset="0"/>
                <a:cs typeface="Times New Roman" panose="02020603050405020304" pitchFamily="18" charset="0"/>
              </a:rPr>
              <a:t> 2</a:t>
            </a:r>
          </a:p>
        </p:txBody>
      </p:sp>
      <p:cxnSp>
        <p:nvCxnSpPr>
          <p:cNvPr id="19" name="Straight Arrow Connector 18">
            <a:extLst>
              <a:ext uri="{FF2B5EF4-FFF2-40B4-BE49-F238E27FC236}">
                <a16:creationId xmlns:a16="http://schemas.microsoft.com/office/drawing/2014/main" id="{A8DB8A5B-9C5C-CA52-DD10-5A3FB401141D}"/>
              </a:ext>
            </a:extLst>
          </p:cNvPr>
          <p:cNvCxnSpPr>
            <a:cxnSpLocks/>
          </p:cNvCxnSpPr>
          <p:nvPr/>
        </p:nvCxnSpPr>
        <p:spPr>
          <a:xfrm flipV="1">
            <a:off x="2507315" y="4393279"/>
            <a:ext cx="2323742" cy="356027"/>
          </a:xfrm>
          <a:prstGeom prst="straightConnector1">
            <a:avLst/>
          </a:prstGeom>
          <a:ln>
            <a:solidFill>
              <a:srgbClr val="FF0000"/>
            </a:solidFill>
            <a:tailEnd type="triangle"/>
          </a:ln>
        </p:spPr>
        <p:style>
          <a:lnRef idx="2">
            <a:schemeClr val="accent2"/>
          </a:lnRef>
          <a:fillRef idx="0">
            <a:schemeClr val="accent2"/>
          </a:fillRef>
          <a:effectRef idx="1">
            <a:schemeClr val="accent2"/>
          </a:effectRef>
          <a:fontRef idx="minor">
            <a:schemeClr val="tx1"/>
          </a:fontRef>
        </p:style>
      </p:cxnSp>
      <p:cxnSp>
        <p:nvCxnSpPr>
          <p:cNvPr id="20" name="Straight Arrow Connector 19">
            <a:extLst>
              <a:ext uri="{FF2B5EF4-FFF2-40B4-BE49-F238E27FC236}">
                <a16:creationId xmlns:a16="http://schemas.microsoft.com/office/drawing/2014/main" id="{CF98AB51-60D3-4C75-83AA-623A4C853FCD}"/>
              </a:ext>
            </a:extLst>
          </p:cNvPr>
          <p:cNvCxnSpPr>
            <a:cxnSpLocks/>
          </p:cNvCxnSpPr>
          <p:nvPr/>
        </p:nvCxnSpPr>
        <p:spPr>
          <a:xfrm flipV="1">
            <a:off x="4831057" y="4451464"/>
            <a:ext cx="1071887" cy="293444"/>
          </a:xfrm>
          <a:prstGeom prst="straightConnector1">
            <a:avLst/>
          </a:prstGeom>
          <a:ln>
            <a:solidFill>
              <a:srgbClr val="7030A0"/>
            </a:solidFill>
            <a:tailEnd type="triangle"/>
          </a:ln>
        </p:spPr>
        <p:style>
          <a:lnRef idx="2">
            <a:schemeClr val="accent2"/>
          </a:lnRef>
          <a:fillRef idx="0">
            <a:schemeClr val="accent2"/>
          </a:fillRef>
          <a:effectRef idx="1">
            <a:schemeClr val="accent2"/>
          </a:effectRef>
          <a:fontRef idx="minor">
            <a:schemeClr val="tx1"/>
          </a:fontRef>
        </p:style>
      </p:cxnSp>
      <p:cxnSp>
        <p:nvCxnSpPr>
          <p:cNvPr id="21" name="Straight Arrow Connector 20">
            <a:extLst>
              <a:ext uri="{FF2B5EF4-FFF2-40B4-BE49-F238E27FC236}">
                <a16:creationId xmlns:a16="http://schemas.microsoft.com/office/drawing/2014/main" id="{51C57F15-FF38-08AC-B5E3-276F4B95E675}"/>
              </a:ext>
            </a:extLst>
          </p:cNvPr>
          <p:cNvCxnSpPr>
            <a:cxnSpLocks/>
          </p:cNvCxnSpPr>
          <p:nvPr/>
        </p:nvCxnSpPr>
        <p:spPr>
          <a:xfrm flipH="1" flipV="1">
            <a:off x="6754369" y="4393279"/>
            <a:ext cx="193062" cy="351629"/>
          </a:xfrm>
          <a:prstGeom prst="straightConnector1">
            <a:avLst/>
          </a:prstGeom>
          <a:ln>
            <a:solidFill>
              <a:srgbClr val="00B050"/>
            </a:solidFill>
            <a:tailEnd type="triangle"/>
          </a:ln>
        </p:spPr>
        <p:style>
          <a:lnRef idx="2">
            <a:schemeClr val="accent2"/>
          </a:lnRef>
          <a:fillRef idx="0">
            <a:schemeClr val="accent2"/>
          </a:fillRef>
          <a:effectRef idx="1">
            <a:schemeClr val="accent2"/>
          </a:effectRef>
          <a:fontRef idx="minor">
            <a:schemeClr val="tx1"/>
          </a:fontRef>
        </p:style>
      </p:cxnSp>
      <p:cxnSp>
        <p:nvCxnSpPr>
          <p:cNvPr id="22" name="Straight Arrow Connector 21">
            <a:extLst>
              <a:ext uri="{FF2B5EF4-FFF2-40B4-BE49-F238E27FC236}">
                <a16:creationId xmlns:a16="http://schemas.microsoft.com/office/drawing/2014/main" id="{0E6D4578-3DE9-5712-8395-A8FC263074CC}"/>
              </a:ext>
            </a:extLst>
          </p:cNvPr>
          <p:cNvCxnSpPr>
            <a:cxnSpLocks/>
          </p:cNvCxnSpPr>
          <p:nvPr/>
        </p:nvCxnSpPr>
        <p:spPr>
          <a:xfrm flipH="1" flipV="1">
            <a:off x="7587440" y="4451464"/>
            <a:ext cx="1509203" cy="250835"/>
          </a:xfrm>
          <a:prstGeom prst="straightConnector1">
            <a:avLst/>
          </a:prstGeom>
          <a:ln>
            <a:solidFill>
              <a:srgbClr val="FFC000"/>
            </a:solidFill>
            <a:tailEnd type="triangle"/>
          </a:ln>
        </p:spPr>
        <p:style>
          <a:lnRef idx="2">
            <a:schemeClr val="accent2"/>
          </a:lnRef>
          <a:fillRef idx="0">
            <a:schemeClr val="accent2"/>
          </a:fillRef>
          <a:effectRef idx="1">
            <a:schemeClr val="accent2"/>
          </a:effectRef>
          <a:fontRef idx="minor">
            <a:schemeClr val="tx1"/>
          </a:fontRef>
        </p:style>
      </p:cxnSp>
      <p:sp>
        <p:nvSpPr>
          <p:cNvPr id="23" name="TextBox 22">
            <a:extLst>
              <a:ext uri="{FF2B5EF4-FFF2-40B4-BE49-F238E27FC236}">
                <a16:creationId xmlns:a16="http://schemas.microsoft.com/office/drawing/2014/main" id="{B2BA6CBA-AAAF-7E51-5EDF-25D2CA28D7E9}"/>
              </a:ext>
            </a:extLst>
          </p:cNvPr>
          <p:cNvSpPr txBox="1"/>
          <p:nvPr/>
        </p:nvSpPr>
        <p:spPr>
          <a:xfrm>
            <a:off x="4150732" y="3608820"/>
            <a:ext cx="3193837" cy="461665"/>
          </a:xfrm>
          <a:prstGeom prst="rect">
            <a:avLst/>
          </a:prstGeom>
          <a:noFill/>
        </p:spPr>
        <p:txBody>
          <a:bodyPr wrap="square">
            <a:spAutoFit/>
          </a:bodyPr>
          <a:lstStyle/>
          <a:p>
            <a:pPr algn="ctr"/>
            <a:r>
              <a:rPr lang="en-US" sz="2400" dirty="0" err="1">
                <a:highlight>
                  <a:srgbClr val="FFFF00"/>
                </a:highlight>
                <a:latin typeface="Times New Roman" panose="02020603050405020304" pitchFamily="18" charset="0"/>
                <a:cs typeface="Times New Roman" panose="02020603050405020304" pitchFamily="18" charset="0"/>
              </a:rPr>
              <a:t>Gợi</a:t>
            </a:r>
            <a:r>
              <a:rPr lang="en-US" sz="2400" dirty="0">
                <a:highlight>
                  <a:srgbClr val="FFFF00"/>
                </a:highlight>
                <a:latin typeface="Times New Roman" panose="02020603050405020304" pitchFamily="18" charset="0"/>
                <a:cs typeface="Times New Roman" panose="02020603050405020304" pitchFamily="18" charset="0"/>
              </a:rPr>
              <a:t> </a:t>
            </a:r>
            <a:r>
              <a:rPr lang="en-US" sz="2400" dirty="0" err="1">
                <a:highlight>
                  <a:srgbClr val="FFFF00"/>
                </a:highlight>
                <a:latin typeface="Times New Roman" panose="02020603050405020304" pitchFamily="18" charset="0"/>
                <a:cs typeface="Times New Roman" panose="02020603050405020304" pitchFamily="18" charset="0"/>
              </a:rPr>
              <a:t>nhớ</a:t>
            </a:r>
            <a:r>
              <a:rPr lang="en-US" sz="2400" dirty="0">
                <a:highlight>
                  <a:srgbClr val="FFFF00"/>
                </a:highlight>
                <a:latin typeface="Times New Roman" panose="02020603050405020304" pitchFamily="18" charset="0"/>
                <a:cs typeface="Times New Roman" panose="02020603050405020304" pitchFamily="18" charset="0"/>
              </a:rPr>
              <a:t>: </a:t>
            </a:r>
            <a:r>
              <a:rPr lang="en-US" sz="2400" dirty="0">
                <a:solidFill>
                  <a:srgbClr val="FF0000"/>
                </a:solidFill>
                <a:highlight>
                  <a:srgbClr val="FFFF00"/>
                </a:highlight>
                <a:latin typeface="Times New Roman" panose="02020603050405020304" pitchFamily="18" charset="0"/>
                <a:cs typeface="Times New Roman" panose="02020603050405020304" pitchFamily="18" charset="0"/>
              </a:rPr>
              <a:t>add </a:t>
            </a:r>
            <a:r>
              <a:rPr lang="en-US" sz="2400" dirty="0">
                <a:highlight>
                  <a:srgbClr val="FFFF00"/>
                </a:highlight>
                <a:latin typeface="Times New Roman" panose="02020603050405020304" pitchFamily="18" charset="0"/>
                <a:cs typeface="Times New Roman" panose="02020603050405020304" pitchFamily="18" charset="0"/>
              </a:rPr>
              <a:t> </a:t>
            </a:r>
            <a:r>
              <a:rPr lang="en-US" sz="2400" b="1" dirty="0">
                <a:solidFill>
                  <a:srgbClr val="7030A0"/>
                </a:solidFill>
                <a:highlight>
                  <a:srgbClr val="FFFF00"/>
                </a:highlight>
                <a:latin typeface="Times New Roman" panose="02020603050405020304" pitchFamily="18" charset="0"/>
                <a:cs typeface="Times New Roman" panose="02020603050405020304" pitchFamily="18" charset="0"/>
              </a:rPr>
              <a:t>c</a:t>
            </a:r>
            <a:r>
              <a:rPr lang="en-US" sz="2400" b="1" dirty="0">
                <a:highlight>
                  <a:srgbClr val="FFFF00"/>
                </a:highlight>
                <a:latin typeface="Times New Roman" panose="02020603050405020304" pitchFamily="18" charset="0"/>
                <a:cs typeface="Times New Roman" panose="02020603050405020304" pitchFamily="18" charset="0"/>
              </a:rPr>
              <a:t>, </a:t>
            </a:r>
            <a:r>
              <a:rPr lang="en-US" sz="2400" dirty="0">
                <a:solidFill>
                  <a:srgbClr val="FF0000"/>
                </a:solidFill>
                <a:highlight>
                  <a:srgbClr val="FFFF00"/>
                </a:highlight>
                <a:latin typeface="Times New Roman" panose="02020603050405020304" pitchFamily="18" charset="0"/>
                <a:cs typeface="Times New Roman" panose="02020603050405020304" pitchFamily="18" charset="0"/>
              </a:rPr>
              <a:t> </a:t>
            </a:r>
            <a:r>
              <a:rPr lang="en-US" sz="2400" b="1" dirty="0">
                <a:solidFill>
                  <a:srgbClr val="00B050"/>
                </a:solidFill>
                <a:highlight>
                  <a:srgbClr val="FFFF00"/>
                </a:highlight>
                <a:latin typeface="Times New Roman" panose="02020603050405020304" pitchFamily="18" charset="0"/>
                <a:cs typeface="Times New Roman" panose="02020603050405020304" pitchFamily="18" charset="0"/>
              </a:rPr>
              <a:t>a</a:t>
            </a:r>
            <a:r>
              <a:rPr lang="en-US" sz="2400" b="1" dirty="0">
                <a:highlight>
                  <a:srgbClr val="FFFF00"/>
                </a:highlight>
                <a:latin typeface="Times New Roman" panose="02020603050405020304" pitchFamily="18" charset="0"/>
                <a:cs typeface="Times New Roman" panose="02020603050405020304" pitchFamily="18" charset="0"/>
              </a:rPr>
              <a:t>,</a:t>
            </a:r>
            <a:r>
              <a:rPr lang="en-US" sz="2400" dirty="0">
                <a:solidFill>
                  <a:srgbClr val="FF0000"/>
                </a:solidFill>
                <a:highlight>
                  <a:srgbClr val="FFFF00"/>
                </a:highlight>
                <a:latin typeface="Times New Roman" panose="02020603050405020304" pitchFamily="18" charset="0"/>
                <a:cs typeface="Times New Roman" panose="02020603050405020304" pitchFamily="18" charset="0"/>
              </a:rPr>
              <a:t>  </a:t>
            </a:r>
            <a:r>
              <a:rPr lang="en-US" sz="2400" b="1" dirty="0">
                <a:solidFill>
                  <a:srgbClr val="FFC000"/>
                </a:solidFill>
                <a:highlight>
                  <a:srgbClr val="FFFF00"/>
                </a:highlight>
                <a:latin typeface="Times New Roman" panose="02020603050405020304" pitchFamily="18" charset="0"/>
                <a:cs typeface="Times New Roman" panose="02020603050405020304" pitchFamily="18" charset="0"/>
              </a:rPr>
              <a:t>b</a:t>
            </a:r>
            <a:endParaRPr lang="en-US" sz="2400" dirty="0">
              <a:solidFill>
                <a:srgbClr val="FFC000"/>
              </a:solidFill>
              <a:highlight>
                <a:srgbClr val="FFFF00"/>
              </a:highlight>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E08E7EA5-0CFF-BEF5-699C-827B72BF1CB6}"/>
              </a:ext>
            </a:extLst>
          </p:cNvPr>
          <p:cNvSpPr txBox="1"/>
          <p:nvPr/>
        </p:nvSpPr>
        <p:spPr>
          <a:xfrm>
            <a:off x="7503038" y="3123441"/>
            <a:ext cx="2550503" cy="461665"/>
          </a:xfrm>
          <a:prstGeom prst="rect">
            <a:avLst/>
          </a:prstGeom>
          <a:noFill/>
        </p:spPr>
        <p:txBody>
          <a:bodyPr wrap="square">
            <a:spAutoFit/>
          </a:bodyPr>
          <a:lstStyle/>
          <a:p>
            <a:pPr algn="ctr"/>
            <a:r>
              <a:rPr lang="en-US" sz="2400" dirty="0" err="1">
                <a:latin typeface="Times New Roman" panose="02020603050405020304" pitchFamily="18" charset="0"/>
                <a:cs typeface="Times New Roman" panose="02020603050405020304" pitchFamily="18" charset="0"/>
              </a:rPr>
              <a:t>Ngôn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ngữ</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lập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trình</a:t>
            </a:r>
            <a:endParaRPr lang="en-US" sz="2400" dirty="0">
              <a:solidFill>
                <a:srgbClr val="FFC000"/>
              </a:solidFill>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1CFDAE60-1CBA-C981-4518-05B92A28F12C}"/>
              </a:ext>
            </a:extLst>
          </p:cNvPr>
          <p:cNvSpPr txBox="1"/>
          <p:nvPr/>
        </p:nvSpPr>
        <p:spPr>
          <a:xfrm>
            <a:off x="8732639" y="3581535"/>
            <a:ext cx="1310787" cy="461665"/>
          </a:xfrm>
          <a:prstGeom prst="rect">
            <a:avLst/>
          </a:prstGeom>
          <a:noFill/>
        </p:spPr>
        <p:txBody>
          <a:bodyPr wrap="square">
            <a:spAutoFit/>
          </a:bodyPr>
          <a:lstStyle/>
          <a:p>
            <a:pPr algn="ctr"/>
            <a:r>
              <a:rPr lang="en-US" sz="2400" dirty="0" err="1">
                <a:highlight>
                  <a:srgbClr val="FFFF00"/>
                </a:highlight>
                <a:latin typeface="Times New Roman" panose="02020603050405020304" pitchFamily="18" charset="0"/>
                <a:cs typeface="Times New Roman" panose="02020603050405020304" pitchFamily="18" charset="0"/>
              </a:rPr>
              <a:t>Hợp</a:t>
            </a:r>
            <a:r>
              <a:rPr lang="en-US" sz="2400" dirty="0">
                <a:highlight>
                  <a:srgbClr val="FFFF00"/>
                </a:highlight>
                <a:latin typeface="Times New Roman" panose="02020603050405020304" pitchFamily="18" charset="0"/>
                <a:cs typeface="Times New Roman" panose="02020603050405020304" pitchFamily="18" charset="0"/>
              </a:rPr>
              <a:t> </a:t>
            </a:r>
            <a:r>
              <a:rPr lang="en-US" sz="2400" dirty="0" err="1">
                <a:highlight>
                  <a:srgbClr val="FFFF00"/>
                </a:highlight>
                <a:latin typeface="Times New Roman" panose="02020603050405020304" pitchFamily="18" charset="0"/>
                <a:cs typeface="Times New Roman" panose="02020603050405020304" pitchFamily="18" charset="0"/>
              </a:rPr>
              <a:t>ngữ</a:t>
            </a:r>
            <a:endParaRPr lang="en-US" sz="2400" dirty="0">
              <a:solidFill>
                <a:srgbClr val="FFC000"/>
              </a:solidFill>
              <a:highlight>
                <a:srgbClr val="FFFF00"/>
              </a:highlight>
              <a:latin typeface="Times New Roman" panose="020206030504050203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A845FBFA-6145-0EEF-41BC-34041DE8CA57}"/>
              </a:ext>
            </a:extLst>
          </p:cNvPr>
          <p:cNvSpPr txBox="1"/>
          <p:nvPr/>
        </p:nvSpPr>
        <p:spPr>
          <a:xfrm>
            <a:off x="8835238" y="4048825"/>
            <a:ext cx="1208188" cy="461665"/>
          </a:xfrm>
          <a:prstGeom prst="rect">
            <a:avLst/>
          </a:prstGeom>
          <a:noFill/>
        </p:spPr>
        <p:txBody>
          <a:bodyPr wrap="square">
            <a:spAutoFit/>
          </a:bodyPr>
          <a:lstStyle/>
          <a:p>
            <a:pPr algn="ctr"/>
            <a:r>
              <a:rPr lang="en-US" sz="2400" dirty="0" err="1">
                <a:latin typeface="Times New Roman" panose="02020603050405020304" pitchFamily="18" charset="0"/>
                <a:cs typeface="Times New Roman" panose="02020603050405020304" pitchFamily="18" charset="0"/>
              </a:rPr>
              <a:t>Mã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máy</a:t>
            </a:r>
            <a:endParaRPr lang="en-US" sz="2400" dirty="0">
              <a:solidFill>
                <a:srgbClr val="FFC000"/>
              </a:solidFill>
              <a:latin typeface="Times New Roman" panose="02020603050405020304" pitchFamily="18" charset="0"/>
              <a:cs typeface="Times New Roman" panose="02020603050405020304" pitchFamily="18" charset="0"/>
            </a:endParaRPr>
          </a:p>
        </p:txBody>
      </p:sp>
      <p:cxnSp>
        <p:nvCxnSpPr>
          <p:cNvPr id="27" name="Straight Arrow Connector 26">
            <a:extLst>
              <a:ext uri="{FF2B5EF4-FFF2-40B4-BE49-F238E27FC236}">
                <a16:creationId xmlns:a16="http://schemas.microsoft.com/office/drawing/2014/main" id="{B4B43730-882B-A7D4-8FC6-AA30A840B9BE}"/>
              </a:ext>
            </a:extLst>
          </p:cNvPr>
          <p:cNvCxnSpPr/>
          <p:nvPr/>
        </p:nvCxnSpPr>
        <p:spPr>
          <a:xfrm>
            <a:off x="7110458" y="3371440"/>
            <a:ext cx="47698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7A44CDAD-F032-7193-FF18-9213FFB15D34}"/>
              </a:ext>
            </a:extLst>
          </p:cNvPr>
          <p:cNvCxnSpPr>
            <a:cxnSpLocks/>
          </p:cNvCxnSpPr>
          <p:nvPr/>
        </p:nvCxnSpPr>
        <p:spPr>
          <a:xfrm>
            <a:off x="7253333" y="3828110"/>
            <a:ext cx="158190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A7D3B0D6-008E-AE37-040F-0D9AAABDD40D}"/>
              </a:ext>
            </a:extLst>
          </p:cNvPr>
          <p:cNvCxnSpPr>
            <a:cxnSpLocks/>
            <a:endCxn id="26" idx="1"/>
          </p:cNvCxnSpPr>
          <p:nvPr/>
        </p:nvCxnSpPr>
        <p:spPr>
          <a:xfrm>
            <a:off x="8042471" y="4268115"/>
            <a:ext cx="792767" cy="1154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0" name="TextBox 29">
            <a:extLst>
              <a:ext uri="{FF2B5EF4-FFF2-40B4-BE49-F238E27FC236}">
                <a16:creationId xmlns:a16="http://schemas.microsoft.com/office/drawing/2014/main" id="{C9A5B5E3-78ED-35AD-0F09-57873448732E}"/>
              </a:ext>
            </a:extLst>
          </p:cNvPr>
          <p:cNvSpPr txBox="1"/>
          <p:nvPr/>
        </p:nvSpPr>
        <p:spPr>
          <a:xfrm>
            <a:off x="1976692" y="2684535"/>
            <a:ext cx="1495978" cy="784830"/>
          </a:xfrm>
          <a:prstGeom prst="rect">
            <a:avLst/>
          </a:prstGeom>
          <a:noFill/>
        </p:spPr>
        <p:txBody>
          <a:bodyPr wrap="square">
            <a:spAutoFit/>
          </a:bodyPr>
          <a:lstStyle/>
          <a:p>
            <a:pPr algn="ctr"/>
            <a:r>
              <a:rPr lang="en-US" sz="4500" dirty="0" err="1">
                <a:highlight>
                  <a:srgbClr val="FFFF00"/>
                </a:highlight>
                <a:latin typeface="Times New Roman" panose="02020603050405020304" pitchFamily="18" charset="0"/>
                <a:cs typeface="Times New Roman" panose="02020603050405020304" pitchFamily="18" charset="0"/>
              </a:rPr>
              <a:t>Lệnh</a:t>
            </a:r>
            <a:endParaRPr lang="en-US" sz="4500" dirty="0">
              <a:solidFill>
                <a:srgbClr val="FFC000"/>
              </a:solidFill>
              <a:highlight>
                <a:srgbClr val="FFFF00"/>
              </a:highlight>
              <a:latin typeface="Times New Roman" panose="02020603050405020304" pitchFamily="18" charset="0"/>
              <a:cs typeface="Times New Roman" panose="02020603050405020304" pitchFamily="18" charset="0"/>
            </a:endParaRPr>
          </a:p>
        </p:txBody>
      </p:sp>
      <p:cxnSp>
        <p:nvCxnSpPr>
          <p:cNvPr id="31" name="Straight Arrow Connector 30">
            <a:extLst>
              <a:ext uri="{FF2B5EF4-FFF2-40B4-BE49-F238E27FC236}">
                <a16:creationId xmlns:a16="http://schemas.microsoft.com/office/drawing/2014/main" id="{A1532411-6BC7-E63C-7E1E-14E1C97B7607}"/>
              </a:ext>
            </a:extLst>
          </p:cNvPr>
          <p:cNvCxnSpPr>
            <a:cxnSpLocks/>
          </p:cNvCxnSpPr>
          <p:nvPr/>
        </p:nvCxnSpPr>
        <p:spPr>
          <a:xfrm>
            <a:off x="3340387" y="3371440"/>
            <a:ext cx="1044457" cy="32655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95635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fill="hold"/>
                                        <p:tgtEl>
                                          <p:spTgt spid="13"/>
                                        </p:tgtEl>
                                        <p:attrNameLst>
                                          <p:attrName>ppt_x</p:attrName>
                                        </p:attrNameLst>
                                      </p:cBhvr>
                                      <p:tavLst>
                                        <p:tav tm="0">
                                          <p:val>
                                            <p:strVal val="#ppt_x"/>
                                          </p:val>
                                        </p:tav>
                                        <p:tav tm="100000">
                                          <p:val>
                                            <p:strVal val="#ppt_x"/>
                                          </p:val>
                                        </p:tav>
                                      </p:tavLst>
                                    </p:anim>
                                    <p:anim calcmode="lin" valueType="num">
                                      <p:cBhvr additive="base">
                                        <p:cTn id="14" dur="500" fill="hold"/>
                                        <p:tgtEl>
                                          <p:spTgt spid="13"/>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ppt_x"/>
                                          </p:val>
                                        </p:tav>
                                        <p:tav tm="100000">
                                          <p:val>
                                            <p:strVal val="#ppt_x"/>
                                          </p:val>
                                        </p:tav>
                                      </p:tavLst>
                                    </p:anim>
                                    <p:anim calcmode="lin" valueType="num">
                                      <p:cBhvr additive="base">
                                        <p:cTn id="1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anim calcmode="lin" valueType="num">
                                      <p:cBhvr additive="base">
                                        <p:cTn id="23" dur="500" fill="hold"/>
                                        <p:tgtEl>
                                          <p:spTgt spid="14"/>
                                        </p:tgtEl>
                                        <p:attrNameLst>
                                          <p:attrName>ppt_x</p:attrName>
                                        </p:attrNameLst>
                                      </p:cBhvr>
                                      <p:tavLst>
                                        <p:tav tm="0">
                                          <p:val>
                                            <p:strVal val="#ppt_x"/>
                                          </p:val>
                                        </p:tav>
                                        <p:tav tm="100000">
                                          <p:val>
                                            <p:strVal val="#ppt_x"/>
                                          </p:val>
                                        </p:tav>
                                      </p:tavLst>
                                    </p:anim>
                                    <p:anim calcmode="lin" valueType="num">
                                      <p:cBhvr additive="base">
                                        <p:cTn id="24" dur="500" fill="hold"/>
                                        <p:tgtEl>
                                          <p:spTgt spid="14"/>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ppt_x"/>
                                          </p:val>
                                        </p:tav>
                                        <p:tav tm="100000">
                                          <p:val>
                                            <p:strVal val="#ppt_x"/>
                                          </p:val>
                                        </p:tav>
                                      </p:tavLst>
                                    </p:anim>
                                    <p:anim calcmode="lin" valueType="num">
                                      <p:cBhvr additive="base">
                                        <p:cTn id="2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19"/>
                                        </p:tgtEl>
                                        <p:attrNameLst>
                                          <p:attrName>style.visibility</p:attrName>
                                        </p:attrNameLst>
                                      </p:cBhvr>
                                      <p:to>
                                        <p:strVal val="visible"/>
                                      </p:to>
                                    </p:set>
                                    <p:anim calcmode="lin" valueType="num">
                                      <p:cBhvr additive="base">
                                        <p:cTn id="33" dur="500" fill="hold"/>
                                        <p:tgtEl>
                                          <p:spTgt spid="19"/>
                                        </p:tgtEl>
                                        <p:attrNameLst>
                                          <p:attrName>ppt_x</p:attrName>
                                        </p:attrNameLst>
                                      </p:cBhvr>
                                      <p:tavLst>
                                        <p:tav tm="0">
                                          <p:val>
                                            <p:strVal val="#ppt_x"/>
                                          </p:val>
                                        </p:tav>
                                        <p:tav tm="100000">
                                          <p:val>
                                            <p:strVal val="#ppt_x"/>
                                          </p:val>
                                        </p:tav>
                                      </p:tavLst>
                                    </p:anim>
                                    <p:anim calcmode="lin" valueType="num">
                                      <p:cBhvr additive="base">
                                        <p:cTn id="34" dur="500" fill="hold"/>
                                        <p:tgtEl>
                                          <p:spTgt spid="19"/>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 calcmode="lin" valueType="num">
                                      <p:cBhvr additive="base">
                                        <p:cTn id="37" dur="500" fill="hold"/>
                                        <p:tgtEl>
                                          <p:spTgt spid="15"/>
                                        </p:tgtEl>
                                        <p:attrNameLst>
                                          <p:attrName>ppt_x</p:attrName>
                                        </p:attrNameLst>
                                      </p:cBhvr>
                                      <p:tavLst>
                                        <p:tav tm="0">
                                          <p:val>
                                            <p:strVal val="#ppt_x"/>
                                          </p:val>
                                        </p:tav>
                                        <p:tav tm="100000">
                                          <p:val>
                                            <p:strVal val="#ppt_x"/>
                                          </p:val>
                                        </p:tav>
                                      </p:tavLst>
                                    </p:anim>
                                    <p:anim calcmode="lin" valueType="num">
                                      <p:cBhvr additive="base">
                                        <p:cTn id="38" dur="500" fill="hold"/>
                                        <p:tgtEl>
                                          <p:spTgt spid="15"/>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20"/>
                                        </p:tgtEl>
                                        <p:attrNameLst>
                                          <p:attrName>style.visibility</p:attrName>
                                        </p:attrNameLst>
                                      </p:cBhvr>
                                      <p:to>
                                        <p:strVal val="visible"/>
                                      </p:to>
                                    </p:set>
                                    <p:anim calcmode="lin" valueType="num">
                                      <p:cBhvr additive="base">
                                        <p:cTn id="41" dur="500" fill="hold"/>
                                        <p:tgtEl>
                                          <p:spTgt spid="20"/>
                                        </p:tgtEl>
                                        <p:attrNameLst>
                                          <p:attrName>ppt_x</p:attrName>
                                        </p:attrNameLst>
                                      </p:cBhvr>
                                      <p:tavLst>
                                        <p:tav tm="0">
                                          <p:val>
                                            <p:strVal val="#ppt_x"/>
                                          </p:val>
                                        </p:tav>
                                        <p:tav tm="100000">
                                          <p:val>
                                            <p:strVal val="#ppt_x"/>
                                          </p:val>
                                        </p:tav>
                                      </p:tavLst>
                                    </p:anim>
                                    <p:anim calcmode="lin" valueType="num">
                                      <p:cBhvr additive="base">
                                        <p:cTn id="42" dur="500" fill="hold"/>
                                        <p:tgtEl>
                                          <p:spTgt spid="20"/>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anim calcmode="lin" valueType="num">
                                      <p:cBhvr additive="base">
                                        <p:cTn id="45" dur="500" fill="hold"/>
                                        <p:tgtEl>
                                          <p:spTgt spid="16"/>
                                        </p:tgtEl>
                                        <p:attrNameLst>
                                          <p:attrName>ppt_x</p:attrName>
                                        </p:attrNameLst>
                                      </p:cBhvr>
                                      <p:tavLst>
                                        <p:tav tm="0">
                                          <p:val>
                                            <p:strVal val="#ppt_x"/>
                                          </p:val>
                                        </p:tav>
                                        <p:tav tm="100000">
                                          <p:val>
                                            <p:strVal val="#ppt_x"/>
                                          </p:val>
                                        </p:tav>
                                      </p:tavLst>
                                    </p:anim>
                                    <p:anim calcmode="lin" valueType="num">
                                      <p:cBhvr additive="base">
                                        <p:cTn id="46" dur="500" fill="hold"/>
                                        <p:tgtEl>
                                          <p:spTgt spid="16"/>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 calcmode="lin" valueType="num">
                                      <p:cBhvr additive="base">
                                        <p:cTn id="49" dur="500" fill="hold"/>
                                        <p:tgtEl>
                                          <p:spTgt spid="17"/>
                                        </p:tgtEl>
                                        <p:attrNameLst>
                                          <p:attrName>ppt_x</p:attrName>
                                        </p:attrNameLst>
                                      </p:cBhvr>
                                      <p:tavLst>
                                        <p:tav tm="0">
                                          <p:val>
                                            <p:strVal val="#ppt_x"/>
                                          </p:val>
                                        </p:tav>
                                        <p:tav tm="100000">
                                          <p:val>
                                            <p:strVal val="#ppt_x"/>
                                          </p:val>
                                        </p:tav>
                                      </p:tavLst>
                                    </p:anim>
                                    <p:anim calcmode="lin" valueType="num">
                                      <p:cBhvr additive="base">
                                        <p:cTn id="50" dur="500" fill="hold"/>
                                        <p:tgtEl>
                                          <p:spTgt spid="17"/>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21"/>
                                        </p:tgtEl>
                                        <p:attrNameLst>
                                          <p:attrName>style.visibility</p:attrName>
                                        </p:attrNameLst>
                                      </p:cBhvr>
                                      <p:to>
                                        <p:strVal val="visible"/>
                                      </p:to>
                                    </p:set>
                                    <p:anim calcmode="lin" valueType="num">
                                      <p:cBhvr additive="base">
                                        <p:cTn id="53" dur="500" fill="hold"/>
                                        <p:tgtEl>
                                          <p:spTgt spid="21"/>
                                        </p:tgtEl>
                                        <p:attrNameLst>
                                          <p:attrName>ppt_x</p:attrName>
                                        </p:attrNameLst>
                                      </p:cBhvr>
                                      <p:tavLst>
                                        <p:tav tm="0">
                                          <p:val>
                                            <p:strVal val="#ppt_x"/>
                                          </p:val>
                                        </p:tav>
                                        <p:tav tm="100000">
                                          <p:val>
                                            <p:strVal val="#ppt_x"/>
                                          </p:val>
                                        </p:tav>
                                      </p:tavLst>
                                    </p:anim>
                                    <p:anim calcmode="lin" valueType="num">
                                      <p:cBhvr additive="base">
                                        <p:cTn id="54" dur="500" fill="hold"/>
                                        <p:tgtEl>
                                          <p:spTgt spid="21"/>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22"/>
                                        </p:tgtEl>
                                        <p:attrNameLst>
                                          <p:attrName>style.visibility</p:attrName>
                                        </p:attrNameLst>
                                      </p:cBhvr>
                                      <p:to>
                                        <p:strVal val="visible"/>
                                      </p:to>
                                    </p:set>
                                    <p:anim calcmode="lin" valueType="num">
                                      <p:cBhvr additive="base">
                                        <p:cTn id="57" dur="500" fill="hold"/>
                                        <p:tgtEl>
                                          <p:spTgt spid="22"/>
                                        </p:tgtEl>
                                        <p:attrNameLst>
                                          <p:attrName>ppt_x</p:attrName>
                                        </p:attrNameLst>
                                      </p:cBhvr>
                                      <p:tavLst>
                                        <p:tav tm="0">
                                          <p:val>
                                            <p:strVal val="#ppt_x"/>
                                          </p:val>
                                        </p:tav>
                                        <p:tav tm="100000">
                                          <p:val>
                                            <p:strVal val="#ppt_x"/>
                                          </p:val>
                                        </p:tav>
                                      </p:tavLst>
                                    </p:anim>
                                    <p:anim calcmode="lin" valueType="num">
                                      <p:cBhvr additive="base">
                                        <p:cTn id="58" dur="500" fill="hold"/>
                                        <p:tgtEl>
                                          <p:spTgt spid="22"/>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18"/>
                                        </p:tgtEl>
                                        <p:attrNameLst>
                                          <p:attrName>style.visibility</p:attrName>
                                        </p:attrNameLst>
                                      </p:cBhvr>
                                      <p:to>
                                        <p:strVal val="visible"/>
                                      </p:to>
                                    </p:set>
                                    <p:anim calcmode="lin" valueType="num">
                                      <p:cBhvr additive="base">
                                        <p:cTn id="61" dur="500" fill="hold"/>
                                        <p:tgtEl>
                                          <p:spTgt spid="18"/>
                                        </p:tgtEl>
                                        <p:attrNameLst>
                                          <p:attrName>ppt_x</p:attrName>
                                        </p:attrNameLst>
                                      </p:cBhvr>
                                      <p:tavLst>
                                        <p:tav tm="0">
                                          <p:val>
                                            <p:strVal val="#ppt_x"/>
                                          </p:val>
                                        </p:tav>
                                        <p:tav tm="100000">
                                          <p:val>
                                            <p:strVal val="#ppt_x"/>
                                          </p:val>
                                        </p:tav>
                                      </p:tavLst>
                                    </p:anim>
                                    <p:anim calcmode="lin" valueType="num">
                                      <p:cBhvr additive="base">
                                        <p:cTn id="62"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23"/>
                                        </p:tgtEl>
                                        <p:attrNameLst>
                                          <p:attrName>style.visibility</p:attrName>
                                        </p:attrNameLst>
                                      </p:cBhvr>
                                      <p:to>
                                        <p:strVal val="visible"/>
                                      </p:to>
                                    </p:set>
                                    <p:anim calcmode="lin" valueType="num">
                                      <p:cBhvr additive="base">
                                        <p:cTn id="67" dur="500" fill="hold"/>
                                        <p:tgtEl>
                                          <p:spTgt spid="23"/>
                                        </p:tgtEl>
                                        <p:attrNameLst>
                                          <p:attrName>ppt_x</p:attrName>
                                        </p:attrNameLst>
                                      </p:cBhvr>
                                      <p:tavLst>
                                        <p:tav tm="0">
                                          <p:val>
                                            <p:strVal val="#ppt_x"/>
                                          </p:val>
                                        </p:tav>
                                        <p:tav tm="100000">
                                          <p:val>
                                            <p:strVal val="#ppt_x"/>
                                          </p:val>
                                        </p:tav>
                                      </p:tavLst>
                                    </p:anim>
                                    <p:anim calcmode="lin" valueType="num">
                                      <p:cBhvr additive="base">
                                        <p:cTn id="68"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27"/>
                                        </p:tgtEl>
                                        <p:attrNameLst>
                                          <p:attrName>style.visibility</p:attrName>
                                        </p:attrNameLst>
                                      </p:cBhvr>
                                      <p:to>
                                        <p:strVal val="visible"/>
                                      </p:to>
                                    </p:set>
                                    <p:anim calcmode="lin" valueType="num">
                                      <p:cBhvr additive="base">
                                        <p:cTn id="73" dur="500" fill="hold"/>
                                        <p:tgtEl>
                                          <p:spTgt spid="27"/>
                                        </p:tgtEl>
                                        <p:attrNameLst>
                                          <p:attrName>ppt_x</p:attrName>
                                        </p:attrNameLst>
                                      </p:cBhvr>
                                      <p:tavLst>
                                        <p:tav tm="0">
                                          <p:val>
                                            <p:strVal val="#ppt_x"/>
                                          </p:val>
                                        </p:tav>
                                        <p:tav tm="100000">
                                          <p:val>
                                            <p:strVal val="#ppt_x"/>
                                          </p:val>
                                        </p:tav>
                                      </p:tavLst>
                                    </p:anim>
                                    <p:anim calcmode="lin" valueType="num">
                                      <p:cBhvr additive="base">
                                        <p:cTn id="74" dur="500" fill="hold"/>
                                        <p:tgtEl>
                                          <p:spTgt spid="27"/>
                                        </p:tgtEl>
                                        <p:attrNameLst>
                                          <p:attrName>ppt_y</p:attrName>
                                        </p:attrNameLst>
                                      </p:cBhvr>
                                      <p:tavLst>
                                        <p:tav tm="0">
                                          <p:val>
                                            <p:strVal val="1+#ppt_h/2"/>
                                          </p:val>
                                        </p:tav>
                                        <p:tav tm="100000">
                                          <p:val>
                                            <p:strVal val="#ppt_y"/>
                                          </p:val>
                                        </p:tav>
                                      </p:tavLst>
                                    </p:anim>
                                  </p:childTnLst>
                                </p:cTn>
                              </p:par>
                              <p:par>
                                <p:cTn id="75" presetID="2" presetClass="entr" presetSubtype="4" fill="hold" grpId="0" nodeType="withEffect">
                                  <p:stCondLst>
                                    <p:cond delay="0"/>
                                  </p:stCondLst>
                                  <p:childTnLst>
                                    <p:set>
                                      <p:cBhvr>
                                        <p:cTn id="76" dur="1" fill="hold">
                                          <p:stCondLst>
                                            <p:cond delay="0"/>
                                          </p:stCondLst>
                                        </p:cTn>
                                        <p:tgtEl>
                                          <p:spTgt spid="24"/>
                                        </p:tgtEl>
                                        <p:attrNameLst>
                                          <p:attrName>style.visibility</p:attrName>
                                        </p:attrNameLst>
                                      </p:cBhvr>
                                      <p:to>
                                        <p:strVal val="visible"/>
                                      </p:to>
                                    </p:set>
                                    <p:anim calcmode="lin" valueType="num">
                                      <p:cBhvr additive="base">
                                        <p:cTn id="77" dur="500" fill="hold"/>
                                        <p:tgtEl>
                                          <p:spTgt spid="24"/>
                                        </p:tgtEl>
                                        <p:attrNameLst>
                                          <p:attrName>ppt_x</p:attrName>
                                        </p:attrNameLst>
                                      </p:cBhvr>
                                      <p:tavLst>
                                        <p:tav tm="0">
                                          <p:val>
                                            <p:strVal val="#ppt_x"/>
                                          </p:val>
                                        </p:tav>
                                        <p:tav tm="100000">
                                          <p:val>
                                            <p:strVal val="#ppt_x"/>
                                          </p:val>
                                        </p:tav>
                                      </p:tavLst>
                                    </p:anim>
                                    <p:anim calcmode="lin" valueType="num">
                                      <p:cBhvr additive="base">
                                        <p:cTn id="78" dur="500" fill="hold"/>
                                        <p:tgtEl>
                                          <p:spTgt spid="24"/>
                                        </p:tgtEl>
                                        <p:attrNameLst>
                                          <p:attrName>ppt_y</p:attrName>
                                        </p:attrNameLst>
                                      </p:cBhvr>
                                      <p:tavLst>
                                        <p:tav tm="0">
                                          <p:val>
                                            <p:strVal val="1+#ppt_h/2"/>
                                          </p:val>
                                        </p:tav>
                                        <p:tav tm="100000">
                                          <p:val>
                                            <p:strVal val="#ppt_y"/>
                                          </p:val>
                                        </p:tav>
                                      </p:tavLst>
                                    </p:anim>
                                  </p:childTnLst>
                                </p:cTn>
                              </p:par>
                              <p:par>
                                <p:cTn id="79" presetID="2" presetClass="entr" presetSubtype="4" fill="hold" nodeType="withEffect">
                                  <p:stCondLst>
                                    <p:cond delay="0"/>
                                  </p:stCondLst>
                                  <p:childTnLst>
                                    <p:set>
                                      <p:cBhvr>
                                        <p:cTn id="80" dur="1" fill="hold">
                                          <p:stCondLst>
                                            <p:cond delay="0"/>
                                          </p:stCondLst>
                                        </p:cTn>
                                        <p:tgtEl>
                                          <p:spTgt spid="28"/>
                                        </p:tgtEl>
                                        <p:attrNameLst>
                                          <p:attrName>style.visibility</p:attrName>
                                        </p:attrNameLst>
                                      </p:cBhvr>
                                      <p:to>
                                        <p:strVal val="visible"/>
                                      </p:to>
                                    </p:set>
                                    <p:anim calcmode="lin" valueType="num">
                                      <p:cBhvr additive="base">
                                        <p:cTn id="81" dur="500" fill="hold"/>
                                        <p:tgtEl>
                                          <p:spTgt spid="28"/>
                                        </p:tgtEl>
                                        <p:attrNameLst>
                                          <p:attrName>ppt_x</p:attrName>
                                        </p:attrNameLst>
                                      </p:cBhvr>
                                      <p:tavLst>
                                        <p:tav tm="0">
                                          <p:val>
                                            <p:strVal val="#ppt_x"/>
                                          </p:val>
                                        </p:tav>
                                        <p:tav tm="100000">
                                          <p:val>
                                            <p:strVal val="#ppt_x"/>
                                          </p:val>
                                        </p:tav>
                                      </p:tavLst>
                                    </p:anim>
                                    <p:anim calcmode="lin" valueType="num">
                                      <p:cBhvr additive="base">
                                        <p:cTn id="82" dur="500" fill="hold"/>
                                        <p:tgtEl>
                                          <p:spTgt spid="28"/>
                                        </p:tgtEl>
                                        <p:attrNameLst>
                                          <p:attrName>ppt_y</p:attrName>
                                        </p:attrNameLst>
                                      </p:cBhvr>
                                      <p:tavLst>
                                        <p:tav tm="0">
                                          <p:val>
                                            <p:strVal val="1+#ppt_h/2"/>
                                          </p:val>
                                        </p:tav>
                                        <p:tav tm="100000">
                                          <p:val>
                                            <p:strVal val="#ppt_y"/>
                                          </p:val>
                                        </p:tav>
                                      </p:tavLst>
                                    </p:anim>
                                  </p:childTnLst>
                                </p:cTn>
                              </p:par>
                              <p:par>
                                <p:cTn id="83" presetID="2" presetClass="entr" presetSubtype="4" fill="hold" grpId="0" nodeType="withEffect">
                                  <p:stCondLst>
                                    <p:cond delay="0"/>
                                  </p:stCondLst>
                                  <p:childTnLst>
                                    <p:set>
                                      <p:cBhvr>
                                        <p:cTn id="84" dur="1" fill="hold">
                                          <p:stCondLst>
                                            <p:cond delay="0"/>
                                          </p:stCondLst>
                                        </p:cTn>
                                        <p:tgtEl>
                                          <p:spTgt spid="25"/>
                                        </p:tgtEl>
                                        <p:attrNameLst>
                                          <p:attrName>style.visibility</p:attrName>
                                        </p:attrNameLst>
                                      </p:cBhvr>
                                      <p:to>
                                        <p:strVal val="visible"/>
                                      </p:to>
                                    </p:set>
                                    <p:anim calcmode="lin" valueType="num">
                                      <p:cBhvr additive="base">
                                        <p:cTn id="85" dur="500" fill="hold"/>
                                        <p:tgtEl>
                                          <p:spTgt spid="25"/>
                                        </p:tgtEl>
                                        <p:attrNameLst>
                                          <p:attrName>ppt_x</p:attrName>
                                        </p:attrNameLst>
                                      </p:cBhvr>
                                      <p:tavLst>
                                        <p:tav tm="0">
                                          <p:val>
                                            <p:strVal val="#ppt_x"/>
                                          </p:val>
                                        </p:tav>
                                        <p:tav tm="100000">
                                          <p:val>
                                            <p:strVal val="#ppt_x"/>
                                          </p:val>
                                        </p:tav>
                                      </p:tavLst>
                                    </p:anim>
                                    <p:anim calcmode="lin" valueType="num">
                                      <p:cBhvr additive="base">
                                        <p:cTn id="86" dur="500" fill="hold"/>
                                        <p:tgtEl>
                                          <p:spTgt spid="25"/>
                                        </p:tgtEl>
                                        <p:attrNameLst>
                                          <p:attrName>ppt_y</p:attrName>
                                        </p:attrNameLst>
                                      </p:cBhvr>
                                      <p:tavLst>
                                        <p:tav tm="0">
                                          <p:val>
                                            <p:strVal val="1+#ppt_h/2"/>
                                          </p:val>
                                        </p:tav>
                                        <p:tav tm="100000">
                                          <p:val>
                                            <p:strVal val="#ppt_y"/>
                                          </p:val>
                                        </p:tav>
                                      </p:tavLst>
                                    </p:anim>
                                  </p:childTnLst>
                                </p:cTn>
                              </p:par>
                              <p:par>
                                <p:cTn id="87" presetID="2" presetClass="entr" presetSubtype="4" fill="hold" grpId="0" nodeType="withEffect">
                                  <p:stCondLst>
                                    <p:cond delay="0"/>
                                  </p:stCondLst>
                                  <p:childTnLst>
                                    <p:set>
                                      <p:cBhvr>
                                        <p:cTn id="88" dur="1" fill="hold">
                                          <p:stCondLst>
                                            <p:cond delay="0"/>
                                          </p:stCondLst>
                                        </p:cTn>
                                        <p:tgtEl>
                                          <p:spTgt spid="26"/>
                                        </p:tgtEl>
                                        <p:attrNameLst>
                                          <p:attrName>style.visibility</p:attrName>
                                        </p:attrNameLst>
                                      </p:cBhvr>
                                      <p:to>
                                        <p:strVal val="visible"/>
                                      </p:to>
                                    </p:set>
                                    <p:anim calcmode="lin" valueType="num">
                                      <p:cBhvr additive="base">
                                        <p:cTn id="89" dur="500" fill="hold"/>
                                        <p:tgtEl>
                                          <p:spTgt spid="26"/>
                                        </p:tgtEl>
                                        <p:attrNameLst>
                                          <p:attrName>ppt_x</p:attrName>
                                        </p:attrNameLst>
                                      </p:cBhvr>
                                      <p:tavLst>
                                        <p:tav tm="0">
                                          <p:val>
                                            <p:strVal val="#ppt_x"/>
                                          </p:val>
                                        </p:tav>
                                        <p:tav tm="100000">
                                          <p:val>
                                            <p:strVal val="#ppt_x"/>
                                          </p:val>
                                        </p:tav>
                                      </p:tavLst>
                                    </p:anim>
                                    <p:anim calcmode="lin" valueType="num">
                                      <p:cBhvr additive="base">
                                        <p:cTn id="90" dur="500" fill="hold"/>
                                        <p:tgtEl>
                                          <p:spTgt spid="26"/>
                                        </p:tgtEl>
                                        <p:attrNameLst>
                                          <p:attrName>ppt_y</p:attrName>
                                        </p:attrNameLst>
                                      </p:cBhvr>
                                      <p:tavLst>
                                        <p:tav tm="0">
                                          <p:val>
                                            <p:strVal val="1+#ppt_h/2"/>
                                          </p:val>
                                        </p:tav>
                                        <p:tav tm="100000">
                                          <p:val>
                                            <p:strVal val="#ppt_y"/>
                                          </p:val>
                                        </p:tav>
                                      </p:tavLst>
                                    </p:anim>
                                  </p:childTnLst>
                                </p:cTn>
                              </p:par>
                              <p:par>
                                <p:cTn id="91" presetID="2" presetClass="entr" presetSubtype="4" fill="hold" nodeType="withEffect">
                                  <p:stCondLst>
                                    <p:cond delay="0"/>
                                  </p:stCondLst>
                                  <p:childTnLst>
                                    <p:set>
                                      <p:cBhvr>
                                        <p:cTn id="92" dur="1" fill="hold">
                                          <p:stCondLst>
                                            <p:cond delay="0"/>
                                          </p:stCondLst>
                                        </p:cTn>
                                        <p:tgtEl>
                                          <p:spTgt spid="29"/>
                                        </p:tgtEl>
                                        <p:attrNameLst>
                                          <p:attrName>style.visibility</p:attrName>
                                        </p:attrNameLst>
                                      </p:cBhvr>
                                      <p:to>
                                        <p:strVal val="visible"/>
                                      </p:to>
                                    </p:set>
                                    <p:anim calcmode="lin" valueType="num">
                                      <p:cBhvr additive="base">
                                        <p:cTn id="93" dur="500" fill="hold"/>
                                        <p:tgtEl>
                                          <p:spTgt spid="29"/>
                                        </p:tgtEl>
                                        <p:attrNameLst>
                                          <p:attrName>ppt_x</p:attrName>
                                        </p:attrNameLst>
                                      </p:cBhvr>
                                      <p:tavLst>
                                        <p:tav tm="0">
                                          <p:val>
                                            <p:strVal val="#ppt_x"/>
                                          </p:val>
                                        </p:tav>
                                        <p:tav tm="100000">
                                          <p:val>
                                            <p:strVal val="#ppt_x"/>
                                          </p:val>
                                        </p:tav>
                                      </p:tavLst>
                                    </p:anim>
                                    <p:anim calcmode="lin" valueType="num">
                                      <p:cBhvr additive="base">
                                        <p:cTn id="94"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95" fill="hold">
                      <p:stCondLst>
                        <p:cond delay="indefinite"/>
                      </p:stCondLst>
                      <p:childTnLst>
                        <p:par>
                          <p:cTn id="96" fill="hold">
                            <p:stCondLst>
                              <p:cond delay="0"/>
                            </p:stCondLst>
                            <p:childTnLst>
                              <p:par>
                                <p:cTn id="97" presetID="2" presetClass="entr" presetSubtype="4" fill="hold" grpId="0" nodeType="clickEffect">
                                  <p:stCondLst>
                                    <p:cond delay="0"/>
                                  </p:stCondLst>
                                  <p:childTnLst>
                                    <p:set>
                                      <p:cBhvr>
                                        <p:cTn id="98" dur="1" fill="hold">
                                          <p:stCondLst>
                                            <p:cond delay="0"/>
                                          </p:stCondLst>
                                        </p:cTn>
                                        <p:tgtEl>
                                          <p:spTgt spid="30"/>
                                        </p:tgtEl>
                                        <p:attrNameLst>
                                          <p:attrName>style.visibility</p:attrName>
                                        </p:attrNameLst>
                                      </p:cBhvr>
                                      <p:to>
                                        <p:strVal val="visible"/>
                                      </p:to>
                                    </p:set>
                                    <p:anim calcmode="lin" valueType="num">
                                      <p:cBhvr additive="base">
                                        <p:cTn id="99" dur="500" fill="hold"/>
                                        <p:tgtEl>
                                          <p:spTgt spid="30"/>
                                        </p:tgtEl>
                                        <p:attrNameLst>
                                          <p:attrName>ppt_x</p:attrName>
                                        </p:attrNameLst>
                                      </p:cBhvr>
                                      <p:tavLst>
                                        <p:tav tm="0">
                                          <p:val>
                                            <p:strVal val="#ppt_x"/>
                                          </p:val>
                                        </p:tav>
                                        <p:tav tm="100000">
                                          <p:val>
                                            <p:strVal val="#ppt_x"/>
                                          </p:val>
                                        </p:tav>
                                      </p:tavLst>
                                    </p:anim>
                                    <p:anim calcmode="lin" valueType="num">
                                      <p:cBhvr additive="base">
                                        <p:cTn id="100" dur="500" fill="hold"/>
                                        <p:tgtEl>
                                          <p:spTgt spid="30"/>
                                        </p:tgtEl>
                                        <p:attrNameLst>
                                          <p:attrName>ppt_y</p:attrName>
                                        </p:attrNameLst>
                                      </p:cBhvr>
                                      <p:tavLst>
                                        <p:tav tm="0">
                                          <p:val>
                                            <p:strVal val="1+#ppt_h/2"/>
                                          </p:val>
                                        </p:tav>
                                        <p:tav tm="100000">
                                          <p:val>
                                            <p:strVal val="#ppt_y"/>
                                          </p:val>
                                        </p:tav>
                                      </p:tavLst>
                                    </p:anim>
                                  </p:childTnLst>
                                </p:cTn>
                              </p:par>
                              <p:par>
                                <p:cTn id="101" presetID="2" presetClass="entr" presetSubtype="4" fill="hold" nodeType="withEffect">
                                  <p:stCondLst>
                                    <p:cond delay="0"/>
                                  </p:stCondLst>
                                  <p:childTnLst>
                                    <p:set>
                                      <p:cBhvr>
                                        <p:cTn id="102" dur="1" fill="hold">
                                          <p:stCondLst>
                                            <p:cond delay="0"/>
                                          </p:stCondLst>
                                        </p:cTn>
                                        <p:tgtEl>
                                          <p:spTgt spid="31"/>
                                        </p:tgtEl>
                                        <p:attrNameLst>
                                          <p:attrName>style.visibility</p:attrName>
                                        </p:attrNameLst>
                                      </p:cBhvr>
                                      <p:to>
                                        <p:strVal val="visible"/>
                                      </p:to>
                                    </p:set>
                                    <p:anim calcmode="lin" valueType="num">
                                      <p:cBhvr additive="base">
                                        <p:cTn id="103" dur="500" fill="hold"/>
                                        <p:tgtEl>
                                          <p:spTgt spid="31"/>
                                        </p:tgtEl>
                                        <p:attrNameLst>
                                          <p:attrName>ppt_x</p:attrName>
                                        </p:attrNameLst>
                                      </p:cBhvr>
                                      <p:tavLst>
                                        <p:tav tm="0">
                                          <p:val>
                                            <p:strVal val="#ppt_x"/>
                                          </p:val>
                                        </p:tav>
                                        <p:tav tm="100000">
                                          <p:val>
                                            <p:strVal val="#ppt_x"/>
                                          </p:val>
                                        </p:tav>
                                      </p:tavLst>
                                    </p:anim>
                                    <p:anim calcmode="lin" valueType="num">
                                      <p:cBhvr additive="base">
                                        <p:cTn id="104"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5" grpId="0"/>
      <p:bldP spid="16" grpId="0"/>
      <p:bldP spid="17" grpId="0"/>
      <p:bldP spid="18" grpId="0"/>
      <p:bldP spid="23" grpId="0"/>
      <p:bldP spid="24" grpId="0"/>
      <p:bldP spid="25" grpId="0"/>
      <p:bldP spid="26" grpId="0"/>
      <p:bldP spid="3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a:bodyPr>
          <a:lstStyle/>
          <a:p>
            <a:r>
              <a:rPr lang="en-US" sz="4000"/>
              <a:t>Kiến trúc tập lệnh – Quiz 1</a:t>
            </a:r>
            <a:endParaRPr lang="en-VN" sz="3400"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13</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8" name="Content Placeholder 7">
            <a:extLst>
              <a:ext uri="{FF2B5EF4-FFF2-40B4-BE49-F238E27FC236}">
                <a16:creationId xmlns:a16="http://schemas.microsoft.com/office/drawing/2014/main" id="{DB3F374F-C522-15D0-2E94-DAC851F2CB60}"/>
              </a:ext>
            </a:extLst>
          </p:cNvPr>
          <p:cNvSpPr>
            <a:spLocks noGrp="1"/>
          </p:cNvSpPr>
          <p:nvPr>
            <p:ph idx="1"/>
          </p:nvPr>
        </p:nvSpPr>
        <p:spPr/>
        <p:txBody>
          <a:bodyPr/>
          <a:lstStyle/>
          <a:p>
            <a:r>
              <a:rPr lang="en-US" dirty="0" err="1"/>
              <a:t>Đề</a:t>
            </a:r>
            <a:r>
              <a:rPr lang="en-US" dirty="0"/>
              <a:t> </a:t>
            </a:r>
            <a:r>
              <a:rPr lang="en-US" dirty="0" err="1"/>
              <a:t>xuất</a:t>
            </a:r>
            <a:r>
              <a:rPr lang="en-US" dirty="0"/>
              <a:t> </a:t>
            </a:r>
            <a:r>
              <a:rPr lang="en-US" dirty="0" err="1"/>
              <a:t>lệnh</a:t>
            </a:r>
            <a:r>
              <a:rPr lang="en-US" dirty="0"/>
              <a:t> </a:t>
            </a:r>
            <a:r>
              <a:rPr lang="en-US" dirty="0" err="1"/>
              <a:t>thực</a:t>
            </a:r>
            <a:r>
              <a:rPr lang="en-US" dirty="0"/>
              <a:t> </a:t>
            </a:r>
            <a:r>
              <a:rPr lang="en-US" dirty="0" err="1"/>
              <a:t>hiện</a:t>
            </a:r>
            <a:r>
              <a:rPr lang="en-US" dirty="0"/>
              <a:t> </a:t>
            </a:r>
            <a:r>
              <a:rPr lang="en-US" dirty="0" err="1"/>
              <a:t>thao</a:t>
            </a:r>
            <a:r>
              <a:rPr lang="en-US" dirty="0"/>
              <a:t> </a:t>
            </a:r>
            <a:r>
              <a:rPr lang="en-US" dirty="0" err="1"/>
              <a:t>tác</a:t>
            </a:r>
            <a:r>
              <a:rPr lang="en-US" dirty="0"/>
              <a:t> </a:t>
            </a:r>
            <a:r>
              <a:rPr lang="en-US" dirty="0" err="1"/>
              <a:t>trừ</a:t>
            </a:r>
            <a:r>
              <a:rPr lang="en-US" dirty="0"/>
              <a:t>:</a:t>
            </a:r>
          </a:p>
          <a:p>
            <a:pPr marL="0" indent="0" algn="ctr">
              <a:buNone/>
            </a:pPr>
            <a:endParaRPr lang="en-US" dirty="0"/>
          </a:p>
          <a:p>
            <a:pPr marL="0" indent="0" algn="ctr">
              <a:buNone/>
            </a:pPr>
            <a:r>
              <a:rPr lang="en-US" dirty="0"/>
              <a:t>A </a:t>
            </a:r>
            <a:r>
              <a:rPr lang="en-US" dirty="0" err="1"/>
              <a:t>trừ</a:t>
            </a:r>
            <a:r>
              <a:rPr lang="en-US" dirty="0"/>
              <a:t> B </a:t>
            </a:r>
            <a:r>
              <a:rPr lang="en-US" dirty="0" err="1"/>
              <a:t>bằng</a:t>
            </a:r>
            <a:r>
              <a:rPr lang="en-US" dirty="0"/>
              <a:t> C</a:t>
            </a:r>
          </a:p>
          <a:p>
            <a:endParaRPr lang="en-US" dirty="0"/>
          </a:p>
          <a:p>
            <a:r>
              <a:rPr lang="en-US" dirty="0" err="1"/>
              <a:t>Chuyển</a:t>
            </a:r>
            <a:r>
              <a:rPr lang="en-US" dirty="0"/>
              <a:t> </a:t>
            </a:r>
            <a:r>
              <a:rPr lang="en-US" dirty="0" err="1"/>
              <a:t>đổi</a:t>
            </a:r>
            <a:r>
              <a:rPr lang="en-US" dirty="0"/>
              <a:t> </a:t>
            </a:r>
            <a:r>
              <a:rPr lang="en-US" dirty="0" err="1"/>
              <a:t>lệnh</a:t>
            </a:r>
            <a:r>
              <a:rPr lang="en-US" dirty="0"/>
              <a:t> </a:t>
            </a:r>
            <a:r>
              <a:rPr lang="en-US" dirty="0" err="1"/>
              <a:t>trong</a:t>
            </a:r>
            <a:r>
              <a:rPr lang="en-US" dirty="0"/>
              <a:t> </a:t>
            </a:r>
            <a:r>
              <a:rPr lang="en-US" dirty="0" err="1"/>
              <a:t>lập</a:t>
            </a:r>
            <a:r>
              <a:rPr lang="en-US" dirty="0"/>
              <a:t> </a:t>
            </a:r>
            <a:r>
              <a:rPr lang="en-US" dirty="0" err="1"/>
              <a:t>trình</a:t>
            </a:r>
            <a:r>
              <a:rPr lang="en-US" dirty="0"/>
              <a:t> C </a:t>
            </a:r>
            <a:r>
              <a:rPr lang="en-US" dirty="0" err="1"/>
              <a:t>thành</a:t>
            </a:r>
            <a:r>
              <a:rPr lang="en-US" dirty="0"/>
              <a:t> </a:t>
            </a:r>
            <a:r>
              <a:rPr lang="en-US" dirty="0" err="1"/>
              <a:t>lệnh</a:t>
            </a:r>
            <a:r>
              <a:rPr lang="en-US" dirty="0"/>
              <a:t> </a:t>
            </a:r>
            <a:r>
              <a:rPr lang="en-US" dirty="0" err="1"/>
              <a:t>hợp</a:t>
            </a:r>
            <a:r>
              <a:rPr lang="en-US" dirty="0"/>
              <a:t> </a:t>
            </a:r>
            <a:r>
              <a:rPr lang="en-US" dirty="0" err="1"/>
              <a:t>ngữ</a:t>
            </a:r>
            <a:endParaRPr lang="en-US" dirty="0"/>
          </a:p>
          <a:p>
            <a:pPr marL="0" indent="0" algn="ctr">
              <a:buNone/>
            </a:pPr>
            <a:endParaRPr lang="en-US" dirty="0"/>
          </a:p>
          <a:p>
            <a:pPr marL="0" indent="0" algn="ctr">
              <a:buNone/>
            </a:pPr>
            <a:r>
              <a:rPr lang="en-US" dirty="0"/>
              <a:t>F = (A + B) – (C + D)</a:t>
            </a:r>
          </a:p>
          <a:p>
            <a:endParaRPr lang="en-US" dirty="0"/>
          </a:p>
          <a:p>
            <a:endParaRPr lang="en-US" dirty="0"/>
          </a:p>
          <a:p>
            <a:endParaRPr lang="en-US" dirty="0"/>
          </a:p>
        </p:txBody>
      </p:sp>
    </p:spTree>
    <p:extLst>
      <p:ext uri="{BB962C8B-B14F-4D97-AF65-F5344CB8AC3E}">
        <p14:creationId xmlns:p14="http://schemas.microsoft.com/office/powerpoint/2010/main" val="34796601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a:bodyPr>
          <a:lstStyle/>
          <a:p>
            <a:r>
              <a:rPr lang="en-US" sz="4000"/>
              <a:t>Kiến trúc tập lệnh - Tập lệnh MIPS</a:t>
            </a:r>
            <a:endParaRPr lang="en-VN" sz="3600"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14</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8" name="Content Placeholder 7">
            <a:extLst>
              <a:ext uri="{FF2B5EF4-FFF2-40B4-BE49-F238E27FC236}">
                <a16:creationId xmlns:a16="http://schemas.microsoft.com/office/drawing/2014/main" id="{D7939D2F-5893-186B-8EF8-EEA06FF8D733}"/>
              </a:ext>
            </a:extLst>
          </p:cNvPr>
          <p:cNvSpPr>
            <a:spLocks noGrp="1"/>
          </p:cNvSpPr>
          <p:nvPr>
            <p:ph idx="1"/>
          </p:nvPr>
        </p:nvSpPr>
        <p:spPr/>
        <p:txBody>
          <a:bodyPr/>
          <a:lstStyle/>
          <a:p>
            <a:pPr>
              <a:lnSpc>
                <a:spcPct val="150000"/>
              </a:lnSpc>
            </a:pPr>
            <a:r>
              <a:rPr lang="en-US" dirty="0" err="1"/>
              <a:t>Thiết</a:t>
            </a:r>
            <a:r>
              <a:rPr lang="en-US" dirty="0"/>
              <a:t> </a:t>
            </a:r>
            <a:r>
              <a:rPr lang="en-US" dirty="0" err="1"/>
              <a:t>kế</a:t>
            </a:r>
            <a:r>
              <a:rPr lang="en-US" dirty="0"/>
              <a:t> </a:t>
            </a:r>
            <a:r>
              <a:rPr lang="en-US" dirty="0" err="1"/>
              <a:t>theo</a:t>
            </a:r>
            <a:r>
              <a:rPr lang="en-US" dirty="0"/>
              <a:t> </a:t>
            </a:r>
            <a:r>
              <a:rPr lang="en-US" dirty="0" err="1"/>
              <a:t>kiến</a:t>
            </a:r>
            <a:r>
              <a:rPr lang="en-US" dirty="0"/>
              <a:t> </a:t>
            </a:r>
            <a:r>
              <a:rPr lang="en-US" dirty="0" err="1"/>
              <a:t>trúc</a:t>
            </a:r>
            <a:r>
              <a:rPr lang="en-US" dirty="0"/>
              <a:t> </a:t>
            </a:r>
            <a:r>
              <a:rPr lang="en-US" dirty="0" err="1"/>
              <a:t>thanh</a:t>
            </a:r>
            <a:r>
              <a:rPr lang="en-US" dirty="0"/>
              <a:t> </a:t>
            </a:r>
            <a:r>
              <a:rPr lang="en-US" dirty="0" err="1"/>
              <a:t>ghi</a:t>
            </a:r>
            <a:r>
              <a:rPr lang="en-US" dirty="0"/>
              <a:t> - </a:t>
            </a:r>
            <a:r>
              <a:rPr lang="en-US" dirty="0" err="1"/>
              <a:t>thanh</a:t>
            </a:r>
            <a:r>
              <a:rPr lang="en-US" dirty="0"/>
              <a:t> </a:t>
            </a:r>
            <a:r>
              <a:rPr lang="en-US" dirty="0" err="1"/>
              <a:t>ghi</a:t>
            </a:r>
            <a:endParaRPr lang="en-US" dirty="0"/>
          </a:p>
          <a:p>
            <a:pPr>
              <a:lnSpc>
                <a:spcPct val="150000"/>
              </a:lnSpc>
            </a:pPr>
            <a:r>
              <a:rPr lang="en-US" dirty="0" err="1"/>
              <a:t>Độ</a:t>
            </a:r>
            <a:r>
              <a:rPr lang="en-US" dirty="0"/>
              <a:t> </a:t>
            </a:r>
            <a:r>
              <a:rPr lang="en-US" dirty="0" err="1"/>
              <a:t>rộng</a:t>
            </a:r>
            <a:r>
              <a:rPr lang="en-US" dirty="0"/>
              <a:t> </a:t>
            </a:r>
            <a:r>
              <a:rPr lang="en-US" dirty="0" err="1"/>
              <a:t>lệnh</a:t>
            </a:r>
            <a:r>
              <a:rPr lang="en-US" dirty="0"/>
              <a:t>: </a:t>
            </a:r>
            <a:r>
              <a:rPr lang="en-US" dirty="0" err="1"/>
              <a:t>Cố</a:t>
            </a:r>
            <a:r>
              <a:rPr lang="en-US" dirty="0"/>
              <a:t> </a:t>
            </a:r>
            <a:r>
              <a:rPr lang="en-US" dirty="0" err="1"/>
              <a:t>định</a:t>
            </a:r>
            <a:r>
              <a:rPr lang="en-US" dirty="0"/>
              <a:t> 32-bit </a:t>
            </a:r>
            <a:r>
              <a:rPr lang="en-US" dirty="0" err="1"/>
              <a:t>cho</a:t>
            </a:r>
            <a:r>
              <a:rPr lang="en-US" dirty="0"/>
              <a:t> </a:t>
            </a:r>
            <a:r>
              <a:rPr lang="en-US" dirty="0" err="1"/>
              <a:t>tất</a:t>
            </a:r>
            <a:r>
              <a:rPr lang="en-US" dirty="0"/>
              <a:t> </a:t>
            </a:r>
            <a:r>
              <a:rPr lang="en-US" dirty="0" err="1"/>
              <a:t>cả</a:t>
            </a:r>
            <a:r>
              <a:rPr lang="en-US" dirty="0"/>
              <a:t> </a:t>
            </a:r>
            <a:r>
              <a:rPr lang="en-US" dirty="0" err="1"/>
              <a:t>các</a:t>
            </a:r>
            <a:r>
              <a:rPr lang="en-US" dirty="0"/>
              <a:t> </a:t>
            </a:r>
            <a:r>
              <a:rPr lang="en-US" dirty="0" err="1"/>
              <a:t>lệnh</a:t>
            </a:r>
            <a:endParaRPr lang="en-US" dirty="0"/>
          </a:p>
          <a:p>
            <a:pPr>
              <a:lnSpc>
                <a:spcPct val="150000"/>
              </a:lnSpc>
            </a:pPr>
            <a:r>
              <a:rPr lang="en-US" dirty="0" err="1"/>
              <a:t>Định</a:t>
            </a:r>
            <a:r>
              <a:rPr lang="en-US" dirty="0"/>
              <a:t> </a:t>
            </a:r>
            <a:r>
              <a:rPr lang="en-US" dirty="0" err="1"/>
              <a:t>dạng</a:t>
            </a:r>
            <a:r>
              <a:rPr lang="en-US" dirty="0"/>
              <a:t> </a:t>
            </a:r>
            <a:r>
              <a:rPr lang="en-US" dirty="0" err="1"/>
              <a:t>lệnh</a:t>
            </a:r>
            <a:r>
              <a:rPr lang="en-US" dirty="0"/>
              <a:t>: R, I, J</a:t>
            </a:r>
          </a:p>
          <a:p>
            <a:pPr>
              <a:lnSpc>
                <a:spcPct val="150000"/>
              </a:lnSpc>
            </a:pPr>
            <a:r>
              <a:rPr lang="en-US" dirty="0" err="1"/>
              <a:t>Tập</a:t>
            </a:r>
            <a:r>
              <a:rPr lang="en-US" dirty="0"/>
              <a:t> </a:t>
            </a:r>
            <a:r>
              <a:rPr lang="en-US" dirty="0" err="1"/>
              <a:t>thanh</a:t>
            </a:r>
            <a:r>
              <a:rPr lang="en-US" dirty="0"/>
              <a:t> </a:t>
            </a:r>
            <a:r>
              <a:rPr lang="en-US" dirty="0" err="1"/>
              <a:t>ghi</a:t>
            </a:r>
            <a:r>
              <a:rPr lang="en-US" dirty="0"/>
              <a:t>: 32 </a:t>
            </a:r>
            <a:r>
              <a:rPr lang="en-US" dirty="0" err="1"/>
              <a:t>thanh</a:t>
            </a:r>
            <a:r>
              <a:rPr lang="en-US" dirty="0"/>
              <a:t> </a:t>
            </a:r>
            <a:r>
              <a:rPr lang="en-US" dirty="0" err="1"/>
              <a:t>ghi</a:t>
            </a:r>
            <a:r>
              <a:rPr lang="en-US" dirty="0"/>
              <a:t> 32 bit, </a:t>
            </a:r>
            <a:r>
              <a:rPr lang="en-US" dirty="0" err="1"/>
              <a:t>thanh</a:t>
            </a:r>
            <a:r>
              <a:rPr lang="en-US" dirty="0"/>
              <a:t> </a:t>
            </a:r>
            <a:r>
              <a:rPr lang="en-US" dirty="0" err="1"/>
              <a:t>ghi</a:t>
            </a:r>
            <a:r>
              <a:rPr lang="en-US" dirty="0"/>
              <a:t> $zero </a:t>
            </a:r>
            <a:r>
              <a:rPr lang="en-US" dirty="0" err="1"/>
              <a:t>luôn</a:t>
            </a:r>
            <a:r>
              <a:rPr lang="en-US" dirty="0"/>
              <a:t> </a:t>
            </a:r>
            <a:r>
              <a:rPr lang="en-US" dirty="0" err="1"/>
              <a:t>bằng</a:t>
            </a:r>
            <a:r>
              <a:rPr lang="en-US" dirty="0"/>
              <a:t> 0</a:t>
            </a:r>
          </a:p>
        </p:txBody>
      </p:sp>
    </p:spTree>
    <p:extLst>
      <p:ext uri="{BB962C8B-B14F-4D97-AF65-F5344CB8AC3E}">
        <p14:creationId xmlns:p14="http://schemas.microsoft.com/office/powerpoint/2010/main" val="15961043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a:bodyPr>
          <a:lstStyle/>
          <a:p>
            <a:r>
              <a:rPr lang="en-US" sz="4000"/>
              <a:t>Kiến trúc tập lệnh - Tập lệnh MIPS (tt)</a:t>
            </a:r>
            <a:endParaRPr lang="en-VN" sz="3600"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15</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8" name="Content Placeholder 7">
            <a:extLst>
              <a:ext uri="{FF2B5EF4-FFF2-40B4-BE49-F238E27FC236}">
                <a16:creationId xmlns:a16="http://schemas.microsoft.com/office/drawing/2014/main" id="{D7939D2F-5893-186B-8EF8-EEA06FF8D733}"/>
              </a:ext>
            </a:extLst>
          </p:cNvPr>
          <p:cNvSpPr>
            <a:spLocks noGrp="1"/>
          </p:cNvSpPr>
          <p:nvPr>
            <p:ph idx="1"/>
          </p:nvPr>
        </p:nvSpPr>
        <p:spPr/>
        <p:txBody>
          <a:bodyPr/>
          <a:lstStyle/>
          <a:p>
            <a:pPr>
              <a:lnSpc>
                <a:spcPct val="150000"/>
              </a:lnSpc>
            </a:pPr>
            <a:r>
              <a:rPr lang="en-US"/>
              <a:t>Kiểu dữ liệu: Byte (8 bit), halfword (16 bit), word (32 bit)</a:t>
            </a:r>
          </a:p>
          <a:p>
            <a:pPr>
              <a:lnSpc>
                <a:spcPct val="150000"/>
              </a:lnSpc>
            </a:pPr>
            <a:r>
              <a:rPr lang="en-US"/>
              <a:t>Chế độ định địa chỉ: 5 chế độ</a:t>
            </a:r>
          </a:p>
          <a:p>
            <a:pPr>
              <a:lnSpc>
                <a:spcPct val="150000"/>
              </a:lnSpc>
            </a:pPr>
            <a:r>
              <a:rPr lang="en-US"/>
              <a:t>Toán hạng: Thanh ghi, số tức thời (bù 2), bộ nhớ</a:t>
            </a:r>
          </a:p>
          <a:p>
            <a:pPr>
              <a:lnSpc>
                <a:spcPct val="150000"/>
              </a:lnSpc>
            </a:pPr>
            <a:r>
              <a:rPr lang="en-US"/>
              <a:t>Định địa chỉ theo byte</a:t>
            </a:r>
          </a:p>
        </p:txBody>
      </p:sp>
    </p:spTree>
    <p:extLst>
      <p:ext uri="{BB962C8B-B14F-4D97-AF65-F5344CB8AC3E}">
        <p14:creationId xmlns:p14="http://schemas.microsoft.com/office/powerpoint/2010/main" val="32041827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a:bodyPr>
          <a:lstStyle/>
          <a:p>
            <a:r>
              <a:rPr lang="en-US" sz="4000"/>
              <a:t>Kiến trúc tập lệnh - Tập lệnh MIPS (tt)</a:t>
            </a:r>
            <a:endParaRPr lang="en-VN" sz="3600"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16</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graphicFrame>
        <p:nvGraphicFramePr>
          <p:cNvPr id="7" name="Content Placeholder 4">
            <a:extLst>
              <a:ext uri="{FF2B5EF4-FFF2-40B4-BE49-F238E27FC236}">
                <a16:creationId xmlns:a16="http://schemas.microsoft.com/office/drawing/2014/main" id="{E6E1BEC1-D431-EB48-4CE5-C4A688FEC776}"/>
              </a:ext>
            </a:extLst>
          </p:cNvPr>
          <p:cNvGraphicFramePr>
            <a:graphicFrameLocks noGrp="1"/>
          </p:cNvGraphicFramePr>
          <p:nvPr>
            <p:ph idx="1"/>
            <p:extLst>
              <p:ext uri="{D42A27DB-BD31-4B8C-83A1-F6EECF244321}">
                <p14:modId xmlns:p14="http://schemas.microsoft.com/office/powerpoint/2010/main" val="2582895013"/>
              </p:ext>
            </p:extLst>
          </p:nvPr>
        </p:nvGraphicFramePr>
        <p:xfrm>
          <a:off x="1051560" y="1150620"/>
          <a:ext cx="10383823" cy="5108587"/>
        </p:xfrm>
        <a:graphic>
          <a:graphicData uri="http://schemas.openxmlformats.org/drawingml/2006/table">
            <a:tbl>
              <a:tblPr firstRow="1" firstCol="1" bandRow="1">
                <a:tableStyleId>{5940675A-B579-460E-94D1-54222C63F5DA}</a:tableStyleId>
              </a:tblPr>
              <a:tblGrid>
                <a:gridCol w="1223870">
                  <a:extLst>
                    <a:ext uri="{9D8B030D-6E8A-4147-A177-3AD203B41FA5}">
                      <a16:colId xmlns:a16="http://schemas.microsoft.com/office/drawing/2014/main" val="1490004148"/>
                    </a:ext>
                  </a:extLst>
                </a:gridCol>
                <a:gridCol w="2204566">
                  <a:extLst>
                    <a:ext uri="{9D8B030D-6E8A-4147-A177-3AD203B41FA5}">
                      <a16:colId xmlns:a16="http://schemas.microsoft.com/office/drawing/2014/main" val="4213892799"/>
                    </a:ext>
                  </a:extLst>
                </a:gridCol>
                <a:gridCol w="2108715">
                  <a:extLst>
                    <a:ext uri="{9D8B030D-6E8A-4147-A177-3AD203B41FA5}">
                      <a16:colId xmlns:a16="http://schemas.microsoft.com/office/drawing/2014/main" val="4232936144"/>
                    </a:ext>
                  </a:extLst>
                </a:gridCol>
                <a:gridCol w="3929877">
                  <a:extLst>
                    <a:ext uri="{9D8B030D-6E8A-4147-A177-3AD203B41FA5}">
                      <a16:colId xmlns:a16="http://schemas.microsoft.com/office/drawing/2014/main" val="1620955599"/>
                    </a:ext>
                  </a:extLst>
                </a:gridCol>
                <a:gridCol w="916795">
                  <a:extLst>
                    <a:ext uri="{9D8B030D-6E8A-4147-A177-3AD203B41FA5}">
                      <a16:colId xmlns:a16="http://schemas.microsoft.com/office/drawing/2014/main" val="3787861774"/>
                    </a:ext>
                  </a:extLst>
                </a:gridCol>
              </a:tblGrid>
              <a:tr h="504002">
                <a:tc>
                  <a:txBody>
                    <a:bodyPr/>
                    <a:lstStyle/>
                    <a:p>
                      <a:pPr marL="0" marR="0" algn="ctr">
                        <a:lnSpc>
                          <a:spcPct val="150000"/>
                        </a:lnSpc>
                        <a:spcBef>
                          <a:spcPts val="0"/>
                        </a:spcBef>
                        <a:spcAft>
                          <a:spcPts val="0"/>
                        </a:spcAft>
                      </a:pPr>
                      <a:r>
                        <a:rPr lang="en-US" sz="1800" b="1" dirty="0" err="1">
                          <a:effectLst/>
                          <a:latin typeface="Times New Roman" panose="02020603050405020304" pitchFamily="18" charset="0"/>
                          <a:cs typeface="Times New Roman" panose="02020603050405020304" pitchFamily="18" charset="0"/>
                        </a:rPr>
                        <a:t>Loại</a:t>
                      </a:r>
                      <a:endPar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1224" marR="21224" marT="0" marB="0"/>
                </a:tc>
                <a:tc>
                  <a:txBody>
                    <a:bodyPr/>
                    <a:lstStyle/>
                    <a:p>
                      <a:pPr marL="0" marR="0" algn="ctr">
                        <a:lnSpc>
                          <a:spcPct val="150000"/>
                        </a:lnSpc>
                        <a:spcBef>
                          <a:spcPts val="0"/>
                        </a:spcBef>
                        <a:spcAft>
                          <a:spcPts val="0"/>
                        </a:spcAft>
                      </a:pPr>
                      <a:r>
                        <a:rPr lang="en-US" sz="1800" b="1" dirty="0" err="1">
                          <a:effectLst/>
                          <a:latin typeface="Times New Roman" panose="02020603050405020304" pitchFamily="18" charset="0"/>
                          <a:cs typeface="Times New Roman" panose="02020603050405020304" pitchFamily="18" charset="0"/>
                        </a:rPr>
                        <a:t>Lệnh</a:t>
                      </a:r>
                      <a:endPar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1224" marR="21224" marT="0" marB="0"/>
                </a:tc>
                <a:tc>
                  <a:txBody>
                    <a:bodyPr/>
                    <a:lstStyle/>
                    <a:p>
                      <a:pPr marL="0" marR="0" algn="ctr">
                        <a:lnSpc>
                          <a:spcPct val="150000"/>
                        </a:lnSpc>
                        <a:spcBef>
                          <a:spcPts val="0"/>
                        </a:spcBef>
                        <a:spcAft>
                          <a:spcPts val="0"/>
                        </a:spcAft>
                      </a:pPr>
                      <a:r>
                        <a:rPr lang="en-US" sz="1800" b="1">
                          <a:effectLst/>
                          <a:latin typeface="Times New Roman" panose="02020603050405020304" pitchFamily="18" charset="0"/>
                          <a:cs typeface="Times New Roman" panose="02020603050405020304" pitchFamily="18" charset="0"/>
                        </a:rPr>
                        <a:t>Ví dụ</a:t>
                      </a:r>
                      <a:endParaRPr lang="en-US" sz="18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1224" marR="21224" marT="0" marB="0"/>
                </a:tc>
                <a:tc>
                  <a:txBody>
                    <a:bodyPr/>
                    <a:lstStyle/>
                    <a:p>
                      <a:pPr marL="0" marR="0" algn="ctr">
                        <a:lnSpc>
                          <a:spcPct val="150000"/>
                        </a:lnSpc>
                        <a:spcBef>
                          <a:spcPts val="0"/>
                        </a:spcBef>
                        <a:spcAft>
                          <a:spcPts val="0"/>
                        </a:spcAft>
                      </a:pPr>
                      <a:r>
                        <a:rPr lang="en-US" sz="1800" b="1" dirty="0">
                          <a:effectLst/>
                          <a:latin typeface="Times New Roman" panose="02020603050405020304" pitchFamily="18" charset="0"/>
                          <a:cs typeface="Times New Roman" panose="02020603050405020304" pitchFamily="18" charset="0"/>
                        </a:rPr>
                        <a:t>Ý </a:t>
                      </a:r>
                      <a:r>
                        <a:rPr lang="en-US" sz="1800" b="1" dirty="0" err="1">
                          <a:effectLst/>
                          <a:latin typeface="Times New Roman" panose="02020603050405020304" pitchFamily="18" charset="0"/>
                          <a:cs typeface="Times New Roman" panose="02020603050405020304" pitchFamily="18" charset="0"/>
                        </a:rPr>
                        <a:t>nghĩa</a:t>
                      </a:r>
                      <a:endPar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1224" marR="21224" marT="0" marB="0"/>
                </a:tc>
                <a:tc>
                  <a:txBody>
                    <a:bodyPr/>
                    <a:lstStyle/>
                    <a:p>
                      <a:pPr marL="0" marR="0" algn="ctr">
                        <a:lnSpc>
                          <a:spcPct val="150000"/>
                        </a:lnSpc>
                        <a:spcBef>
                          <a:spcPts val="0"/>
                        </a:spcBef>
                        <a:spcAft>
                          <a:spcPts val="0"/>
                        </a:spcAf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ĐD</a:t>
                      </a:r>
                    </a:p>
                  </a:txBody>
                  <a:tcPr marL="21224" marR="21224" marT="0" marB="0"/>
                </a:tc>
                <a:extLst>
                  <a:ext uri="{0D108BD9-81ED-4DB2-BD59-A6C34878D82A}">
                    <a16:rowId xmlns:a16="http://schemas.microsoft.com/office/drawing/2014/main" val="3136509467"/>
                  </a:ext>
                </a:extLst>
              </a:tr>
              <a:tr h="504002">
                <a:tc rowSpan="3">
                  <a:txBody>
                    <a:bodyPr/>
                    <a:lstStyle/>
                    <a:p>
                      <a:pPr marL="0" marR="0" algn="just">
                        <a:lnSpc>
                          <a:spcPct val="150000"/>
                        </a:lnSpc>
                        <a:spcBef>
                          <a:spcPts val="0"/>
                        </a:spcBef>
                        <a:spcAft>
                          <a:spcPts val="0"/>
                        </a:spcAft>
                      </a:pPr>
                      <a:r>
                        <a:rPr lang="en-US" sz="1800">
                          <a:effectLst/>
                          <a:latin typeface="Times New Roman" panose="02020603050405020304" pitchFamily="18" charset="0"/>
                          <a:cs typeface="Times New Roman" panose="02020603050405020304" pitchFamily="18" charset="0"/>
                        </a:rPr>
                        <a:t>Số học</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1224" marR="21224" marT="0" marB="0" anchor="ctr"/>
                </a:tc>
                <a:tc>
                  <a:txBody>
                    <a:bodyPr/>
                    <a:lstStyle/>
                    <a:p>
                      <a:pPr marL="0" marR="0" algn="just">
                        <a:lnSpc>
                          <a:spcPct val="150000"/>
                        </a:lnSpc>
                        <a:spcBef>
                          <a:spcPts val="0"/>
                        </a:spcBef>
                        <a:spcAft>
                          <a:spcPts val="0"/>
                        </a:spcAft>
                      </a:pPr>
                      <a:r>
                        <a:rPr lang="en-US" sz="1800" dirty="0" err="1">
                          <a:effectLst/>
                          <a:latin typeface="Times New Roman" panose="02020603050405020304" pitchFamily="18" charset="0"/>
                          <a:cs typeface="Times New Roman" panose="02020603050405020304" pitchFamily="18" charset="0"/>
                        </a:rPr>
                        <a:t>Cộng</a:t>
                      </a:r>
                      <a:r>
                        <a:rPr lang="en-US" sz="1800" dirty="0">
                          <a:effectLst/>
                          <a:latin typeface="Times New Roman" panose="02020603050405020304" pitchFamily="18" charset="0"/>
                          <a:cs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1224" marR="21224" marT="0" marB="0"/>
                </a:tc>
                <a:tc>
                  <a:txBody>
                    <a:bodyPr/>
                    <a:lstStyle/>
                    <a:p>
                      <a:pPr marL="0" marR="0" algn="just">
                        <a:lnSpc>
                          <a:spcPct val="150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add $s1,$s2,$s3</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1224" marR="21224" marT="0" marB="0"/>
                </a:tc>
                <a:tc>
                  <a:txBody>
                    <a:bodyPr/>
                    <a:lstStyle/>
                    <a:p>
                      <a:pPr marL="0" marR="0" algn="just">
                        <a:lnSpc>
                          <a:spcPct val="150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$s1=$s2 + $s3</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1224" marR="21224" marT="0" marB="0"/>
                </a:tc>
                <a:tc>
                  <a:txBody>
                    <a:bodyPr/>
                    <a:lstStyle/>
                    <a:p>
                      <a:pPr marL="0" marR="0" algn="ctr">
                        <a:lnSpc>
                          <a:spcPct val="150000"/>
                        </a:lnSpc>
                        <a:spcBef>
                          <a:spcPts val="0"/>
                        </a:spcBef>
                        <a:spcAft>
                          <a:spcPts val="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R</a:t>
                      </a:r>
                    </a:p>
                  </a:txBody>
                  <a:tcPr marL="21224" marR="21224" marT="0" marB="0"/>
                </a:tc>
                <a:extLst>
                  <a:ext uri="{0D108BD9-81ED-4DB2-BD59-A6C34878D82A}">
                    <a16:rowId xmlns:a16="http://schemas.microsoft.com/office/drawing/2014/main" val="1668551217"/>
                  </a:ext>
                </a:extLst>
              </a:tr>
              <a:tr h="504002">
                <a:tc vMerge="1">
                  <a:txBody>
                    <a:bodyPr/>
                    <a:lstStyle/>
                    <a:p>
                      <a:endParaRPr lang="en-US"/>
                    </a:p>
                  </a:txBody>
                  <a:tcPr/>
                </a:tc>
                <a:tc>
                  <a:txBody>
                    <a:bodyPr/>
                    <a:lstStyle/>
                    <a:p>
                      <a:pPr marL="0" marR="0" algn="just">
                        <a:lnSpc>
                          <a:spcPct val="150000"/>
                        </a:lnSpc>
                        <a:spcBef>
                          <a:spcPts val="0"/>
                        </a:spcBef>
                        <a:spcAft>
                          <a:spcPts val="0"/>
                        </a:spcAft>
                      </a:pP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Trừ</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1224" marR="21224" marT="0" marB="0"/>
                </a:tc>
                <a:tc>
                  <a:txBody>
                    <a:bodyPr/>
                    <a:lstStyle/>
                    <a:p>
                      <a:pPr marL="0" marR="0" algn="just">
                        <a:lnSpc>
                          <a:spcPct val="150000"/>
                        </a:lnSpc>
                        <a:spcBef>
                          <a:spcPts val="0"/>
                        </a:spcBef>
                        <a:spcAft>
                          <a:spcPts val="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sub $s1,$s2,$s3</a:t>
                      </a:r>
                    </a:p>
                  </a:txBody>
                  <a:tcPr marL="21224" marR="21224" marT="0" marB="0"/>
                </a:tc>
                <a:tc>
                  <a:txBody>
                    <a:bodyPr/>
                    <a:lstStyle/>
                    <a:p>
                      <a:pPr marL="0" marR="0" algn="just">
                        <a:lnSpc>
                          <a:spcPct val="150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$s1=$s2 - $s3</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1224" marR="21224" marT="0" marB="0"/>
                </a:tc>
                <a:tc>
                  <a:txBody>
                    <a:bodyPr/>
                    <a:lstStyle/>
                    <a:p>
                      <a:pPr marL="0" marR="0" algn="ctr">
                        <a:lnSpc>
                          <a:spcPct val="150000"/>
                        </a:lnSpc>
                        <a:spcBef>
                          <a:spcPts val="0"/>
                        </a:spcBef>
                        <a:spcAft>
                          <a:spcPts val="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R</a:t>
                      </a:r>
                    </a:p>
                  </a:txBody>
                  <a:tcPr marL="21224" marR="21224" marT="0" marB="0"/>
                </a:tc>
                <a:extLst>
                  <a:ext uri="{0D108BD9-81ED-4DB2-BD59-A6C34878D82A}">
                    <a16:rowId xmlns:a16="http://schemas.microsoft.com/office/drawing/2014/main" val="2318092380"/>
                  </a:ext>
                </a:extLst>
              </a:tr>
              <a:tr h="504002">
                <a:tc vMerge="1">
                  <a:txBody>
                    <a:bodyPr/>
                    <a:lstStyle/>
                    <a:p>
                      <a:endParaRPr lang="en-US"/>
                    </a:p>
                  </a:txBody>
                  <a:tcPr/>
                </a:tc>
                <a:tc>
                  <a:txBody>
                    <a:bodyPr/>
                    <a:lstStyle/>
                    <a:p>
                      <a:pPr marL="0" marR="0" algn="just">
                        <a:lnSpc>
                          <a:spcPct val="150000"/>
                        </a:lnSpc>
                        <a:spcBef>
                          <a:spcPts val="0"/>
                        </a:spcBef>
                        <a:spcAft>
                          <a:spcPts val="0"/>
                        </a:spcAft>
                      </a:pPr>
                      <a:r>
                        <a:rPr lang="en-US" sz="1800" dirty="0" err="1">
                          <a:effectLst/>
                          <a:latin typeface="Times New Roman" panose="02020603050405020304" pitchFamily="18" charset="0"/>
                          <a:cs typeface="Times New Roman" panose="02020603050405020304" pitchFamily="18" charset="0"/>
                        </a:rPr>
                        <a:t>Cộng</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tức</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thì</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1224" marR="21224" marT="0" marB="0"/>
                </a:tc>
                <a:tc>
                  <a:txBody>
                    <a:bodyPr/>
                    <a:lstStyle/>
                    <a:p>
                      <a:pPr marL="0" marR="0" algn="just">
                        <a:lnSpc>
                          <a:spcPct val="150000"/>
                        </a:lnSpc>
                        <a:spcBef>
                          <a:spcPts val="0"/>
                        </a:spcBef>
                        <a:spcAft>
                          <a:spcPts val="0"/>
                        </a:spcAft>
                      </a:pPr>
                      <a:r>
                        <a:rPr lang="en-US" sz="1800" dirty="0" err="1">
                          <a:effectLst/>
                          <a:latin typeface="Times New Roman" panose="02020603050405020304" pitchFamily="18" charset="0"/>
                          <a:cs typeface="Times New Roman" panose="02020603050405020304" pitchFamily="18" charset="0"/>
                        </a:rPr>
                        <a:t>addi</a:t>
                      </a:r>
                      <a:r>
                        <a:rPr lang="en-US" sz="1800" dirty="0">
                          <a:effectLst/>
                          <a:latin typeface="Times New Roman" panose="02020603050405020304" pitchFamily="18" charset="0"/>
                          <a:cs typeface="Times New Roman" panose="02020603050405020304" pitchFamily="18" charset="0"/>
                        </a:rPr>
                        <a:t> $</a:t>
                      </a:r>
                      <a:r>
                        <a:rPr lang="en-US" sz="1800">
                          <a:effectLst/>
                          <a:latin typeface="Times New Roman" panose="02020603050405020304" pitchFamily="18" charset="0"/>
                          <a:cs typeface="Times New Roman" panose="02020603050405020304" pitchFamily="18" charset="0"/>
                        </a:rPr>
                        <a:t>s1,$s2,20</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1224" marR="21224" marT="0" marB="0"/>
                </a:tc>
                <a:tc>
                  <a:txBody>
                    <a:bodyPr/>
                    <a:lstStyle/>
                    <a:p>
                      <a:pPr marL="0" marR="0" algn="just">
                        <a:lnSpc>
                          <a:spcPct val="150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$s1=$s2 + 20</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1224" marR="21224" marT="0" marB="0"/>
                </a:tc>
                <a:tc>
                  <a:txBody>
                    <a:bodyPr/>
                    <a:lstStyle/>
                    <a:p>
                      <a:pPr marL="0" marR="0" algn="ctr">
                        <a:lnSpc>
                          <a:spcPct val="150000"/>
                        </a:lnSpc>
                        <a:spcBef>
                          <a:spcPts val="0"/>
                        </a:spcBef>
                        <a:spcAft>
                          <a:spcPts val="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I</a:t>
                      </a:r>
                    </a:p>
                  </a:txBody>
                  <a:tcPr marL="21224" marR="21224" marT="0" marB="0"/>
                </a:tc>
                <a:extLst>
                  <a:ext uri="{0D108BD9-81ED-4DB2-BD59-A6C34878D82A}">
                    <a16:rowId xmlns:a16="http://schemas.microsoft.com/office/drawing/2014/main" val="821970711"/>
                  </a:ext>
                </a:extLst>
              </a:tr>
              <a:tr h="504002">
                <a:tc rowSpan="2">
                  <a:txBody>
                    <a:bodyPr/>
                    <a:lstStyle/>
                    <a:p>
                      <a:pPr marL="0" marR="0" algn="just">
                        <a:lnSpc>
                          <a:spcPct val="150000"/>
                        </a:lnSpc>
                        <a:spcBef>
                          <a:spcPts val="0"/>
                        </a:spcBef>
                        <a:spcAft>
                          <a:spcPts val="0"/>
                        </a:spcAft>
                      </a:pPr>
                      <a:r>
                        <a:rPr lang="en-US" sz="1800">
                          <a:effectLst/>
                          <a:latin typeface="Times New Roman" panose="02020603050405020304" pitchFamily="18" charset="0"/>
                          <a:cs typeface="Times New Roman" panose="02020603050405020304" pitchFamily="18" charset="0"/>
                        </a:rPr>
                        <a:t>Truyền dữ liệu</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1224" marR="21224" marT="0" marB="0" anchor="ctr"/>
                </a:tc>
                <a:tc>
                  <a:txBody>
                    <a:bodyPr/>
                    <a:lstStyle/>
                    <a:p>
                      <a:pPr marL="0" marR="0" algn="just">
                        <a:lnSpc>
                          <a:spcPct val="150000"/>
                        </a:lnSpc>
                        <a:spcBef>
                          <a:spcPts val="0"/>
                        </a:spcBef>
                        <a:spcAft>
                          <a:spcPts val="0"/>
                        </a:spcAft>
                      </a:pPr>
                      <a:r>
                        <a:rPr lang="en-US" sz="1800" dirty="0" err="1">
                          <a:effectLst/>
                          <a:latin typeface="Times New Roman" panose="02020603050405020304" pitchFamily="18" charset="0"/>
                          <a:cs typeface="Times New Roman" panose="02020603050405020304" pitchFamily="18" charset="0"/>
                        </a:rPr>
                        <a:t>Nạp</a:t>
                      </a:r>
                      <a:r>
                        <a:rPr lang="en-US" sz="1800" dirty="0">
                          <a:effectLst/>
                          <a:latin typeface="Times New Roman" panose="02020603050405020304" pitchFamily="18" charset="0"/>
                          <a:cs typeface="Times New Roman" panose="02020603050405020304" pitchFamily="18" charset="0"/>
                        </a:rPr>
                        <a:t> word</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1224" marR="21224" marT="0" marB="0"/>
                </a:tc>
                <a:tc>
                  <a:txBody>
                    <a:bodyPr/>
                    <a:lstStyle/>
                    <a:p>
                      <a:pPr marL="0" marR="0" algn="just">
                        <a:lnSpc>
                          <a:spcPct val="150000"/>
                        </a:lnSpc>
                        <a:spcBef>
                          <a:spcPts val="0"/>
                        </a:spcBef>
                        <a:spcAft>
                          <a:spcPts val="0"/>
                        </a:spcAft>
                      </a:pPr>
                      <a:r>
                        <a:rPr lang="en-US" sz="1800">
                          <a:effectLst/>
                          <a:latin typeface="Times New Roman" panose="02020603050405020304" pitchFamily="18" charset="0"/>
                          <a:cs typeface="Times New Roman" panose="02020603050405020304" pitchFamily="18" charset="0"/>
                        </a:rPr>
                        <a:t>lw </a:t>
                      </a:r>
                      <a:r>
                        <a:rPr lang="en-US" sz="1800" dirty="0">
                          <a:effectLst/>
                          <a:latin typeface="Times New Roman" panose="02020603050405020304" pitchFamily="18" charset="0"/>
                          <a:cs typeface="Times New Roman" panose="02020603050405020304" pitchFamily="18" charset="0"/>
                        </a:rPr>
                        <a:t>$s1,20($s2)</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1224" marR="21224" marT="0" marB="0"/>
                </a:tc>
                <a:tc>
                  <a:txBody>
                    <a:bodyPr/>
                    <a:lstStyle/>
                    <a:p>
                      <a:pPr marL="0" marR="0" algn="just">
                        <a:lnSpc>
                          <a:spcPct val="150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$s1= Mem[$s2 + 20]</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1224" marR="21224" marT="0" marB="0"/>
                </a:tc>
                <a:tc>
                  <a:txBody>
                    <a:bodyPr/>
                    <a:lstStyle/>
                    <a:p>
                      <a:pPr marL="0" marR="0" algn="ctr">
                        <a:lnSpc>
                          <a:spcPct val="150000"/>
                        </a:lnSpc>
                        <a:spcBef>
                          <a:spcPts val="0"/>
                        </a:spcBef>
                        <a:spcAft>
                          <a:spcPts val="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I</a:t>
                      </a:r>
                    </a:p>
                  </a:txBody>
                  <a:tcPr marL="21224" marR="21224" marT="0" marB="0"/>
                </a:tc>
                <a:extLst>
                  <a:ext uri="{0D108BD9-81ED-4DB2-BD59-A6C34878D82A}">
                    <a16:rowId xmlns:a16="http://schemas.microsoft.com/office/drawing/2014/main" val="554000970"/>
                  </a:ext>
                </a:extLst>
              </a:tr>
              <a:tr h="572569">
                <a:tc vMerge="1">
                  <a:txBody>
                    <a:bodyPr/>
                    <a:lstStyle/>
                    <a:p>
                      <a:endParaRPr lang="en-US"/>
                    </a:p>
                  </a:txBody>
                  <a:tcPr/>
                </a:tc>
                <a:tc>
                  <a:txBody>
                    <a:bodyPr/>
                    <a:lstStyle/>
                    <a:p>
                      <a:pPr marL="0" marR="0" algn="just">
                        <a:lnSpc>
                          <a:spcPct val="150000"/>
                        </a:lnSpc>
                        <a:spcBef>
                          <a:spcPts val="0"/>
                        </a:spcBef>
                        <a:spcAft>
                          <a:spcPts val="0"/>
                        </a:spcAft>
                      </a:pPr>
                      <a:r>
                        <a:rPr lang="en-US" sz="1800">
                          <a:effectLst/>
                          <a:latin typeface="Times New Roman" panose="02020603050405020304" pitchFamily="18" charset="0"/>
                          <a:cs typeface="Times New Roman" panose="02020603050405020304" pitchFamily="18" charset="0"/>
                        </a:rPr>
                        <a:t>Lưu word</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1224" marR="21224" marT="0" marB="0"/>
                </a:tc>
                <a:tc>
                  <a:txBody>
                    <a:bodyPr/>
                    <a:lstStyle/>
                    <a:p>
                      <a:pPr marL="0" marR="0" algn="just">
                        <a:lnSpc>
                          <a:spcPct val="150000"/>
                        </a:lnSpc>
                        <a:spcBef>
                          <a:spcPts val="0"/>
                        </a:spcBef>
                        <a:spcAft>
                          <a:spcPts val="0"/>
                        </a:spcAft>
                      </a:pPr>
                      <a:r>
                        <a:rPr lang="en-US" sz="1800">
                          <a:effectLst/>
                          <a:latin typeface="Times New Roman" panose="02020603050405020304" pitchFamily="18" charset="0"/>
                          <a:cs typeface="Times New Roman" panose="02020603050405020304" pitchFamily="18" charset="0"/>
                        </a:rPr>
                        <a:t>sw $s1,20($s2)</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1224" marR="21224" marT="0" marB="0"/>
                </a:tc>
                <a:tc>
                  <a:txBody>
                    <a:bodyPr/>
                    <a:lstStyle/>
                    <a:p>
                      <a:pPr marL="0" marR="0" algn="just">
                        <a:lnSpc>
                          <a:spcPct val="150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Mem[s2 + 20]=$s1</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1224" marR="21224" marT="0" marB="0"/>
                </a:tc>
                <a:tc>
                  <a:txBody>
                    <a:bodyPr/>
                    <a:lstStyle/>
                    <a:p>
                      <a:pPr marL="0" marR="0" algn="ctr">
                        <a:lnSpc>
                          <a:spcPct val="150000"/>
                        </a:lnSpc>
                        <a:spcBef>
                          <a:spcPts val="0"/>
                        </a:spcBef>
                        <a:spcAft>
                          <a:spcPts val="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I</a:t>
                      </a:r>
                    </a:p>
                  </a:txBody>
                  <a:tcPr marL="21224" marR="21224" marT="0" marB="0"/>
                </a:tc>
                <a:extLst>
                  <a:ext uri="{0D108BD9-81ED-4DB2-BD59-A6C34878D82A}">
                    <a16:rowId xmlns:a16="http://schemas.microsoft.com/office/drawing/2014/main" val="2408343351"/>
                  </a:ext>
                </a:extLst>
              </a:tr>
              <a:tr h="504002">
                <a:tc rowSpan="2">
                  <a:txBody>
                    <a:bodyPr/>
                    <a:lstStyle/>
                    <a:p>
                      <a:r>
                        <a:rPr lang="en-US" sz="1800" dirty="0" err="1">
                          <a:latin typeface="Times New Roman" panose="02020603050405020304" pitchFamily="18" charset="0"/>
                          <a:cs typeface="Times New Roman" panose="02020603050405020304" pitchFamily="18" charset="0"/>
                        </a:rPr>
                        <a:t>Luận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lý</a:t>
                      </a:r>
                      <a:endParaRPr lang="en-US" sz="1800" dirty="0">
                        <a:latin typeface="Times New Roman" panose="02020603050405020304" pitchFamily="18" charset="0"/>
                        <a:cs typeface="Times New Roman" panose="02020603050405020304" pitchFamily="18" charset="0"/>
                      </a:endParaRPr>
                    </a:p>
                  </a:txBody>
                  <a:tcPr marL="68580" marR="68580" marT="34290" marB="34290"/>
                </a:tc>
                <a:tc>
                  <a:txBody>
                    <a:bodyPr/>
                    <a:lstStyle/>
                    <a:p>
                      <a:pPr marL="0" marR="0" algn="just">
                        <a:lnSpc>
                          <a:spcPct val="150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NOR </a:t>
                      </a:r>
                      <a:r>
                        <a:rPr lang="en-US" sz="1800" dirty="0" err="1">
                          <a:effectLst/>
                          <a:latin typeface="Times New Roman" panose="02020603050405020304" pitchFamily="18" charset="0"/>
                          <a:cs typeface="Times New Roman" panose="02020603050405020304" pitchFamily="18" charset="0"/>
                        </a:rPr>
                        <a:t>luận</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lý</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1224" marR="21224" marT="0" marB="0"/>
                </a:tc>
                <a:tc>
                  <a:txBody>
                    <a:bodyPr/>
                    <a:lstStyle/>
                    <a:p>
                      <a:pPr marL="0" marR="0" algn="just">
                        <a:lnSpc>
                          <a:spcPct val="150000"/>
                        </a:lnSpc>
                        <a:spcBef>
                          <a:spcPts val="0"/>
                        </a:spcBef>
                        <a:spcAft>
                          <a:spcPts val="0"/>
                        </a:spcAft>
                      </a:pPr>
                      <a:r>
                        <a:rPr lang="en-US" sz="1800">
                          <a:effectLst/>
                          <a:latin typeface="Times New Roman" panose="02020603050405020304" pitchFamily="18" charset="0"/>
                          <a:cs typeface="Times New Roman" panose="02020603050405020304" pitchFamily="18" charset="0"/>
                        </a:rPr>
                        <a:t>nor $s1,$s2,$s3</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1224" marR="21224" marT="0" marB="0"/>
                </a:tc>
                <a:tc>
                  <a:txBody>
                    <a:bodyPr/>
                    <a:lstStyle/>
                    <a:p>
                      <a:pPr marL="0" marR="0" algn="just">
                        <a:lnSpc>
                          <a:spcPct val="150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$s1= ~($s2 | $s3)</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1224" marR="21224" marT="0" marB="0"/>
                </a:tc>
                <a:tc>
                  <a:txBody>
                    <a:bodyPr/>
                    <a:lstStyle/>
                    <a:p>
                      <a:pPr marL="0" marR="0" algn="ctr">
                        <a:lnSpc>
                          <a:spcPct val="150000"/>
                        </a:lnSpc>
                        <a:spcBef>
                          <a:spcPts val="0"/>
                        </a:spcBef>
                        <a:spcAft>
                          <a:spcPts val="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R</a:t>
                      </a:r>
                    </a:p>
                  </a:txBody>
                  <a:tcPr marL="21224" marR="21224" marT="0" marB="0"/>
                </a:tc>
                <a:extLst>
                  <a:ext uri="{0D108BD9-81ED-4DB2-BD59-A6C34878D82A}">
                    <a16:rowId xmlns:a16="http://schemas.microsoft.com/office/drawing/2014/main" val="1554380423"/>
                  </a:ext>
                </a:extLst>
              </a:tr>
              <a:tr h="504002">
                <a:tc vMerge="1">
                  <a:txBody>
                    <a:bodyPr/>
                    <a:lstStyle/>
                    <a:p>
                      <a:endParaRPr lang="en-US"/>
                    </a:p>
                  </a:txBody>
                  <a:tcPr/>
                </a:tc>
                <a:tc>
                  <a:txBody>
                    <a:bodyPr/>
                    <a:lstStyle/>
                    <a:p>
                      <a:pPr marL="0" marR="0" algn="just">
                        <a:lnSpc>
                          <a:spcPct val="150000"/>
                        </a:lnSpc>
                        <a:spcBef>
                          <a:spcPts val="0"/>
                        </a:spcBef>
                        <a:spcAft>
                          <a:spcPts val="0"/>
                        </a:spcAft>
                      </a:pPr>
                      <a:r>
                        <a:rPr lang="en-US" sz="1800">
                          <a:effectLst/>
                          <a:latin typeface="Times New Roman" panose="02020603050405020304" pitchFamily="18" charset="0"/>
                          <a:cs typeface="Times New Roman" panose="02020603050405020304" pitchFamily="18" charset="0"/>
                        </a:rPr>
                        <a:t>Dịch phải luận lý</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1224" marR="21224" marT="0" marB="0"/>
                </a:tc>
                <a:tc>
                  <a:txBody>
                    <a:bodyPr/>
                    <a:lstStyle/>
                    <a:p>
                      <a:pPr marL="0" marR="0" algn="just">
                        <a:lnSpc>
                          <a:spcPct val="150000"/>
                        </a:lnSpc>
                        <a:spcBef>
                          <a:spcPts val="0"/>
                        </a:spcBef>
                        <a:spcAft>
                          <a:spcPts val="0"/>
                        </a:spcAft>
                      </a:pPr>
                      <a:r>
                        <a:rPr lang="en-US" sz="1800">
                          <a:effectLst/>
                          <a:latin typeface="Times New Roman" panose="02020603050405020304" pitchFamily="18" charset="0"/>
                          <a:cs typeface="Times New Roman" panose="02020603050405020304" pitchFamily="18" charset="0"/>
                        </a:rPr>
                        <a:t>srl $s1,$s2,10</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1224" marR="21224" marT="0" marB="0"/>
                </a:tc>
                <a:tc>
                  <a:txBody>
                    <a:bodyPr/>
                    <a:lstStyle/>
                    <a:p>
                      <a:pPr marL="0" marR="0" algn="just">
                        <a:lnSpc>
                          <a:spcPct val="150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$s1=$s2&gt;&gt;10</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1224" marR="21224" marT="0" marB="0"/>
                </a:tc>
                <a:tc>
                  <a:txBody>
                    <a:bodyPr/>
                    <a:lstStyle/>
                    <a:p>
                      <a:pPr marL="0" marR="0" algn="ctr">
                        <a:lnSpc>
                          <a:spcPct val="150000"/>
                        </a:lnSpc>
                        <a:spcBef>
                          <a:spcPts val="0"/>
                        </a:spcBef>
                        <a:spcAft>
                          <a:spcPts val="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R</a:t>
                      </a:r>
                    </a:p>
                  </a:txBody>
                  <a:tcPr marL="21224" marR="21224" marT="0" marB="0"/>
                </a:tc>
                <a:extLst>
                  <a:ext uri="{0D108BD9-81ED-4DB2-BD59-A6C34878D82A}">
                    <a16:rowId xmlns:a16="http://schemas.microsoft.com/office/drawing/2014/main" val="1109960864"/>
                  </a:ext>
                </a:extLst>
              </a:tr>
              <a:tr h="504002">
                <a:tc>
                  <a:txBody>
                    <a:bodyPr/>
                    <a:lstStyle/>
                    <a:p>
                      <a:pPr marL="0" marR="0" algn="just">
                        <a:lnSpc>
                          <a:spcPct val="150000"/>
                        </a:lnSpc>
                        <a:spcBef>
                          <a:spcPts val="0"/>
                        </a:spcBef>
                        <a:spcAft>
                          <a:spcPts val="0"/>
                        </a:spcAft>
                      </a:pPr>
                      <a:r>
                        <a:rPr lang="en-US" sz="1800">
                          <a:effectLst/>
                          <a:latin typeface="Times New Roman" panose="02020603050405020304" pitchFamily="18" charset="0"/>
                          <a:cs typeface="Times New Roman" panose="02020603050405020304" pitchFamily="18" charset="0"/>
                        </a:rPr>
                        <a:t>Rẽ nhánh</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1224" marR="21224" marT="0" marB="0" anchor="ctr"/>
                </a:tc>
                <a:tc>
                  <a:txBody>
                    <a:bodyPr/>
                    <a:lstStyle/>
                    <a:p>
                      <a:pPr marL="0" marR="0" algn="just">
                        <a:lnSpc>
                          <a:spcPct val="150000"/>
                        </a:lnSpc>
                        <a:spcBef>
                          <a:spcPts val="0"/>
                        </a:spcBef>
                        <a:spcAft>
                          <a:spcPts val="0"/>
                        </a:spcAft>
                      </a:pPr>
                      <a:r>
                        <a:rPr lang="en-US" sz="1800">
                          <a:effectLst/>
                          <a:latin typeface="Times New Roman" panose="02020603050405020304" pitchFamily="18" charset="0"/>
                          <a:cs typeface="Times New Roman" panose="02020603050405020304" pitchFamily="18" charset="0"/>
                        </a:rPr>
                        <a:t>Nhảy nếu bằng</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1224" marR="21224" marT="0" marB="0"/>
                </a:tc>
                <a:tc>
                  <a:txBody>
                    <a:bodyPr/>
                    <a:lstStyle/>
                    <a:p>
                      <a:pPr marL="0" marR="0" algn="just">
                        <a:lnSpc>
                          <a:spcPct val="150000"/>
                        </a:lnSpc>
                        <a:spcBef>
                          <a:spcPts val="0"/>
                        </a:spcBef>
                        <a:spcAft>
                          <a:spcPts val="0"/>
                        </a:spcAft>
                      </a:pPr>
                      <a:r>
                        <a:rPr lang="en-US" sz="1800">
                          <a:effectLst/>
                          <a:latin typeface="Times New Roman" panose="02020603050405020304" pitchFamily="18" charset="0"/>
                          <a:cs typeface="Times New Roman" panose="02020603050405020304" pitchFamily="18" charset="0"/>
                        </a:rPr>
                        <a:t>beq $s1,$s2, label</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1224" marR="21224" marT="0" marB="0"/>
                </a:tc>
                <a:tc>
                  <a:txBody>
                    <a:bodyPr/>
                    <a:lstStyle/>
                    <a:p>
                      <a:pPr marL="0" marR="0" algn="just">
                        <a:lnSpc>
                          <a:spcPct val="150000"/>
                        </a:lnSpc>
                        <a:spcBef>
                          <a:spcPts val="0"/>
                        </a:spcBef>
                        <a:spcAft>
                          <a:spcPts val="0"/>
                        </a:spcAft>
                      </a:pPr>
                      <a:r>
                        <a:rPr lang="en-US" sz="1800">
                          <a:effectLst/>
                          <a:latin typeface="Times New Roman" panose="02020603050405020304" pitchFamily="18" charset="0"/>
                          <a:cs typeface="Times New Roman" panose="02020603050405020304" pitchFamily="18" charset="0"/>
                        </a:rPr>
                        <a:t>Nếu ($s1==$s2) đi đến </a:t>
                      </a:r>
                      <a:r>
                        <a:rPr lang="en-US" sz="1800">
                          <a:solidFill>
                            <a:schemeClr val="bg2"/>
                          </a:solidFill>
                          <a:effectLst/>
                          <a:latin typeface="Times New Roman" panose="02020603050405020304" pitchFamily="18" charset="0"/>
                          <a:cs typeface="Times New Roman" panose="02020603050405020304" pitchFamily="18" charset="0"/>
                        </a:rPr>
                        <a:t>label</a:t>
                      </a:r>
                      <a:endParaRPr lang="en-US" sz="18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1224" marR="21224" marT="0" marB="0"/>
                </a:tc>
                <a:tc>
                  <a:txBody>
                    <a:bodyPr/>
                    <a:lstStyle/>
                    <a:p>
                      <a:pPr marL="0" marR="0" algn="ctr">
                        <a:lnSpc>
                          <a:spcPct val="150000"/>
                        </a:lnSpc>
                        <a:spcBef>
                          <a:spcPts val="0"/>
                        </a:spcBef>
                        <a:spcAft>
                          <a:spcPts val="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I</a:t>
                      </a:r>
                    </a:p>
                  </a:txBody>
                  <a:tcPr marL="21224" marR="21224" marT="0" marB="0"/>
                </a:tc>
                <a:extLst>
                  <a:ext uri="{0D108BD9-81ED-4DB2-BD59-A6C34878D82A}">
                    <a16:rowId xmlns:a16="http://schemas.microsoft.com/office/drawing/2014/main" val="2486093111"/>
                  </a:ext>
                </a:extLst>
              </a:tr>
              <a:tr h="504002">
                <a:tc>
                  <a:txBody>
                    <a:bodyPr/>
                    <a:lstStyle/>
                    <a:p>
                      <a:pPr marL="0" marR="0" algn="just">
                        <a:lnSpc>
                          <a:spcPct val="150000"/>
                        </a:lnSpc>
                        <a:spcBef>
                          <a:spcPts val="0"/>
                        </a:spcBef>
                        <a:spcAft>
                          <a:spcPts val="0"/>
                        </a:spcAft>
                      </a:pPr>
                      <a:r>
                        <a:rPr lang="en-US" sz="1800">
                          <a:effectLst/>
                          <a:latin typeface="Times New Roman" panose="02020603050405020304" pitchFamily="18" charset="0"/>
                          <a:cs typeface="Times New Roman" panose="02020603050405020304" pitchFamily="18" charset="0"/>
                        </a:rPr>
                        <a:t>Nhảy</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1224" marR="21224" marT="0" marB="0" anchor="ctr"/>
                </a:tc>
                <a:tc>
                  <a:txBody>
                    <a:bodyPr/>
                    <a:lstStyle/>
                    <a:p>
                      <a:pPr marL="0" marR="0" algn="just">
                        <a:lnSpc>
                          <a:spcPct val="150000"/>
                        </a:lnSpc>
                        <a:spcBef>
                          <a:spcPts val="0"/>
                        </a:spcBef>
                        <a:spcAft>
                          <a:spcPts val="0"/>
                        </a:spcAft>
                      </a:pPr>
                      <a:r>
                        <a:rPr lang="en-US" sz="1800" dirty="0" err="1">
                          <a:effectLst/>
                          <a:latin typeface="Times New Roman" panose="02020603050405020304" pitchFamily="18" charset="0"/>
                          <a:cs typeface="Times New Roman" panose="02020603050405020304" pitchFamily="18" charset="0"/>
                        </a:rPr>
                        <a:t>Nhảy</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1224" marR="21224" marT="0" marB="0"/>
                </a:tc>
                <a:tc>
                  <a:txBody>
                    <a:bodyPr/>
                    <a:lstStyle/>
                    <a:p>
                      <a:pPr marL="0" marR="0" algn="just">
                        <a:lnSpc>
                          <a:spcPct val="150000"/>
                        </a:lnSpc>
                        <a:spcBef>
                          <a:spcPts val="0"/>
                        </a:spcBef>
                        <a:spcAft>
                          <a:spcPts val="0"/>
                        </a:spcAft>
                      </a:pPr>
                      <a:r>
                        <a:rPr lang="en-US" sz="1800">
                          <a:effectLst/>
                          <a:latin typeface="Times New Roman" panose="02020603050405020304" pitchFamily="18" charset="0"/>
                          <a:cs typeface="Times New Roman" panose="02020603050405020304" pitchFamily="18" charset="0"/>
                        </a:rPr>
                        <a:t>j label</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1224" marR="21224" marT="0" marB="0"/>
                </a:tc>
                <a:tc>
                  <a:txBody>
                    <a:bodyPr/>
                    <a:lstStyle/>
                    <a:p>
                      <a:pPr marL="0" marR="0" algn="just">
                        <a:lnSpc>
                          <a:spcPct val="150000"/>
                        </a:lnSpc>
                        <a:spcBef>
                          <a:spcPts val="0"/>
                        </a:spcBef>
                        <a:spcAft>
                          <a:spcPts val="0"/>
                        </a:spcAft>
                      </a:pPr>
                      <a:r>
                        <a:rPr lang="en-US" sz="1800" dirty="0" err="1">
                          <a:effectLst/>
                          <a:latin typeface="Times New Roman" panose="02020603050405020304" pitchFamily="18" charset="0"/>
                          <a:cs typeface="Times New Roman" panose="02020603050405020304" pitchFamily="18" charset="0"/>
                        </a:rPr>
                        <a:t>Đi</a:t>
                      </a:r>
                      <a:r>
                        <a:rPr lang="en-US" sz="1800" dirty="0">
                          <a:effectLst/>
                          <a:latin typeface="Times New Roman" panose="02020603050405020304" pitchFamily="18" charset="0"/>
                          <a:cs typeface="Times New Roman" panose="02020603050405020304" pitchFamily="18" charset="0"/>
                        </a:rPr>
                        <a:t> </a:t>
                      </a:r>
                      <a:r>
                        <a:rPr lang="en-US" sz="1800" err="1">
                          <a:effectLst/>
                          <a:latin typeface="Times New Roman" panose="02020603050405020304" pitchFamily="18" charset="0"/>
                          <a:cs typeface="Times New Roman" panose="02020603050405020304" pitchFamily="18" charset="0"/>
                        </a:rPr>
                        <a:t>đến</a:t>
                      </a:r>
                      <a:r>
                        <a:rPr lang="en-US" sz="1800">
                          <a:effectLst/>
                          <a:latin typeface="Times New Roman" panose="02020603050405020304" pitchFamily="18" charset="0"/>
                          <a:cs typeface="Times New Roman" panose="02020603050405020304" pitchFamily="18" charset="0"/>
                        </a:rPr>
                        <a:t> label</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1224" marR="21224" marT="0" marB="0"/>
                </a:tc>
                <a:tc>
                  <a:txBody>
                    <a:bodyPr/>
                    <a:lstStyle/>
                    <a:p>
                      <a:pPr marL="0" marR="0" algn="ctr">
                        <a:lnSpc>
                          <a:spcPct val="150000"/>
                        </a:lnSpc>
                        <a:spcBef>
                          <a:spcPts val="0"/>
                        </a:spcBef>
                        <a:spcAft>
                          <a:spcPts val="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J</a:t>
                      </a:r>
                    </a:p>
                  </a:txBody>
                  <a:tcPr marL="21224" marR="21224" marT="0" marB="0"/>
                </a:tc>
                <a:extLst>
                  <a:ext uri="{0D108BD9-81ED-4DB2-BD59-A6C34878D82A}">
                    <a16:rowId xmlns:a16="http://schemas.microsoft.com/office/drawing/2014/main" val="2733747677"/>
                  </a:ext>
                </a:extLst>
              </a:tr>
            </a:tbl>
          </a:graphicData>
        </a:graphic>
      </p:graphicFrame>
    </p:spTree>
    <p:extLst>
      <p:ext uri="{BB962C8B-B14F-4D97-AF65-F5344CB8AC3E}">
        <p14:creationId xmlns:p14="http://schemas.microsoft.com/office/powerpoint/2010/main" val="30916564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2138E7-0BF8-4FBE-AB49-4184E532FD1F}"/>
              </a:ext>
            </a:extLst>
          </p:cNvPr>
          <p:cNvSpPr>
            <a:spLocks noGrp="1"/>
          </p:cNvSpPr>
          <p:nvPr>
            <p:ph type="sldNum" sz="quarter" idx="12"/>
          </p:nvPr>
        </p:nvSpPr>
        <p:spPr/>
        <p:txBody>
          <a:bodyPr/>
          <a:lstStyle/>
          <a:p>
            <a:fld id="{D8B0B3AC-44A8-D142-AAF6-9A453466E1A4}" type="slidenum">
              <a:rPr lang="en-VN" smtClean="0"/>
              <a:pPr/>
              <a:t>17</a:t>
            </a:fld>
            <a:endParaRPr lang="en-VN" dirty="0"/>
          </a:p>
        </p:txBody>
      </p:sp>
      <p:sp>
        <p:nvSpPr>
          <p:cNvPr id="7" name="Text Placeholder 6">
            <a:extLst>
              <a:ext uri="{FF2B5EF4-FFF2-40B4-BE49-F238E27FC236}">
                <a16:creationId xmlns:a16="http://schemas.microsoft.com/office/drawing/2014/main" id="{0602C380-9011-23F7-8E4B-E195C0DFFBC9}"/>
              </a:ext>
            </a:extLst>
          </p:cNvPr>
          <p:cNvSpPr>
            <a:spLocks noGrp="1"/>
          </p:cNvSpPr>
          <p:nvPr>
            <p:ph type="body" sz="quarter" idx="13"/>
          </p:nvPr>
        </p:nvSpPr>
        <p:spPr>
          <a:xfrm>
            <a:off x="1470929" y="2095027"/>
            <a:ext cx="7918398" cy="884656"/>
          </a:xfrm>
        </p:spPr>
        <p:txBody>
          <a:bodyPr>
            <a:normAutofit/>
          </a:bodyPr>
          <a:lstStyle/>
          <a:p>
            <a:r>
              <a:rPr lang="en-US" dirty="0" err="1"/>
              <a:t>Các</a:t>
            </a:r>
            <a:r>
              <a:rPr lang="en-US" dirty="0"/>
              <a:t> </a:t>
            </a:r>
            <a:r>
              <a:rPr lang="en-US" dirty="0" err="1"/>
              <a:t>nhóm</a:t>
            </a:r>
            <a:r>
              <a:rPr lang="en-US" dirty="0"/>
              <a:t> </a:t>
            </a:r>
            <a:r>
              <a:rPr lang="en-US" dirty="0" err="1"/>
              <a:t>lệnh</a:t>
            </a:r>
            <a:r>
              <a:rPr lang="en-US" dirty="0"/>
              <a:t> MIPS</a:t>
            </a:r>
            <a:endParaRPr lang="en-VN" dirty="0"/>
          </a:p>
        </p:txBody>
      </p:sp>
      <p:sp>
        <p:nvSpPr>
          <p:cNvPr id="8" name="Text Placeholder 7">
            <a:extLst>
              <a:ext uri="{FF2B5EF4-FFF2-40B4-BE49-F238E27FC236}">
                <a16:creationId xmlns:a16="http://schemas.microsoft.com/office/drawing/2014/main" id="{883EE24F-70E8-C3FA-399B-07DCA2C415CE}"/>
              </a:ext>
            </a:extLst>
          </p:cNvPr>
          <p:cNvSpPr>
            <a:spLocks noGrp="1"/>
          </p:cNvSpPr>
          <p:nvPr>
            <p:ph type="body" sz="quarter" idx="14"/>
          </p:nvPr>
        </p:nvSpPr>
        <p:spPr/>
        <p:txBody>
          <a:bodyPr/>
          <a:lstStyle/>
          <a:p>
            <a:endParaRPr lang="vi-VN" sz="2800" dirty="0"/>
          </a:p>
        </p:txBody>
      </p:sp>
      <p:sp>
        <p:nvSpPr>
          <p:cNvPr id="9" name="Text Placeholder 8">
            <a:extLst>
              <a:ext uri="{FF2B5EF4-FFF2-40B4-BE49-F238E27FC236}">
                <a16:creationId xmlns:a16="http://schemas.microsoft.com/office/drawing/2014/main" id="{7F04BBE0-C7C7-D804-DD85-D99BEB36007C}"/>
              </a:ext>
            </a:extLst>
          </p:cNvPr>
          <p:cNvSpPr>
            <a:spLocks noGrp="1"/>
          </p:cNvSpPr>
          <p:nvPr>
            <p:ph type="body" sz="quarter" idx="15"/>
          </p:nvPr>
        </p:nvSpPr>
        <p:spPr/>
        <p:txBody>
          <a:bodyPr/>
          <a:lstStyle/>
          <a:p>
            <a:endParaRPr lang="en-VN"/>
          </a:p>
        </p:txBody>
      </p:sp>
      <p:sp>
        <p:nvSpPr>
          <p:cNvPr id="10" name="Text Placeholder 9">
            <a:extLst>
              <a:ext uri="{FF2B5EF4-FFF2-40B4-BE49-F238E27FC236}">
                <a16:creationId xmlns:a16="http://schemas.microsoft.com/office/drawing/2014/main" id="{3C2CDC7B-AFE9-6C1F-2CD6-AA61695C23FD}"/>
              </a:ext>
            </a:extLst>
          </p:cNvPr>
          <p:cNvSpPr>
            <a:spLocks noGrp="1"/>
          </p:cNvSpPr>
          <p:nvPr>
            <p:ph type="body" sz="quarter" idx="16"/>
          </p:nvPr>
        </p:nvSpPr>
        <p:spPr/>
        <p:txBody>
          <a:bodyPr>
            <a:normAutofit lnSpcReduction="10000"/>
          </a:bodyPr>
          <a:lstStyle/>
          <a:p>
            <a:r>
              <a:rPr lang="en-VN" dirty="0"/>
              <a:t>3</a:t>
            </a:r>
          </a:p>
        </p:txBody>
      </p:sp>
    </p:spTree>
    <p:extLst>
      <p:ext uri="{BB962C8B-B14F-4D97-AF65-F5344CB8AC3E}">
        <p14:creationId xmlns:p14="http://schemas.microsoft.com/office/powerpoint/2010/main" val="23955186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0E240-883A-BFD5-046E-DDBDA5B3A087}"/>
              </a:ext>
            </a:extLst>
          </p:cNvPr>
          <p:cNvSpPr>
            <a:spLocks noGrp="1"/>
          </p:cNvSpPr>
          <p:nvPr>
            <p:ph type="title"/>
          </p:nvPr>
        </p:nvSpPr>
        <p:spPr/>
        <p:txBody>
          <a:bodyPr/>
          <a:lstStyle/>
          <a:p>
            <a:r>
              <a:rPr lang="en-US"/>
              <a:t>Nhóm lệnh số học và luận lý </a:t>
            </a:r>
          </a:p>
        </p:txBody>
      </p:sp>
      <p:sp>
        <p:nvSpPr>
          <p:cNvPr id="4" name="Footer Placeholder 3">
            <a:extLst>
              <a:ext uri="{FF2B5EF4-FFF2-40B4-BE49-F238E27FC236}">
                <a16:creationId xmlns:a16="http://schemas.microsoft.com/office/drawing/2014/main" id="{96D207CE-6FC9-7C72-C75F-E113A537E596}"/>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Slide Number Placeholder 4">
            <a:extLst>
              <a:ext uri="{FF2B5EF4-FFF2-40B4-BE49-F238E27FC236}">
                <a16:creationId xmlns:a16="http://schemas.microsoft.com/office/drawing/2014/main" id="{11B3E06D-636E-6C43-5492-6D73A35AA9F3}"/>
              </a:ext>
            </a:extLst>
          </p:cNvPr>
          <p:cNvSpPr>
            <a:spLocks noGrp="1"/>
          </p:cNvSpPr>
          <p:nvPr>
            <p:ph type="sldNum" sz="quarter" idx="12"/>
          </p:nvPr>
        </p:nvSpPr>
        <p:spPr/>
        <p:txBody>
          <a:bodyPr/>
          <a:lstStyle/>
          <a:p>
            <a:fld id="{D8B0B3AC-44A8-D142-AAF6-9A453466E1A4}" type="slidenum">
              <a:rPr lang="en-VN" smtClean="0"/>
              <a:pPr/>
              <a:t>18</a:t>
            </a:fld>
            <a:endParaRPr lang="en-VN" dirty="0"/>
          </a:p>
        </p:txBody>
      </p:sp>
      <p:sp>
        <p:nvSpPr>
          <p:cNvPr id="6" name="Date Placeholder 5">
            <a:extLst>
              <a:ext uri="{FF2B5EF4-FFF2-40B4-BE49-F238E27FC236}">
                <a16:creationId xmlns:a16="http://schemas.microsoft.com/office/drawing/2014/main" id="{ACCD674A-652B-B970-5994-FF4A606BD5DF}"/>
              </a:ext>
            </a:extLst>
          </p:cNvPr>
          <p:cNvSpPr>
            <a:spLocks noGrp="1"/>
          </p:cNvSpPr>
          <p:nvPr>
            <p:ph type="dt" sz="half" idx="13"/>
          </p:nvPr>
        </p:nvSpPr>
        <p:spPr/>
        <p:txBody>
          <a:bodyPr/>
          <a:lstStyle/>
          <a:p>
            <a:fld id="{46CDDB1B-AAE9-1649-A755-11FADEB7E97E}" type="datetime4">
              <a:rPr lang="en-US" smtClean="0"/>
              <a:pPr/>
              <a:t>April 21, 2024</a:t>
            </a:fld>
            <a:endParaRPr lang="en-US" dirty="0"/>
          </a:p>
        </p:txBody>
      </p:sp>
      <p:graphicFrame>
        <p:nvGraphicFramePr>
          <p:cNvPr id="7" name="Group 47">
            <a:extLst>
              <a:ext uri="{FF2B5EF4-FFF2-40B4-BE49-F238E27FC236}">
                <a16:creationId xmlns:a16="http://schemas.microsoft.com/office/drawing/2014/main" id="{71FB636E-3DE1-D718-70BF-16D66BB4D8CD}"/>
              </a:ext>
            </a:extLst>
          </p:cNvPr>
          <p:cNvGraphicFramePr>
            <a:graphicFrameLocks noGrp="1"/>
          </p:cNvGraphicFramePr>
          <p:nvPr>
            <p:extLst>
              <p:ext uri="{D42A27DB-BD31-4B8C-83A1-F6EECF244321}">
                <p14:modId xmlns:p14="http://schemas.microsoft.com/office/powerpoint/2010/main" val="2222362946"/>
              </p:ext>
            </p:extLst>
          </p:nvPr>
        </p:nvGraphicFramePr>
        <p:xfrm>
          <a:off x="1494760" y="1266360"/>
          <a:ext cx="9386600" cy="4988650"/>
        </p:xfrm>
        <a:graphic>
          <a:graphicData uri="http://schemas.openxmlformats.org/drawingml/2006/table">
            <a:tbl>
              <a:tblPr/>
              <a:tblGrid>
                <a:gridCol w="3545738">
                  <a:extLst>
                    <a:ext uri="{9D8B030D-6E8A-4147-A177-3AD203B41FA5}">
                      <a16:colId xmlns:a16="http://schemas.microsoft.com/office/drawing/2014/main" val="20000"/>
                    </a:ext>
                  </a:extLst>
                </a:gridCol>
                <a:gridCol w="3968083">
                  <a:extLst>
                    <a:ext uri="{9D8B030D-6E8A-4147-A177-3AD203B41FA5}">
                      <a16:colId xmlns:a16="http://schemas.microsoft.com/office/drawing/2014/main" val="20003"/>
                    </a:ext>
                  </a:extLst>
                </a:gridCol>
                <a:gridCol w="1872779">
                  <a:extLst>
                    <a:ext uri="{9D8B030D-6E8A-4147-A177-3AD203B41FA5}">
                      <a16:colId xmlns:a16="http://schemas.microsoft.com/office/drawing/2014/main" val="511114127"/>
                    </a:ext>
                  </a:extLst>
                </a:gridCol>
              </a:tblGrid>
              <a:tr h="548577">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vi-VN" sz="2400" b="1" i="0" u="none" strike="noStrike" cap="none" normalizeH="0" baseline="0" dirty="0">
                          <a:ln>
                            <a:noFill/>
                          </a:ln>
                          <a:solidFill>
                            <a:schemeClr val="tx1"/>
                          </a:solidFill>
                          <a:effectLst/>
                          <a:latin typeface="+mj-lt"/>
                        </a:rPr>
                        <a:t>Thao tác</a:t>
                      </a:r>
                      <a:endParaRPr kumimoji="0" lang="en-AU" sz="2400" b="1" i="0" u="none" strike="noStrike" cap="none" normalizeH="0" baseline="0" dirty="0">
                        <a:ln>
                          <a:noFill/>
                        </a:ln>
                        <a:solidFill>
                          <a:schemeClr val="tx1"/>
                        </a:solidFill>
                        <a:effectLst/>
                        <a:latin typeface="+mj-lt"/>
                      </a:endParaRPr>
                    </a:p>
                  </a:txBody>
                  <a:tcPr marL="89274" marR="89274" marT="44637" marB="4463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MIPS</a:t>
                      </a:r>
                      <a:endParaRPr kumimoji="0" lang="en-AU"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89274" marR="89274" marT="44637" marB="446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vi-VN"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Định dạng</a:t>
                      </a:r>
                      <a:endParaRPr kumimoji="0" lang="en-AU"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89274" marR="89274" marT="44637" marB="4463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48577">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Cộng</a:t>
                      </a:r>
                      <a:endParaRPr kumimoji="0" lang="en-A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89274" marR="89274" marT="44637" marB="4463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add/addu, addi/addiu</a:t>
                      </a:r>
                      <a:endParaRPr kumimoji="0" lang="en-A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89274" marR="89274" marT="44637" marB="446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R,I</a:t>
                      </a:r>
                      <a:endParaRPr kumimoji="0" lang="en-A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89274" marR="89274" marT="44637" marB="4463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45008435"/>
                  </a:ext>
                </a:extLst>
              </a:tr>
              <a:tr h="548577">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vi-VN" sz="2400" b="0" i="0" u="none" strike="noStrike" cap="none" normalizeH="0" baseline="0" dirty="0">
                          <a:ln>
                            <a:noFill/>
                          </a:ln>
                          <a:solidFill>
                            <a:schemeClr val="tx1"/>
                          </a:solidFill>
                          <a:effectLst/>
                          <a:latin typeface="+mj-lt"/>
                        </a:rPr>
                        <a:t>Trừ</a:t>
                      </a:r>
                      <a:endParaRPr kumimoji="0" lang="en-AU" sz="2400" b="0" i="0" u="none" strike="noStrike" cap="none" normalizeH="0" baseline="0" dirty="0">
                        <a:ln>
                          <a:noFill/>
                        </a:ln>
                        <a:solidFill>
                          <a:schemeClr val="tx1"/>
                        </a:solidFill>
                        <a:effectLst/>
                        <a:latin typeface="+mj-lt"/>
                      </a:endParaRPr>
                    </a:p>
                  </a:txBody>
                  <a:tcPr marL="89274" marR="89274" marT="44637" marB="4463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vi-VN"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sub, subu</a:t>
                      </a:r>
                      <a:endParaRPr kumimoji="0" lang="en-A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89274" marR="89274" marT="44637" marB="446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vi-VN"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t>
                      </a:r>
                      <a:endParaRPr kumimoji="0" lang="en-A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89274" marR="89274" marT="44637" marB="4463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80700957"/>
                  </a:ext>
                </a:extLst>
              </a:tr>
              <a:tr h="60557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Thiết lập nếu nhỏ hơn</a:t>
                      </a:r>
                      <a:endParaRPr kumimoji="0" lang="en-A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89274" marR="89274" marT="44637" marB="4463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slt/sltu, slti/sltiu</a:t>
                      </a:r>
                      <a:endParaRPr kumimoji="0" lang="en-A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89274" marR="89274" marT="44637" marB="446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R, I</a:t>
                      </a:r>
                      <a:endParaRPr kumimoji="0" lang="en-A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89274" marR="89274" marT="44637" marB="4463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947236813"/>
                  </a:ext>
                </a:extLst>
              </a:tr>
              <a:tr h="54673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vi-VN" sz="2400" b="0" i="0" u="none" strike="noStrike" cap="none" normalizeH="0" baseline="0" dirty="0">
                          <a:ln>
                            <a:noFill/>
                          </a:ln>
                          <a:solidFill>
                            <a:schemeClr val="tx1"/>
                          </a:solidFill>
                          <a:effectLst/>
                          <a:latin typeface="+mj-lt"/>
                        </a:rPr>
                        <a:t>Dịch trái</a:t>
                      </a:r>
                      <a:endParaRPr kumimoji="0" lang="en-AU" sz="2400" b="0" i="0" u="none" strike="noStrike" cap="none" normalizeH="0" baseline="0" dirty="0">
                        <a:ln>
                          <a:noFill/>
                        </a:ln>
                        <a:solidFill>
                          <a:schemeClr val="tx1"/>
                        </a:solidFill>
                        <a:effectLst/>
                        <a:latin typeface="+mj-lt"/>
                      </a:endParaRPr>
                    </a:p>
                  </a:txBody>
                  <a:tcPr marL="89274" marR="89274" marT="44637" marB="4463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sll</a:t>
                      </a:r>
                      <a:endParaRPr kumimoji="0" lang="en-A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89274" marR="89274" marT="44637" marB="446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vi-VN"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t>
                      </a:r>
                      <a:endParaRPr kumimoji="0" lang="en-A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89274" marR="89274" marT="44637" marB="4463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48577">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vi-VN" sz="2400" b="0" i="0" u="none" strike="noStrike" cap="none" normalizeH="0" baseline="0" dirty="0">
                          <a:ln>
                            <a:noFill/>
                          </a:ln>
                          <a:solidFill>
                            <a:schemeClr val="tx1"/>
                          </a:solidFill>
                          <a:effectLst/>
                          <a:latin typeface="+mj-lt"/>
                        </a:rPr>
                        <a:t>Dịch phải</a:t>
                      </a:r>
                      <a:endParaRPr kumimoji="0" lang="en-AU" sz="2400" b="0" i="0" u="none" strike="noStrike" cap="none" normalizeH="0" baseline="0" dirty="0">
                        <a:ln>
                          <a:noFill/>
                        </a:ln>
                        <a:solidFill>
                          <a:schemeClr val="tx1"/>
                        </a:solidFill>
                        <a:effectLst/>
                        <a:latin typeface="+mj-lt"/>
                      </a:endParaRPr>
                    </a:p>
                  </a:txBody>
                  <a:tcPr marL="89274" marR="89274" marT="44637" marB="4463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srl</a:t>
                      </a:r>
                      <a:endParaRPr kumimoji="0" lang="en-A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89274" marR="89274" marT="44637" marB="446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vi-VN"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t>
                      </a:r>
                      <a:endParaRPr kumimoji="0" lang="en-A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89274" marR="89274" marT="44637" marB="4463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4673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Bitwise AND</a:t>
                      </a:r>
                      <a:endParaRPr kumimoji="0" lang="en-A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89274" marR="89274" marT="44637" marB="4463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and, </a:t>
                      </a:r>
                      <a:r>
                        <a:rPr kumimoji="0" 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andi</a:t>
                      </a:r>
                      <a:endParaRPr kumimoji="0" lang="en-A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89274" marR="89274" marT="44637" marB="446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vi-VN"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 I</a:t>
                      </a:r>
                      <a:endParaRPr kumimoji="0" lang="en-A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89274" marR="89274" marT="44637" marB="4463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4673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Bitwise OR</a:t>
                      </a:r>
                      <a:endParaRPr kumimoji="0" lang="en-A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89274" marR="89274" marT="44637" marB="4463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or, </a:t>
                      </a:r>
                      <a:r>
                        <a:rPr kumimoji="0" 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ori</a:t>
                      </a:r>
                      <a:endParaRPr kumimoji="0" lang="en-A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89274" marR="89274" marT="44637" marB="446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vi-VN"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 I</a:t>
                      </a:r>
                      <a:endParaRPr kumimoji="0" lang="en-A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89274" marR="89274" marT="44637" marB="4463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48577">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Bitwise NOT</a:t>
                      </a:r>
                      <a:endParaRPr kumimoji="0" lang="en-A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89274" marR="89274" marT="44637" marB="4463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nor</a:t>
                      </a:r>
                      <a:endParaRPr kumimoji="0" lang="en-A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89274" marR="89274" marT="44637" marB="446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vi-VN"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t>
                      </a:r>
                      <a:endParaRPr kumimoji="0" lang="en-A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89274" marR="89274" marT="44637" marB="4463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2654978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4B50BE-4634-7D27-B403-CDE2FBD25BA6}"/>
              </a:ext>
            </a:extLst>
          </p:cNvPr>
          <p:cNvSpPr>
            <a:spLocks noGrp="1"/>
          </p:cNvSpPr>
          <p:nvPr>
            <p:ph type="title"/>
          </p:nvPr>
        </p:nvSpPr>
        <p:spPr/>
        <p:txBody>
          <a:bodyPr/>
          <a:lstStyle/>
          <a:p>
            <a:r>
              <a:rPr lang="en-US" sz="4000"/>
              <a:t>Nhóm lệnh số học và luận lý - add </a:t>
            </a:r>
            <a:endParaRPr lang="en-US"/>
          </a:p>
        </p:txBody>
      </p:sp>
      <p:sp>
        <p:nvSpPr>
          <p:cNvPr id="4" name="Footer Placeholder 3">
            <a:extLst>
              <a:ext uri="{FF2B5EF4-FFF2-40B4-BE49-F238E27FC236}">
                <a16:creationId xmlns:a16="http://schemas.microsoft.com/office/drawing/2014/main" id="{CE20075A-C201-ABB3-CD7E-B0B618E2FBD6}"/>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Slide Number Placeholder 4">
            <a:extLst>
              <a:ext uri="{FF2B5EF4-FFF2-40B4-BE49-F238E27FC236}">
                <a16:creationId xmlns:a16="http://schemas.microsoft.com/office/drawing/2014/main" id="{E50D663F-5C1C-BF1A-698E-D37D59599E3D}"/>
              </a:ext>
            </a:extLst>
          </p:cNvPr>
          <p:cNvSpPr>
            <a:spLocks noGrp="1"/>
          </p:cNvSpPr>
          <p:nvPr>
            <p:ph type="sldNum" sz="quarter" idx="12"/>
          </p:nvPr>
        </p:nvSpPr>
        <p:spPr/>
        <p:txBody>
          <a:bodyPr/>
          <a:lstStyle/>
          <a:p>
            <a:fld id="{D8B0B3AC-44A8-D142-AAF6-9A453466E1A4}" type="slidenum">
              <a:rPr lang="en-VN" smtClean="0"/>
              <a:pPr/>
              <a:t>19</a:t>
            </a:fld>
            <a:endParaRPr lang="en-VN" dirty="0"/>
          </a:p>
        </p:txBody>
      </p:sp>
      <p:sp>
        <p:nvSpPr>
          <p:cNvPr id="6" name="Date Placeholder 5">
            <a:extLst>
              <a:ext uri="{FF2B5EF4-FFF2-40B4-BE49-F238E27FC236}">
                <a16:creationId xmlns:a16="http://schemas.microsoft.com/office/drawing/2014/main" id="{406C444C-080A-5CFF-834A-EB146C7FFB95}"/>
              </a:ext>
            </a:extLst>
          </p:cNvPr>
          <p:cNvSpPr>
            <a:spLocks noGrp="1"/>
          </p:cNvSpPr>
          <p:nvPr>
            <p:ph type="dt" sz="half" idx="13"/>
          </p:nvPr>
        </p:nvSpPr>
        <p:spPr/>
        <p:txBody>
          <a:bodyPr/>
          <a:lstStyle/>
          <a:p>
            <a:fld id="{46CDDB1B-AAE9-1649-A755-11FADEB7E97E}" type="datetime4">
              <a:rPr lang="en-US" smtClean="0"/>
              <a:pPr/>
              <a:t>April 21, 2024</a:t>
            </a:fld>
            <a:endParaRPr lang="en-US" dirty="0"/>
          </a:p>
        </p:txBody>
      </p:sp>
      <p:graphicFrame>
        <p:nvGraphicFramePr>
          <p:cNvPr id="7" name="Table 6">
            <a:extLst>
              <a:ext uri="{FF2B5EF4-FFF2-40B4-BE49-F238E27FC236}">
                <a16:creationId xmlns:a16="http://schemas.microsoft.com/office/drawing/2014/main" id="{FE857146-7670-E924-BA6E-9F63E2CF4EAF}"/>
              </a:ext>
            </a:extLst>
          </p:cNvPr>
          <p:cNvGraphicFramePr>
            <a:graphicFrameLocks noGrp="1"/>
          </p:cNvGraphicFramePr>
          <p:nvPr>
            <p:extLst>
              <p:ext uri="{D42A27DB-BD31-4B8C-83A1-F6EECF244321}">
                <p14:modId xmlns:p14="http://schemas.microsoft.com/office/powerpoint/2010/main" val="2394412132"/>
              </p:ext>
            </p:extLst>
          </p:nvPr>
        </p:nvGraphicFramePr>
        <p:xfrm>
          <a:off x="730348" y="2481919"/>
          <a:ext cx="4286257" cy="2606040"/>
        </p:xfrm>
        <a:graphic>
          <a:graphicData uri="http://schemas.openxmlformats.org/drawingml/2006/table">
            <a:tbl>
              <a:tblPr firstRow="1" bandRow="1">
                <a:tableStyleId>{5940675A-B579-460E-94D1-54222C63F5DA}</a:tableStyleId>
              </a:tblPr>
              <a:tblGrid>
                <a:gridCol w="1693288">
                  <a:extLst>
                    <a:ext uri="{9D8B030D-6E8A-4147-A177-3AD203B41FA5}">
                      <a16:colId xmlns:a16="http://schemas.microsoft.com/office/drawing/2014/main" val="2104779220"/>
                    </a:ext>
                  </a:extLst>
                </a:gridCol>
                <a:gridCol w="2592969">
                  <a:extLst>
                    <a:ext uri="{9D8B030D-6E8A-4147-A177-3AD203B41FA5}">
                      <a16:colId xmlns:a16="http://schemas.microsoft.com/office/drawing/2014/main" val="1767099797"/>
                    </a:ext>
                  </a:extLst>
                </a:gridCol>
              </a:tblGrid>
              <a:tr h="434340">
                <a:tc>
                  <a:txBody>
                    <a:bodyPr/>
                    <a:lstStyle/>
                    <a:p>
                      <a:pPr algn="ctr"/>
                      <a:r>
                        <a:rPr lang="en-US" sz="2400" dirty="0">
                          <a:latin typeface="Times New Roman" panose="02020603050405020304" pitchFamily="18" charset="0"/>
                          <a:cs typeface="Times New Roman" panose="02020603050405020304" pitchFamily="18" charset="0"/>
                        </a:rPr>
                        <a:t>…</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latin typeface="Times New Roman" panose="02020603050405020304" pitchFamily="18" charset="0"/>
                          <a:cs typeface="Times New Roman" panose="02020603050405020304" pitchFamily="18" charset="0"/>
                        </a:rPr>
                        <a:t>…</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1080934"/>
                  </a:ext>
                </a:extLst>
              </a:tr>
              <a:tr h="434340">
                <a:tc>
                  <a:txBody>
                    <a:bodyPr/>
                    <a:lstStyle/>
                    <a:p>
                      <a:pPr algn="ctr"/>
                      <a:r>
                        <a:rPr lang="en-US" sz="2400" dirty="0">
                          <a:latin typeface="Times New Roman" panose="02020603050405020304" pitchFamily="18" charset="0"/>
                          <a:cs typeface="Times New Roman" panose="02020603050405020304" pitchFamily="18" charset="0"/>
                        </a:rPr>
                        <a:t>$t0</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a:latin typeface="Times New Roman" panose="02020603050405020304" pitchFamily="18" charset="0"/>
                          <a:cs typeface="Times New Roman" panose="02020603050405020304" pitchFamily="18" charset="0"/>
                        </a:rPr>
                        <a:t>0x00000008</a:t>
                      </a:r>
                      <a:endParaRPr lang="en-US" sz="240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3117984"/>
                  </a:ext>
                </a:extLst>
              </a:tr>
              <a:tr h="434340">
                <a:tc>
                  <a:txBody>
                    <a:bodyPr/>
                    <a:lstStyle/>
                    <a:p>
                      <a:pPr algn="ctr"/>
                      <a:r>
                        <a:rPr lang="en-US" sz="2400" dirty="0">
                          <a:latin typeface="Times New Roman" panose="02020603050405020304" pitchFamily="18" charset="0"/>
                          <a:cs typeface="Times New Roman" panose="02020603050405020304" pitchFamily="18" charset="0"/>
                        </a:rPr>
                        <a:t>….</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latin typeface="Times New Roman" panose="02020603050405020304" pitchFamily="18" charset="0"/>
                          <a:cs typeface="Times New Roman" panose="02020603050405020304" pitchFamily="18" charset="0"/>
                        </a:rPr>
                        <a:t>…</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47873999"/>
                  </a:ext>
                </a:extLst>
              </a:tr>
              <a:tr h="434340">
                <a:tc>
                  <a:txBody>
                    <a:bodyPr/>
                    <a:lstStyle/>
                    <a:p>
                      <a:pPr algn="ctr"/>
                      <a:r>
                        <a:rPr lang="en-US" sz="2400" dirty="0">
                          <a:latin typeface="Times New Roman" panose="02020603050405020304" pitchFamily="18" charset="0"/>
                          <a:cs typeface="Times New Roman" panose="02020603050405020304" pitchFamily="18" charset="0"/>
                        </a:rPr>
                        <a:t>$s1</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a:latin typeface="Times New Roman" panose="02020603050405020304" pitchFamily="18" charset="0"/>
                          <a:cs typeface="Times New Roman" panose="02020603050405020304" pitchFamily="18" charset="0"/>
                        </a:rPr>
                        <a:t>0x00001993</a:t>
                      </a:r>
                      <a:endParaRPr lang="en-US" sz="240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28760704"/>
                  </a:ext>
                </a:extLst>
              </a:tr>
              <a:tr h="434340">
                <a:tc>
                  <a:txBody>
                    <a:bodyPr/>
                    <a:lstStyle/>
                    <a:p>
                      <a:pPr algn="ctr"/>
                      <a:r>
                        <a:rPr lang="en-US" sz="2400" dirty="0">
                          <a:latin typeface="Times New Roman" panose="02020603050405020304" pitchFamily="18" charset="0"/>
                          <a:cs typeface="Times New Roman" panose="02020603050405020304" pitchFamily="18" charset="0"/>
                        </a:rPr>
                        <a:t>$s2</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a:latin typeface="Times New Roman" panose="02020603050405020304" pitchFamily="18" charset="0"/>
                          <a:cs typeface="Times New Roman" panose="02020603050405020304" pitchFamily="18" charset="0"/>
                        </a:rPr>
                        <a:t>0x00002021</a:t>
                      </a:r>
                      <a:endParaRPr lang="en-US" sz="240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43278351"/>
                  </a:ext>
                </a:extLst>
              </a:tr>
              <a:tr h="434340">
                <a:tc>
                  <a:txBody>
                    <a:bodyPr/>
                    <a:lstStyle/>
                    <a:p>
                      <a:pPr algn="ctr"/>
                      <a:r>
                        <a:rPr lang="en-US" sz="2400" dirty="0">
                          <a:latin typeface="Times New Roman" panose="02020603050405020304" pitchFamily="18" charset="0"/>
                          <a:cs typeface="Times New Roman" panose="02020603050405020304" pitchFamily="18" charset="0"/>
                        </a:rPr>
                        <a:t>…</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en-US" sz="240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6466771"/>
                  </a:ext>
                </a:extLst>
              </a:tr>
            </a:tbl>
          </a:graphicData>
        </a:graphic>
      </p:graphicFrame>
      <p:sp>
        <p:nvSpPr>
          <p:cNvPr id="8" name="TextBox 7">
            <a:extLst>
              <a:ext uri="{FF2B5EF4-FFF2-40B4-BE49-F238E27FC236}">
                <a16:creationId xmlns:a16="http://schemas.microsoft.com/office/drawing/2014/main" id="{D8152BE4-D1D0-56F1-17B4-FC93F96A93DB}"/>
              </a:ext>
            </a:extLst>
          </p:cNvPr>
          <p:cNvSpPr txBox="1"/>
          <p:nvPr/>
        </p:nvSpPr>
        <p:spPr>
          <a:xfrm>
            <a:off x="2618501" y="1935815"/>
            <a:ext cx="2817202" cy="461665"/>
          </a:xfrm>
          <a:prstGeom prst="rect">
            <a:avLst/>
          </a:prstGeom>
          <a:noFill/>
        </p:spPr>
        <p:txBody>
          <a:bodyPr wrap="square">
            <a:spAutoFit/>
          </a:bodyPr>
          <a:lstStyle/>
          <a:p>
            <a:pPr algn="ctr"/>
            <a:r>
              <a:rPr lang="en-US" sz="2400" dirty="0" err="1">
                <a:latin typeface="Times New Roman" panose="02020603050405020304" pitchFamily="18" charset="0"/>
                <a:cs typeface="Times New Roman" panose="02020603050405020304" pitchFamily="18" charset="0"/>
              </a:rPr>
              <a:t>Tập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thanh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ghi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trước</a:t>
            </a:r>
            <a:r>
              <a:rPr lang="en-US" sz="2400" dirty="0">
                <a:latin typeface="Times New Roman" panose="02020603050405020304" pitchFamily="18" charset="0"/>
                <a:cs typeface="Times New Roman" panose="02020603050405020304" pitchFamily="18" charset="0"/>
              </a:rPr>
              <a:t>)</a:t>
            </a:r>
          </a:p>
        </p:txBody>
      </p:sp>
      <p:sp>
        <p:nvSpPr>
          <p:cNvPr id="9" name="TextBox 8">
            <a:extLst>
              <a:ext uri="{FF2B5EF4-FFF2-40B4-BE49-F238E27FC236}">
                <a16:creationId xmlns:a16="http://schemas.microsoft.com/office/drawing/2014/main" id="{93C56EDA-C41E-A5E7-9DF9-28C237917138}"/>
              </a:ext>
            </a:extLst>
          </p:cNvPr>
          <p:cNvSpPr txBox="1"/>
          <p:nvPr/>
        </p:nvSpPr>
        <p:spPr>
          <a:xfrm>
            <a:off x="5761202" y="3379763"/>
            <a:ext cx="2287099" cy="461665"/>
          </a:xfrm>
          <a:prstGeom prst="rect">
            <a:avLst/>
          </a:prstGeom>
          <a:noFill/>
        </p:spPr>
        <p:txBody>
          <a:bodyPr wrap="square">
            <a:spAutoFit/>
          </a:bodyPr>
          <a:lstStyle/>
          <a:p>
            <a:r>
              <a:rPr lang="en-US" sz="2400" dirty="0">
                <a:solidFill>
                  <a:srgbClr val="FF0000"/>
                </a:solidFill>
                <a:latin typeface="Times New Roman" panose="02020603050405020304" pitchFamily="18" charset="0"/>
                <a:cs typeface="Times New Roman" panose="02020603050405020304" pitchFamily="18" charset="0"/>
              </a:rPr>
              <a:t>add</a:t>
            </a:r>
            <a:r>
              <a:rPr lang="en-US" sz="2400" dirty="0">
                <a:latin typeface="Times New Roman" panose="02020603050405020304" pitchFamily="18" charset="0"/>
                <a:cs typeface="Times New Roman" panose="02020603050405020304" pitchFamily="18" charset="0"/>
              </a:rPr>
              <a:t> </a:t>
            </a:r>
            <a:r>
              <a:rPr lang="en-US" sz="2400" dirty="0">
                <a:solidFill>
                  <a:srgbClr val="7030A0"/>
                </a:solidFill>
                <a:latin typeface="Times New Roman" panose="02020603050405020304" pitchFamily="18" charset="0"/>
                <a:cs typeface="Times New Roman" panose="02020603050405020304" pitchFamily="18" charset="0"/>
              </a:rPr>
              <a:t>$t0</a:t>
            </a:r>
            <a:r>
              <a:rPr lang="en-US" sz="2400" dirty="0">
                <a:latin typeface="Times New Roman" panose="02020603050405020304" pitchFamily="18" charset="0"/>
                <a:cs typeface="Times New Roman" panose="02020603050405020304" pitchFamily="18" charset="0"/>
              </a:rPr>
              <a:t>, </a:t>
            </a:r>
            <a:r>
              <a:rPr lang="en-US" sz="2400" dirty="0">
                <a:solidFill>
                  <a:srgbClr val="00B050"/>
                </a:solidFill>
                <a:latin typeface="Times New Roman" panose="02020603050405020304" pitchFamily="18" charset="0"/>
                <a:cs typeface="Times New Roman" panose="02020603050405020304" pitchFamily="18" charset="0"/>
              </a:rPr>
              <a:t>$s1</a:t>
            </a:r>
            <a:r>
              <a:rPr lang="en-US" sz="2400" dirty="0">
                <a:latin typeface="Times New Roman" panose="02020603050405020304" pitchFamily="18" charset="0"/>
                <a:cs typeface="Times New Roman" panose="02020603050405020304" pitchFamily="18" charset="0"/>
              </a:rPr>
              <a:t>, </a:t>
            </a:r>
            <a:r>
              <a:rPr lang="en-US" sz="2400" dirty="0">
                <a:solidFill>
                  <a:srgbClr val="FFC000"/>
                </a:solidFill>
                <a:latin typeface="Times New Roman" panose="02020603050405020304" pitchFamily="18" charset="0"/>
                <a:cs typeface="Times New Roman" panose="02020603050405020304" pitchFamily="18" charset="0"/>
              </a:rPr>
              <a:t>$s2</a:t>
            </a:r>
            <a:endParaRPr lang="en-US" sz="2400" dirty="0">
              <a:latin typeface="Times New Roman" panose="02020603050405020304" pitchFamily="18" charset="0"/>
              <a:cs typeface="Times New Roman" panose="02020603050405020304" pitchFamily="18" charset="0"/>
            </a:endParaRPr>
          </a:p>
        </p:txBody>
      </p:sp>
      <p:graphicFrame>
        <p:nvGraphicFramePr>
          <p:cNvPr id="10" name="Table 9">
            <a:extLst>
              <a:ext uri="{FF2B5EF4-FFF2-40B4-BE49-F238E27FC236}">
                <a16:creationId xmlns:a16="http://schemas.microsoft.com/office/drawing/2014/main" id="{E6FC07B1-3411-4C9E-3A88-AF798E8896C1}"/>
              </a:ext>
            </a:extLst>
          </p:cNvPr>
          <p:cNvGraphicFramePr>
            <a:graphicFrameLocks noGrp="1"/>
          </p:cNvGraphicFramePr>
          <p:nvPr>
            <p:extLst>
              <p:ext uri="{D42A27DB-BD31-4B8C-83A1-F6EECF244321}">
                <p14:modId xmlns:p14="http://schemas.microsoft.com/office/powerpoint/2010/main" val="2756855291"/>
              </p:ext>
            </p:extLst>
          </p:nvPr>
        </p:nvGraphicFramePr>
        <p:xfrm>
          <a:off x="7818969" y="2459935"/>
          <a:ext cx="3509039" cy="2606040"/>
        </p:xfrm>
        <a:graphic>
          <a:graphicData uri="http://schemas.openxmlformats.org/drawingml/2006/table">
            <a:tbl>
              <a:tblPr firstRow="1" bandRow="1">
                <a:tableStyleId>{5940675A-B579-460E-94D1-54222C63F5DA}</a:tableStyleId>
              </a:tblPr>
              <a:tblGrid>
                <a:gridCol w="1000302">
                  <a:extLst>
                    <a:ext uri="{9D8B030D-6E8A-4147-A177-3AD203B41FA5}">
                      <a16:colId xmlns:a16="http://schemas.microsoft.com/office/drawing/2014/main" val="2104779220"/>
                    </a:ext>
                  </a:extLst>
                </a:gridCol>
                <a:gridCol w="2508737">
                  <a:extLst>
                    <a:ext uri="{9D8B030D-6E8A-4147-A177-3AD203B41FA5}">
                      <a16:colId xmlns:a16="http://schemas.microsoft.com/office/drawing/2014/main" val="1767099797"/>
                    </a:ext>
                  </a:extLst>
                </a:gridCol>
              </a:tblGrid>
              <a:tr h="434340">
                <a:tc>
                  <a:txBody>
                    <a:bodyPr/>
                    <a:lstStyle/>
                    <a:p>
                      <a:pPr algn="ctr"/>
                      <a:r>
                        <a:rPr lang="en-US" sz="2400" dirty="0">
                          <a:latin typeface="Times New Roman" panose="02020603050405020304" pitchFamily="18" charset="0"/>
                          <a:cs typeface="Times New Roman" panose="02020603050405020304" pitchFamily="18" charset="0"/>
                        </a:rPr>
                        <a:t>…</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latin typeface="Times New Roman" panose="02020603050405020304" pitchFamily="18" charset="0"/>
                          <a:cs typeface="Times New Roman" panose="02020603050405020304" pitchFamily="18" charset="0"/>
                        </a:rPr>
                        <a:t>…</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1080934"/>
                  </a:ext>
                </a:extLst>
              </a:tr>
              <a:tr h="434340">
                <a:tc>
                  <a:txBody>
                    <a:bodyPr/>
                    <a:lstStyle/>
                    <a:p>
                      <a:pPr algn="ctr"/>
                      <a:r>
                        <a:rPr lang="en-US" sz="2400" dirty="0">
                          <a:latin typeface="Times New Roman" panose="02020603050405020304" pitchFamily="18" charset="0"/>
                          <a:cs typeface="Times New Roman" panose="02020603050405020304" pitchFamily="18" charset="0"/>
                        </a:rPr>
                        <a:t>$t0</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0x08</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3117984"/>
                  </a:ext>
                </a:extLst>
              </a:tr>
              <a:tr h="434340">
                <a:tc>
                  <a:txBody>
                    <a:bodyPr/>
                    <a:lstStyle/>
                    <a:p>
                      <a:pPr algn="ctr"/>
                      <a:r>
                        <a:rPr lang="en-US" sz="2400" dirty="0">
                          <a:latin typeface="Times New Roman" panose="02020603050405020304" pitchFamily="18" charset="0"/>
                          <a:cs typeface="Times New Roman" panose="02020603050405020304" pitchFamily="18" charset="0"/>
                        </a:rPr>
                        <a:t>….</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latin typeface="Times New Roman" panose="02020603050405020304" pitchFamily="18" charset="0"/>
                          <a:cs typeface="Times New Roman" panose="02020603050405020304" pitchFamily="18" charset="0"/>
                        </a:rPr>
                        <a:t>…</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47873999"/>
                  </a:ext>
                </a:extLst>
              </a:tr>
              <a:tr h="434340">
                <a:tc>
                  <a:txBody>
                    <a:bodyPr/>
                    <a:lstStyle/>
                    <a:p>
                      <a:pPr algn="ctr"/>
                      <a:r>
                        <a:rPr lang="en-US" sz="2400" dirty="0">
                          <a:latin typeface="Times New Roman" panose="02020603050405020304" pitchFamily="18" charset="0"/>
                          <a:cs typeface="Times New Roman" panose="02020603050405020304" pitchFamily="18" charset="0"/>
                        </a:rPr>
                        <a:t>$s1</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a:latin typeface="Times New Roman" panose="02020603050405020304" pitchFamily="18" charset="0"/>
                          <a:cs typeface="Times New Roman" panose="02020603050405020304" pitchFamily="18" charset="0"/>
                        </a:rPr>
                        <a:t>0x00001993</a:t>
                      </a:r>
                      <a:endParaRPr lang="en-US" sz="240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28760704"/>
                  </a:ext>
                </a:extLst>
              </a:tr>
              <a:tr h="434340">
                <a:tc>
                  <a:txBody>
                    <a:bodyPr/>
                    <a:lstStyle/>
                    <a:p>
                      <a:pPr algn="ctr"/>
                      <a:r>
                        <a:rPr lang="en-US" sz="2400" dirty="0">
                          <a:latin typeface="Times New Roman" panose="02020603050405020304" pitchFamily="18" charset="0"/>
                          <a:cs typeface="Times New Roman" panose="02020603050405020304" pitchFamily="18" charset="0"/>
                        </a:rPr>
                        <a:t>$s2</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a:latin typeface="Times New Roman" panose="02020603050405020304" pitchFamily="18" charset="0"/>
                          <a:cs typeface="Times New Roman" panose="02020603050405020304" pitchFamily="18" charset="0"/>
                        </a:rPr>
                        <a:t>0x00002021</a:t>
                      </a:r>
                      <a:endParaRPr lang="en-US" sz="240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43278351"/>
                  </a:ext>
                </a:extLst>
              </a:tr>
              <a:tr h="434340">
                <a:tc>
                  <a:txBody>
                    <a:bodyPr/>
                    <a:lstStyle/>
                    <a:p>
                      <a:pPr algn="ctr"/>
                      <a:r>
                        <a:rPr lang="en-US" sz="2400" dirty="0">
                          <a:latin typeface="Times New Roman" panose="02020603050405020304" pitchFamily="18" charset="0"/>
                          <a:cs typeface="Times New Roman" panose="02020603050405020304" pitchFamily="18" charset="0"/>
                        </a:rPr>
                        <a:t>…</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en-US" sz="240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6466771"/>
                  </a:ext>
                </a:extLst>
              </a:tr>
            </a:tbl>
          </a:graphicData>
        </a:graphic>
      </p:graphicFrame>
      <p:sp>
        <p:nvSpPr>
          <p:cNvPr id="11" name="TextBox 10">
            <a:extLst>
              <a:ext uri="{FF2B5EF4-FFF2-40B4-BE49-F238E27FC236}">
                <a16:creationId xmlns:a16="http://schemas.microsoft.com/office/drawing/2014/main" id="{62D1C129-B1BD-CC58-9FB8-1EE2048A5704}"/>
              </a:ext>
            </a:extLst>
          </p:cNvPr>
          <p:cNvSpPr txBox="1"/>
          <p:nvPr/>
        </p:nvSpPr>
        <p:spPr>
          <a:xfrm>
            <a:off x="8353289" y="1913831"/>
            <a:ext cx="2817202" cy="461665"/>
          </a:xfrm>
          <a:prstGeom prst="rect">
            <a:avLst/>
          </a:prstGeom>
          <a:noFill/>
        </p:spPr>
        <p:txBody>
          <a:bodyPr wrap="square">
            <a:spAutoFit/>
          </a:bodyPr>
          <a:lstStyle/>
          <a:p>
            <a:pPr algn="ctr"/>
            <a:r>
              <a:rPr lang="en-US" sz="2400" dirty="0" err="1">
                <a:latin typeface="Times New Roman" panose="02020603050405020304" pitchFamily="18" charset="0"/>
                <a:cs typeface="Times New Roman" panose="02020603050405020304" pitchFamily="18" charset="0"/>
              </a:rPr>
              <a:t>Tập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thanh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ghi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sau</a:t>
            </a:r>
            <a:r>
              <a:rPr lang="en-US" sz="2400" dirty="0">
                <a:latin typeface="Times New Roman" panose="02020603050405020304" pitchFamily="18" charset="0"/>
                <a:cs typeface="Times New Roman" panose="02020603050405020304" pitchFamily="18" charset="0"/>
              </a:rPr>
              <a:t>)</a:t>
            </a:r>
          </a:p>
        </p:txBody>
      </p:sp>
      <p:cxnSp>
        <p:nvCxnSpPr>
          <p:cNvPr id="12" name="Straight Arrow Connector 11">
            <a:extLst>
              <a:ext uri="{FF2B5EF4-FFF2-40B4-BE49-F238E27FC236}">
                <a16:creationId xmlns:a16="http://schemas.microsoft.com/office/drawing/2014/main" id="{72D733AE-E2E2-C38B-3011-EE9F61B408BA}"/>
              </a:ext>
            </a:extLst>
          </p:cNvPr>
          <p:cNvCxnSpPr>
            <a:endCxn id="9" idx="2"/>
          </p:cNvCxnSpPr>
          <p:nvPr/>
        </p:nvCxnSpPr>
        <p:spPr>
          <a:xfrm flipV="1">
            <a:off x="5016604" y="3841428"/>
            <a:ext cx="1888148" cy="187684"/>
          </a:xfrm>
          <a:prstGeom prst="straightConnector1">
            <a:avLst/>
          </a:prstGeom>
          <a:ln>
            <a:solidFill>
              <a:srgbClr val="00B05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3D8CB714-DB84-B714-6CEF-E418FF524341}"/>
              </a:ext>
            </a:extLst>
          </p:cNvPr>
          <p:cNvCxnSpPr>
            <a:cxnSpLocks/>
          </p:cNvCxnSpPr>
          <p:nvPr/>
        </p:nvCxnSpPr>
        <p:spPr>
          <a:xfrm flipV="1">
            <a:off x="5016605" y="3818345"/>
            <a:ext cx="2529253" cy="585400"/>
          </a:xfrm>
          <a:prstGeom prst="straightConnector1">
            <a:avLst/>
          </a:prstGeom>
          <a:ln>
            <a:solidFill>
              <a:srgbClr val="FFC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4" name="Lightning Bolt 13">
            <a:extLst>
              <a:ext uri="{FF2B5EF4-FFF2-40B4-BE49-F238E27FC236}">
                <a16:creationId xmlns:a16="http://schemas.microsoft.com/office/drawing/2014/main" id="{EBE060B7-A3EE-0F19-2CFD-4E75B3DC87B5}"/>
              </a:ext>
            </a:extLst>
          </p:cNvPr>
          <p:cNvSpPr/>
          <p:nvPr/>
        </p:nvSpPr>
        <p:spPr>
          <a:xfrm>
            <a:off x="5593965" y="2736642"/>
            <a:ext cx="348770" cy="643121"/>
          </a:xfrm>
          <a:prstGeom prst="lightningBol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15" name="Straight Arrow Connector 14">
            <a:extLst>
              <a:ext uri="{FF2B5EF4-FFF2-40B4-BE49-F238E27FC236}">
                <a16:creationId xmlns:a16="http://schemas.microsoft.com/office/drawing/2014/main" id="{B78E8018-E793-FC6E-449F-62AFF745A0DC}"/>
              </a:ext>
            </a:extLst>
          </p:cNvPr>
          <p:cNvCxnSpPr>
            <a:cxnSpLocks/>
          </p:cNvCxnSpPr>
          <p:nvPr/>
        </p:nvCxnSpPr>
        <p:spPr>
          <a:xfrm flipH="1">
            <a:off x="6675419" y="3142554"/>
            <a:ext cx="2069680" cy="332642"/>
          </a:xfrm>
          <a:prstGeom prst="straightConnector1">
            <a:avLst/>
          </a:prstGeom>
          <a:ln>
            <a:solidFill>
              <a:srgbClr val="7030A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3FCDCB41-9AD6-AE71-A33B-FDF2FF031FF9}"/>
              </a:ext>
            </a:extLst>
          </p:cNvPr>
          <p:cNvSpPr/>
          <p:nvPr/>
        </p:nvSpPr>
        <p:spPr>
          <a:xfrm>
            <a:off x="9037472" y="2875028"/>
            <a:ext cx="2290536" cy="428625"/>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bg1"/>
                </a:solidFill>
                <a:latin typeface="Times New Roman" panose="02020603050405020304" pitchFamily="18" charset="0"/>
                <a:cs typeface="Times New Roman" panose="02020603050405020304" pitchFamily="18" charset="0"/>
              </a:rPr>
              <a:t>0x000039B4</a:t>
            </a:r>
          </a:p>
        </p:txBody>
      </p:sp>
    </p:spTree>
    <p:extLst>
      <p:ext uri="{BB962C8B-B14F-4D97-AF65-F5344CB8AC3E}">
        <p14:creationId xmlns:p14="http://schemas.microsoft.com/office/powerpoint/2010/main" val="4143297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fill="hold"/>
                                        <p:tgtEl>
                                          <p:spTgt spid="13"/>
                                        </p:tgtEl>
                                        <p:attrNameLst>
                                          <p:attrName>ppt_x</p:attrName>
                                        </p:attrNameLst>
                                      </p:cBhvr>
                                      <p:tavLst>
                                        <p:tav tm="0">
                                          <p:val>
                                            <p:strVal val="#ppt_x"/>
                                          </p:val>
                                        </p:tav>
                                        <p:tav tm="100000">
                                          <p:val>
                                            <p:strVal val="#ppt_x"/>
                                          </p:val>
                                        </p:tav>
                                      </p:tavLst>
                                    </p:anim>
                                    <p:anim calcmode="lin" valueType="num">
                                      <p:cBhvr additive="base">
                                        <p:cTn id="14" dur="500" fill="hold"/>
                                        <p:tgtEl>
                                          <p:spTgt spid="13"/>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anim calcmode="lin" valueType="num">
                                      <p:cBhvr additive="base">
                                        <p:cTn id="17" dur="500" fill="hold"/>
                                        <p:tgtEl>
                                          <p:spTgt spid="12"/>
                                        </p:tgtEl>
                                        <p:attrNameLst>
                                          <p:attrName>ppt_x</p:attrName>
                                        </p:attrNameLst>
                                      </p:cBhvr>
                                      <p:tavLst>
                                        <p:tav tm="0">
                                          <p:val>
                                            <p:strVal val="#ppt_x"/>
                                          </p:val>
                                        </p:tav>
                                        <p:tav tm="100000">
                                          <p:val>
                                            <p:strVal val="#ppt_x"/>
                                          </p:val>
                                        </p:tav>
                                      </p:tavLst>
                                    </p:anim>
                                    <p:anim calcmode="lin" valueType="num">
                                      <p:cBhvr additive="base">
                                        <p:cTn id="1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anim calcmode="lin" valueType="num">
                                      <p:cBhvr additive="base">
                                        <p:cTn id="23" dur="500" fill="hold"/>
                                        <p:tgtEl>
                                          <p:spTgt spid="14"/>
                                        </p:tgtEl>
                                        <p:attrNameLst>
                                          <p:attrName>ppt_x</p:attrName>
                                        </p:attrNameLst>
                                      </p:cBhvr>
                                      <p:tavLst>
                                        <p:tav tm="0">
                                          <p:val>
                                            <p:strVal val="#ppt_x"/>
                                          </p:val>
                                        </p:tav>
                                        <p:tav tm="100000">
                                          <p:val>
                                            <p:strVal val="#ppt_x"/>
                                          </p:val>
                                        </p:tav>
                                      </p:tavLst>
                                    </p:anim>
                                    <p:anim calcmode="lin" valueType="num">
                                      <p:cBhvr additive="base">
                                        <p:cTn id="2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anim calcmode="lin" valueType="num">
                                      <p:cBhvr additive="base">
                                        <p:cTn id="29" dur="500" fill="hold"/>
                                        <p:tgtEl>
                                          <p:spTgt spid="15"/>
                                        </p:tgtEl>
                                        <p:attrNameLst>
                                          <p:attrName>ppt_x</p:attrName>
                                        </p:attrNameLst>
                                      </p:cBhvr>
                                      <p:tavLst>
                                        <p:tav tm="0">
                                          <p:val>
                                            <p:strVal val="#ppt_x"/>
                                          </p:val>
                                        </p:tav>
                                        <p:tav tm="100000">
                                          <p:val>
                                            <p:strVal val="#ppt_x"/>
                                          </p:val>
                                        </p:tav>
                                      </p:tavLst>
                                    </p:anim>
                                    <p:anim calcmode="lin" valueType="num">
                                      <p:cBhvr additive="base">
                                        <p:cTn id="30"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4" grpId="0" animBg="1"/>
      <p:bldP spid="1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4B50BE-4634-7D27-B403-CDE2FBD25BA6}"/>
              </a:ext>
            </a:extLst>
          </p:cNvPr>
          <p:cNvSpPr>
            <a:spLocks noGrp="1"/>
          </p:cNvSpPr>
          <p:nvPr>
            <p:ph type="title"/>
          </p:nvPr>
        </p:nvSpPr>
        <p:spPr/>
        <p:txBody>
          <a:bodyPr/>
          <a:lstStyle/>
          <a:p>
            <a:r>
              <a:rPr lang="en-US" sz="4000"/>
              <a:t>Nhóm lệnh số học và luận lý - andi </a:t>
            </a:r>
            <a:endParaRPr lang="en-US"/>
          </a:p>
        </p:txBody>
      </p:sp>
      <p:sp>
        <p:nvSpPr>
          <p:cNvPr id="4" name="Footer Placeholder 3">
            <a:extLst>
              <a:ext uri="{FF2B5EF4-FFF2-40B4-BE49-F238E27FC236}">
                <a16:creationId xmlns:a16="http://schemas.microsoft.com/office/drawing/2014/main" id="{CE20075A-C201-ABB3-CD7E-B0B618E2FBD6}"/>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Slide Number Placeholder 4">
            <a:extLst>
              <a:ext uri="{FF2B5EF4-FFF2-40B4-BE49-F238E27FC236}">
                <a16:creationId xmlns:a16="http://schemas.microsoft.com/office/drawing/2014/main" id="{E50D663F-5C1C-BF1A-698E-D37D59599E3D}"/>
              </a:ext>
            </a:extLst>
          </p:cNvPr>
          <p:cNvSpPr>
            <a:spLocks noGrp="1"/>
          </p:cNvSpPr>
          <p:nvPr>
            <p:ph type="sldNum" sz="quarter" idx="12"/>
          </p:nvPr>
        </p:nvSpPr>
        <p:spPr/>
        <p:txBody>
          <a:bodyPr/>
          <a:lstStyle/>
          <a:p>
            <a:fld id="{D8B0B3AC-44A8-D142-AAF6-9A453466E1A4}" type="slidenum">
              <a:rPr lang="en-VN" smtClean="0"/>
              <a:pPr/>
              <a:t>20</a:t>
            </a:fld>
            <a:endParaRPr lang="en-VN" dirty="0"/>
          </a:p>
        </p:txBody>
      </p:sp>
      <p:sp>
        <p:nvSpPr>
          <p:cNvPr id="6" name="Date Placeholder 5">
            <a:extLst>
              <a:ext uri="{FF2B5EF4-FFF2-40B4-BE49-F238E27FC236}">
                <a16:creationId xmlns:a16="http://schemas.microsoft.com/office/drawing/2014/main" id="{406C444C-080A-5CFF-834A-EB146C7FFB95}"/>
              </a:ext>
            </a:extLst>
          </p:cNvPr>
          <p:cNvSpPr>
            <a:spLocks noGrp="1"/>
          </p:cNvSpPr>
          <p:nvPr>
            <p:ph type="dt" sz="half" idx="13"/>
          </p:nvPr>
        </p:nvSpPr>
        <p:spPr/>
        <p:txBody>
          <a:bodyPr/>
          <a:lstStyle/>
          <a:p>
            <a:fld id="{46CDDB1B-AAE9-1649-A755-11FADEB7E97E}" type="datetime4">
              <a:rPr lang="en-US" smtClean="0"/>
              <a:pPr/>
              <a:t>April 21, 2024</a:t>
            </a:fld>
            <a:endParaRPr lang="en-US" dirty="0"/>
          </a:p>
        </p:txBody>
      </p:sp>
      <p:sp>
        <p:nvSpPr>
          <p:cNvPr id="3" name="Rectangle 2">
            <a:extLst>
              <a:ext uri="{FF2B5EF4-FFF2-40B4-BE49-F238E27FC236}">
                <a16:creationId xmlns:a16="http://schemas.microsoft.com/office/drawing/2014/main" id="{8F8C8EEB-447B-98D3-ABA4-4D5C849642EB}"/>
              </a:ext>
            </a:extLst>
          </p:cNvPr>
          <p:cNvSpPr/>
          <p:nvPr/>
        </p:nvSpPr>
        <p:spPr>
          <a:xfrm>
            <a:off x="6495414" y="3282973"/>
            <a:ext cx="539992" cy="585401"/>
          </a:xfrm>
          <a:prstGeom prst="rect">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aphicFrame>
        <p:nvGraphicFramePr>
          <p:cNvPr id="17" name="Table 16">
            <a:extLst>
              <a:ext uri="{FF2B5EF4-FFF2-40B4-BE49-F238E27FC236}">
                <a16:creationId xmlns:a16="http://schemas.microsoft.com/office/drawing/2014/main" id="{2E7425ED-6441-75F2-CB25-49D153E90800}"/>
              </a:ext>
            </a:extLst>
          </p:cNvPr>
          <p:cNvGraphicFramePr>
            <a:graphicFrameLocks noGrp="1"/>
          </p:cNvGraphicFramePr>
          <p:nvPr>
            <p:extLst>
              <p:ext uri="{D42A27DB-BD31-4B8C-83A1-F6EECF244321}">
                <p14:modId xmlns:p14="http://schemas.microsoft.com/office/powerpoint/2010/main" val="4257826645"/>
              </p:ext>
            </p:extLst>
          </p:nvPr>
        </p:nvGraphicFramePr>
        <p:xfrm>
          <a:off x="1699208" y="2426690"/>
          <a:ext cx="2398103" cy="2606040"/>
        </p:xfrm>
        <a:graphic>
          <a:graphicData uri="http://schemas.openxmlformats.org/drawingml/2006/table">
            <a:tbl>
              <a:tblPr firstRow="1" bandRow="1">
                <a:tableStyleId>{5940675A-B579-460E-94D1-54222C63F5DA}</a:tableStyleId>
              </a:tblPr>
              <a:tblGrid>
                <a:gridCol w="947372">
                  <a:extLst>
                    <a:ext uri="{9D8B030D-6E8A-4147-A177-3AD203B41FA5}">
                      <a16:colId xmlns:a16="http://schemas.microsoft.com/office/drawing/2014/main" val="2104779220"/>
                    </a:ext>
                  </a:extLst>
                </a:gridCol>
                <a:gridCol w="1450731">
                  <a:extLst>
                    <a:ext uri="{9D8B030D-6E8A-4147-A177-3AD203B41FA5}">
                      <a16:colId xmlns:a16="http://schemas.microsoft.com/office/drawing/2014/main" val="1767099797"/>
                    </a:ext>
                  </a:extLst>
                </a:gridCol>
              </a:tblGrid>
              <a:tr h="434340">
                <a:tc>
                  <a:txBody>
                    <a:bodyPr/>
                    <a:lstStyle/>
                    <a:p>
                      <a:pPr algn="ctr"/>
                      <a:r>
                        <a:rPr lang="en-US" sz="2400" dirty="0">
                          <a:latin typeface="Times New Roman" panose="02020603050405020304" pitchFamily="18" charset="0"/>
                          <a:cs typeface="Times New Roman" panose="02020603050405020304" pitchFamily="18" charset="0"/>
                        </a:rPr>
                        <a:t>…</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latin typeface="Times New Roman" panose="02020603050405020304" pitchFamily="18" charset="0"/>
                          <a:cs typeface="Times New Roman" panose="02020603050405020304" pitchFamily="18" charset="0"/>
                        </a:rPr>
                        <a:t>…</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1080934"/>
                  </a:ext>
                </a:extLst>
              </a:tr>
              <a:tr h="434340">
                <a:tc>
                  <a:txBody>
                    <a:bodyPr/>
                    <a:lstStyle/>
                    <a:p>
                      <a:pPr algn="ctr"/>
                      <a:r>
                        <a:rPr lang="en-US" sz="2400" dirty="0">
                          <a:latin typeface="Times New Roman" panose="02020603050405020304" pitchFamily="18" charset="0"/>
                          <a:cs typeface="Times New Roman" panose="02020603050405020304" pitchFamily="18" charset="0"/>
                        </a:rPr>
                        <a:t>$t0</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0x08</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3117984"/>
                  </a:ext>
                </a:extLst>
              </a:tr>
              <a:tr h="434340">
                <a:tc>
                  <a:txBody>
                    <a:bodyPr/>
                    <a:lstStyle/>
                    <a:p>
                      <a:pPr algn="ctr"/>
                      <a:r>
                        <a:rPr lang="en-US" sz="2400" dirty="0">
                          <a:latin typeface="Times New Roman" panose="02020603050405020304" pitchFamily="18" charset="0"/>
                          <a:cs typeface="Times New Roman" panose="02020603050405020304" pitchFamily="18" charset="0"/>
                        </a:rPr>
                        <a:t>….</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latin typeface="Times New Roman" panose="02020603050405020304" pitchFamily="18" charset="0"/>
                          <a:cs typeface="Times New Roman" panose="02020603050405020304" pitchFamily="18" charset="0"/>
                        </a:rPr>
                        <a:t>…</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47873999"/>
                  </a:ext>
                </a:extLst>
              </a:tr>
              <a:tr h="434340">
                <a:tc>
                  <a:txBody>
                    <a:bodyPr/>
                    <a:lstStyle/>
                    <a:p>
                      <a:pPr algn="ctr"/>
                      <a:r>
                        <a:rPr lang="en-US" sz="2400" dirty="0">
                          <a:latin typeface="Times New Roman" panose="02020603050405020304" pitchFamily="18" charset="0"/>
                          <a:cs typeface="Times New Roman" panose="02020603050405020304" pitchFamily="18" charset="0"/>
                        </a:rPr>
                        <a:t>$s1</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latin typeface="Times New Roman" panose="02020603050405020304" pitchFamily="18" charset="0"/>
                          <a:cs typeface="Times New Roman" panose="02020603050405020304" pitchFamily="18" charset="0"/>
                        </a:rPr>
                        <a:t>0x1993</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28760704"/>
                  </a:ext>
                </a:extLst>
              </a:tr>
              <a:tr h="434340">
                <a:tc>
                  <a:txBody>
                    <a:bodyPr/>
                    <a:lstStyle/>
                    <a:p>
                      <a:pPr algn="ctr"/>
                      <a:r>
                        <a:rPr lang="en-US" sz="2400" dirty="0">
                          <a:latin typeface="Times New Roman" panose="02020603050405020304" pitchFamily="18" charset="0"/>
                          <a:cs typeface="Times New Roman" panose="02020603050405020304" pitchFamily="18" charset="0"/>
                        </a:rPr>
                        <a:t>$s2</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latin typeface="Times New Roman" panose="02020603050405020304" pitchFamily="18" charset="0"/>
                          <a:cs typeface="Times New Roman" panose="02020603050405020304" pitchFamily="18" charset="0"/>
                        </a:rPr>
                        <a:t>0x2021</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43278351"/>
                  </a:ext>
                </a:extLst>
              </a:tr>
              <a:tr h="434340">
                <a:tc>
                  <a:txBody>
                    <a:bodyPr/>
                    <a:lstStyle/>
                    <a:p>
                      <a:pPr algn="ctr"/>
                      <a:r>
                        <a:rPr lang="en-US" sz="2400" dirty="0">
                          <a:latin typeface="Times New Roman" panose="02020603050405020304" pitchFamily="18" charset="0"/>
                          <a:cs typeface="Times New Roman" panose="02020603050405020304" pitchFamily="18" charset="0"/>
                        </a:rPr>
                        <a:t>…</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en-US" sz="240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6466771"/>
                  </a:ext>
                </a:extLst>
              </a:tr>
            </a:tbl>
          </a:graphicData>
        </a:graphic>
      </p:graphicFrame>
      <p:sp>
        <p:nvSpPr>
          <p:cNvPr id="18" name="TextBox 17">
            <a:extLst>
              <a:ext uri="{FF2B5EF4-FFF2-40B4-BE49-F238E27FC236}">
                <a16:creationId xmlns:a16="http://schemas.microsoft.com/office/drawing/2014/main" id="{399DEA7D-1DA9-B726-B42A-1830DB48ABF1}"/>
              </a:ext>
            </a:extLst>
          </p:cNvPr>
          <p:cNvSpPr txBox="1"/>
          <p:nvPr/>
        </p:nvSpPr>
        <p:spPr>
          <a:xfrm>
            <a:off x="1699207" y="1880586"/>
            <a:ext cx="2817202" cy="461665"/>
          </a:xfrm>
          <a:prstGeom prst="rect">
            <a:avLst/>
          </a:prstGeom>
          <a:noFill/>
        </p:spPr>
        <p:txBody>
          <a:bodyPr wrap="square">
            <a:spAutoFit/>
          </a:bodyPr>
          <a:lstStyle/>
          <a:p>
            <a:pPr algn="ctr"/>
            <a:r>
              <a:rPr lang="en-US" sz="2400" dirty="0" err="1">
                <a:latin typeface="Times New Roman" panose="02020603050405020304" pitchFamily="18" charset="0"/>
                <a:cs typeface="Times New Roman" panose="02020603050405020304" pitchFamily="18" charset="0"/>
              </a:rPr>
              <a:t>Tập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thanh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ghi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trước</a:t>
            </a:r>
            <a:r>
              <a:rPr lang="en-US" sz="2400" dirty="0">
                <a:latin typeface="Times New Roman" panose="02020603050405020304" pitchFamily="18" charset="0"/>
                <a:cs typeface="Times New Roman" panose="02020603050405020304" pitchFamily="18" charset="0"/>
              </a:rPr>
              <a:t>)</a:t>
            </a:r>
          </a:p>
        </p:txBody>
      </p:sp>
      <p:sp>
        <p:nvSpPr>
          <p:cNvPr id="19" name="TextBox 18">
            <a:extLst>
              <a:ext uri="{FF2B5EF4-FFF2-40B4-BE49-F238E27FC236}">
                <a16:creationId xmlns:a16="http://schemas.microsoft.com/office/drawing/2014/main" id="{2B1E011E-6B18-C0CA-98D6-DE044EE7F7C8}"/>
              </a:ext>
            </a:extLst>
          </p:cNvPr>
          <p:cNvSpPr txBox="1"/>
          <p:nvPr/>
        </p:nvSpPr>
        <p:spPr>
          <a:xfrm>
            <a:off x="4841908" y="3324534"/>
            <a:ext cx="2287099" cy="461665"/>
          </a:xfrm>
          <a:prstGeom prst="rect">
            <a:avLst/>
          </a:prstGeom>
          <a:noFill/>
        </p:spPr>
        <p:txBody>
          <a:bodyPr wrap="square">
            <a:spAutoFit/>
          </a:bodyPr>
          <a:lstStyle/>
          <a:p>
            <a:r>
              <a:rPr lang="en-US" sz="2400" dirty="0" err="1">
                <a:solidFill>
                  <a:srgbClr val="FF0000"/>
                </a:solidFill>
                <a:latin typeface="Times New Roman" panose="02020603050405020304" pitchFamily="18" charset="0"/>
                <a:cs typeface="Times New Roman" panose="02020603050405020304" pitchFamily="18" charset="0"/>
              </a:rPr>
              <a:t>andi</a:t>
            </a:r>
            <a:r>
              <a:rPr lang="en-US" sz="2400" dirty="0">
                <a:latin typeface="Times New Roman" panose="02020603050405020304" pitchFamily="18" charset="0"/>
                <a:cs typeface="Times New Roman" panose="02020603050405020304" pitchFamily="18" charset="0"/>
              </a:rPr>
              <a:t> </a:t>
            </a:r>
            <a:r>
              <a:rPr lang="en-US" sz="2400" dirty="0">
                <a:solidFill>
                  <a:srgbClr val="7030A0"/>
                </a:solidFill>
                <a:latin typeface="Times New Roman" panose="02020603050405020304" pitchFamily="18" charset="0"/>
                <a:cs typeface="Times New Roman" panose="02020603050405020304" pitchFamily="18" charset="0"/>
              </a:rPr>
              <a:t>$t0</a:t>
            </a:r>
            <a:r>
              <a:rPr lang="en-US" sz="2400" dirty="0">
                <a:latin typeface="Times New Roman" panose="02020603050405020304" pitchFamily="18" charset="0"/>
                <a:cs typeface="Times New Roman" panose="02020603050405020304" pitchFamily="18" charset="0"/>
              </a:rPr>
              <a:t>, </a:t>
            </a:r>
            <a:r>
              <a:rPr lang="en-US" sz="2400" dirty="0">
                <a:solidFill>
                  <a:srgbClr val="FFC000"/>
                </a:solidFill>
                <a:latin typeface="Times New Roman" panose="02020603050405020304" pitchFamily="18" charset="0"/>
                <a:cs typeface="Times New Roman" panose="02020603050405020304" pitchFamily="18" charset="0"/>
              </a:rPr>
              <a:t>$s2</a:t>
            </a:r>
            <a:r>
              <a:rPr lang="en-US" sz="2400" dirty="0">
                <a:latin typeface="Times New Roman" panose="02020603050405020304" pitchFamily="18" charset="0"/>
                <a:cs typeface="Times New Roman" panose="02020603050405020304" pitchFamily="18" charset="0"/>
              </a:rPr>
              <a:t>, </a:t>
            </a:r>
            <a:r>
              <a:rPr lang="en-US" sz="2400" dirty="0">
                <a:solidFill>
                  <a:srgbClr val="00B050"/>
                </a:solidFill>
                <a:latin typeface="Times New Roman" panose="02020603050405020304" pitchFamily="18" charset="0"/>
                <a:cs typeface="Times New Roman" panose="02020603050405020304" pitchFamily="18" charset="0"/>
              </a:rPr>
              <a:t>-8</a:t>
            </a:r>
            <a:endParaRPr lang="en-US" sz="2400" dirty="0">
              <a:latin typeface="Times New Roman" panose="02020603050405020304" pitchFamily="18" charset="0"/>
              <a:cs typeface="Times New Roman" panose="02020603050405020304" pitchFamily="18" charset="0"/>
            </a:endParaRPr>
          </a:p>
        </p:txBody>
      </p:sp>
      <p:graphicFrame>
        <p:nvGraphicFramePr>
          <p:cNvPr id="20" name="Table 19">
            <a:extLst>
              <a:ext uri="{FF2B5EF4-FFF2-40B4-BE49-F238E27FC236}">
                <a16:creationId xmlns:a16="http://schemas.microsoft.com/office/drawing/2014/main" id="{F718FB29-56D5-416A-D216-BA446C8309AE}"/>
              </a:ext>
            </a:extLst>
          </p:cNvPr>
          <p:cNvGraphicFramePr>
            <a:graphicFrameLocks noGrp="1"/>
          </p:cNvGraphicFramePr>
          <p:nvPr>
            <p:extLst>
              <p:ext uri="{D42A27DB-BD31-4B8C-83A1-F6EECF244321}">
                <p14:modId xmlns:p14="http://schemas.microsoft.com/office/powerpoint/2010/main" val="208578116"/>
              </p:ext>
            </p:extLst>
          </p:nvPr>
        </p:nvGraphicFramePr>
        <p:xfrm>
          <a:off x="7552694" y="2404706"/>
          <a:ext cx="2398103" cy="2606040"/>
        </p:xfrm>
        <a:graphic>
          <a:graphicData uri="http://schemas.openxmlformats.org/drawingml/2006/table">
            <a:tbl>
              <a:tblPr firstRow="1" bandRow="1">
                <a:tableStyleId>{5940675A-B579-460E-94D1-54222C63F5DA}</a:tableStyleId>
              </a:tblPr>
              <a:tblGrid>
                <a:gridCol w="947372">
                  <a:extLst>
                    <a:ext uri="{9D8B030D-6E8A-4147-A177-3AD203B41FA5}">
                      <a16:colId xmlns:a16="http://schemas.microsoft.com/office/drawing/2014/main" val="2104779220"/>
                    </a:ext>
                  </a:extLst>
                </a:gridCol>
                <a:gridCol w="1450731">
                  <a:extLst>
                    <a:ext uri="{9D8B030D-6E8A-4147-A177-3AD203B41FA5}">
                      <a16:colId xmlns:a16="http://schemas.microsoft.com/office/drawing/2014/main" val="1767099797"/>
                    </a:ext>
                  </a:extLst>
                </a:gridCol>
              </a:tblGrid>
              <a:tr h="434340">
                <a:tc>
                  <a:txBody>
                    <a:bodyPr/>
                    <a:lstStyle/>
                    <a:p>
                      <a:pPr algn="ctr"/>
                      <a:r>
                        <a:rPr lang="en-US" sz="2400" dirty="0">
                          <a:latin typeface="Times New Roman" panose="02020603050405020304" pitchFamily="18" charset="0"/>
                          <a:cs typeface="Times New Roman" panose="02020603050405020304" pitchFamily="18" charset="0"/>
                        </a:rPr>
                        <a:t>…</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latin typeface="Times New Roman" panose="02020603050405020304" pitchFamily="18" charset="0"/>
                          <a:cs typeface="Times New Roman" panose="02020603050405020304" pitchFamily="18" charset="0"/>
                        </a:rPr>
                        <a:t>…</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1080934"/>
                  </a:ext>
                </a:extLst>
              </a:tr>
              <a:tr h="434340">
                <a:tc>
                  <a:txBody>
                    <a:bodyPr/>
                    <a:lstStyle/>
                    <a:p>
                      <a:pPr algn="ctr"/>
                      <a:r>
                        <a:rPr lang="en-US" sz="2400" dirty="0">
                          <a:latin typeface="Times New Roman" panose="02020603050405020304" pitchFamily="18" charset="0"/>
                          <a:cs typeface="Times New Roman" panose="02020603050405020304" pitchFamily="18" charset="0"/>
                        </a:rPr>
                        <a:t>$t0</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0x08</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3117984"/>
                  </a:ext>
                </a:extLst>
              </a:tr>
              <a:tr h="434340">
                <a:tc>
                  <a:txBody>
                    <a:bodyPr/>
                    <a:lstStyle/>
                    <a:p>
                      <a:pPr algn="ctr"/>
                      <a:r>
                        <a:rPr lang="en-US" sz="2400" dirty="0">
                          <a:latin typeface="Times New Roman" panose="02020603050405020304" pitchFamily="18" charset="0"/>
                          <a:cs typeface="Times New Roman" panose="02020603050405020304" pitchFamily="18" charset="0"/>
                        </a:rPr>
                        <a:t>….</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latin typeface="Times New Roman" panose="02020603050405020304" pitchFamily="18" charset="0"/>
                          <a:cs typeface="Times New Roman" panose="02020603050405020304" pitchFamily="18" charset="0"/>
                        </a:rPr>
                        <a:t>…</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47873999"/>
                  </a:ext>
                </a:extLst>
              </a:tr>
              <a:tr h="434340">
                <a:tc>
                  <a:txBody>
                    <a:bodyPr/>
                    <a:lstStyle/>
                    <a:p>
                      <a:pPr algn="ctr"/>
                      <a:r>
                        <a:rPr lang="en-US" sz="2400" dirty="0">
                          <a:latin typeface="Times New Roman" panose="02020603050405020304" pitchFamily="18" charset="0"/>
                          <a:cs typeface="Times New Roman" panose="02020603050405020304" pitchFamily="18" charset="0"/>
                        </a:rPr>
                        <a:t>$s1</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latin typeface="Times New Roman" panose="02020603050405020304" pitchFamily="18" charset="0"/>
                          <a:cs typeface="Times New Roman" panose="02020603050405020304" pitchFamily="18" charset="0"/>
                        </a:rPr>
                        <a:t>0xCAFE</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28760704"/>
                  </a:ext>
                </a:extLst>
              </a:tr>
              <a:tr h="434340">
                <a:tc>
                  <a:txBody>
                    <a:bodyPr/>
                    <a:lstStyle/>
                    <a:p>
                      <a:pPr algn="ctr"/>
                      <a:r>
                        <a:rPr lang="en-US" sz="2400" dirty="0">
                          <a:latin typeface="Times New Roman" panose="02020603050405020304" pitchFamily="18" charset="0"/>
                          <a:cs typeface="Times New Roman" panose="02020603050405020304" pitchFamily="18" charset="0"/>
                        </a:rPr>
                        <a:t>$s2</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latin typeface="Times New Roman" panose="02020603050405020304" pitchFamily="18" charset="0"/>
                          <a:cs typeface="Times New Roman" panose="02020603050405020304" pitchFamily="18" charset="0"/>
                        </a:rPr>
                        <a:t>0xCAFA</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43278351"/>
                  </a:ext>
                </a:extLst>
              </a:tr>
              <a:tr h="434340">
                <a:tc>
                  <a:txBody>
                    <a:bodyPr/>
                    <a:lstStyle/>
                    <a:p>
                      <a:pPr algn="ctr"/>
                      <a:r>
                        <a:rPr lang="en-US" sz="2400" dirty="0">
                          <a:latin typeface="Times New Roman" panose="02020603050405020304" pitchFamily="18" charset="0"/>
                          <a:cs typeface="Times New Roman" panose="02020603050405020304" pitchFamily="18" charset="0"/>
                        </a:rPr>
                        <a:t>…</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en-US" sz="240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6466771"/>
                  </a:ext>
                </a:extLst>
              </a:tr>
            </a:tbl>
          </a:graphicData>
        </a:graphic>
      </p:graphicFrame>
      <p:sp>
        <p:nvSpPr>
          <p:cNvPr id="21" name="TextBox 20">
            <a:extLst>
              <a:ext uri="{FF2B5EF4-FFF2-40B4-BE49-F238E27FC236}">
                <a16:creationId xmlns:a16="http://schemas.microsoft.com/office/drawing/2014/main" id="{B1A9D4C4-DADA-239D-F5B9-3BD3A5A0E51E}"/>
              </a:ext>
            </a:extLst>
          </p:cNvPr>
          <p:cNvSpPr txBox="1"/>
          <p:nvPr/>
        </p:nvSpPr>
        <p:spPr>
          <a:xfrm>
            <a:off x="7433995" y="1858602"/>
            <a:ext cx="2817202" cy="461665"/>
          </a:xfrm>
          <a:prstGeom prst="rect">
            <a:avLst/>
          </a:prstGeom>
          <a:noFill/>
        </p:spPr>
        <p:txBody>
          <a:bodyPr wrap="square">
            <a:spAutoFit/>
          </a:bodyPr>
          <a:lstStyle/>
          <a:p>
            <a:pPr algn="ctr"/>
            <a:r>
              <a:rPr lang="en-US" sz="2400" dirty="0" err="1">
                <a:latin typeface="Times New Roman" panose="02020603050405020304" pitchFamily="18" charset="0"/>
                <a:cs typeface="Times New Roman" panose="02020603050405020304" pitchFamily="18" charset="0"/>
              </a:rPr>
              <a:t>Tập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thanh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ghi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sau</a:t>
            </a:r>
            <a:r>
              <a:rPr lang="en-US" sz="2400" dirty="0">
                <a:latin typeface="Times New Roman" panose="02020603050405020304" pitchFamily="18" charset="0"/>
                <a:cs typeface="Times New Roman" panose="02020603050405020304" pitchFamily="18" charset="0"/>
              </a:rPr>
              <a:t>)</a:t>
            </a:r>
          </a:p>
        </p:txBody>
      </p:sp>
      <p:cxnSp>
        <p:nvCxnSpPr>
          <p:cNvPr id="22" name="Straight Arrow Connector 21">
            <a:extLst>
              <a:ext uri="{FF2B5EF4-FFF2-40B4-BE49-F238E27FC236}">
                <a16:creationId xmlns:a16="http://schemas.microsoft.com/office/drawing/2014/main" id="{903A8676-6F9D-D44D-9420-4E06D63E3E7F}"/>
              </a:ext>
            </a:extLst>
          </p:cNvPr>
          <p:cNvCxnSpPr>
            <a:cxnSpLocks/>
          </p:cNvCxnSpPr>
          <p:nvPr/>
        </p:nvCxnSpPr>
        <p:spPr>
          <a:xfrm flipV="1">
            <a:off x="4097310" y="3763115"/>
            <a:ext cx="2094033" cy="585401"/>
          </a:xfrm>
          <a:prstGeom prst="straightConnector1">
            <a:avLst/>
          </a:prstGeom>
          <a:ln>
            <a:solidFill>
              <a:srgbClr val="FFC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3" name="Lightning Bolt 22">
            <a:extLst>
              <a:ext uri="{FF2B5EF4-FFF2-40B4-BE49-F238E27FC236}">
                <a16:creationId xmlns:a16="http://schemas.microsoft.com/office/drawing/2014/main" id="{EDB41D91-203A-4FC2-8C3A-A71A2EBD033D}"/>
              </a:ext>
            </a:extLst>
          </p:cNvPr>
          <p:cNvSpPr/>
          <p:nvPr/>
        </p:nvSpPr>
        <p:spPr>
          <a:xfrm>
            <a:off x="4674671" y="2681413"/>
            <a:ext cx="348770" cy="643121"/>
          </a:xfrm>
          <a:prstGeom prst="lightningBol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24" name="Straight Arrow Connector 23">
            <a:extLst>
              <a:ext uri="{FF2B5EF4-FFF2-40B4-BE49-F238E27FC236}">
                <a16:creationId xmlns:a16="http://schemas.microsoft.com/office/drawing/2014/main" id="{29116032-57EA-36EB-7631-7C9A11A3B506}"/>
              </a:ext>
            </a:extLst>
          </p:cNvPr>
          <p:cNvCxnSpPr>
            <a:cxnSpLocks/>
          </p:cNvCxnSpPr>
          <p:nvPr/>
        </p:nvCxnSpPr>
        <p:spPr>
          <a:xfrm flipH="1">
            <a:off x="5861632" y="3087324"/>
            <a:ext cx="2513868" cy="359019"/>
          </a:xfrm>
          <a:prstGeom prst="straightConnector1">
            <a:avLst/>
          </a:prstGeom>
          <a:ln>
            <a:solidFill>
              <a:srgbClr val="7030A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1AA121E9-AC30-5C32-6E14-23B5CC33760A}"/>
              </a:ext>
            </a:extLst>
          </p:cNvPr>
          <p:cNvSpPr/>
          <p:nvPr/>
        </p:nvSpPr>
        <p:spPr>
          <a:xfrm>
            <a:off x="8501962" y="2839674"/>
            <a:ext cx="1448835" cy="428625"/>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6" name="TextBox 25">
            <a:extLst>
              <a:ext uri="{FF2B5EF4-FFF2-40B4-BE49-F238E27FC236}">
                <a16:creationId xmlns:a16="http://schemas.microsoft.com/office/drawing/2014/main" id="{02DD3CE7-92C4-FD5A-8B8E-052035381781}"/>
              </a:ext>
            </a:extLst>
          </p:cNvPr>
          <p:cNvSpPr txBox="1"/>
          <p:nvPr/>
        </p:nvSpPr>
        <p:spPr>
          <a:xfrm>
            <a:off x="8501962" y="2834696"/>
            <a:ext cx="1448835" cy="461665"/>
          </a:xfrm>
          <a:prstGeom prst="rect">
            <a:avLst/>
          </a:prstGeom>
          <a:noFill/>
        </p:spPr>
        <p:txBody>
          <a:bodyPr wrap="square">
            <a:spAutoFit/>
          </a:bodyPr>
          <a:lstStyle/>
          <a:p>
            <a:pPr algn="ctr"/>
            <a:r>
              <a:rPr lang="en-US" sz="2400">
                <a:solidFill>
                  <a:schemeClr val="bg1"/>
                </a:solidFill>
                <a:latin typeface="Times New Roman" panose="02020603050405020304" pitchFamily="18" charset="0"/>
                <a:cs typeface="Times New Roman" panose="02020603050405020304" pitchFamily="18" charset="0"/>
              </a:rPr>
              <a:t>0x2020</a:t>
            </a:r>
            <a:endParaRPr lang="en-US" sz="2400" dirty="0">
              <a:solidFill>
                <a:schemeClr val="bg1"/>
              </a:solidFill>
              <a:latin typeface="Times New Roman" panose="02020603050405020304" pitchFamily="18" charset="0"/>
              <a:cs typeface="Times New Roman" panose="02020603050405020304" pitchFamily="18" charset="0"/>
            </a:endParaRPr>
          </a:p>
        </p:txBody>
      </p:sp>
      <p:sp>
        <p:nvSpPr>
          <p:cNvPr id="27" name="TextBox 26">
            <a:extLst>
              <a:ext uri="{FF2B5EF4-FFF2-40B4-BE49-F238E27FC236}">
                <a16:creationId xmlns:a16="http://schemas.microsoft.com/office/drawing/2014/main" id="{FB3315A2-EEAE-B97F-6D44-0BC12F9701C6}"/>
              </a:ext>
            </a:extLst>
          </p:cNvPr>
          <p:cNvSpPr txBox="1"/>
          <p:nvPr/>
        </p:nvSpPr>
        <p:spPr>
          <a:xfrm>
            <a:off x="5078838" y="4660960"/>
            <a:ext cx="1956567" cy="461665"/>
          </a:xfrm>
          <a:prstGeom prst="rect">
            <a:avLst/>
          </a:prstGeom>
          <a:noFill/>
        </p:spPr>
        <p:txBody>
          <a:bodyPr wrap="square">
            <a:spAutoFit/>
          </a:bodyPr>
          <a:lstStyle/>
          <a:p>
            <a:r>
              <a:rPr lang="en-US" sz="2400">
                <a:solidFill>
                  <a:srgbClr val="00B050"/>
                </a:solidFill>
                <a:highlight>
                  <a:srgbClr val="FFFF00"/>
                </a:highlight>
                <a:latin typeface="Times New Roman" panose="02020603050405020304" pitchFamily="18" charset="0"/>
                <a:cs typeface="Times New Roman" panose="02020603050405020304" pitchFamily="18" charset="0"/>
              </a:rPr>
              <a:t>0x0000FFF8</a:t>
            </a:r>
            <a:endParaRPr lang="en-US" sz="2400" dirty="0">
              <a:highlight>
                <a:srgbClr val="FFFF00"/>
              </a:highlight>
            </a:endParaRPr>
          </a:p>
        </p:txBody>
      </p:sp>
      <p:cxnSp>
        <p:nvCxnSpPr>
          <p:cNvPr id="28" name="Straight Arrow Connector 27">
            <a:extLst>
              <a:ext uri="{FF2B5EF4-FFF2-40B4-BE49-F238E27FC236}">
                <a16:creationId xmlns:a16="http://schemas.microsoft.com/office/drawing/2014/main" id="{37E4EDA3-BB08-5148-6A26-3AE2C6AFBE98}"/>
              </a:ext>
            </a:extLst>
          </p:cNvPr>
          <p:cNvCxnSpPr>
            <a:cxnSpLocks/>
            <a:stCxn id="27" idx="0"/>
            <a:endCxn id="3" idx="2"/>
          </p:cNvCxnSpPr>
          <p:nvPr/>
        </p:nvCxnSpPr>
        <p:spPr>
          <a:xfrm flipV="1">
            <a:off x="6057122" y="3868374"/>
            <a:ext cx="708288" cy="792586"/>
          </a:xfrm>
          <a:prstGeom prst="straightConnector1">
            <a:avLst/>
          </a:prstGeom>
          <a:ln>
            <a:solidFill>
              <a:srgbClr val="00B05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20832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2"/>
                                        </p:tgtEl>
                                        <p:attrNameLst>
                                          <p:attrName>style.visibility</p:attrName>
                                        </p:attrNameLst>
                                      </p:cBhvr>
                                      <p:to>
                                        <p:strVal val="visible"/>
                                      </p:to>
                                    </p:set>
                                    <p:anim calcmode="lin" valueType="num">
                                      <p:cBhvr additive="base">
                                        <p:cTn id="13" dur="500" fill="hold"/>
                                        <p:tgtEl>
                                          <p:spTgt spid="22"/>
                                        </p:tgtEl>
                                        <p:attrNameLst>
                                          <p:attrName>ppt_x</p:attrName>
                                        </p:attrNameLst>
                                      </p:cBhvr>
                                      <p:tavLst>
                                        <p:tav tm="0">
                                          <p:val>
                                            <p:strVal val="#ppt_x"/>
                                          </p:val>
                                        </p:tav>
                                        <p:tav tm="100000">
                                          <p:val>
                                            <p:strVal val="#ppt_x"/>
                                          </p:val>
                                        </p:tav>
                                      </p:tavLst>
                                    </p:anim>
                                    <p:anim calcmode="lin" valueType="num">
                                      <p:cBhvr additive="base">
                                        <p:cTn id="14"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8"/>
                                        </p:tgtEl>
                                        <p:attrNameLst>
                                          <p:attrName>style.visibility</p:attrName>
                                        </p:attrNameLst>
                                      </p:cBhvr>
                                      <p:to>
                                        <p:strVal val="visible"/>
                                      </p:to>
                                    </p:set>
                                    <p:anim calcmode="lin" valueType="num">
                                      <p:cBhvr additive="base">
                                        <p:cTn id="25" dur="500" fill="hold"/>
                                        <p:tgtEl>
                                          <p:spTgt spid="28"/>
                                        </p:tgtEl>
                                        <p:attrNameLst>
                                          <p:attrName>ppt_x</p:attrName>
                                        </p:attrNameLst>
                                      </p:cBhvr>
                                      <p:tavLst>
                                        <p:tav tm="0">
                                          <p:val>
                                            <p:strVal val="#ppt_x"/>
                                          </p:val>
                                        </p:tav>
                                        <p:tav tm="100000">
                                          <p:val>
                                            <p:strVal val="#ppt_x"/>
                                          </p:val>
                                        </p:tav>
                                      </p:tavLst>
                                    </p:anim>
                                    <p:anim calcmode="lin" valueType="num">
                                      <p:cBhvr additive="base">
                                        <p:cTn id="26" dur="500" fill="hold"/>
                                        <p:tgtEl>
                                          <p:spTgt spid="28"/>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27"/>
                                        </p:tgtEl>
                                        <p:attrNameLst>
                                          <p:attrName>style.visibility</p:attrName>
                                        </p:attrNameLst>
                                      </p:cBhvr>
                                      <p:to>
                                        <p:strVal val="visible"/>
                                      </p:to>
                                    </p:set>
                                    <p:anim calcmode="lin" valueType="num">
                                      <p:cBhvr additive="base">
                                        <p:cTn id="29" dur="500" fill="hold"/>
                                        <p:tgtEl>
                                          <p:spTgt spid="27"/>
                                        </p:tgtEl>
                                        <p:attrNameLst>
                                          <p:attrName>ppt_x</p:attrName>
                                        </p:attrNameLst>
                                      </p:cBhvr>
                                      <p:tavLst>
                                        <p:tav tm="0">
                                          <p:val>
                                            <p:strVal val="#ppt_x"/>
                                          </p:val>
                                        </p:tav>
                                        <p:tav tm="100000">
                                          <p:val>
                                            <p:strVal val="#ppt_x"/>
                                          </p:val>
                                        </p:tav>
                                      </p:tavLst>
                                    </p:anim>
                                    <p:anim calcmode="lin" valueType="num">
                                      <p:cBhvr additive="base">
                                        <p:cTn id="30"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23"/>
                                        </p:tgtEl>
                                        <p:attrNameLst>
                                          <p:attrName>style.visibility</p:attrName>
                                        </p:attrNameLst>
                                      </p:cBhvr>
                                      <p:to>
                                        <p:strVal val="visible"/>
                                      </p:to>
                                    </p:set>
                                    <p:anim calcmode="lin" valueType="num">
                                      <p:cBhvr additive="base">
                                        <p:cTn id="35" dur="500" fill="hold"/>
                                        <p:tgtEl>
                                          <p:spTgt spid="23"/>
                                        </p:tgtEl>
                                        <p:attrNameLst>
                                          <p:attrName>ppt_x</p:attrName>
                                        </p:attrNameLst>
                                      </p:cBhvr>
                                      <p:tavLst>
                                        <p:tav tm="0">
                                          <p:val>
                                            <p:strVal val="#ppt_x"/>
                                          </p:val>
                                        </p:tav>
                                        <p:tav tm="100000">
                                          <p:val>
                                            <p:strVal val="#ppt_x"/>
                                          </p:val>
                                        </p:tav>
                                      </p:tavLst>
                                    </p:anim>
                                    <p:anim calcmode="lin" valueType="num">
                                      <p:cBhvr additive="base">
                                        <p:cTn id="36"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24"/>
                                        </p:tgtEl>
                                        <p:attrNameLst>
                                          <p:attrName>style.visibility</p:attrName>
                                        </p:attrNameLst>
                                      </p:cBhvr>
                                      <p:to>
                                        <p:strVal val="visible"/>
                                      </p:to>
                                    </p:set>
                                    <p:anim calcmode="lin" valueType="num">
                                      <p:cBhvr additive="base">
                                        <p:cTn id="41" dur="500" fill="hold"/>
                                        <p:tgtEl>
                                          <p:spTgt spid="24"/>
                                        </p:tgtEl>
                                        <p:attrNameLst>
                                          <p:attrName>ppt_x</p:attrName>
                                        </p:attrNameLst>
                                      </p:cBhvr>
                                      <p:tavLst>
                                        <p:tav tm="0">
                                          <p:val>
                                            <p:strVal val="#ppt_x"/>
                                          </p:val>
                                        </p:tav>
                                        <p:tav tm="100000">
                                          <p:val>
                                            <p:strVal val="#ppt_x"/>
                                          </p:val>
                                        </p:tav>
                                      </p:tavLst>
                                    </p:anim>
                                    <p:anim calcmode="lin" valueType="num">
                                      <p:cBhvr additive="base">
                                        <p:cTn id="42"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26"/>
                                        </p:tgtEl>
                                        <p:attrNameLst>
                                          <p:attrName>style.visibility</p:attrName>
                                        </p:attrNameLst>
                                      </p:cBhvr>
                                      <p:to>
                                        <p:strVal val="visible"/>
                                      </p:to>
                                    </p:set>
                                    <p:anim calcmode="lin" valueType="num">
                                      <p:cBhvr additive="base">
                                        <p:cTn id="51" dur="500" fill="hold"/>
                                        <p:tgtEl>
                                          <p:spTgt spid="26"/>
                                        </p:tgtEl>
                                        <p:attrNameLst>
                                          <p:attrName>ppt_x</p:attrName>
                                        </p:attrNameLst>
                                      </p:cBhvr>
                                      <p:tavLst>
                                        <p:tav tm="0">
                                          <p:val>
                                            <p:strVal val="#ppt_x"/>
                                          </p:val>
                                        </p:tav>
                                        <p:tav tm="100000">
                                          <p:val>
                                            <p:strVal val="#ppt_x"/>
                                          </p:val>
                                        </p:tav>
                                      </p:tavLst>
                                    </p:anim>
                                    <p:anim calcmode="lin" valueType="num">
                                      <p:cBhvr additive="base">
                                        <p:cTn id="52"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9" grpId="0"/>
      <p:bldP spid="23" grpId="0" animBg="1"/>
      <p:bldP spid="25" grpId="0" animBg="1"/>
      <p:bldP spid="26" grpId="0"/>
      <p:bldP spid="2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4B50BE-4634-7D27-B403-CDE2FBD25BA6}"/>
              </a:ext>
            </a:extLst>
          </p:cNvPr>
          <p:cNvSpPr>
            <a:spLocks noGrp="1"/>
          </p:cNvSpPr>
          <p:nvPr>
            <p:ph type="title"/>
          </p:nvPr>
        </p:nvSpPr>
        <p:spPr/>
        <p:txBody>
          <a:bodyPr/>
          <a:lstStyle/>
          <a:p>
            <a:r>
              <a:rPr lang="en-US" sz="4000"/>
              <a:t>Nhóm lệnh số học và luận lý - </a:t>
            </a:r>
            <a:r>
              <a:rPr lang="en-US"/>
              <a:t>lệnh dịch sll</a:t>
            </a:r>
          </a:p>
        </p:txBody>
      </p:sp>
      <p:sp>
        <p:nvSpPr>
          <p:cNvPr id="4" name="Footer Placeholder 3">
            <a:extLst>
              <a:ext uri="{FF2B5EF4-FFF2-40B4-BE49-F238E27FC236}">
                <a16:creationId xmlns:a16="http://schemas.microsoft.com/office/drawing/2014/main" id="{CE20075A-C201-ABB3-CD7E-B0B618E2FBD6}"/>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Slide Number Placeholder 4">
            <a:extLst>
              <a:ext uri="{FF2B5EF4-FFF2-40B4-BE49-F238E27FC236}">
                <a16:creationId xmlns:a16="http://schemas.microsoft.com/office/drawing/2014/main" id="{E50D663F-5C1C-BF1A-698E-D37D59599E3D}"/>
              </a:ext>
            </a:extLst>
          </p:cNvPr>
          <p:cNvSpPr>
            <a:spLocks noGrp="1"/>
          </p:cNvSpPr>
          <p:nvPr>
            <p:ph type="sldNum" sz="quarter" idx="12"/>
          </p:nvPr>
        </p:nvSpPr>
        <p:spPr/>
        <p:txBody>
          <a:bodyPr/>
          <a:lstStyle/>
          <a:p>
            <a:fld id="{D8B0B3AC-44A8-D142-AAF6-9A453466E1A4}" type="slidenum">
              <a:rPr lang="en-VN" smtClean="0"/>
              <a:pPr/>
              <a:t>21</a:t>
            </a:fld>
            <a:endParaRPr lang="en-VN" dirty="0"/>
          </a:p>
        </p:txBody>
      </p:sp>
      <p:sp>
        <p:nvSpPr>
          <p:cNvPr id="6" name="Date Placeholder 5">
            <a:extLst>
              <a:ext uri="{FF2B5EF4-FFF2-40B4-BE49-F238E27FC236}">
                <a16:creationId xmlns:a16="http://schemas.microsoft.com/office/drawing/2014/main" id="{406C444C-080A-5CFF-834A-EB146C7FFB95}"/>
              </a:ext>
            </a:extLst>
          </p:cNvPr>
          <p:cNvSpPr>
            <a:spLocks noGrp="1"/>
          </p:cNvSpPr>
          <p:nvPr>
            <p:ph type="dt" sz="half" idx="13"/>
          </p:nvPr>
        </p:nvSpPr>
        <p:spPr/>
        <p:txBody>
          <a:bodyPr/>
          <a:lstStyle/>
          <a:p>
            <a:fld id="{46CDDB1B-AAE9-1649-A755-11FADEB7E97E}" type="datetime4">
              <a:rPr lang="en-US" smtClean="0"/>
              <a:pPr/>
              <a:t>April 21, 2024</a:t>
            </a:fld>
            <a:endParaRPr lang="en-US" dirty="0"/>
          </a:p>
        </p:txBody>
      </p:sp>
      <p:sp>
        <p:nvSpPr>
          <p:cNvPr id="7" name="Rectangle 6">
            <a:extLst>
              <a:ext uri="{FF2B5EF4-FFF2-40B4-BE49-F238E27FC236}">
                <a16:creationId xmlns:a16="http://schemas.microsoft.com/office/drawing/2014/main" id="{9156263B-F935-94E2-123E-EEA0C9158E0D}"/>
              </a:ext>
            </a:extLst>
          </p:cNvPr>
          <p:cNvSpPr/>
          <p:nvPr/>
        </p:nvSpPr>
        <p:spPr>
          <a:xfrm>
            <a:off x="6506842" y="3216277"/>
            <a:ext cx="539992" cy="585401"/>
          </a:xfrm>
          <a:prstGeom prst="rect">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Arial" panose="020B0604020202020204" pitchFamily="34" charset="0"/>
              <a:cs typeface="Arial" panose="020B0604020202020204" pitchFamily="34" charset="0"/>
            </a:endParaRPr>
          </a:p>
        </p:txBody>
      </p:sp>
      <p:graphicFrame>
        <p:nvGraphicFramePr>
          <p:cNvPr id="8" name="Table 7">
            <a:extLst>
              <a:ext uri="{FF2B5EF4-FFF2-40B4-BE49-F238E27FC236}">
                <a16:creationId xmlns:a16="http://schemas.microsoft.com/office/drawing/2014/main" id="{59E79CA4-40BA-AC66-9EEB-BEC381EDD316}"/>
              </a:ext>
            </a:extLst>
          </p:cNvPr>
          <p:cNvGraphicFramePr>
            <a:graphicFrameLocks noGrp="1"/>
          </p:cNvGraphicFramePr>
          <p:nvPr>
            <p:extLst>
              <p:ext uri="{D42A27DB-BD31-4B8C-83A1-F6EECF244321}">
                <p14:modId xmlns:p14="http://schemas.microsoft.com/office/powerpoint/2010/main" val="1256349454"/>
              </p:ext>
            </p:extLst>
          </p:nvPr>
        </p:nvGraphicFramePr>
        <p:xfrm>
          <a:off x="1917462" y="2359994"/>
          <a:ext cx="2398103" cy="2606040"/>
        </p:xfrm>
        <a:graphic>
          <a:graphicData uri="http://schemas.openxmlformats.org/drawingml/2006/table">
            <a:tbl>
              <a:tblPr firstRow="1" bandRow="1">
                <a:tableStyleId>{5940675A-B579-460E-94D1-54222C63F5DA}</a:tableStyleId>
              </a:tblPr>
              <a:tblGrid>
                <a:gridCol w="947372">
                  <a:extLst>
                    <a:ext uri="{9D8B030D-6E8A-4147-A177-3AD203B41FA5}">
                      <a16:colId xmlns:a16="http://schemas.microsoft.com/office/drawing/2014/main" val="2104779220"/>
                    </a:ext>
                  </a:extLst>
                </a:gridCol>
                <a:gridCol w="1450731">
                  <a:extLst>
                    <a:ext uri="{9D8B030D-6E8A-4147-A177-3AD203B41FA5}">
                      <a16:colId xmlns:a16="http://schemas.microsoft.com/office/drawing/2014/main" val="1767099797"/>
                    </a:ext>
                  </a:extLst>
                </a:gridCol>
              </a:tblGrid>
              <a:tr h="434340">
                <a:tc>
                  <a:txBody>
                    <a:bodyPr/>
                    <a:lstStyle/>
                    <a:p>
                      <a:pPr algn="ctr"/>
                      <a:r>
                        <a:rPr lang="en-US" sz="2400" dirty="0">
                          <a:latin typeface="Times New Roman" panose="02020603050405020304" pitchFamily="18" charset="0"/>
                          <a:cs typeface="Times New Roman" panose="02020603050405020304" pitchFamily="18" charset="0"/>
                        </a:rPr>
                        <a:t>…</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latin typeface="Times New Roman" panose="02020603050405020304" pitchFamily="18" charset="0"/>
                          <a:cs typeface="Times New Roman" panose="02020603050405020304" pitchFamily="18" charset="0"/>
                        </a:rPr>
                        <a:t>…</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1080934"/>
                  </a:ext>
                </a:extLst>
              </a:tr>
              <a:tr h="434340">
                <a:tc>
                  <a:txBody>
                    <a:bodyPr/>
                    <a:lstStyle/>
                    <a:p>
                      <a:pPr algn="ctr"/>
                      <a:r>
                        <a:rPr lang="en-US" sz="2400" dirty="0">
                          <a:latin typeface="Times New Roman" panose="02020603050405020304" pitchFamily="18" charset="0"/>
                          <a:cs typeface="Times New Roman" panose="02020603050405020304" pitchFamily="18" charset="0"/>
                        </a:rPr>
                        <a:t>$t0</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0x08</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3117984"/>
                  </a:ext>
                </a:extLst>
              </a:tr>
              <a:tr h="434340">
                <a:tc>
                  <a:txBody>
                    <a:bodyPr/>
                    <a:lstStyle/>
                    <a:p>
                      <a:pPr algn="ctr"/>
                      <a:r>
                        <a:rPr lang="en-US" sz="2400" dirty="0">
                          <a:latin typeface="Times New Roman" panose="02020603050405020304" pitchFamily="18" charset="0"/>
                          <a:cs typeface="Times New Roman" panose="02020603050405020304" pitchFamily="18" charset="0"/>
                        </a:rPr>
                        <a:t>….</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latin typeface="Times New Roman" panose="02020603050405020304" pitchFamily="18" charset="0"/>
                          <a:cs typeface="Times New Roman" panose="02020603050405020304" pitchFamily="18" charset="0"/>
                        </a:rPr>
                        <a:t>…</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47873999"/>
                  </a:ext>
                </a:extLst>
              </a:tr>
              <a:tr h="434340">
                <a:tc>
                  <a:txBody>
                    <a:bodyPr/>
                    <a:lstStyle/>
                    <a:p>
                      <a:pPr algn="ctr"/>
                      <a:r>
                        <a:rPr lang="en-US" sz="2400" dirty="0">
                          <a:latin typeface="Times New Roman" panose="02020603050405020304" pitchFamily="18" charset="0"/>
                          <a:cs typeface="Times New Roman" panose="02020603050405020304" pitchFamily="18" charset="0"/>
                        </a:rPr>
                        <a:t>$s1</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latin typeface="Times New Roman" panose="02020603050405020304" pitchFamily="18" charset="0"/>
                          <a:cs typeface="Times New Roman" panose="02020603050405020304" pitchFamily="18" charset="0"/>
                        </a:rPr>
                        <a:t>0x1993</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28760704"/>
                  </a:ext>
                </a:extLst>
              </a:tr>
              <a:tr h="434340">
                <a:tc>
                  <a:txBody>
                    <a:bodyPr/>
                    <a:lstStyle/>
                    <a:p>
                      <a:pPr algn="ctr"/>
                      <a:r>
                        <a:rPr lang="en-US" sz="2400" dirty="0">
                          <a:latin typeface="Times New Roman" panose="02020603050405020304" pitchFamily="18" charset="0"/>
                          <a:cs typeface="Times New Roman" panose="02020603050405020304" pitchFamily="18" charset="0"/>
                        </a:rPr>
                        <a:t>$s2</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latin typeface="Times New Roman" panose="02020603050405020304" pitchFamily="18" charset="0"/>
                          <a:cs typeface="Times New Roman" panose="02020603050405020304" pitchFamily="18" charset="0"/>
                        </a:rPr>
                        <a:t>0x2021</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43278351"/>
                  </a:ext>
                </a:extLst>
              </a:tr>
              <a:tr h="434340">
                <a:tc>
                  <a:txBody>
                    <a:bodyPr/>
                    <a:lstStyle/>
                    <a:p>
                      <a:pPr algn="ctr"/>
                      <a:r>
                        <a:rPr lang="en-US" sz="2400" dirty="0">
                          <a:latin typeface="Times New Roman" panose="02020603050405020304" pitchFamily="18" charset="0"/>
                          <a:cs typeface="Times New Roman" panose="02020603050405020304" pitchFamily="18" charset="0"/>
                        </a:rPr>
                        <a:t>…</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en-US" sz="240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6466771"/>
                  </a:ext>
                </a:extLst>
              </a:tr>
            </a:tbl>
          </a:graphicData>
        </a:graphic>
      </p:graphicFrame>
      <p:sp>
        <p:nvSpPr>
          <p:cNvPr id="9" name="TextBox 8">
            <a:extLst>
              <a:ext uri="{FF2B5EF4-FFF2-40B4-BE49-F238E27FC236}">
                <a16:creationId xmlns:a16="http://schemas.microsoft.com/office/drawing/2014/main" id="{F9716D12-E033-4390-5FB7-AB0B7CD56055}"/>
              </a:ext>
            </a:extLst>
          </p:cNvPr>
          <p:cNvSpPr txBox="1"/>
          <p:nvPr/>
        </p:nvSpPr>
        <p:spPr>
          <a:xfrm>
            <a:off x="1917460" y="1813890"/>
            <a:ext cx="3652759" cy="461665"/>
          </a:xfrm>
          <a:prstGeom prst="rect">
            <a:avLst/>
          </a:prstGeom>
          <a:noFill/>
        </p:spPr>
        <p:txBody>
          <a:bodyPr wrap="square">
            <a:spAutoFit/>
          </a:bodyPr>
          <a:lstStyle/>
          <a:p>
            <a:pPr algn="ctr"/>
            <a:r>
              <a:rPr lang="en-US" sz="2400" dirty="0" err="1">
                <a:latin typeface="Arial" panose="020B0604020202020204" pitchFamily="34" charset="0"/>
                <a:cs typeface="Arial" panose="020B0604020202020204" pitchFamily="34" charset="0"/>
              </a:rPr>
              <a:t>Tập</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thanh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ghi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trước</a:t>
            </a:r>
            <a:r>
              <a:rPr lang="en-US" sz="2400" dirty="0">
                <a:latin typeface="Arial" panose="020B0604020202020204" pitchFamily="34" charset="0"/>
                <a:cs typeface="Arial" panose="020B0604020202020204" pitchFamily="34" charset="0"/>
              </a:rPr>
              <a:t>)</a:t>
            </a:r>
          </a:p>
        </p:txBody>
      </p:sp>
      <p:sp>
        <p:nvSpPr>
          <p:cNvPr id="10" name="TextBox 9">
            <a:extLst>
              <a:ext uri="{FF2B5EF4-FFF2-40B4-BE49-F238E27FC236}">
                <a16:creationId xmlns:a16="http://schemas.microsoft.com/office/drawing/2014/main" id="{BF4D6220-C4C2-D97B-FD67-8806A503B595}"/>
              </a:ext>
            </a:extLst>
          </p:cNvPr>
          <p:cNvSpPr txBox="1"/>
          <p:nvPr/>
        </p:nvSpPr>
        <p:spPr>
          <a:xfrm>
            <a:off x="5060162" y="3257838"/>
            <a:ext cx="2287099" cy="461665"/>
          </a:xfrm>
          <a:prstGeom prst="rect">
            <a:avLst/>
          </a:prstGeom>
          <a:noFill/>
        </p:spPr>
        <p:txBody>
          <a:bodyPr wrap="square">
            <a:spAutoFit/>
          </a:bodyPr>
          <a:lstStyle/>
          <a:p>
            <a:r>
              <a:rPr lang="en-US" sz="2400" dirty="0" err="1">
                <a:solidFill>
                  <a:srgbClr val="FF0000"/>
                </a:solidFill>
                <a:latin typeface="Arial" panose="020B0604020202020204" pitchFamily="34" charset="0"/>
                <a:cs typeface="Arial" panose="020B0604020202020204" pitchFamily="34" charset="0"/>
              </a:rPr>
              <a:t>sll</a:t>
            </a:r>
            <a:r>
              <a:rPr lang="en-US" sz="2400" dirty="0">
                <a:latin typeface="Arial" panose="020B0604020202020204" pitchFamily="34" charset="0"/>
                <a:cs typeface="Arial" panose="020B0604020202020204" pitchFamily="34" charset="0"/>
              </a:rPr>
              <a:t> </a:t>
            </a:r>
            <a:r>
              <a:rPr lang="en-US" sz="2400" dirty="0">
                <a:solidFill>
                  <a:srgbClr val="7030A0"/>
                </a:solidFill>
                <a:latin typeface="Arial" panose="020B0604020202020204" pitchFamily="34" charset="0"/>
                <a:cs typeface="Arial" panose="020B0604020202020204" pitchFamily="34" charset="0"/>
              </a:rPr>
              <a:t>$t0</a:t>
            </a:r>
            <a:r>
              <a:rPr lang="en-US" sz="2400" dirty="0">
                <a:latin typeface="Arial" panose="020B0604020202020204" pitchFamily="34" charset="0"/>
                <a:cs typeface="Arial" panose="020B0604020202020204" pitchFamily="34" charset="0"/>
              </a:rPr>
              <a:t>, </a:t>
            </a:r>
            <a:r>
              <a:rPr lang="en-US" sz="2400" dirty="0">
                <a:solidFill>
                  <a:srgbClr val="FFC000"/>
                </a:solidFill>
                <a:latin typeface="Arial" panose="020B0604020202020204" pitchFamily="34" charset="0"/>
                <a:cs typeface="Arial" panose="020B0604020202020204" pitchFamily="34" charset="0"/>
              </a:rPr>
              <a:t>$s2</a:t>
            </a:r>
            <a:r>
              <a:rPr lang="en-US" sz="2400" dirty="0">
                <a:latin typeface="Arial" panose="020B0604020202020204" pitchFamily="34" charset="0"/>
                <a:cs typeface="Arial" panose="020B0604020202020204" pitchFamily="34" charset="0"/>
              </a:rPr>
              <a:t>, </a:t>
            </a:r>
            <a:r>
              <a:rPr lang="en-US" sz="2400" dirty="0">
                <a:solidFill>
                  <a:srgbClr val="00B050"/>
                </a:solidFill>
                <a:latin typeface="Arial" panose="020B0604020202020204" pitchFamily="34" charset="0"/>
                <a:cs typeface="Arial" panose="020B0604020202020204" pitchFamily="34" charset="0"/>
              </a:rPr>
              <a:t>2</a:t>
            </a:r>
            <a:endParaRPr lang="en-US" sz="2400" dirty="0">
              <a:latin typeface="Arial" panose="020B0604020202020204" pitchFamily="34" charset="0"/>
              <a:cs typeface="Arial" panose="020B0604020202020204" pitchFamily="34" charset="0"/>
            </a:endParaRPr>
          </a:p>
        </p:txBody>
      </p:sp>
      <p:graphicFrame>
        <p:nvGraphicFramePr>
          <p:cNvPr id="11" name="Table 10">
            <a:extLst>
              <a:ext uri="{FF2B5EF4-FFF2-40B4-BE49-F238E27FC236}">
                <a16:creationId xmlns:a16="http://schemas.microsoft.com/office/drawing/2014/main" id="{952213A3-BD23-ACAF-1EE2-A81874F4ABE6}"/>
              </a:ext>
            </a:extLst>
          </p:cNvPr>
          <p:cNvGraphicFramePr>
            <a:graphicFrameLocks noGrp="1"/>
          </p:cNvGraphicFramePr>
          <p:nvPr>
            <p:extLst>
              <p:ext uri="{D42A27DB-BD31-4B8C-83A1-F6EECF244321}">
                <p14:modId xmlns:p14="http://schemas.microsoft.com/office/powerpoint/2010/main" val="2747122068"/>
              </p:ext>
            </p:extLst>
          </p:nvPr>
        </p:nvGraphicFramePr>
        <p:xfrm>
          <a:off x="7770948" y="2338010"/>
          <a:ext cx="2398103" cy="2606040"/>
        </p:xfrm>
        <a:graphic>
          <a:graphicData uri="http://schemas.openxmlformats.org/drawingml/2006/table">
            <a:tbl>
              <a:tblPr firstRow="1" bandRow="1">
                <a:tableStyleId>{5940675A-B579-460E-94D1-54222C63F5DA}</a:tableStyleId>
              </a:tblPr>
              <a:tblGrid>
                <a:gridCol w="947372">
                  <a:extLst>
                    <a:ext uri="{9D8B030D-6E8A-4147-A177-3AD203B41FA5}">
                      <a16:colId xmlns:a16="http://schemas.microsoft.com/office/drawing/2014/main" val="2104779220"/>
                    </a:ext>
                  </a:extLst>
                </a:gridCol>
                <a:gridCol w="1450731">
                  <a:extLst>
                    <a:ext uri="{9D8B030D-6E8A-4147-A177-3AD203B41FA5}">
                      <a16:colId xmlns:a16="http://schemas.microsoft.com/office/drawing/2014/main" val="1767099797"/>
                    </a:ext>
                  </a:extLst>
                </a:gridCol>
              </a:tblGrid>
              <a:tr h="434340">
                <a:tc>
                  <a:txBody>
                    <a:bodyPr/>
                    <a:lstStyle/>
                    <a:p>
                      <a:pPr algn="ctr"/>
                      <a:r>
                        <a:rPr lang="en-US" sz="2400" dirty="0">
                          <a:latin typeface="Times New Roman" panose="02020603050405020304" pitchFamily="18" charset="0"/>
                          <a:cs typeface="Times New Roman" panose="02020603050405020304" pitchFamily="18" charset="0"/>
                        </a:rPr>
                        <a:t>…</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latin typeface="Times New Roman" panose="02020603050405020304" pitchFamily="18" charset="0"/>
                          <a:cs typeface="Times New Roman" panose="02020603050405020304" pitchFamily="18" charset="0"/>
                        </a:rPr>
                        <a:t>…</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1080934"/>
                  </a:ext>
                </a:extLst>
              </a:tr>
              <a:tr h="434340">
                <a:tc>
                  <a:txBody>
                    <a:bodyPr/>
                    <a:lstStyle/>
                    <a:p>
                      <a:pPr algn="ctr"/>
                      <a:r>
                        <a:rPr lang="en-US" sz="2400" dirty="0">
                          <a:latin typeface="Times New Roman" panose="02020603050405020304" pitchFamily="18" charset="0"/>
                          <a:cs typeface="Times New Roman" panose="02020603050405020304" pitchFamily="18" charset="0"/>
                        </a:rPr>
                        <a:t>$t0</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0x08</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3117984"/>
                  </a:ext>
                </a:extLst>
              </a:tr>
              <a:tr h="434340">
                <a:tc>
                  <a:txBody>
                    <a:bodyPr/>
                    <a:lstStyle/>
                    <a:p>
                      <a:pPr algn="ctr"/>
                      <a:r>
                        <a:rPr lang="en-US" sz="2400" dirty="0">
                          <a:latin typeface="Times New Roman" panose="02020603050405020304" pitchFamily="18" charset="0"/>
                          <a:cs typeface="Times New Roman" panose="02020603050405020304" pitchFamily="18" charset="0"/>
                        </a:rPr>
                        <a:t>….</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latin typeface="Times New Roman" panose="02020603050405020304" pitchFamily="18" charset="0"/>
                          <a:cs typeface="Times New Roman" panose="02020603050405020304" pitchFamily="18" charset="0"/>
                        </a:rPr>
                        <a:t>…</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47873999"/>
                  </a:ext>
                </a:extLst>
              </a:tr>
              <a:tr h="434340">
                <a:tc>
                  <a:txBody>
                    <a:bodyPr/>
                    <a:lstStyle/>
                    <a:p>
                      <a:pPr algn="ctr"/>
                      <a:r>
                        <a:rPr lang="en-US" sz="2400" dirty="0">
                          <a:latin typeface="Times New Roman" panose="02020603050405020304" pitchFamily="18" charset="0"/>
                          <a:cs typeface="Times New Roman" panose="02020603050405020304" pitchFamily="18" charset="0"/>
                        </a:rPr>
                        <a:t>$s1</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latin typeface="Times New Roman" panose="02020603050405020304" pitchFamily="18" charset="0"/>
                          <a:cs typeface="Times New Roman" panose="02020603050405020304" pitchFamily="18" charset="0"/>
                        </a:rPr>
                        <a:t>0xCAFE</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28760704"/>
                  </a:ext>
                </a:extLst>
              </a:tr>
              <a:tr h="434340">
                <a:tc>
                  <a:txBody>
                    <a:bodyPr/>
                    <a:lstStyle/>
                    <a:p>
                      <a:pPr algn="ctr"/>
                      <a:r>
                        <a:rPr lang="en-US" sz="2400" dirty="0">
                          <a:latin typeface="Times New Roman" panose="02020603050405020304" pitchFamily="18" charset="0"/>
                          <a:cs typeface="Times New Roman" panose="02020603050405020304" pitchFamily="18" charset="0"/>
                        </a:rPr>
                        <a:t>$s2</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latin typeface="Times New Roman" panose="02020603050405020304" pitchFamily="18" charset="0"/>
                          <a:cs typeface="Times New Roman" panose="02020603050405020304" pitchFamily="18" charset="0"/>
                        </a:rPr>
                        <a:t>0xCAFA</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43278351"/>
                  </a:ext>
                </a:extLst>
              </a:tr>
              <a:tr h="434340">
                <a:tc>
                  <a:txBody>
                    <a:bodyPr/>
                    <a:lstStyle/>
                    <a:p>
                      <a:pPr algn="ctr"/>
                      <a:r>
                        <a:rPr lang="en-US" sz="2400" dirty="0">
                          <a:latin typeface="Times New Roman" panose="02020603050405020304" pitchFamily="18" charset="0"/>
                          <a:cs typeface="Times New Roman" panose="02020603050405020304" pitchFamily="18" charset="0"/>
                        </a:rPr>
                        <a:t>…</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en-US" sz="240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6466771"/>
                  </a:ext>
                </a:extLst>
              </a:tr>
            </a:tbl>
          </a:graphicData>
        </a:graphic>
      </p:graphicFrame>
      <p:sp>
        <p:nvSpPr>
          <p:cNvPr id="12" name="TextBox 11">
            <a:extLst>
              <a:ext uri="{FF2B5EF4-FFF2-40B4-BE49-F238E27FC236}">
                <a16:creationId xmlns:a16="http://schemas.microsoft.com/office/drawing/2014/main" id="{E13D7277-9868-1096-0374-8C95A4DB34BE}"/>
              </a:ext>
            </a:extLst>
          </p:cNvPr>
          <p:cNvSpPr txBox="1"/>
          <p:nvPr/>
        </p:nvSpPr>
        <p:spPr>
          <a:xfrm>
            <a:off x="7652248" y="1791906"/>
            <a:ext cx="3594871" cy="461665"/>
          </a:xfrm>
          <a:prstGeom prst="rect">
            <a:avLst/>
          </a:prstGeom>
          <a:noFill/>
        </p:spPr>
        <p:txBody>
          <a:bodyPr wrap="square">
            <a:spAutoFit/>
          </a:bodyPr>
          <a:lstStyle/>
          <a:p>
            <a:pPr algn="ctr"/>
            <a:r>
              <a:rPr lang="en-US" sz="2400" dirty="0" err="1">
                <a:latin typeface="Arial" panose="020B0604020202020204" pitchFamily="34" charset="0"/>
                <a:cs typeface="Arial" panose="020B0604020202020204" pitchFamily="34" charset="0"/>
              </a:rPr>
              <a:t>Tập</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thanh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ghi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sau</a:t>
            </a:r>
            <a:r>
              <a:rPr lang="en-US" sz="2400" dirty="0">
                <a:latin typeface="Arial" panose="020B0604020202020204" pitchFamily="34" charset="0"/>
                <a:cs typeface="Arial" panose="020B0604020202020204" pitchFamily="34" charset="0"/>
              </a:rPr>
              <a:t>)</a:t>
            </a:r>
          </a:p>
        </p:txBody>
      </p:sp>
      <p:cxnSp>
        <p:nvCxnSpPr>
          <p:cNvPr id="13" name="Straight Arrow Connector 12">
            <a:extLst>
              <a:ext uri="{FF2B5EF4-FFF2-40B4-BE49-F238E27FC236}">
                <a16:creationId xmlns:a16="http://schemas.microsoft.com/office/drawing/2014/main" id="{52F8C145-58BA-573B-9817-EA3D02E86DCF}"/>
              </a:ext>
            </a:extLst>
          </p:cNvPr>
          <p:cNvCxnSpPr>
            <a:cxnSpLocks/>
            <a:endCxn id="10" idx="2"/>
          </p:cNvCxnSpPr>
          <p:nvPr/>
        </p:nvCxnSpPr>
        <p:spPr>
          <a:xfrm flipV="1">
            <a:off x="4315564" y="3719503"/>
            <a:ext cx="1888148" cy="562318"/>
          </a:xfrm>
          <a:prstGeom prst="straightConnector1">
            <a:avLst/>
          </a:prstGeom>
          <a:ln>
            <a:solidFill>
              <a:srgbClr val="FFC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4" name="Lightning Bolt 13">
            <a:extLst>
              <a:ext uri="{FF2B5EF4-FFF2-40B4-BE49-F238E27FC236}">
                <a16:creationId xmlns:a16="http://schemas.microsoft.com/office/drawing/2014/main" id="{1071F651-CA01-C070-00A2-8867DB84D9F4}"/>
              </a:ext>
            </a:extLst>
          </p:cNvPr>
          <p:cNvSpPr/>
          <p:nvPr/>
        </p:nvSpPr>
        <p:spPr>
          <a:xfrm>
            <a:off x="4892925" y="2614717"/>
            <a:ext cx="348770" cy="643121"/>
          </a:xfrm>
          <a:prstGeom prst="lightningBol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Arial" panose="020B0604020202020204" pitchFamily="34" charset="0"/>
              <a:cs typeface="Arial" panose="020B0604020202020204" pitchFamily="34" charset="0"/>
            </a:endParaRPr>
          </a:p>
        </p:txBody>
      </p:sp>
      <p:cxnSp>
        <p:nvCxnSpPr>
          <p:cNvPr id="15" name="Straight Arrow Connector 14">
            <a:extLst>
              <a:ext uri="{FF2B5EF4-FFF2-40B4-BE49-F238E27FC236}">
                <a16:creationId xmlns:a16="http://schemas.microsoft.com/office/drawing/2014/main" id="{9111E1B5-8336-4978-BAB6-321C27B7B7D3}"/>
              </a:ext>
            </a:extLst>
          </p:cNvPr>
          <p:cNvCxnSpPr>
            <a:cxnSpLocks/>
          </p:cNvCxnSpPr>
          <p:nvPr/>
        </p:nvCxnSpPr>
        <p:spPr>
          <a:xfrm flipH="1">
            <a:off x="5889386" y="3020628"/>
            <a:ext cx="2704368" cy="345622"/>
          </a:xfrm>
          <a:prstGeom prst="straightConnector1">
            <a:avLst/>
          </a:prstGeom>
          <a:ln>
            <a:solidFill>
              <a:srgbClr val="7030A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7E53B605-07BB-F788-1D3F-4D39B944FAC8}"/>
              </a:ext>
            </a:extLst>
          </p:cNvPr>
          <p:cNvSpPr/>
          <p:nvPr/>
        </p:nvSpPr>
        <p:spPr>
          <a:xfrm>
            <a:off x="8720216" y="2772978"/>
            <a:ext cx="1448835" cy="428625"/>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Arial" panose="020B0604020202020204" pitchFamily="34" charset="0"/>
              <a:cs typeface="Arial" panose="020B0604020202020204" pitchFamily="34" charset="0"/>
            </a:endParaRPr>
          </a:p>
        </p:txBody>
      </p:sp>
      <p:sp>
        <p:nvSpPr>
          <p:cNvPr id="29" name="TextBox 28">
            <a:extLst>
              <a:ext uri="{FF2B5EF4-FFF2-40B4-BE49-F238E27FC236}">
                <a16:creationId xmlns:a16="http://schemas.microsoft.com/office/drawing/2014/main" id="{0617D2F6-8521-AD29-5042-25889365665C}"/>
              </a:ext>
            </a:extLst>
          </p:cNvPr>
          <p:cNvSpPr txBox="1"/>
          <p:nvPr/>
        </p:nvSpPr>
        <p:spPr>
          <a:xfrm>
            <a:off x="8720216" y="2768000"/>
            <a:ext cx="1448835" cy="461665"/>
          </a:xfrm>
          <a:prstGeom prst="rect">
            <a:avLst/>
          </a:prstGeom>
          <a:noFill/>
        </p:spPr>
        <p:txBody>
          <a:bodyPr wrap="square">
            <a:spAutoFit/>
          </a:bodyPr>
          <a:lstStyle/>
          <a:p>
            <a:pPr algn="ctr"/>
            <a:r>
              <a:rPr lang="en-US" sz="2400" dirty="0">
                <a:solidFill>
                  <a:schemeClr val="bg1"/>
                </a:solidFill>
                <a:latin typeface="Arial" panose="020B0604020202020204" pitchFamily="34" charset="0"/>
                <a:cs typeface="Arial" panose="020B0604020202020204" pitchFamily="34" charset="0"/>
              </a:rPr>
              <a:t>0x8084</a:t>
            </a:r>
          </a:p>
        </p:txBody>
      </p:sp>
    </p:spTree>
    <p:extLst>
      <p:ext uri="{BB962C8B-B14F-4D97-AF65-F5344CB8AC3E}">
        <p14:creationId xmlns:p14="http://schemas.microsoft.com/office/powerpoint/2010/main" val="2361357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fill="hold"/>
                                        <p:tgtEl>
                                          <p:spTgt spid="13"/>
                                        </p:tgtEl>
                                        <p:attrNameLst>
                                          <p:attrName>ppt_x</p:attrName>
                                        </p:attrNameLst>
                                      </p:cBhvr>
                                      <p:tavLst>
                                        <p:tav tm="0">
                                          <p:val>
                                            <p:strVal val="#ppt_x"/>
                                          </p:val>
                                        </p:tav>
                                        <p:tav tm="100000">
                                          <p:val>
                                            <p:strVal val="#ppt_x"/>
                                          </p:val>
                                        </p:tav>
                                      </p:tavLst>
                                    </p:anim>
                                    <p:anim calcmode="lin" valueType="num">
                                      <p:cBhvr additive="base">
                                        <p:cTn id="1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anim calcmode="lin" valueType="num">
                                      <p:cBhvr additive="base">
                                        <p:cTn id="25" dur="500" fill="hold"/>
                                        <p:tgtEl>
                                          <p:spTgt spid="14"/>
                                        </p:tgtEl>
                                        <p:attrNameLst>
                                          <p:attrName>ppt_x</p:attrName>
                                        </p:attrNameLst>
                                      </p:cBhvr>
                                      <p:tavLst>
                                        <p:tav tm="0">
                                          <p:val>
                                            <p:strVal val="#ppt_x"/>
                                          </p:val>
                                        </p:tav>
                                        <p:tav tm="100000">
                                          <p:val>
                                            <p:strVal val="#ppt_x"/>
                                          </p:val>
                                        </p:tav>
                                      </p:tavLst>
                                    </p:anim>
                                    <p:anim calcmode="lin" valueType="num">
                                      <p:cBhvr additive="base">
                                        <p:cTn id="26"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anim calcmode="lin" valueType="num">
                                      <p:cBhvr additive="base">
                                        <p:cTn id="31" dur="500" fill="hold"/>
                                        <p:tgtEl>
                                          <p:spTgt spid="15"/>
                                        </p:tgtEl>
                                        <p:attrNameLst>
                                          <p:attrName>ppt_x</p:attrName>
                                        </p:attrNameLst>
                                      </p:cBhvr>
                                      <p:tavLst>
                                        <p:tav tm="0">
                                          <p:val>
                                            <p:strVal val="#ppt_x"/>
                                          </p:val>
                                        </p:tav>
                                        <p:tav tm="100000">
                                          <p:val>
                                            <p:strVal val="#ppt_x"/>
                                          </p:val>
                                        </p:tav>
                                      </p:tavLst>
                                    </p:anim>
                                    <p:anim calcmode="lin" valueType="num">
                                      <p:cBhvr additive="base">
                                        <p:cTn id="32"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29"/>
                                        </p:tgtEl>
                                        <p:attrNameLst>
                                          <p:attrName>style.visibility</p:attrName>
                                        </p:attrNameLst>
                                      </p:cBhvr>
                                      <p:to>
                                        <p:strVal val="visible"/>
                                      </p:to>
                                    </p:set>
                                    <p:anim calcmode="lin" valueType="num">
                                      <p:cBhvr additive="base">
                                        <p:cTn id="41" dur="500" fill="hold"/>
                                        <p:tgtEl>
                                          <p:spTgt spid="29"/>
                                        </p:tgtEl>
                                        <p:attrNameLst>
                                          <p:attrName>ppt_x</p:attrName>
                                        </p:attrNameLst>
                                      </p:cBhvr>
                                      <p:tavLst>
                                        <p:tav tm="0">
                                          <p:val>
                                            <p:strVal val="#ppt_x"/>
                                          </p:val>
                                        </p:tav>
                                        <p:tav tm="100000">
                                          <p:val>
                                            <p:strVal val="#ppt_x"/>
                                          </p:val>
                                        </p:tav>
                                      </p:tavLst>
                                    </p:anim>
                                    <p:anim calcmode="lin" valueType="num">
                                      <p:cBhvr additive="base">
                                        <p:cTn id="42"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p:bldP spid="14" grpId="0" animBg="1"/>
      <p:bldP spid="16" grpId="0" animBg="1"/>
      <p:bldP spid="2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4B50BE-4634-7D27-B403-CDE2FBD25BA6}"/>
              </a:ext>
            </a:extLst>
          </p:cNvPr>
          <p:cNvSpPr>
            <a:spLocks noGrp="1"/>
          </p:cNvSpPr>
          <p:nvPr>
            <p:ph type="title"/>
          </p:nvPr>
        </p:nvSpPr>
        <p:spPr/>
        <p:txBody>
          <a:bodyPr/>
          <a:lstStyle/>
          <a:p>
            <a:r>
              <a:rPr lang="en-US" sz="4000"/>
              <a:t>Nhóm lệnh số học và luận lý - </a:t>
            </a:r>
            <a:r>
              <a:rPr lang="en-US"/>
              <a:t>lệnh slti</a:t>
            </a:r>
          </a:p>
        </p:txBody>
      </p:sp>
      <p:sp>
        <p:nvSpPr>
          <p:cNvPr id="4" name="Footer Placeholder 3">
            <a:extLst>
              <a:ext uri="{FF2B5EF4-FFF2-40B4-BE49-F238E27FC236}">
                <a16:creationId xmlns:a16="http://schemas.microsoft.com/office/drawing/2014/main" id="{CE20075A-C201-ABB3-CD7E-B0B618E2FBD6}"/>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Slide Number Placeholder 4">
            <a:extLst>
              <a:ext uri="{FF2B5EF4-FFF2-40B4-BE49-F238E27FC236}">
                <a16:creationId xmlns:a16="http://schemas.microsoft.com/office/drawing/2014/main" id="{E50D663F-5C1C-BF1A-698E-D37D59599E3D}"/>
              </a:ext>
            </a:extLst>
          </p:cNvPr>
          <p:cNvSpPr>
            <a:spLocks noGrp="1"/>
          </p:cNvSpPr>
          <p:nvPr>
            <p:ph type="sldNum" sz="quarter" idx="12"/>
          </p:nvPr>
        </p:nvSpPr>
        <p:spPr/>
        <p:txBody>
          <a:bodyPr/>
          <a:lstStyle/>
          <a:p>
            <a:fld id="{D8B0B3AC-44A8-D142-AAF6-9A453466E1A4}" type="slidenum">
              <a:rPr lang="en-VN" smtClean="0"/>
              <a:pPr/>
              <a:t>22</a:t>
            </a:fld>
            <a:endParaRPr lang="en-VN" dirty="0"/>
          </a:p>
        </p:txBody>
      </p:sp>
      <p:sp>
        <p:nvSpPr>
          <p:cNvPr id="6" name="Date Placeholder 5">
            <a:extLst>
              <a:ext uri="{FF2B5EF4-FFF2-40B4-BE49-F238E27FC236}">
                <a16:creationId xmlns:a16="http://schemas.microsoft.com/office/drawing/2014/main" id="{406C444C-080A-5CFF-834A-EB146C7FFB95}"/>
              </a:ext>
            </a:extLst>
          </p:cNvPr>
          <p:cNvSpPr>
            <a:spLocks noGrp="1"/>
          </p:cNvSpPr>
          <p:nvPr>
            <p:ph type="dt" sz="half" idx="13"/>
          </p:nvPr>
        </p:nvSpPr>
        <p:spPr/>
        <p:txBody>
          <a:bodyPr/>
          <a:lstStyle/>
          <a:p>
            <a:fld id="{46CDDB1B-AAE9-1649-A755-11FADEB7E97E}" type="datetime4">
              <a:rPr lang="en-US" smtClean="0"/>
              <a:pPr/>
              <a:t>April 21, 2024</a:t>
            </a:fld>
            <a:endParaRPr lang="en-US" dirty="0"/>
          </a:p>
        </p:txBody>
      </p:sp>
      <p:sp>
        <p:nvSpPr>
          <p:cNvPr id="3" name="Rectangle 2">
            <a:extLst>
              <a:ext uri="{FF2B5EF4-FFF2-40B4-BE49-F238E27FC236}">
                <a16:creationId xmlns:a16="http://schemas.microsoft.com/office/drawing/2014/main" id="{B334FAB8-C749-CC69-79F1-63875AB4674C}"/>
              </a:ext>
            </a:extLst>
          </p:cNvPr>
          <p:cNvSpPr/>
          <p:nvPr/>
        </p:nvSpPr>
        <p:spPr>
          <a:xfrm>
            <a:off x="6369682" y="3513806"/>
            <a:ext cx="539992" cy="585401"/>
          </a:xfrm>
          <a:prstGeom prst="rect">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aphicFrame>
        <p:nvGraphicFramePr>
          <p:cNvPr id="17" name="Table 16">
            <a:extLst>
              <a:ext uri="{FF2B5EF4-FFF2-40B4-BE49-F238E27FC236}">
                <a16:creationId xmlns:a16="http://schemas.microsoft.com/office/drawing/2014/main" id="{D7214DCC-A86E-AF28-D5AB-655DA2D68EF8}"/>
              </a:ext>
            </a:extLst>
          </p:cNvPr>
          <p:cNvGraphicFramePr>
            <a:graphicFrameLocks noGrp="1"/>
          </p:cNvGraphicFramePr>
          <p:nvPr>
            <p:extLst>
              <p:ext uri="{D42A27DB-BD31-4B8C-83A1-F6EECF244321}">
                <p14:modId xmlns:p14="http://schemas.microsoft.com/office/powerpoint/2010/main" val="2765997682"/>
              </p:ext>
            </p:extLst>
          </p:nvPr>
        </p:nvGraphicFramePr>
        <p:xfrm>
          <a:off x="1704102" y="2657523"/>
          <a:ext cx="2398103" cy="2606040"/>
        </p:xfrm>
        <a:graphic>
          <a:graphicData uri="http://schemas.openxmlformats.org/drawingml/2006/table">
            <a:tbl>
              <a:tblPr firstRow="1" bandRow="1">
                <a:tableStyleId>{5940675A-B579-460E-94D1-54222C63F5DA}</a:tableStyleId>
              </a:tblPr>
              <a:tblGrid>
                <a:gridCol w="947372">
                  <a:extLst>
                    <a:ext uri="{9D8B030D-6E8A-4147-A177-3AD203B41FA5}">
                      <a16:colId xmlns:a16="http://schemas.microsoft.com/office/drawing/2014/main" val="2104779220"/>
                    </a:ext>
                  </a:extLst>
                </a:gridCol>
                <a:gridCol w="1450731">
                  <a:extLst>
                    <a:ext uri="{9D8B030D-6E8A-4147-A177-3AD203B41FA5}">
                      <a16:colId xmlns:a16="http://schemas.microsoft.com/office/drawing/2014/main" val="1767099797"/>
                    </a:ext>
                  </a:extLst>
                </a:gridCol>
              </a:tblGrid>
              <a:tr h="434340">
                <a:tc>
                  <a:txBody>
                    <a:bodyPr/>
                    <a:lstStyle/>
                    <a:p>
                      <a:pPr algn="ctr"/>
                      <a:r>
                        <a:rPr lang="en-US" sz="2400" dirty="0">
                          <a:latin typeface="Times New Roman" panose="02020603050405020304" pitchFamily="18" charset="0"/>
                          <a:cs typeface="Times New Roman" panose="02020603050405020304" pitchFamily="18" charset="0"/>
                        </a:rPr>
                        <a:t>$t1</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latin typeface="Times New Roman" panose="02020603050405020304" pitchFamily="18" charset="0"/>
                          <a:cs typeface="Times New Roman" panose="02020603050405020304" pitchFamily="18" charset="0"/>
                        </a:rPr>
                        <a:t>0x3</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1080934"/>
                  </a:ext>
                </a:extLst>
              </a:tr>
              <a:tr h="434340">
                <a:tc>
                  <a:txBody>
                    <a:bodyPr/>
                    <a:lstStyle/>
                    <a:p>
                      <a:pPr algn="ctr"/>
                      <a:r>
                        <a:rPr lang="en-US" sz="2400" dirty="0">
                          <a:latin typeface="Times New Roman" panose="02020603050405020304" pitchFamily="18" charset="0"/>
                          <a:cs typeface="Times New Roman" panose="02020603050405020304" pitchFamily="18" charset="0"/>
                        </a:rPr>
                        <a:t>$t0</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0x08</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3117984"/>
                  </a:ext>
                </a:extLst>
              </a:tr>
              <a:tr h="434340">
                <a:tc>
                  <a:txBody>
                    <a:bodyPr/>
                    <a:lstStyle/>
                    <a:p>
                      <a:pPr algn="ctr"/>
                      <a:r>
                        <a:rPr lang="en-US" sz="2400" dirty="0">
                          <a:latin typeface="Times New Roman" panose="02020603050405020304" pitchFamily="18" charset="0"/>
                          <a:cs typeface="Times New Roman" panose="02020603050405020304" pitchFamily="18" charset="0"/>
                        </a:rPr>
                        <a:t>….</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latin typeface="Times New Roman" panose="02020603050405020304" pitchFamily="18" charset="0"/>
                          <a:cs typeface="Times New Roman" panose="02020603050405020304" pitchFamily="18" charset="0"/>
                        </a:rPr>
                        <a:t>…</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47873999"/>
                  </a:ext>
                </a:extLst>
              </a:tr>
              <a:tr h="434340">
                <a:tc>
                  <a:txBody>
                    <a:bodyPr/>
                    <a:lstStyle/>
                    <a:p>
                      <a:pPr algn="ctr"/>
                      <a:r>
                        <a:rPr lang="en-US" sz="2400" dirty="0">
                          <a:latin typeface="Times New Roman" panose="02020603050405020304" pitchFamily="18" charset="0"/>
                          <a:cs typeface="Times New Roman" panose="02020603050405020304" pitchFamily="18" charset="0"/>
                        </a:rPr>
                        <a:t>$s1</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latin typeface="Times New Roman" panose="02020603050405020304" pitchFamily="18" charset="0"/>
                          <a:cs typeface="Times New Roman" panose="02020603050405020304" pitchFamily="18" charset="0"/>
                        </a:rPr>
                        <a:t>0x1993</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28760704"/>
                  </a:ext>
                </a:extLst>
              </a:tr>
              <a:tr h="434340">
                <a:tc>
                  <a:txBody>
                    <a:bodyPr/>
                    <a:lstStyle/>
                    <a:p>
                      <a:pPr algn="ctr"/>
                      <a:r>
                        <a:rPr lang="en-US" sz="2400" dirty="0">
                          <a:latin typeface="Times New Roman" panose="02020603050405020304" pitchFamily="18" charset="0"/>
                          <a:cs typeface="Times New Roman" panose="02020603050405020304" pitchFamily="18" charset="0"/>
                        </a:rPr>
                        <a:t>$s2</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latin typeface="Times New Roman" panose="02020603050405020304" pitchFamily="18" charset="0"/>
                          <a:cs typeface="Times New Roman" panose="02020603050405020304" pitchFamily="18" charset="0"/>
                        </a:rPr>
                        <a:t>0x2021</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43278351"/>
                  </a:ext>
                </a:extLst>
              </a:tr>
              <a:tr h="434340">
                <a:tc>
                  <a:txBody>
                    <a:bodyPr/>
                    <a:lstStyle/>
                    <a:p>
                      <a:pPr algn="ctr"/>
                      <a:r>
                        <a:rPr lang="en-US" sz="2400" dirty="0">
                          <a:latin typeface="Times New Roman" panose="02020603050405020304" pitchFamily="18" charset="0"/>
                          <a:cs typeface="Times New Roman" panose="02020603050405020304" pitchFamily="18" charset="0"/>
                        </a:rPr>
                        <a:t>…</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en-US" sz="240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6466771"/>
                  </a:ext>
                </a:extLst>
              </a:tr>
            </a:tbl>
          </a:graphicData>
        </a:graphic>
      </p:graphicFrame>
      <p:sp>
        <p:nvSpPr>
          <p:cNvPr id="18" name="TextBox 17">
            <a:extLst>
              <a:ext uri="{FF2B5EF4-FFF2-40B4-BE49-F238E27FC236}">
                <a16:creationId xmlns:a16="http://schemas.microsoft.com/office/drawing/2014/main" id="{15093FEB-362D-499D-536C-20702F04FA88}"/>
              </a:ext>
            </a:extLst>
          </p:cNvPr>
          <p:cNvSpPr txBox="1"/>
          <p:nvPr/>
        </p:nvSpPr>
        <p:spPr>
          <a:xfrm>
            <a:off x="1704101" y="2111419"/>
            <a:ext cx="2817202" cy="461665"/>
          </a:xfrm>
          <a:prstGeom prst="rect">
            <a:avLst/>
          </a:prstGeom>
          <a:noFill/>
        </p:spPr>
        <p:txBody>
          <a:bodyPr wrap="square">
            <a:spAutoFit/>
          </a:bodyPr>
          <a:lstStyle/>
          <a:p>
            <a:pPr algn="ctr"/>
            <a:r>
              <a:rPr lang="en-US" sz="2400" dirty="0" err="1">
                <a:latin typeface="Times New Roman" panose="02020603050405020304" pitchFamily="18" charset="0"/>
                <a:cs typeface="Times New Roman" panose="02020603050405020304" pitchFamily="18" charset="0"/>
              </a:rPr>
              <a:t>Tập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thanh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ghi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trước</a:t>
            </a:r>
            <a:r>
              <a:rPr lang="en-US" sz="2400" dirty="0">
                <a:latin typeface="Times New Roman" panose="02020603050405020304" pitchFamily="18" charset="0"/>
                <a:cs typeface="Times New Roman" panose="02020603050405020304" pitchFamily="18" charset="0"/>
              </a:rPr>
              <a:t>)</a:t>
            </a:r>
          </a:p>
        </p:txBody>
      </p:sp>
      <p:sp>
        <p:nvSpPr>
          <p:cNvPr id="19" name="TextBox 18">
            <a:extLst>
              <a:ext uri="{FF2B5EF4-FFF2-40B4-BE49-F238E27FC236}">
                <a16:creationId xmlns:a16="http://schemas.microsoft.com/office/drawing/2014/main" id="{3D756BFC-7B28-0389-4C89-1E9A1EF363F4}"/>
              </a:ext>
            </a:extLst>
          </p:cNvPr>
          <p:cNvSpPr txBox="1"/>
          <p:nvPr/>
        </p:nvSpPr>
        <p:spPr>
          <a:xfrm>
            <a:off x="4846802" y="3555367"/>
            <a:ext cx="2287099" cy="461665"/>
          </a:xfrm>
          <a:prstGeom prst="rect">
            <a:avLst/>
          </a:prstGeom>
          <a:noFill/>
        </p:spPr>
        <p:txBody>
          <a:bodyPr wrap="square">
            <a:spAutoFit/>
          </a:bodyPr>
          <a:lstStyle/>
          <a:p>
            <a:r>
              <a:rPr lang="en-US" sz="2400" dirty="0" err="1">
                <a:solidFill>
                  <a:srgbClr val="FF0000"/>
                </a:solidFill>
                <a:latin typeface="Times New Roman" panose="02020603050405020304" pitchFamily="18" charset="0"/>
                <a:cs typeface="Times New Roman" panose="02020603050405020304" pitchFamily="18" charset="0"/>
              </a:rPr>
              <a:t>slti</a:t>
            </a:r>
            <a:r>
              <a:rPr lang="en-US" sz="2400" dirty="0">
                <a:latin typeface="Times New Roman" panose="02020603050405020304" pitchFamily="18" charset="0"/>
                <a:cs typeface="Times New Roman" panose="02020603050405020304" pitchFamily="18" charset="0"/>
              </a:rPr>
              <a:t> </a:t>
            </a:r>
            <a:r>
              <a:rPr lang="en-US" sz="2400" dirty="0">
                <a:solidFill>
                  <a:srgbClr val="7030A0"/>
                </a:solidFill>
                <a:latin typeface="Times New Roman" panose="02020603050405020304" pitchFamily="18" charset="0"/>
                <a:cs typeface="Times New Roman" panose="02020603050405020304" pitchFamily="18" charset="0"/>
              </a:rPr>
              <a:t>$t0</a:t>
            </a:r>
            <a:r>
              <a:rPr lang="en-US" sz="2400" dirty="0">
                <a:latin typeface="Times New Roman" panose="02020603050405020304" pitchFamily="18" charset="0"/>
                <a:cs typeface="Times New Roman" panose="02020603050405020304" pitchFamily="18" charset="0"/>
              </a:rPr>
              <a:t>, </a:t>
            </a:r>
            <a:r>
              <a:rPr lang="en-US" sz="2400" dirty="0">
                <a:solidFill>
                  <a:srgbClr val="FFC000"/>
                </a:solidFill>
                <a:latin typeface="Times New Roman" panose="02020603050405020304" pitchFamily="18" charset="0"/>
                <a:cs typeface="Times New Roman" panose="02020603050405020304" pitchFamily="18" charset="0"/>
              </a:rPr>
              <a:t>$s2</a:t>
            </a:r>
            <a:r>
              <a:rPr lang="en-US" sz="2400" dirty="0">
                <a:latin typeface="Times New Roman" panose="02020603050405020304" pitchFamily="18" charset="0"/>
                <a:cs typeface="Times New Roman" panose="02020603050405020304" pitchFamily="18" charset="0"/>
              </a:rPr>
              <a:t>, </a:t>
            </a:r>
            <a:r>
              <a:rPr lang="en-US" sz="2400" dirty="0">
                <a:solidFill>
                  <a:srgbClr val="00B050"/>
                </a:solidFill>
                <a:latin typeface="Times New Roman" panose="02020603050405020304" pitchFamily="18" charset="0"/>
                <a:cs typeface="Times New Roman" panose="02020603050405020304" pitchFamily="18" charset="0"/>
              </a:rPr>
              <a:t>-8</a:t>
            </a:r>
            <a:endParaRPr lang="en-US" sz="2400" dirty="0">
              <a:latin typeface="Times New Roman" panose="02020603050405020304" pitchFamily="18" charset="0"/>
              <a:cs typeface="Times New Roman" panose="02020603050405020304" pitchFamily="18" charset="0"/>
            </a:endParaRPr>
          </a:p>
        </p:txBody>
      </p:sp>
      <p:graphicFrame>
        <p:nvGraphicFramePr>
          <p:cNvPr id="20" name="Table 19">
            <a:extLst>
              <a:ext uri="{FF2B5EF4-FFF2-40B4-BE49-F238E27FC236}">
                <a16:creationId xmlns:a16="http://schemas.microsoft.com/office/drawing/2014/main" id="{B895CBB7-0D66-3203-8451-607BF656CE22}"/>
              </a:ext>
            </a:extLst>
          </p:cNvPr>
          <p:cNvGraphicFramePr>
            <a:graphicFrameLocks noGrp="1"/>
          </p:cNvGraphicFramePr>
          <p:nvPr>
            <p:extLst>
              <p:ext uri="{D42A27DB-BD31-4B8C-83A1-F6EECF244321}">
                <p14:modId xmlns:p14="http://schemas.microsoft.com/office/powerpoint/2010/main" val="2188522376"/>
              </p:ext>
            </p:extLst>
          </p:nvPr>
        </p:nvGraphicFramePr>
        <p:xfrm>
          <a:off x="7557588" y="2635539"/>
          <a:ext cx="2398103" cy="2606040"/>
        </p:xfrm>
        <a:graphic>
          <a:graphicData uri="http://schemas.openxmlformats.org/drawingml/2006/table">
            <a:tbl>
              <a:tblPr firstRow="1" bandRow="1">
                <a:tableStyleId>{5940675A-B579-460E-94D1-54222C63F5DA}</a:tableStyleId>
              </a:tblPr>
              <a:tblGrid>
                <a:gridCol w="947372">
                  <a:extLst>
                    <a:ext uri="{9D8B030D-6E8A-4147-A177-3AD203B41FA5}">
                      <a16:colId xmlns:a16="http://schemas.microsoft.com/office/drawing/2014/main" val="2104779220"/>
                    </a:ext>
                  </a:extLst>
                </a:gridCol>
                <a:gridCol w="1450731">
                  <a:extLst>
                    <a:ext uri="{9D8B030D-6E8A-4147-A177-3AD203B41FA5}">
                      <a16:colId xmlns:a16="http://schemas.microsoft.com/office/drawing/2014/main" val="1767099797"/>
                    </a:ext>
                  </a:extLst>
                </a:gridCol>
              </a:tblGrid>
              <a:tr h="434340">
                <a:tc>
                  <a:txBody>
                    <a:bodyPr/>
                    <a:lstStyle/>
                    <a:p>
                      <a:pPr algn="ctr"/>
                      <a:r>
                        <a:rPr lang="en-US" sz="2400" dirty="0">
                          <a:latin typeface="Times New Roman" panose="02020603050405020304" pitchFamily="18" charset="0"/>
                          <a:cs typeface="Times New Roman" panose="02020603050405020304" pitchFamily="18" charset="0"/>
                        </a:rPr>
                        <a:t>$t1</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latin typeface="Times New Roman" panose="02020603050405020304" pitchFamily="18" charset="0"/>
                          <a:cs typeface="Times New Roman" panose="02020603050405020304" pitchFamily="18" charset="0"/>
                        </a:rPr>
                        <a:t>0x3</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1080934"/>
                  </a:ext>
                </a:extLst>
              </a:tr>
              <a:tr h="434340">
                <a:tc>
                  <a:txBody>
                    <a:bodyPr/>
                    <a:lstStyle/>
                    <a:p>
                      <a:pPr algn="ctr"/>
                      <a:r>
                        <a:rPr lang="en-US" sz="2400" dirty="0">
                          <a:latin typeface="Times New Roman" panose="02020603050405020304" pitchFamily="18" charset="0"/>
                          <a:cs typeface="Times New Roman" panose="02020603050405020304" pitchFamily="18" charset="0"/>
                        </a:rPr>
                        <a:t>$t0</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0x08</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3117984"/>
                  </a:ext>
                </a:extLst>
              </a:tr>
              <a:tr h="434340">
                <a:tc>
                  <a:txBody>
                    <a:bodyPr/>
                    <a:lstStyle/>
                    <a:p>
                      <a:pPr algn="ctr"/>
                      <a:r>
                        <a:rPr lang="en-US" sz="2400" dirty="0">
                          <a:latin typeface="Times New Roman" panose="02020603050405020304" pitchFamily="18" charset="0"/>
                          <a:cs typeface="Times New Roman" panose="02020603050405020304" pitchFamily="18" charset="0"/>
                        </a:rPr>
                        <a:t>….</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latin typeface="Times New Roman" panose="02020603050405020304" pitchFamily="18" charset="0"/>
                          <a:cs typeface="Times New Roman" panose="02020603050405020304" pitchFamily="18" charset="0"/>
                        </a:rPr>
                        <a:t>…</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47873999"/>
                  </a:ext>
                </a:extLst>
              </a:tr>
              <a:tr h="434340">
                <a:tc>
                  <a:txBody>
                    <a:bodyPr/>
                    <a:lstStyle/>
                    <a:p>
                      <a:pPr algn="ctr"/>
                      <a:r>
                        <a:rPr lang="en-US" sz="2400" dirty="0">
                          <a:latin typeface="Times New Roman" panose="02020603050405020304" pitchFamily="18" charset="0"/>
                          <a:cs typeface="Times New Roman" panose="02020603050405020304" pitchFamily="18" charset="0"/>
                        </a:rPr>
                        <a:t>$s1</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latin typeface="Times New Roman" panose="02020603050405020304" pitchFamily="18" charset="0"/>
                          <a:cs typeface="Times New Roman" panose="02020603050405020304" pitchFamily="18" charset="0"/>
                        </a:rPr>
                        <a:t>0xCAFE</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28760704"/>
                  </a:ext>
                </a:extLst>
              </a:tr>
              <a:tr h="434340">
                <a:tc>
                  <a:txBody>
                    <a:bodyPr/>
                    <a:lstStyle/>
                    <a:p>
                      <a:pPr algn="ctr"/>
                      <a:r>
                        <a:rPr lang="en-US" sz="2400" dirty="0">
                          <a:latin typeface="Times New Roman" panose="02020603050405020304" pitchFamily="18" charset="0"/>
                          <a:cs typeface="Times New Roman" panose="02020603050405020304" pitchFamily="18" charset="0"/>
                        </a:rPr>
                        <a:t>$s2</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latin typeface="Times New Roman" panose="02020603050405020304" pitchFamily="18" charset="0"/>
                          <a:cs typeface="Times New Roman" panose="02020603050405020304" pitchFamily="18" charset="0"/>
                        </a:rPr>
                        <a:t>0xCAFA</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43278351"/>
                  </a:ext>
                </a:extLst>
              </a:tr>
              <a:tr h="434340">
                <a:tc>
                  <a:txBody>
                    <a:bodyPr/>
                    <a:lstStyle/>
                    <a:p>
                      <a:pPr algn="ctr"/>
                      <a:r>
                        <a:rPr lang="en-US" sz="2400" dirty="0">
                          <a:latin typeface="Times New Roman" panose="02020603050405020304" pitchFamily="18" charset="0"/>
                          <a:cs typeface="Times New Roman" panose="02020603050405020304" pitchFamily="18" charset="0"/>
                        </a:rPr>
                        <a:t>…</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en-US" sz="240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6466771"/>
                  </a:ext>
                </a:extLst>
              </a:tr>
            </a:tbl>
          </a:graphicData>
        </a:graphic>
      </p:graphicFrame>
      <p:sp>
        <p:nvSpPr>
          <p:cNvPr id="21" name="TextBox 20">
            <a:extLst>
              <a:ext uri="{FF2B5EF4-FFF2-40B4-BE49-F238E27FC236}">
                <a16:creationId xmlns:a16="http://schemas.microsoft.com/office/drawing/2014/main" id="{5D7CED3B-C576-8784-3537-15A49FA92E1A}"/>
              </a:ext>
            </a:extLst>
          </p:cNvPr>
          <p:cNvSpPr txBox="1"/>
          <p:nvPr/>
        </p:nvSpPr>
        <p:spPr>
          <a:xfrm>
            <a:off x="7438889" y="2089435"/>
            <a:ext cx="2817202" cy="461665"/>
          </a:xfrm>
          <a:prstGeom prst="rect">
            <a:avLst/>
          </a:prstGeom>
          <a:noFill/>
        </p:spPr>
        <p:txBody>
          <a:bodyPr wrap="square">
            <a:spAutoFit/>
          </a:bodyPr>
          <a:lstStyle/>
          <a:p>
            <a:pPr algn="ctr"/>
            <a:r>
              <a:rPr lang="en-US" sz="2400" dirty="0" err="1">
                <a:latin typeface="Times New Roman" panose="02020603050405020304" pitchFamily="18" charset="0"/>
                <a:cs typeface="Times New Roman" panose="02020603050405020304" pitchFamily="18" charset="0"/>
              </a:rPr>
              <a:t>Tập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thanh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ghi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sau</a:t>
            </a:r>
            <a:r>
              <a:rPr lang="en-US" sz="2400" dirty="0">
                <a:latin typeface="Times New Roman" panose="02020603050405020304" pitchFamily="18" charset="0"/>
                <a:cs typeface="Times New Roman" panose="02020603050405020304" pitchFamily="18" charset="0"/>
              </a:rPr>
              <a:t>)</a:t>
            </a:r>
          </a:p>
        </p:txBody>
      </p:sp>
      <p:cxnSp>
        <p:nvCxnSpPr>
          <p:cNvPr id="22" name="Straight Arrow Connector 21">
            <a:extLst>
              <a:ext uri="{FF2B5EF4-FFF2-40B4-BE49-F238E27FC236}">
                <a16:creationId xmlns:a16="http://schemas.microsoft.com/office/drawing/2014/main" id="{DA8B8304-DF33-FAE8-5545-57B037C6F0F5}"/>
              </a:ext>
            </a:extLst>
          </p:cNvPr>
          <p:cNvCxnSpPr>
            <a:cxnSpLocks/>
          </p:cNvCxnSpPr>
          <p:nvPr/>
        </p:nvCxnSpPr>
        <p:spPr>
          <a:xfrm flipV="1">
            <a:off x="4102204" y="3993948"/>
            <a:ext cx="2094033" cy="585401"/>
          </a:xfrm>
          <a:prstGeom prst="straightConnector1">
            <a:avLst/>
          </a:prstGeom>
          <a:ln>
            <a:solidFill>
              <a:srgbClr val="FFC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3" name="Lightning Bolt 22">
            <a:extLst>
              <a:ext uri="{FF2B5EF4-FFF2-40B4-BE49-F238E27FC236}">
                <a16:creationId xmlns:a16="http://schemas.microsoft.com/office/drawing/2014/main" id="{E6745FE6-F831-4AD8-5C07-7032E07E61A6}"/>
              </a:ext>
            </a:extLst>
          </p:cNvPr>
          <p:cNvSpPr/>
          <p:nvPr/>
        </p:nvSpPr>
        <p:spPr>
          <a:xfrm>
            <a:off x="4679565" y="2912246"/>
            <a:ext cx="348770" cy="643121"/>
          </a:xfrm>
          <a:prstGeom prst="lightningBol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24" name="Straight Arrow Connector 23">
            <a:extLst>
              <a:ext uri="{FF2B5EF4-FFF2-40B4-BE49-F238E27FC236}">
                <a16:creationId xmlns:a16="http://schemas.microsoft.com/office/drawing/2014/main" id="{412E67F6-AC4F-01D4-BD77-EC6DF023B18E}"/>
              </a:ext>
            </a:extLst>
          </p:cNvPr>
          <p:cNvCxnSpPr>
            <a:cxnSpLocks/>
          </p:cNvCxnSpPr>
          <p:nvPr/>
        </p:nvCxnSpPr>
        <p:spPr>
          <a:xfrm flipH="1">
            <a:off x="5866526" y="3318157"/>
            <a:ext cx="2513868" cy="359019"/>
          </a:xfrm>
          <a:prstGeom prst="straightConnector1">
            <a:avLst/>
          </a:prstGeom>
          <a:ln>
            <a:solidFill>
              <a:srgbClr val="7030A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AED49FDD-9F30-C7A6-F05C-2B9112592852}"/>
              </a:ext>
            </a:extLst>
          </p:cNvPr>
          <p:cNvSpPr/>
          <p:nvPr/>
        </p:nvSpPr>
        <p:spPr>
          <a:xfrm>
            <a:off x="8506856" y="3070507"/>
            <a:ext cx="1448835" cy="428625"/>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6" name="TextBox 25">
            <a:extLst>
              <a:ext uri="{FF2B5EF4-FFF2-40B4-BE49-F238E27FC236}">
                <a16:creationId xmlns:a16="http://schemas.microsoft.com/office/drawing/2014/main" id="{BDD1A6E2-05BD-00C1-1DA6-0B4BBB66BDE5}"/>
              </a:ext>
            </a:extLst>
          </p:cNvPr>
          <p:cNvSpPr txBox="1"/>
          <p:nvPr/>
        </p:nvSpPr>
        <p:spPr>
          <a:xfrm>
            <a:off x="8506856" y="3065529"/>
            <a:ext cx="1448835" cy="461665"/>
          </a:xfrm>
          <a:prstGeom prst="rect">
            <a:avLst/>
          </a:prstGeom>
          <a:noFill/>
        </p:spPr>
        <p:txBody>
          <a:bodyPr wrap="square">
            <a:spAutoFit/>
          </a:bodyPr>
          <a:lstStyle/>
          <a:p>
            <a:pPr algn="ctr"/>
            <a:r>
              <a:rPr lang="en-US" sz="2400" dirty="0">
                <a:solidFill>
                  <a:schemeClr val="bg1"/>
                </a:solidFill>
                <a:latin typeface="Times New Roman" panose="02020603050405020304" pitchFamily="18" charset="0"/>
                <a:cs typeface="Times New Roman" panose="02020603050405020304" pitchFamily="18" charset="0"/>
              </a:rPr>
              <a:t>0x0</a:t>
            </a:r>
          </a:p>
        </p:txBody>
      </p:sp>
      <p:sp>
        <p:nvSpPr>
          <p:cNvPr id="27" name="TextBox 26">
            <a:extLst>
              <a:ext uri="{FF2B5EF4-FFF2-40B4-BE49-F238E27FC236}">
                <a16:creationId xmlns:a16="http://schemas.microsoft.com/office/drawing/2014/main" id="{8F82AAC9-A0F6-10C9-DC26-63F7DEC36418}"/>
              </a:ext>
            </a:extLst>
          </p:cNvPr>
          <p:cNvSpPr txBox="1"/>
          <p:nvPr/>
        </p:nvSpPr>
        <p:spPr>
          <a:xfrm>
            <a:off x="5083732" y="4891793"/>
            <a:ext cx="1963893" cy="461665"/>
          </a:xfrm>
          <a:prstGeom prst="rect">
            <a:avLst/>
          </a:prstGeom>
          <a:noFill/>
        </p:spPr>
        <p:txBody>
          <a:bodyPr wrap="square">
            <a:spAutoFit/>
          </a:bodyPr>
          <a:lstStyle/>
          <a:p>
            <a:r>
              <a:rPr lang="en-US" sz="2400" dirty="0">
                <a:solidFill>
                  <a:srgbClr val="00B050"/>
                </a:solidFill>
                <a:highlight>
                  <a:srgbClr val="FFFF00"/>
                </a:highlight>
                <a:latin typeface="Times New Roman" panose="02020603050405020304" pitchFamily="18" charset="0"/>
                <a:cs typeface="Times New Roman" panose="02020603050405020304" pitchFamily="18" charset="0"/>
              </a:rPr>
              <a:t>0xFFFFFFF8</a:t>
            </a:r>
            <a:endParaRPr lang="en-US" sz="2400" dirty="0">
              <a:highlight>
                <a:srgbClr val="FFFF00"/>
              </a:highlight>
            </a:endParaRPr>
          </a:p>
        </p:txBody>
      </p:sp>
      <p:cxnSp>
        <p:nvCxnSpPr>
          <p:cNvPr id="28" name="Straight Arrow Connector 27">
            <a:extLst>
              <a:ext uri="{FF2B5EF4-FFF2-40B4-BE49-F238E27FC236}">
                <a16:creationId xmlns:a16="http://schemas.microsoft.com/office/drawing/2014/main" id="{D913919D-4356-D5A3-30E6-7B8C2CCA0D0A}"/>
              </a:ext>
            </a:extLst>
          </p:cNvPr>
          <p:cNvCxnSpPr>
            <a:cxnSpLocks/>
            <a:stCxn id="27" idx="0"/>
            <a:endCxn id="3" idx="2"/>
          </p:cNvCxnSpPr>
          <p:nvPr/>
        </p:nvCxnSpPr>
        <p:spPr>
          <a:xfrm flipV="1">
            <a:off x="6065679" y="4099207"/>
            <a:ext cx="573999" cy="792586"/>
          </a:xfrm>
          <a:prstGeom prst="straightConnector1">
            <a:avLst/>
          </a:prstGeom>
          <a:ln>
            <a:solidFill>
              <a:srgbClr val="00B05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64915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2"/>
                                        </p:tgtEl>
                                        <p:attrNameLst>
                                          <p:attrName>style.visibility</p:attrName>
                                        </p:attrNameLst>
                                      </p:cBhvr>
                                      <p:to>
                                        <p:strVal val="visible"/>
                                      </p:to>
                                    </p:set>
                                    <p:anim calcmode="lin" valueType="num">
                                      <p:cBhvr additive="base">
                                        <p:cTn id="13" dur="500" fill="hold"/>
                                        <p:tgtEl>
                                          <p:spTgt spid="22"/>
                                        </p:tgtEl>
                                        <p:attrNameLst>
                                          <p:attrName>ppt_x</p:attrName>
                                        </p:attrNameLst>
                                      </p:cBhvr>
                                      <p:tavLst>
                                        <p:tav tm="0">
                                          <p:val>
                                            <p:strVal val="#ppt_x"/>
                                          </p:val>
                                        </p:tav>
                                        <p:tav tm="100000">
                                          <p:val>
                                            <p:strVal val="#ppt_x"/>
                                          </p:val>
                                        </p:tav>
                                      </p:tavLst>
                                    </p:anim>
                                    <p:anim calcmode="lin" valueType="num">
                                      <p:cBhvr additive="base">
                                        <p:cTn id="14"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8"/>
                                        </p:tgtEl>
                                        <p:attrNameLst>
                                          <p:attrName>style.visibility</p:attrName>
                                        </p:attrNameLst>
                                      </p:cBhvr>
                                      <p:to>
                                        <p:strVal val="visible"/>
                                      </p:to>
                                    </p:set>
                                    <p:anim calcmode="lin" valueType="num">
                                      <p:cBhvr additive="base">
                                        <p:cTn id="25" dur="500" fill="hold"/>
                                        <p:tgtEl>
                                          <p:spTgt spid="28"/>
                                        </p:tgtEl>
                                        <p:attrNameLst>
                                          <p:attrName>ppt_x</p:attrName>
                                        </p:attrNameLst>
                                      </p:cBhvr>
                                      <p:tavLst>
                                        <p:tav tm="0">
                                          <p:val>
                                            <p:strVal val="#ppt_x"/>
                                          </p:val>
                                        </p:tav>
                                        <p:tav tm="100000">
                                          <p:val>
                                            <p:strVal val="#ppt_x"/>
                                          </p:val>
                                        </p:tav>
                                      </p:tavLst>
                                    </p:anim>
                                    <p:anim calcmode="lin" valueType="num">
                                      <p:cBhvr additive="base">
                                        <p:cTn id="26" dur="500" fill="hold"/>
                                        <p:tgtEl>
                                          <p:spTgt spid="28"/>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27"/>
                                        </p:tgtEl>
                                        <p:attrNameLst>
                                          <p:attrName>style.visibility</p:attrName>
                                        </p:attrNameLst>
                                      </p:cBhvr>
                                      <p:to>
                                        <p:strVal val="visible"/>
                                      </p:to>
                                    </p:set>
                                    <p:anim calcmode="lin" valueType="num">
                                      <p:cBhvr additive="base">
                                        <p:cTn id="29" dur="500" fill="hold"/>
                                        <p:tgtEl>
                                          <p:spTgt spid="27"/>
                                        </p:tgtEl>
                                        <p:attrNameLst>
                                          <p:attrName>ppt_x</p:attrName>
                                        </p:attrNameLst>
                                      </p:cBhvr>
                                      <p:tavLst>
                                        <p:tav tm="0">
                                          <p:val>
                                            <p:strVal val="#ppt_x"/>
                                          </p:val>
                                        </p:tav>
                                        <p:tav tm="100000">
                                          <p:val>
                                            <p:strVal val="#ppt_x"/>
                                          </p:val>
                                        </p:tav>
                                      </p:tavLst>
                                    </p:anim>
                                    <p:anim calcmode="lin" valueType="num">
                                      <p:cBhvr additive="base">
                                        <p:cTn id="30"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23"/>
                                        </p:tgtEl>
                                        <p:attrNameLst>
                                          <p:attrName>style.visibility</p:attrName>
                                        </p:attrNameLst>
                                      </p:cBhvr>
                                      <p:to>
                                        <p:strVal val="visible"/>
                                      </p:to>
                                    </p:set>
                                    <p:anim calcmode="lin" valueType="num">
                                      <p:cBhvr additive="base">
                                        <p:cTn id="35" dur="500" fill="hold"/>
                                        <p:tgtEl>
                                          <p:spTgt spid="23"/>
                                        </p:tgtEl>
                                        <p:attrNameLst>
                                          <p:attrName>ppt_x</p:attrName>
                                        </p:attrNameLst>
                                      </p:cBhvr>
                                      <p:tavLst>
                                        <p:tav tm="0">
                                          <p:val>
                                            <p:strVal val="#ppt_x"/>
                                          </p:val>
                                        </p:tav>
                                        <p:tav tm="100000">
                                          <p:val>
                                            <p:strVal val="#ppt_x"/>
                                          </p:val>
                                        </p:tav>
                                      </p:tavLst>
                                    </p:anim>
                                    <p:anim calcmode="lin" valueType="num">
                                      <p:cBhvr additive="base">
                                        <p:cTn id="36"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24"/>
                                        </p:tgtEl>
                                        <p:attrNameLst>
                                          <p:attrName>style.visibility</p:attrName>
                                        </p:attrNameLst>
                                      </p:cBhvr>
                                      <p:to>
                                        <p:strVal val="visible"/>
                                      </p:to>
                                    </p:set>
                                    <p:anim calcmode="lin" valueType="num">
                                      <p:cBhvr additive="base">
                                        <p:cTn id="41" dur="500" fill="hold"/>
                                        <p:tgtEl>
                                          <p:spTgt spid="24"/>
                                        </p:tgtEl>
                                        <p:attrNameLst>
                                          <p:attrName>ppt_x</p:attrName>
                                        </p:attrNameLst>
                                      </p:cBhvr>
                                      <p:tavLst>
                                        <p:tav tm="0">
                                          <p:val>
                                            <p:strVal val="#ppt_x"/>
                                          </p:val>
                                        </p:tav>
                                        <p:tav tm="100000">
                                          <p:val>
                                            <p:strVal val="#ppt_x"/>
                                          </p:val>
                                        </p:tav>
                                      </p:tavLst>
                                    </p:anim>
                                    <p:anim calcmode="lin" valueType="num">
                                      <p:cBhvr additive="base">
                                        <p:cTn id="42"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26"/>
                                        </p:tgtEl>
                                        <p:attrNameLst>
                                          <p:attrName>style.visibility</p:attrName>
                                        </p:attrNameLst>
                                      </p:cBhvr>
                                      <p:to>
                                        <p:strVal val="visible"/>
                                      </p:to>
                                    </p:set>
                                    <p:anim calcmode="lin" valueType="num">
                                      <p:cBhvr additive="base">
                                        <p:cTn id="51" dur="500" fill="hold"/>
                                        <p:tgtEl>
                                          <p:spTgt spid="26"/>
                                        </p:tgtEl>
                                        <p:attrNameLst>
                                          <p:attrName>ppt_x</p:attrName>
                                        </p:attrNameLst>
                                      </p:cBhvr>
                                      <p:tavLst>
                                        <p:tav tm="0">
                                          <p:val>
                                            <p:strVal val="#ppt_x"/>
                                          </p:val>
                                        </p:tav>
                                        <p:tav tm="100000">
                                          <p:val>
                                            <p:strVal val="#ppt_x"/>
                                          </p:val>
                                        </p:tav>
                                      </p:tavLst>
                                    </p:anim>
                                    <p:anim calcmode="lin" valueType="num">
                                      <p:cBhvr additive="base">
                                        <p:cTn id="52"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9" grpId="0"/>
      <p:bldP spid="23" grpId="0" animBg="1"/>
      <p:bldP spid="25" grpId="0" animBg="1"/>
      <p:bldP spid="26" grpId="0"/>
      <p:bldP spid="2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007A5-31A4-CA2B-DCAF-50899828F5DE}"/>
              </a:ext>
            </a:extLst>
          </p:cNvPr>
          <p:cNvSpPr>
            <a:spLocks noGrp="1"/>
          </p:cNvSpPr>
          <p:nvPr>
            <p:ph type="title"/>
          </p:nvPr>
        </p:nvSpPr>
        <p:spPr/>
        <p:txBody>
          <a:bodyPr/>
          <a:lstStyle/>
          <a:p>
            <a:r>
              <a:rPr lang="en-US"/>
              <a:t>Nhóm lệnh truyền dữ liệu </a:t>
            </a:r>
          </a:p>
        </p:txBody>
      </p:sp>
      <p:sp>
        <p:nvSpPr>
          <p:cNvPr id="4" name="Footer Placeholder 3">
            <a:extLst>
              <a:ext uri="{FF2B5EF4-FFF2-40B4-BE49-F238E27FC236}">
                <a16:creationId xmlns:a16="http://schemas.microsoft.com/office/drawing/2014/main" id="{C1559BA4-C569-9F23-7A4E-19CEA2E84C12}"/>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Slide Number Placeholder 4">
            <a:extLst>
              <a:ext uri="{FF2B5EF4-FFF2-40B4-BE49-F238E27FC236}">
                <a16:creationId xmlns:a16="http://schemas.microsoft.com/office/drawing/2014/main" id="{E7DF17DF-52AA-174E-F3C2-D98704DCA30B}"/>
              </a:ext>
            </a:extLst>
          </p:cNvPr>
          <p:cNvSpPr>
            <a:spLocks noGrp="1"/>
          </p:cNvSpPr>
          <p:nvPr>
            <p:ph type="sldNum" sz="quarter" idx="12"/>
          </p:nvPr>
        </p:nvSpPr>
        <p:spPr/>
        <p:txBody>
          <a:bodyPr/>
          <a:lstStyle/>
          <a:p>
            <a:fld id="{D8B0B3AC-44A8-D142-AAF6-9A453466E1A4}" type="slidenum">
              <a:rPr lang="en-VN" smtClean="0"/>
              <a:pPr/>
              <a:t>23</a:t>
            </a:fld>
            <a:endParaRPr lang="en-VN" dirty="0"/>
          </a:p>
        </p:txBody>
      </p:sp>
      <p:sp>
        <p:nvSpPr>
          <p:cNvPr id="6" name="Date Placeholder 5">
            <a:extLst>
              <a:ext uri="{FF2B5EF4-FFF2-40B4-BE49-F238E27FC236}">
                <a16:creationId xmlns:a16="http://schemas.microsoft.com/office/drawing/2014/main" id="{6144BD47-2711-F80A-FA42-0345AD86CF28}"/>
              </a:ext>
            </a:extLst>
          </p:cNvPr>
          <p:cNvSpPr>
            <a:spLocks noGrp="1"/>
          </p:cNvSpPr>
          <p:nvPr>
            <p:ph type="dt" sz="half" idx="13"/>
          </p:nvPr>
        </p:nvSpPr>
        <p:spPr/>
        <p:txBody>
          <a:bodyPr/>
          <a:lstStyle/>
          <a:p>
            <a:fld id="{46CDDB1B-AAE9-1649-A755-11FADEB7E97E}" type="datetime4">
              <a:rPr lang="en-US" smtClean="0"/>
              <a:pPr/>
              <a:t>April 21, 2024</a:t>
            </a:fld>
            <a:endParaRPr lang="en-US" dirty="0"/>
          </a:p>
        </p:txBody>
      </p:sp>
      <p:graphicFrame>
        <p:nvGraphicFramePr>
          <p:cNvPr id="7" name="Group 47">
            <a:extLst>
              <a:ext uri="{FF2B5EF4-FFF2-40B4-BE49-F238E27FC236}">
                <a16:creationId xmlns:a16="http://schemas.microsoft.com/office/drawing/2014/main" id="{3664581B-16EC-9C6C-47F9-9473400C2581}"/>
              </a:ext>
            </a:extLst>
          </p:cNvPr>
          <p:cNvGraphicFramePr>
            <a:graphicFrameLocks noGrp="1"/>
          </p:cNvGraphicFramePr>
          <p:nvPr>
            <p:extLst>
              <p:ext uri="{D42A27DB-BD31-4B8C-83A1-F6EECF244321}">
                <p14:modId xmlns:p14="http://schemas.microsoft.com/office/powerpoint/2010/main" val="3661992590"/>
              </p:ext>
            </p:extLst>
          </p:nvPr>
        </p:nvGraphicFramePr>
        <p:xfrm>
          <a:off x="1142797" y="1792072"/>
          <a:ext cx="9932210" cy="3865999"/>
        </p:xfrm>
        <a:graphic>
          <a:graphicData uri="http://schemas.openxmlformats.org/drawingml/2006/table">
            <a:tbl>
              <a:tblPr/>
              <a:tblGrid>
                <a:gridCol w="3872671">
                  <a:extLst>
                    <a:ext uri="{9D8B030D-6E8A-4147-A177-3AD203B41FA5}">
                      <a16:colId xmlns:a16="http://schemas.microsoft.com/office/drawing/2014/main" val="3649055853"/>
                    </a:ext>
                  </a:extLst>
                </a:gridCol>
                <a:gridCol w="3999192">
                  <a:extLst>
                    <a:ext uri="{9D8B030D-6E8A-4147-A177-3AD203B41FA5}">
                      <a16:colId xmlns:a16="http://schemas.microsoft.com/office/drawing/2014/main" val="20003"/>
                    </a:ext>
                  </a:extLst>
                </a:gridCol>
                <a:gridCol w="2060347">
                  <a:extLst>
                    <a:ext uri="{9D8B030D-6E8A-4147-A177-3AD203B41FA5}">
                      <a16:colId xmlns:a16="http://schemas.microsoft.com/office/drawing/2014/main" val="511114127"/>
                    </a:ext>
                  </a:extLst>
                </a:gridCol>
              </a:tblGrid>
              <a:tr h="64469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Thao </a:t>
                      </a:r>
                      <a:r>
                        <a:rPr kumimoji="0" lang="en-AU" sz="24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tác</a:t>
                      </a:r>
                      <a:endParaRPr kumimoji="0" lang="en-AU"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91183" marR="91183" marT="45592" marB="4559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MIPS</a:t>
                      </a:r>
                      <a:endParaRPr kumimoji="0" lang="en-AU"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91183" marR="91183" marT="45592" marB="4559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vi-VN"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Định dạng</a:t>
                      </a:r>
                      <a:endParaRPr kumimoji="0" lang="en-AU"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91183" marR="91183" marT="45592" marB="4559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4469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Nạp</a:t>
                      </a:r>
                      <a:r>
                        <a:rPr kumimoji="0" lang="en-A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word</a:t>
                      </a:r>
                    </a:p>
                  </a:txBody>
                  <a:tcPr marL="91183" marR="91183" marT="45592" marB="4559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lw</a:t>
                      </a:r>
                      <a:endParaRPr kumimoji="0" lang="en-A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91183" marR="91183" marT="45592" marB="4559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a:t>
                      </a:r>
                      <a:endParaRPr kumimoji="0" lang="en-A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91183" marR="91183" marT="45592" marB="4559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764429477"/>
                  </a:ext>
                </a:extLst>
              </a:tr>
              <a:tr h="64469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Lưu</a:t>
                      </a:r>
                      <a:r>
                        <a:rPr kumimoji="0" lang="en-A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word</a:t>
                      </a:r>
                    </a:p>
                  </a:txBody>
                  <a:tcPr marL="91183" marR="91183" marT="45592" marB="4559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sw</a:t>
                      </a:r>
                      <a:endParaRPr kumimoji="0" lang="en-A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91183" marR="91183" marT="45592" marB="4559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vi-VN"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a:t>
                      </a:r>
                      <a:endParaRPr kumimoji="0" lang="en-A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91183" marR="91183" marT="45592" marB="4559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80267510"/>
                  </a:ext>
                </a:extLst>
              </a:tr>
              <a:tr h="64469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Nạp</a:t>
                      </a:r>
                      <a:r>
                        <a:rPr kumimoji="0" lang="en-A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byte</a:t>
                      </a:r>
                    </a:p>
                  </a:txBody>
                  <a:tcPr marL="91183" marR="91183" marT="45592" marB="4559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lbu</a:t>
                      </a:r>
                      <a:endParaRPr kumimoji="0" lang="en-A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91183" marR="91183" marT="45592" marB="4559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a:t>
                      </a:r>
                      <a:endParaRPr kumimoji="0" lang="en-A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91183" marR="91183" marT="45592" marB="4559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80700957"/>
                  </a:ext>
                </a:extLst>
              </a:tr>
              <a:tr h="642524">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Lưu</a:t>
                      </a:r>
                      <a:r>
                        <a:rPr kumimoji="0" lang="en-A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byte</a:t>
                      </a:r>
                    </a:p>
                  </a:txBody>
                  <a:tcPr marL="91183" marR="91183" marT="45592" marB="4559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sb</a:t>
                      </a:r>
                      <a:endParaRPr kumimoji="0" lang="en-A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91183" marR="91183" marT="45592" marB="4559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a:t>
                      </a:r>
                      <a:endParaRPr kumimoji="0" lang="en-A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91183" marR="91183" marT="45592" marB="4559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4469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Nạp</a:t>
                      </a:r>
                      <a:r>
                        <a:rPr kumimoji="0" lang="en-A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AU"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nửa</a:t>
                      </a:r>
                      <a:r>
                        <a:rPr kumimoji="0" lang="en-A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AU"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cao</a:t>
                      </a:r>
                      <a:endParaRPr kumimoji="0" lang="en-A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91183" marR="91183" marT="45592" marB="4559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lui</a:t>
                      </a:r>
                      <a:endParaRPr kumimoji="0" lang="en-A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91183" marR="91183" marT="45592" marB="4559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a:t>
                      </a:r>
                      <a:endParaRPr kumimoji="0" lang="en-A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91183" marR="91183" marT="45592" marB="4559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0127260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C51CF-A7C0-0208-061B-332E06597A39}"/>
              </a:ext>
            </a:extLst>
          </p:cNvPr>
          <p:cNvSpPr>
            <a:spLocks noGrp="1"/>
          </p:cNvSpPr>
          <p:nvPr>
            <p:ph type="title"/>
          </p:nvPr>
        </p:nvSpPr>
        <p:spPr/>
        <p:txBody>
          <a:bodyPr/>
          <a:lstStyle/>
          <a:p>
            <a:r>
              <a:rPr lang="en-US" sz="4000"/>
              <a:t>Nhóm lệnh truyền dữ liệu - Lệnh lw </a:t>
            </a:r>
            <a:endParaRPr lang="en-US"/>
          </a:p>
        </p:txBody>
      </p:sp>
      <p:sp>
        <p:nvSpPr>
          <p:cNvPr id="4" name="Footer Placeholder 3">
            <a:extLst>
              <a:ext uri="{FF2B5EF4-FFF2-40B4-BE49-F238E27FC236}">
                <a16:creationId xmlns:a16="http://schemas.microsoft.com/office/drawing/2014/main" id="{78643FFA-D770-AB12-5867-5AA1EAA95CDA}"/>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Slide Number Placeholder 4">
            <a:extLst>
              <a:ext uri="{FF2B5EF4-FFF2-40B4-BE49-F238E27FC236}">
                <a16:creationId xmlns:a16="http://schemas.microsoft.com/office/drawing/2014/main" id="{ADBC5B89-4E58-7961-C903-74D683786EA1}"/>
              </a:ext>
            </a:extLst>
          </p:cNvPr>
          <p:cNvSpPr>
            <a:spLocks noGrp="1"/>
          </p:cNvSpPr>
          <p:nvPr>
            <p:ph type="sldNum" sz="quarter" idx="12"/>
          </p:nvPr>
        </p:nvSpPr>
        <p:spPr/>
        <p:txBody>
          <a:bodyPr/>
          <a:lstStyle/>
          <a:p>
            <a:fld id="{D8B0B3AC-44A8-D142-AAF6-9A453466E1A4}" type="slidenum">
              <a:rPr lang="en-VN" smtClean="0"/>
              <a:pPr/>
              <a:t>24</a:t>
            </a:fld>
            <a:endParaRPr lang="en-VN" dirty="0"/>
          </a:p>
        </p:txBody>
      </p:sp>
      <p:sp>
        <p:nvSpPr>
          <p:cNvPr id="6" name="Date Placeholder 5">
            <a:extLst>
              <a:ext uri="{FF2B5EF4-FFF2-40B4-BE49-F238E27FC236}">
                <a16:creationId xmlns:a16="http://schemas.microsoft.com/office/drawing/2014/main" id="{1024CD57-F3EA-8FE7-D0A9-40C4B620CA4A}"/>
              </a:ext>
            </a:extLst>
          </p:cNvPr>
          <p:cNvSpPr>
            <a:spLocks noGrp="1"/>
          </p:cNvSpPr>
          <p:nvPr>
            <p:ph type="dt" sz="half" idx="13"/>
          </p:nvPr>
        </p:nvSpPr>
        <p:spPr/>
        <p:txBody>
          <a:bodyPr/>
          <a:lstStyle/>
          <a:p>
            <a:fld id="{46CDDB1B-AAE9-1649-A755-11FADEB7E97E}" type="datetime4">
              <a:rPr lang="en-US" smtClean="0"/>
              <a:pPr/>
              <a:t>April 21, 2024</a:t>
            </a:fld>
            <a:endParaRPr lang="en-US" dirty="0"/>
          </a:p>
        </p:txBody>
      </p:sp>
      <p:sp>
        <p:nvSpPr>
          <p:cNvPr id="7" name="Rectangle 6">
            <a:extLst>
              <a:ext uri="{FF2B5EF4-FFF2-40B4-BE49-F238E27FC236}">
                <a16:creationId xmlns:a16="http://schemas.microsoft.com/office/drawing/2014/main" id="{EAAC14A7-1C81-7AD7-175B-BDEC1BEE8180}"/>
              </a:ext>
            </a:extLst>
          </p:cNvPr>
          <p:cNvSpPr/>
          <p:nvPr/>
        </p:nvSpPr>
        <p:spPr>
          <a:xfrm>
            <a:off x="5879482" y="3481787"/>
            <a:ext cx="406113" cy="438582"/>
          </a:xfrm>
          <a:prstGeom prst="rect">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aphicFrame>
        <p:nvGraphicFramePr>
          <p:cNvPr id="8" name="Table 7">
            <a:extLst>
              <a:ext uri="{FF2B5EF4-FFF2-40B4-BE49-F238E27FC236}">
                <a16:creationId xmlns:a16="http://schemas.microsoft.com/office/drawing/2014/main" id="{8D154B98-309E-6C5D-B33F-476F66DCE216}"/>
              </a:ext>
            </a:extLst>
          </p:cNvPr>
          <p:cNvGraphicFramePr>
            <a:graphicFrameLocks noGrp="1"/>
          </p:cNvGraphicFramePr>
          <p:nvPr>
            <p:extLst>
              <p:ext uri="{D42A27DB-BD31-4B8C-83A1-F6EECF244321}">
                <p14:modId xmlns:p14="http://schemas.microsoft.com/office/powerpoint/2010/main" val="1036545290"/>
              </p:ext>
            </p:extLst>
          </p:nvPr>
        </p:nvGraphicFramePr>
        <p:xfrm>
          <a:off x="1717330" y="3667621"/>
          <a:ext cx="2527669" cy="1303020"/>
        </p:xfrm>
        <a:graphic>
          <a:graphicData uri="http://schemas.openxmlformats.org/drawingml/2006/table">
            <a:tbl>
              <a:tblPr firstRow="1" bandRow="1">
                <a:tableStyleId>{5940675A-B579-460E-94D1-54222C63F5DA}</a:tableStyleId>
              </a:tblPr>
              <a:tblGrid>
                <a:gridCol w="644440">
                  <a:extLst>
                    <a:ext uri="{9D8B030D-6E8A-4147-A177-3AD203B41FA5}">
                      <a16:colId xmlns:a16="http://schemas.microsoft.com/office/drawing/2014/main" val="2104779220"/>
                    </a:ext>
                  </a:extLst>
                </a:gridCol>
                <a:gridCol w="1883229">
                  <a:extLst>
                    <a:ext uri="{9D8B030D-6E8A-4147-A177-3AD203B41FA5}">
                      <a16:colId xmlns:a16="http://schemas.microsoft.com/office/drawing/2014/main" val="1767099797"/>
                    </a:ext>
                  </a:extLst>
                </a:gridCol>
              </a:tblGrid>
              <a:tr h="434340">
                <a:tc>
                  <a:txBody>
                    <a:bodyPr/>
                    <a:lstStyle/>
                    <a:p>
                      <a:pPr algn="ctr"/>
                      <a:r>
                        <a:rPr lang="en-US" sz="2400" dirty="0">
                          <a:latin typeface="Times New Roman" panose="02020603050405020304" pitchFamily="18" charset="0"/>
                          <a:cs typeface="Times New Roman" panose="02020603050405020304" pitchFamily="18" charset="0"/>
                        </a:rPr>
                        <a:t>$t0</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0xFA0101FA</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3117984"/>
                  </a:ext>
                </a:extLst>
              </a:tr>
              <a:tr h="434340">
                <a:tc>
                  <a:txBody>
                    <a:bodyPr/>
                    <a:lstStyle/>
                    <a:p>
                      <a:pPr algn="ctr"/>
                      <a:r>
                        <a:rPr lang="en-US" sz="2400" dirty="0">
                          <a:latin typeface="Times New Roman" panose="02020603050405020304" pitchFamily="18" charset="0"/>
                          <a:cs typeface="Times New Roman" panose="02020603050405020304" pitchFamily="18" charset="0"/>
                        </a:rPr>
                        <a:t>….</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latin typeface="Times New Roman" panose="02020603050405020304" pitchFamily="18" charset="0"/>
                          <a:cs typeface="Times New Roman" panose="02020603050405020304" pitchFamily="18" charset="0"/>
                        </a:rPr>
                        <a:t>…</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47873999"/>
                  </a:ext>
                </a:extLst>
              </a:tr>
              <a:tr h="434340">
                <a:tc>
                  <a:txBody>
                    <a:bodyPr/>
                    <a:lstStyle/>
                    <a:p>
                      <a:pPr algn="ctr"/>
                      <a:r>
                        <a:rPr lang="en-US" sz="2400" dirty="0">
                          <a:latin typeface="Times New Roman" panose="02020603050405020304" pitchFamily="18" charset="0"/>
                          <a:cs typeface="Times New Roman" panose="02020603050405020304" pitchFamily="18" charset="0"/>
                        </a:rPr>
                        <a:t>$s2</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latin typeface="Times New Roman" panose="02020603050405020304" pitchFamily="18" charset="0"/>
                          <a:cs typeface="Times New Roman" panose="02020603050405020304" pitchFamily="18" charset="0"/>
                        </a:rPr>
                        <a:t>0x10010008</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43278351"/>
                  </a:ext>
                </a:extLst>
              </a:tr>
            </a:tbl>
          </a:graphicData>
        </a:graphic>
      </p:graphicFrame>
      <p:sp>
        <p:nvSpPr>
          <p:cNvPr id="9" name="TextBox 8">
            <a:extLst>
              <a:ext uri="{FF2B5EF4-FFF2-40B4-BE49-F238E27FC236}">
                <a16:creationId xmlns:a16="http://schemas.microsoft.com/office/drawing/2014/main" id="{EBF29A59-D651-5490-14C1-FF1E460AF7D3}"/>
              </a:ext>
            </a:extLst>
          </p:cNvPr>
          <p:cNvSpPr txBox="1"/>
          <p:nvPr/>
        </p:nvSpPr>
        <p:spPr>
          <a:xfrm>
            <a:off x="1567113" y="3198167"/>
            <a:ext cx="2879362" cy="461665"/>
          </a:xfrm>
          <a:prstGeom prst="rect">
            <a:avLst/>
          </a:prstGeom>
          <a:noFill/>
        </p:spPr>
        <p:txBody>
          <a:bodyPr wrap="square">
            <a:spAutoFit/>
          </a:bodyPr>
          <a:lstStyle/>
          <a:p>
            <a:pPr algn="ctr"/>
            <a:r>
              <a:rPr lang="en-US" sz="2400" dirty="0" err="1">
                <a:latin typeface="Times New Roman" panose="02020603050405020304" pitchFamily="18" charset="0"/>
                <a:cs typeface="Times New Roman" panose="02020603050405020304" pitchFamily="18" charset="0"/>
              </a:rPr>
              <a:t>Tập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thanh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ghi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trước</a:t>
            </a:r>
            <a:r>
              <a:rPr lang="en-US" sz="2400" dirty="0">
                <a:latin typeface="Times New Roman" panose="02020603050405020304" pitchFamily="18" charset="0"/>
                <a:cs typeface="Times New Roman" panose="02020603050405020304" pitchFamily="18" charset="0"/>
              </a:rPr>
              <a:t>)</a:t>
            </a:r>
          </a:p>
        </p:txBody>
      </p:sp>
      <p:graphicFrame>
        <p:nvGraphicFramePr>
          <p:cNvPr id="10" name="Table 9">
            <a:extLst>
              <a:ext uri="{FF2B5EF4-FFF2-40B4-BE49-F238E27FC236}">
                <a16:creationId xmlns:a16="http://schemas.microsoft.com/office/drawing/2014/main" id="{36E4DA1B-0CBB-E702-A56A-FEEEA4704422}"/>
              </a:ext>
            </a:extLst>
          </p:cNvPr>
          <p:cNvGraphicFramePr>
            <a:graphicFrameLocks noGrp="1"/>
          </p:cNvGraphicFramePr>
          <p:nvPr>
            <p:extLst>
              <p:ext uri="{D42A27DB-BD31-4B8C-83A1-F6EECF244321}">
                <p14:modId xmlns:p14="http://schemas.microsoft.com/office/powerpoint/2010/main" val="3635512281"/>
              </p:ext>
            </p:extLst>
          </p:nvPr>
        </p:nvGraphicFramePr>
        <p:xfrm>
          <a:off x="6285595" y="1769631"/>
          <a:ext cx="3926961" cy="1303020"/>
        </p:xfrm>
        <a:graphic>
          <a:graphicData uri="http://schemas.openxmlformats.org/drawingml/2006/table">
            <a:tbl>
              <a:tblPr firstRow="1" bandRow="1">
                <a:tableStyleId>{5940675A-B579-460E-94D1-54222C63F5DA}</a:tableStyleId>
              </a:tblPr>
              <a:tblGrid>
                <a:gridCol w="1847789">
                  <a:extLst>
                    <a:ext uri="{9D8B030D-6E8A-4147-A177-3AD203B41FA5}">
                      <a16:colId xmlns:a16="http://schemas.microsoft.com/office/drawing/2014/main" val="2104779220"/>
                    </a:ext>
                  </a:extLst>
                </a:gridCol>
                <a:gridCol w="2079172">
                  <a:extLst>
                    <a:ext uri="{9D8B030D-6E8A-4147-A177-3AD203B41FA5}">
                      <a16:colId xmlns:a16="http://schemas.microsoft.com/office/drawing/2014/main" val="1767099797"/>
                    </a:ext>
                  </a:extLst>
                </a:gridCol>
              </a:tblGrid>
              <a:tr h="434340">
                <a:tc>
                  <a:txBody>
                    <a:bodyPr/>
                    <a:lstStyle/>
                    <a:p>
                      <a:pPr algn="ctr"/>
                      <a:r>
                        <a:rPr lang="en-US" sz="2400" dirty="0">
                          <a:latin typeface="Times New Roman" panose="02020603050405020304" pitchFamily="18" charset="0"/>
                          <a:cs typeface="Times New Roman" panose="02020603050405020304" pitchFamily="18" charset="0"/>
                        </a:rPr>
                        <a:t>0x10010000</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0x12345678</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3117984"/>
                  </a:ext>
                </a:extLst>
              </a:tr>
              <a:tr h="434340">
                <a:tc>
                  <a:txBody>
                    <a:bodyPr/>
                    <a:lstStyle/>
                    <a:p>
                      <a:pPr algn="ctr"/>
                      <a:r>
                        <a:rPr lang="en-US" sz="2400" dirty="0">
                          <a:latin typeface="Times New Roman" panose="02020603050405020304" pitchFamily="18" charset="0"/>
                          <a:cs typeface="Times New Roman" panose="02020603050405020304" pitchFamily="18" charset="0"/>
                        </a:rPr>
                        <a:t>0x10010004</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latin typeface="Times New Roman" panose="02020603050405020304" pitchFamily="18" charset="0"/>
                          <a:cs typeface="Times New Roman" panose="02020603050405020304" pitchFamily="18" charset="0"/>
                        </a:rPr>
                        <a:t>0x9ABCDEF0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47873999"/>
                  </a:ext>
                </a:extLst>
              </a:tr>
              <a:tr h="434340">
                <a:tc>
                  <a:txBody>
                    <a:bodyPr/>
                    <a:lstStyle/>
                    <a:p>
                      <a:pPr algn="ctr"/>
                      <a:r>
                        <a:rPr lang="en-US" sz="2400" dirty="0">
                          <a:latin typeface="Times New Roman" panose="02020603050405020304" pitchFamily="18" charset="0"/>
                          <a:cs typeface="Times New Roman" panose="02020603050405020304" pitchFamily="18" charset="0"/>
                        </a:rPr>
                        <a:t>0x10010008</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latin typeface="Times New Roman" panose="02020603050405020304" pitchFamily="18" charset="0"/>
                          <a:cs typeface="Times New Roman" panose="02020603050405020304" pitchFamily="18" charset="0"/>
                        </a:rPr>
                        <a:t>0xCAFEBABA</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43278351"/>
                  </a:ext>
                </a:extLst>
              </a:tr>
            </a:tbl>
          </a:graphicData>
        </a:graphic>
      </p:graphicFrame>
      <p:sp>
        <p:nvSpPr>
          <p:cNvPr id="11" name="TextBox 10">
            <a:extLst>
              <a:ext uri="{FF2B5EF4-FFF2-40B4-BE49-F238E27FC236}">
                <a16:creationId xmlns:a16="http://schemas.microsoft.com/office/drawing/2014/main" id="{AEEDF689-E8E9-6F0C-2DBF-1AF3BE27F971}"/>
              </a:ext>
            </a:extLst>
          </p:cNvPr>
          <p:cNvSpPr txBox="1"/>
          <p:nvPr/>
        </p:nvSpPr>
        <p:spPr>
          <a:xfrm>
            <a:off x="4957739" y="3448329"/>
            <a:ext cx="2033455" cy="461665"/>
          </a:xfrm>
          <a:prstGeom prst="rect">
            <a:avLst/>
          </a:prstGeom>
          <a:noFill/>
        </p:spPr>
        <p:txBody>
          <a:bodyPr wrap="square">
            <a:spAutoFit/>
          </a:bodyPr>
          <a:lstStyle/>
          <a:p>
            <a:r>
              <a:rPr lang="en-US" sz="2400" dirty="0" err="1">
                <a:solidFill>
                  <a:srgbClr val="FF0000"/>
                </a:solidFill>
                <a:latin typeface="Times New Roman" panose="02020603050405020304" pitchFamily="18" charset="0"/>
                <a:cs typeface="Times New Roman" panose="02020603050405020304" pitchFamily="18" charset="0"/>
              </a:rPr>
              <a:t>lw</a:t>
            </a:r>
            <a:r>
              <a:rPr lang="en-US" sz="2400" dirty="0">
                <a:latin typeface="Times New Roman" panose="02020603050405020304" pitchFamily="18" charset="0"/>
                <a:cs typeface="Times New Roman" panose="02020603050405020304" pitchFamily="18" charset="0"/>
              </a:rPr>
              <a:t> </a:t>
            </a:r>
            <a:r>
              <a:rPr lang="en-US" sz="2400" dirty="0">
                <a:solidFill>
                  <a:srgbClr val="7030A0"/>
                </a:solidFill>
                <a:latin typeface="Times New Roman" panose="02020603050405020304" pitchFamily="18" charset="0"/>
                <a:cs typeface="Times New Roman" panose="02020603050405020304" pitchFamily="18" charset="0"/>
              </a:rPr>
              <a:t>$t0</a:t>
            </a:r>
            <a:r>
              <a:rPr lang="en-US" sz="2400" dirty="0">
                <a:latin typeface="Times New Roman" panose="02020603050405020304" pitchFamily="18" charset="0"/>
                <a:cs typeface="Times New Roman" panose="02020603050405020304" pitchFamily="18" charset="0"/>
              </a:rPr>
              <a:t>, </a:t>
            </a:r>
            <a:r>
              <a:rPr lang="en-US" sz="2400" dirty="0">
                <a:solidFill>
                  <a:srgbClr val="00B050"/>
                </a:solidFill>
                <a:latin typeface="Times New Roman" panose="02020603050405020304" pitchFamily="18" charset="0"/>
                <a:cs typeface="Times New Roman" panose="02020603050405020304" pitchFamily="18" charset="0"/>
              </a:rPr>
              <a:t>-8</a:t>
            </a:r>
            <a:r>
              <a:rPr lang="en-US" sz="2400" dirty="0">
                <a:solidFill>
                  <a:srgbClr val="FFC000"/>
                </a:solidFill>
                <a:latin typeface="Times New Roman" panose="02020603050405020304" pitchFamily="18" charset="0"/>
                <a:cs typeface="Times New Roman" panose="02020603050405020304" pitchFamily="18" charset="0"/>
              </a:rPr>
              <a:t>($s2)</a:t>
            </a:r>
            <a:endParaRPr lang="en-US" sz="2400" dirty="0">
              <a:latin typeface="Times New Roman" panose="02020603050405020304" pitchFamily="18" charset="0"/>
              <a:cs typeface="Times New Roman" panose="02020603050405020304" pitchFamily="18" charset="0"/>
            </a:endParaRPr>
          </a:p>
        </p:txBody>
      </p:sp>
      <p:cxnSp>
        <p:nvCxnSpPr>
          <p:cNvPr id="12" name="Straight Arrow Connector 11">
            <a:extLst>
              <a:ext uri="{FF2B5EF4-FFF2-40B4-BE49-F238E27FC236}">
                <a16:creationId xmlns:a16="http://schemas.microsoft.com/office/drawing/2014/main" id="{A62D517E-8970-5640-9A0A-6C57AEAD403F}"/>
              </a:ext>
            </a:extLst>
          </p:cNvPr>
          <p:cNvCxnSpPr>
            <a:cxnSpLocks/>
          </p:cNvCxnSpPr>
          <p:nvPr/>
        </p:nvCxnSpPr>
        <p:spPr>
          <a:xfrm flipV="1">
            <a:off x="4350374" y="3886911"/>
            <a:ext cx="2037370" cy="725201"/>
          </a:xfrm>
          <a:prstGeom prst="straightConnector1">
            <a:avLst/>
          </a:prstGeom>
          <a:ln>
            <a:solidFill>
              <a:srgbClr val="FFC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3" name="Lightning Bolt 12">
            <a:extLst>
              <a:ext uri="{FF2B5EF4-FFF2-40B4-BE49-F238E27FC236}">
                <a16:creationId xmlns:a16="http://schemas.microsoft.com/office/drawing/2014/main" id="{A76CEEA5-53C6-837E-AFAB-92BF3BCF5343}"/>
              </a:ext>
            </a:extLst>
          </p:cNvPr>
          <p:cNvSpPr/>
          <p:nvPr/>
        </p:nvSpPr>
        <p:spPr>
          <a:xfrm>
            <a:off x="4608969" y="3205956"/>
            <a:ext cx="348770" cy="411742"/>
          </a:xfrm>
          <a:prstGeom prst="lightningBol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4" name="Plus Sign 13">
            <a:extLst>
              <a:ext uri="{FF2B5EF4-FFF2-40B4-BE49-F238E27FC236}">
                <a16:creationId xmlns:a16="http://schemas.microsoft.com/office/drawing/2014/main" id="{E9749CCA-F377-744A-C055-D16A0A3E06AA}"/>
              </a:ext>
            </a:extLst>
          </p:cNvPr>
          <p:cNvSpPr/>
          <p:nvPr/>
        </p:nvSpPr>
        <p:spPr>
          <a:xfrm>
            <a:off x="6685582" y="4508977"/>
            <a:ext cx="422031" cy="438581"/>
          </a:xfrm>
          <a:prstGeom prst="mathPlus">
            <a:avLst/>
          </a:prstGeom>
          <a:solidFill>
            <a:srgbClr val="FF0000"/>
          </a:solidFill>
          <a:ln>
            <a:solidFill>
              <a:schemeClr val="accent2"/>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350">
              <a:solidFill>
                <a:srgbClr val="FF0000"/>
              </a:solidFill>
            </a:endParaRPr>
          </a:p>
        </p:txBody>
      </p:sp>
      <p:cxnSp>
        <p:nvCxnSpPr>
          <p:cNvPr id="15" name="Straight Connector 14">
            <a:extLst>
              <a:ext uri="{FF2B5EF4-FFF2-40B4-BE49-F238E27FC236}">
                <a16:creationId xmlns:a16="http://schemas.microsoft.com/office/drawing/2014/main" id="{ED97ABFD-C1E2-10C0-A752-CF80A4C4FBD8}"/>
              </a:ext>
            </a:extLst>
          </p:cNvPr>
          <p:cNvCxnSpPr>
            <a:cxnSpLocks/>
          </p:cNvCxnSpPr>
          <p:nvPr/>
        </p:nvCxnSpPr>
        <p:spPr>
          <a:xfrm flipV="1">
            <a:off x="7153687" y="2202783"/>
            <a:ext cx="251763" cy="2584697"/>
          </a:xfrm>
          <a:prstGeom prst="line">
            <a:avLst/>
          </a:prstGeom>
          <a:ln>
            <a:solidFill>
              <a:srgbClr val="7030A0"/>
            </a:solidFill>
            <a:headEnd type="none" w="med" len="med"/>
            <a:tailEnd type="triangle" w="med" len="med"/>
          </a:ln>
        </p:spPr>
        <p:style>
          <a:lnRef idx="1">
            <a:schemeClr val="accent2"/>
          </a:lnRef>
          <a:fillRef idx="0">
            <a:schemeClr val="accent2"/>
          </a:fillRef>
          <a:effectRef idx="0">
            <a:schemeClr val="accent2"/>
          </a:effectRef>
          <a:fontRef idx="minor">
            <a:schemeClr val="tx1"/>
          </a:fontRef>
        </p:style>
      </p:cxnSp>
      <p:cxnSp>
        <p:nvCxnSpPr>
          <p:cNvPr id="16" name="Straight Arrow Connector 15">
            <a:extLst>
              <a:ext uri="{FF2B5EF4-FFF2-40B4-BE49-F238E27FC236}">
                <a16:creationId xmlns:a16="http://schemas.microsoft.com/office/drawing/2014/main" id="{BEF37DAF-9A00-95B8-4AAB-A01CFF07B564}"/>
              </a:ext>
            </a:extLst>
          </p:cNvPr>
          <p:cNvCxnSpPr>
            <a:stCxn id="7" idx="2"/>
          </p:cNvCxnSpPr>
          <p:nvPr/>
        </p:nvCxnSpPr>
        <p:spPr>
          <a:xfrm>
            <a:off x="6082538" y="3920369"/>
            <a:ext cx="603044" cy="666384"/>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FC5CB6FA-494D-B14F-4862-FD13F489C1BF}"/>
              </a:ext>
            </a:extLst>
          </p:cNvPr>
          <p:cNvCxnSpPr>
            <a:cxnSpLocks/>
          </p:cNvCxnSpPr>
          <p:nvPr/>
        </p:nvCxnSpPr>
        <p:spPr>
          <a:xfrm flipV="1">
            <a:off x="4127401" y="4728267"/>
            <a:ext cx="2512106" cy="55879"/>
          </a:xfrm>
          <a:prstGeom prst="straightConnector1">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38B269E8-B2D4-9C1B-EB35-7C671089878C}"/>
              </a:ext>
            </a:extLst>
          </p:cNvPr>
          <p:cNvCxnSpPr>
            <a:cxnSpLocks/>
          </p:cNvCxnSpPr>
          <p:nvPr/>
        </p:nvCxnSpPr>
        <p:spPr>
          <a:xfrm flipH="1" flipV="1">
            <a:off x="5879482" y="3660097"/>
            <a:ext cx="2315246" cy="112727"/>
          </a:xfrm>
          <a:prstGeom prst="line">
            <a:avLst/>
          </a:prstGeom>
          <a:ln>
            <a:solidFill>
              <a:srgbClr val="7030A0"/>
            </a:solidFill>
            <a:headEnd type="triangle" w="med" len="med"/>
            <a:tailEnd type="none" w="med" len="med"/>
          </a:ln>
        </p:spPr>
        <p:style>
          <a:lnRef idx="1">
            <a:schemeClr val="accent2"/>
          </a:lnRef>
          <a:fillRef idx="0">
            <a:schemeClr val="accent2"/>
          </a:fillRef>
          <a:effectRef idx="0">
            <a:schemeClr val="accent2"/>
          </a:effectRef>
          <a:fontRef idx="minor">
            <a:schemeClr val="tx1"/>
          </a:fontRef>
        </p:style>
      </p:cxnSp>
      <p:graphicFrame>
        <p:nvGraphicFramePr>
          <p:cNvPr id="19" name="Table 18">
            <a:extLst>
              <a:ext uri="{FF2B5EF4-FFF2-40B4-BE49-F238E27FC236}">
                <a16:creationId xmlns:a16="http://schemas.microsoft.com/office/drawing/2014/main" id="{A9EDCBC3-1B34-748A-F246-F72AC078E875}"/>
              </a:ext>
            </a:extLst>
          </p:cNvPr>
          <p:cNvGraphicFramePr>
            <a:graphicFrameLocks noGrp="1"/>
          </p:cNvGraphicFramePr>
          <p:nvPr>
            <p:extLst>
              <p:ext uri="{D42A27DB-BD31-4B8C-83A1-F6EECF244321}">
                <p14:modId xmlns:p14="http://schemas.microsoft.com/office/powerpoint/2010/main" val="3700550220"/>
              </p:ext>
            </p:extLst>
          </p:nvPr>
        </p:nvGraphicFramePr>
        <p:xfrm>
          <a:off x="7708708" y="3690968"/>
          <a:ext cx="2527669" cy="1303020"/>
        </p:xfrm>
        <a:graphic>
          <a:graphicData uri="http://schemas.openxmlformats.org/drawingml/2006/table">
            <a:tbl>
              <a:tblPr firstRow="1" bandRow="1">
                <a:tableStyleId>{5940675A-B579-460E-94D1-54222C63F5DA}</a:tableStyleId>
              </a:tblPr>
              <a:tblGrid>
                <a:gridCol w="644440">
                  <a:extLst>
                    <a:ext uri="{9D8B030D-6E8A-4147-A177-3AD203B41FA5}">
                      <a16:colId xmlns:a16="http://schemas.microsoft.com/office/drawing/2014/main" val="2104779220"/>
                    </a:ext>
                  </a:extLst>
                </a:gridCol>
                <a:gridCol w="1883229">
                  <a:extLst>
                    <a:ext uri="{9D8B030D-6E8A-4147-A177-3AD203B41FA5}">
                      <a16:colId xmlns:a16="http://schemas.microsoft.com/office/drawing/2014/main" val="1767099797"/>
                    </a:ext>
                  </a:extLst>
                </a:gridCol>
              </a:tblGrid>
              <a:tr h="434340">
                <a:tc>
                  <a:txBody>
                    <a:bodyPr/>
                    <a:lstStyle/>
                    <a:p>
                      <a:pPr algn="ctr"/>
                      <a:r>
                        <a:rPr lang="en-US" sz="2400" dirty="0">
                          <a:latin typeface="Times New Roman" panose="02020603050405020304" pitchFamily="18" charset="0"/>
                          <a:cs typeface="Times New Roman" panose="02020603050405020304" pitchFamily="18" charset="0"/>
                        </a:rPr>
                        <a:t>$t0</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0xFA0101FA</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3117984"/>
                  </a:ext>
                </a:extLst>
              </a:tr>
              <a:tr h="434340">
                <a:tc>
                  <a:txBody>
                    <a:bodyPr/>
                    <a:lstStyle/>
                    <a:p>
                      <a:pPr algn="ctr"/>
                      <a:r>
                        <a:rPr lang="en-US" sz="2400" dirty="0">
                          <a:latin typeface="Times New Roman" panose="02020603050405020304" pitchFamily="18" charset="0"/>
                          <a:cs typeface="Times New Roman" panose="02020603050405020304" pitchFamily="18" charset="0"/>
                        </a:rPr>
                        <a:t>….</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latin typeface="Times New Roman" panose="02020603050405020304" pitchFamily="18" charset="0"/>
                          <a:cs typeface="Times New Roman" panose="02020603050405020304" pitchFamily="18" charset="0"/>
                        </a:rPr>
                        <a:t>…</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47873999"/>
                  </a:ext>
                </a:extLst>
              </a:tr>
              <a:tr h="434340">
                <a:tc>
                  <a:txBody>
                    <a:bodyPr/>
                    <a:lstStyle/>
                    <a:p>
                      <a:pPr algn="ctr"/>
                      <a:r>
                        <a:rPr lang="en-US" sz="2400" dirty="0">
                          <a:latin typeface="Times New Roman" panose="02020603050405020304" pitchFamily="18" charset="0"/>
                          <a:cs typeface="Times New Roman" panose="02020603050405020304" pitchFamily="18" charset="0"/>
                        </a:rPr>
                        <a:t>$s2</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latin typeface="Times New Roman" panose="02020603050405020304" pitchFamily="18" charset="0"/>
                          <a:cs typeface="Times New Roman" panose="02020603050405020304" pitchFamily="18" charset="0"/>
                        </a:rPr>
                        <a:t>0x10010008</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43278351"/>
                  </a:ext>
                </a:extLst>
              </a:tr>
            </a:tbl>
          </a:graphicData>
        </a:graphic>
      </p:graphicFrame>
      <p:sp>
        <p:nvSpPr>
          <p:cNvPr id="20" name="TextBox 19">
            <a:extLst>
              <a:ext uri="{FF2B5EF4-FFF2-40B4-BE49-F238E27FC236}">
                <a16:creationId xmlns:a16="http://schemas.microsoft.com/office/drawing/2014/main" id="{B5C38D65-D216-A202-B577-ACE2D6B374F5}"/>
              </a:ext>
            </a:extLst>
          </p:cNvPr>
          <p:cNvSpPr txBox="1"/>
          <p:nvPr/>
        </p:nvSpPr>
        <p:spPr>
          <a:xfrm>
            <a:off x="7558491" y="3221514"/>
            <a:ext cx="2879362" cy="461665"/>
          </a:xfrm>
          <a:prstGeom prst="rect">
            <a:avLst/>
          </a:prstGeom>
          <a:noFill/>
        </p:spPr>
        <p:txBody>
          <a:bodyPr wrap="square">
            <a:spAutoFit/>
          </a:bodyPr>
          <a:lstStyle/>
          <a:p>
            <a:pPr algn="ctr"/>
            <a:r>
              <a:rPr lang="en-US" sz="2400" dirty="0" err="1">
                <a:latin typeface="Times New Roman" panose="02020603050405020304" pitchFamily="18" charset="0"/>
                <a:cs typeface="Times New Roman" panose="02020603050405020304" pitchFamily="18" charset="0"/>
              </a:rPr>
              <a:t>Tập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thanh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ghi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sau</a:t>
            </a:r>
            <a:r>
              <a:rPr lang="en-US" sz="2400" dirty="0">
                <a:latin typeface="Times New Roman" panose="02020603050405020304" pitchFamily="18" charset="0"/>
                <a:cs typeface="Times New Roman" panose="02020603050405020304" pitchFamily="18" charset="0"/>
              </a:rPr>
              <a:t>)</a:t>
            </a:r>
          </a:p>
        </p:txBody>
      </p:sp>
      <p:sp>
        <p:nvSpPr>
          <p:cNvPr id="21" name="Rectangle 20">
            <a:extLst>
              <a:ext uri="{FF2B5EF4-FFF2-40B4-BE49-F238E27FC236}">
                <a16:creationId xmlns:a16="http://schemas.microsoft.com/office/drawing/2014/main" id="{CCA5511C-2D77-CB9E-5DC9-9D204F351E5D}"/>
              </a:ext>
            </a:extLst>
          </p:cNvPr>
          <p:cNvSpPr/>
          <p:nvPr/>
        </p:nvSpPr>
        <p:spPr>
          <a:xfrm>
            <a:off x="8351223" y="3686846"/>
            <a:ext cx="1885154" cy="428625"/>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2" name="TextBox 21">
            <a:extLst>
              <a:ext uri="{FF2B5EF4-FFF2-40B4-BE49-F238E27FC236}">
                <a16:creationId xmlns:a16="http://schemas.microsoft.com/office/drawing/2014/main" id="{D6E7CA50-91BF-4930-637C-8ED171CE9833}"/>
              </a:ext>
            </a:extLst>
          </p:cNvPr>
          <p:cNvSpPr txBox="1"/>
          <p:nvPr/>
        </p:nvSpPr>
        <p:spPr>
          <a:xfrm>
            <a:off x="8351223" y="3681867"/>
            <a:ext cx="1885154" cy="461665"/>
          </a:xfrm>
          <a:prstGeom prst="rect">
            <a:avLst/>
          </a:prstGeom>
          <a:noFill/>
        </p:spPr>
        <p:txBody>
          <a:bodyPr wrap="square">
            <a:spAutoFit/>
          </a:bodyPr>
          <a:lstStyle/>
          <a:p>
            <a:pPr algn="ctr"/>
            <a:r>
              <a:rPr lang="en-US" sz="2400" dirty="0">
                <a:solidFill>
                  <a:schemeClr val="bg1"/>
                </a:solidFill>
                <a:latin typeface="Times New Roman" panose="02020603050405020304" pitchFamily="18" charset="0"/>
                <a:cs typeface="Times New Roman" panose="02020603050405020304" pitchFamily="18" charset="0"/>
              </a:rPr>
              <a:t>0x12345678</a:t>
            </a:r>
          </a:p>
        </p:txBody>
      </p:sp>
    </p:spTree>
    <p:extLst>
      <p:ext uri="{BB962C8B-B14F-4D97-AF65-F5344CB8AC3E}">
        <p14:creationId xmlns:p14="http://schemas.microsoft.com/office/powerpoint/2010/main" val="3645271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additive="base">
                                        <p:cTn id="25" dur="500" fill="hold"/>
                                        <p:tgtEl>
                                          <p:spTgt spid="13"/>
                                        </p:tgtEl>
                                        <p:attrNameLst>
                                          <p:attrName>ppt_x</p:attrName>
                                        </p:attrNameLst>
                                      </p:cBhvr>
                                      <p:tavLst>
                                        <p:tav tm="0">
                                          <p:val>
                                            <p:strVal val="#ppt_x"/>
                                          </p:val>
                                        </p:tav>
                                        <p:tav tm="100000">
                                          <p:val>
                                            <p:strVal val="#ppt_x"/>
                                          </p:val>
                                        </p:tav>
                                      </p:tavLst>
                                    </p:anim>
                                    <p:anim calcmode="lin" valueType="num">
                                      <p:cBhvr additive="base">
                                        <p:cTn id="26"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ppt_x"/>
                                          </p:val>
                                        </p:tav>
                                        <p:tav tm="100000">
                                          <p:val>
                                            <p:strVal val="#ppt_x"/>
                                          </p:val>
                                        </p:tav>
                                      </p:tavLst>
                                    </p:anim>
                                    <p:anim calcmode="lin" valueType="num">
                                      <p:cBhvr additive="base">
                                        <p:cTn id="32" dur="500" fill="hold"/>
                                        <p:tgtEl>
                                          <p:spTgt spid="16"/>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7"/>
                                        </p:tgtEl>
                                        <p:attrNameLst>
                                          <p:attrName>style.visibility</p:attrName>
                                        </p:attrNameLst>
                                      </p:cBhvr>
                                      <p:to>
                                        <p:strVal val="visible"/>
                                      </p:to>
                                    </p:set>
                                    <p:anim calcmode="lin" valueType="num">
                                      <p:cBhvr additive="base">
                                        <p:cTn id="35" dur="500" fill="hold"/>
                                        <p:tgtEl>
                                          <p:spTgt spid="17"/>
                                        </p:tgtEl>
                                        <p:attrNameLst>
                                          <p:attrName>ppt_x</p:attrName>
                                        </p:attrNameLst>
                                      </p:cBhvr>
                                      <p:tavLst>
                                        <p:tav tm="0">
                                          <p:val>
                                            <p:strVal val="#ppt_x"/>
                                          </p:val>
                                        </p:tav>
                                        <p:tav tm="100000">
                                          <p:val>
                                            <p:strVal val="#ppt_x"/>
                                          </p:val>
                                        </p:tav>
                                      </p:tavLst>
                                    </p:anim>
                                    <p:anim calcmode="lin" valueType="num">
                                      <p:cBhvr additive="base">
                                        <p:cTn id="36" dur="500" fill="hold"/>
                                        <p:tgtEl>
                                          <p:spTgt spid="17"/>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 calcmode="lin" valueType="num">
                                      <p:cBhvr additive="base">
                                        <p:cTn id="39" dur="500" fill="hold"/>
                                        <p:tgtEl>
                                          <p:spTgt spid="14"/>
                                        </p:tgtEl>
                                        <p:attrNameLst>
                                          <p:attrName>ppt_x</p:attrName>
                                        </p:attrNameLst>
                                      </p:cBhvr>
                                      <p:tavLst>
                                        <p:tav tm="0">
                                          <p:val>
                                            <p:strVal val="#ppt_x"/>
                                          </p:val>
                                        </p:tav>
                                        <p:tav tm="100000">
                                          <p:val>
                                            <p:strVal val="#ppt_x"/>
                                          </p:val>
                                        </p:tav>
                                      </p:tavLst>
                                    </p:anim>
                                    <p:anim calcmode="lin" valueType="num">
                                      <p:cBhvr additive="base">
                                        <p:cTn id="4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15"/>
                                        </p:tgtEl>
                                        <p:attrNameLst>
                                          <p:attrName>style.visibility</p:attrName>
                                        </p:attrNameLst>
                                      </p:cBhvr>
                                      <p:to>
                                        <p:strVal val="visible"/>
                                      </p:to>
                                    </p:set>
                                    <p:anim calcmode="lin" valueType="num">
                                      <p:cBhvr additive="base">
                                        <p:cTn id="45" dur="500" fill="hold"/>
                                        <p:tgtEl>
                                          <p:spTgt spid="15"/>
                                        </p:tgtEl>
                                        <p:attrNameLst>
                                          <p:attrName>ppt_x</p:attrName>
                                        </p:attrNameLst>
                                      </p:cBhvr>
                                      <p:tavLst>
                                        <p:tav tm="0">
                                          <p:val>
                                            <p:strVal val="#ppt_x"/>
                                          </p:val>
                                        </p:tav>
                                        <p:tav tm="100000">
                                          <p:val>
                                            <p:strVal val="#ppt_x"/>
                                          </p:val>
                                        </p:tav>
                                      </p:tavLst>
                                    </p:anim>
                                    <p:anim calcmode="lin" valueType="num">
                                      <p:cBhvr additive="base">
                                        <p:cTn id="46"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18"/>
                                        </p:tgtEl>
                                        <p:attrNameLst>
                                          <p:attrName>style.visibility</p:attrName>
                                        </p:attrNameLst>
                                      </p:cBhvr>
                                      <p:to>
                                        <p:strVal val="visible"/>
                                      </p:to>
                                    </p:set>
                                    <p:anim calcmode="lin" valueType="num">
                                      <p:cBhvr additive="base">
                                        <p:cTn id="51" dur="500" fill="hold"/>
                                        <p:tgtEl>
                                          <p:spTgt spid="18"/>
                                        </p:tgtEl>
                                        <p:attrNameLst>
                                          <p:attrName>ppt_x</p:attrName>
                                        </p:attrNameLst>
                                      </p:cBhvr>
                                      <p:tavLst>
                                        <p:tav tm="0">
                                          <p:val>
                                            <p:strVal val="#ppt_x"/>
                                          </p:val>
                                        </p:tav>
                                        <p:tav tm="100000">
                                          <p:val>
                                            <p:strVal val="#ppt_x"/>
                                          </p:val>
                                        </p:tav>
                                      </p:tavLst>
                                    </p:anim>
                                    <p:anim calcmode="lin" valueType="num">
                                      <p:cBhvr additive="base">
                                        <p:cTn id="52"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1"/>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22"/>
                                        </p:tgtEl>
                                        <p:attrNameLst>
                                          <p:attrName>style.visibility</p:attrName>
                                        </p:attrNameLst>
                                      </p:cBhvr>
                                      <p:to>
                                        <p:strVal val="visible"/>
                                      </p:to>
                                    </p:set>
                                    <p:anim calcmode="lin" valueType="num">
                                      <p:cBhvr additive="base">
                                        <p:cTn id="61" dur="500" fill="hold"/>
                                        <p:tgtEl>
                                          <p:spTgt spid="22"/>
                                        </p:tgtEl>
                                        <p:attrNameLst>
                                          <p:attrName>ppt_x</p:attrName>
                                        </p:attrNameLst>
                                      </p:cBhvr>
                                      <p:tavLst>
                                        <p:tav tm="0">
                                          <p:val>
                                            <p:strVal val="#ppt_x"/>
                                          </p:val>
                                        </p:tav>
                                        <p:tav tm="100000">
                                          <p:val>
                                            <p:strVal val="#ppt_x"/>
                                          </p:val>
                                        </p:tav>
                                      </p:tavLst>
                                    </p:anim>
                                    <p:anim calcmode="lin" valueType="num">
                                      <p:cBhvr additive="base">
                                        <p:cTn id="62"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1" grpId="0"/>
      <p:bldP spid="13" grpId="0" animBg="1"/>
      <p:bldP spid="14" grpId="0" animBg="1"/>
      <p:bldP spid="21" grpId="0" animBg="1"/>
      <p:bldP spid="2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C51CF-A7C0-0208-061B-332E06597A39}"/>
              </a:ext>
            </a:extLst>
          </p:cNvPr>
          <p:cNvSpPr>
            <a:spLocks noGrp="1"/>
          </p:cNvSpPr>
          <p:nvPr>
            <p:ph type="title"/>
          </p:nvPr>
        </p:nvSpPr>
        <p:spPr/>
        <p:txBody>
          <a:bodyPr/>
          <a:lstStyle/>
          <a:p>
            <a:r>
              <a:rPr lang="en-US" sz="4000"/>
              <a:t>Nhóm lệnh truyền dữ liệu - Lệnh sw </a:t>
            </a:r>
            <a:endParaRPr lang="en-US"/>
          </a:p>
        </p:txBody>
      </p:sp>
      <p:sp>
        <p:nvSpPr>
          <p:cNvPr id="4" name="Footer Placeholder 3">
            <a:extLst>
              <a:ext uri="{FF2B5EF4-FFF2-40B4-BE49-F238E27FC236}">
                <a16:creationId xmlns:a16="http://schemas.microsoft.com/office/drawing/2014/main" id="{78643FFA-D770-AB12-5867-5AA1EAA95CDA}"/>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Slide Number Placeholder 4">
            <a:extLst>
              <a:ext uri="{FF2B5EF4-FFF2-40B4-BE49-F238E27FC236}">
                <a16:creationId xmlns:a16="http://schemas.microsoft.com/office/drawing/2014/main" id="{ADBC5B89-4E58-7961-C903-74D683786EA1}"/>
              </a:ext>
            </a:extLst>
          </p:cNvPr>
          <p:cNvSpPr>
            <a:spLocks noGrp="1"/>
          </p:cNvSpPr>
          <p:nvPr>
            <p:ph type="sldNum" sz="quarter" idx="12"/>
          </p:nvPr>
        </p:nvSpPr>
        <p:spPr/>
        <p:txBody>
          <a:bodyPr/>
          <a:lstStyle/>
          <a:p>
            <a:fld id="{D8B0B3AC-44A8-D142-AAF6-9A453466E1A4}" type="slidenum">
              <a:rPr lang="en-VN" smtClean="0"/>
              <a:pPr/>
              <a:t>25</a:t>
            </a:fld>
            <a:endParaRPr lang="en-VN" dirty="0"/>
          </a:p>
        </p:txBody>
      </p:sp>
      <p:sp>
        <p:nvSpPr>
          <p:cNvPr id="6" name="Date Placeholder 5">
            <a:extLst>
              <a:ext uri="{FF2B5EF4-FFF2-40B4-BE49-F238E27FC236}">
                <a16:creationId xmlns:a16="http://schemas.microsoft.com/office/drawing/2014/main" id="{1024CD57-F3EA-8FE7-D0A9-40C4B620CA4A}"/>
              </a:ext>
            </a:extLst>
          </p:cNvPr>
          <p:cNvSpPr>
            <a:spLocks noGrp="1"/>
          </p:cNvSpPr>
          <p:nvPr>
            <p:ph type="dt" sz="half" idx="13"/>
          </p:nvPr>
        </p:nvSpPr>
        <p:spPr/>
        <p:txBody>
          <a:bodyPr/>
          <a:lstStyle/>
          <a:p>
            <a:fld id="{46CDDB1B-AAE9-1649-A755-11FADEB7E97E}" type="datetime4">
              <a:rPr lang="en-US" smtClean="0"/>
              <a:pPr/>
              <a:t>April 21, 2024</a:t>
            </a:fld>
            <a:endParaRPr lang="en-US" dirty="0"/>
          </a:p>
        </p:txBody>
      </p:sp>
      <p:sp>
        <p:nvSpPr>
          <p:cNvPr id="3" name="Rectangle 2">
            <a:extLst>
              <a:ext uri="{FF2B5EF4-FFF2-40B4-BE49-F238E27FC236}">
                <a16:creationId xmlns:a16="http://schemas.microsoft.com/office/drawing/2014/main" id="{E8306537-1AA4-8F1E-3D20-40F453F8127A}"/>
              </a:ext>
            </a:extLst>
          </p:cNvPr>
          <p:cNvSpPr/>
          <p:nvPr/>
        </p:nvSpPr>
        <p:spPr>
          <a:xfrm>
            <a:off x="5938000" y="4021132"/>
            <a:ext cx="406113" cy="438582"/>
          </a:xfrm>
          <a:prstGeom prst="rect">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aphicFrame>
        <p:nvGraphicFramePr>
          <p:cNvPr id="7" name="Table 6">
            <a:extLst>
              <a:ext uri="{FF2B5EF4-FFF2-40B4-BE49-F238E27FC236}">
                <a16:creationId xmlns:a16="http://schemas.microsoft.com/office/drawing/2014/main" id="{09A608A0-F64D-8396-7543-1061DDADF578}"/>
              </a:ext>
            </a:extLst>
          </p:cNvPr>
          <p:cNvGraphicFramePr>
            <a:graphicFrameLocks noGrp="1"/>
          </p:cNvGraphicFramePr>
          <p:nvPr>
            <p:extLst>
              <p:ext uri="{D42A27DB-BD31-4B8C-83A1-F6EECF244321}">
                <p14:modId xmlns:p14="http://schemas.microsoft.com/office/powerpoint/2010/main" val="3129129780"/>
              </p:ext>
            </p:extLst>
          </p:nvPr>
        </p:nvGraphicFramePr>
        <p:xfrm>
          <a:off x="1775848" y="4206966"/>
          <a:ext cx="2527669" cy="1303020"/>
        </p:xfrm>
        <a:graphic>
          <a:graphicData uri="http://schemas.openxmlformats.org/drawingml/2006/table">
            <a:tbl>
              <a:tblPr firstRow="1" bandRow="1">
                <a:tableStyleId>{5940675A-B579-460E-94D1-54222C63F5DA}</a:tableStyleId>
              </a:tblPr>
              <a:tblGrid>
                <a:gridCol w="644440">
                  <a:extLst>
                    <a:ext uri="{9D8B030D-6E8A-4147-A177-3AD203B41FA5}">
                      <a16:colId xmlns:a16="http://schemas.microsoft.com/office/drawing/2014/main" val="2104779220"/>
                    </a:ext>
                  </a:extLst>
                </a:gridCol>
                <a:gridCol w="1883229">
                  <a:extLst>
                    <a:ext uri="{9D8B030D-6E8A-4147-A177-3AD203B41FA5}">
                      <a16:colId xmlns:a16="http://schemas.microsoft.com/office/drawing/2014/main" val="1767099797"/>
                    </a:ext>
                  </a:extLst>
                </a:gridCol>
              </a:tblGrid>
              <a:tr h="434340">
                <a:tc>
                  <a:txBody>
                    <a:bodyPr/>
                    <a:lstStyle/>
                    <a:p>
                      <a:pPr algn="ctr"/>
                      <a:r>
                        <a:rPr lang="en-US" sz="2400" dirty="0">
                          <a:latin typeface="Times New Roman" panose="02020603050405020304" pitchFamily="18" charset="0"/>
                          <a:cs typeface="Times New Roman" panose="02020603050405020304" pitchFamily="18" charset="0"/>
                        </a:rPr>
                        <a:t>$t0</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0xFA0101FA</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3117984"/>
                  </a:ext>
                </a:extLst>
              </a:tr>
              <a:tr h="434340">
                <a:tc>
                  <a:txBody>
                    <a:bodyPr/>
                    <a:lstStyle/>
                    <a:p>
                      <a:pPr algn="ctr"/>
                      <a:r>
                        <a:rPr lang="en-US" sz="2400" dirty="0">
                          <a:latin typeface="Times New Roman" panose="02020603050405020304" pitchFamily="18" charset="0"/>
                          <a:cs typeface="Times New Roman" panose="02020603050405020304" pitchFamily="18" charset="0"/>
                        </a:rPr>
                        <a:t>….</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latin typeface="Times New Roman" panose="02020603050405020304" pitchFamily="18" charset="0"/>
                          <a:cs typeface="Times New Roman" panose="02020603050405020304" pitchFamily="18" charset="0"/>
                        </a:rPr>
                        <a:t>…</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47873999"/>
                  </a:ext>
                </a:extLst>
              </a:tr>
              <a:tr h="434340">
                <a:tc>
                  <a:txBody>
                    <a:bodyPr/>
                    <a:lstStyle/>
                    <a:p>
                      <a:pPr algn="ctr"/>
                      <a:r>
                        <a:rPr lang="en-US" sz="2400" dirty="0">
                          <a:latin typeface="Times New Roman" panose="02020603050405020304" pitchFamily="18" charset="0"/>
                          <a:cs typeface="Times New Roman" panose="02020603050405020304" pitchFamily="18" charset="0"/>
                        </a:rPr>
                        <a:t>$s2</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latin typeface="Times New Roman" panose="02020603050405020304" pitchFamily="18" charset="0"/>
                          <a:cs typeface="Times New Roman" panose="02020603050405020304" pitchFamily="18" charset="0"/>
                        </a:rPr>
                        <a:t>0x10010008</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43278351"/>
                  </a:ext>
                </a:extLst>
              </a:tr>
            </a:tbl>
          </a:graphicData>
        </a:graphic>
      </p:graphicFrame>
      <p:sp>
        <p:nvSpPr>
          <p:cNvPr id="8" name="TextBox 7">
            <a:extLst>
              <a:ext uri="{FF2B5EF4-FFF2-40B4-BE49-F238E27FC236}">
                <a16:creationId xmlns:a16="http://schemas.microsoft.com/office/drawing/2014/main" id="{1E949A11-E01A-C289-3B0C-4604C31C843A}"/>
              </a:ext>
            </a:extLst>
          </p:cNvPr>
          <p:cNvSpPr txBox="1"/>
          <p:nvPr/>
        </p:nvSpPr>
        <p:spPr>
          <a:xfrm>
            <a:off x="1886002" y="3737512"/>
            <a:ext cx="1970723" cy="461665"/>
          </a:xfrm>
          <a:prstGeom prst="rect">
            <a:avLst/>
          </a:prstGeom>
          <a:noFill/>
        </p:spPr>
        <p:txBody>
          <a:bodyPr wrap="square">
            <a:spAutoFit/>
          </a:bodyPr>
          <a:lstStyle/>
          <a:p>
            <a:pPr algn="ctr"/>
            <a:r>
              <a:rPr lang="en-US" sz="2400" dirty="0" err="1">
                <a:latin typeface="Times New Roman" panose="02020603050405020304" pitchFamily="18" charset="0"/>
                <a:cs typeface="Times New Roman" panose="02020603050405020304" pitchFamily="18" charset="0"/>
              </a:rPr>
              <a:t>Tập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thanh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ghi</a:t>
            </a:r>
            <a:endParaRPr lang="en-US" sz="2400" dirty="0">
              <a:latin typeface="Times New Roman" panose="02020603050405020304" pitchFamily="18" charset="0"/>
              <a:cs typeface="Times New Roman" panose="02020603050405020304" pitchFamily="18" charset="0"/>
            </a:endParaRPr>
          </a:p>
        </p:txBody>
      </p:sp>
      <p:graphicFrame>
        <p:nvGraphicFramePr>
          <p:cNvPr id="9" name="Table 8">
            <a:extLst>
              <a:ext uri="{FF2B5EF4-FFF2-40B4-BE49-F238E27FC236}">
                <a16:creationId xmlns:a16="http://schemas.microsoft.com/office/drawing/2014/main" id="{DAD348B3-96D7-7D2D-8F64-BA4EA3DA0E76}"/>
              </a:ext>
            </a:extLst>
          </p:cNvPr>
          <p:cNvGraphicFramePr>
            <a:graphicFrameLocks noGrp="1"/>
          </p:cNvGraphicFramePr>
          <p:nvPr>
            <p:extLst>
              <p:ext uri="{D42A27DB-BD31-4B8C-83A1-F6EECF244321}">
                <p14:modId xmlns:p14="http://schemas.microsoft.com/office/powerpoint/2010/main" val="2820400120"/>
              </p:ext>
            </p:extLst>
          </p:nvPr>
        </p:nvGraphicFramePr>
        <p:xfrm>
          <a:off x="1775848" y="2327737"/>
          <a:ext cx="3926961" cy="1303020"/>
        </p:xfrm>
        <a:graphic>
          <a:graphicData uri="http://schemas.openxmlformats.org/drawingml/2006/table">
            <a:tbl>
              <a:tblPr firstRow="1" bandRow="1">
                <a:tableStyleId>{5940675A-B579-460E-94D1-54222C63F5DA}</a:tableStyleId>
              </a:tblPr>
              <a:tblGrid>
                <a:gridCol w="1847789">
                  <a:extLst>
                    <a:ext uri="{9D8B030D-6E8A-4147-A177-3AD203B41FA5}">
                      <a16:colId xmlns:a16="http://schemas.microsoft.com/office/drawing/2014/main" val="2104779220"/>
                    </a:ext>
                  </a:extLst>
                </a:gridCol>
                <a:gridCol w="2079172">
                  <a:extLst>
                    <a:ext uri="{9D8B030D-6E8A-4147-A177-3AD203B41FA5}">
                      <a16:colId xmlns:a16="http://schemas.microsoft.com/office/drawing/2014/main" val="1767099797"/>
                    </a:ext>
                  </a:extLst>
                </a:gridCol>
              </a:tblGrid>
              <a:tr h="434340">
                <a:tc>
                  <a:txBody>
                    <a:bodyPr/>
                    <a:lstStyle/>
                    <a:p>
                      <a:pPr algn="ctr"/>
                      <a:r>
                        <a:rPr lang="en-US" sz="2400" dirty="0">
                          <a:latin typeface="Times New Roman" panose="02020603050405020304" pitchFamily="18" charset="0"/>
                          <a:cs typeface="Times New Roman" panose="02020603050405020304" pitchFamily="18" charset="0"/>
                        </a:rPr>
                        <a:t>0x10010000</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0x12345678</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3117984"/>
                  </a:ext>
                </a:extLst>
              </a:tr>
              <a:tr h="434340">
                <a:tc>
                  <a:txBody>
                    <a:bodyPr/>
                    <a:lstStyle/>
                    <a:p>
                      <a:pPr algn="ctr"/>
                      <a:r>
                        <a:rPr lang="en-US" sz="2400" dirty="0">
                          <a:latin typeface="Times New Roman" panose="02020603050405020304" pitchFamily="18" charset="0"/>
                          <a:cs typeface="Times New Roman" panose="02020603050405020304" pitchFamily="18" charset="0"/>
                        </a:rPr>
                        <a:t>0x10010004</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latin typeface="Times New Roman" panose="02020603050405020304" pitchFamily="18" charset="0"/>
                          <a:cs typeface="Times New Roman" panose="02020603050405020304" pitchFamily="18" charset="0"/>
                        </a:rPr>
                        <a:t>0x9ABCDEF0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47873999"/>
                  </a:ext>
                </a:extLst>
              </a:tr>
              <a:tr h="434340">
                <a:tc>
                  <a:txBody>
                    <a:bodyPr/>
                    <a:lstStyle/>
                    <a:p>
                      <a:pPr algn="ctr"/>
                      <a:r>
                        <a:rPr lang="en-US" sz="2400" dirty="0">
                          <a:latin typeface="Times New Roman" panose="02020603050405020304" pitchFamily="18" charset="0"/>
                          <a:cs typeface="Times New Roman" panose="02020603050405020304" pitchFamily="18" charset="0"/>
                        </a:rPr>
                        <a:t>0x10010008</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latin typeface="Times New Roman" panose="02020603050405020304" pitchFamily="18" charset="0"/>
                          <a:cs typeface="Times New Roman" panose="02020603050405020304" pitchFamily="18" charset="0"/>
                        </a:rPr>
                        <a:t>0xCAFEBABA</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43278351"/>
                  </a:ext>
                </a:extLst>
              </a:tr>
            </a:tbl>
          </a:graphicData>
        </a:graphic>
      </p:graphicFrame>
      <p:sp>
        <p:nvSpPr>
          <p:cNvPr id="10" name="TextBox 9">
            <a:extLst>
              <a:ext uri="{FF2B5EF4-FFF2-40B4-BE49-F238E27FC236}">
                <a16:creationId xmlns:a16="http://schemas.microsoft.com/office/drawing/2014/main" id="{D1C04849-9AFF-3F55-9356-6CAB3EE6EA41}"/>
              </a:ext>
            </a:extLst>
          </p:cNvPr>
          <p:cNvSpPr txBox="1"/>
          <p:nvPr/>
        </p:nvSpPr>
        <p:spPr>
          <a:xfrm>
            <a:off x="2634125" y="1869180"/>
            <a:ext cx="2210405" cy="461665"/>
          </a:xfrm>
          <a:prstGeom prst="rect">
            <a:avLst/>
          </a:prstGeom>
          <a:noFill/>
        </p:spPr>
        <p:txBody>
          <a:bodyPr wrap="square">
            <a:spAutoFit/>
          </a:bodyPr>
          <a:lstStyle/>
          <a:p>
            <a:pPr algn="ctr"/>
            <a:r>
              <a:rPr lang="en-US" sz="2400" dirty="0" err="1">
                <a:latin typeface="Times New Roman" panose="02020603050405020304" pitchFamily="18" charset="0"/>
                <a:cs typeface="Times New Roman" panose="02020603050405020304" pitchFamily="18" charset="0"/>
              </a:rPr>
              <a:t>Bộ</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nhớ</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trước</a:t>
            </a:r>
            <a:r>
              <a:rPr lang="en-US" sz="2400" dirty="0">
                <a:latin typeface="Times New Roman" panose="02020603050405020304" pitchFamily="18" charset="0"/>
                <a:cs typeface="Times New Roman" panose="02020603050405020304" pitchFamily="18" charset="0"/>
              </a:rPr>
              <a:t>)</a:t>
            </a:r>
          </a:p>
        </p:txBody>
      </p:sp>
      <p:graphicFrame>
        <p:nvGraphicFramePr>
          <p:cNvPr id="11" name="Table 10">
            <a:extLst>
              <a:ext uri="{FF2B5EF4-FFF2-40B4-BE49-F238E27FC236}">
                <a16:creationId xmlns:a16="http://schemas.microsoft.com/office/drawing/2014/main" id="{D82A7E0C-CE0B-DC9F-4BC8-BE060784181B}"/>
              </a:ext>
            </a:extLst>
          </p:cNvPr>
          <p:cNvGraphicFramePr>
            <a:graphicFrameLocks noGrp="1"/>
          </p:cNvGraphicFramePr>
          <p:nvPr>
            <p:extLst>
              <p:ext uri="{D42A27DB-BD31-4B8C-83A1-F6EECF244321}">
                <p14:modId xmlns:p14="http://schemas.microsoft.com/office/powerpoint/2010/main" val="3646647383"/>
              </p:ext>
            </p:extLst>
          </p:nvPr>
        </p:nvGraphicFramePr>
        <p:xfrm>
          <a:off x="6344112" y="2307761"/>
          <a:ext cx="3926961" cy="1303020"/>
        </p:xfrm>
        <a:graphic>
          <a:graphicData uri="http://schemas.openxmlformats.org/drawingml/2006/table">
            <a:tbl>
              <a:tblPr firstRow="1" bandRow="1">
                <a:tableStyleId>{5940675A-B579-460E-94D1-54222C63F5DA}</a:tableStyleId>
              </a:tblPr>
              <a:tblGrid>
                <a:gridCol w="1847789">
                  <a:extLst>
                    <a:ext uri="{9D8B030D-6E8A-4147-A177-3AD203B41FA5}">
                      <a16:colId xmlns:a16="http://schemas.microsoft.com/office/drawing/2014/main" val="2104779220"/>
                    </a:ext>
                  </a:extLst>
                </a:gridCol>
                <a:gridCol w="2079172">
                  <a:extLst>
                    <a:ext uri="{9D8B030D-6E8A-4147-A177-3AD203B41FA5}">
                      <a16:colId xmlns:a16="http://schemas.microsoft.com/office/drawing/2014/main" val="1767099797"/>
                    </a:ext>
                  </a:extLst>
                </a:gridCol>
              </a:tblGrid>
              <a:tr h="434340">
                <a:tc>
                  <a:txBody>
                    <a:bodyPr/>
                    <a:lstStyle/>
                    <a:p>
                      <a:pPr algn="ctr"/>
                      <a:r>
                        <a:rPr lang="en-US" sz="2400" dirty="0">
                          <a:latin typeface="Times New Roman" panose="02020603050405020304" pitchFamily="18" charset="0"/>
                          <a:cs typeface="Times New Roman" panose="02020603050405020304" pitchFamily="18" charset="0"/>
                        </a:rPr>
                        <a:t>0x10010000</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0x12345678</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3117984"/>
                  </a:ext>
                </a:extLst>
              </a:tr>
              <a:tr h="434340">
                <a:tc>
                  <a:txBody>
                    <a:bodyPr/>
                    <a:lstStyle/>
                    <a:p>
                      <a:pPr algn="ctr"/>
                      <a:r>
                        <a:rPr lang="en-US" sz="2400" dirty="0">
                          <a:latin typeface="Times New Roman" panose="02020603050405020304" pitchFamily="18" charset="0"/>
                          <a:cs typeface="Times New Roman" panose="02020603050405020304" pitchFamily="18" charset="0"/>
                        </a:rPr>
                        <a:t>0x10010004</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latin typeface="Times New Roman" panose="02020603050405020304" pitchFamily="18" charset="0"/>
                          <a:cs typeface="Times New Roman" panose="02020603050405020304" pitchFamily="18" charset="0"/>
                        </a:rPr>
                        <a:t>0x9ABCDEF0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47873999"/>
                  </a:ext>
                </a:extLst>
              </a:tr>
              <a:tr h="434340">
                <a:tc>
                  <a:txBody>
                    <a:bodyPr/>
                    <a:lstStyle/>
                    <a:p>
                      <a:pPr algn="ctr"/>
                      <a:r>
                        <a:rPr lang="en-US" sz="2400" dirty="0">
                          <a:latin typeface="Times New Roman" panose="02020603050405020304" pitchFamily="18" charset="0"/>
                          <a:cs typeface="Times New Roman" panose="02020603050405020304" pitchFamily="18" charset="0"/>
                        </a:rPr>
                        <a:t>0x10010008</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latin typeface="Times New Roman" panose="02020603050405020304" pitchFamily="18" charset="0"/>
                          <a:cs typeface="Times New Roman" panose="02020603050405020304" pitchFamily="18" charset="0"/>
                        </a:rPr>
                        <a:t>0xCAFEBABA</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43278351"/>
                  </a:ext>
                </a:extLst>
              </a:tr>
            </a:tbl>
          </a:graphicData>
        </a:graphic>
      </p:graphicFrame>
      <p:sp>
        <p:nvSpPr>
          <p:cNvPr id="12" name="TextBox 11">
            <a:extLst>
              <a:ext uri="{FF2B5EF4-FFF2-40B4-BE49-F238E27FC236}">
                <a16:creationId xmlns:a16="http://schemas.microsoft.com/office/drawing/2014/main" id="{3AE7BB30-B468-FA9C-4C8B-3ED13D60937F}"/>
              </a:ext>
            </a:extLst>
          </p:cNvPr>
          <p:cNvSpPr txBox="1"/>
          <p:nvPr/>
        </p:nvSpPr>
        <p:spPr>
          <a:xfrm>
            <a:off x="7202389" y="1849205"/>
            <a:ext cx="1970723" cy="461665"/>
          </a:xfrm>
          <a:prstGeom prst="rect">
            <a:avLst/>
          </a:prstGeom>
          <a:noFill/>
        </p:spPr>
        <p:txBody>
          <a:bodyPr wrap="square">
            <a:spAutoFit/>
          </a:bodyPr>
          <a:lstStyle/>
          <a:p>
            <a:pPr algn="ctr"/>
            <a:r>
              <a:rPr lang="en-US" sz="2400" dirty="0" err="1">
                <a:latin typeface="Times New Roman" panose="02020603050405020304" pitchFamily="18" charset="0"/>
                <a:cs typeface="Times New Roman" panose="02020603050405020304" pitchFamily="18" charset="0"/>
              </a:rPr>
              <a:t>Bộ</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nhớ</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sau</a:t>
            </a:r>
            <a:r>
              <a:rPr lang="en-US" sz="2400" dirty="0">
                <a:latin typeface="Times New Roman" panose="02020603050405020304" pitchFamily="18" charset="0"/>
                <a:cs typeface="Times New Roman" panose="02020603050405020304" pitchFamily="18" charset="0"/>
              </a:rPr>
              <a:t>)</a:t>
            </a:r>
          </a:p>
        </p:txBody>
      </p:sp>
      <p:sp>
        <p:nvSpPr>
          <p:cNvPr id="13" name="TextBox 12">
            <a:extLst>
              <a:ext uri="{FF2B5EF4-FFF2-40B4-BE49-F238E27FC236}">
                <a16:creationId xmlns:a16="http://schemas.microsoft.com/office/drawing/2014/main" id="{6D7051A9-7842-3AB4-747F-37BC6E5AAAAE}"/>
              </a:ext>
            </a:extLst>
          </p:cNvPr>
          <p:cNvSpPr txBox="1"/>
          <p:nvPr/>
        </p:nvSpPr>
        <p:spPr>
          <a:xfrm>
            <a:off x="5016257" y="3987674"/>
            <a:ext cx="2033455" cy="461665"/>
          </a:xfrm>
          <a:prstGeom prst="rect">
            <a:avLst/>
          </a:prstGeom>
          <a:noFill/>
        </p:spPr>
        <p:txBody>
          <a:bodyPr wrap="square">
            <a:spAutoFit/>
          </a:bodyPr>
          <a:lstStyle/>
          <a:p>
            <a:r>
              <a:rPr lang="en-US" sz="2400" dirty="0" err="1">
                <a:solidFill>
                  <a:srgbClr val="FF0000"/>
                </a:solidFill>
                <a:latin typeface="Times New Roman" panose="02020603050405020304" pitchFamily="18" charset="0"/>
                <a:cs typeface="Times New Roman" panose="02020603050405020304" pitchFamily="18" charset="0"/>
              </a:rPr>
              <a:t>sw</a:t>
            </a:r>
            <a:r>
              <a:rPr lang="en-US" sz="2400" dirty="0">
                <a:latin typeface="Times New Roman" panose="02020603050405020304" pitchFamily="18" charset="0"/>
                <a:cs typeface="Times New Roman" panose="02020603050405020304" pitchFamily="18" charset="0"/>
              </a:rPr>
              <a:t> </a:t>
            </a:r>
            <a:r>
              <a:rPr lang="en-US" sz="2400" dirty="0">
                <a:solidFill>
                  <a:srgbClr val="7030A0"/>
                </a:solidFill>
                <a:latin typeface="Times New Roman" panose="02020603050405020304" pitchFamily="18" charset="0"/>
                <a:cs typeface="Times New Roman" panose="02020603050405020304" pitchFamily="18" charset="0"/>
              </a:rPr>
              <a:t>$t0</a:t>
            </a:r>
            <a:r>
              <a:rPr lang="en-US" sz="2400" dirty="0">
                <a:latin typeface="Times New Roman" panose="02020603050405020304" pitchFamily="18" charset="0"/>
                <a:cs typeface="Times New Roman" panose="02020603050405020304" pitchFamily="18" charset="0"/>
              </a:rPr>
              <a:t>, </a:t>
            </a:r>
            <a:r>
              <a:rPr lang="en-US" sz="2400" dirty="0">
                <a:solidFill>
                  <a:srgbClr val="00B050"/>
                </a:solidFill>
                <a:latin typeface="Times New Roman" panose="02020603050405020304" pitchFamily="18" charset="0"/>
                <a:cs typeface="Times New Roman" panose="02020603050405020304" pitchFamily="18" charset="0"/>
              </a:rPr>
              <a:t>-8</a:t>
            </a:r>
            <a:r>
              <a:rPr lang="en-US" sz="2400" dirty="0">
                <a:solidFill>
                  <a:srgbClr val="FFC000"/>
                </a:solidFill>
                <a:latin typeface="Times New Roman" panose="02020603050405020304" pitchFamily="18" charset="0"/>
                <a:cs typeface="Times New Roman" panose="02020603050405020304" pitchFamily="18" charset="0"/>
              </a:rPr>
              <a:t>($s2)</a:t>
            </a:r>
            <a:endParaRPr lang="en-US" sz="2400" dirty="0">
              <a:latin typeface="Times New Roman" panose="02020603050405020304" pitchFamily="18" charset="0"/>
              <a:cs typeface="Times New Roman" panose="02020603050405020304" pitchFamily="18" charset="0"/>
            </a:endParaRPr>
          </a:p>
        </p:txBody>
      </p:sp>
      <p:cxnSp>
        <p:nvCxnSpPr>
          <p:cNvPr id="14" name="Straight Arrow Connector 13">
            <a:extLst>
              <a:ext uri="{FF2B5EF4-FFF2-40B4-BE49-F238E27FC236}">
                <a16:creationId xmlns:a16="http://schemas.microsoft.com/office/drawing/2014/main" id="{89657962-E907-6FC4-930B-8FE2E43BC3DA}"/>
              </a:ext>
            </a:extLst>
          </p:cNvPr>
          <p:cNvCxnSpPr>
            <a:cxnSpLocks/>
          </p:cNvCxnSpPr>
          <p:nvPr/>
        </p:nvCxnSpPr>
        <p:spPr>
          <a:xfrm flipV="1">
            <a:off x="4408892" y="4426256"/>
            <a:ext cx="2037370" cy="725201"/>
          </a:xfrm>
          <a:prstGeom prst="straightConnector1">
            <a:avLst/>
          </a:prstGeom>
          <a:ln>
            <a:solidFill>
              <a:srgbClr val="FFC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5" name="Lightning Bolt 14">
            <a:extLst>
              <a:ext uri="{FF2B5EF4-FFF2-40B4-BE49-F238E27FC236}">
                <a16:creationId xmlns:a16="http://schemas.microsoft.com/office/drawing/2014/main" id="{6E02928B-3DA9-79EE-591E-65B33E274A72}"/>
              </a:ext>
            </a:extLst>
          </p:cNvPr>
          <p:cNvSpPr/>
          <p:nvPr/>
        </p:nvSpPr>
        <p:spPr>
          <a:xfrm>
            <a:off x="4667487" y="3745301"/>
            <a:ext cx="348770" cy="411742"/>
          </a:xfrm>
          <a:prstGeom prst="lightningBol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6" name="Plus Sign 15">
            <a:extLst>
              <a:ext uri="{FF2B5EF4-FFF2-40B4-BE49-F238E27FC236}">
                <a16:creationId xmlns:a16="http://schemas.microsoft.com/office/drawing/2014/main" id="{763EC706-19A0-ECBC-8003-2000BCF3B535}"/>
              </a:ext>
            </a:extLst>
          </p:cNvPr>
          <p:cNvSpPr/>
          <p:nvPr/>
        </p:nvSpPr>
        <p:spPr>
          <a:xfrm>
            <a:off x="6744100" y="5048322"/>
            <a:ext cx="422031" cy="438581"/>
          </a:xfrm>
          <a:prstGeom prst="mathPlus">
            <a:avLst/>
          </a:prstGeom>
          <a:solidFill>
            <a:srgbClr val="FF0000"/>
          </a:solidFill>
          <a:ln>
            <a:solidFill>
              <a:schemeClr val="accent2"/>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350">
              <a:solidFill>
                <a:srgbClr val="FF0000"/>
              </a:solidFill>
            </a:endParaRPr>
          </a:p>
        </p:txBody>
      </p:sp>
      <p:cxnSp>
        <p:nvCxnSpPr>
          <p:cNvPr id="17" name="Straight Connector 16">
            <a:extLst>
              <a:ext uri="{FF2B5EF4-FFF2-40B4-BE49-F238E27FC236}">
                <a16:creationId xmlns:a16="http://schemas.microsoft.com/office/drawing/2014/main" id="{F4996FD8-D279-390D-855C-34D1BF9B83B4}"/>
              </a:ext>
            </a:extLst>
          </p:cNvPr>
          <p:cNvCxnSpPr>
            <a:cxnSpLocks/>
          </p:cNvCxnSpPr>
          <p:nvPr/>
        </p:nvCxnSpPr>
        <p:spPr>
          <a:xfrm flipV="1">
            <a:off x="7212205" y="2742128"/>
            <a:ext cx="251763" cy="2584697"/>
          </a:xfrm>
          <a:prstGeom prst="line">
            <a:avLst/>
          </a:prstGeom>
          <a:ln>
            <a:solidFill>
              <a:srgbClr val="7030A0"/>
            </a:solidFill>
            <a:headEnd type="none" w="med" len="med"/>
            <a:tailEnd type="triangle" w="med" len="med"/>
          </a:ln>
        </p:spPr>
        <p:style>
          <a:lnRef idx="1">
            <a:schemeClr val="accent2"/>
          </a:lnRef>
          <a:fillRef idx="0">
            <a:schemeClr val="accent2"/>
          </a:fillRef>
          <a:effectRef idx="0">
            <a:schemeClr val="accent2"/>
          </a:effectRef>
          <a:fontRef idx="minor">
            <a:schemeClr val="tx1"/>
          </a:fontRef>
        </p:style>
      </p:cxnSp>
      <p:cxnSp>
        <p:nvCxnSpPr>
          <p:cNvPr id="18" name="Straight Arrow Connector 17">
            <a:extLst>
              <a:ext uri="{FF2B5EF4-FFF2-40B4-BE49-F238E27FC236}">
                <a16:creationId xmlns:a16="http://schemas.microsoft.com/office/drawing/2014/main" id="{13CF1E6F-2C14-ED3C-F976-C86D4F3B6FD4}"/>
              </a:ext>
            </a:extLst>
          </p:cNvPr>
          <p:cNvCxnSpPr>
            <a:stCxn id="3" idx="2"/>
          </p:cNvCxnSpPr>
          <p:nvPr/>
        </p:nvCxnSpPr>
        <p:spPr>
          <a:xfrm>
            <a:off x="6141056" y="4459714"/>
            <a:ext cx="603044" cy="666384"/>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15C549A9-7622-D6C9-6BCC-6F1A18636E76}"/>
              </a:ext>
            </a:extLst>
          </p:cNvPr>
          <p:cNvCxnSpPr>
            <a:cxnSpLocks/>
          </p:cNvCxnSpPr>
          <p:nvPr/>
        </p:nvCxnSpPr>
        <p:spPr>
          <a:xfrm flipV="1">
            <a:off x="4185919" y="5267612"/>
            <a:ext cx="2512106" cy="55879"/>
          </a:xfrm>
          <a:prstGeom prst="straightConnector1">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D1F8C95-7047-8905-AD37-65A5ACF977A7}"/>
              </a:ext>
            </a:extLst>
          </p:cNvPr>
          <p:cNvCxnSpPr>
            <a:cxnSpLocks/>
          </p:cNvCxnSpPr>
          <p:nvPr/>
        </p:nvCxnSpPr>
        <p:spPr>
          <a:xfrm flipH="1">
            <a:off x="4408892" y="4345897"/>
            <a:ext cx="1101154" cy="113818"/>
          </a:xfrm>
          <a:prstGeom prst="line">
            <a:avLst/>
          </a:prstGeom>
          <a:ln>
            <a:solidFill>
              <a:srgbClr val="7030A0"/>
            </a:solidFill>
            <a:headEnd type="none" w="med" len="med"/>
            <a:tailEnd type="triangle" w="med" len="med"/>
          </a:ln>
        </p:spPr>
        <p:style>
          <a:lnRef idx="1">
            <a:schemeClr val="accent2"/>
          </a:lnRef>
          <a:fillRef idx="0">
            <a:schemeClr val="accent2"/>
          </a:fillRef>
          <a:effectRef idx="0">
            <a:schemeClr val="accent2"/>
          </a:effectRef>
          <a:fontRef idx="minor">
            <a:schemeClr val="tx1"/>
          </a:fontRef>
        </p:style>
      </p:cxnSp>
      <p:sp>
        <p:nvSpPr>
          <p:cNvPr id="21" name="Rectangle 20">
            <a:extLst>
              <a:ext uri="{FF2B5EF4-FFF2-40B4-BE49-F238E27FC236}">
                <a16:creationId xmlns:a16="http://schemas.microsoft.com/office/drawing/2014/main" id="{FACD9240-C8C9-AED5-6FE1-693338A38BD3}"/>
              </a:ext>
            </a:extLst>
          </p:cNvPr>
          <p:cNvSpPr/>
          <p:nvPr/>
        </p:nvSpPr>
        <p:spPr>
          <a:xfrm>
            <a:off x="8202707" y="2292764"/>
            <a:ext cx="2068364" cy="428625"/>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2" name="TextBox 21">
            <a:extLst>
              <a:ext uri="{FF2B5EF4-FFF2-40B4-BE49-F238E27FC236}">
                <a16:creationId xmlns:a16="http://schemas.microsoft.com/office/drawing/2014/main" id="{3562F811-1A2C-F4B2-49DC-893698A77CC1}"/>
              </a:ext>
            </a:extLst>
          </p:cNvPr>
          <p:cNvSpPr txBox="1"/>
          <p:nvPr/>
        </p:nvSpPr>
        <p:spPr>
          <a:xfrm>
            <a:off x="8202707" y="2287786"/>
            <a:ext cx="2068364" cy="461665"/>
          </a:xfrm>
          <a:prstGeom prst="rect">
            <a:avLst/>
          </a:prstGeom>
          <a:noFill/>
        </p:spPr>
        <p:txBody>
          <a:bodyPr wrap="square">
            <a:spAutoFit/>
          </a:bodyPr>
          <a:lstStyle/>
          <a:p>
            <a:pPr algn="ctr"/>
            <a:r>
              <a:rPr lang="en-US" sz="2400" dirty="0">
                <a:solidFill>
                  <a:schemeClr val="bg1"/>
                </a:solidFill>
                <a:latin typeface="Times New Roman" panose="02020603050405020304" pitchFamily="18" charset="0"/>
                <a:cs typeface="Times New Roman" panose="02020603050405020304" pitchFamily="18" charset="0"/>
              </a:rPr>
              <a:t>0xFA0101FA</a:t>
            </a:r>
          </a:p>
        </p:txBody>
      </p:sp>
    </p:spTree>
    <p:extLst>
      <p:ext uri="{BB962C8B-B14F-4D97-AF65-F5344CB8AC3E}">
        <p14:creationId xmlns:p14="http://schemas.microsoft.com/office/powerpoint/2010/main" val="3437673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fill="hold"/>
                                        <p:tgtEl>
                                          <p:spTgt spid="14"/>
                                        </p:tgtEl>
                                        <p:attrNameLst>
                                          <p:attrName>ppt_x</p:attrName>
                                        </p:attrNameLst>
                                      </p:cBhvr>
                                      <p:tavLst>
                                        <p:tav tm="0">
                                          <p:val>
                                            <p:strVal val="#ppt_x"/>
                                          </p:val>
                                        </p:tav>
                                        <p:tav tm="100000">
                                          <p:val>
                                            <p:strVal val="#ppt_x"/>
                                          </p:val>
                                        </p:tav>
                                      </p:tavLst>
                                    </p:anim>
                                    <p:anim calcmode="lin" valueType="num">
                                      <p:cBhvr additive="base">
                                        <p:cTn id="1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additive="base">
                                        <p:cTn id="25" dur="500" fill="hold"/>
                                        <p:tgtEl>
                                          <p:spTgt spid="15"/>
                                        </p:tgtEl>
                                        <p:attrNameLst>
                                          <p:attrName>ppt_x</p:attrName>
                                        </p:attrNameLst>
                                      </p:cBhvr>
                                      <p:tavLst>
                                        <p:tav tm="0">
                                          <p:val>
                                            <p:strVal val="#ppt_x"/>
                                          </p:val>
                                        </p:tav>
                                        <p:tav tm="100000">
                                          <p:val>
                                            <p:strVal val="#ppt_x"/>
                                          </p:val>
                                        </p:tav>
                                      </p:tavLst>
                                    </p:anim>
                                    <p:anim calcmode="lin" valueType="num">
                                      <p:cBhvr additive="base">
                                        <p:cTn id="26"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8"/>
                                        </p:tgtEl>
                                        <p:attrNameLst>
                                          <p:attrName>style.visibility</p:attrName>
                                        </p:attrNameLst>
                                      </p:cBhvr>
                                      <p:to>
                                        <p:strVal val="visible"/>
                                      </p:to>
                                    </p:set>
                                    <p:anim calcmode="lin" valueType="num">
                                      <p:cBhvr additive="base">
                                        <p:cTn id="31" dur="500" fill="hold"/>
                                        <p:tgtEl>
                                          <p:spTgt spid="18"/>
                                        </p:tgtEl>
                                        <p:attrNameLst>
                                          <p:attrName>ppt_x</p:attrName>
                                        </p:attrNameLst>
                                      </p:cBhvr>
                                      <p:tavLst>
                                        <p:tav tm="0">
                                          <p:val>
                                            <p:strVal val="#ppt_x"/>
                                          </p:val>
                                        </p:tav>
                                        <p:tav tm="100000">
                                          <p:val>
                                            <p:strVal val="#ppt_x"/>
                                          </p:val>
                                        </p:tav>
                                      </p:tavLst>
                                    </p:anim>
                                    <p:anim calcmode="lin" valueType="num">
                                      <p:cBhvr additive="base">
                                        <p:cTn id="32" dur="500" fill="hold"/>
                                        <p:tgtEl>
                                          <p:spTgt spid="18"/>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9"/>
                                        </p:tgtEl>
                                        <p:attrNameLst>
                                          <p:attrName>style.visibility</p:attrName>
                                        </p:attrNameLst>
                                      </p:cBhvr>
                                      <p:to>
                                        <p:strVal val="visible"/>
                                      </p:to>
                                    </p:set>
                                    <p:anim calcmode="lin" valueType="num">
                                      <p:cBhvr additive="base">
                                        <p:cTn id="35" dur="500" fill="hold"/>
                                        <p:tgtEl>
                                          <p:spTgt spid="19"/>
                                        </p:tgtEl>
                                        <p:attrNameLst>
                                          <p:attrName>ppt_x</p:attrName>
                                        </p:attrNameLst>
                                      </p:cBhvr>
                                      <p:tavLst>
                                        <p:tav tm="0">
                                          <p:val>
                                            <p:strVal val="#ppt_x"/>
                                          </p:val>
                                        </p:tav>
                                        <p:tav tm="100000">
                                          <p:val>
                                            <p:strVal val="#ppt_x"/>
                                          </p:val>
                                        </p:tav>
                                      </p:tavLst>
                                    </p:anim>
                                    <p:anim calcmode="lin" valueType="num">
                                      <p:cBhvr additive="base">
                                        <p:cTn id="36" dur="500" fill="hold"/>
                                        <p:tgtEl>
                                          <p:spTgt spid="19"/>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anim calcmode="lin" valueType="num">
                                      <p:cBhvr additive="base">
                                        <p:cTn id="39" dur="500" fill="hold"/>
                                        <p:tgtEl>
                                          <p:spTgt spid="16"/>
                                        </p:tgtEl>
                                        <p:attrNameLst>
                                          <p:attrName>ppt_x</p:attrName>
                                        </p:attrNameLst>
                                      </p:cBhvr>
                                      <p:tavLst>
                                        <p:tav tm="0">
                                          <p:val>
                                            <p:strVal val="#ppt_x"/>
                                          </p:val>
                                        </p:tav>
                                        <p:tav tm="100000">
                                          <p:val>
                                            <p:strVal val="#ppt_x"/>
                                          </p:val>
                                        </p:tav>
                                      </p:tavLst>
                                    </p:anim>
                                    <p:anim calcmode="lin" valueType="num">
                                      <p:cBhvr additive="base">
                                        <p:cTn id="40"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17"/>
                                        </p:tgtEl>
                                        <p:attrNameLst>
                                          <p:attrName>style.visibility</p:attrName>
                                        </p:attrNameLst>
                                      </p:cBhvr>
                                      <p:to>
                                        <p:strVal val="visible"/>
                                      </p:to>
                                    </p:set>
                                    <p:anim calcmode="lin" valueType="num">
                                      <p:cBhvr additive="base">
                                        <p:cTn id="45" dur="500" fill="hold"/>
                                        <p:tgtEl>
                                          <p:spTgt spid="17"/>
                                        </p:tgtEl>
                                        <p:attrNameLst>
                                          <p:attrName>ppt_x</p:attrName>
                                        </p:attrNameLst>
                                      </p:cBhvr>
                                      <p:tavLst>
                                        <p:tav tm="0">
                                          <p:val>
                                            <p:strVal val="#ppt_x"/>
                                          </p:val>
                                        </p:tav>
                                        <p:tav tm="100000">
                                          <p:val>
                                            <p:strVal val="#ppt_x"/>
                                          </p:val>
                                        </p:tav>
                                      </p:tavLst>
                                    </p:anim>
                                    <p:anim calcmode="lin" valueType="num">
                                      <p:cBhvr additive="base">
                                        <p:cTn id="46"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20"/>
                                        </p:tgtEl>
                                        <p:attrNameLst>
                                          <p:attrName>style.visibility</p:attrName>
                                        </p:attrNameLst>
                                      </p:cBhvr>
                                      <p:to>
                                        <p:strVal val="visible"/>
                                      </p:to>
                                    </p:set>
                                    <p:anim calcmode="lin" valueType="num">
                                      <p:cBhvr additive="base">
                                        <p:cTn id="51" dur="500" fill="hold"/>
                                        <p:tgtEl>
                                          <p:spTgt spid="20"/>
                                        </p:tgtEl>
                                        <p:attrNameLst>
                                          <p:attrName>ppt_x</p:attrName>
                                        </p:attrNameLst>
                                      </p:cBhvr>
                                      <p:tavLst>
                                        <p:tav tm="0">
                                          <p:val>
                                            <p:strVal val="#ppt_x"/>
                                          </p:val>
                                        </p:tav>
                                        <p:tav tm="100000">
                                          <p:val>
                                            <p:strVal val="#ppt_x"/>
                                          </p:val>
                                        </p:tav>
                                      </p:tavLst>
                                    </p:anim>
                                    <p:anim calcmode="lin" valueType="num">
                                      <p:cBhvr additive="base">
                                        <p:cTn id="52"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1"/>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22"/>
                                        </p:tgtEl>
                                        <p:attrNameLst>
                                          <p:attrName>style.visibility</p:attrName>
                                        </p:attrNameLst>
                                      </p:cBhvr>
                                      <p:to>
                                        <p:strVal val="visible"/>
                                      </p:to>
                                    </p:set>
                                    <p:anim calcmode="lin" valueType="num">
                                      <p:cBhvr additive="base">
                                        <p:cTn id="61" dur="500" fill="hold"/>
                                        <p:tgtEl>
                                          <p:spTgt spid="22"/>
                                        </p:tgtEl>
                                        <p:attrNameLst>
                                          <p:attrName>ppt_x</p:attrName>
                                        </p:attrNameLst>
                                      </p:cBhvr>
                                      <p:tavLst>
                                        <p:tav tm="0">
                                          <p:val>
                                            <p:strVal val="#ppt_x"/>
                                          </p:val>
                                        </p:tav>
                                        <p:tav tm="100000">
                                          <p:val>
                                            <p:strVal val="#ppt_x"/>
                                          </p:val>
                                        </p:tav>
                                      </p:tavLst>
                                    </p:anim>
                                    <p:anim calcmode="lin" valueType="num">
                                      <p:cBhvr additive="base">
                                        <p:cTn id="62"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3" grpId="0"/>
      <p:bldP spid="15" grpId="0" animBg="1"/>
      <p:bldP spid="16" grpId="0" animBg="1"/>
      <p:bldP spid="21" grpId="0" animBg="1"/>
      <p:bldP spid="2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FB0C8-FCE3-E4FD-0929-2FE3255D2E1B}"/>
              </a:ext>
            </a:extLst>
          </p:cNvPr>
          <p:cNvSpPr>
            <a:spLocks noGrp="1"/>
          </p:cNvSpPr>
          <p:nvPr>
            <p:ph type="title"/>
          </p:nvPr>
        </p:nvSpPr>
        <p:spPr/>
        <p:txBody>
          <a:bodyPr/>
          <a:lstStyle/>
          <a:p>
            <a:r>
              <a:rPr lang="en-US"/>
              <a:t>Nhóm lệnh điều khiển </a:t>
            </a:r>
          </a:p>
        </p:txBody>
      </p:sp>
      <p:sp>
        <p:nvSpPr>
          <p:cNvPr id="4" name="Footer Placeholder 3">
            <a:extLst>
              <a:ext uri="{FF2B5EF4-FFF2-40B4-BE49-F238E27FC236}">
                <a16:creationId xmlns:a16="http://schemas.microsoft.com/office/drawing/2014/main" id="{4290DC96-5A53-8E11-1A18-64E20D46780A}"/>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Slide Number Placeholder 4">
            <a:extLst>
              <a:ext uri="{FF2B5EF4-FFF2-40B4-BE49-F238E27FC236}">
                <a16:creationId xmlns:a16="http://schemas.microsoft.com/office/drawing/2014/main" id="{75A174FE-5DE5-6869-38B7-A9B7CAD09083}"/>
              </a:ext>
            </a:extLst>
          </p:cNvPr>
          <p:cNvSpPr>
            <a:spLocks noGrp="1"/>
          </p:cNvSpPr>
          <p:nvPr>
            <p:ph type="sldNum" sz="quarter" idx="12"/>
          </p:nvPr>
        </p:nvSpPr>
        <p:spPr/>
        <p:txBody>
          <a:bodyPr/>
          <a:lstStyle/>
          <a:p>
            <a:fld id="{D8B0B3AC-44A8-D142-AAF6-9A453466E1A4}" type="slidenum">
              <a:rPr lang="en-VN" smtClean="0"/>
              <a:pPr/>
              <a:t>26</a:t>
            </a:fld>
            <a:endParaRPr lang="en-VN" dirty="0"/>
          </a:p>
        </p:txBody>
      </p:sp>
      <p:sp>
        <p:nvSpPr>
          <p:cNvPr id="6" name="Date Placeholder 5">
            <a:extLst>
              <a:ext uri="{FF2B5EF4-FFF2-40B4-BE49-F238E27FC236}">
                <a16:creationId xmlns:a16="http://schemas.microsoft.com/office/drawing/2014/main" id="{09E868C0-A04C-2EBD-7A5A-6841601FEA85}"/>
              </a:ext>
            </a:extLst>
          </p:cNvPr>
          <p:cNvSpPr>
            <a:spLocks noGrp="1"/>
          </p:cNvSpPr>
          <p:nvPr>
            <p:ph type="dt" sz="half" idx="13"/>
          </p:nvPr>
        </p:nvSpPr>
        <p:spPr/>
        <p:txBody>
          <a:bodyPr/>
          <a:lstStyle/>
          <a:p>
            <a:fld id="{46CDDB1B-AAE9-1649-A755-11FADEB7E97E}" type="datetime4">
              <a:rPr lang="en-US" smtClean="0"/>
              <a:pPr/>
              <a:t>April 21, 2024</a:t>
            </a:fld>
            <a:endParaRPr lang="en-US" dirty="0"/>
          </a:p>
        </p:txBody>
      </p:sp>
      <p:graphicFrame>
        <p:nvGraphicFramePr>
          <p:cNvPr id="7" name="Group 47">
            <a:extLst>
              <a:ext uri="{FF2B5EF4-FFF2-40B4-BE49-F238E27FC236}">
                <a16:creationId xmlns:a16="http://schemas.microsoft.com/office/drawing/2014/main" id="{FDDEFEE8-7D0F-5A5A-2F70-0AE6FC602B01}"/>
              </a:ext>
            </a:extLst>
          </p:cNvPr>
          <p:cNvGraphicFramePr>
            <a:graphicFrameLocks noGrp="1"/>
          </p:cNvGraphicFramePr>
          <p:nvPr>
            <p:extLst>
              <p:ext uri="{D42A27DB-BD31-4B8C-83A1-F6EECF244321}">
                <p14:modId xmlns:p14="http://schemas.microsoft.com/office/powerpoint/2010/main" val="193852944"/>
              </p:ext>
            </p:extLst>
          </p:nvPr>
        </p:nvGraphicFramePr>
        <p:xfrm>
          <a:off x="937260" y="1741390"/>
          <a:ext cx="10317480" cy="3852866"/>
        </p:xfrm>
        <a:graphic>
          <a:graphicData uri="http://schemas.openxmlformats.org/drawingml/2006/table">
            <a:tbl>
              <a:tblPr/>
              <a:tblGrid>
                <a:gridCol w="4022892">
                  <a:extLst>
                    <a:ext uri="{9D8B030D-6E8A-4147-A177-3AD203B41FA5}">
                      <a16:colId xmlns:a16="http://schemas.microsoft.com/office/drawing/2014/main" val="3649055853"/>
                    </a:ext>
                  </a:extLst>
                </a:gridCol>
                <a:gridCol w="4154321">
                  <a:extLst>
                    <a:ext uri="{9D8B030D-6E8A-4147-A177-3AD203B41FA5}">
                      <a16:colId xmlns:a16="http://schemas.microsoft.com/office/drawing/2014/main" val="20003"/>
                    </a:ext>
                  </a:extLst>
                </a:gridCol>
                <a:gridCol w="2140267">
                  <a:extLst>
                    <a:ext uri="{9D8B030D-6E8A-4147-A177-3AD203B41FA5}">
                      <a16:colId xmlns:a16="http://schemas.microsoft.com/office/drawing/2014/main" val="511114127"/>
                    </a:ext>
                  </a:extLst>
                </a:gridCol>
              </a:tblGrid>
              <a:tr h="64250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2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Thao </a:t>
                      </a:r>
                      <a:r>
                        <a:rPr kumimoji="0" lang="en-AU" sz="23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tác</a:t>
                      </a:r>
                      <a:endParaRPr kumimoji="0" lang="en-AU" sz="2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90105" marR="90105" marT="45053" marB="4505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MIPS</a:t>
                      </a:r>
                      <a:endParaRPr kumimoji="0" lang="en-AU" sz="2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90105" marR="90105" marT="45053" marB="4505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vi-VN" sz="2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Định dạng</a:t>
                      </a:r>
                      <a:endParaRPr kumimoji="0" lang="en-AU" sz="2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90105" marR="90105" marT="45053" marB="4505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4250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2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Nhảy</a:t>
                      </a:r>
                      <a:r>
                        <a:rPr kumimoji="0" lang="en-AU"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AU" sz="2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nếu</a:t>
                      </a:r>
                      <a:r>
                        <a:rPr kumimoji="0" lang="en-AU"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AU" sz="2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bằng</a:t>
                      </a:r>
                      <a:endParaRPr kumimoji="0" lang="en-AU"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90105" marR="90105" marT="45053" marB="4505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beq</a:t>
                      </a:r>
                      <a:endParaRPr kumimoji="0" lang="en-AU"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90105" marR="90105" marT="45053" marB="4505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a:t>
                      </a:r>
                      <a:endParaRPr kumimoji="0" lang="en-AU"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90105" marR="90105" marT="45053" marB="4505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764429477"/>
                  </a:ext>
                </a:extLst>
              </a:tr>
              <a:tr h="64250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2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Nhảy</a:t>
                      </a:r>
                      <a:r>
                        <a:rPr kumimoji="0" lang="en-AU"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AU" sz="2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nếu</a:t>
                      </a:r>
                      <a:r>
                        <a:rPr kumimoji="0" lang="en-AU"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AU" sz="2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khác</a:t>
                      </a:r>
                      <a:endParaRPr kumimoji="0" lang="en-AU"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90105" marR="90105" marT="45053" marB="4505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2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bne</a:t>
                      </a:r>
                      <a:endParaRPr kumimoji="0" lang="en-AU"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90105" marR="90105" marT="45053" marB="4505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vi-VN"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a:t>
                      </a:r>
                      <a:endParaRPr kumimoji="0" lang="en-AU"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90105" marR="90105" marT="45053" marB="4505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80267510"/>
                  </a:ext>
                </a:extLst>
              </a:tr>
              <a:tr h="64250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2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Nhảy</a:t>
                      </a:r>
                      <a:r>
                        <a:rPr kumimoji="0" lang="en-AU"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AU" sz="2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nhãn</a:t>
                      </a:r>
                      <a:r>
                        <a:rPr kumimoji="0" lang="en-AU"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txBody>
                  <a:tcPr marL="90105" marR="90105" marT="45053" marB="4505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a:t>
                      </a:r>
                      <a:endParaRPr kumimoji="0" lang="en-AU"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90105" marR="90105" marT="45053" marB="4505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a:t>
                      </a:r>
                      <a:endParaRPr kumimoji="0" lang="en-AU"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90105" marR="90105" marT="45053" marB="4505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80700957"/>
                  </a:ext>
                </a:extLst>
              </a:tr>
              <a:tr h="640341">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2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Nhảy</a:t>
                      </a:r>
                      <a:r>
                        <a:rPr kumimoji="0" lang="en-AU"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AU" sz="2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thanh</a:t>
                      </a:r>
                      <a:r>
                        <a:rPr kumimoji="0" lang="en-AU"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AU" sz="2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ghi</a:t>
                      </a:r>
                      <a:endParaRPr kumimoji="0" lang="en-AU"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90105" marR="90105" marT="45053" marB="4505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jr</a:t>
                      </a:r>
                      <a:endParaRPr kumimoji="0" lang="en-AU"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90105" marR="90105" marT="45053" marB="4505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vi-VN"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t>
                      </a:r>
                      <a:endParaRPr kumimoji="0" lang="en-AU"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90105" marR="90105" marT="45053" marB="4505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4250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2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Nhảy</a:t>
                      </a:r>
                      <a:r>
                        <a:rPr kumimoji="0" lang="en-AU"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AU" sz="2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và</a:t>
                      </a:r>
                      <a:r>
                        <a:rPr kumimoji="0" lang="en-AU"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AU" sz="2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liên</a:t>
                      </a:r>
                      <a:r>
                        <a:rPr kumimoji="0" lang="en-AU"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AU" sz="2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kết</a:t>
                      </a:r>
                      <a:endParaRPr kumimoji="0" lang="en-AU"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90105" marR="90105" marT="45053" marB="4505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jal</a:t>
                      </a:r>
                      <a:endParaRPr kumimoji="0" lang="en-AU"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90105" marR="90105" marT="45053" marB="4505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a:t>
                      </a:r>
                      <a:endParaRPr kumimoji="0" lang="en-AU"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90105" marR="90105" marT="45053" marB="4505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9450263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6225E-CD9A-AECC-1E51-3150694A39D7}"/>
              </a:ext>
            </a:extLst>
          </p:cNvPr>
          <p:cNvSpPr>
            <a:spLocks noGrp="1"/>
          </p:cNvSpPr>
          <p:nvPr>
            <p:ph type="title"/>
          </p:nvPr>
        </p:nvSpPr>
        <p:spPr/>
        <p:txBody>
          <a:bodyPr/>
          <a:lstStyle/>
          <a:p>
            <a:r>
              <a:rPr lang="en-US"/>
              <a:t>Lệnh rẽ nhánh - beq </a:t>
            </a:r>
          </a:p>
        </p:txBody>
      </p:sp>
      <p:sp>
        <p:nvSpPr>
          <p:cNvPr id="4" name="Footer Placeholder 3">
            <a:extLst>
              <a:ext uri="{FF2B5EF4-FFF2-40B4-BE49-F238E27FC236}">
                <a16:creationId xmlns:a16="http://schemas.microsoft.com/office/drawing/2014/main" id="{8EDB55FA-14C1-0214-7CA3-0FC1CF8BCB94}"/>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Slide Number Placeholder 4">
            <a:extLst>
              <a:ext uri="{FF2B5EF4-FFF2-40B4-BE49-F238E27FC236}">
                <a16:creationId xmlns:a16="http://schemas.microsoft.com/office/drawing/2014/main" id="{B09D74A2-0C28-E3C3-09A6-D517C9059CDC}"/>
              </a:ext>
            </a:extLst>
          </p:cNvPr>
          <p:cNvSpPr>
            <a:spLocks noGrp="1"/>
          </p:cNvSpPr>
          <p:nvPr>
            <p:ph type="sldNum" sz="quarter" idx="12"/>
          </p:nvPr>
        </p:nvSpPr>
        <p:spPr/>
        <p:txBody>
          <a:bodyPr/>
          <a:lstStyle/>
          <a:p>
            <a:fld id="{D8B0B3AC-44A8-D142-AAF6-9A453466E1A4}" type="slidenum">
              <a:rPr lang="en-VN" smtClean="0"/>
              <a:pPr/>
              <a:t>27</a:t>
            </a:fld>
            <a:endParaRPr lang="en-VN" dirty="0"/>
          </a:p>
        </p:txBody>
      </p:sp>
      <p:sp>
        <p:nvSpPr>
          <p:cNvPr id="6" name="Date Placeholder 5">
            <a:extLst>
              <a:ext uri="{FF2B5EF4-FFF2-40B4-BE49-F238E27FC236}">
                <a16:creationId xmlns:a16="http://schemas.microsoft.com/office/drawing/2014/main" id="{18543B18-2314-0980-7A48-130B3ADA4771}"/>
              </a:ext>
            </a:extLst>
          </p:cNvPr>
          <p:cNvSpPr>
            <a:spLocks noGrp="1"/>
          </p:cNvSpPr>
          <p:nvPr>
            <p:ph type="dt" sz="half" idx="13"/>
          </p:nvPr>
        </p:nvSpPr>
        <p:spPr/>
        <p:txBody>
          <a:bodyPr/>
          <a:lstStyle/>
          <a:p>
            <a:fld id="{46CDDB1B-AAE9-1649-A755-11FADEB7E97E}" type="datetime4">
              <a:rPr lang="en-US" smtClean="0"/>
              <a:pPr/>
              <a:t>April 21, 2024</a:t>
            </a:fld>
            <a:endParaRPr lang="en-US" dirty="0"/>
          </a:p>
        </p:txBody>
      </p:sp>
      <p:graphicFrame>
        <p:nvGraphicFramePr>
          <p:cNvPr id="3" name="Table 2">
            <a:extLst>
              <a:ext uri="{FF2B5EF4-FFF2-40B4-BE49-F238E27FC236}">
                <a16:creationId xmlns:a16="http://schemas.microsoft.com/office/drawing/2014/main" id="{A1BED15D-1C4D-006A-8C7C-DD84BF1CF882}"/>
              </a:ext>
            </a:extLst>
          </p:cNvPr>
          <p:cNvGraphicFramePr>
            <a:graphicFrameLocks noGrp="1"/>
          </p:cNvGraphicFramePr>
          <p:nvPr>
            <p:extLst>
              <p:ext uri="{D42A27DB-BD31-4B8C-83A1-F6EECF244321}">
                <p14:modId xmlns:p14="http://schemas.microsoft.com/office/powerpoint/2010/main" val="3128867925"/>
              </p:ext>
            </p:extLst>
          </p:nvPr>
        </p:nvGraphicFramePr>
        <p:xfrm>
          <a:off x="1959625" y="1644959"/>
          <a:ext cx="8553449" cy="868680"/>
        </p:xfrm>
        <a:graphic>
          <a:graphicData uri="http://schemas.openxmlformats.org/drawingml/2006/table">
            <a:tbl>
              <a:tblPr firstRow="1" bandRow="1">
                <a:tableStyleId>{5940675A-B579-460E-94D1-54222C63F5DA}</a:tableStyleId>
              </a:tblPr>
              <a:tblGrid>
                <a:gridCol w="1425575">
                  <a:extLst>
                    <a:ext uri="{9D8B030D-6E8A-4147-A177-3AD203B41FA5}">
                      <a16:colId xmlns:a16="http://schemas.microsoft.com/office/drawing/2014/main" val="4191113601"/>
                    </a:ext>
                  </a:extLst>
                </a:gridCol>
                <a:gridCol w="1425575">
                  <a:extLst>
                    <a:ext uri="{9D8B030D-6E8A-4147-A177-3AD203B41FA5}">
                      <a16:colId xmlns:a16="http://schemas.microsoft.com/office/drawing/2014/main" val="4181606574"/>
                    </a:ext>
                  </a:extLst>
                </a:gridCol>
                <a:gridCol w="1425575">
                  <a:extLst>
                    <a:ext uri="{9D8B030D-6E8A-4147-A177-3AD203B41FA5}">
                      <a16:colId xmlns:a16="http://schemas.microsoft.com/office/drawing/2014/main" val="2431746656"/>
                    </a:ext>
                  </a:extLst>
                </a:gridCol>
                <a:gridCol w="1425575">
                  <a:extLst>
                    <a:ext uri="{9D8B030D-6E8A-4147-A177-3AD203B41FA5}">
                      <a16:colId xmlns:a16="http://schemas.microsoft.com/office/drawing/2014/main" val="1062046916"/>
                    </a:ext>
                  </a:extLst>
                </a:gridCol>
                <a:gridCol w="1229703">
                  <a:extLst>
                    <a:ext uri="{9D8B030D-6E8A-4147-A177-3AD203B41FA5}">
                      <a16:colId xmlns:a16="http://schemas.microsoft.com/office/drawing/2014/main" val="728637404"/>
                    </a:ext>
                  </a:extLst>
                </a:gridCol>
                <a:gridCol w="1621446">
                  <a:extLst>
                    <a:ext uri="{9D8B030D-6E8A-4147-A177-3AD203B41FA5}">
                      <a16:colId xmlns:a16="http://schemas.microsoft.com/office/drawing/2014/main" val="3975829424"/>
                    </a:ext>
                  </a:extLst>
                </a:gridCol>
              </a:tblGrid>
              <a:tr h="434340">
                <a:tc>
                  <a:txBody>
                    <a:bodyPr/>
                    <a:lstStyle/>
                    <a:p>
                      <a:pPr algn="ctr"/>
                      <a:r>
                        <a:rPr lang="en-US" sz="2400" dirty="0">
                          <a:latin typeface="Times New Roman" panose="02020603050405020304" pitchFamily="18" charset="0"/>
                          <a:cs typeface="Times New Roman" panose="02020603050405020304" pitchFamily="18" charset="0"/>
                        </a:rPr>
                        <a:t>op</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err="1">
                          <a:latin typeface="Times New Roman" panose="02020603050405020304" pitchFamily="18" charset="0"/>
                          <a:cs typeface="Times New Roman" panose="02020603050405020304" pitchFamily="18" charset="0"/>
                        </a:rPr>
                        <a:t>rs</a:t>
                      </a:r>
                      <a:endParaRPr lang="en-US" sz="240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latin typeface="Times New Roman" panose="02020603050405020304" pitchFamily="18" charset="0"/>
                          <a:cs typeface="Times New Roman" panose="02020603050405020304" pitchFamily="18" charset="0"/>
                        </a:rPr>
                        <a:t>rt</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lang="en-US" sz="2400" dirty="0">
                          <a:latin typeface="Times New Roman" panose="02020603050405020304" pitchFamily="18" charset="0"/>
                          <a:cs typeface="Times New Roman" panose="02020603050405020304" pitchFamily="18" charset="0"/>
                        </a:rPr>
                        <a:t>immediate</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32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32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93567893"/>
                  </a:ext>
                </a:extLst>
              </a:tr>
              <a:tr h="434340">
                <a:tc>
                  <a:txBody>
                    <a:bodyPr/>
                    <a:lstStyle/>
                    <a:p>
                      <a:pPr algn="ctr"/>
                      <a:r>
                        <a:rPr lang="en-US" sz="2400" dirty="0">
                          <a:latin typeface="Times New Roman" panose="02020603050405020304" pitchFamily="18" charset="0"/>
                          <a:cs typeface="Times New Roman" panose="02020603050405020304" pitchFamily="18" charset="0"/>
                        </a:rPr>
                        <a:t>6 bit</a:t>
                      </a:r>
                    </a:p>
                  </a:txBody>
                  <a:tcPr marL="68580" marR="68580" marT="34290" marB="34290">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5 bit</a:t>
                      </a:r>
                    </a:p>
                  </a:txBody>
                  <a:tcPr marL="68580" marR="68580" marT="34290" marB="34290">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2400" dirty="0">
                          <a:latin typeface="Times New Roman" panose="02020603050405020304" pitchFamily="18" charset="0"/>
                          <a:cs typeface="Times New Roman" panose="02020603050405020304" pitchFamily="18" charset="0"/>
                        </a:rPr>
                        <a:t>5 bit</a:t>
                      </a:r>
                    </a:p>
                  </a:txBody>
                  <a:tcPr marL="68580" marR="68580" marT="34290" marB="34290">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en-US" sz="2400" dirty="0">
                        <a:latin typeface="Times New Roman" panose="02020603050405020304" pitchFamily="18" charset="0"/>
                        <a:cs typeface="Times New Roman" panose="02020603050405020304" pitchFamily="18" charset="0"/>
                      </a:endParaRPr>
                    </a:p>
                  </a:txBody>
                  <a:tcPr marL="68580" marR="68580" marT="34290" marB="34290">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2400" dirty="0">
                          <a:latin typeface="Times New Roman" panose="02020603050405020304" pitchFamily="18" charset="0"/>
                          <a:cs typeface="Times New Roman" panose="02020603050405020304" pitchFamily="18" charset="0"/>
                        </a:rPr>
                        <a:t>16 bit</a:t>
                      </a:r>
                    </a:p>
                  </a:txBody>
                  <a:tcPr marL="68580" marR="68580" marT="34290" marB="34290">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en-US" sz="2400" dirty="0">
                        <a:latin typeface="Times New Roman" panose="02020603050405020304" pitchFamily="18" charset="0"/>
                        <a:cs typeface="Times New Roman" panose="02020603050405020304" pitchFamily="18" charset="0"/>
                      </a:endParaRPr>
                    </a:p>
                  </a:txBody>
                  <a:tcPr marL="68580" marR="68580" marT="34290" marB="34290">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593185422"/>
                  </a:ext>
                </a:extLst>
              </a:tr>
            </a:tbl>
          </a:graphicData>
        </a:graphic>
      </p:graphicFrame>
      <p:sp>
        <p:nvSpPr>
          <p:cNvPr id="7" name="TextBox 6">
            <a:extLst>
              <a:ext uri="{FF2B5EF4-FFF2-40B4-BE49-F238E27FC236}">
                <a16:creationId xmlns:a16="http://schemas.microsoft.com/office/drawing/2014/main" id="{2FFFF09D-90CC-6AD6-8A37-4789BA4137F8}"/>
              </a:ext>
            </a:extLst>
          </p:cNvPr>
          <p:cNvSpPr txBox="1"/>
          <p:nvPr/>
        </p:nvSpPr>
        <p:spPr>
          <a:xfrm>
            <a:off x="3932662" y="2513639"/>
            <a:ext cx="4626428" cy="1569660"/>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0x400000:</a:t>
            </a:r>
            <a:r>
              <a:rPr lang="en-US" sz="2400" dirty="0">
                <a:solidFill>
                  <a:srgbClr val="FF0000"/>
                </a:solidFill>
                <a:latin typeface="Times New Roman" panose="02020603050405020304" pitchFamily="18" charset="0"/>
                <a:cs typeface="Times New Roman" panose="02020603050405020304" pitchFamily="18" charset="0"/>
              </a:rPr>
              <a:t>   </a:t>
            </a:r>
            <a:r>
              <a:rPr lang="en-US" sz="2400" dirty="0" err="1">
                <a:solidFill>
                  <a:srgbClr val="FF0000"/>
                </a:solidFill>
                <a:latin typeface="Times New Roman" panose="02020603050405020304" pitchFamily="18" charset="0"/>
                <a:cs typeface="Times New Roman" panose="02020603050405020304" pitchFamily="18" charset="0"/>
              </a:rPr>
              <a:t>beq</a:t>
            </a:r>
            <a:r>
              <a:rPr lang="en-US" sz="2400" dirty="0">
                <a:latin typeface="Times New Roman" panose="02020603050405020304" pitchFamily="18" charset="0"/>
                <a:cs typeface="Times New Roman" panose="02020603050405020304" pitchFamily="18" charset="0"/>
              </a:rPr>
              <a:t> </a:t>
            </a:r>
            <a:r>
              <a:rPr lang="en-US" sz="2400" dirty="0">
                <a:solidFill>
                  <a:srgbClr val="FFC000"/>
                </a:solidFill>
                <a:latin typeface="Times New Roman" panose="02020603050405020304" pitchFamily="18" charset="0"/>
                <a:cs typeface="Times New Roman" panose="02020603050405020304" pitchFamily="18" charset="0"/>
              </a:rPr>
              <a:t>$s2</a:t>
            </a:r>
            <a:r>
              <a:rPr lang="en-US" sz="2400" dirty="0">
                <a:latin typeface="Times New Roman" panose="02020603050405020304" pitchFamily="18" charset="0"/>
                <a:cs typeface="Times New Roman" panose="02020603050405020304" pitchFamily="18" charset="0"/>
              </a:rPr>
              <a:t>, </a:t>
            </a:r>
            <a:r>
              <a:rPr lang="en-US" sz="2400" dirty="0">
                <a:solidFill>
                  <a:srgbClr val="7030A0"/>
                </a:solidFill>
                <a:latin typeface="Times New Roman" panose="02020603050405020304" pitchFamily="18" charset="0"/>
                <a:cs typeface="Times New Roman" panose="02020603050405020304" pitchFamily="18" charset="0"/>
              </a:rPr>
              <a:t>$t0</a:t>
            </a:r>
            <a:r>
              <a:rPr lang="en-US" sz="2400" dirty="0">
                <a:latin typeface="Times New Roman" panose="02020603050405020304" pitchFamily="18" charset="0"/>
                <a:cs typeface="Times New Roman" panose="02020603050405020304" pitchFamily="18" charset="0"/>
              </a:rPr>
              <a:t>,</a:t>
            </a:r>
            <a:r>
              <a:rPr lang="en-US" sz="2400" dirty="0">
                <a:solidFill>
                  <a:srgbClr val="FFC000"/>
                </a:solidFill>
                <a:latin typeface="Times New Roman" panose="02020603050405020304" pitchFamily="18" charset="0"/>
                <a:cs typeface="Times New Roman" panose="02020603050405020304" pitchFamily="18" charset="0"/>
              </a:rPr>
              <a:t> </a:t>
            </a:r>
            <a:r>
              <a:rPr lang="en-US" sz="2400" dirty="0">
                <a:solidFill>
                  <a:srgbClr val="00B050"/>
                </a:solidFill>
                <a:latin typeface="Times New Roman" panose="02020603050405020304" pitchFamily="18" charset="0"/>
                <a:cs typeface="Times New Roman" panose="02020603050405020304" pitchFamily="18" charset="0"/>
              </a:rPr>
              <a:t>PASS</a:t>
            </a:r>
          </a:p>
          <a:p>
            <a:r>
              <a:rPr lang="en-US" sz="2400" dirty="0">
                <a:latin typeface="Times New Roman" panose="02020603050405020304" pitchFamily="18" charset="0"/>
                <a:cs typeface="Times New Roman" panose="02020603050405020304" pitchFamily="18" charset="0"/>
              </a:rPr>
              <a:t>0x400004:</a:t>
            </a:r>
            <a:r>
              <a:rPr lang="en-US" sz="2400" dirty="0">
                <a:solidFill>
                  <a:srgbClr val="FF0000"/>
                </a:solidFill>
                <a:latin typeface="Times New Roman" panose="02020603050405020304" pitchFamily="18" charset="0"/>
                <a:cs typeface="Times New Roman" panose="02020603050405020304" pitchFamily="18" charset="0"/>
              </a:rPr>
              <a:t>   </a:t>
            </a:r>
            <a:r>
              <a:rPr lang="en-US" sz="2400" dirty="0" err="1">
                <a:solidFill>
                  <a:srgbClr val="FF0000"/>
                </a:solidFill>
                <a:latin typeface="Times New Roman" panose="02020603050405020304" pitchFamily="18" charset="0"/>
                <a:cs typeface="Times New Roman" panose="02020603050405020304" pitchFamily="18" charset="0"/>
              </a:rPr>
              <a:t>slti</a:t>
            </a:r>
            <a:r>
              <a:rPr lang="en-US" sz="2400" dirty="0">
                <a:latin typeface="Times New Roman" panose="02020603050405020304" pitchFamily="18" charset="0"/>
                <a:cs typeface="Times New Roman" panose="02020603050405020304" pitchFamily="18" charset="0"/>
              </a:rPr>
              <a:t> </a:t>
            </a:r>
            <a:r>
              <a:rPr lang="en-US" sz="2400" dirty="0">
                <a:solidFill>
                  <a:srgbClr val="7030A0"/>
                </a:solidFill>
                <a:latin typeface="Times New Roman" panose="02020603050405020304" pitchFamily="18" charset="0"/>
                <a:cs typeface="Times New Roman" panose="02020603050405020304" pitchFamily="18" charset="0"/>
              </a:rPr>
              <a:t>$t0</a:t>
            </a:r>
            <a:r>
              <a:rPr lang="en-US" sz="2400" dirty="0">
                <a:latin typeface="Times New Roman" panose="02020603050405020304" pitchFamily="18" charset="0"/>
                <a:cs typeface="Times New Roman" panose="02020603050405020304" pitchFamily="18" charset="0"/>
              </a:rPr>
              <a:t>, </a:t>
            </a:r>
            <a:r>
              <a:rPr lang="en-US" sz="2400" dirty="0">
                <a:solidFill>
                  <a:srgbClr val="FFC000"/>
                </a:solidFill>
                <a:latin typeface="Times New Roman" panose="02020603050405020304" pitchFamily="18" charset="0"/>
                <a:cs typeface="Times New Roman" panose="02020603050405020304" pitchFamily="18" charset="0"/>
              </a:rPr>
              <a:t>$s2</a:t>
            </a:r>
            <a:r>
              <a:rPr lang="en-US" sz="2400" dirty="0">
                <a:latin typeface="Times New Roman" panose="02020603050405020304" pitchFamily="18" charset="0"/>
                <a:cs typeface="Times New Roman" panose="02020603050405020304" pitchFamily="18" charset="0"/>
              </a:rPr>
              <a:t>,</a:t>
            </a:r>
            <a:r>
              <a:rPr lang="en-US" sz="2400" dirty="0">
                <a:solidFill>
                  <a:srgbClr val="FFC000"/>
                </a:solidFill>
                <a:latin typeface="Times New Roman" panose="02020603050405020304" pitchFamily="18" charset="0"/>
                <a:cs typeface="Times New Roman" panose="02020603050405020304" pitchFamily="18" charset="0"/>
              </a:rPr>
              <a:t> </a:t>
            </a:r>
            <a:r>
              <a:rPr lang="en-US" sz="2400" dirty="0">
                <a:solidFill>
                  <a:srgbClr val="00B050"/>
                </a:solidFill>
                <a:latin typeface="Times New Roman" panose="02020603050405020304" pitchFamily="18" charset="0"/>
                <a:cs typeface="Times New Roman" panose="02020603050405020304" pitchFamily="18" charset="0"/>
              </a:rPr>
              <a:t>8</a:t>
            </a:r>
          </a:p>
          <a:p>
            <a:r>
              <a:rPr lang="en-US" sz="2400" dirty="0">
                <a:latin typeface="Times New Roman" panose="02020603050405020304" pitchFamily="18" charset="0"/>
                <a:cs typeface="Times New Roman" panose="02020603050405020304" pitchFamily="18" charset="0"/>
              </a:rPr>
              <a:t>0x400008:</a:t>
            </a:r>
            <a:r>
              <a:rPr lang="en-US" sz="2400" dirty="0">
                <a:solidFill>
                  <a:srgbClr val="FF0000"/>
                </a:solidFill>
                <a:latin typeface="Times New Roman" panose="02020603050405020304" pitchFamily="18" charset="0"/>
                <a:cs typeface="Times New Roman" panose="02020603050405020304" pitchFamily="18" charset="0"/>
              </a:rPr>
              <a:t>   add</a:t>
            </a:r>
            <a:r>
              <a:rPr lang="en-US" sz="2400" dirty="0">
                <a:latin typeface="Times New Roman" panose="02020603050405020304" pitchFamily="18" charset="0"/>
                <a:cs typeface="Times New Roman" panose="02020603050405020304" pitchFamily="18" charset="0"/>
              </a:rPr>
              <a:t> </a:t>
            </a:r>
            <a:r>
              <a:rPr lang="en-US" sz="2400" dirty="0">
                <a:solidFill>
                  <a:srgbClr val="7030A0"/>
                </a:solidFill>
                <a:latin typeface="Times New Roman" panose="02020603050405020304" pitchFamily="18" charset="0"/>
                <a:cs typeface="Times New Roman" panose="02020603050405020304" pitchFamily="18" charset="0"/>
              </a:rPr>
              <a:t>$t0</a:t>
            </a:r>
            <a:r>
              <a:rPr lang="en-US" sz="2400" dirty="0">
                <a:latin typeface="Times New Roman" panose="02020603050405020304" pitchFamily="18" charset="0"/>
                <a:cs typeface="Times New Roman" panose="02020603050405020304" pitchFamily="18" charset="0"/>
              </a:rPr>
              <a:t>, </a:t>
            </a:r>
            <a:r>
              <a:rPr lang="en-US" sz="2400" dirty="0">
                <a:solidFill>
                  <a:srgbClr val="00B050"/>
                </a:solidFill>
                <a:latin typeface="Times New Roman" panose="02020603050405020304" pitchFamily="18" charset="0"/>
                <a:cs typeface="Times New Roman" panose="02020603050405020304" pitchFamily="18" charset="0"/>
              </a:rPr>
              <a:t>$s1</a:t>
            </a:r>
            <a:r>
              <a:rPr lang="en-US" sz="2400" dirty="0">
                <a:latin typeface="Times New Roman" panose="02020603050405020304" pitchFamily="18" charset="0"/>
                <a:cs typeface="Times New Roman" panose="02020603050405020304" pitchFamily="18" charset="0"/>
              </a:rPr>
              <a:t>, </a:t>
            </a:r>
            <a:r>
              <a:rPr lang="en-US" sz="2400" dirty="0">
                <a:solidFill>
                  <a:srgbClr val="FFC000"/>
                </a:solidFill>
                <a:latin typeface="Times New Roman" panose="02020603050405020304" pitchFamily="18" charset="0"/>
                <a:cs typeface="Times New Roman" panose="02020603050405020304" pitchFamily="18" charset="0"/>
              </a:rPr>
              <a:t>$s2</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0x40000C:</a:t>
            </a:r>
            <a:r>
              <a:rPr lang="en-US" sz="2400" dirty="0">
                <a:solidFill>
                  <a:srgbClr val="00B050"/>
                </a:solidFill>
                <a:latin typeface="Times New Roman" panose="02020603050405020304" pitchFamily="18" charset="0"/>
                <a:cs typeface="Times New Roman" panose="02020603050405020304" pitchFamily="18" charset="0"/>
              </a:rPr>
              <a:t>   PASS:</a:t>
            </a:r>
          </a:p>
        </p:txBody>
      </p:sp>
    </p:spTree>
    <p:extLst>
      <p:ext uri="{BB962C8B-B14F-4D97-AF65-F5344CB8AC3E}">
        <p14:creationId xmlns:p14="http://schemas.microsoft.com/office/powerpoint/2010/main" val="500586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6225E-CD9A-AECC-1E51-3150694A39D7}"/>
              </a:ext>
            </a:extLst>
          </p:cNvPr>
          <p:cNvSpPr>
            <a:spLocks noGrp="1"/>
          </p:cNvSpPr>
          <p:nvPr>
            <p:ph type="title"/>
          </p:nvPr>
        </p:nvSpPr>
        <p:spPr/>
        <p:txBody>
          <a:bodyPr/>
          <a:lstStyle/>
          <a:p>
            <a:r>
              <a:rPr lang="en-US"/>
              <a:t>Lệnh rẽ nhánh - beq (tt)</a:t>
            </a:r>
          </a:p>
        </p:txBody>
      </p:sp>
      <p:sp>
        <p:nvSpPr>
          <p:cNvPr id="4" name="Footer Placeholder 3">
            <a:extLst>
              <a:ext uri="{FF2B5EF4-FFF2-40B4-BE49-F238E27FC236}">
                <a16:creationId xmlns:a16="http://schemas.microsoft.com/office/drawing/2014/main" id="{8EDB55FA-14C1-0214-7CA3-0FC1CF8BCB94}"/>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Slide Number Placeholder 4">
            <a:extLst>
              <a:ext uri="{FF2B5EF4-FFF2-40B4-BE49-F238E27FC236}">
                <a16:creationId xmlns:a16="http://schemas.microsoft.com/office/drawing/2014/main" id="{B09D74A2-0C28-E3C3-09A6-D517C9059CDC}"/>
              </a:ext>
            </a:extLst>
          </p:cNvPr>
          <p:cNvSpPr>
            <a:spLocks noGrp="1"/>
          </p:cNvSpPr>
          <p:nvPr>
            <p:ph type="sldNum" sz="quarter" idx="12"/>
          </p:nvPr>
        </p:nvSpPr>
        <p:spPr/>
        <p:txBody>
          <a:bodyPr/>
          <a:lstStyle/>
          <a:p>
            <a:fld id="{D8B0B3AC-44A8-D142-AAF6-9A453466E1A4}" type="slidenum">
              <a:rPr lang="en-VN" smtClean="0"/>
              <a:pPr/>
              <a:t>28</a:t>
            </a:fld>
            <a:endParaRPr lang="en-VN" dirty="0"/>
          </a:p>
        </p:txBody>
      </p:sp>
      <p:sp>
        <p:nvSpPr>
          <p:cNvPr id="6" name="Date Placeholder 5">
            <a:extLst>
              <a:ext uri="{FF2B5EF4-FFF2-40B4-BE49-F238E27FC236}">
                <a16:creationId xmlns:a16="http://schemas.microsoft.com/office/drawing/2014/main" id="{18543B18-2314-0980-7A48-130B3ADA4771}"/>
              </a:ext>
            </a:extLst>
          </p:cNvPr>
          <p:cNvSpPr>
            <a:spLocks noGrp="1"/>
          </p:cNvSpPr>
          <p:nvPr>
            <p:ph type="dt" sz="half" idx="13"/>
          </p:nvPr>
        </p:nvSpPr>
        <p:spPr/>
        <p:txBody>
          <a:bodyPr/>
          <a:lstStyle/>
          <a:p>
            <a:fld id="{46CDDB1B-AAE9-1649-A755-11FADEB7E97E}" type="datetime4">
              <a:rPr lang="en-US" smtClean="0"/>
              <a:pPr/>
              <a:t>April 21, 2024</a:t>
            </a:fld>
            <a:endParaRPr lang="en-US" dirty="0"/>
          </a:p>
        </p:txBody>
      </p:sp>
      <p:sp>
        <p:nvSpPr>
          <p:cNvPr id="7" name="Rectangle 6">
            <a:extLst>
              <a:ext uri="{FF2B5EF4-FFF2-40B4-BE49-F238E27FC236}">
                <a16:creationId xmlns:a16="http://schemas.microsoft.com/office/drawing/2014/main" id="{348C37DF-D230-7643-7316-7358F77C43CA}"/>
              </a:ext>
            </a:extLst>
          </p:cNvPr>
          <p:cNvSpPr/>
          <p:nvPr/>
        </p:nvSpPr>
        <p:spPr>
          <a:xfrm>
            <a:off x="2190670" y="3666878"/>
            <a:ext cx="1654628" cy="1318970"/>
          </a:xfrm>
          <a:prstGeom prst="rect">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300" dirty="0">
                <a:solidFill>
                  <a:schemeClr val="tx1"/>
                </a:solidFill>
                <a:latin typeface="Times New Roman" panose="02020603050405020304" pitchFamily="18" charset="0"/>
                <a:cs typeface="Times New Roman" panose="02020603050405020304" pitchFamily="18" charset="0"/>
              </a:rPr>
              <a:t>?</a:t>
            </a:r>
          </a:p>
        </p:txBody>
      </p:sp>
      <p:sp>
        <p:nvSpPr>
          <p:cNvPr id="8" name="TextBox 7">
            <a:extLst>
              <a:ext uri="{FF2B5EF4-FFF2-40B4-BE49-F238E27FC236}">
                <a16:creationId xmlns:a16="http://schemas.microsoft.com/office/drawing/2014/main" id="{D28E1C92-3423-A6C9-7D2A-3CBB29FB5AA9}"/>
              </a:ext>
            </a:extLst>
          </p:cNvPr>
          <p:cNvSpPr txBox="1"/>
          <p:nvPr/>
        </p:nvSpPr>
        <p:spPr>
          <a:xfrm>
            <a:off x="3845298" y="2690601"/>
            <a:ext cx="4182312" cy="1200329"/>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0x400000:</a:t>
            </a:r>
            <a:r>
              <a:rPr lang="en-US" sz="2400" dirty="0">
                <a:solidFill>
                  <a:srgbClr val="FF0000"/>
                </a:solidFill>
                <a:latin typeface="Times New Roman" panose="02020603050405020304" pitchFamily="18" charset="0"/>
                <a:cs typeface="Times New Roman" panose="02020603050405020304" pitchFamily="18" charset="0"/>
              </a:rPr>
              <a:t>   </a:t>
            </a:r>
            <a:r>
              <a:rPr lang="en-US" sz="2400" dirty="0" err="1">
                <a:solidFill>
                  <a:srgbClr val="FF0000"/>
                </a:solidFill>
                <a:latin typeface="Times New Roman" panose="02020603050405020304" pitchFamily="18" charset="0"/>
                <a:cs typeface="Times New Roman" panose="02020603050405020304" pitchFamily="18" charset="0"/>
              </a:rPr>
              <a:t>beq</a:t>
            </a:r>
            <a:r>
              <a:rPr lang="en-US" sz="2400" dirty="0">
                <a:latin typeface="Times New Roman" panose="02020603050405020304" pitchFamily="18" charset="0"/>
                <a:cs typeface="Times New Roman" panose="02020603050405020304" pitchFamily="18" charset="0"/>
              </a:rPr>
              <a:t> </a:t>
            </a:r>
            <a:r>
              <a:rPr lang="en-US" sz="2400" dirty="0">
                <a:solidFill>
                  <a:srgbClr val="FFC000"/>
                </a:solidFill>
                <a:latin typeface="Times New Roman" panose="02020603050405020304" pitchFamily="18" charset="0"/>
                <a:cs typeface="Times New Roman" panose="02020603050405020304" pitchFamily="18" charset="0"/>
              </a:rPr>
              <a:t>$s2</a:t>
            </a:r>
            <a:r>
              <a:rPr lang="en-US" sz="2400" dirty="0">
                <a:latin typeface="Times New Roman" panose="02020603050405020304" pitchFamily="18" charset="0"/>
                <a:cs typeface="Times New Roman" panose="02020603050405020304" pitchFamily="18" charset="0"/>
              </a:rPr>
              <a:t>, </a:t>
            </a:r>
            <a:r>
              <a:rPr lang="en-US" sz="2400" dirty="0">
                <a:solidFill>
                  <a:srgbClr val="7030A0"/>
                </a:solidFill>
                <a:latin typeface="Times New Roman" panose="02020603050405020304" pitchFamily="18" charset="0"/>
                <a:cs typeface="Times New Roman" panose="02020603050405020304" pitchFamily="18" charset="0"/>
              </a:rPr>
              <a:t>$t0</a:t>
            </a:r>
            <a:r>
              <a:rPr lang="en-US" sz="2400" dirty="0">
                <a:latin typeface="Times New Roman" panose="02020603050405020304" pitchFamily="18" charset="0"/>
                <a:cs typeface="Times New Roman" panose="02020603050405020304" pitchFamily="18" charset="0"/>
              </a:rPr>
              <a:t>,</a:t>
            </a:r>
            <a:r>
              <a:rPr lang="en-US" sz="2400" dirty="0">
                <a:solidFill>
                  <a:srgbClr val="FFC000"/>
                </a:solidFill>
                <a:latin typeface="Times New Roman" panose="02020603050405020304" pitchFamily="18" charset="0"/>
                <a:cs typeface="Times New Roman" panose="02020603050405020304" pitchFamily="18" charset="0"/>
              </a:rPr>
              <a:t> </a:t>
            </a:r>
            <a:r>
              <a:rPr lang="en-US" sz="2400" dirty="0">
                <a:solidFill>
                  <a:srgbClr val="00B050"/>
                </a:solidFill>
                <a:latin typeface="Times New Roman" panose="02020603050405020304" pitchFamily="18" charset="0"/>
                <a:cs typeface="Times New Roman" panose="02020603050405020304" pitchFamily="18" charset="0"/>
              </a:rPr>
              <a:t>PASS</a:t>
            </a:r>
          </a:p>
          <a:p>
            <a:r>
              <a:rPr lang="en-US" sz="2400" dirty="0">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0x40000C:</a:t>
            </a:r>
            <a:r>
              <a:rPr lang="en-US" sz="2400" dirty="0">
                <a:solidFill>
                  <a:srgbClr val="00B050"/>
                </a:solidFill>
                <a:latin typeface="Times New Roman" panose="02020603050405020304" pitchFamily="18" charset="0"/>
                <a:cs typeface="Times New Roman" panose="02020603050405020304" pitchFamily="18" charset="0"/>
              </a:rPr>
              <a:t>   PASS:</a:t>
            </a:r>
          </a:p>
        </p:txBody>
      </p:sp>
      <p:graphicFrame>
        <p:nvGraphicFramePr>
          <p:cNvPr id="9" name="Table 8">
            <a:extLst>
              <a:ext uri="{FF2B5EF4-FFF2-40B4-BE49-F238E27FC236}">
                <a16:creationId xmlns:a16="http://schemas.microsoft.com/office/drawing/2014/main" id="{E508D694-AF65-2F2D-5BE4-72FC033A1485}"/>
              </a:ext>
            </a:extLst>
          </p:cNvPr>
          <p:cNvGraphicFramePr>
            <a:graphicFrameLocks noGrp="1"/>
          </p:cNvGraphicFramePr>
          <p:nvPr>
            <p:extLst>
              <p:ext uri="{D42A27DB-BD31-4B8C-83A1-F6EECF244321}">
                <p14:modId xmlns:p14="http://schemas.microsoft.com/office/powerpoint/2010/main" val="3971366584"/>
              </p:ext>
            </p:extLst>
          </p:nvPr>
        </p:nvGraphicFramePr>
        <p:xfrm>
          <a:off x="1647007" y="3237565"/>
          <a:ext cx="2080877" cy="1737360"/>
        </p:xfrm>
        <a:graphic>
          <a:graphicData uri="http://schemas.openxmlformats.org/drawingml/2006/table">
            <a:tbl>
              <a:tblPr firstRow="1" bandRow="1">
                <a:tableStyleId>{5940675A-B579-460E-94D1-54222C63F5DA}</a:tableStyleId>
              </a:tblPr>
              <a:tblGrid>
                <a:gridCol w="661467">
                  <a:extLst>
                    <a:ext uri="{9D8B030D-6E8A-4147-A177-3AD203B41FA5}">
                      <a16:colId xmlns:a16="http://schemas.microsoft.com/office/drawing/2014/main" val="2104779220"/>
                    </a:ext>
                  </a:extLst>
                </a:gridCol>
                <a:gridCol w="1419410">
                  <a:extLst>
                    <a:ext uri="{9D8B030D-6E8A-4147-A177-3AD203B41FA5}">
                      <a16:colId xmlns:a16="http://schemas.microsoft.com/office/drawing/2014/main" val="1767099797"/>
                    </a:ext>
                  </a:extLst>
                </a:gridCol>
              </a:tblGrid>
              <a:tr h="434340">
                <a:tc>
                  <a:txBody>
                    <a:bodyPr/>
                    <a:lstStyle/>
                    <a:p>
                      <a:pPr algn="ctr"/>
                      <a:r>
                        <a:rPr lang="en-US" sz="2400" dirty="0">
                          <a:latin typeface="Times New Roman" panose="02020603050405020304" pitchFamily="18" charset="0"/>
                          <a:cs typeface="Times New Roman" panose="02020603050405020304" pitchFamily="18" charset="0"/>
                        </a:rPr>
                        <a:t>…</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latin typeface="Times New Roman" panose="02020603050405020304" pitchFamily="18" charset="0"/>
                          <a:cs typeface="Times New Roman" panose="02020603050405020304" pitchFamily="18" charset="0"/>
                        </a:rPr>
                        <a:t>…</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1080934"/>
                  </a:ext>
                </a:extLst>
              </a:tr>
              <a:tr h="434340">
                <a:tc>
                  <a:txBody>
                    <a:bodyPr/>
                    <a:lstStyle/>
                    <a:p>
                      <a:pPr algn="ctr"/>
                      <a:r>
                        <a:rPr lang="en-US" sz="2400" dirty="0">
                          <a:latin typeface="Times New Roman" panose="02020603050405020304" pitchFamily="18" charset="0"/>
                          <a:cs typeface="Times New Roman" panose="02020603050405020304" pitchFamily="18" charset="0"/>
                        </a:rPr>
                        <a:t>$t0</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0x08</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3117984"/>
                  </a:ext>
                </a:extLst>
              </a:tr>
              <a:tr h="434340">
                <a:tc>
                  <a:txBody>
                    <a:bodyPr/>
                    <a:lstStyle/>
                    <a:p>
                      <a:pPr algn="ctr"/>
                      <a:r>
                        <a:rPr lang="en-US" sz="2400" dirty="0">
                          <a:latin typeface="Times New Roman" panose="02020603050405020304" pitchFamily="18" charset="0"/>
                          <a:cs typeface="Times New Roman" panose="02020603050405020304" pitchFamily="18" charset="0"/>
                        </a:rPr>
                        <a:t>….</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latin typeface="Times New Roman" panose="02020603050405020304" pitchFamily="18" charset="0"/>
                          <a:cs typeface="Times New Roman" panose="02020603050405020304" pitchFamily="18" charset="0"/>
                        </a:rPr>
                        <a:t>…</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47873999"/>
                  </a:ext>
                </a:extLst>
              </a:tr>
              <a:tr h="434340">
                <a:tc>
                  <a:txBody>
                    <a:bodyPr/>
                    <a:lstStyle/>
                    <a:p>
                      <a:pPr algn="ctr"/>
                      <a:r>
                        <a:rPr lang="en-US" sz="2400" dirty="0">
                          <a:latin typeface="Times New Roman" panose="02020603050405020304" pitchFamily="18" charset="0"/>
                          <a:cs typeface="Times New Roman" panose="02020603050405020304" pitchFamily="18" charset="0"/>
                        </a:rPr>
                        <a:t>$s2</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latin typeface="Times New Roman" panose="02020603050405020304" pitchFamily="18" charset="0"/>
                          <a:cs typeface="Times New Roman" panose="02020603050405020304" pitchFamily="18" charset="0"/>
                        </a:rPr>
                        <a:t>0x2021</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43278351"/>
                  </a:ext>
                </a:extLst>
              </a:tr>
            </a:tbl>
          </a:graphicData>
        </a:graphic>
      </p:graphicFrame>
      <p:graphicFrame>
        <p:nvGraphicFramePr>
          <p:cNvPr id="10" name="Table 9">
            <a:extLst>
              <a:ext uri="{FF2B5EF4-FFF2-40B4-BE49-F238E27FC236}">
                <a16:creationId xmlns:a16="http://schemas.microsoft.com/office/drawing/2014/main" id="{F717CCB3-DDD6-F819-797B-2D14829C36BC}"/>
              </a:ext>
            </a:extLst>
          </p:cNvPr>
          <p:cNvGraphicFramePr>
            <a:graphicFrameLocks noGrp="1"/>
          </p:cNvGraphicFramePr>
          <p:nvPr>
            <p:extLst>
              <p:ext uri="{D42A27DB-BD31-4B8C-83A1-F6EECF244321}">
                <p14:modId xmlns:p14="http://schemas.microsoft.com/office/powerpoint/2010/main" val="2528228684"/>
              </p:ext>
            </p:extLst>
          </p:nvPr>
        </p:nvGraphicFramePr>
        <p:xfrm>
          <a:off x="1617892" y="1666843"/>
          <a:ext cx="3226651" cy="434340"/>
        </p:xfrm>
        <a:graphic>
          <a:graphicData uri="http://schemas.openxmlformats.org/drawingml/2006/table">
            <a:tbl>
              <a:tblPr firstRow="1" bandRow="1">
                <a:tableStyleId>{5940675A-B579-460E-94D1-54222C63F5DA}</a:tableStyleId>
              </a:tblPr>
              <a:tblGrid>
                <a:gridCol w="1795598">
                  <a:extLst>
                    <a:ext uri="{9D8B030D-6E8A-4147-A177-3AD203B41FA5}">
                      <a16:colId xmlns:a16="http://schemas.microsoft.com/office/drawing/2014/main" val="2104779220"/>
                    </a:ext>
                  </a:extLst>
                </a:gridCol>
                <a:gridCol w="1431053">
                  <a:extLst>
                    <a:ext uri="{9D8B030D-6E8A-4147-A177-3AD203B41FA5}">
                      <a16:colId xmlns:a16="http://schemas.microsoft.com/office/drawing/2014/main" val="1767099797"/>
                    </a:ext>
                  </a:extLst>
                </a:gridCol>
              </a:tblGrid>
              <a:tr h="434340">
                <a:tc>
                  <a:txBody>
                    <a:bodyPr/>
                    <a:lstStyle/>
                    <a:p>
                      <a:pPr algn="ctr"/>
                      <a:r>
                        <a:rPr lang="en-US" sz="2400" dirty="0">
                          <a:latin typeface="Times New Roman" panose="02020603050405020304" pitchFamily="18" charset="0"/>
                          <a:cs typeface="Times New Roman" panose="02020603050405020304" pitchFamily="18" charset="0"/>
                        </a:rPr>
                        <a:t>PC (</a:t>
                      </a:r>
                      <a:r>
                        <a:rPr lang="en-US" sz="2400" dirty="0" err="1">
                          <a:latin typeface="Times New Roman" panose="02020603050405020304" pitchFamily="18" charset="0"/>
                          <a:cs typeface="Times New Roman" panose="02020603050405020304" pitchFamily="18" charset="0"/>
                        </a:rPr>
                        <a:t>hiện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tại</a:t>
                      </a:r>
                      <a:r>
                        <a:rPr lang="en-US" sz="2400" dirty="0">
                          <a:latin typeface="Times New Roman" panose="02020603050405020304" pitchFamily="18" charset="0"/>
                          <a:cs typeface="Times New Roman" panose="02020603050405020304" pitchFamily="18" charset="0"/>
                        </a:rPr>
                        <a:t>)</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latin typeface="Times New Roman" panose="02020603050405020304" pitchFamily="18" charset="0"/>
                          <a:cs typeface="Times New Roman" panose="02020603050405020304" pitchFamily="18" charset="0"/>
                        </a:rPr>
                        <a:t>0x400000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6466771"/>
                  </a:ext>
                </a:extLst>
              </a:tr>
            </a:tbl>
          </a:graphicData>
        </a:graphic>
      </p:graphicFrame>
      <p:cxnSp>
        <p:nvCxnSpPr>
          <p:cNvPr id="11" name="Straight Arrow Connector 10">
            <a:extLst>
              <a:ext uri="{FF2B5EF4-FFF2-40B4-BE49-F238E27FC236}">
                <a16:creationId xmlns:a16="http://schemas.microsoft.com/office/drawing/2014/main" id="{D21B687E-8C58-66D1-773E-4D6DC1ED2C27}"/>
              </a:ext>
            </a:extLst>
          </p:cNvPr>
          <p:cNvCxnSpPr>
            <a:cxnSpLocks/>
          </p:cNvCxnSpPr>
          <p:nvPr/>
        </p:nvCxnSpPr>
        <p:spPr>
          <a:xfrm flipV="1">
            <a:off x="3845298" y="3132680"/>
            <a:ext cx="2252515" cy="1546037"/>
          </a:xfrm>
          <a:prstGeom prst="straightConnector1">
            <a:avLst/>
          </a:prstGeom>
          <a:ln>
            <a:solidFill>
              <a:srgbClr val="FFC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2" name="Lightning Bolt 11">
            <a:extLst>
              <a:ext uri="{FF2B5EF4-FFF2-40B4-BE49-F238E27FC236}">
                <a16:creationId xmlns:a16="http://schemas.microsoft.com/office/drawing/2014/main" id="{88F0F805-68E4-6F1C-462C-2108B7868E8D}"/>
              </a:ext>
            </a:extLst>
          </p:cNvPr>
          <p:cNvSpPr/>
          <p:nvPr/>
        </p:nvSpPr>
        <p:spPr>
          <a:xfrm>
            <a:off x="5264999" y="2074332"/>
            <a:ext cx="348770" cy="643121"/>
          </a:xfrm>
          <a:prstGeom prst="lightningBol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13" name="Straight Arrow Connector 12">
            <a:extLst>
              <a:ext uri="{FF2B5EF4-FFF2-40B4-BE49-F238E27FC236}">
                <a16:creationId xmlns:a16="http://schemas.microsoft.com/office/drawing/2014/main" id="{516F614A-8E80-A8E0-ACCB-45FB535E279F}"/>
              </a:ext>
            </a:extLst>
          </p:cNvPr>
          <p:cNvCxnSpPr>
            <a:cxnSpLocks/>
          </p:cNvCxnSpPr>
          <p:nvPr/>
        </p:nvCxnSpPr>
        <p:spPr>
          <a:xfrm flipV="1">
            <a:off x="3845298" y="3132680"/>
            <a:ext cx="2839401" cy="760088"/>
          </a:xfrm>
          <a:prstGeom prst="straightConnector1">
            <a:avLst/>
          </a:prstGeom>
          <a:ln>
            <a:solidFill>
              <a:srgbClr val="7030A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5DEAAE19-AEBF-F9AF-CEF1-23DFCD36DA8C}"/>
              </a:ext>
            </a:extLst>
          </p:cNvPr>
          <p:cNvSpPr/>
          <p:nvPr/>
        </p:nvSpPr>
        <p:spPr>
          <a:xfrm>
            <a:off x="5264998" y="3825378"/>
            <a:ext cx="4925993" cy="1145704"/>
          </a:xfrm>
          <a:prstGeom prst="rect">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300" dirty="0">
                <a:solidFill>
                  <a:schemeClr val="tx1"/>
                </a:solidFill>
                <a:latin typeface="Times New Roman" panose="02020603050405020304" pitchFamily="18" charset="0"/>
                <a:cs typeface="Times New Roman" panose="02020603050405020304" pitchFamily="18" charset="0"/>
              </a:rPr>
              <a:t>0x2021 – 0x08 = 0x2019</a:t>
            </a:r>
          </a:p>
          <a:p>
            <a:pPr algn="ctr"/>
            <a:r>
              <a:rPr lang="en-US" sz="3300" dirty="0">
                <a:solidFill>
                  <a:schemeClr val="tx1"/>
                </a:solidFill>
                <a:latin typeface="Times New Roman" panose="02020603050405020304" pitchFamily="18" charset="0"/>
                <a:cs typeface="Times New Roman" panose="02020603050405020304" pitchFamily="18" charset="0"/>
              </a:rPr>
              <a:t>0x2019 ≠ 0 -&gt; PC = PC +4</a:t>
            </a:r>
          </a:p>
        </p:txBody>
      </p:sp>
      <p:cxnSp>
        <p:nvCxnSpPr>
          <p:cNvPr id="15" name="Straight Arrow Connector 14">
            <a:extLst>
              <a:ext uri="{FF2B5EF4-FFF2-40B4-BE49-F238E27FC236}">
                <a16:creationId xmlns:a16="http://schemas.microsoft.com/office/drawing/2014/main" id="{99CEFF58-9CEA-CA68-E478-95504EFB6094}"/>
              </a:ext>
            </a:extLst>
          </p:cNvPr>
          <p:cNvCxnSpPr>
            <a:stCxn id="7" idx="3"/>
            <a:endCxn id="14" idx="1"/>
          </p:cNvCxnSpPr>
          <p:nvPr/>
        </p:nvCxnSpPr>
        <p:spPr>
          <a:xfrm>
            <a:off x="3845298" y="4326363"/>
            <a:ext cx="1419701" cy="71867"/>
          </a:xfrm>
          <a:prstGeom prst="straightConnector1">
            <a:avLst/>
          </a:prstGeom>
          <a:ln>
            <a:solidFill>
              <a:srgbClr val="FFFF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6" name="Table 15">
            <a:extLst>
              <a:ext uri="{FF2B5EF4-FFF2-40B4-BE49-F238E27FC236}">
                <a16:creationId xmlns:a16="http://schemas.microsoft.com/office/drawing/2014/main" id="{0063B2DE-4B52-4DB6-A7E8-AFCEA743FE17}"/>
              </a:ext>
            </a:extLst>
          </p:cNvPr>
          <p:cNvGraphicFramePr>
            <a:graphicFrameLocks noGrp="1"/>
          </p:cNvGraphicFramePr>
          <p:nvPr>
            <p:extLst>
              <p:ext uri="{D42A27DB-BD31-4B8C-83A1-F6EECF244321}">
                <p14:modId xmlns:p14="http://schemas.microsoft.com/office/powerpoint/2010/main" val="2613024633"/>
              </p:ext>
            </p:extLst>
          </p:nvPr>
        </p:nvGraphicFramePr>
        <p:xfrm>
          <a:off x="6945900" y="1674234"/>
          <a:ext cx="3226651" cy="434340"/>
        </p:xfrm>
        <a:graphic>
          <a:graphicData uri="http://schemas.openxmlformats.org/drawingml/2006/table">
            <a:tbl>
              <a:tblPr firstRow="1" bandRow="1">
                <a:tableStyleId>{5940675A-B579-460E-94D1-54222C63F5DA}</a:tableStyleId>
              </a:tblPr>
              <a:tblGrid>
                <a:gridCol w="1795598">
                  <a:extLst>
                    <a:ext uri="{9D8B030D-6E8A-4147-A177-3AD203B41FA5}">
                      <a16:colId xmlns:a16="http://schemas.microsoft.com/office/drawing/2014/main" val="2104779220"/>
                    </a:ext>
                  </a:extLst>
                </a:gridCol>
                <a:gridCol w="1431053">
                  <a:extLst>
                    <a:ext uri="{9D8B030D-6E8A-4147-A177-3AD203B41FA5}">
                      <a16:colId xmlns:a16="http://schemas.microsoft.com/office/drawing/2014/main" val="1767099797"/>
                    </a:ext>
                  </a:extLst>
                </a:gridCol>
              </a:tblGrid>
              <a:tr h="434340">
                <a:tc>
                  <a:txBody>
                    <a:bodyPr/>
                    <a:lstStyle/>
                    <a:p>
                      <a:pPr algn="ctr"/>
                      <a:r>
                        <a:rPr lang="en-US" sz="2400" dirty="0">
                          <a:latin typeface="Times New Roman" panose="02020603050405020304" pitchFamily="18" charset="0"/>
                          <a:cs typeface="Times New Roman" panose="02020603050405020304" pitchFamily="18" charset="0"/>
                        </a:rPr>
                        <a:t>PC (</a:t>
                      </a:r>
                      <a:r>
                        <a:rPr lang="en-US" sz="2400" dirty="0" err="1">
                          <a:latin typeface="Times New Roman" panose="02020603050405020304" pitchFamily="18" charset="0"/>
                          <a:cs typeface="Times New Roman" panose="02020603050405020304" pitchFamily="18" charset="0"/>
                        </a:rPr>
                        <a:t>sau</a:t>
                      </a:r>
                      <a:r>
                        <a:rPr lang="en-US" sz="2400" dirty="0">
                          <a:latin typeface="Times New Roman" panose="02020603050405020304" pitchFamily="18" charset="0"/>
                          <a:cs typeface="Times New Roman" panose="02020603050405020304" pitchFamily="18" charset="0"/>
                        </a:rPr>
                        <a:t>)</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latin typeface="Times New Roman" panose="02020603050405020304" pitchFamily="18" charset="0"/>
                          <a:cs typeface="Times New Roman" panose="02020603050405020304" pitchFamily="18" charset="0"/>
                        </a:rPr>
                        <a:t>0x400000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6466771"/>
                  </a:ext>
                </a:extLst>
              </a:tr>
            </a:tbl>
          </a:graphicData>
        </a:graphic>
      </p:graphicFrame>
      <p:sp>
        <p:nvSpPr>
          <p:cNvPr id="17" name="Rectangle 16">
            <a:extLst>
              <a:ext uri="{FF2B5EF4-FFF2-40B4-BE49-F238E27FC236}">
                <a16:creationId xmlns:a16="http://schemas.microsoft.com/office/drawing/2014/main" id="{8C286778-FDFE-710F-4F80-CC83BE2660F8}"/>
              </a:ext>
            </a:extLst>
          </p:cNvPr>
          <p:cNvSpPr/>
          <p:nvPr/>
        </p:nvSpPr>
        <p:spPr>
          <a:xfrm>
            <a:off x="8742156" y="1667805"/>
            <a:ext cx="1448835" cy="428625"/>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8" name="TextBox 17">
            <a:extLst>
              <a:ext uri="{FF2B5EF4-FFF2-40B4-BE49-F238E27FC236}">
                <a16:creationId xmlns:a16="http://schemas.microsoft.com/office/drawing/2014/main" id="{0FBEFC0F-CF49-C1AE-0B99-04E36615C63B}"/>
              </a:ext>
            </a:extLst>
          </p:cNvPr>
          <p:cNvSpPr txBox="1"/>
          <p:nvPr/>
        </p:nvSpPr>
        <p:spPr>
          <a:xfrm>
            <a:off x="8742156" y="1669993"/>
            <a:ext cx="1448835" cy="461665"/>
          </a:xfrm>
          <a:prstGeom prst="rect">
            <a:avLst/>
          </a:prstGeom>
          <a:noFill/>
        </p:spPr>
        <p:txBody>
          <a:bodyPr wrap="square">
            <a:spAutoFit/>
          </a:bodyPr>
          <a:lstStyle/>
          <a:p>
            <a:pPr algn="ctr"/>
            <a:r>
              <a:rPr lang="en-US" sz="2400" dirty="0">
                <a:solidFill>
                  <a:schemeClr val="bg1"/>
                </a:solidFill>
                <a:latin typeface="Times New Roman" panose="02020603050405020304" pitchFamily="18" charset="0"/>
                <a:cs typeface="Times New Roman" panose="02020603050405020304" pitchFamily="18" charset="0"/>
              </a:rPr>
              <a:t>0x400004</a:t>
            </a:r>
          </a:p>
        </p:txBody>
      </p:sp>
      <p:sp>
        <p:nvSpPr>
          <p:cNvPr id="19" name="TextBox 18">
            <a:extLst>
              <a:ext uri="{FF2B5EF4-FFF2-40B4-BE49-F238E27FC236}">
                <a16:creationId xmlns:a16="http://schemas.microsoft.com/office/drawing/2014/main" id="{EA983CED-D3CD-CBCC-B4AD-1FCA2F512CF1}"/>
              </a:ext>
            </a:extLst>
          </p:cNvPr>
          <p:cNvSpPr txBox="1"/>
          <p:nvPr/>
        </p:nvSpPr>
        <p:spPr>
          <a:xfrm>
            <a:off x="1617893" y="2759033"/>
            <a:ext cx="1970723" cy="461665"/>
          </a:xfrm>
          <a:prstGeom prst="rect">
            <a:avLst/>
          </a:prstGeom>
          <a:noFill/>
        </p:spPr>
        <p:txBody>
          <a:bodyPr wrap="square">
            <a:spAutoFit/>
          </a:bodyPr>
          <a:lstStyle/>
          <a:p>
            <a:pPr algn="ctr"/>
            <a:r>
              <a:rPr lang="en-US" sz="2400" dirty="0" err="1">
                <a:latin typeface="Times New Roman" panose="02020603050405020304" pitchFamily="18" charset="0"/>
                <a:cs typeface="Times New Roman" panose="02020603050405020304" pitchFamily="18" charset="0"/>
              </a:rPr>
              <a:t>Tập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thanh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ghi</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9796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additive="base">
                                        <p:cTn id="17" dur="500" fill="hold"/>
                                        <p:tgtEl>
                                          <p:spTgt spid="13"/>
                                        </p:tgtEl>
                                        <p:attrNameLst>
                                          <p:attrName>ppt_x</p:attrName>
                                        </p:attrNameLst>
                                      </p:cBhvr>
                                      <p:tavLst>
                                        <p:tav tm="0">
                                          <p:val>
                                            <p:strVal val="#ppt_x"/>
                                          </p:val>
                                        </p:tav>
                                        <p:tav tm="100000">
                                          <p:val>
                                            <p:strVal val="#ppt_x"/>
                                          </p:val>
                                        </p:tav>
                                      </p:tavLst>
                                    </p:anim>
                                    <p:anim calcmode="lin" valueType="num">
                                      <p:cBhvr additive="base">
                                        <p:cTn id="1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fill="hold"/>
                                        <p:tgtEl>
                                          <p:spTgt spid="12"/>
                                        </p:tgtEl>
                                        <p:attrNameLst>
                                          <p:attrName>ppt_x</p:attrName>
                                        </p:attrNameLst>
                                      </p:cBhvr>
                                      <p:tavLst>
                                        <p:tav tm="0">
                                          <p:val>
                                            <p:strVal val="#ppt_x"/>
                                          </p:val>
                                        </p:tav>
                                        <p:tav tm="100000">
                                          <p:val>
                                            <p:strVal val="#ppt_x"/>
                                          </p:val>
                                        </p:tav>
                                      </p:tavLst>
                                    </p:anim>
                                    <p:anim calcmode="lin" valueType="num">
                                      <p:cBhvr additive="base">
                                        <p:cTn id="2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additive="base">
                                        <p:cTn id="29" dur="500" fill="hold"/>
                                        <p:tgtEl>
                                          <p:spTgt spid="7"/>
                                        </p:tgtEl>
                                        <p:attrNameLst>
                                          <p:attrName>ppt_x</p:attrName>
                                        </p:attrNameLst>
                                      </p:cBhvr>
                                      <p:tavLst>
                                        <p:tav tm="0">
                                          <p:val>
                                            <p:strVal val="#ppt_x"/>
                                          </p:val>
                                        </p:tav>
                                        <p:tav tm="100000">
                                          <p:val>
                                            <p:strVal val="#ppt_x"/>
                                          </p:val>
                                        </p:tav>
                                      </p:tavLst>
                                    </p:anim>
                                    <p:anim calcmode="lin" valueType="num">
                                      <p:cBhvr additive="base">
                                        <p:cTn id="3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15"/>
                                        </p:tgtEl>
                                        <p:attrNameLst>
                                          <p:attrName>style.visibility</p:attrName>
                                        </p:attrNameLst>
                                      </p:cBhvr>
                                      <p:to>
                                        <p:strVal val="visible"/>
                                      </p:to>
                                    </p:set>
                                    <p:anim calcmode="lin" valueType="num">
                                      <p:cBhvr additive="base">
                                        <p:cTn id="35" dur="500" fill="hold"/>
                                        <p:tgtEl>
                                          <p:spTgt spid="15"/>
                                        </p:tgtEl>
                                        <p:attrNameLst>
                                          <p:attrName>ppt_x</p:attrName>
                                        </p:attrNameLst>
                                      </p:cBhvr>
                                      <p:tavLst>
                                        <p:tav tm="0">
                                          <p:val>
                                            <p:strVal val="#ppt_x"/>
                                          </p:val>
                                        </p:tav>
                                        <p:tav tm="100000">
                                          <p:val>
                                            <p:strVal val="#ppt_x"/>
                                          </p:val>
                                        </p:tav>
                                      </p:tavLst>
                                    </p:anim>
                                    <p:anim calcmode="lin" valueType="num">
                                      <p:cBhvr additive="base">
                                        <p:cTn id="36" dur="500" fill="hold"/>
                                        <p:tgtEl>
                                          <p:spTgt spid="15"/>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 calcmode="lin" valueType="num">
                                      <p:cBhvr additive="base">
                                        <p:cTn id="39" dur="500" fill="hold"/>
                                        <p:tgtEl>
                                          <p:spTgt spid="14"/>
                                        </p:tgtEl>
                                        <p:attrNameLst>
                                          <p:attrName>ppt_x</p:attrName>
                                        </p:attrNameLst>
                                      </p:cBhvr>
                                      <p:tavLst>
                                        <p:tav tm="0">
                                          <p:val>
                                            <p:strVal val="#ppt_x"/>
                                          </p:val>
                                        </p:tav>
                                        <p:tav tm="100000">
                                          <p:val>
                                            <p:strVal val="#ppt_x"/>
                                          </p:val>
                                        </p:tav>
                                      </p:tavLst>
                                    </p:anim>
                                    <p:anim calcmode="lin" valueType="num">
                                      <p:cBhvr additive="base">
                                        <p:cTn id="4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17"/>
                                        </p:tgtEl>
                                        <p:attrNameLst>
                                          <p:attrName>style.visibility</p:attrName>
                                        </p:attrNameLst>
                                      </p:cBhvr>
                                      <p:to>
                                        <p:strVal val="visible"/>
                                      </p:to>
                                    </p:set>
                                    <p:anim calcmode="lin" valueType="num">
                                      <p:cBhvr additive="base">
                                        <p:cTn id="45" dur="500" fill="hold"/>
                                        <p:tgtEl>
                                          <p:spTgt spid="17"/>
                                        </p:tgtEl>
                                        <p:attrNameLst>
                                          <p:attrName>ppt_x</p:attrName>
                                        </p:attrNameLst>
                                      </p:cBhvr>
                                      <p:tavLst>
                                        <p:tav tm="0">
                                          <p:val>
                                            <p:strVal val="#ppt_x"/>
                                          </p:val>
                                        </p:tav>
                                        <p:tav tm="100000">
                                          <p:val>
                                            <p:strVal val="#ppt_x"/>
                                          </p:val>
                                        </p:tav>
                                      </p:tavLst>
                                    </p:anim>
                                    <p:anim calcmode="lin" valueType="num">
                                      <p:cBhvr additive="base">
                                        <p:cTn id="46"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18"/>
                                        </p:tgtEl>
                                        <p:attrNameLst>
                                          <p:attrName>style.visibility</p:attrName>
                                        </p:attrNameLst>
                                      </p:cBhvr>
                                      <p:to>
                                        <p:strVal val="visible"/>
                                      </p:to>
                                    </p:set>
                                    <p:anim calcmode="lin" valueType="num">
                                      <p:cBhvr additive="base">
                                        <p:cTn id="51" dur="500" fill="hold"/>
                                        <p:tgtEl>
                                          <p:spTgt spid="18"/>
                                        </p:tgtEl>
                                        <p:attrNameLst>
                                          <p:attrName>ppt_x</p:attrName>
                                        </p:attrNameLst>
                                      </p:cBhvr>
                                      <p:tavLst>
                                        <p:tav tm="0">
                                          <p:val>
                                            <p:strVal val="#ppt_x"/>
                                          </p:val>
                                        </p:tav>
                                        <p:tav tm="100000">
                                          <p:val>
                                            <p:strVal val="#ppt_x"/>
                                          </p:val>
                                        </p:tav>
                                      </p:tavLst>
                                    </p:anim>
                                    <p:anim calcmode="lin" valueType="num">
                                      <p:cBhvr additive="base">
                                        <p:cTn id="52"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12" grpId="0" animBg="1"/>
      <p:bldP spid="14" grpId="0" animBg="1"/>
      <p:bldP spid="17" grpId="0" animBg="1"/>
      <p:bldP spid="1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6225E-CD9A-AECC-1E51-3150694A39D7}"/>
              </a:ext>
            </a:extLst>
          </p:cNvPr>
          <p:cNvSpPr>
            <a:spLocks noGrp="1"/>
          </p:cNvSpPr>
          <p:nvPr>
            <p:ph type="title"/>
          </p:nvPr>
        </p:nvSpPr>
        <p:spPr/>
        <p:txBody>
          <a:bodyPr/>
          <a:lstStyle/>
          <a:p>
            <a:r>
              <a:rPr lang="en-US"/>
              <a:t>Lệnh rẽ nhánh - bne</a:t>
            </a:r>
          </a:p>
        </p:txBody>
      </p:sp>
      <p:sp>
        <p:nvSpPr>
          <p:cNvPr id="4" name="Footer Placeholder 3">
            <a:extLst>
              <a:ext uri="{FF2B5EF4-FFF2-40B4-BE49-F238E27FC236}">
                <a16:creationId xmlns:a16="http://schemas.microsoft.com/office/drawing/2014/main" id="{8EDB55FA-14C1-0214-7CA3-0FC1CF8BCB94}"/>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Slide Number Placeholder 4">
            <a:extLst>
              <a:ext uri="{FF2B5EF4-FFF2-40B4-BE49-F238E27FC236}">
                <a16:creationId xmlns:a16="http://schemas.microsoft.com/office/drawing/2014/main" id="{B09D74A2-0C28-E3C3-09A6-D517C9059CDC}"/>
              </a:ext>
            </a:extLst>
          </p:cNvPr>
          <p:cNvSpPr>
            <a:spLocks noGrp="1"/>
          </p:cNvSpPr>
          <p:nvPr>
            <p:ph type="sldNum" sz="quarter" idx="12"/>
          </p:nvPr>
        </p:nvSpPr>
        <p:spPr/>
        <p:txBody>
          <a:bodyPr/>
          <a:lstStyle/>
          <a:p>
            <a:fld id="{D8B0B3AC-44A8-D142-AAF6-9A453466E1A4}" type="slidenum">
              <a:rPr lang="en-VN" smtClean="0"/>
              <a:pPr/>
              <a:t>29</a:t>
            </a:fld>
            <a:endParaRPr lang="en-VN" dirty="0"/>
          </a:p>
        </p:txBody>
      </p:sp>
      <p:sp>
        <p:nvSpPr>
          <p:cNvPr id="6" name="Date Placeholder 5">
            <a:extLst>
              <a:ext uri="{FF2B5EF4-FFF2-40B4-BE49-F238E27FC236}">
                <a16:creationId xmlns:a16="http://schemas.microsoft.com/office/drawing/2014/main" id="{18543B18-2314-0980-7A48-130B3ADA4771}"/>
              </a:ext>
            </a:extLst>
          </p:cNvPr>
          <p:cNvSpPr>
            <a:spLocks noGrp="1"/>
          </p:cNvSpPr>
          <p:nvPr>
            <p:ph type="dt" sz="half" idx="13"/>
          </p:nvPr>
        </p:nvSpPr>
        <p:spPr/>
        <p:txBody>
          <a:bodyPr/>
          <a:lstStyle/>
          <a:p>
            <a:fld id="{46CDDB1B-AAE9-1649-A755-11FADEB7E97E}" type="datetime4">
              <a:rPr lang="en-US" smtClean="0"/>
              <a:pPr/>
              <a:t>April 21, 2024</a:t>
            </a:fld>
            <a:endParaRPr lang="en-US" dirty="0"/>
          </a:p>
        </p:txBody>
      </p:sp>
      <p:sp>
        <p:nvSpPr>
          <p:cNvPr id="3" name="Rectangle 2">
            <a:extLst>
              <a:ext uri="{FF2B5EF4-FFF2-40B4-BE49-F238E27FC236}">
                <a16:creationId xmlns:a16="http://schemas.microsoft.com/office/drawing/2014/main" id="{255B9C44-FE8E-6537-D8BD-504D8EBB2DEC}"/>
              </a:ext>
            </a:extLst>
          </p:cNvPr>
          <p:cNvSpPr/>
          <p:nvPr/>
        </p:nvSpPr>
        <p:spPr>
          <a:xfrm>
            <a:off x="2148672" y="3884048"/>
            <a:ext cx="1654628" cy="1318970"/>
          </a:xfrm>
          <a:prstGeom prst="rect">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300" dirty="0">
                <a:solidFill>
                  <a:schemeClr val="tx1"/>
                </a:solidFill>
                <a:latin typeface="Times New Roman" panose="02020603050405020304" pitchFamily="18" charset="0"/>
                <a:cs typeface="Times New Roman" panose="02020603050405020304" pitchFamily="18" charset="0"/>
              </a:rPr>
              <a:t>?</a:t>
            </a:r>
          </a:p>
        </p:txBody>
      </p:sp>
      <p:sp>
        <p:nvSpPr>
          <p:cNvPr id="7" name="TextBox 6">
            <a:extLst>
              <a:ext uri="{FF2B5EF4-FFF2-40B4-BE49-F238E27FC236}">
                <a16:creationId xmlns:a16="http://schemas.microsoft.com/office/drawing/2014/main" id="{6B6E0919-9C06-E18D-C621-3BB029B12FF3}"/>
              </a:ext>
            </a:extLst>
          </p:cNvPr>
          <p:cNvSpPr txBox="1"/>
          <p:nvPr/>
        </p:nvSpPr>
        <p:spPr>
          <a:xfrm>
            <a:off x="3803300" y="2907771"/>
            <a:ext cx="4182312" cy="1200329"/>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0x400000:</a:t>
            </a:r>
            <a:r>
              <a:rPr lang="en-US" sz="2400" dirty="0">
                <a:solidFill>
                  <a:srgbClr val="FF0000"/>
                </a:solidFill>
                <a:latin typeface="Times New Roman" panose="02020603050405020304" pitchFamily="18" charset="0"/>
                <a:cs typeface="Times New Roman" panose="02020603050405020304" pitchFamily="18" charset="0"/>
              </a:rPr>
              <a:t>   </a:t>
            </a:r>
            <a:r>
              <a:rPr lang="en-US" sz="2400" dirty="0" err="1">
                <a:solidFill>
                  <a:srgbClr val="FF0000"/>
                </a:solidFill>
                <a:latin typeface="Times New Roman" panose="02020603050405020304" pitchFamily="18" charset="0"/>
                <a:cs typeface="Times New Roman" panose="02020603050405020304" pitchFamily="18" charset="0"/>
              </a:rPr>
              <a:t>bne</a:t>
            </a:r>
            <a:r>
              <a:rPr lang="en-US" sz="2400" dirty="0">
                <a:latin typeface="Times New Roman" panose="02020603050405020304" pitchFamily="18" charset="0"/>
                <a:cs typeface="Times New Roman" panose="02020603050405020304" pitchFamily="18" charset="0"/>
              </a:rPr>
              <a:t> </a:t>
            </a:r>
            <a:r>
              <a:rPr lang="en-US" sz="2400" dirty="0">
                <a:solidFill>
                  <a:srgbClr val="FFC000"/>
                </a:solidFill>
                <a:latin typeface="Times New Roman" panose="02020603050405020304" pitchFamily="18" charset="0"/>
                <a:cs typeface="Times New Roman" panose="02020603050405020304" pitchFamily="18" charset="0"/>
              </a:rPr>
              <a:t>$s2</a:t>
            </a:r>
            <a:r>
              <a:rPr lang="en-US" sz="2400" dirty="0">
                <a:latin typeface="Times New Roman" panose="02020603050405020304" pitchFamily="18" charset="0"/>
                <a:cs typeface="Times New Roman" panose="02020603050405020304" pitchFamily="18" charset="0"/>
              </a:rPr>
              <a:t>, </a:t>
            </a:r>
            <a:r>
              <a:rPr lang="en-US" sz="2400" dirty="0">
                <a:solidFill>
                  <a:srgbClr val="7030A0"/>
                </a:solidFill>
                <a:latin typeface="Times New Roman" panose="02020603050405020304" pitchFamily="18" charset="0"/>
                <a:cs typeface="Times New Roman" panose="02020603050405020304" pitchFamily="18" charset="0"/>
              </a:rPr>
              <a:t>$t0</a:t>
            </a:r>
            <a:r>
              <a:rPr lang="en-US" sz="2400" dirty="0">
                <a:latin typeface="Times New Roman" panose="02020603050405020304" pitchFamily="18" charset="0"/>
                <a:cs typeface="Times New Roman" panose="02020603050405020304" pitchFamily="18" charset="0"/>
              </a:rPr>
              <a:t>,</a:t>
            </a:r>
            <a:r>
              <a:rPr lang="en-US" sz="2400" dirty="0">
                <a:solidFill>
                  <a:srgbClr val="FFC000"/>
                </a:solidFill>
                <a:latin typeface="Times New Roman" panose="02020603050405020304" pitchFamily="18" charset="0"/>
                <a:cs typeface="Times New Roman" panose="02020603050405020304" pitchFamily="18" charset="0"/>
              </a:rPr>
              <a:t> </a:t>
            </a:r>
            <a:r>
              <a:rPr lang="en-US" sz="2400" dirty="0">
                <a:solidFill>
                  <a:srgbClr val="00B050"/>
                </a:solidFill>
                <a:latin typeface="Times New Roman" panose="02020603050405020304" pitchFamily="18" charset="0"/>
                <a:cs typeface="Times New Roman" panose="02020603050405020304" pitchFamily="18" charset="0"/>
              </a:rPr>
              <a:t>PASS</a:t>
            </a:r>
          </a:p>
          <a:p>
            <a:r>
              <a:rPr lang="en-US" sz="2400" dirty="0">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0x40000C:</a:t>
            </a:r>
            <a:r>
              <a:rPr lang="en-US" sz="2400" dirty="0">
                <a:solidFill>
                  <a:srgbClr val="00B050"/>
                </a:solidFill>
                <a:latin typeface="Times New Roman" panose="02020603050405020304" pitchFamily="18" charset="0"/>
                <a:cs typeface="Times New Roman" panose="02020603050405020304" pitchFamily="18" charset="0"/>
              </a:rPr>
              <a:t>   PASS:</a:t>
            </a:r>
          </a:p>
        </p:txBody>
      </p:sp>
      <p:graphicFrame>
        <p:nvGraphicFramePr>
          <p:cNvPr id="8" name="Table 7">
            <a:extLst>
              <a:ext uri="{FF2B5EF4-FFF2-40B4-BE49-F238E27FC236}">
                <a16:creationId xmlns:a16="http://schemas.microsoft.com/office/drawing/2014/main" id="{CF28F42B-1FFF-BABD-30F4-6752021F21C7}"/>
              </a:ext>
            </a:extLst>
          </p:cNvPr>
          <p:cNvGraphicFramePr>
            <a:graphicFrameLocks noGrp="1"/>
          </p:cNvGraphicFramePr>
          <p:nvPr>
            <p:extLst>
              <p:ext uri="{D42A27DB-BD31-4B8C-83A1-F6EECF244321}">
                <p14:modId xmlns:p14="http://schemas.microsoft.com/office/powerpoint/2010/main" val="2489377659"/>
              </p:ext>
            </p:extLst>
          </p:nvPr>
        </p:nvGraphicFramePr>
        <p:xfrm>
          <a:off x="1605009" y="3454735"/>
          <a:ext cx="2080877" cy="1737360"/>
        </p:xfrm>
        <a:graphic>
          <a:graphicData uri="http://schemas.openxmlformats.org/drawingml/2006/table">
            <a:tbl>
              <a:tblPr firstRow="1" bandRow="1">
                <a:tableStyleId>{5940675A-B579-460E-94D1-54222C63F5DA}</a:tableStyleId>
              </a:tblPr>
              <a:tblGrid>
                <a:gridCol w="661467">
                  <a:extLst>
                    <a:ext uri="{9D8B030D-6E8A-4147-A177-3AD203B41FA5}">
                      <a16:colId xmlns:a16="http://schemas.microsoft.com/office/drawing/2014/main" val="2104779220"/>
                    </a:ext>
                  </a:extLst>
                </a:gridCol>
                <a:gridCol w="1419410">
                  <a:extLst>
                    <a:ext uri="{9D8B030D-6E8A-4147-A177-3AD203B41FA5}">
                      <a16:colId xmlns:a16="http://schemas.microsoft.com/office/drawing/2014/main" val="1767099797"/>
                    </a:ext>
                  </a:extLst>
                </a:gridCol>
              </a:tblGrid>
              <a:tr h="434340">
                <a:tc>
                  <a:txBody>
                    <a:bodyPr/>
                    <a:lstStyle/>
                    <a:p>
                      <a:pPr algn="ctr"/>
                      <a:r>
                        <a:rPr lang="en-US" sz="2400" dirty="0">
                          <a:latin typeface="Times New Roman" panose="02020603050405020304" pitchFamily="18" charset="0"/>
                          <a:cs typeface="Times New Roman" panose="02020603050405020304" pitchFamily="18" charset="0"/>
                        </a:rPr>
                        <a:t>…</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latin typeface="Times New Roman" panose="02020603050405020304" pitchFamily="18" charset="0"/>
                          <a:cs typeface="Times New Roman" panose="02020603050405020304" pitchFamily="18" charset="0"/>
                        </a:rPr>
                        <a:t>…</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1080934"/>
                  </a:ext>
                </a:extLst>
              </a:tr>
              <a:tr h="434340">
                <a:tc>
                  <a:txBody>
                    <a:bodyPr/>
                    <a:lstStyle/>
                    <a:p>
                      <a:pPr algn="ctr"/>
                      <a:r>
                        <a:rPr lang="en-US" sz="2400" dirty="0">
                          <a:latin typeface="Times New Roman" panose="02020603050405020304" pitchFamily="18" charset="0"/>
                          <a:cs typeface="Times New Roman" panose="02020603050405020304" pitchFamily="18" charset="0"/>
                        </a:rPr>
                        <a:t>$t0</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0x08</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3117984"/>
                  </a:ext>
                </a:extLst>
              </a:tr>
              <a:tr h="434340">
                <a:tc>
                  <a:txBody>
                    <a:bodyPr/>
                    <a:lstStyle/>
                    <a:p>
                      <a:pPr algn="ctr"/>
                      <a:r>
                        <a:rPr lang="en-US" sz="2400" dirty="0">
                          <a:latin typeface="Times New Roman" panose="02020603050405020304" pitchFamily="18" charset="0"/>
                          <a:cs typeface="Times New Roman" panose="02020603050405020304" pitchFamily="18" charset="0"/>
                        </a:rPr>
                        <a:t>….</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latin typeface="Times New Roman" panose="02020603050405020304" pitchFamily="18" charset="0"/>
                          <a:cs typeface="Times New Roman" panose="02020603050405020304" pitchFamily="18" charset="0"/>
                        </a:rPr>
                        <a:t>…</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47873999"/>
                  </a:ext>
                </a:extLst>
              </a:tr>
              <a:tr h="434340">
                <a:tc>
                  <a:txBody>
                    <a:bodyPr/>
                    <a:lstStyle/>
                    <a:p>
                      <a:pPr algn="ctr"/>
                      <a:r>
                        <a:rPr lang="en-US" sz="2400" dirty="0">
                          <a:latin typeface="Times New Roman" panose="02020603050405020304" pitchFamily="18" charset="0"/>
                          <a:cs typeface="Times New Roman" panose="02020603050405020304" pitchFamily="18" charset="0"/>
                        </a:rPr>
                        <a:t>$s2</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latin typeface="Times New Roman" panose="02020603050405020304" pitchFamily="18" charset="0"/>
                          <a:cs typeface="Times New Roman" panose="02020603050405020304" pitchFamily="18" charset="0"/>
                        </a:rPr>
                        <a:t>0x2021</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43278351"/>
                  </a:ext>
                </a:extLst>
              </a:tr>
            </a:tbl>
          </a:graphicData>
        </a:graphic>
      </p:graphicFrame>
      <p:graphicFrame>
        <p:nvGraphicFramePr>
          <p:cNvPr id="9" name="Table 8">
            <a:extLst>
              <a:ext uri="{FF2B5EF4-FFF2-40B4-BE49-F238E27FC236}">
                <a16:creationId xmlns:a16="http://schemas.microsoft.com/office/drawing/2014/main" id="{DEEE4D79-DCE3-B6C9-C651-0A0426493993}"/>
              </a:ext>
            </a:extLst>
          </p:cNvPr>
          <p:cNvGraphicFramePr>
            <a:graphicFrameLocks noGrp="1"/>
          </p:cNvGraphicFramePr>
          <p:nvPr>
            <p:extLst>
              <p:ext uri="{D42A27DB-BD31-4B8C-83A1-F6EECF244321}">
                <p14:modId xmlns:p14="http://schemas.microsoft.com/office/powerpoint/2010/main" val="1780414748"/>
              </p:ext>
            </p:extLst>
          </p:nvPr>
        </p:nvGraphicFramePr>
        <p:xfrm>
          <a:off x="1575894" y="1884013"/>
          <a:ext cx="3226651" cy="434340"/>
        </p:xfrm>
        <a:graphic>
          <a:graphicData uri="http://schemas.openxmlformats.org/drawingml/2006/table">
            <a:tbl>
              <a:tblPr firstRow="1" bandRow="1">
                <a:tableStyleId>{5940675A-B579-460E-94D1-54222C63F5DA}</a:tableStyleId>
              </a:tblPr>
              <a:tblGrid>
                <a:gridCol w="1795598">
                  <a:extLst>
                    <a:ext uri="{9D8B030D-6E8A-4147-A177-3AD203B41FA5}">
                      <a16:colId xmlns:a16="http://schemas.microsoft.com/office/drawing/2014/main" val="2104779220"/>
                    </a:ext>
                  </a:extLst>
                </a:gridCol>
                <a:gridCol w="1431053">
                  <a:extLst>
                    <a:ext uri="{9D8B030D-6E8A-4147-A177-3AD203B41FA5}">
                      <a16:colId xmlns:a16="http://schemas.microsoft.com/office/drawing/2014/main" val="1767099797"/>
                    </a:ext>
                  </a:extLst>
                </a:gridCol>
              </a:tblGrid>
              <a:tr h="434340">
                <a:tc>
                  <a:txBody>
                    <a:bodyPr/>
                    <a:lstStyle/>
                    <a:p>
                      <a:pPr algn="ctr"/>
                      <a:r>
                        <a:rPr lang="en-US" sz="2400" dirty="0">
                          <a:latin typeface="Times New Roman" panose="02020603050405020304" pitchFamily="18" charset="0"/>
                          <a:cs typeface="Times New Roman" panose="02020603050405020304" pitchFamily="18" charset="0"/>
                        </a:rPr>
                        <a:t>PC (</a:t>
                      </a:r>
                      <a:r>
                        <a:rPr lang="en-US" sz="2400" dirty="0" err="1">
                          <a:latin typeface="Times New Roman" panose="02020603050405020304" pitchFamily="18" charset="0"/>
                          <a:cs typeface="Times New Roman" panose="02020603050405020304" pitchFamily="18" charset="0"/>
                        </a:rPr>
                        <a:t>hiện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tại</a:t>
                      </a:r>
                      <a:r>
                        <a:rPr lang="en-US" sz="2400" dirty="0">
                          <a:latin typeface="Times New Roman" panose="02020603050405020304" pitchFamily="18" charset="0"/>
                          <a:cs typeface="Times New Roman" panose="02020603050405020304" pitchFamily="18" charset="0"/>
                        </a:rPr>
                        <a:t>)</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latin typeface="Times New Roman" panose="02020603050405020304" pitchFamily="18" charset="0"/>
                          <a:cs typeface="Times New Roman" panose="02020603050405020304" pitchFamily="18" charset="0"/>
                        </a:rPr>
                        <a:t>0x400000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6466771"/>
                  </a:ext>
                </a:extLst>
              </a:tr>
            </a:tbl>
          </a:graphicData>
        </a:graphic>
      </p:graphicFrame>
      <p:cxnSp>
        <p:nvCxnSpPr>
          <p:cNvPr id="10" name="Straight Arrow Connector 9">
            <a:extLst>
              <a:ext uri="{FF2B5EF4-FFF2-40B4-BE49-F238E27FC236}">
                <a16:creationId xmlns:a16="http://schemas.microsoft.com/office/drawing/2014/main" id="{0002940B-30F9-B697-762A-1104B21E0C15}"/>
              </a:ext>
            </a:extLst>
          </p:cNvPr>
          <p:cNvCxnSpPr>
            <a:cxnSpLocks/>
          </p:cNvCxnSpPr>
          <p:nvPr/>
        </p:nvCxnSpPr>
        <p:spPr>
          <a:xfrm flipV="1">
            <a:off x="3803300" y="3349850"/>
            <a:ext cx="2252515" cy="1546037"/>
          </a:xfrm>
          <a:prstGeom prst="straightConnector1">
            <a:avLst/>
          </a:prstGeom>
          <a:ln>
            <a:solidFill>
              <a:srgbClr val="FFC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1" name="Lightning Bolt 10">
            <a:extLst>
              <a:ext uri="{FF2B5EF4-FFF2-40B4-BE49-F238E27FC236}">
                <a16:creationId xmlns:a16="http://schemas.microsoft.com/office/drawing/2014/main" id="{FA8BD3B9-09F1-BE47-091B-FAAFAD1BC8B4}"/>
              </a:ext>
            </a:extLst>
          </p:cNvPr>
          <p:cNvSpPr/>
          <p:nvPr/>
        </p:nvSpPr>
        <p:spPr>
          <a:xfrm>
            <a:off x="5223001" y="2291502"/>
            <a:ext cx="348770" cy="643121"/>
          </a:xfrm>
          <a:prstGeom prst="lightningBol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12" name="Straight Arrow Connector 11">
            <a:extLst>
              <a:ext uri="{FF2B5EF4-FFF2-40B4-BE49-F238E27FC236}">
                <a16:creationId xmlns:a16="http://schemas.microsoft.com/office/drawing/2014/main" id="{E3CE4942-A27C-97C6-5BBF-5D00AD3D8ED4}"/>
              </a:ext>
            </a:extLst>
          </p:cNvPr>
          <p:cNvCxnSpPr>
            <a:cxnSpLocks/>
          </p:cNvCxnSpPr>
          <p:nvPr/>
        </p:nvCxnSpPr>
        <p:spPr>
          <a:xfrm flipV="1">
            <a:off x="3803300" y="3349850"/>
            <a:ext cx="2839401" cy="760088"/>
          </a:xfrm>
          <a:prstGeom prst="straightConnector1">
            <a:avLst/>
          </a:prstGeom>
          <a:ln>
            <a:solidFill>
              <a:srgbClr val="7030A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904243C6-FF5C-A58B-1E88-12941FF9AEC8}"/>
              </a:ext>
            </a:extLst>
          </p:cNvPr>
          <p:cNvSpPr/>
          <p:nvPr/>
        </p:nvSpPr>
        <p:spPr>
          <a:xfrm>
            <a:off x="4802546" y="4042548"/>
            <a:ext cx="5731054" cy="1145704"/>
          </a:xfrm>
          <a:prstGeom prst="rect">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300" dirty="0">
                <a:solidFill>
                  <a:schemeClr val="tx1"/>
                </a:solidFill>
                <a:latin typeface="Times New Roman" panose="02020603050405020304" pitchFamily="18" charset="0"/>
                <a:cs typeface="Times New Roman" panose="02020603050405020304" pitchFamily="18" charset="0"/>
              </a:rPr>
              <a:t>0x2021 – 0x08 = 0x2019</a:t>
            </a:r>
          </a:p>
          <a:p>
            <a:pPr algn="ctr"/>
            <a:r>
              <a:rPr lang="en-US" sz="3300" dirty="0">
                <a:solidFill>
                  <a:schemeClr val="tx1"/>
                </a:solidFill>
                <a:latin typeface="Times New Roman" panose="02020603050405020304" pitchFamily="18" charset="0"/>
                <a:cs typeface="Times New Roman" panose="02020603050405020304" pitchFamily="18" charset="0"/>
              </a:rPr>
              <a:t>0x2019 ≠ 0 -&gt; PC </a:t>
            </a:r>
            <a:r>
              <a:rPr lang="en-US" sz="3300">
                <a:solidFill>
                  <a:schemeClr val="tx1"/>
                </a:solidFill>
                <a:latin typeface="Times New Roman" panose="02020603050405020304" pitchFamily="18" charset="0"/>
                <a:cs typeface="Times New Roman" panose="02020603050405020304" pitchFamily="18" charset="0"/>
              </a:rPr>
              <a:t>= 0x40000C</a:t>
            </a:r>
            <a:endParaRPr lang="en-US" sz="3300" dirty="0">
              <a:solidFill>
                <a:schemeClr val="tx1"/>
              </a:solidFill>
              <a:latin typeface="Times New Roman" panose="02020603050405020304" pitchFamily="18" charset="0"/>
              <a:cs typeface="Times New Roman" panose="02020603050405020304" pitchFamily="18" charset="0"/>
            </a:endParaRPr>
          </a:p>
        </p:txBody>
      </p:sp>
      <p:cxnSp>
        <p:nvCxnSpPr>
          <p:cNvPr id="14" name="Straight Arrow Connector 13">
            <a:extLst>
              <a:ext uri="{FF2B5EF4-FFF2-40B4-BE49-F238E27FC236}">
                <a16:creationId xmlns:a16="http://schemas.microsoft.com/office/drawing/2014/main" id="{9E868E26-5175-4D3B-6180-34050E51410C}"/>
              </a:ext>
            </a:extLst>
          </p:cNvPr>
          <p:cNvCxnSpPr>
            <a:cxnSpLocks/>
            <a:stCxn id="3" idx="3"/>
            <a:endCxn id="13" idx="1"/>
          </p:cNvCxnSpPr>
          <p:nvPr/>
        </p:nvCxnSpPr>
        <p:spPr>
          <a:xfrm>
            <a:off x="3803300" y="4543533"/>
            <a:ext cx="999246" cy="71867"/>
          </a:xfrm>
          <a:prstGeom prst="straightConnector1">
            <a:avLst/>
          </a:prstGeom>
          <a:ln>
            <a:solidFill>
              <a:srgbClr val="FFFF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5" name="Table 14">
            <a:extLst>
              <a:ext uri="{FF2B5EF4-FFF2-40B4-BE49-F238E27FC236}">
                <a16:creationId xmlns:a16="http://schemas.microsoft.com/office/drawing/2014/main" id="{37052D96-9537-1A7E-0BDA-F318A4988491}"/>
              </a:ext>
            </a:extLst>
          </p:cNvPr>
          <p:cNvGraphicFramePr>
            <a:graphicFrameLocks noGrp="1"/>
          </p:cNvGraphicFramePr>
          <p:nvPr>
            <p:extLst>
              <p:ext uri="{D42A27DB-BD31-4B8C-83A1-F6EECF244321}">
                <p14:modId xmlns:p14="http://schemas.microsoft.com/office/powerpoint/2010/main" val="1822405682"/>
              </p:ext>
            </p:extLst>
          </p:nvPr>
        </p:nvGraphicFramePr>
        <p:xfrm>
          <a:off x="6903902" y="1891404"/>
          <a:ext cx="3226651" cy="434340"/>
        </p:xfrm>
        <a:graphic>
          <a:graphicData uri="http://schemas.openxmlformats.org/drawingml/2006/table">
            <a:tbl>
              <a:tblPr firstRow="1" bandRow="1">
                <a:tableStyleId>{5940675A-B579-460E-94D1-54222C63F5DA}</a:tableStyleId>
              </a:tblPr>
              <a:tblGrid>
                <a:gridCol w="1795598">
                  <a:extLst>
                    <a:ext uri="{9D8B030D-6E8A-4147-A177-3AD203B41FA5}">
                      <a16:colId xmlns:a16="http://schemas.microsoft.com/office/drawing/2014/main" val="2104779220"/>
                    </a:ext>
                  </a:extLst>
                </a:gridCol>
                <a:gridCol w="1431053">
                  <a:extLst>
                    <a:ext uri="{9D8B030D-6E8A-4147-A177-3AD203B41FA5}">
                      <a16:colId xmlns:a16="http://schemas.microsoft.com/office/drawing/2014/main" val="1767099797"/>
                    </a:ext>
                  </a:extLst>
                </a:gridCol>
              </a:tblGrid>
              <a:tr h="434340">
                <a:tc>
                  <a:txBody>
                    <a:bodyPr/>
                    <a:lstStyle/>
                    <a:p>
                      <a:pPr algn="ctr"/>
                      <a:r>
                        <a:rPr lang="en-US" sz="2400" dirty="0">
                          <a:latin typeface="Times New Roman" panose="02020603050405020304" pitchFamily="18" charset="0"/>
                          <a:cs typeface="Times New Roman" panose="02020603050405020304" pitchFamily="18" charset="0"/>
                        </a:rPr>
                        <a:t>PC (</a:t>
                      </a:r>
                      <a:r>
                        <a:rPr lang="en-US" sz="2400" dirty="0" err="1">
                          <a:latin typeface="Times New Roman" panose="02020603050405020304" pitchFamily="18" charset="0"/>
                          <a:cs typeface="Times New Roman" panose="02020603050405020304" pitchFamily="18" charset="0"/>
                        </a:rPr>
                        <a:t>sau</a:t>
                      </a:r>
                      <a:r>
                        <a:rPr lang="en-US" sz="2400" dirty="0">
                          <a:latin typeface="Times New Roman" panose="02020603050405020304" pitchFamily="18" charset="0"/>
                          <a:cs typeface="Times New Roman" panose="02020603050405020304" pitchFamily="18" charset="0"/>
                        </a:rPr>
                        <a:t>)</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latin typeface="Times New Roman" panose="02020603050405020304" pitchFamily="18" charset="0"/>
                          <a:cs typeface="Times New Roman" panose="02020603050405020304" pitchFamily="18" charset="0"/>
                        </a:rPr>
                        <a:t>0x400000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6466771"/>
                  </a:ext>
                </a:extLst>
              </a:tr>
            </a:tbl>
          </a:graphicData>
        </a:graphic>
      </p:graphicFrame>
      <p:sp>
        <p:nvSpPr>
          <p:cNvPr id="16" name="Rectangle 15">
            <a:extLst>
              <a:ext uri="{FF2B5EF4-FFF2-40B4-BE49-F238E27FC236}">
                <a16:creationId xmlns:a16="http://schemas.microsoft.com/office/drawing/2014/main" id="{3F052A4F-190A-7A4E-D60B-B73899C8BD9B}"/>
              </a:ext>
            </a:extLst>
          </p:cNvPr>
          <p:cNvSpPr/>
          <p:nvPr/>
        </p:nvSpPr>
        <p:spPr>
          <a:xfrm>
            <a:off x="8700158" y="1884975"/>
            <a:ext cx="1448835" cy="428625"/>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7" name="TextBox 16">
            <a:extLst>
              <a:ext uri="{FF2B5EF4-FFF2-40B4-BE49-F238E27FC236}">
                <a16:creationId xmlns:a16="http://schemas.microsoft.com/office/drawing/2014/main" id="{D6121E99-36D3-8E30-D459-B4AE178AA104}"/>
              </a:ext>
            </a:extLst>
          </p:cNvPr>
          <p:cNvSpPr txBox="1"/>
          <p:nvPr/>
        </p:nvSpPr>
        <p:spPr>
          <a:xfrm>
            <a:off x="8700158" y="1887163"/>
            <a:ext cx="1574142" cy="461665"/>
          </a:xfrm>
          <a:prstGeom prst="rect">
            <a:avLst/>
          </a:prstGeom>
          <a:noFill/>
        </p:spPr>
        <p:txBody>
          <a:bodyPr wrap="square">
            <a:spAutoFit/>
          </a:bodyPr>
          <a:lstStyle/>
          <a:p>
            <a:pPr algn="ctr"/>
            <a:r>
              <a:rPr lang="en-US" sz="2400" dirty="0">
                <a:solidFill>
                  <a:schemeClr val="bg1"/>
                </a:solidFill>
                <a:latin typeface="Times New Roman" panose="02020603050405020304" pitchFamily="18" charset="0"/>
                <a:cs typeface="Times New Roman" panose="02020603050405020304" pitchFamily="18" charset="0"/>
              </a:rPr>
              <a:t>0x40000C</a:t>
            </a:r>
          </a:p>
        </p:txBody>
      </p:sp>
      <p:sp>
        <p:nvSpPr>
          <p:cNvPr id="18" name="TextBox 17">
            <a:extLst>
              <a:ext uri="{FF2B5EF4-FFF2-40B4-BE49-F238E27FC236}">
                <a16:creationId xmlns:a16="http://schemas.microsoft.com/office/drawing/2014/main" id="{CCB9604B-0F54-8DC4-7920-5F19FE5B1FC1}"/>
              </a:ext>
            </a:extLst>
          </p:cNvPr>
          <p:cNvSpPr txBox="1"/>
          <p:nvPr/>
        </p:nvSpPr>
        <p:spPr>
          <a:xfrm>
            <a:off x="1575895" y="2976203"/>
            <a:ext cx="1970723" cy="461665"/>
          </a:xfrm>
          <a:prstGeom prst="rect">
            <a:avLst/>
          </a:prstGeom>
          <a:noFill/>
        </p:spPr>
        <p:txBody>
          <a:bodyPr wrap="square">
            <a:spAutoFit/>
          </a:bodyPr>
          <a:lstStyle/>
          <a:p>
            <a:pPr algn="ctr"/>
            <a:r>
              <a:rPr lang="en-US" sz="2400" dirty="0" err="1">
                <a:latin typeface="Times New Roman" panose="02020603050405020304" pitchFamily="18" charset="0"/>
                <a:cs typeface="Times New Roman" panose="02020603050405020304" pitchFamily="18" charset="0"/>
              </a:rPr>
              <a:t>Tập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thanh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ghi</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00322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anim calcmode="lin" valueType="num">
                                      <p:cBhvr additive="base">
                                        <p:cTn id="17" dur="500" fill="hold"/>
                                        <p:tgtEl>
                                          <p:spTgt spid="12"/>
                                        </p:tgtEl>
                                        <p:attrNameLst>
                                          <p:attrName>ppt_x</p:attrName>
                                        </p:attrNameLst>
                                      </p:cBhvr>
                                      <p:tavLst>
                                        <p:tav tm="0">
                                          <p:val>
                                            <p:strVal val="#ppt_x"/>
                                          </p:val>
                                        </p:tav>
                                        <p:tav tm="100000">
                                          <p:val>
                                            <p:strVal val="#ppt_x"/>
                                          </p:val>
                                        </p:tav>
                                      </p:tavLst>
                                    </p:anim>
                                    <p:anim calcmode="lin" valueType="num">
                                      <p:cBhvr additive="base">
                                        <p:cTn id="1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 calcmode="lin" valueType="num">
                                      <p:cBhvr additive="base">
                                        <p:cTn id="23" dur="500" fill="hold"/>
                                        <p:tgtEl>
                                          <p:spTgt spid="11"/>
                                        </p:tgtEl>
                                        <p:attrNameLst>
                                          <p:attrName>ppt_x</p:attrName>
                                        </p:attrNameLst>
                                      </p:cBhvr>
                                      <p:tavLst>
                                        <p:tav tm="0">
                                          <p:val>
                                            <p:strVal val="#ppt_x"/>
                                          </p:val>
                                        </p:tav>
                                        <p:tav tm="100000">
                                          <p:val>
                                            <p:strVal val="#ppt_x"/>
                                          </p:val>
                                        </p:tav>
                                      </p:tavLst>
                                    </p:anim>
                                    <p:anim calcmode="lin" valueType="num">
                                      <p:cBhvr additive="base">
                                        <p:cTn id="2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3"/>
                                        </p:tgtEl>
                                        <p:attrNameLst>
                                          <p:attrName>style.visibility</p:attrName>
                                        </p:attrNameLst>
                                      </p:cBhvr>
                                      <p:to>
                                        <p:strVal val="visible"/>
                                      </p:to>
                                    </p:set>
                                    <p:anim calcmode="lin" valueType="num">
                                      <p:cBhvr additive="base">
                                        <p:cTn id="29" dur="500" fill="hold"/>
                                        <p:tgtEl>
                                          <p:spTgt spid="3"/>
                                        </p:tgtEl>
                                        <p:attrNameLst>
                                          <p:attrName>ppt_x</p:attrName>
                                        </p:attrNameLst>
                                      </p:cBhvr>
                                      <p:tavLst>
                                        <p:tav tm="0">
                                          <p:val>
                                            <p:strVal val="#ppt_x"/>
                                          </p:val>
                                        </p:tav>
                                        <p:tav tm="100000">
                                          <p:val>
                                            <p:strVal val="#ppt_x"/>
                                          </p:val>
                                        </p:tav>
                                      </p:tavLst>
                                    </p:anim>
                                    <p:anim calcmode="lin" valueType="num">
                                      <p:cBhvr additive="base">
                                        <p:cTn id="3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14"/>
                                        </p:tgtEl>
                                        <p:attrNameLst>
                                          <p:attrName>style.visibility</p:attrName>
                                        </p:attrNameLst>
                                      </p:cBhvr>
                                      <p:to>
                                        <p:strVal val="visible"/>
                                      </p:to>
                                    </p:set>
                                    <p:anim calcmode="lin" valueType="num">
                                      <p:cBhvr additive="base">
                                        <p:cTn id="35" dur="500" fill="hold"/>
                                        <p:tgtEl>
                                          <p:spTgt spid="14"/>
                                        </p:tgtEl>
                                        <p:attrNameLst>
                                          <p:attrName>ppt_x</p:attrName>
                                        </p:attrNameLst>
                                      </p:cBhvr>
                                      <p:tavLst>
                                        <p:tav tm="0">
                                          <p:val>
                                            <p:strVal val="#ppt_x"/>
                                          </p:val>
                                        </p:tav>
                                        <p:tav tm="100000">
                                          <p:val>
                                            <p:strVal val="#ppt_x"/>
                                          </p:val>
                                        </p:tav>
                                      </p:tavLst>
                                    </p:anim>
                                    <p:anim calcmode="lin" valueType="num">
                                      <p:cBhvr additive="base">
                                        <p:cTn id="36" dur="500" fill="hold"/>
                                        <p:tgtEl>
                                          <p:spTgt spid="14"/>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 calcmode="lin" valueType="num">
                                      <p:cBhvr additive="base">
                                        <p:cTn id="39" dur="500" fill="hold"/>
                                        <p:tgtEl>
                                          <p:spTgt spid="13"/>
                                        </p:tgtEl>
                                        <p:attrNameLst>
                                          <p:attrName>ppt_x</p:attrName>
                                        </p:attrNameLst>
                                      </p:cBhvr>
                                      <p:tavLst>
                                        <p:tav tm="0">
                                          <p:val>
                                            <p:strVal val="#ppt_x"/>
                                          </p:val>
                                        </p:tav>
                                        <p:tav tm="100000">
                                          <p:val>
                                            <p:strVal val="#ppt_x"/>
                                          </p:val>
                                        </p:tav>
                                      </p:tavLst>
                                    </p:anim>
                                    <p:anim calcmode="lin" valueType="num">
                                      <p:cBhvr additive="base">
                                        <p:cTn id="4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16"/>
                                        </p:tgtEl>
                                        <p:attrNameLst>
                                          <p:attrName>style.visibility</p:attrName>
                                        </p:attrNameLst>
                                      </p:cBhvr>
                                      <p:to>
                                        <p:strVal val="visible"/>
                                      </p:to>
                                    </p:set>
                                    <p:anim calcmode="lin" valueType="num">
                                      <p:cBhvr additive="base">
                                        <p:cTn id="45" dur="500" fill="hold"/>
                                        <p:tgtEl>
                                          <p:spTgt spid="16"/>
                                        </p:tgtEl>
                                        <p:attrNameLst>
                                          <p:attrName>ppt_x</p:attrName>
                                        </p:attrNameLst>
                                      </p:cBhvr>
                                      <p:tavLst>
                                        <p:tav tm="0">
                                          <p:val>
                                            <p:strVal val="#ppt_x"/>
                                          </p:val>
                                        </p:tav>
                                        <p:tav tm="100000">
                                          <p:val>
                                            <p:strVal val="#ppt_x"/>
                                          </p:val>
                                        </p:tav>
                                      </p:tavLst>
                                    </p:anim>
                                    <p:anim calcmode="lin" valueType="num">
                                      <p:cBhvr additive="base">
                                        <p:cTn id="46"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17"/>
                                        </p:tgtEl>
                                        <p:attrNameLst>
                                          <p:attrName>style.visibility</p:attrName>
                                        </p:attrNameLst>
                                      </p:cBhvr>
                                      <p:to>
                                        <p:strVal val="visible"/>
                                      </p:to>
                                    </p:set>
                                    <p:anim calcmode="lin" valueType="num">
                                      <p:cBhvr additive="base">
                                        <p:cTn id="51" dur="500" fill="hold"/>
                                        <p:tgtEl>
                                          <p:spTgt spid="17"/>
                                        </p:tgtEl>
                                        <p:attrNameLst>
                                          <p:attrName>ppt_x</p:attrName>
                                        </p:attrNameLst>
                                      </p:cBhvr>
                                      <p:tavLst>
                                        <p:tav tm="0">
                                          <p:val>
                                            <p:strVal val="#ppt_x"/>
                                          </p:val>
                                        </p:tav>
                                        <p:tav tm="100000">
                                          <p:val>
                                            <p:strVal val="#ppt_x"/>
                                          </p:val>
                                        </p:tav>
                                      </p:tavLst>
                                    </p:anim>
                                    <p:anim calcmode="lin" valueType="num">
                                      <p:cBhvr additive="base">
                                        <p:cTn id="52"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p:bldP spid="11" grpId="0" animBg="1"/>
      <p:bldP spid="13" grpId="0" animBg="1"/>
      <p:bldP spid="16" grpId="0" animBg="1"/>
      <p:bldP spid="17"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99CBE-CAD7-36E3-CEAD-4504D9CF9330}"/>
              </a:ext>
            </a:extLst>
          </p:cNvPr>
          <p:cNvSpPr>
            <a:spLocks noGrp="1"/>
          </p:cNvSpPr>
          <p:nvPr>
            <p:ph type="title"/>
          </p:nvPr>
        </p:nvSpPr>
        <p:spPr/>
        <p:txBody>
          <a:bodyPr/>
          <a:lstStyle/>
          <a:p>
            <a:r>
              <a:rPr lang="en-US"/>
              <a:t>Nhóm lệnh nhảy - j/jr/jal</a:t>
            </a:r>
          </a:p>
        </p:txBody>
      </p:sp>
      <p:sp>
        <p:nvSpPr>
          <p:cNvPr id="4" name="Footer Placeholder 3">
            <a:extLst>
              <a:ext uri="{FF2B5EF4-FFF2-40B4-BE49-F238E27FC236}">
                <a16:creationId xmlns:a16="http://schemas.microsoft.com/office/drawing/2014/main" id="{39770C45-22EC-FDFB-5A11-C4085E7F6EB6}"/>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Slide Number Placeholder 4">
            <a:extLst>
              <a:ext uri="{FF2B5EF4-FFF2-40B4-BE49-F238E27FC236}">
                <a16:creationId xmlns:a16="http://schemas.microsoft.com/office/drawing/2014/main" id="{595ABD1A-CEF7-756E-FC0D-DA030C132FF0}"/>
              </a:ext>
            </a:extLst>
          </p:cNvPr>
          <p:cNvSpPr>
            <a:spLocks noGrp="1"/>
          </p:cNvSpPr>
          <p:nvPr>
            <p:ph type="sldNum" sz="quarter" idx="12"/>
          </p:nvPr>
        </p:nvSpPr>
        <p:spPr/>
        <p:txBody>
          <a:bodyPr/>
          <a:lstStyle/>
          <a:p>
            <a:fld id="{D8B0B3AC-44A8-D142-AAF6-9A453466E1A4}" type="slidenum">
              <a:rPr lang="en-VN" smtClean="0"/>
              <a:pPr/>
              <a:t>30</a:t>
            </a:fld>
            <a:endParaRPr lang="en-VN" dirty="0"/>
          </a:p>
        </p:txBody>
      </p:sp>
      <p:sp>
        <p:nvSpPr>
          <p:cNvPr id="6" name="Date Placeholder 5">
            <a:extLst>
              <a:ext uri="{FF2B5EF4-FFF2-40B4-BE49-F238E27FC236}">
                <a16:creationId xmlns:a16="http://schemas.microsoft.com/office/drawing/2014/main" id="{4A78A645-2852-BE07-D01C-5C4F05222FDA}"/>
              </a:ext>
            </a:extLst>
          </p:cNvPr>
          <p:cNvSpPr>
            <a:spLocks noGrp="1"/>
          </p:cNvSpPr>
          <p:nvPr>
            <p:ph type="dt" sz="half" idx="13"/>
          </p:nvPr>
        </p:nvSpPr>
        <p:spPr/>
        <p:txBody>
          <a:bodyPr/>
          <a:lstStyle/>
          <a:p>
            <a:fld id="{46CDDB1B-AAE9-1649-A755-11FADEB7E97E}" type="datetime4">
              <a:rPr lang="en-US" smtClean="0"/>
              <a:pPr/>
              <a:t>April 21, 2024</a:t>
            </a:fld>
            <a:endParaRPr lang="en-US" dirty="0"/>
          </a:p>
        </p:txBody>
      </p:sp>
      <p:sp>
        <p:nvSpPr>
          <p:cNvPr id="7" name="TextBox 6">
            <a:extLst>
              <a:ext uri="{FF2B5EF4-FFF2-40B4-BE49-F238E27FC236}">
                <a16:creationId xmlns:a16="http://schemas.microsoft.com/office/drawing/2014/main" id="{2D424565-817A-29D4-B5CE-A2239CA8DFAC}"/>
              </a:ext>
            </a:extLst>
          </p:cNvPr>
          <p:cNvSpPr txBox="1"/>
          <p:nvPr/>
        </p:nvSpPr>
        <p:spPr>
          <a:xfrm>
            <a:off x="2278380" y="1862624"/>
            <a:ext cx="2855467" cy="1131079"/>
          </a:xfrm>
          <a:prstGeom prst="rect">
            <a:avLst/>
          </a:prstGeom>
          <a:solidFill>
            <a:srgbClr val="FFFF00"/>
          </a:solidFill>
        </p:spPr>
        <p:txBody>
          <a:bodyPr wrap="square">
            <a:spAutoFit/>
          </a:bodyPr>
          <a:lstStyle/>
          <a:p>
            <a:r>
              <a:rPr lang="en-US" sz="2250" dirty="0">
                <a:latin typeface="Times New Roman" panose="02020603050405020304" pitchFamily="18" charset="0"/>
                <a:cs typeface="Times New Roman" panose="02020603050405020304" pitchFamily="18" charset="0"/>
              </a:rPr>
              <a:t>0x400000:</a:t>
            </a:r>
            <a:r>
              <a:rPr lang="en-US" sz="2250" dirty="0">
                <a:solidFill>
                  <a:srgbClr val="FF0000"/>
                </a:solidFill>
                <a:latin typeface="Times New Roman" panose="02020603050405020304" pitchFamily="18" charset="0"/>
                <a:cs typeface="Times New Roman" panose="02020603050405020304" pitchFamily="18" charset="0"/>
              </a:rPr>
              <a:t>   j   </a:t>
            </a:r>
            <a:r>
              <a:rPr lang="en-US" sz="2250" dirty="0">
                <a:solidFill>
                  <a:srgbClr val="00B050"/>
                </a:solidFill>
                <a:latin typeface="Times New Roman" panose="02020603050405020304" pitchFamily="18" charset="0"/>
                <a:cs typeface="Times New Roman" panose="02020603050405020304" pitchFamily="18" charset="0"/>
              </a:rPr>
              <a:t>PASS</a:t>
            </a:r>
          </a:p>
          <a:p>
            <a:r>
              <a:rPr lang="en-US" sz="2250" dirty="0">
                <a:latin typeface="Times New Roman" panose="02020603050405020304" pitchFamily="18" charset="0"/>
                <a:cs typeface="Times New Roman" panose="02020603050405020304" pitchFamily="18" charset="0"/>
              </a:rPr>
              <a:t>…</a:t>
            </a:r>
          </a:p>
          <a:p>
            <a:r>
              <a:rPr lang="en-US" sz="2250" dirty="0">
                <a:latin typeface="Times New Roman" panose="02020603050405020304" pitchFamily="18" charset="0"/>
                <a:cs typeface="Times New Roman" panose="02020603050405020304" pitchFamily="18" charset="0"/>
              </a:rPr>
              <a:t>0x400200:</a:t>
            </a:r>
            <a:r>
              <a:rPr lang="en-US" sz="2250" dirty="0">
                <a:solidFill>
                  <a:srgbClr val="00B050"/>
                </a:solidFill>
                <a:latin typeface="Times New Roman" panose="02020603050405020304" pitchFamily="18" charset="0"/>
                <a:cs typeface="Times New Roman" panose="02020603050405020304" pitchFamily="18" charset="0"/>
              </a:rPr>
              <a:t>   PASS:</a:t>
            </a:r>
          </a:p>
        </p:txBody>
      </p:sp>
      <p:graphicFrame>
        <p:nvGraphicFramePr>
          <p:cNvPr id="8" name="Table 7">
            <a:extLst>
              <a:ext uri="{FF2B5EF4-FFF2-40B4-BE49-F238E27FC236}">
                <a16:creationId xmlns:a16="http://schemas.microsoft.com/office/drawing/2014/main" id="{C3E203C9-9E97-9E06-B14E-C85EC3FC8D93}"/>
              </a:ext>
            </a:extLst>
          </p:cNvPr>
          <p:cNvGraphicFramePr>
            <a:graphicFrameLocks noGrp="1"/>
          </p:cNvGraphicFramePr>
          <p:nvPr>
            <p:extLst>
              <p:ext uri="{D42A27DB-BD31-4B8C-83A1-F6EECF244321}">
                <p14:modId xmlns:p14="http://schemas.microsoft.com/office/powerpoint/2010/main" val="70060498"/>
              </p:ext>
            </p:extLst>
          </p:nvPr>
        </p:nvGraphicFramePr>
        <p:xfrm>
          <a:off x="5633588" y="1867711"/>
          <a:ext cx="3617108" cy="838200"/>
        </p:xfrm>
        <a:graphic>
          <a:graphicData uri="http://schemas.openxmlformats.org/drawingml/2006/table">
            <a:tbl>
              <a:tblPr firstRow="1" bandRow="1">
                <a:tableStyleId>{5940675A-B579-460E-94D1-54222C63F5DA}</a:tableStyleId>
              </a:tblPr>
              <a:tblGrid>
                <a:gridCol w="525387">
                  <a:extLst>
                    <a:ext uri="{9D8B030D-6E8A-4147-A177-3AD203B41FA5}">
                      <a16:colId xmlns:a16="http://schemas.microsoft.com/office/drawing/2014/main" val="2104779220"/>
                    </a:ext>
                  </a:extLst>
                </a:gridCol>
                <a:gridCol w="1522014">
                  <a:extLst>
                    <a:ext uri="{9D8B030D-6E8A-4147-A177-3AD203B41FA5}">
                      <a16:colId xmlns:a16="http://schemas.microsoft.com/office/drawing/2014/main" val="1767099797"/>
                    </a:ext>
                  </a:extLst>
                </a:gridCol>
                <a:gridCol w="1569707">
                  <a:extLst>
                    <a:ext uri="{9D8B030D-6E8A-4147-A177-3AD203B41FA5}">
                      <a16:colId xmlns:a16="http://schemas.microsoft.com/office/drawing/2014/main" val="290377440"/>
                    </a:ext>
                  </a:extLst>
                </a:gridCol>
              </a:tblGrid>
              <a:tr h="411480">
                <a:tc>
                  <a:txBody>
                    <a:bodyPr/>
                    <a:lstStyle/>
                    <a:p>
                      <a:pPr algn="ctr"/>
                      <a:endParaRPr lang="en-US" sz="2300" dirty="0">
                        <a:latin typeface="Times New Roman" panose="02020603050405020304" pitchFamily="18" charset="0"/>
                        <a:cs typeface="Times New Roman" panose="02020603050405020304" pitchFamily="18" charset="0"/>
                      </a:endParaRP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300" dirty="0" err="1">
                          <a:latin typeface="Times New Roman" panose="02020603050405020304" pitchFamily="18" charset="0"/>
                          <a:cs typeface="Times New Roman" panose="02020603050405020304" pitchFamily="18" charset="0"/>
                        </a:rPr>
                        <a:t>Hiện</a:t>
                      </a: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tại</a:t>
                      </a:r>
                      <a:endParaRPr lang="en-US" sz="230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300" dirty="0">
                          <a:latin typeface="Times New Roman" panose="02020603050405020304" pitchFamily="18" charset="0"/>
                          <a:cs typeface="Times New Roman" panose="02020603050405020304" pitchFamily="18" charset="0"/>
                        </a:rPr>
                        <a:t>Sau</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46471231"/>
                  </a:ext>
                </a:extLst>
              </a:tr>
              <a:tr h="411480">
                <a:tc>
                  <a:txBody>
                    <a:bodyPr/>
                    <a:lstStyle/>
                    <a:p>
                      <a:pPr algn="ctr"/>
                      <a:r>
                        <a:rPr lang="en-US" sz="2300" dirty="0">
                          <a:latin typeface="Times New Roman" panose="02020603050405020304" pitchFamily="18" charset="0"/>
                          <a:cs typeface="Times New Roman" panose="02020603050405020304" pitchFamily="18" charset="0"/>
                        </a:rPr>
                        <a:t>PC</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300" dirty="0">
                          <a:latin typeface="Times New Roman" panose="02020603050405020304" pitchFamily="18" charset="0"/>
                          <a:cs typeface="Times New Roman" panose="02020603050405020304" pitchFamily="18" charset="0"/>
                        </a:rPr>
                        <a:t>0x400000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300" dirty="0">
                          <a:latin typeface="Times New Roman" panose="02020603050405020304" pitchFamily="18" charset="0"/>
                          <a:cs typeface="Times New Roman" panose="02020603050405020304" pitchFamily="18" charset="0"/>
                        </a:rPr>
                        <a:t>0x400200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6466771"/>
                  </a:ext>
                </a:extLst>
              </a:tr>
            </a:tbl>
          </a:graphicData>
        </a:graphic>
      </p:graphicFrame>
      <p:sp>
        <p:nvSpPr>
          <p:cNvPr id="9" name="TextBox 8">
            <a:extLst>
              <a:ext uri="{FF2B5EF4-FFF2-40B4-BE49-F238E27FC236}">
                <a16:creationId xmlns:a16="http://schemas.microsoft.com/office/drawing/2014/main" id="{59141716-8E16-D278-5816-BA74B7D9AED9}"/>
              </a:ext>
            </a:extLst>
          </p:cNvPr>
          <p:cNvSpPr txBox="1"/>
          <p:nvPr/>
        </p:nvSpPr>
        <p:spPr>
          <a:xfrm>
            <a:off x="2278379" y="3005711"/>
            <a:ext cx="2855467" cy="1131079"/>
          </a:xfrm>
          <a:prstGeom prst="rect">
            <a:avLst/>
          </a:prstGeom>
          <a:solidFill>
            <a:schemeClr val="accent1">
              <a:lumMod val="40000"/>
              <a:lumOff val="60000"/>
            </a:schemeClr>
          </a:solidFill>
        </p:spPr>
        <p:txBody>
          <a:bodyPr wrap="square">
            <a:spAutoFit/>
          </a:bodyPr>
          <a:lstStyle/>
          <a:p>
            <a:r>
              <a:rPr lang="en-US" sz="2250" dirty="0">
                <a:latin typeface="Times New Roman" panose="02020603050405020304" pitchFamily="18" charset="0"/>
                <a:cs typeface="Times New Roman" panose="02020603050405020304" pitchFamily="18" charset="0"/>
              </a:rPr>
              <a:t>0x400204:</a:t>
            </a:r>
            <a:r>
              <a:rPr lang="en-US" sz="2250" dirty="0">
                <a:solidFill>
                  <a:srgbClr val="FF0000"/>
                </a:solidFill>
                <a:latin typeface="Times New Roman" panose="02020603050405020304" pitchFamily="18" charset="0"/>
                <a:cs typeface="Times New Roman" panose="02020603050405020304" pitchFamily="18" charset="0"/>
              </a:rPr>
              <a:t>   </a:t>
            </a:r>
            <a:r>
              <a:rPr lang="en-US" sz="2250" dirty="0" err="1">
                <a:solidFill>
                  <a:srgbClr val="FF0000"/>
                </a:solidFill>
                <a:latin typeface="Times New Roman" panose="02020603050405020304" pitchFamily="18" charset="0"/>
                <a:cs typeface="Times New Roman" panose="02020603050405020304" pitchFamily="18" charset="0"/>
              </a:rPr>
              <a:t>jr</a:t>
            </a:r>
            <a:r>
              <a:rPr lang="en-US" sz="2250" dirty="0">
                <a:solidFill>
                  <a:srgbClr val="FF0000"/>
                </a:solidFill>
                <a:latin typeface="Times New Roman" panose="02020603050405020304" pitchFamily="18" charset="0"/>
                <a:cs typeface="Times New Roman" panose="02020603050405020304" pitchFamily="18" charset="0"/>
              </a:rPr>
              <a:t>   </a:t>
            </a:r>
            <a:r>
              <a:rPr lang="en-US" sz="2250" dirty="0">
                <a:solidFill>
                  <a:srgbClr val="00B050"/>
                </a:solidFill>
                <a:latin typeface="Times New Roman" panose="02020603050405020304" pitchFamily="18" charset="0"/>
                <a:cs typeface="Times New Roman" panose="02020603050405020304" pitchFamily="18" charset="0"/>
              </a:rPr>
              <a:t>$t0</a:t>
            </a:r>
          </a:p>
          <a:p>
            <a:r>
              <a:rPr lang="en-US" sz="2250" dirty="0">
                <a:latin typeface="Times New Roman" panose="02020603050405020304" pitchFamily="18" charset="0"/>
                <a:cs typeface="Times New Roman" panose="02020603050405020304" pitchFamily="18" charset="0"/>
              </a:rPr>
              <a:t>…</a:t>
            </a:r>
          </a:p>
          <a:p>
            <a:r>
              <a:rPr lang="en-US" sz="2250" dirty="0">
                <a:latin typeface="Times New Roman" panose="02020603050405020304" pitchFamily="18" charset="0"/>
                <a:cs typeface="Times New Roman" panose="02020603050405020304" pitchFamily="18" charset="0"/>
              </a:rPr>
              <a:t>0x400400:</a:t>
            </a:r>
            <a:r>
              <a:rPr lang="en-US" sz="2250" dirty="0">
                <a:solidFill>
                  <a:srgbClr val="00B050"/>
                </a:solidFill>
                <a:latin typeface="Times New Roman" panose="02020603050405020304" pitchFamily="18" charset="0"/>
                <a:cs typeface="Times New Roman" panose="02020603050405020304" pitchFamily="18" charset="0"/>
              </a:rPr>
              <a:t>   FAIL:</a:t>
            </a:r>
          </a:p>
        </p:txBody>
      </p:sp>
      <p:sp>
        <p:nvSpPr>
          <p:cNvPr id="10" name="TextBox 9">
            <a:extLst>
              <a:ext uri="{FF2B5EF4-FFF2-40B4-BE49-F238E27FC236}">
                <a16:creationId xmlns:a16="http://schemas.microsoft.com/office/drawing/2014/main" id="{B52A00E1-F8A1-D780-7ABB-C7866162803C}"/>
              </a:ext>
            </a:extLst>
          </p:cNvPr>
          <p:cNvSpPr txBox="1"/>
          <p:nvPr/>
        </p:nvSpPr>
        <p:spPr>
          <a:xfrm>
            <a:off x="2278379" y="4154603"/>
            <a:ext cx="2855467" cy="1131079"/>
          </a:xfrm>
          <a:prstGeom prst="rect">
            <a:avLst/>
          </a:prstGeom>
          <a:solidFill>
            <a:schemeClr val="accent2">
              <a:lumMod val="40000"/>
              <a:lumOff val="60000"/>
            </a:schemeClr>
          </a:solidFill>
        </p:spPr>
        <p:txBody>
          <a:bodyPr wrap="square">
            <a:spAutoFit/>
          </a:bodyPr>
          <a:lstStyle/>
          <a:p>
            <a:r>
              <a:rPr lang="en-US" sz="2250" dirty="0">
                <a:latin typeface="Times New Roman" panose="02020603050405020304" pitchFamily="18" charset="0"/>
                <a:cs typeface="Times New Roman" panose="02020603050405020304" pitchFamily="18" charset="0"/>
              </a:rPr>
              <a:t>0x400404:</a:t>
            </a:r>
            <a:r>
              <a:rPr lang="en-US" sz="2250" dirty="0">
                <a:solidFill>
                  <a:srgbClr val="FF0000"/>
                </a:solidFill>
                <a:latin typeface="Times New Roman" panose="02020603050405020304" pitchFamily="18" charset="0"/>
                <a:cs typeface="Times New Roman" panose="02020603050405020304" pitchFamily="18" charset="0"/>
              </a:rPr>
              <a:t>   </a:t>
            </a:r>
            <a:r>
              <a:rPr lang="en-US" sz="2250" dirty="0" err="1">
                <a:solidFill>
                  <a:srgbClr val="FF0000"/>
                </a:solidFill>
                <a:latin typeface="Times New Roman" panose="02020603050405020304" pitchFamily="18" charset="0"/>
                <a:cs typeface="Times New Roman" panose="02020603050405020304" pitchFamily="18" charset="0"/>
              </a:rPr>
              <a:t>jal</a:t>
            </a:r>
            <a:r>
              <a:rPr lang="en-US" sz="2250" dirty="0">
                <a:solidFill>
                  <a:srgbClr val="FF0000"/>
                </a:solidFill>
                <a:latin typeface="Times New Roman" panose="02020603050405020304" pitchFamily="18" charset="0"/>
                <a:cs typeface="Times New Roman" panose="02020603050405020304" pitchFamily="18" charset="0"/>
              </a:rPr>
              <a:t>   </a:t>
            </a:r>
            <a:r>
              <a:rPr lang="en-US" sz="2250" dirty="0">
                <a:solidFill>
                  <a:srgbClr val="00B050"/>
                </a:solidFill>
                <a:latin typeface="Times New Roman" panose="02020603050405020304" pitchFamily="18" charset="0"/>
                <a:cs typeface="Times New Roman" panose="02020603050405020304" pitchFamily="18" charset="0"/>
              </a:rPr>
              <a:t>END</a:t>
            </a:r>
          </a:p>
          <a:p>
            <a:r>
              <a:rPr lang="en-US" sz="2250" dirty="0">
                <a:latin typeface="Times New Roman" panose="02020603050405020304" pitchFamily="18" charset="0"/>
                <a:cs typeface="Times New Roman" panose="02020603050405020304" pitchFamily="18" charset="0"/>
              </a:rPr>
              <a:t>…</a:t>
            </a:r>
          </a:p>
          <a:p>
            <a:r>
              <a:rPr lang="en-US" sz="2250" dirty="0">
                <a:latin typeface="Times New Roman" panose="02020603050405020304" pitchFamily="18" charset="0"/>
                <a:cs typeface="Times New Roman" panose="02020603050405020304" pitchFamily="18" charset="0"/>
              </a:rPr>
              <a:t>0x400800:</a:t>
            </a:r>
            <a:r>
              <a:rPr lang="en-US" sz="2250" dirty="0">
                <a:solidFill>
                  <a:srgbClr val="00B050"/>
                </a:solidFill>
                <a:latin typeface="Times New Roman" panose="02020603050405020304" pitchFamily="18" charset="0"/>
                <a:cs typeface="Times New Roman" panose="02020603050405020304" pitchFamily="18" charset="0"/>
              </a:rPr>
              <a:t>   END:</a:t>
            </a:r>
          </a:p>
        </p:txBody>
      </p:sp>
      <p:graphicFrame>
        <p:nvGraphicFramePr>
          <p:cNvPr id="11" name="Table 10">
            <a:extLst>
              <a:ext uri="{FF2B5EF4-FFF2-40B4-BE49-F238E27FC236}">
                <a16:creationId xmlns:a16="http://schemas.microsoft.com/office/drawing/2014/main" id="{71246717-B583-C76D-3C4C-504DBAEEA58F}"/>
              </a:ext>
            </a:extLst>
          </p:cNvPr>
          <p:cNvGraphicFramePr>
            <a:graphicFrameLocks noGrp="1"/>
          </p:cNvGraphicFramePr>
          <p:nvPr>
            <p:extLst>
              <p:ext uri="{D42A27DB-BD31-4B8C-83A1-F6EECF244321}">
                <p14:modId xmlns:p14="http://schemas.microsoft.com/office/powerpoint/2010/main" val="1192088327"/>
              </p:ext>
            </p:extLst>
          </p:nvPr>
        </p:nvGraphicFramePr>
        <p:xfrm>
          <a:off x="5633588" y="2997548"/>
          <a:ext cx="3617108" cy="868680"/>
        </p:xfrm>
        <a:graphic>
          <a:graphicData uri="http://schemas.openxmlformats.org/drawingml/2006/table">
            <a:tbl>
              <a:tblPr firstRow="1" bandRow="1">
                <a:tableStyleId>{5940675A-B579-460E-94D1-54222C63F5DA}</a:tableStyleId>
              </a:tblPr>
              <a:tblGrid>
                <a:gridCol w="525387">
                  <a:extLst>
                    <a:ext uri="{9D8B030D-6E8A-4147-A177-3AD203B41FA5}">
                      <a16:colId xmlns:a16="http://schemas.microsoft.com/office/drawing/2014/main" val="2104779220"/>
                    </a:ext>
                  </a:extLst>
                </a:gridCol>
                <a:gridCol w="1522014">
                  <a:extLst>
                    <a:ext uri="{9D8B030D-6E8A-4147-A177-3AD203B41FA5}">
                      <a16:colId xmlns:a16="http://schemas.microsoft.com/office/drawing/2014/main" val="1767099797"/>
                    </a:ext>
                  </a:extLst>
                </a:gridCol>
                <a:gridCol w="1569707">
                  <a:extLst>
                    <a:ext uri="{9D8B030D-6E8A-4147-A177-3AD203B41FA5}">
                      <a16:colId xmlns:a16="http://schemas.microsoft.com/office/drawing/2014/main" val="290377440"/>
                    </a:ext>
                  </a:extLst>
                </a:gridCol>
              </a:tblGrid>
              <a:tr h="434340">
                <a:tc>
                  <a:txBody>
                    <a:bodyPr/>
                    <a:lstStyle/>
                    <a:p>
                      <a:pPr algn="ctr"/>
                      <a:endParaRPr lang="en-US" sz="2400" dirty="0">
                        <a:latin typeface="Times New Roman" panose="02020603050405020304" pitchFamily="18" charset="0"/>
                        <a:cs typeface="Times New Roman" panose="02020603050405020304" pitchFamily="18" charset="0"/>
                      </a:endParaRP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err="1">
                          <a:latin typeface="Times New Roman" panose="02020603050405020304" pitchFamily="18" charset="0"/>
                          <a:cs typeface="Times New Roman" panose="02020603050405020304" pitchFamily="18" charset="0"/>
                        </a:rPr>
                        <a:t>Hiện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tại</a:t>
                      </a:r>
                      <a:endParaRPr lang="en-US" sz="240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latin typeface="Times New Roman" panose="02020603050405020304" pitchFamily="18" charset="0"/>
                          <a:cs typeface="Times New Roman" panose="02020603050405020304" pitchFamily="18" charset="0"/>
                        </a:rPr>
                        <a:t>Sau</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46471231"/>
                  </a:ext>
                </a:extLst>
              </a:tr>
              <a:tr h="434340">
                <a:tc>
                  <a:txBody>
                    <a:bodyPr/>
                    <a:lstStyle/>
                    <a:p>
                      <a:pPr algn="ctr"/>
                      <a:r>
                        <a:rPr lang="en-US" sz="2400" dirty="0">
                          <a:latin typeface="Times New Roman" panose="02020603050405020304" pitchFamily="18" charset="0"/>
                          <a:cs typeface="Times New Roman" panose="02020603050405020304" pitchFamily="18" charset="0"/>
                        </a:rPr>
                        <a:t>PC</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latin typeface="Times New Roman" panose="02020603050405020304" pitchFamily="18" charset="0"/>
                          <a:cs typeface="Times New Roman" panose="02020603050405020304" pitchFamily="18" charset="0"/>
                        </a:rPr>
                        <a:t>0x400204</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latin typeface="Times New Roman" panose="02020603050405020304" pitchFamily="18" charset="0"/>
                          <a:cs typeface="Times New Roman" panose="02020603050405020304" pitchFamily="18" charset="0"/>
                        </a:rPr>
                        <a:t>$t0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6466771"/>
                  </a:ext>
                </a:extLst>
              </a:tr>
            </a:tbl>
          </a:graphicData>
        </a:graphic>
      </p:graphicFrame>
      <p:graphicFrame>
        <p:nvGraphicFramePr>
          <p:cNvPr id="12" name="Table 11">
            <a:extLst>
              <a:ext uri="{FF2B5EF4-FFF2-40B4-BE49-F238E27FC236}">
                <a16:creationId xmlns:a16="http://schemas.microsoft.com/office/drawing/2014/main" id="{E9A04C20-D162-A363-2CF3-B38D089674D5}"/>
              </a:ext>
            </a:extLst>
          </p:cNvPr>
          <p:cNvGraphicFramePr>
            <a:graphicFrameLocks noGrp="1"/>
          </p:cNvGraphicFramePr>
          <p:nvPr>
            <p:extLst>
              <p:ext uri="{D42A27DB-BD31-4B8C-83A1-F6EECF244321}">
                <p14:modId xmlns:p14="http://schemas.microsoft.com/office/powerpoint/2010/main" val="2202713641"/>
              </p:ext>
            </p:extLst>
          </p:nvPr>
        </p:nvGraphicFramePr>
        <p:xfrm>
          <a:off x="5571832" y="4035320"/>
          <a:ext cx="3689750" cy="1303020"/>
        </p:xfrm>
        <a:graphic>
          <a:graphicData uri="http://schemas.openxmlformats.org/drawingml/2006/table">
            <a:tbl>
              <a:tblPr firstRow="1" bandRow="1">
                <a:tableStyleId>{5940675A-B579-460E-94D1-54222C63F5DA}</a:tableStyleId>
              </a:tblPr>
              <a:tblGrid>
                <a:gridCol w="590645">
                  <a:extLst>
                    <a:ext uri="{9D8B030D-6E8A-4147-A177-3AD203B41FA5}">
                      <a16:colId xmlns:a16="http://schemas.microsoft.com/office/drawing/2014/main" val="2104779220"/>
                    </a:ext>
                  </a:extLst>
                </a:gridCol>
                <a:gridCol w="1497874">
                  <a:extLst>
                    <a:ext uri="{9D8B030D-6E8A-4147-A177-3AD203B41FA5}">
                      <a16:colId xmlns:a16="http://schemas.microsoft.com/office/drawing/2014/main" val="1767099797"/>
                    </a:ext>
                  </a:extLst>
                </a:gridCol>
                <a:gridCol w="1601231">
                  <a:extLst>
                    <a:ext uri="{9D8B030D-6E8A-4147-A177-3AD203B41FA5}">
                      <a16:colId xmlns:a16="http://schemas.microsoft.com/office/drawing/2014/main" val="290377440"/>
                    </a:ext>
                  </a:extLst>
                </a:gridCol>
              </a:tblGrid>
              <a:tr h="434340">
                <a:tc>
                  <a:txBody>
                    <a:bodyPr/>
                    <a:lstStyle/>
                    <a:p>
                      <a:pPr algn="ctr"/>
                      <a:endParaRPr lang="en-US" sz="2400" dirty="0">
                        <a:latin typeface="Times New Roman" panose="02020603050405020304" pitchFamily="18" charset="0"/>
                        <a:cs typeface="Times New Roman" panose="02020603050405020304" pitchFamily="18" charset="0"/>
                      </a:endParaRP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err="1">
                          <a:latin typeface="Times New Roman" panose="02020603050405020304" pitchFamily="18" charset="0"/>
                          <a:cs typeface="Times New Roman" panose="02020603050405020304" pitchFamily="18" charset="0"/>
                        </a:rPr>
                        <a:t>Hiện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tại</a:t>
                      </a:r>
                      <a:endParaRPr lang="en-US" sz="240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latin typeface="Times New Roman" panose="02020603050405020304" pitchFamily="18" charset="0"/>
                          <a:cs typeface="Times New Roman" panose="02020603050405020304" pitchFamily="18" charset="0"/>
                        </a:rPr>
                        <a:t>Sau</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46471231"/>
                  </a:ext>
                </a:extLst>
              </a:tr>
              <a:tr h="434340">
                <a:tc>
                  <a:txBody>
                    <a:bodyPr/>
                    <a:lstStyle/>
                    <a:p>
                      <a:pPr algn="ctr"/>
                      <a:r>
                        <a:rPr lang="en-US" sz="2400" dirty="0">
                          <a:latin typeface="Times New Roman" panose="02020603050405020304" pitchFamily="18" charset="0"/>
                          <a:cs typeface="Times New Roman" panose="02020603050405020304" pitchFamily="18" charset="0"/>
                        </a:rPr>
                        <a:t>PC</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latin typeface="Times New Roman" panose="02020603050405020304" pitchFamily="18" charset="0"/>
                          <a:cs typeface="Times New Roman" panose="02020603050405020304" pitchFamily="18" charset="0"/>
                        </a:rPr>
                        <a:t>0x400404</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latin typeface="Times New Roman" panose="02020603050405020304" pitchFamily="18" charset="0"/>
                          <a:cs typeface="Times New Roman" panose="02020603050405020304" pitchFamily="18" charset="0"/>
                        </a:rPr>
                        <a:t>0x400800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6466771"/>
                  </a:ext>
                </a:extLst>
              </a:tr>
              <a:tr h="434340">
                <a:tc>
                  <a:txBody>
                    <a:bodyPr/>
                    <a:lstStyle/>
                    <a:p>
                      <a:pPr algn="ctr"/>
                      <a:r>
                        <a:rPr lang="en-US" sz="2400" dirty="0">
                          <a:latin typeface="Times New Roman" panose="02020603050405020304" pitchFamily="18" charset="0"/>
                          <a:cs typeface="Times New Roman" panose="02020603050405020304" pitchFamily="18" charset="0"/>
                        </a:rPr>
                        <a:t>$ra</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latin typeface="Times New Roman" panose="02020603050405020304" pitchFamily="18" charset="0"/>
                          <a:cs typeface="Times New Roman" panose="02020603050405020304" pitchFamily="18" charset="0"/>
                        </a:rPr>
                        <a:t>x</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latin typeface="Times New Roman" panose="02020603050405020304" pitchFamily="18" charset="0"/>
                          <a:cs typeface="Times New Roman" panose="02020603050405020304" pitchFamily="18" charset="0"/>
                        </a:rPr>
                        <a:t>0x400408</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53755053"/>
                  </a:ext>
                </a:extLst>
              </a:tr>
            </a:tbl>
          </a:graphicData>
        </a:graphic>
      </p:graphicFrame>
    </p:spTree>
    <p:extLst>
      <p:ext uri="{BB962C8B-B14F-4D97-AF65-F5344CB8AC3E}">
        <p14:creationId xmlns:p14="http://schemas.microsoft.com/office/powerpoint/2010/main" val="354200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ppt_x"/>
                                          </p:val>
                                        </p:tav>
                                        <p:tav tm="100000">
                                          <p:val>
                                            <p:strVal val="#ppt_x"/>
                                          </p:val>
                                        </p:tav>
                                      </p:tavLst>
                                    </p:anim>
                                    <p:anim calcmode="lin" valueType="num">
                                      <p:cBhvr additive="base">
                                        <p:cTn id="2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2138E7-0BF8-4FBE-AB49-4184E532FD1F}"/>
              </a:ext>
            </a:extLst>
          </p:cNvPr>
          <p:cNvSpPr>
            <a:spLocks noGrp="1"/>
          </p:cNvSpPr>
          <p:nvPr>
            <p:ph type="sldNum" sz="quarter" idx="12"/>
          </p:nvPr>
        </p:nvSpPr>
        <p:spPr/>
        <p:txBody>
          <a:bodyPr/>
          <a:lstStyle/>
          <a:p>
            <a:fld id="{D8B0B3AC-44A8-D142-AAF6-9A453466E1A4}" type="slidenum">
              <a:rPr lang="en-VN" smtClean="0"/>
              <a:pPr/>
              <a:t>31</a:t>
            </a:fld>
            <a:endParaRPr lang="en-VN" dirty="0"/>
          </a:p>
        </p:txBody>
      </p:sp>
      <p:sp>
        <p:nvSpPr>
          <p:cNvPr id="7" name="Text Placeholder 6">
            <a:extLst>
              <a:ext uri="{FF2B5EF4-FFF2-40B4-BE49-F238E27FC236}">
                <a16:creationId xmlns:a16="http://schemas.microsoft.com/office/drawing/2014/main" id="{0602C380-9011-23F7-8E4B-E195C0DFFBC9}"/>
              </a:ext>
            </a:extLst>
          </p:cNvPr>
          <p:cNvSpPr>
            <a:spLocks noGrp="1"/>
          </p:cNvSpPr>
          <p:nvPr>
            <p:ph type="body" sz="quarter" idx="13"/>
          </p:nvPr>
        </p:nvSpPr>
        <p:spPr>
          <a:xfrm>
            <a:off x="1470929" y="2095027"/>
            <a:ext cx="7918398" cy="884656"/>
          </a:xfrm>
        </p:spPr>
        <p:txBody>
          <a:bodyPr>
            <a:normAutofit/>
          </a:bodyPr>
          <a:lstStyle/>
          <a:p>
            <a:r>
              <a:rPr lang="en-US"/>
              <a:t>Toán hạng</a:t>
            </a:r>
            <a:endParaRPr lang="en-VN" dirty="0"/>
          </a:p>
        </p:txBody>
      </p:sp>
      <p:sp>
        <p:nvSpPr>
          <p:cNvPr id="8" name="Text Placeholder 7">
            <a:extLst>
              <a:ext uri="{FF2B5EF4-FFF2-40B4-BE49-F238E27FC236}">
                <a16:creationId xmlns:a16="http://schemas.microsoft.com/office/drawing/2014/main" id="{883EE24F-70E8-C3FA-399B-07DCA2C415CE}"/>
              </a:ext>
            </a:extLst>
          </p:cNvPr>
          <p:cNvSpPr>
            <a:spLocks noGrp="1"/>
          </p:cNvSpPr>
          <p:nvPr>
            <p:ph type="body" sz="quarter" idx="14"/>
          </p:nvPr>
        </p:nvSpPr>
        <p:spPr/>
        <p:txBody>
          <a:bodyPr/>
          <a:lstStyle/>
          <a:p>
            <a:endParaRPr lang="vi-VN" sz="2800" dirty="0"/>
          </a:p>
        </p:txBody>
      </p:sp>
      <p:sp>
        <p:nvSpPr>
          <p:cNvPr id="9" name="Text Placeholder 8">
            <a:extLst>
              <a:ext uri="{FF2B5EF4-FFF2-40B4-BE49-F238E27FC236}">
                <a16:creationId xmlns:a16="http://schemas.microsoft.com/office/drawing/2014/main" id="{7F04BBE0-C7C7-D804-DD85-D99BEB36007C}"/>
              </a:ext>
            </a:extLst>
          </p:cNvPr>
          <p:cNvSpPr>
            <a:spLocks noGrp="1"/>
          </p:cNvSpPr>
          <p:nvPr>
            <p:ph type="body" sz="quarter" idx="15"/>
          </p:nvPr>
        </p:nvSpPr>
        <p:spPr/>
        <p:txBody>
          <a:bodyPr/>
          <a:lstStyle/>
          <a:p>
            <a:endParaRPr lang="en-VN"/>
          </a:p>
        </p:txBody>
      </p:sp>
      <p:sp>
        <p:nvSpPr>
          <p:cNvPr id="10" name="Text Placeholder 9">
            <a:extLst>
              <a:ext uri="{FF2B5EF4-FFF2-40B4-BE49-F238E27FC236}">
                <a16:creationId xmlns:a16="http://schemas.microsoft.com/office/drawing/2014/main" id="{3C2CDC7B-AFE9-6C1F-2CD6-AA61695C23FD}"/>
              </a:ext>
            </a:extLst>
          </p:cNvPr>
          <p:cNvSpPr>
            <a:spLocks noGrp="1"/>
          </p:cNvSpPr>
          <p:nvPr>
            <p:ph type="body" sz="quarter" idx="16"/>
          </p:nvPr>
        </p:nvSpPr>
        <p:spPr/>
        <p:txBody>
          <a:bodyPr>
            <a:normAutofit lnSpcReduction="10000"/>
          </a:bodyPr>
          <a:lstStyle/>
          <a:p>
            <a:r>
              <a:rPr lang="en-VN" dirty="0"/>
              <a:t>4</a:t>
            </a:r>
          </a:p>
        </p:txBody>
      </p:sp>
    </p:spTree>
    <p:extLst>
      <p:ext uri="{BB962C8B-B14F-4D97-AF65-F5344CB8AC3E}">
        <p14:creationId xmlns:p14="http://schemas.microsoft.com/office/powerpoint/2010/main" val="37058444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a:bodyPr>
          <a:lstStyle/>
          <a:p>
            <a:r>
              <a:rPr lang="en-US"/>
              <a:t>Toán hạng</a:t>
            </a:r>
            <a:endParaRPr lang="en-VN" sz="3600"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32</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8" name="Content Placeholder 7">
            <a:extLst>
              <a:ext uri="{FF2B5EF4-FFF2-40B4-BE49-F238E27FC236}">
                <a16:creationId xmlns:a16="http://schemas.microsoft.com/office/drawing/2014/main" id="{D7939D2F-5893-186B-8EF8-EEA06FF8D733}"/>
              </a:ext>
            </a:extLst>
          </p:cNvPr>
          <p:cNvSpPr>
            <a:spLocks noGrp="1"/>
          </p:cNvSpPr>
          <p:nvPr>
            <p:ph idx="1"/>
          </p:nvPr>
        </p:nvSpPr>
        <p:spPr/>
        <p:txBody>
          <a:bodyPr/>
          <a:lstStyle/>
          <a:p>
            <a:pPr>
              <a:lnSpc>
                <a:spcPct val="150000"/>
              </a:lnSpc>
            </a:pPr>
            <a:r>
              <a:rPr lang="vi-VN"/>
              <a:t>Toán hạng là một dữ liệu được dùng để tính toán</a:t>
            </a:r>
          </a:p>
          <a:p>
            <a:pPr>
              <a:lnSpc>
                <a:spcPct val="150000"/>
              </a:lnSpc>
            </a:pPr>
            <a:r>
              <a:rPr lang="vi-VN"/>
              <a:t>MIPS có 3 loại toán hạng:</a:t>
            </a:r>
          </a:p>
          <a:p>
            <a:pPr lvl="1">
              <a:lnSpc>
                <a:spcPct val="150000"/>
              </a:lnSpc>
            </a:pPr>
            <a:r>
              <a:rPr lang="vi-VN"/>
              <a:t>Toán hạng thanh ghi: Dữ liệu nằm trong thanh ghi</a:t>
            </a:r>
          </a:p>
          <a:p>
            <a:pPr lvl="1">
              <a:lnSpc>
                <a:spcPct val="150000"/>
              </a:lnSpc>
            </a:pPr>
            <a:r>
              <a:rPr lang="vi-VN"/>
              <a:t>Toán hạng bộ nhớ: Dữ liệu nằm trong bộ nhớ</a:t>
            </a:r>
          </a:p>
          <a:p>
            <a:pPr lvl="1">
              <a:lnSpc>
                <a:spcPct val="150000"/>
              </a:lnSpc>
            </a:pPr>
            <a:r>
              <a:rPr lang="vi-VN"/>
              <a:t>Toán hạng số tức thời: Dữ liệu nằm ngay trong lệnh</a:t>
            </a:r>
          </a:p>
        </p:txBody>
      </p:sp>
      <p:sp>
        <p:nvSpPr>
          <p:cNvPr id="3" name="TextBox 2">
            <a:extLst>
              <a:ext uri="{FF2B5EF4-FFF2-40B4-BE49-F238E27FC236}">
                <a16:creationId xmlns:a16="http://schemas.microsoft.com/office/drawing/2014/main" id="{EFBD0598-D637-A203-5C94-F06BA8C48F01}"/>
              </a:ext>
            </a:extLst>
          </p:cNvPr>
          <p:cNvSpPr txBox="1"/>
          <p:nvPr/>
        </p:nvSpPr>
        <p:spPr>
          <a:xfrm>
            <a:off x="9127857" y="2756308"/>
            <a:ext cx="2287099" cy="461665"/>
          </a:xfrm>
          <a:prstGeom prst="rect">
            <a:avLst/>
          </a:prstGeom>
          <a:noFill/>
        </p:spPr>
        <p:txBody>
          <a:bodyPr wrap="square">
            <a:spAutoFit/>
          </a:bodyPr>
          <a:lstStyle/>
          <a:p>
            <a:r>
              <a:rPr lang="en-US" sz="2400" dirty="0">
                <a:solidFill>
                  <a:srgbClr val="FF0000"/>
                </a:solidFill>
                <a:latin typeface="Times New Roman" panose="02020603050405020304" pitchFamily="18" charset="0"/>
                <a:cs typeface="Times New Roman" panose="02020603050405020304" pitchFamily="18" charset="0"/>
              </a:rPr>
              <a:t>add</a:t>
            </a:r>
            <a:r>
              <a:rPr lang="en-US" sz="2400" dirty="0">
                <a:latin typeface="Times New Roman" panose="02020603050405020304" pitchFamily="18" charset="0"/>
                <a:cs typeface="Times New Roman" panose="02020603050405020304" pitchFamily="18" charset="0"/>
              </a:rPr>
              <a:t> </a:t>
            </a:r>
            <a:r>
              <a:rPr lang="en-US" sz="2400" dirty="0">
                <a:solidFill>
                  <a:srgbClr val="7030A0"/>
                </a:solidFill>
                <a:latin typeface="Times New Roman" panose="02020603050405020304" pitchFamily="18" charset="0"/>
                <a:cs typeface="Times New Roman" panose="02020603050405020304" pitchFamily="18" charset="0"/>
              </a:rPr>
              <a:t>$t0</a:t>
            </a:r>
            <a:r>
              <a:rPr lang="en-US" sz="2400" dirty="0">
                <a:latin typeface="Times New Roman" panose="02020603050405020304" pitchFamily="18" charset="0"/>
                <a:cs typeface="Times New Roman" panose="02020603050405020304" pitchFamily="18" charset="0"/>
              </a:rPr>
              <a:t>, </a:t>
            </a:r>
            <a:r>
              <a:rPr lang="en-US" sz="2400" dirty="0">
                <a:solidFill>
                  <a:srgbClr val="00B050"/>
                </a:solidFill>
                <a:latin typeface="Times New Roman" panose="02020603050405020304" pitchFamily="18" charset="0"/>
                <a:cs typeface="Times New Roman" panose="02020603050405020304" pitchFamily="18" charset="0"/>
              </a:rPr>
              <a:t>$s1</a:t>
            </a:r>
            <a:r>
              <a:rPr lang="en-US" sz="2400" dirty="0">
                <a:latin typeface="Times New Roman" panose="02020603050405020304" pitchFamily="18" charset="0"/>
                <a:cs typeface="Times New Roman" panose="02020603050405020304" pitchFamily="18" charset="0"/>
              </a:rPr>
              <a:t>, </a:t>
            </a:r>
            <a:r>
              <a:rPr lang="en-US" sz="2400" dirty="0">
                <a:solidFill>
                  <a:srgbClr val="FFC000"/>
                </a:solidFill>
                <a:latin typeface="Times New Roman" panose="02020603050405020304" pitchFamily="18" charset="0"/>
                <a:cs typeface="Times New Roman" panose="02020603050405020304" pitchFamily="18" charset="0"/>
              </a:rPr>
              <a:t>$s2</a:t>
            </a:r>
            <a:endParaRPr lang="en-US" sz="24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BE151A3B-3A27-7ACE-10D7-9522F24DB5B9}"/>
              </a:ext>
            </a:extLst>
          </p:cNvPr>
          <p:cNvSpPr txBox="1"/>
          <p:nvPr/>
        </p:nvSpPr>
        <p:spPr>
          <a:xfrm>
            <a:off x="8740030" y="3368043"/>
            <a:ext cx="2033455" cy="461665"/>
          </a:xfrm>
          <a:prstGeom prst="rect">
            <a:avLst/>
          </a:prstGeom>
          <a:noFill/>
        </p:spPr>
        <p:txBody>
          <a:bodyPr wrap="square">
            <a:spAutoFit/>
          </a:bodyPr>
          <a:lstStyle/>
          <a:p>
            <a:r>
              <a:rPr lang="en-US" sz="2400" dirty="0" err="1">
                <a:solidFill>
                  <a:srgbClr val="FF0000"/>
                </a:solidFill>
                <a:latin typeface="Times New Roman" panose="02020603050405020304" pitchFamily="18" charset="0"/>
                <a:cs typeface="Times New Roman" panose="02020603050405020304" pitchFamily="18" charset="0"/>
              </a:rPr>
              <a:t>lw</a:t>
            </a:r>
            <a:r>
              <a:rPr lang="en-US" sz="2400" dirty="0">
                <a:latin typeface="Times New Roman" panose="02020603050405020304" pitchFamily="18" charset="0"/>
                <a:cs typeface="Times New Roman" panose="02020603050405020304" pitchFamily="18" charset="0"/>
              </a:rPr>
              <a:t> </a:t>
            </a:r>
            <a:r>
              <a:rPr lang="en-US" sz="2400" dirty="0">
                <a:solidFill>
                  <a:srgbClr val="7030A0"/>
                </a:solidFill>
                <a:latin typeface="Times New Roman" panose="02020603050405020304" pitchFamily="18" charset="0"/>
                <a:cs typeface="Times New Roman" panose="02020603050405020304" pitchFamily="18" charset="0"/>
              </a:rPr>
              <a:t>$t0</a:t>
            </a:r>
            <a:r>
              <a:rPr lang="en-US" sz="2400" dirty="0">
                <a:latin typeface="Times New Roman" panose="02020603050405020304" pitchFamily="18" charset="0"/>
                <a:cs typeface="Times New Roman" panose="02020603050405020304" pitchFamily="18" charset="0"/>
              </a:rPr>
              <a:t>, </a:t>
            </a:r>
            <a:r>
              <a:rPr lang="en-US" sz="2400" dirty="0">
                <a:solidFill>
                  <a:srgbClr val="00B050"/>
                </a:solidFill>
                <a:latin typeface="Times New Roman" panose="02020603050405020304" pitchFamily="18" charset="0"/>
                <a:cs typeface="Times New Roman" panose="02020603050405020304" pitchFamily="18" charset="0"/>
              </a:rPr>
              <a:t>-8</a:t>
            </a:r>
            <a:r>
              <a:rPr lang="en-US" sz="2400" dirty="0">
                <a:solidFill>
                  <a:srgbClr val="FFC000"/>
                </a:solidFill>
                <a:latin typeface="Times New Roman" panose="02020603050405020304" pitchFamily="18" charset="0"/>
                <a:cs typeface="Times New Roman" panose="02020603050405020304" pitchFamily="18" charset="0"/>
              </a:rPr>
              <a:t>($s2)</a:t>
            </a:r>
            <a:endParaRPr lang="en-US" sz="24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8D02F967-E87A-F075-CB46-64F58A8B37FA}"/>
              </a:ext>
            </a:extLst>
          </p:cNvPr>
          <p:cNvSpPr txBox="1"/>
          <p:nvPr/>
        </p:nvSpPr>
        <p:spPr>
          <a:xfrm>
            <a:off x="9127857" y="3979778"/>
            <a:ext cx="2287099" cy="461665"/>
          </a:xfrm>
          <a:prstGeom prst="rect">
            <a:avLst/>
          </a:prstGeom>
          <a:noFill/>
        </p:spPr>
        <p:txBody>
          <a:bodyPr wrap="square">
            <a:spAutoFit/>
          </a:bodyPr>
          <a:lstStyle/>
          <a:p>
            <a:r>
              <a:rPr lang="en-US" sz="2400" dirty="0" err="1">
                <a:solidFill>
                  <a:srgbClr val="FF0000"/>
                </a:solidFill>
                <a:latin typeface="Times New Roman" panose="02020603050405020304" pitchFamily="18" charset="0"/>
                <a:cs typeface="Times New Roman" panose="02020603050405020304" pitchFamily="18" charset="0"/>
              </a:rPr>
              <a:t>andi</a:t>
            </a:r>
            <a:r>
              <a:rPr lang="en-US" sz="2400" dirty="0">
                <a:latin typeface="Times New Roman" panose="02020603050405020304" pitchFamily="18" charset="0"/>
                <a:cs typeface="Times New Roman" panose="02020603050405020304" pitchFamily="18" charset="0"/>
              </a:rPr>
              <a:t> </a:t>
            </a:r>
            <a:r>
              <a:rPr lang="en-US" sz="2400" dirty="0">
                <a:solidFill>
                  <a:srgbClr val="7030A0"/>
                </a:solidFill>
                <a:latin typeface="Times New Roman" panose="02020603050405020304" pitchFamily="18" charset="0"/>
                <a:cs typeface="Times New Roman" panose="02020603050405020304" pitchFamily="18" charset="0"/>
              </a:rPr>
              <a:t>$t0</a:t>
            </a:r>
            <a:r>
              <a:rPr lang="en-US" sz="2400" dirty="0">
                <a:latin typeface="Times New Roman" panose="02020603050405020304" pitchFamily="18" charset="0"/>
                <a:cs typeface="Times New Roman" panose="02020603050405020304" pitchFamily="18" charset="0"/>
              </a:rPr>
              <a:t>, </a:t>
            </a:r>
            <a:r>
              <a:rPr lang="en-US" sz="2400" dirty="0">
                <a:solidFill>
                  <a:srgbClr val="FFC000"/>
                </a:solidFill>
                <a:latin typeface="Times New Roman" panose="02020603050405020304" pitchFamily="18" charset="0"/>
                <a:cs typeface="Times New Roman" panose="02020603050405020304" pitchFamily="18" charset="0"/>
              </a:rPr>
              <a:t>$s2</a:t>
            </a:r>
            <a:r>
              <a:rPr lang="en-US" sz="2400" dirty="0">
                <a:latin typeface="Times New Roman" panose="02020603050405020304" pitchFamily="18" charset="0"/>
                <a:cs typeface="Times New Roman" panose="02020603050405020304" pitchFamily="18" charset="0"/>
              </a:rPr>
              <a:t>, </a:t>
            </a:r>
            <a:r>
              <a:rPr lang="en-US" sz="2400" dirty="0">
                <a:solidFill>
                  <a:srgbClr val="00B050"/>
                </a:solidFill>
                <a:latin typeface="Times New Roman" panose="02020603050405020304" pitchFamily="18" charset="0"/>
                <a:cs typeface="Times New Roman" panose="02020603050405020304" pitchFamily="18" charset="0"/>
              </a:rPr>
              <a:t>-8</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2744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7"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a:bodyPr>
          <a:lstStyle/>
          <a:p>
            <a:r>
              <a:rPr lang="en-US"/>
              <a:t>Toán hạng thanh ghi </a:t>
            </a:r>
            <a:endParaRPr lang="en-VN" sz="3600"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33</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8" name="Content Placeholder 7">
            <a:extLst>
              <a:ext uri="{FF2B5EF4-FFF2-40B4-BE49-F238E27FC236}">
                <a16:creationId xmlns:a16="http://schemas.microsoft.com/office/drawing/2014/main" id="{D7939D2F-5893-186B-8EF8-EEA06FF8D733}"/>
              </a:ext>
            </a:extLst>
          </p:cNvPr>
          <p:cNvSpPr>
            <a:spLocks noGrp="1"/>
          </p:cNvSpPr>
          <p:nvPr>
            <p:ph idx="1"/>
          </p:nvPr>
        </p:nvSpPr>
        <p:spPr/>
        <p:txBody>
          <a:bodyPr>
            <a:normAutofit fontScale="92500" lnSpcReduction="10000"/>
          </a:bodyPr>
          <a:lstStyle/>
          <a:p>
            <a:pPr>
              <a:lnSpc>
                <a:spcPct val="150000"/>
              </a:lnSpc>
            </a:pPr>
            <a:r>
              <a:rPr lang="vi-VN" dirty="0"/>
              <a:t>Kiến trúc thanh ghi - thanh ghi: Tính toán trên thanh ghi</a:t>
            </a:r>
          </a:p>
          <a:p>
            <a:pPr>
              <a:lnSpc>
                <a:spcPct val="150000"/>
              </a:lnSpc>
            </a:pPr>
            <a:r>
              <a:rPr lang="vi-VN" dirty="0"/>
              <a:t>MIPS có 32 thanh ghi 32 bit</a:t>
            </a:r>
          </a:p>
          <a:p>
            <a:pPr lvl="1">
              <a:lnSpc>
                <a:spcPct val="150000"/>
              </a:lnSpc>
            </a:pPr>
            <a:r>
              <a:rPr lang="vi-VN" dirty="0"/>
              <a:t>Sử dụng cho truy xuất dữ liệu tạm</a:t>
            </a:r>
          </a:p>
          <a:p>
            <a:pPr lvl="1">
              <a:lnSpc>
                <a:spcPct val="150000"/>
              </a:lnSpc>
            </a:pPr>
            <a:r>
              <a:rPr lang="vi-VN" dirty="0"/>
              <a:t>Được đánh số (địa chỉ) từ 0 đến 31</a:t>
            </a:r>
          </a:p>
          <a:p>
            <a:pPr lvl="1">
              <a:lnSpc>
                <a:spcPct val="150000"/>
              </a:lnSpc>
            </a:pPr>
            <a:r>
              <a:rPr lang="vi-VN" dirty="0"/>
              <a:t>Kiểu dữ liệu 32 bit (word)</a:t>
            </a:r>
          </a:p>
          <a:p>
            <a:pPr>
              <a:lnSpc>
                <a:spcPct val="150000"/>
              </a:lnSpc>
            </a:pPr>
            <a:r>
              <a:rPr lang="vi-VN" dirty="0"/>
              <a:t>Tên gợi nhớ: Tiền tố $ theo sau là chỉ số hoặc tên ($2 hay $sp)</a:t>
            </a:r>
          </a:p>
          <a:p>
            <a:pPr lvl="1">
              <a:lnSpc>
                <a:spcPct val="150000"/>
              </a:lnSpc>
            </a:pPr>
            <a:r>
              <a:rPr lang="vi-VN" dirty="0"/>
              <a:t>$t0, $t1, …, $t9 cho các dữ liệu tạm</a:t>
            </a:r>
          </a:p>
          <a:p>
            <a:pPr lvl="1">
              <a:lnSpc>
                <a:spcPct val="150000"/>
              </a:lnSpc>
            </a:pPr>
            <a:r>
              <a:rPr lang="vi-VN" dirty="0"/>
              <a:t>$s0, $s1, …, $s7 cho lưu trữ các biến, dữ liệu bền vững</a:t>
            </a:r>
          </a:p>
          <a:p>
            <a:pPr lvl="1">
              <a:lnSpc>
                <a:spcPct val="150000"/>
              </a:lnSpc>
            </a:pPr>
            <a:r>
              <a:rPr lang="vi-VN" dirty="0"/>
              <a:t>$v0, $v1, $k1, … cho các mục đích đặc biệt khác</a:t>
            </a:r>
          </a:p>
        </p:txBody>
      </p:sp>
      <p:sp>
        <p:nvSpPr>
          <p:cNvPr id="6" name="TextBox 5">
            <a:extLst>
              <a:ext uri="{FF2B5EF4-FFF2-40B4-BE49-F238E27FC236}">
                <a16:creationId xmlns:a16="http://schemas.microsoft.com/office/drawing/2014/main" id="{3E55BFC5-3CDF-BF01-55E4-89083FBF437E}"/>
              </a:ext>
            </a:extLst>
          </p:cNvPr>
          <p:cNvSpPr txBox="1"/>
          <p:nvPr/>
        </p:nvSpPr>
        <p:spPr>
          <a:xfrm>
            <a:off x="7075505" y="2826327"/>
            <a:ext cx="4278092" cy="461665"/>
          </a:xfrm>
          <a:prstGeom prst="rect">
            <a:avLst/>
          </a:prstGeom>
          <a:noFill/>
        </p:spPr>
        <p:txBody>
          <a:bodyPr wrap="square">
            <a:spAutoFit/>
          </a:bodyPr>
          <a:lstStyle/>
          <a:p>
            <a:pPr marL="0" indent="0" algn="ctr">
              <a:buNone/>
            </a:pPr>
            <a:r>
              <a:rPr lang="en-US" sz="2400" dirty="0">
                <a:latin typeface="Arial" panose="020B0604020202020204" pitchFamily="34" charset="0"/>
                <a:cs typeface="Arial" panose="020B0604020202020204" pitchFamily="34" charset="0"/>
              </a:rPr>
              <a:t>F = (A + B) – (C + D)</a:t>
            </a:r>
          </a:p>
        </p:txBody>
      </p:sp>
    </p:spTree>
    <p:extLst>
      <p:ext uri="{BB962C8B-B14F-4D97-AF65-F5344CB8AC3E}">
        <p14:creationId xmlns:p14="http://schemas.microsoft.com/office/powerpoint/2010/main" val="31845669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a:bodyPr>
          <a:lstStyle/>
          <a:p>
            <a:r>
              <a:rPr lang="en-US"/>
              <a:t>Toán hạng thanh ghi (tt)</a:t>
            </a:r>
            <a:endParaRPr lang="en-VN" sz="3600"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34</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pic>
        <p:nvPicPr>
          <p:cNvPr id="7" name="Picture 2">
            <a:extLst>
              <a:ext uri="{FF2B5EF4-FFF2-40B4-BE49-F238E27FC236}">
                <a16:creationId xmlns:a16="http://schemas.microsoft.com/office/drawing/2014/main" id="{FC04023C-D55E-EC21-2C3B-22A7D71BAC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1584" y="1045751"/>
            <a:ext cx="7938025" cy="5160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535625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a:bodyPr>
          <a:lstStyle/>
          <a:p>
            <a:r>
              <a:rPr lang="en-US"/>
              <a:t>Toán hạng thanh ghi </a:t>
            </a:r>
            <a:endParaRPr lang="en-VN" sz="3600"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35</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7" name="TextBox 6">
            <a:extLst>
              <a:ext uri="{FF2B5EF4-FFF2-40B4-BE49-F238E27FC236}">
                <a16:creationId xmlns:a16="http://schemas.microsoft.com/office/drawing/2014/main" id="{442D5B49-D1E7-25B9-D2DC-7A1692C6D4DD}"/>
              </a:ext>
            </a:extLst>
          </p:cNvPr>
          <p:cNvSpPr txBox="1"/>
          <p:nvPr/>
        </p:nvSpPr>
        <p:spPr>
          <a:xfrm>
            <a:off x="2828105" y="3329628"/>
            <a:ext cx="2701270" cy="461665"/>
          </a:xfrm>
          <a:prstGeom prst="rect">
            <a:avLst/>
          </a:prstGeom>
          <a:noFill/>
        </p:spPr>
        <p:txBody>
          <a:bodyPr wrap="square">
            <a:spAutoFit/>
          </a:bodyPr>
          <a:lstStyle/>
          <a:p>
            <a:pPr algn="ctr"/>
            <a:r>
              <a:rPr lang="en-US" sz="2400" dirty="0">
                <a:solidFill>
                  <a:srgbClr val="FF0000"/>
                </a:solidFill>
                <a:latin typeface="Times New Roman" panose="02020603050405020304" pitchFamily="18" charset="0"/>
                <a:cs typeface="Times New Roman" panose="02020603050405020304" pitchFamily="18" charset="0"/>
              </a:rPr>
              <a:t>add </a:t>
            </a:r>
            <a:r>
              <a:rPr lang="en-US" sz="2400" dirty="0">
                <a:solidFill>
                  <a:srgbClr val="7030A0"/>
                </a:solidFill>
                <a:latin typeface="Times New Roman" panose="02020603050405020304" pitchFamily="18" charset="0"/>
                <a:cs typeface="Times New Roman" panose="02020603050405020304" pitchFamily="18" charset="0"/>
              </a:rPr>
              <a:t>$ra</a:t>
            </a:r>
            <a:r>
              <a:rPr lang="en-US" sz="2400" dirty="0">
                <a:latin typeface="Times New Roman" panose="02020603050405020304" pitchFamily="18" charset="0"/>
                <a:cs typeface="Times New Roman" panose="02020603050405020304" pitchFamily="18" charset="0"/>
              </a:rPr>
              <a:t>,</a:t>
            </a:r>
            <a:r>
              <a:rPr lang="en-US" sz="2400" dirty="0">
                <a:solidFill>
                  <a:srgbClr val="FF0000"/>
                </a:solidFill>
                <a:latin typeface="Times New Roman" panose="02020603050405020304" pitchFamily="18" charset="0"/>
                <a:cs typeface="Times New Roman" panose="02020603050405020304" pitchFamily="18" charset="0"/>
              </a:rPr>
              <a:t> </a:t>
            </a:r>
            <a:r>
              <a:rPr lang="en-US" sz="2400" dirty="0">
                <a:solidFill>
                  <a:srgbClr val="00B050"/>
                </a:solidFill>
                <a:latin typeface="Times New Roman" panose="02020603050405020304" pitchFamily="18" charset="0"/>
                <a:cs typeface="Times New Roman" panose="02020603050405020304" pitchFamily="18" charset="0"/>
              </a:rPr>
              <a:t>$0</a:t>
            </a:r>
            <a:r>
              <a:rPr lang="en-US" sz="2400" dirty="0">
                <a:latin typeface="Times New Roman" panose="02020603050405020304" pitchFamily="18" charset="0"/>
                <a:cs typeface="Times New Roman" panose="02020603050405020304" pitchFamily="18" charset="0"/>
              </a:rPr>
              <a:t>,</a:t>
            </a:r>
            <a:r>
              <a:rPr lang="en-US" sz="2400" dirty="0">
                <a:solidFill>
                  <a:srgbClr val="FF0000"/>
                </a:solidFill>
                <a:latin typeface="Times New Roman" panose="02020603050405020304" pitchFamily="18" charset="0"/>
                <a:cs typeface="Times New Roman" panose="02020603050405020304" pitchFamily="18" charset="0"/>
              </a:rPr>
              <a:t> </a:t>
            </a:r>
            <a:r>
              <a:rPr lang="en-US" sz="2400" dirty="0">
                <a:solidFill>
                  <a:srgbClr val="FFC000"/>
                </a:solidFill>
                <a:latin typeface="Times New Roman" panose="02020603050405020304" pitchFamily="18" charset="0"/>
                <a:cs typeface="Times New Roman" panose="02020603050405020304" pitchFamily="18" charset="0"/>
              </a:rPr>
              <a:t>$t3</a:t>
            </a:r>
          </a:p>
        </p:txBody>
      </p:sp>
      <p:graphicFrame>
        <p:nvGraphicFramePr>
          <p:cNvPr id="9" name="Table 8">
            <a:extLst>
              <a:ext uri="{FF2B5EF4-FFF2-40B4-BE49-F238E27FC236}">
                <a16:creationId xmlns:a16="http://schemas.microsoft.com/office/drawing/2014/main" id="{AFB65633-FC03-66E8-CABB-A38EE802F071}"/>
              </a:ext>
            </a:extLst>
          </p:cNvPr>
          <p:cNvGraphicFramePr>
            <a:graphicFrameLocks noGrp="1"/>
          </p:cNvGraphicFramePr>
          <p:nvPr>
            <p:extLst>
              <p:ext uri="{D42A27DB-BD31-4B8C-83A1-F6EECF244321}">
                <p14:modId xmlns:p14="http://schemas.microsoft.com/office/powerpoint/2010/main" val="2851627685"/>
              </p:ext>
            </p:extLst>
          </p:nvPr>
        </p:nvGraphicFramePr>
        <p:xfrm>
          <a:off x="5698105" y="2025634"/>
          <a:ext cx="2849547" cy="3474720"/>
        </p:xfrm>
        <a:graphic>
          <a:graphicData uri="http://schemas.openxmlformats.org/drawingml/2006/table">
            <a:tbl>
              <a:tblPr firstRow="1" bandRow="1">
                <a:tableStyleId>{5940675A-B579-460E-94D1-54222C63F5DA}</a:tableStyleId>
              </a:tblPr>
              <a:tblGrid>
                <a:gridCol w="637845">
                  <a:extLst>
                    <a:ext uri="{9D8B030D-6E8A-4147-A177-3AD203B41FA5}">
                      <a16:colId xmlns:a16="http://schemas.microsoft.com/office/drawing/2014/main" val="1863503286"/>
                    </a:ext>
                  </a:extLst>
                </a:gridCol>
                <a:gridCol w="976745">
                  <a:extLst>
                    <a:ext uri="{9D8B030D-6E8A-4147-A177-3AD203B41FA5}">
                      <a16:colId xmlns:a16="http://schemas.microsoft.com/office/drawing/2014/main" val="214999160"/>
                    </a:ext>
                  </a:extLst>
                </a:gridCol>
                <a:gridCol w="1234957">
                  <a:extLst>
                    <a:ext uri="{9D8B030D-6E8A-4147-A177-3AD203B41FA5}">
                      <a16:colId xmlns:a16="http://schemas.microsoft.com/office/drawing/2014/main" val="2881651574"/>
                    </a:ext>
                  </a:extLst>
                </a:gridCol>
              </a:tblGrid>
              <a:tr h="434340">
                <a:tc>
                  <a:txBody>
                    <a:bodyPr/>
                    <a:lstStyle/>
                    <a:p>
                      <a:pPr algn="ctr"/>
                      <a:r>
                        <a:rPr lang="en-US" sz="2400" b="1" dirty="0" err="1">
                          <a:latin typeface="Times New Roman" panose="02020603050405020304" pitchFamily="18" charset="0"/>
                          <a:cs typeface="Times New Roman" panose="02020603050405020304" pitchFamily="18" charset="0"/>
                        </a:rPr>
                        <a:t>Số</a:t>
                      </a:r>
                      <a:endParaRPr lang="en-US" sz="2400" b="1" dirty="0">
                        <a:latin typeface="Times New Roman" panose="02020603050405020304" pitchFamily="18" charset="0"/>
                        <a:cs typeface="Times New Roman" panose="02020603050405020304" pitchFamily="18" charset="0"/>
                      </a:endParaRPr>
                    </a:p>
                  </a:txBody>
                  <a:tcPr marL="68580" marR="68580" marT="34290" marB="34290"/>
                </a:tc>
                <a:tc>
                  <a:txBody>
                    <a:bodyPr/>
                    <a:lstStyle/>
                    <a:p>
                      <a:pPr algn="ctr"/>
                      <a:r>
                        <a:rPr lang="en-US" sz="2400" b="1" dirty="0" err="1">
                          <a:latin typeface="Times New Roman" panose="02020603050405020304" pitchFamily="18" charset="0"/>
                          <a:cs typeface="Times New Roman" panose="02020603050405020304" pitchFamily="18" charset="0"/>
                        </a:rPr>
                        <a:t>Tên</a:t>
                      </a:r>
                      <a:endParaRPr lang="en-US" sz="2400" b="1" dirty="0">
                        <a:latin typeface="Times New Roman" panose="02020603050405020304" pitchFamily="18" charset="0"/>
                        <a:cs typeface="Times New Roman" panose="02020603050405020304" pitchFamily="18" charset="0"/>
                      </a:endParaRPr>
                    </a:p>
                  </a:txBody>
                  <a:tcPr marL="68580" marR="68580" marT="34290" marB="34290"/>
                </a:tc>
                <a:tc>
                  <a:txBody>
                    <a:bodyPr/>
                    <a:lstStyle/>
                    <a:p>
                      <a:pPr algn="ctr"/>
                      <a:r>
                        <a:rPr lang="en-US" sz="2400" b="1">
                          <a:latin typeface="Times New Roman" panose="02020603050405020304" pitchFamily="18" charset="0"/>
                          <a:cs typeface="Times New Roman" panose="02020603050405020304" pitchFamily="18" charset="0"/>
                        </a:rPr>
                        <a:t>Giá trị</a:t>
                      </a:r>
                      <a:endParaRPr lang="en-US" sz="2400" b="1" dirty="0">
                        <a:latin typeface="Times New Roman" panose="02020603050405020304" pitchFamily="18" charset="0"/>
                        <a:cs typeface="Times New Roman" panose="02020603050405020304" pitchFamily="18" charset="0"/>
                      </a:endParaRPr>
                    </a:p>
                  </a:txBody>
                  <a:tcPr marL="68580" marR="68580" marT="34290" marB="34290"/>
                </a:tc>
                <a:extLst>
                  <a:ext uri="{0D108BD9-81ED-4DB2-BD59-A6C34878D82A}">
                    <a16:rowId xmlns:a16="http://schemas.microsoft.com/office/drawing/2014/main" val="3891604564"/>
                  </a:ext>
                </a:extLst>
              </a:tr>
              <a:tr h="434340">
                <a:tc>
                  <a:txBody>
                    <a:bodyPr/>
                    <a:lstStyle/>
                    <a:p>
                      <a:pPr algn="ctr"/>
                      <a:r>
                        <a:rPr lang="en-US" sz="2400" dirty="0">
                          <a:latin typeface="Times New Roman" panose="02020603050405020304" pitchFamily="18" charset="0"/>
                          <a:cs typeface="Times New Roman" panose="02020603050405020304" pitchFamily="18" charset="0"/>
                        </a:rPr>
                        <a:t>0</a:t>
                      </a:r>
                    </a:p>
                  </a:txBody>
                  <a:tcPr marL="68580" marR="68580" marT="34290" marB="34290"/>
                </a:tc>
                <a:tc>
                  <a:txBody>
                    <a:bodyPr/>
                    <a:lstStyle/>
                    <a:p>
                      <a:pPr algn="ctr"/>
                      <a:r>
                        <a:rPr lang="en-US" sz="2400" dirty="0">
                          <a:latin typeface="Times New Roman" panose="02020603050405020304" pitchFamily="18" charset="0"/>
                          <a:cs typeface="Times New Roman" panose="02020603050405020304" pitchFamily="18" charset="0"/>
                        </a:rPr>
                        <a:t>$zero</a:t>
                      </a:r>
                    </a:p>
                  </a:txBody>
                  <a:tcPr marL="68580" marR="68580" marT="34290" marB="34290"/>
                </a:tc>
                <a:tc>
                  <a:txBody>
                    <a:bodyPr/>
                    <a:lstStyle/>
                    <a:p>
                      <a:pPr algn="ctr"/>
                      <a:r>
                        <a:rPr lang="en-US" sz="2400">
                          <a:latin typeface="Times New Roman" panose="02020603050405020304" pitchFamily="18" charset="0"/>
                          <a:cs typeface="Times New Roman" panose="02020603050405020304" pitchFamily="18" charset="0"/>
                        </a:rPr>
                        <a:t>0x0</a:t>
                      </a:r>
                      <a:endParaRPr lang="en-US" sz="2400" dirty="0">
                        <a:latin typeface="Times New Roman" panose="02020603050405020304" pitchFamily="18" charset="0"/>
                        <a:cs typeface="Times New Roman" panose="02020603050405020304" pitchFamily="18" charset="0"/>
                      </a:endParaRPr>
                    </a:p>
                  </a:txBody>
                  <a:tcPr marL="68580" marR="68580" marT="34290" marB="34290"/>
                </a:tc>
                <a:extLst>
                  <a:ext uri="{0D108BD9-81ED-4DB2-BD59-A6C34878D82A}">
                    <a16:rowId xmlns:a16="http://schemas.microsoft.com/office/drawing/2014/main" val="1745812726"/>
                  </a:ext>
                </a:extLst>
              </a:tr>
              <a:tr h="434340">
                <a:tc>
                  <a:txBody>
                    <a:bodyPr/>
                    <a:lstStyle/>
                    <a:p>
                      <a:pPr algn="ctr"/>
                      <a:r>
                        <a:rPr lang="en-US" sz="2400" dirty="0">
                          <a:latin typeface="Times New Roman" panose="02020603050405020304" pitchFamily="18" charset="0"/>
                          <a:cs typeface="Times New Roman" panose="02020603050405020304" pitchFamily="18" charset="0"/>
                        </a:rPr>
                        <a:t>1</a:t>
                      </a:r>
                    </a:p>
                  </a:txBody>
                  <a:tcPr marL="68580" marR="68580" marT="34290" marB="34290"/>
                </a:tc>
                <a:tc>
                  <a:txBody>
                    <a:bodyPr/>
                    <a:lstStyle/>
                    <a:p>
                      <a:pPr algn="ctr"/>
                      <a:r>
                        <a:rPr lang="en-US" sz="2400" dirty="0">
                          <a:latin typeface="Times New Roman" panose="02020603050405020304" pitchFamily="18" charset="0"/>
                          <a:cs typeface="Times New Roman" panose="02020603050405020304" pitchFamily="18" charset="0"/>
                        </a:rPr>
                        <a:t>$at</a:t>
                      </a:r>
                    </a:p>
                  </a:txBody>
                  <a:tcPr marL="68580" marR="68580" marT="34290" marB="34290"/>
                </a:tc>
                <a:tc>
                  <a:txBody>
                    <a:bodyPr/>
                    <a:lstStyle/>
                    <a:p>
                      <a:pPr algn="ctr"/>
                      <a:endParaRPr lang="en-US" sz="2400" dirty="0">
                        <a:latin typeface="Times New Roman" panose="02020603050405020304" pitchFamily="18" charset="0"/>
                        <a:cs typeface="Times New Roman" panose="02020603050405020304" pitchFamily="18" charset="0"/>
                      </a:endParaRPr>
                    </a:p>
                  </a:txBody>
                  <a:tcPr marL="68580" marR="68580" marT="34290" marB="34290"/>
                </a:tc>
                <a:extLst>
                  <a:ext uri="{0D108BD9-81ED-4DB2-BD59-A6C34878D82A}">
                    <a16:rowId xmlns:a16="http://schemas.microsoft.com/office/drawing/2014/main" val="2492345323"/>
                  </a:ext>
                </a:extLst>
              </a:tr>
              <a:tr h="434340">
                <a:tc>
                  <a:txBody>
                    <a:bodyPr/>
                    <a:lstStyle/>
                    <a:p>
                      <a:pPr algn="ctr"/>
                      <a:r>
                        <a:rPr lang="en-US" sz="2400" dirty="0">
                          <a:latin typeface="Times New Roman" panose="02020603050405020304" pitchFamily="18" charset="0"/>
                          <a:cs typeface="Times New Roman" panose="02020603050405020304" pitchFamily="18" charset="0"/>
                        </a:rPr>
                        <a:t>…</a:t>
                      </a:r>
                    </a:p>
                  </a:txBody>
                  <a:tcPr marL="68580" marR="68580" marT="34290" marB="34290"/>
                </a:tc>
                <a:tc>
                  <a:txBody>
                    <a:bodyPr/>
                    <a:lstStyle/>
                    <a:p>
                      <a:pPr algn="ctr"/>
                      <a:r>
                        <a:rPr lang="en-US" sz="2400" dirty="0">
                          <a:latin typeface="Times New Roman" panose="02020603050405020304" pitchFamily="18" charset="0"/>
                          <a:cs typeface="Times New Roman" panose="02020603050405020304" pitchFamily="18" charset="0"/>
                        </a:rPr>
                        <a:t>…</a:t>
                      </a:r>
                    </a:p>
                  </a:txBody>
                  <a:tcPr marL="68580" marR="68580" marT="34290" marB="34290"/>
                </a:tc>
                <a:tc>
                  <a:txBody>
                    <a:bodyPr/>
                    <a:lstStyle/>
                    <a:p>
                      <a:pPr algn="ctr"/>
                      <a:endParaRPr lang="en-US" sz="2400" dirty="0">
                        <a:latin typeface="Times New Roman" panose="02020603050405020304" pitchFamily="18" charset="0"/>
                        <a:cs typeface="Times New Roman" panose="02020603050405020304" pitchFamily="18" charset="0"/>
                      </a:endParaRPr>
                    </a:p>
                  </a:txBody>
                  <a:tcPr marL="68580" marR="68580" marT="34290" marB="34290"/>
                </a:tc>
                <a:extLst>
                  <a:ext uri="{0D108BD9-81ED-4DB2-BD59-A6C34878D82A}">
                    <a16:rowId xmlns:a16="http://schemas.microsoft.com/office/drawing/2014/main" val="3953967968"/>
                  </a:ext>
                </a:extLst>
              </a:tr>
              <a:tr h="434340">
                <a:tc>
                  <a:txBody>
                    <a:bodyPr/>
                    <a:lstStyle/>
                    <a:p>
                      <a:pPr algn="ctr"/>
                      <a:r>
                        <a:rPr lang="en-US" sz="2400" dirty="0">
                          <a:latin typeface="Times New Roman" panose="02020603050405020304" pitchFamily="18" charset="0"/>
                          <a:cs typeface="Times New Roman" panose="02020603050405020304" pitchFamily="18" charset="0"/>
                        </a:rPr>
                        <a:t>11</a:t>
                      </a:r>
                    </a:p>
                  </a:txBody>
                  <a:tcPr marL="68580" marR="68580" marT="34290" marB="34290"/>
                </a:tc>
                <a:tc>
                  <a:txBody>
                    <a:bodyPr/>
                    <a:lstStyle/>
                    <a:p>
                      <a:pPr algn="ctr"/>
                      <a:r>
                        <a:rPr lang="en-US" sz="2400" dirty="0">
                          <a:latin typeface="Times New Roman" panose="02020603050405020304" pitchFamily="18" charset="0"/>
                          <a:cs typeface="Times New Roman" panose="02020603050405020304" pitchFamily="18" charset="0"/>
                        </a:rPr>
                        <a:t>$t3</a:t>
                      </a:r>
                    </a:p>
                  </a:txBody>
                  <a:tcPr marL="68580" marR="68580" marT="34290" marB="34290"/>
                </a:tc>
                <a:tc>
                  <a:txBody>
                    <a:bodyPr/>
                    <a:lstStyle/>
                    <a:p>
                      <a:pPr algn="ctr"/>
                      <a:r>
                        <a:rPr lang="en-US" sz="2400">
                          <a:latin typeface="Times New Roman" panose="02020603050405020304" pitchFamily="18" charset="0"/>
                          <a:cs typeface="Times New Roman" panose="02020603050405020304" pitchFamily="18" charset="0"/>
                        </a:rPr>
                        <a:t>0x12</a:t>
                      </a:r>
                      <a:endParaRPr lang="en-US" sz="2400" dirty="0">
                        <a:latin typeface="Times New Roman" panose="02020603050405020304" pitchFamily="18" charset="0"/>
                        <a:cs typeface="Times New Roman" panose="02020603050405020304" pitchFamily="18" charset="0"/>
                      </a:endParaRPr>
                    </a:p>
                  </a:txBody>
                  <a:tcPr marL="68580" marR="68580" marT="34290" marB="34290"/>
                </a:tc>
                <a:extLst>
                  <a:ext uri="{0D108BD9-81ED-4DB2-BD59-A6C34878D82A}">
                    <a16:rowId xmlns:a16="http://schemas.microsoft.com/office/drawing/2014/main" val="2095912589"/>
                  </a:ext>
                </a:extLst>
              </a:tr>
              <a:tr h="434340">
                <a:tc>
                  <a:txBody>
                    <a:bodyPr/>
                    <a:lstStyle/>
                    <a:p>
                      <a:pPr algn="ctr"/>
                      <a:r>
                        <a:rPr lang="en-US" sz="2400" dirty="0">
                          <a:latin typeface="Times New Roman" panose="02020603050405020304" pitchFamily="18" charset="0"/>
                          <a:cs typeface="Times New Roman" panose="02020603050405020304" pitchFamily="18" charset="0"/>
                        </a:rPr>
                        <a:t>…</a:t>
                      </a:r>
                    </a:p>
                  </a:txBody>
                  <a:tcPr marL="68580" marR="68580" marT="34290" marB="34290"/>
                </a:tc>
                <a:tc>
                  <a:txBody>
                    <a:bodyPr/>
                    <a:lstStyle/>
                    <a:p>
                      <a:pPr algn="ctr"/>
                      <a:r>
                        <a:rPr lang="en-US" sz="2400" dirty="0">
                          <a:latin typeface="Times New Roman" panose="02020603050405020304" pitchFamily="18" charset="0"/>
                          <a:cs typeface="Times New Roman" panose="02020603050405020304" pitchFamily="18" charset="0"/>
                        </a:rPr>
                        <a:t>…</a:t>
                      </a:r>
                    </a:p>
                  </a:txBody>
                  <a:tcPr marL="68580" marR="68580" marT="34290" marB="34290"/>
                </a:tc>
                <a:tc>
                  <a:txBody>
                    <a:bodyPr/>
                    <a:lstStyle/>
                    <a:p>
                      <a:pPr algn="ctr"/>
                      <a:endParaRPr lang="en-US" sz="2400" dirty="0">
                        <a:latin typeface="Times New Roman" panose="02020603050405020304" pitchFamily="18" charset="0"/>
                        <a:cs typeface="Times New Roman" panose="02020603050405020304" pitchFamily="18" charset="0"/>
                      </a:endParaRPr>
                    </a:p>
                  </a:txBody>
                  <a:tcPr marL="68580" marR="68580" marT="34290" marB="34290"/>
                </a:tc>
                <a:extLst>
                  <a:ext uri="{0D108BD9-81ED-4DB2-BD59-A6C34878D82A}">
                    <a16:rowId xmlns:a16="http://schemas.microsoft.com/office/drawing/2014/main" val="1799054398"/>
                  </a:ext>
                </a:extLst>
              </a:tr>
              <a:tr h="434340">
                <a:tc>
                  <a:txBody>
                    <a:bodyPr/>
                    <a:lstStyle/>
                    <a:p>
                      <a:pPr algn="ctr"/>
                      <a:r>
                        <a:rPr lang="en-US" sz="2400" dirty="0">
                          <a:latin typeface="Times New Roman" panose="02020603050405020304" pitchFamily="18" charset="0"/>
                          <a:cs typeface="Times New Roman" panose="02020603050405020304" pitchFamily="18" charset="0"/>
                        </a:rPr>
                        <a:t>30</a:t>
                      </a:r>
                    </a:p>
                  </a:txBody>
                  <a:tcPr marL="68580" marR="68580" marT="34290" marB="34290"/>
                </a:tc>
                <a:tc>
                  <a:txBody>
                    <a:bodyPr/>
                    <a:lstStyle/>
                    <a:p>
                      <a:pPr algn="ct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fp</a:t>
                      </a:r>
                      <a:endParaRPr lang="en-US" sz="2400" dirty="0">
                        <a:latin typeface="Times New Roman" panose="02020603050405020304" pitchFamily="18" charset="0"/>
                        <a:cs typeface="Times New Roman" panose="02020603050405020304" pitchFamily="18" charset="0"/>
                      </a:endParaRPr>
                    </a:p>
                  </a:txBody>
                  <a:tcPr marL="68580" marR="68580" marT="34290" marB="34290"/>
                </a:tc>
                <a:tc>
                  <a:txBody>
                    <a:bodyPr/>
                    <a:lstStyle/>
                    <a:p>
                      <a:pPr algn="ctr"/>
                      <a:endParaRPr lang="en-US" sz="2400" dirty="0">
                        <a:latin typeface="Times New Roman" panose="02020603050405020304" pitchFamily="18" charset="0"/>
                        <a:cs typeface="Times New Roman" panose="02020603050405020304" pitchFamily="18" charset="0"/>
                      </a:endParaRPr>
                    </a:p>
                  </a:txBody>
                  <a:tcPr marL="68580" marR="68580" marT="34290" marB="34290"/>
                </a:tc>
                <a:extLst>
                  <a:ext uri="{0D108BD9-81ED-4DB2-BD59-A6C34878D82A}">
                    <a16:rowId xmlns:a16="http://schemas.microsoft.com/office/drawing/2014/main" val="828125760"/>
                  </a:ext>
                </a:extLst>
              </a:tr>
              <a:tr h="434340">
                <a:tc>
                  <a:txBody>
                    <a:bodyPr/>
                    <a:lstStyle/>
                    <a:p>
                      <a:pPr algn="ctr"/>
                      <a:r>
                        <a:rPr lang="en-US" sz="2400" dirty="0">
                          <a:latin typeface="Times New Roman" panose="02020603050405020304" pitchFamily="18" charset="0"/>
                          <a:cs typeface="Times New Roman" panose="02020603050405020304" pitchFamily="18" charset="0"/>
                        </a:rPr>
                        <a:t>31</a:t>
                      </a:r>
                    </a:p>
                  </a:txBody>
                  <a:tcPr marL="68580" marR="68580" marT="34290" marB="34290"/>
                </a:tc>
                <a:tc>
                  <a:txBody>
                    <a:bodyPr/>
                    <a:lstStyle/>
                    <a:p>
                      <a:pPr algn="ctr"/>
                      <a:r>
                        <a:rPr lang="en-US" sz="2400" dirty="0">
                          <a:latin typeface="Times New Roman" panose="02020603050405020304" pitchFamily="18" charset="0"/>
                          <a:cs typeface="Times New Roman" panose="02020603050405020304" pitchFamily="18" charset="0"/>
                        </a:rPr>
                        <a:t>$ra</a:t>
                      </a:r>
                    </a:p>
                  </a:txBody>
                  <a:tcPr marL="68580" marR="68580" marT="34290" marB="34290"/>
                </a:tc>
                <a:tc>
                  <a:txBody>
                    <a:bodyPr/>
                    <a:lstStyle/>
                    <a:p>
                      <a:pPr algn="ctr"/>
                      <a:endParaRPr lang="en-US" sz="2400" dirty="0">
                        <a:latin typeface="Times New Roman" panose="02020603050405020304" pitchFamily="18" charset="0"/>
                        <a:cs typeface="Times New Roman" panose="02020603050405020304" pitchFamily="18" charset="0"/>
                      </a:endParaRPr>
                    </a:p>
                  </a:txBody>
                  <a:tcPr marL="68580" marR="68580" marT="34290" marB="34290"/>
                </a:tc>
                <a:extLst>
                  <a:ext uri="{0D108BD9-81ED-4DB2-BD59-A6C34878D82A}">
                    <a16:rowId xmlns:a16="http://schemas.microsoft.com/office/drawing/2014/main" val="291564869"/>
                  </a:ext>
                </a:extLst>
              </a:tr>
            </a:tbl>
          </a:graphicData>
        </a:graphic>
      </p:graphicFrame>
      <p:cxnSp>
        <p:nvCxnSpPr>
          <p:cNvPr id="10" name="Straight Arrow Connector 9">
            <a:extLst>
              <a:ext uri="{FF2B5EF4-FFF2-40B4-BE49-F238E27FC236}">
                <a16:creationId xmlns:a16="http://schemas.microsoft.com/office/drawing/2014/main" id="{036926BB-4ED3-72EC-794F-F54FE87A9BA8}"/>
              </a:ext>
            </a:extLst>
          </p:cNvPr>
          <p:cNvCxnSpPr>
            <a:cxnSpLocks/>
          </p:cNvCxnSpPr>
          <p:nvPr/>
        </p:nvCxnSpPr>
        <p:spPr>
          <a:xfrm>
            <a:off x="3991872" y="3775256"/>
            <a:ext cx="1773291" cy="1505640"/>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E952EEFA-8642-183A-0E97-51724269466D}"/>
              </a:ext>
            </a:extLst>
          </p:cNvPr>
          <p:cNvCxnSpPr>
            <a:cxnSpLocks/>
          </p:cNvCxnSpPr>
          <p:nvPr/>
        </p:nvCxnSpPr>
        <p:spPr>
          <a:xfrm flipV="1">
            <a:off x="4385512" y="2728838"/>
            <a:ext cx="1489619" cy="586176"/>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0CB302E6-A7D1-8D25-AD2A-25EFFA14895C}"/>
              </a:ext>
            </a:extLst>
          </p:cNvPr>
          <p:cNvCxnSpPr>
            <a:cxnSpLocks/>
          </p:cNvCxnSpPr>
          <p:nvPr/>
        </p:nvCxnSpPr>
        <p:spPr>
          <a:xfrm>
            <a:off x="5221201" y="3538321"/>
            <a:ext cx="543962" cy="378473"/>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3" name="TextBox 12">
            <a:extLst>
              <a:ext uri="{FF2B5EF4-FFF2-40B4-BE49-F238E27FC236}">
                <a16:creationId xmlns:a16="http://schemas.microsoft.com/office/drawing/2014/main" id="{3002A04A-3F4B-CA55-1F01-969720DDF7EA}"/>
              </a:ext>
            </a:extLst>
          </p:cNvPr>
          <p:cNvSpPr txBox="1"/>
          <p:nvPr/>
        </p:nvSpPr>
        <p:spPr>
          <a:xfrm>
            <a:off x="9091042" y="2081295"/>
            <a:ext cx="2133234" cy="830997"/>
          </a:xfrm>
          <a:prstGeom prst="rect">
            <a:avLst/>
          </a:prstGeom>
          <a:noFill/>
        </p:spPr>
        <p:txBody>
          <a:bodyPr wrap="square">
            <a:spAutoFit/>
          </a:bodyPr>
          <a:lstStyle/>
          <a:p>
            <a:pPr algn="ctr"/>
            <a:r>
              <a:rPr lang="en-US" sz="2400" dirty="0" err="1">
                <a:latin typeface="Times New Roman" panose="02020603050405020304" pitchFamily="18" charset="0"/>
                <a:cs typeface="Times New Roman" panose="02020603050405020304" pitchFamily="18" charset="0"/>
              </a:rPr>
              <a:t>Tập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thanh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ghi</a:t>
            </a:r>
            <a:endParaRPr lang="en-US" sz="2400" dirty="0">
              <a:latin typeface="Times New Roman" panose="02020603050405020304" pitchFamily="18" charset="0"/>
              <a:cs typeface="Times New Roman" panose="02020603050405020304" pitchFamily="18" charset="0"/>
            </a:endParaRPr>
          </a:p>
          <a:p>
            <a:pPr algn="ctr"/>
            <a:r>
              <a:rPr lang="en-US" sz="2400" dirty="0">
                <a:latin typeface="Times New Roman" panose="02020603050405020304" pitchFamily="18" charset="0"/>
                <a:cs typeface="Times New Roman" panose="02020603050405020304" pitchFamily="18" charset="0"/>
              </a:rPr>
              <a:t>(Register Files)</a:t>
            </a:r>
            <a:endParaRPr lang="en-US" sz="2400" dirty="0"/>
          </a:p>
        </p:txBody>
      </p:sp>
      <p:sp>
        <p:nvSpPr>
          <p:cNvPr id="14" name="Arc 13">
            <a:extLst>
              <a:ext uri="{FF2B5EF4-FFF2-40B4-BE49-F238E27FC236}">
                <a16:creationId xmlns:a16="http://schemas.microsoft.com/office/drawing/2014/main" id="{BF431A5E-320F-8D86-A123-F05A799CC976}"/>
              </a:ext>
            </a:extLst>
          </p:cNvPr>
          <p:cNvSpPr/>
          <p:nvPr/>
        </p:nvSpPr>
        <p:spPr>
          <a:xfrm rot="6157359">
            <a:off x="8466300" y="1930299"/>
            <a:ext cx="1497081" cy="1597081"/>
          </a:xfrm>
          <a:prstGeom prst="arc">
            <a:avLst>
              <a:gd name="adj1" fmla="val 16200000"/>
              <a:gd name="adj2" fmla="val 21136177"/>
            </a:avLst>
          </a:prstGeom>
          <a:ln w="12700">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sz="1350"/>
          </a:p>
        </p:txBody>
      </p:sp>
      <p:sp>
        <p:nvSpPr>
          <p:cNvPr id="15" name="Plus Sign 14">
            <a:extLst>
              <a:ext uri="{FF2B5EF4-FFF2-40B4-BE49-F238E27FC236}">
                <a16:creationId xmlns:a16="http://schemas.microsoft.com/office/drawing/2014/main" id="{6F06A2A5-DCC6-3564-0A6B-5CCAF0B14BE9}"/>
              </a:ext>
            </a:extLst>
          </p:cNvPr>
          <p:cNvSpPr/>
          <p:nvPr/>
        </p:nvSpPr>
        <p:spPr>
          <a:xfrm>
            <a:off x="9600250" y="3566367"/>
            <a:ext cx="422031" cy="438581"/>
          </a:xfrm>
          <a:prstGeom prst="mathPlus">
            <a:avLst/>
          </a:prstGeom>
          <a:solidFill>
            <a:schemeClr val="accent2"/>
          </a:solidFill>
          <a:ln>
            <a:solidFill>
              <a:schemeClr val="accent2"/>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350"/>
          </a:p>
        </p:txBody>
      </p:sp>
      <p:cxnSp>
        <p:nvCxnSpPr>
          <p:cNvPr id="16" name="Straight Arrow Connector 15">
            <a:extLst>
              <a:ext uri="{FF2B5EF4-FFF2-40B4-BE49-F238E27FC236}">
                <a16:creationId xmlns:a16="http://schemas.microsoft.com/office/drawing/2014/main" id="{006622D2-363A-75C7-3C74-DBB4FB1E330F}"/>
              </a:ext>
            </a:extLst>
          </p:cNvPr>
          <p:cNvCxnSpPr>
            <a:cxnSpLocks/>
          </p:cNvCxnSpPr>
          <p:nvPr/>
        </p:nvCxnSpPr>
        <p:spPr>
          <a:xfrm>
            <a:off x="8457740" y="2686609"/>
            <a:ext cx="1142510" cy="947183"/>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AD38480-E18A-D6AE-7EC5-899A38AC6C21}"/>
              </a:ext>
            </a:extLst>
          </p:cNvPr>
          <p:cNvCxnSpPr>
            <a:cxnSpLocks/>
          </p:cNvCxnSpPr>
          <p:nvPr/>
        </p:nvCxnSpPr>
        <p:spPr>
          <a:xfrm flipV="1">
            <a:off x="8459799" y="3851916"/>
            <a:ext cx="1044851" cy="129757"/>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8" name="Arc 17">
            <a:extLst>
              <a:ext uri="{FF2B5EF4-FFF2-40B4-BE49-F238E27FC236}">
                <a16:creationId xmlns:a16="http://schemas.microsoft.com/office/drawing/2014/main" id="{BADF30A7-81A3-483E-AAE1-74AD1EC11932}"/>
              </a:ext>
            </a:extLst>
          </p:cNvPr>
          <p:cNvSpPr/>
          <p:nvPr/>
        </p:nvSpPr>
        <p:spPr>
          <a:xfrm rot="3320727">
            <a:off x="8342970" y="3255590"/>
            <a:ext cx="1453748" cy="2519334"/>
          </a:xfrm>
          <a:prstGeom prst="arc">
            <a:avLst>
              <a:gd name="adj1" fmla="val 16200000"/>
              <a:gd name="adj2" fmla="val 4610311"/>
            </a:avLst>
          </a:prstGeom>
          <a:ln>
            <a:solidFill>
              <a:srgbClr val="7030A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19" name="TextBox 18">
            <a:extLst>
              <a:ext uri="{FF2B5EF4-FFF2-40B4-BE49-F238E27FC236}">
                <a16:creationId xmlns:a16="http://schemas.microsoft.com/office/drawing/2014/main" id="{E0D40271-2754-9F11-3945-5A6CDCA9F931}"/>
              </a:ext>
            </a:extLst>
          </p:cNvPr>
          <p:cNvSpPr txBox="1"/>
          <p:nvPr/>
        </p:nvSpPr>
        <p:spPr>
          <a:xfrm>
            <a:off x="2796851" y="4292008"/>
            <a:ext cx="8572501" cy="830997"/>
          </a:xfrm>
          <a:prstGeom prst="rect">
            <a:avLst/>
          </a:prstGeom>
          <a:solidFill>
            <a:srgbClr val="FFFF00"/>
          </a:solidFill>
        </p:spPr>
        <p:txBody>
          <a:bodyPr wrap="square">
            <a:spAutoFit/>
          </a:bodyPr>
          <a:lstStyle/>
          <a:p>
            <a:pPr algn="just"/>
            <a:r>
              <a:rPr lang="en-US" sz="2400" dirty="0" err="1">
                <a:latin typeface="Times New Roman" panose="02020603050405020304" pitchFamily="18" charset="0"/>
                <a:cs typeface="Times New Roman" panose="02020603050405020304" pitchFamily="18" charset="0"/>
              </a:rPr>
              <a:t>Tên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hoặc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số</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thanh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ghi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gợi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nhớ</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chỉ</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thanh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ghi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trong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tập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thanh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ghi</a:t>
            </a:r>
            <a:endParaRPr lang="en-US" sz="2400" dirty="0"/>
          </a:p>
        </p:txBody>
      </p:sp>
      <p:sp>
        <p:nvSpPr>
          <p:cNvPr id="20" name="TextBox 19">
            <a:extLst>
              <a:ext uri="{FF2B5EF4-FFF2-40B4-BE49-F238E27FC236}">
                <a16:creationId xmlns:a16="http://schemas.microsoft.com/office/drawing/2014/main" id="{336710A4-9DDE-210D-297F-077D684CF422}"/>
              </a:ext>
            </a:extLst>
          </p:cNvPr>
          <p:cNvSpPr txBox="1"/>
          <p:nvPr/>
        </p:nvSpPr>
        <p:spPr>
          <a:xfrm>
            <a:off x="7469319" y="5064416"/>
            <a:ext cx="910529" cy="461665"/>
          </a:xfrm>
          <a:prstGeom prst="rect">
            <a:avLst/>
          </a:prstGeom>
          <a:noFill/>
        </p:spPr>
        <p:txBody>
          <a:bodyPr wrap="square">
            <a:spAutoFit/>
          </a:bodyPr>
          <a:lstStyle/>
          <a:p>
            <a:pPr algn="ctr"/>
            <a:r>
              <a:rPr lang="en-US" sz="2400">
                <a:latin typeface="Times New Roman" panose="02020603050405020304" pitchFamily="18" charset="0"/>
                <a:cs typeface="Times New Roman" panose="02020603050405020304" pitchFamily="18" charset="0"/>
              </a:rPr>
              <a:t>0x12</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16637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anim calcmode="lin" valueType="num">
                                      <p:cBhvr additive="base">
                                        <p:cTn id="17" dur="500" fill="hold"/>
                                        <p:tgtEl>
                                          <p:spTgt spid="12"/>
                                        </p:tgtEl>
                                        <p:attrNameLst>
                                          <p:attrName>ppt_x</p:attrName>
                                        </p:attrNameLst>
                                      </p:cBhvr>
                                      <p:tavLst>
                                        <p:tav tm="0">
                                          <p:val>
                                            <p:strVal val="#ppt_x"/>
                                          </p:val>
                                        </p:tav>
                                        <p:tav tm="100000">
                                          <p:val>
                                            <p:strVal val="#ppt_x"/>
                                          </p:val>
                                        </p:tav>
                                      </p:tavLst>
                                    </p:anim>
                                    <p:anim calcmode="lin" valueType="num">
                                      <p:cBhvr additive="base">
                                        <p:cTn id="18" dur="500" fill="hold"/>
                                        <p:tgtEl>
                                          <p:spTgt spid="12"/>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additive="base">
                                        <p:cTn id="21" dur="500" fill="hold"/>
                                        <p:tgtEl>
                                          <p:spTgt spid="10"/>
                                        </p:tgtEl>
                                        <p:attrNameLst>
                                          <p:attrName>ppt_x</p:attrName>
                                        </p:attrNameLst>
                                      </p:cBhvr>
                                      <p:tavLst>
                                        <p:tav tm="0">
                                          <p:val>
                                            <p:strVal val="#ppt_x"/>
                                          </p:val>
                                        </p:tav>
                                        <p:tav tm="100000">
                                          <p:val>
                                            <p:strVal val="#ppt_x"/>
                                          </p:val>
                                        </p:tav>
                                      </p:tavLst>
                                    </p:anim>
                                    <p:anim calcmode="lin" valueType="num">
                                      <p:cBhvr additive="base">
                                        <p:cTn id="2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 calcmode="lin" valueType="num">
                                      <p:cBhvr additive="base">
                                        <p:cTn id="27" dur="500" fill="hold"/>
                                        <p:tgtEl>
                                          <p:spTgt spid="16"/>
                                        </p:tgtEl>
                                        <p:attrNameLst>
                                          <p:attrName>ppt_x</p:attrName>
                                        </p:attrNameLst>
                                      </p:cBhvr>
                                      <p:tavLst>
                                        <p:tav tm="0">
                                          <p:val>
                                            <p:strVal val="#ppt_x"/>
                                          </p:val>
                                        </p:tav>
                                        <p:tav tm="100000">
                                          <p:val>
                                            <p:strVal val="#ppt_x"/>
                                          </p:val>
                                        </p:tav>
                                      </p:tavLst>
                                    </p:anim>
                                    <p:anim calcmode="lin" valueType="num">
                                      <p:cBhvr additive="base">
                                        <p:cTn id="28" dur="500" fill="hold"/>
                                        <p:tgtEl>
                                          <p:spTgt spid="16"/>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7"/>
                                        </p:tgtEl>
                                        <p:attrNameLst>
                                          <p:attrName>style.visibility</p:attrName>
                                        </p:attrNameLst>
                                      </p:cBhvr>
                                      <p:to>
                                        <p:strVal val="visible"/>
                                      </p:to>
                                    </p:set>
                                    <p:anim calcmode="lin" valueType="num">
                                      <p:cBhvr additive="base">
                                        <p:cTn id="31" dur="500" fill="hold"/>
                                        <p:tgtEl>
                                          <p:spTgt spid="17"/>
                                        </p:tgtEl>
                                        <p:attrNameLst>
                                          <p:attrName>ppt_x</p:attrName>
                                        </p:attrNameLst>
                                      </p:cBhvr>
                                      <p:tavLst>
                                        <p:tav tm="0">
                                          <p:val>
                                            <p:strVal val="#ppt_x"/>
                                          </p:val>
                                        </p:tav>
                                        <p:tav tm="100000">
                                          <p:val>
                                            <p:strVal val="#ppt_x"/>
                                          </p:val>
                                        </p:tav>
                                      </p:tavLst>
                                    </p:anim>
                                    <p:anim calcmode="lin" valueType="num">
                                      <p:cBhvr additive="base">
                                        <p:cTn id="32" dur="500" fill="hold"/>
                                        <p:tgtEl>
                                          <p:spTgt spid="17"/>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anim calcmode="lin" valueType="num">
                                      <p:cBhvr additive="base">
                                        <p:cTn id="35" dur="500" fill="hold"/>
                                        <p:tgtEl>
                                          <p:spTgt spid="15"/>
                                        </p:tgtEl>
                                        <p:attrNameLst>
                                          <p:attrName>ppt_x</p:attrName>
                                        </p:attrNameLst>
                                      </p:cBhvr>
                                      <p:tavLst>
                                        <p:tav tm="0">
                                          <p:val>
                                            <p:strVal val="#ppt_x"/>
                                          </p:val>
                                        </p:tav>
                                        <p:tav tm="100000">
                                          <p:val>
                                            <p:strVal val="#ppt_x"/>
                                          </p:val>
                                        </p:tav>
                                      </p:tavLst>
                                    </p:anim>
                                    <p:anim calcmode="lin" valueType="num">
                                      <p:cBhvr additive="base">
                                        <p:cTn id="36" dur="500" fill="hold"/>
                                        <p:tgtEl>
                                          <p:spTgt spid="15"/>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anim calcmode="lin" valueType="num">
                                      <p:cBhvr additive="base">
                                        <p:cTn id="39" dur="500" fill="hold"/>
                                        <p:tgtEl>
                                          <p:spTgt spid="18"/>
                                        </p:tgtEl>
                                        <p:attrNameLst>
                                          <p:attrName>ppt_x</p:attrName>
                                        </p:attrNameLst>
                                      </p:cBhvr>
                                      <p:tavLst>
                                        <p:tav tm="0">
                                          <p:val>
                                            <p:strVal val="#ppt_x"/>
                                          </p:val>
                                        </p:tav>
                                        <p:tav tm="100000">
                                          <p:val>
                                            <p:strVal val="#ppt_x"/>
                                          </p:val>
                                        </p:tav>
                                      </p:tavLst>
                                    </p:anim>
                                    <p:anim calcmode="lin" valueType="num">
                                      <p:cBhvr additive="base">
                                        <p:cTn id="40"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20"/>
                                        </p:tgtEl>
                                        <p:attrNameLst>
                                          <p:attrName>style.visibility</p:attrName>
                                        </p:attrNameLst>
                                      </p:cBhvr>
                                      <p:to>
                                        <p:strVal val="visible"/>
                                      </p:to>
                                    </p:set>
                                    <p:anim calcmode="lin" valueType="num">
                                      <p:cBhvr additive="base">
                                        <p:cTn id="45" dur="500" fill="hold"/>
                                        <p:tgtEl>
                                          <p:spTgt spid="20"/>
                                        </p:tgtEl>
                                        <p:attrNameLst>
                                          <p:attrName>ppt_x</p:attrName>
                                        </p:attrNameLst>
                                      </p:cBhvr>
                                      <p:tavLst>
                                        <p:tav tm="0">
                                          <p:val>
                                            <p:strVal val="#ppt_x"/>
                                          </p:val>
                                        </p:tav>
                                        <p:tav tm="100000">
                                          <p:val>
                                            <p:strVal val="#ppt_x"/>
                                          </p:val>
                                        </p:tav>
                                      </p:tavLst>
                                    </p:anim>
                                    <p:anim calcmode="lin" valueType="num">
                                      <p:cBhvr additive="base">
                                        <p:cTn id="46"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19"/>
                                        </p:tgtEl>
                                        <p:attrNameLst>
                                          <p:attrName>style.visibility</p:attrName>
                                        </p:attrNameLst>
                                      </p:cBhvr>
                                      <p:to>
                                        <p:strVal val="visible"/>
                                      </p:to>
                                    </p:set>
                                    <p:anim calcmode="lin" valueType="num">
                                      <p:cBhvr additive="base">
                                        <p:cTn id="51" dur="500" fill="hold"/>
                                        <p:tgtEl>
                                          <p:spTgt spid="19"/>
                                        </p:tgtEl>
                                        <p:attrNameLst>
                                          <p:attrName>ppt_x</p:attrName>
                                        </p:attrNameLst>
                                      </p:cBhvr>
                                      <p:tavLst>
                                        <p:tav tm="0">
                                          <p:val>
                                            <p:strVal val="#ppt_x"/>
                                          </p:val>
                                        </p:tav>
                                        <p:tav tm="100000">
                                          <p:val>
                                            <p:strVal val="#ppt_x"/>
                                          </p:val>
                                        </p:tav>
                                      </p:tavLst>
                                    </p:anim>
                                    <p:anim calcmode="lin" valueType="num">
                                      <p:cBhvr additive="base">
                                        <p:cTn id="52"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5" grpId="0" animBg="1"/>
      <p:bldP spid="18" grpId="0" animBg="1"/>
      <p:bldP spid="19" grpId="0" animBg="1"/>
      <p:bldP spid="2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r>
              <a:rPr lang="en-US"/>
              <a:t>Toán hạng thanh ghi - Quiz 2 </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36</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8" name="Content Placeholder 2">
            <a:extLst>
              <a:ext uri="{FF2B5EF4-FFF2-40B4-BE49-F238E27FC236}">
                <a16:creationId xmlns:a16="http://schemas.microsoft.com/office/drawing/2014/main" id="{C8AE3981-0866-FC8F-FF44-A96034DB5116}"/>
              </a:ext>
            </a:extLst>
          </p:cNvPr>
          <p:cNvSpPr>
            <a:spLocks noGrp="1"/>
          </p:cNvSpPr>
          <p:nvPr>
            <p:ph idx="1"/>
          </p:nvPr>
        </p:nvSpPr>
        <p:spPr>
          <a:xfrm>
            <a:off x="1142797" y="3626057"/>
            <a:ext cx="6948258" cy="2381924"/>
          </a:xfrm>
        </p:spPr>
        <p:txBody>
          <a:bodyPr>
            <a:normAutofit/>
          </a:bodyPr>
          <a:lstStyle/>
          <a:p>
            <a:pPr marL="0" indent="0">
              <a:buNone/>
            </a:pPr>
            <a:r>
              <a:rPr lang="en-US" sz="2400" dirty="0" err="1"/>
              <a:t>Chuyển</a:t>
            </a:r>
            <a:r>
              <a:rPr lang="en-US" sz="2400" dirty="0"/>
              <a:t> </a:t>
            </a:r>
            <a:r>
              <a:rPr lang="en-US" sz="2400" dirty="0" err="1"/>
              <a:t>đổi</a:t>
            </a:r>
            <a:r>
              <a:rPr lang="en-US" sz="2400" dirty="0"/>
              <a:t> </a:t>
            </a:r>
            <a:r>
              <a:rPr lang="en-US" sz="2400" dirty="0" err="1"/>
              <a:t>lệnh</a:t>
            </a:r>
            <a:r>
              <a:rPr lang="en-US" sz="2400" dirty="0"/>
              <a:t> </a:t>
            </a:r>
            <a:r>
              <a:rPr lang="en-US" sz="2400" dirty="0" err="1"/>
              <a:t>trong</a:t>
            </a:r>
            <a:r>
              <a:rPr lang="en-US" sz="2400" dirty="0"/>
              <a:t> </a:t>
            </a:r>
            <a:r>
              <a:rPr lang="en-US" sz="2400" dirty="0" err="1"/>
              <a:t>lập</a:t>
            </a:r>
            <a:r>
              <a:rPr lang="en-US" sz="2400" dirty="0"/>
              <a:t> </a:t>
            </a:r>
            <a:r>
              <a:rPr lang="en-US" sz="2400" dirty="0" err="1"/>
              <a:t>trình</a:t>
            </a:r>
            <a:r>
              <a:rPr lang="en-US" sz="2400" dirty="0"/>
              <a:t> C </a:t>
            </a:r>
            <a:r>
              <a:rPr lang="en-US" sz="2400" dirty="0" err="1"/>
              <a:t>thành</a:t>
            </a:r>
            <a:r>
              <a:rPr lang="en-US" sz="2400" dirty="0"/>
              <a:t> </a:t>
            </a:r>
            <a:r>
              <a:rPr lang="en-US" sz="2400" dirty="0" err="1"/>
              <a:t>lệnh</a:t>
            </a:r>
            <a:r>
              <a:rPr lang="en-US" sz="2400" dirty="0"/>
              <a:t> </a:t>
            </a:r>
            <a:r>
              <a:rPr lang="en-US" sz="2400" dirty="0" err="1"/>
              <a:t>hợp</a:t>
            </a:r>
            <a:r>
              <a:rPr lang="en-US" sz="2400" dirty="0"/>
              <a:t> </a:t>
            </a:r>
            <a:r>
              <a:rPr lang="en-US" sz="2400" dirty="0" err="1"/>
              <a:t>ngữ</a:t>
            </a:r>
            <a:r>
              <a:rPr lang="en-US" sz="2400" dirty="0"/>
              <a:t> MIPS, </a:t>
            </a:r>
            <a:r>
              <a:rPr lang="en-US" sz="2400" dirty="0" err="1"/>
              <a:t>biết</a:t>
            </a:r>
            <a:r>
              <a:rPr lang="en-US" sz="2400" dirty="0"/>
              <a:t> </a:t>
            </a:r>
            <a:r>
              <a:rPr lang="en-US" sz="2400" dirty="0" err="1"/>
              <a:t>rằng</a:t>
            </a:r>
            <a:r>
              <a:rPr lang="en-US" sz="2400" dirty="0"/>
              <a:t> </a:t>
            </a:r>
            <a:r>
              <a:rPr lang="en-US" sz="2400" dirty="0" err="1"/>
              <a:t>các</a:t>
            </a:r>
            <a:r>
              <a:rPr lang="en-US" sz="2400" dirty="0"/>
              <a:t> </a:t>
            </a:r>
            <a:r>
              <a:rPr lang="en-US" sz="2400" dirty="0" err="1"/>
              <a:t>biến</a:t>
            </a:r>
            <a:r>
              <a:rPr lang="en-US" sz="2400" dirty="0"/>
              <a:t> F, A, B, C </a:t>
            </a:r>
            <a:r>
              <a:rPr lang="en-US" sz="2400" dirty="0" err="1"/>
              <a:t>và</a:t>
            </a:r>
            <a:r>
              <a:rPr lang="en-US" sz="2400" dirty="0"/>
              <a:t> D đều </a:t>
            </a:r>
            <a:r>
              <a:rPr lang="en-US" sz="2400" dirty="0" err="1"/>
              <a:t>nằm</a:t>
            </a:r>
            <a:r>
              <a:rPr lang="en-US" sz="2400" dirty="0"/>
              <a:t> </a:t>
            </a:r>
            <a:r>
              <a:rPr lang="en-US" sz="2400" dirty="0" err="1"/>
              <a:t>trong</a:t>
            </a:r>
            <a:r>
              <a:rPr lang="en-US" sz="2400" dirty="0"/>
              <a:t> </a:t>
            </a:r>
            <a:r>
              <a:rPr lang="en-US" sz="2400" dirty="0" err="1"/>
              <a:t>các</a:t>
            </a:r>
            <a:r>
              <a:rPr lang="en-US" sz="2400" dirty="0"/>
              <a:t> </a:t>
            </a:r>
            <a:r>
              <a:rPr lang="en-US" sz="2400" dirty="0" err="1"/>
              <a:t>thanh</a:t>
            </a:r>
            <a:r>
              <a:rPr lang="en-US" sz="2400" dirty="0"/>
              <a:t> </a:t>
            </a:r>
            <a:r>
              <a:rPr lang="en-US" sz="2400" dirty="0" err="1"/>
              <a:t>ghi</a:t>
            </a:r>
            <a:r>
              <a:rPr lang="en-US" sz="2400" dirty="0"/>
              <a:t> </a:t>
            </a:r>
            <a:r>
              <a:rPr lang="en-US" sz="2400" dirty="0" err="1"/>
              <a:t>lần</a:t>
            </a:r>
            <a:r>
              <a:rPr lang="en-US" sz="2400" dirty="0"/>
              <a:t> </a:t>
            </a:r>
            <a:r>
              <a:rPr lang="en-US" sz="2400" dirty="0" err="1"/>
              <a:t>lượt</a:t>
            </a:r>
            <a:r>
              <a:rPr lang="en-US" sz="2400" dirty="0"/>
              <a:t> </a:t>
            </a:r>
            <a:r>
              <a:rPr lang="en-US" sz="2400" dirty="0" err="1"/>
              <a:t>từ</a:t>
            </a:r>
            <a:r>
              <a:rPr lang="en-US" sz="2400" dirty="0"/>
              <a:t> s0 </a:t>
            </a:r>
            <a:r>
              <a:rPr lang="en-US" sz="2400" dirty="0" err="1"/>
              <a:t>đến</a:t>
            </a:r>
            <a:r>
              <a:rPr lang="en-US" sz="2400" dirty="0"/>
              <a:t> s4:</a:t>
            </a:r>
          </a:p>
          <a:p>
            <a:pPr marL="0" indent="0">
              <a:buNone/>
            </a:pPr>
            <a:endParaRPr lang="en-US" sz="2400" dirty="0"/>
          </a:p>
          <a:p>
            <a:pPr marL="0" indent="0" algn="ctr">
              <a:buNone/>
            </a:pPr>
            <a:r>
              <a:rPr lang="en-US" sz="2400" dirty="0"/>
              <a:t>F = (A + B) – (C + D)</a:t>
            </a:r>
          </a:p>
        </p:txBody>
      </p:sp>
      <p:graphicFrame>
        <p:nvGraphicFramePr>
          <p:cNvPr id="9" name="Table 8">
            <a:extLst>
              <a:ext uri="{FF2B5EF4-FFF2-40B4-BE49-F238E27FC236}">
                <a16:creationId xmlns:a16="http://schemas.microsoft.com/office/drawing/2014/main" id="{B9494C8D-4FCF-C4D1-ADF8-296379AAE15C}"/>
              </a:ext>
            </a:extLst>
          </p:cNvPr>
          <p:cNvGraphicFramePr>
            <a:graphicFrameLocks noGrp="1"/>
          </p:cNvGraphicFramePr>
          <p:nvPr>
            <p:extLst>
              <p:ext uri="{D42A27DB-BD31-4B8C-83A1-F6EECF244321}">
                <p14:modId xmlns:p14="http://schemas.microsoft.com/office/powerpoint/2010/main" val="1473172255"/>
              </p:ext>
            </p:extLst>
          </p:nvPr>
        </p:nvGraphicFramePr>
        <p:xfrm>
          <a:off x="1142797" y="1633894"/>
          <a:ext cx="6948258" cy="1448754"/>
        </p:xfrm>
        <a:graphic>
          <a:graphicData uri="http://schemas.openxmlformats.org/drawingml/2006/table">
            <a:tbl>
              <a:tblPr firstRow="1" firstCol="1" bandRow="1">
                <a:tableStyleId>{5940675A-B579-460E-94D1-54222C63F5DA}</a:tableStyleId>
              </a:tblPr>
              <a:tblGrid>
                <a:gridCol w="1858256">
                  <a:extLst>
                    <a:ext uri="{9D8B030D-6E8A-4147-A177-3AD203B41FA5}">
                      <a16:colId xmlns:a16="http://schemas.microsoft.com/office/drawing/2014/main" val="1849330155"/>
                    </a:ext>
                  </a:extLst>
                </a:gridCol>
                <a:gridCol w="2364711">
                  <a:extLst>
                    <a:ext uri="{9D8B030D-6E8A-4147-A177-3AD203B41FA5}">
                      <a16:colId xmlns:a16="http://schemas.microsoft.com/office/drawing/2014/main" val="1574376215"/>
                    </a:ext>
                  </a:extLst>
                </a:gridCol>
                <a:gridCol w="2725291">
                  <a:extLst>
                    <a:ext uri="{9D8B030D-6E8A-4147-A177-3AD203B41FA5}">
                      <a16:colId xmlns:a16="http://schemas.microsoft.com/office/drawing/2014/main" val="3827853875"/>
                    </a:ext>
                  </a:extLst>
                </a:gridCol>
              </a:tblGrid>
              <a:tr h="482918">
                <a:tc>
                  <a:txBody>
                    <a:bodyPr/>
                    <a:lstStyle/>
                    <a:p>
                      <a:pPr marL="0" marR="0" algn="ctr">
                        <a:lnSpc>
                          <a:spcPct val="150000"/>
                        </a:lnSpc>
                        <a:spcBef>
                          <a:spcPts val="0"/>
                        </a:spcBef>
                        <a:spcAft>
                          <a:spcPts val="0"/>
                        </a:spcAft>
                      </a:pPr>
                      <a:r>
                        <a:rPr lang="en-US" sz="2400" b="1" dirty="0" err="1">
                          <a:effectLst/>
                          <a:latin typeface="Arial" panose="020B0604020202020204" pitchFamily="34" charset="0"/>
                          <a:cs typeface="Arial" panose="020B0604020202020204" pitchFamily="34" charset="0"/>
                        </a:rPr>
                        <a:t>Lệnh</a:t>
                      </a:r>
                      <a:endParaRPr lang="en-US" sz="2400" b="1" dirty="0">
                        <a:effectLst/>
                        <a:latin typeface="Arial" panose="020B0604020202020204" pitchFamily="34" charset="0"/>
                        <a:ea typeface="Times New Roman" panose="02020603050405020304" pitchFamily="18" charset="0"/>
                        <a:cs typeface="Arial" panose="020B0604020202020204" pitchFamily="34" charset="0"/>
                      </a:endParaRPr>
                    </a:p>
                  </a:txBody>
                  <a:tcPr marL="21224" marR="21224" marT="0" marB="0"/>
                </a:tc>
                <a:tc>
                  <a:txBody>
                    <a:bodyPr/>
                    <a:lstStyle/>
                    <a:p>
                      <a:pPr marL="0" marR="0" algn="ctr">
                        <a:lnSpc>
                          <a:spcPct val="150000"/>
                        </a:lnSpc>
                        <a:spcBef>
                          <a:spcPts val="0"/>
                        </a:spcBef>
                        <a:spcAft>
                          <a:spcPts val="0"/>
                        </a:spcAft>
                      </a:pPr>
                      <a:r>
                        <a:rPr lang="en-US" sz="2400" b="1">
                          <a:effectLst/>
                          <a:latin typeface="Arial" panose="020B0604020202020204" pitchFamily="34" charset="0"/>
                          <a:cs typeface="Arial" panose="020B0604020202020204" pitchFamily="34" charset="0"/>
                        </a:rPr>
                        <a:t>Ví dụ</a:t>
                      </a:r>
                      <a:endParaRPr lang="en-US" sz="2400" b="1">
                        <a:effectLst/>
                        <a:latin typeface="Arial" panose="020B0604020202020204" pitchFamily="34" charset="0"/>
                        <a:ea typeface="Times New Roman" panose="02020603050405020304" pitchFamily="18" charset="0"/>
                        <a:cs typeface="Arial" panose="020B0604020202020204" pitchFamily="34" charset="0"/>
                      </a:endParaRPr>
                    </a:p>
                  </a:txBody>
                  <a:tcPr marL="21224" marR="21224" marT="0" marB="0"/>
                </a:tc>
                <a:tc>
                  <a:txBody>
                    <a:bodyPr/>
                    <a:lstStyle/>
                    <a:p>
                      <a:pPr marL="0" marR="0" algn="ctr">
                        <a:lnSpc>
                          <a:spcPct val="150000"/>
                        </a:lnSpc>
                        <a:spcBef>
                          <a:spcPts val="0"/>
                        </a:spcBef>
                        <a:spcAft>
                          <a:spcPts val="0"/>
                        </a:spcAft>
                      </a:pPr>
                      <a:r>
                        <a:rPr lang="en-US" sz="2400" b="1" dirty="0">
                          <a:effectLst/>
                          <a:latin typeface="Arial" panose="020B0604020202020204" pitchFamily="34" charset="0"/>
                          <a:cs typeface="Arial" panose="020B0604020202020204" pitchFamily="34" charset="0"/>
                        </a:rPr>
                        <a:t>Ý </a:t>
                      </a:r>
                      <a:r>
                        <a:rPr lang="en-US" sz="2400" b="1" dirty="0" err="1">
                          <a:effectLst/>
                          <a:latin typeface="Arial" panose="020B0604020202020204" pitchFamily="34" charset="0"/>
                          <a:cs typeface="Arial" panose="020B0604020202020204" pitchFamily="34" charset="0"/>
                        </a:rPr>
                        <a:t>nghĩa</a:t>
                      </a:r>
                      <a:endParaRPr lang="en-US" sz="2400" b="1" dirty="0">
                        <a:effectLst/>
                        <a:latin typeface="Arial" panose="020B0604020202020204" pitchFamily="34" charset="0"/>
                        <a:ea typeface="Times New Roman" panose="02020603050405020304" pitchFamily="18" charset="0"/>
                        <a:cs typeface="Arial" panose="020B0604020202020204" pitchFamily="34" charset="0"/>
                      </a:endParaRPr>
                    </a:p>
                  </a:txBody>
                  <a:tcPr marL="21224" marR="21224" marT="0" marB="0"/>
                </a:tc>
                <a:extLst>
                  <a:ext uri="{0D108BD9-81ED-4DB2-BD59-A6C34878D82A}">
                    <a16:rowId xmlns:a16="http://schemas.microsoft.com/office/drawing/2014/main" val="3695188036"/>
                  </a:ext>
                </a:extLst>
              </a:tr>
              <a:tr h="482918">
                <a:tc>
                  <a:txBody>
                    <a:bodyPr/>
                    <a:lstStyle/>
                    <a:p>
                      <a:pPr marL="0" marR="0" algn="just">
                        <a:lnSpc>
                          <a:spcPct val="150000"/>
                        </a:lnSpc>
                        <a:spcBef>
                          <a:spcPts val="0"/>
                        </a:spcBef>
                        <a:spcAft>
                          <a:spcPts val="0"/>
                        </a:spcAft>
                      </a:pPr>
                      <a:r>
                        <a:rPr lang="en-US" sz="2400" dirty="0" err="1">
                          <a:effectLst/>
                          <a:latin typeface="Arial" panose="020B0604020202020204" pitchFamily="34" charset="0"/>
                          <a:cs typeface="Arial" panose="020B0604020202020204" pitchFamily="34" charset="0"/>
                        </a:rPr>
                        <a:t>Cộng</a:t>
                      </a:r>
                      <a:r>
                        <a:rPr lang="en-US" sz="2400" dirty="0">
                          <a:effectLst/>
                          <a:latin typeface="Arial" panose="020B0604020202020204" pitchFamily="34" charset="0"/>
                          <a:cs typeface="Arial" panose="020B0604020202020204" pitchFamily="34" charset="0"/>
                        </a:rPr>
                        <a:t> </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21224" marR="21224" marT="0" marB="0"/>
                </a:tc>
                <a:tc>
                  <a:txBody>
                    <a:bodyPr/>
                    <a:lstStyle/>
                    <a:p>
                      <a:pPr marL="0" marR="0" algn="just">
                        <a:lnSpc>
                          <a:spcPct val="150000"/>
                        </a:lnSpc>
                        <a:spcBef>
                          <a:spcPts val="0"/>
                        </a:spcBef>
                        <a:spcAft>
                          <a:spcPts val="0"/>
                        </a:spcAft>
                      </a:pPr>
                      <a:r>
                        <a:rPr lang="en-US" sz="2400" dirty="0">
                          <a:effectLst/>
                          <a:latin typeface="Arial" panose="020B0604020202020204" pitchFamily="34" charset="0"/>
                          <a:cs typeface="Arial" panose="020B0604020202020204" pitchFamily="34" charset="0"/>
                        </a:rPr>
                        <a:t>add $s1,$s2,$s3</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21224" marR="21224" marT="0" marB="0"/>
                </a:tc>
                <a:tc>
                  <a:txBody>
                    <a:bodyPr/>
                    <a:lstStyle/>
                    <a:p>
                      <a:pPr marL="0" marR="0" algn="just">
                        <a:lnSpc>
                          <a:spcPct val="150000"/>
                        </a:lnSpc>
                        <a:spcBef>
                          <a:spcPts val="0"/>
                        </a:spcBef>
                        <a:spcAft>
                          <a:spcPts val="0"/>
                        </a:spcAft>
                      </a:pPr>
                      <a:r>
                        <a:rPr lang="en-US" sz="2400" dirty="0">
                          <a:effectLst/>
                          <a:latin typeface="Arial" panose="020B0604020202020204" pitchFamily="34" charset="0"/>
                          <a:cs typeface="Arial" panose="020B0604020202020204" pitchFamily="34" charset="0"/>
                        </a:rPr>
                        <a:t>$s1=$s2 + $s3</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21224" marR="21224" marT="0" marB="0"/>
                </a:tc>
                <a:extLst>
                  <a:ext uri="{0D108BD9-81ED-4DB2-BD59-A6C34878D82A}">
                    <a16:rowId xmlns:a16="http://schemas.microsoft.com/office/drawing/2014/main" val="827066081"/>
                  </a:ext>
                </a:extLst>
              </a:tr>
              <a:tr h="482918">
                <a:tc>
                  <a:txBody>
                    <a:bodyPr/>
                    <a:lstStyle/>
                    <a:p>
                      <a:pPr marL="0" marR="0" algn="just">
                        <a:lnSpc>
                          <a:spcPct val="150000"/>
                        </a:lnSpc>
                        <a:spcBef>
                          <a:spcPts val="0"/>
                        </a:spcBef>
                        <a:spcAft>
                          <a:spcPts val="0"/>
                        </a:spcAft>
                      </a:pPr>
                      <a:r>
                        <a:rPr lang="en-US" sz="2400" dirty="0" err="1">
                          <a:effectLst/>
                          <a:latin typeface="Arial" panose="020B0604020202020204" pitchFamily="34" charset="0"/>
                          <a:ea typeface="Times New Roman" panose="02020603050405020304" pitchFamily="18" charset="0"/>
                          <a:cs typeface="Arial" panose="020B0604020202020204" pitchFamily="34" charset="0"/>
                        </a:rPr>
                        <a:t>Trừ</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21224" marR="21224" marT="0" marB="0"/>
                </a:tc>
                <a:tc>
                  <a:txBody>
                    <a:bodyPr/>
                    <a:lstStyle/>
                    <a:p>
                      <a:pPr marL="0" marR="0" algn="just">
                        <a:lnSpc>
                          <a:spcPct val="150000"/>
                        </a:lnSpc>
                        <a:spcBef>
                          <a:spcPts val="0"/>
                        </a:spcBef>
                        <a:spcAft>
                          <a:spcPts val="0"/>
                        </a:spcAft>
                      </a:pPr>
                      <a:r>
                        <a:rPr lang="en-US" sz="2400" dirty="0">
                          <a:effectLst/>
                          <a:latin typeface="Arial" panose="020B0604020202020204" pitchFamily="34" charset="0"/>
                          <a:ea typeface="Times New Roman" panose="02020603050405020304" pitchFamily="18" charset="0"/>
                          <a:cs typeface="Arial" panose="020B0604020202020204" pitchFamily="34" charset="0"/>
                        </a:rPr>
                        <a:t>sub $s1,$s2,$s3</a:t>
                      </a:r>
                    </a:p>
                  </a:txBody>
                  <a:tcPr marL="21224" marR="21224" marT="0" marB="0"/>
                </a:tc>
                <a:tc>
                  <a:txBody>
                    <a:bodyPr/>
                    <a:lstStyle/>
                    <a:p>
                      <a:pPr marL="0" marR="0" algn="just">
                        <a:lnSpc>
                          <a:spcPct val="150000"/>
                        </a:lnSpc>
                        <a:spcBef>
                          <a:spcPts val="0"/>
                        </a:spcBef>
                        <a:spcAft>
                          <a:spcPts val="0"/>
                        </a:spcAft>
                      </a:pPr>
                      <a:r>
                        <a:rPr lang="en-US" sz="2400" dirty="0">
                          <a:effectLst/>
                          <a:latin typeface="Arial" panose="020B0604020202020204" pitchFamily="34" charset="0"/>
                          <a:cs typeface="Arial" panose="020B0604020202020204" pitchFamily="34" charset="0"/>
                        </a:rPr>
                        <a:t>$s1=$s2 - $s3</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21224" marR="21224" marT="0" marB="0"/>
                </a:tc>
                <a:extLst>
                  <a:ext uri="{0D108BD9-81ED-4DB2-BD59-A6C34878D82A}">
                    <a16:rowId xmlns:a16="http://schemas.microsoft.com/office/drawing/2014/main" val="1539860786"/>
                  </a:ext>
                </a:extLst>
              </a:tr>
            </a:tbl>
          </a:graphicData>
        </a:graphic>
      </p:graphicFrame>
      <p:pic>
        <p:nvPicPr>
          <p:cNvPr id="10" name="Picture 2">
            <a:extLst>
              <a:ext uri="{FF2B5EF4-FFF2-40B4-BE49-F238E27FC236}">
                <a16:creationId xmlns:a16="http://schemas.microsoft.com/office/drawing/2014/main" id="{A444515D-028C-8857-86C2-AF049BC56C2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70022"/>
          <a:stretch/>
        </p:blipFill>
        <p:spPr bwMode="auto">
          <a:xfrm>
            <a:off x="8852451" y="850018"/>
            <a:ext cx="2501551" cy="515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687750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pPr>
              <a:lnSpc>
                <a:spcPct val="90000"/>
              </a:lnSpc>
              <a:defRPr/>
            </a:pPr>
            <a:r>
              <a:rPr lang="en-US"/>
              <a:t>Toán hạng bộ nhớ</a:t>
            </a:r>
            <a:endParaRPr lang="en-US" b="1"/>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37</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7" name="Content Placeholder 6">
            <a:extLst>
              <a:ext uri="{FF2B5EF4-FFF2-40B4-BE49-F238E27FC236}">
                <a16:creationId xmlns:a16="http://schemas.microsoft.com/office/drawing/2014/main" id="{E0D2F02D-C586-1C12-E656-D505359F0305}"/>
              </a:ext>
            </a:extLst>
          </p:cNvPr>
          <p:cNvSpPr>
            <a:spLocks noGrp="1"/>
          </p:cNvSpPr>
          <p:nvPr>
            <p:ph idx="1"/>
          </p:nvPr>
        </p:nvSpPr>
        <p:spPr/>
        <p:txBody>
          <a:bodyPr/>
          <a:lstStyle/>
          <a:p>
            <a:pPr>
              <a:lnSpc>
                <a:spcPct val="200000"/>
              </a:lnSpc>
            </a:pPr>
            <a:r>
              <a:rPr lang="vi-VN" dirty="0"/>
              <a:t>Bộ nhớ được đánh địa chỉ theo byte</a:t>
            </a:r>
          </a:p>
          <a:p>
            <a:pPr>
              <a:lnSpc>
                <a:spcPct val="200000"/>
              </a:lnSpc>
            </a:pPr>
            <a:r>
              <a:rPr lang="vi-VN" dirty="0"/>
              <a:t>MIPS quy định địa chỉ bộ nhớ phải là bội số của 4 </a:t>
            </a:r>
          </a:p>
          <a:p>
            <a:pPr marL="0" indent="0">
              <a:lnSpc>
                <a:spcPct val="200000"/>
              </a:lnSpc>
              <a:buNone/>
            </a:pPr>
            <a:r>
              <a:rPr lang="vi-VN" dirty="0"/>
              <a:t>	(1 word = 4 byte)</a:t>
            </a:r>
          </a:p>
          <a:p>
            <a:pPr>
              <a:lnSpc>
                <a:spcPct val="200000"/>
              </a:lnSpc>
            </a:pPr>
            <a:r>
              <a:rPr lang="vi-VN" dirty="0"/>
              <a:t>MIPS sử dụng mô hình địa chỉ Big-Endian</a:t>
            </a:r>
          </a:p>
          <a:p>
            <a:endParaRPr lang="en-US" dirty="0"/>
          </a:p>
        </p:txBody>
      </p:sp>
    </p:spTree>
    <p:extLst>
      <p:ext uri="{BB962C8B-B14F-4D97-AF65-F5344CB8AC3E}">
        <p14:creationId xmlns:p14="http://schemas.microsoft.com/office/powerpoint/2010/main" val="10212260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pPr>
              <a:lnSpc>
                <a:spcPct val="90000"/>
              </a:lnSpc>
              <a:defRPr/>
            </a:pPr>
            <a:r>
              <a:rPr lang="en-US"/>
              <a:t>Toán hạng bộ nhớ (tt)</a:t>
            </a:r>
            <a:endParaRPr lang="en-US" b="1"/>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38</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graphicFrame>
        <p:nvGraphicFramePr>
          <p:cNvPr id="8" name="Table 10">
            <a:extLst>
              <a:ext uri="{FF2B5EF4-FFF2-40B4-BE49-F238E27FC236}">
                <a16:creationId xmlns:a16="http://schemas.microsoft.com/office/drawing/2014/main" id="{355B56A5-0056-37D1-6361-E8534107A1D3}"/>
              </a:ext>
            </a:extLst>
          </p:cNvPr>
          <p:cNvGraphicFramePr>
            <a:graphicFrameLocks/>
          </p:cNvGraphicFramePr>
          <p:nvPr>
            <p:extLst>
              <p:ext uri="{D42A27DB-BD31-4B8C-83A1-F6EECF244321}">
                <p14:modId xmlns:p14="http://schemas.microsoft.com/office/powerpoint/2010/main" val="3808386439"/>
              </p:ext>
            </p:extLst>
          </p:nvPr>
        </p:nvGraphicFramePr>
        <p:xfrm>
          <a:off x="1578611" y="3512343"/>
          <a:ext cx="8572500" cy="1737360"/>
        </p:xfrm>
        <a:graphic>
          <a:graphicData uri="http://schemas.openxmlformats.org/drawingml/2006/table">
            <a:tbl>
              <a:tblPr firstRow="1" bandRow="1">
                <a:tableStyleId>{5940675A-B579-460E-94D1-54222C63F5DA}</a:tableStyleId>
              </a:tblPr>
              <a:tblGrid>
                <a:gridCol w="857250">
                  <a:extLst>
                    <a:ext uri="{9D8B030D-6E8A-4147-A177-3AD203B41FA5}">
                      <a16:colId xmlns:a16="http://schemas.microsoft.com/office/drawing/2014/main" val="330184396"/>
                    </a:ext>
                  </a:extLst>
                </a:gridCol>
                <a:gridCol w="857250">
                  <a:extLst>
                    <a:ext uri="{9D8B030D-6E8A-4147-A177-3AD203B41FA5}">
                      <a16:colId xmlns:a16="http://schemas.microsoft.com/office/drawing/2014/main" val="3048987780"/>
                    </a:ext>
                  </a:extLst>
                </a:gridCol>
                <a:gridCol w="857250">
                  <a:extLst>
                    <a:ext uri="{9D8B030D-6E8A-4147-A177-3AD203B41FA5}">
                      <a16:colId xmlns:a16="http://schemas.microsoft.com/office/drawing/2014/main" val="847224364"/>
                    </a:ext>
                  </a:extLst>
                </a:gridCol>
                <a:gridCol w="857250">
                  <a:extLst>
                    <a:ext uri="{9D8B030D-6E8A-4147-A177-3AD203B41FA5}">
                      <a16:colId xmlns:a16="http://schemas.microsoft.com/office/drawing/2014/main" val="284531952"/>
                    </a:ext>
                  </a:extLst>
                </a:gridCol>
                <a:gridCol w="1714500">
                  <a:extLst>
                    <a:ext uri="{9D8B030D-6E8A-4147-A177-3AD203B41FA5}">
                      <a16:colId xmlns:a16="http://schemas.microsoft.com/office/drawing/2014/main" val="1878897954"/>
                    </a:ext>
                  </a:extLst>
                </a:gridCol>
                <a:gridCol w="857250">
                  <a:extLst>
                    <a:ext uri="{9D8B030D-6E8A-4147-A177-3AD203B41FA5}">
                      <a16:colId xmlns:a16="http://schemas.microsoft.com/office/drawing/2014/main" val="642025804"/>
                    </a:ext>
                  </a:extLst>
                </a:gridCol>
                <a:gridCol w="857250">
                  <a:extLst>
                    <a:ext uri="{9D8B030D-6E8A-4147-A177-3AD203B41FA5}">
                      <a16:colId xmlns:a16="http://schemas.microsoft.com/office/drawing/2014/main" val="3490584216"/>
                    </a:ext>
                  </a:extLst>
                </a:gridCol>
                <a:gridCol w="857250">
                  <a:extLst>
                    <a:ext uri="{9D8B030D-6E8A-4147-A177-3AD203B41FA5}">
                      <a16:colId xmlns:a16="http://schemas.microsoft.com/office/drawing/2014/main" val="2604479434"/>
                    </a:ext>
                  </a:extLst>
                </a:gridCol>
                <a:gridCol w="857250">
                  <a:extLst>
                    <a:ext uri="{9D8B030D-6E8A-4147-A177-3AD203B41FA5}">
                      <a16:colId xmlns:a16="http://schemas.microsoft.com/office/drawing/2014/main" val="3708087922"/>
                    </a:ext>
                  </a:extLst>
                </a:gridCol>
              </a:tblGrid>
              <a:tr h="434340">
                <a:tc>
                  <a:txBody>
                    <a:bodyPr/>
                    <a:lstStyle/>
                    <a:p>
                      <a:pPr algn="ctr"/>
                      <a:r>
                        <a:rPr lang="en-US" sz="2400" dirty="0">
                          <a:latin typeface="Times New Roman" panose="02020603050405020304" pitchFamily="18" charset="0"/>
                          <a:cs typeface="Times New Roman" panose="02020603050405020304" pitchFamily="18" charset="0"/>
                        </a:rPr>
                        <a:t>…</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latin typeface="Times New Roman" panose="02020603050405020304" pitchFamily="18" charset="0"/>
                          <a:cs typeface="Times New Roman" panose="02020603050405020304" pitchFamily="18" charset="0"/>
                        </a:rPr>
                        <a:t>…</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latin typeface="Times New Roman" panose="02020603050405020304" pitchFamily="18" charset="0"/>
                          <a:cs typeface="Times New Roman" panose="02020603050405020304" pitchFamily="18" charset="0"/>
                        </a:rPr>
                        <a:t>…</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latin typeface="Times New Roman" panose="02020603050405020304" pitchFamily="18" charset="0"/>
                          <a:cs typeface="Times New Roman" panose="02020603050405020304" pitchFamily="18" charset="0"/>
                        </a:rPr>
                        <a:t>…</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latin typeface="Times New Roman" panose="02020603050405020304" pitchFamily="18" charset="0"/>
                          <a:cs typeface="Times New Roman" panose="02020603050405020304" pitchFamily="18" charset="0"/>
                        </a:rPr>
                        <a:t>…</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latin typeface="Times New Roman" panose="02020603050405020304" pitchFamily="18" charset="0"/>
                          <a:cs typeface="Times New Roman" panose="02020603050405020304" pitchFamily="18" charset="0"/>
                        </a:rPr>
                        <a:t>…</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latin typeface="Times New Roman" panose="02020603050405020304" pitchFamily="18" charset="0"/>
                          <a:cs typeface="Times New Roman" panose="02020603050405020304" pitchFamily="18" charset="0"/>
                        </a:rPr>
                        <a:t>…</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latin typeface="Times New Roman" panose="02020603050405020304" pitchFamily="18" charset="0"/>
                          <a:cs typeface="Times New Roman" panose="02020603050405020304" pitchFamily="18" charset="0"/>
                        </a:rPr>
                        <a:t>…</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latin typeface="Times New Roman" panose="02020603050405020304" pitchFamily="18" charset="0"/>
                          <a:cs typeface="Times New Roman" panose="02020603050405020304" pitchFamily="18" charset="0"/>
                        </a:rPr>
                        <a:t>…</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1920404"/>
                  </a:ext>
                </a:extLst>
              </a:tr>
              <a:tr h="434340">
                <a:tc>
                  <a:txBody>
                    <a:bodyPr/>
                    <a:lstStyle/>
                    <a:p>
                      <a:r>
                        <a:rPr lang="en-US" sz="2300">
                          <a:solidFill>
                            <a:srgbClr val="0070C0"/>
                          </a:solidFill>
                          <a:latin typeface="Times New Roman" panose="02020603050405020304" pitchFamily="18" charset="0"/>
                          <a:cs typeface="Times New Roman" panose="02020603050405020304" pitchFamily="18" charset="0"/>
                        </a:rPr>
                        <a:t>0x93</a:t>
                      </a:r>
                      <a:endParaRPr lang="en-US" sz="2300" dirty="0">
                        <a:solidFill>
                          <a:srgbClr val="0070C0"/>
                        </a:solidFill>
                        <a:latin typeface="Times New Roman" panose="02020603050405020304" pitchFamily="18" charset="0"/>
                        <a:cs typeface="Times New Roman" panose="02020603050405020304" pitchFamily="18"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300">
                          <a:solidFill>
                            <a:srgbClr val="0070C0"/>
                          </a:solidFill>
                          <a:latin typeface="Times New Roman" panose="02020603050405020304" pitchFamily="18" charset="0"/>
                          <a:cs typeface="Times New Roman" panose="02020603050405020304" pitchFamily="18" charset="0"/>
                        </a:rPr>
                        <a:t>0x19</a:t>
                      </a:r>
                      <a:endParaRPr lang="en-US" sz="2300" dirty="0">
                        <a:solidFill>
                          <a:srgbClr val="0070C0"/>
                        </a:solidFill>
                        <a:latin typeface="Times New Roman" panose="02020603050405020304" pitchFamily="18" charset="0"/>
                        <a:cs typeface="Times New Roman" panose="02020603050405020304" pitchFamily="18"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300">
                          <a:solidFill>
                            <a:srgbClr val="0070C0"/>
                          </a:solidFill>
                          <a:latin typeface="Times New Roman" panose="02020603050405020304" pitchFamily="18" charset="0"/>
                          <a:cs typeface="Times New Roman" panose="02020603050405020304" pitchFamily="18" charset="0"/>
                        </a:rPr>
                        <a:t>0xFE</a:t>
                      </a:r>
                      <a:endParaRPr lang="en-US" sz="2300" dirty="0">
                        <a:solidFill>
                          <a:srgbClr val="0070C0"/>
                        </a:solidFill>
                        <a:latin typeface="Times New Roman" panose="02020603050405020304" pitchFamily="18" charset="0"/>
                        <a:cs typeface="Times New Roman" panose="02020603050405020304" pitchFamily="18"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300">
                          <a:solidFill>
                            <a:srgbClr val="0070C0"/>
                          </a:solidFill>
                          <a:latin typeface="Times New Roman" panose="02020603050405020304" pitchFamily="18" charset="0"/>
                          <a:cs typeface="Times New Roman" panose="02020603050405020304" pitchFamily="18" charset="0"/>
                        </a:rPr>
                        <a:t>0xCA</a:t>
                      </a:r>
                      <a:endParaRPr lang="en-US" sz="2300" dirty="0">
                        <a:solidFill>
                          <a:srgbClr val="0070C0"/>
                        </a:solidFill>
                        <a:latin typeface="Times New Roman" panose="02020603050405020304" pitchFamily="18" charset="0"/>
                        <a:cs typeface="Times New Roman" panose="02020603050405020304" pitchFamily="18"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latin typeface="Times New Roman" panose="02020603050405020304" pitchFamily="18" charset="0"/>
                          <a:cs typeface="Times New Roman" panose="02020603050405020304" pitchFamily="18" charset="0"/>
                        </a:rPr>
                        <a:t>0x000</a:t>
                      </a:r>
                      <a:r>
                        <a:rPr lang="en-US" sz="2400" dirty="0">
                          <a:solidFill>
                            <a:srgbClr val="FF0000"/>
                          </a:solidFill>
                          <a:latin typeface="Times New Roman" panose="02020603050405020304" pitchFamily="18" charset="0"/>
                          <a:cs typeface="Times New Roman" panose="02020603050405020304" pitchFamily="18" charset="0"/>
                        </a:rPr>
                        <a:t>4</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sz="2300" dirty="0">
                          <a:solidFill>
                            <a:srgbClr val="0070C0"/>
                          </a:solidFill>
                          <a:latin typeface="Times New Roman" panose="02020603050405020304" pitchFamily="18" charset="0"/>
                          <a:cs typeface="Times New Roman" panose="02020603050405020304" pitchFamily="18" charset="0"/>
                        </a:rPr>
                        <a:t>0xCA</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300" dirty="0">
                          <a:solidFill>
                            <a:srgbClr val="0070C0"/>
                          </a:solidFill>
                          <a:latin typeface="Times New Roman" panose="02020603050405020304" pitchFamily="18" charset="0"/>
                          <a:cs typeface="Times New Roman" panose="02020603050405020304" pitchFamily="18" charset="0"/>
                        </a:rPr>
                        <a:t>0xFE</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300" dirty="0">
                          <a:solidFill>
                            <a:srgbClr val="0070C0"/>
                          </a:solidFill>
                          <a:latin typeface="Times New Roman" panose="02020603050405020304" pitchFamily="18" charset="0"/>
                          <a:cs typeface="Times New Roman" panose="02020603050405020304" pitchFamily="18" charset="0"/>
                        </a:rPr>
                        <a:t>0x19</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300" dirty="0">
                          <a:solidFill>
                            <a:srgbClr val="0070C0"/>
                          </a:solidFill>
                          <a:latin typeface="Times New Roman" panose="02020603050405020304" pitchFamily="18" charset="0"/>
                          <a:cs typeface="Times New Roman" panose="02020603050405020304" pitchFamily="18" charset="0"/>
                        </a:rPr>
                        <a:t>0x93</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46993471"/>
                  </a:ext>
                </a:extLst>
              </a:tr>
              <a:tr h="434340">
                <a:tc>
                  <a:txBody>
                    <a:bodyPr/>
                    <a:lstStyle/>
                    <a:p>
                      <a:r>
                        <a:rPr lang="en-US" sz="2400">
                          <a:solidFill>
                            <a:srgbClr val="FFC000"/>
                          </a:solidFill>
                          <a:latin typeface="Times New Roman" panose="02020603050405020304" pitchFamily="18" charset="0"/>
                          <a:cs typeface="Times New Roman" panose="02020603050405020304" pitchFamily="18" charset="0"/>
                        </a:rPr>
                        <a:t>0x78</a:t>
                      </a:r>
                      <a:endParaRPr lang="en-US" sz="2400" dirty="0">
                        <a:solidFill>
                          <a:srgbClr val="FFC000"/>
                        </a:solidFill>
                        <a:latin typeface="Times New Roman" panose="02020603050405020304" pitchFamily="18" charset="0"/>
                        <a:cs typeface="Times New Roman" panose="02020603050405020304" pitchFamily="18"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solidFill>
                            <a:srgbClr val="FFC000"/>
                          </a:solidFill>
                          <a:latin typeface="Times New Roman" panose="02020603050405020304" pitchFamily="18" charset="0"/>
                          <a:cs typeface="Times New Roman" panose="02020603050405020304" pitchFamily="18" charset="0"/>
                        </a:rPr>
                        <a:t>0x56</a:t>
                      </a:r>
                      <a:endParaRPr lang="en-US" sz="2400" dirty="0">
                        <a:solidFill>
                          <a:srgbClr val="FFC000"/>
                        </a:solidFill>
                        <a:latin typeface="Times New Roman" panose="02020603050405020304" pitchFamily="18" charset="0"/>
                        <a:cs typeface="Times New Roman" panose="02020603050405020304" pitchFamily="18"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solidFill>
                            <a:srgbClr val="FFC000"/>
                          </a:solidFill>
                          <a:latin typeface="Times New Roman" panose="02020603050405020304" pitchFamily="18" charset="0"/>
                          <a:cs typeface="Times New Roman" panose="02020603050405020304" pitchFamily="18" charset="0"/>
                        </a:rPr>
                        <a:t>0x34</a:t>
                      </a:r>
                      <a:endParaRPr lang="en-US" sz="2400" dirty="0">
                        <a:solidFill>
                          <a:srgbClr val="FFC000"/>
                        </a:solidFill>
                        <a:latin typeface="Times New Roman" panose="02020603050405020304" pitchFamily="18" charset="0"/>
                        <a:cs typeface="Times New Roman" panose="02020603050405020304" pitchFamily="18"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solidFill>
                            <a:srgbClr val="FFC000"/>
                          </a:solidFill>
                          <a:latin typeface="Times New Roman" panose="02020603050405020304" pitchFamily="18" charset="0"/>
                          <a:cs typeface="Times New Roman" panose="02020603050405020304" pitchFamily="18" charset="0"/>
                        </a:rPr>
                        <a:t>0x12</a:t>
                      </a:r>
                      <a:endParaRPr lang="en-US" sz="2400" dirty="0">
                        <a:solidFill>
                          <a:srgbClr val="FFC000"/>
                        </a:solidFill>
                        <a:latin typeface="Times New Roman" panose="02020603050405020304" pitchFamily="18" charset="0"/>
                        <a:cs typeface="Times New Roman" panose="02020603050405020304" pitchFamily="18"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latin typeface="Times New Roman" panose="02020603050405020304" pitchFamily="18" charset="0"/>
                          <a:cs typeface="Times New Roman" panose="02020603050405020304" pitchFamily="18" charset="0"/>
                        </a:rPr>
                        <a:t>0x000</a:t>
                      </a:r>
                      <a:r>
                        <a:rPr lang="en-US" sz="2400" dirty="0">
                          <a:solidFill>
                            <a:srgbClr val="FF0000"/>
                          </a:solidFill>
                          <a:latin typeface="Times New Roman" panose="02020603050405020304" pitchFamily="18" charset="0"/>
                          <a:cs typeface="Times New Roman" panose="02020603050405020304" pitchFamily="18" charset="0"/>
                        </a:rPr>
                        <a:t>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sz="2400" dirty="0">
                          <a:solidFill>
                            <a:srgbClr val="FFC000"/>
                          </a:solidFill>
                          <a:latin typeface="Times New Roman" panose="02020603050405020304" pitchFamily="18" charset="0"/>
                          <a:cs typeface="Times New Roman" panose="02020603050405020304" pitchFamily="18" charset="0"/>
                        </a:rPr>
                        <a:t>0x12</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solidFill>
                            <a:srgbClr val="FFC000"/>
                          </a:solidFill>
                          <a:latin typeface="Times New Roman" panose="02020603050405020304" pitchFamily="18" charset="0"/>
                          <a:cs typeface="Times New Roman" panose="02020603050405020304" pitchFamily="18" charset="0"/>
                        </a:rPr>
                        <a:t>0x34</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solidFill>
                            <a:srgbClr val="FFC000"/>
                          </a:solidFill>
                          <a:latin typeface="Times New Roman" panose="02020603050405020304" pitchFamily="18" charset="0"/>
                          <a:cs typeface="Times New Roman" panose="02020603050405020304" pitchFamily="18" charset="0"/>
                        </a:rPr>
                        <a:t>0x56</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solidFill>
                            <a:srgbClr val="FFC000"/>
                          </a:solidFill>
                          <a:latin typeface="Times New Roman" panose="02020603050405020304" pitchFamily="18" charset="0"/>
                          <a:cs typeface="Times New Roman" panose="02020603050405020304" pitchFamily="18" charset="0"/>
                        </a:rPr>
                        <a:t>0x78</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15085678"/>
                  </a:ext>
                </a:extLst>
              </a:tr>
              <a:tr h="434340">
                <a:tc>
                  <a:txBody>
                    <a:bodyPr/>
                    <a:lstStyle/>
                    <a:p>
                      <a:pPr algn="ctr"/>
                      <a:r>
                        <a:rPr lang="en-US" sz="2400" dirty="0">
                          <a:latin typeface="Times New Roman" panose="02020603050405020304" pitchFamily="18" charset="0"/>
                          <a:cs typeface="Times New Roman" panose="02020603050405020304" pitchFamily="18" charset="0"/>
                        </a:rPr>
                        <a:t>0</a:t>
                      </a:r>
                    </a:p>
                  </a:txBody>
                  <a:tcPr marL="68580" marR="68580" marT="34290" marB="34290">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2400">
                          <a:latin typeface="Times New Roman" panose="02020603050405020304" pitchFamily="18" charset="0"/>
                          <a:cs typeface="Times New Roman" panose="02020603050405020304" pitchFamily="18" charset="0"/>
                        </a:rPr>
                        <a:t>1</a:t>
                      </a:r>
                      <a:endParaRPr lang="en-US" sz="2400" dirty="0">
                        <a:latin typeface="Times New Roman" panose="02020603050405020304" pitchFamily="18" charset="0"/>
                        <a:cs typeface="Times New Roman" panose="02020603050405020304" pitchFamily="18" charset="0"/>
                      </a:endParaRPr>
                    </a:p>
                  </a:txBody>
                  <a:tcPr marL="68580" marR="68580" marT="34290" marB="34290">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2400">
                          <a:latin typeface="Times New Roman" panose="02020603050405020304" pitchFamily="18" charset="0"/>
                          <a:cs typeface="Times New Roman" panose="02020603050405020304" pitchFamily="18" charset="0"/>
                        </a:rPr>
                        <a:t>2</a:t>
                      </a:r>
                      <a:endParaRPr lang="en-US" sz="2400" dirty="0">
                        <a:latin typeface="Times New Roman" panose="02020603050405020304" pitchFamily="18" charset="0"/>
                        <a:cs typeface="Times New Roman" panose="02020603050405020304" pitchFamily="18" charset="0"/>
                      </a:endParaRPr>
                    </a:p>
                  </a:txBody>
                  <a:tcPr marL="68580" marR="68580" marT="34290" marB="34290">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2400">
                          <a:latin typeface="Times New Roman" panose="02020603050405020304" pitchFamily="18" charset="0"/>
                          <a:cs typeface="Times New Roman" panose="02020603050405020304" pitchFamily="18" charset="0"/>
                        </a:rPr>
                        <a:t>3</a:t>
                      </a:r>
                      <a:endParaRPr lang="en-US" sz="2400" dirty="0">
                        <a:latin typeface="Times New Roman" panose="02020603050405020304" pitchFamily="18" charset="0"/>
                        <a:cs typeface="Times New Roman" panose="02020603050405020304" pitchFamily="18" charset="0"/>
                      </a:endParaRPr>
                    </a:p>
                  </a:txBody>
                  <a:tcPr marL="68580" marR="68580" marT="34290" marB="34290">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en-US" sz="2400" dirty="0">
                        <a:latin typeface="Times New Roman" panose="02020603050405020304" pitchFamily="18" charset="0"/>
                        <a:cs typeface="Times New Roman" panose="02020603050405020304" pitchFamily="18" charset="0"/>
                      </a:endParaRPr>
                    </a:p>
                  </a:txBody>
                  <a:tcPr marL="68580" marR="68580" marT="34290" marB="3429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latin typeface="Times New Roman" panose="02020603050405020304" pitchFamily="18" charset="0"/>
                          <a:cs typeface="Times New Roman" panose="02020603050405020304" pitchFamily="18" charset="0"/>
                        </a:rPr>
                        <a:t>0</a:t>
                      </a:r>
                    </a:p>
                  </a:txBody>
                  <a:tcPr marL="68580" marR="68580" marT="34290" marB="34290">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2400" dirty="0">
                          <a:latin typeface="Times New Roman" panose="02020603050405020304" pitchFamily="18" charset="0"/>
                          <a:cs typeface="Times New Roman" panose="02020603050405020304" pitchFamily="18" charset="0"/>
                        </a:rPr>
                        <a:t>1</a:t>
                      </a:r>
                    </a:p>
                  </a:txBody>
                  <a:tcPr marL="68580" marR="68580" marT="34290" marB="34290">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2400" dirty="0">
                          <a:latin typeface="Times New Roman" panose="02020603050405020304" pitchFamily="18" charset="0"/>
                          <a:cs typeface="Times New Roman" panose="02020603050405020304" pitchFamily="18" charset="0"/>
                        </a:rPr>
                        <a:t>2</a:t>
                      </a:r>
                    </a:p>
                  </a:txBody>
                  <a:tcPr marL="68580" marR="68580" marT="34290" marB="34290">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2400" dirty="0">
                          <a:latin typeface="Times New Roman" panose="02020603050405020304" pitchFamily="18" charset="0"/>
                          <a:cs typeface="Times New Roman" panose="02020603050405020304" pitchFamily="18" charset="0"/>
                        </a:rPr>
                        <a:t>3</a:t>
                      </a:r>
                    </a:p>
                  </a:txBody>
                  <a:tcPr marL="68580" marR="68580" marT="34290" marB="34290">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64956072"/>
                  </a:ext>
                </a:extLst>
              </a:tr>
            </a:tbl>
          </a:graphicData>
        </a:graphic>
      </p:graphicFrame>
      <p:graphicFrame>
        <p:nvGraphicFramePr>
          <p:cNvPr id="9" name="Table 8">
            <a:extLst>
              <a:ext uri="{FF2B5EF4-FFF2-40B4-BE49-F238E27FC236}">
                <a16:creationId xmlns:a16="http://schemas.microsoft.com/office/drawing/2014/main" id="{6EE668D2-3896-DFE5-ED68-0914AB675E94}"/>
              </a:ext>
            </a:extLst>
          </p:cNvPr>
          <p:cNvGraphicFramePr>
            <a:graphicFrameLocks noGrp="1"/>
          </p:cNvGraphicFramePr>
          <p:nvPr>
            <p:extLst>
              <p:ext uri="{D42A27DB-BD31-4B8C-83A1-F6EECF244321}">
                <p14:modId xmlns:p14="http://schemas.microsoft.com/office/powerpoint/2010/main" val="2825811782"/>
              </p:ext>
            </p:extLst>
          </p:nvPr>
        </p:nvGraphicFramePr>
        <p:xfrm>
          <a:off x="4361372" y="1997880"/>
          <a:ext cx="3024555" cy="868680"/>
        </p:xfrm>
        <a:graphic>
          <a:graphicData uri="http://schemas.openxmlformats.org/drawingml/2006/table">
            <a:tbl>
              <a:tblPr firstRow="1" bandRow="1">
                <a:tableStyleId>{5940675A-B579-460E-94D1-54222C63F5DA}</a:tableStyleId>
              </a:tblPr>
              <a:tblGrid>
                <a:gridCol w="1191358">
                  <a:extLst>
                    <a:ext uri="{9D8B030D-6E8A-4147-A177-3AD203B41FA5}">
                      <a16:colId xmlns:a16="http://schemas.microsoft.com/office/drawing/2014/main" val="2370027070"/>
                    </a:ext>
                  </a:extLst>
                </a:gridCol>
                <a:gridCol w="1833197">
                  <a:extLst>
                    <a:ext uri="{9D8B030D-6E8A-4147-A177-3AD203B41FA5}">
                      <a16:colId xmlns:a16="http://schemas.microsoft.com/office/drawing/2014/main" val="2596514875"/>
                    </a:ext>
                  </a:extLst>
                </a:gridCol>
              </a:tblGrid>
              <a:tr h="434340">
                <a:tc>
                  <a:txBody>
                    <a:bodyPr/>
                    <a:lstStyle/>
                    <a:p>
                      <a:r>
                        <a:rPr lang="en-US" sz="2400" dirty="0">
                          <a:latin typeface="Times New Roman" panose="02020603050405020304" pitchFamily="18" charset="0"/>
                          <a:cs typeface="Times New Roman" panose="02020603050405020304" pitchFamily="18" charset="0"/>
                        </a:rPr>
                        <a:t>0x000</a:t>
                      </a:r>
                      <a:r>
                        <a:rPr lang="en-US" sz="2400" dirty="0">
                          <a:solidFill>
                            <a:srgbClr val="FF0000"/>
                          </a:solidFill>
                          <a:latin typeface="Times New Roman" panose="02020603050405020304" pitchFamily="18" charset="0"/>
                          <a:cs typeface="Times New Roman" panose="02020603050405020304" pitchFamily="18" charset="0"/>
                        </a:rPr>
                        <a:t>4</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sz="2400" dirty="0">
                          <a:solidFill>
                            <a:srgbClr val="0070C0"/>
                          </a:solidFill>
                          <a:latin typeface="Times New Roman" panose="02020603050405020304" pitchFamily="18" charset="0"/>
                          <a:cs typeface="Times New Roman" panose="02020603050405020304" pitchFamily="18" charset="0"/>
                        </a:rPr>
                        <a:t>0xCAFE1993</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52438605"/>
                  </a:ext>
                </a:extLst>
              </a:tr>
              <a:tr h="434340">
                <a:tc>
                  <a:txBody>
                    <a:bodyPr/>
                    <a:lstStyle/>
                    <a:p>
                      <a:r>
                        <a:rPr lang="en-US" sz="2400" dirty="0">
                          <a:latin typeface="Times New Roman" panose="02020603050405020304" pitchFamily="18" charset="0"/>
                          <a:cs typeface="Times New Roman" panose="02020603050405020304" pitchFamily="18" charset="0"/>
                        </a:rPr>
                        <a:t>0x000</a:t>
                      </a:r>
                      <a:r>
                        <a:rPr lang="en-US" sz="2400" dirty="0">
                          <a:solidFill>
                            <a:srgbClr val="FF0000"/>
                          </a:solidFill>
                          <a:latin typeface="Times New Roman" panose="02020603050405020304" pitchFamily="18" charset="0"/>
                          <a:cs typeface="Times New Roman" panose="02020603050405020304" pitchFamily="18" charset="0"/>
                        </a:rPr>
                        <a:t>0</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sz="2400" dirty="0">
                          <a:solidFill>
                            <a:srgbClr val="FFC000"/>
                          </a:solidFill>
                          <a:latin typeface="Times New Roman" panose="02020603050405020304" pitchFamily="18" charset="0"/>
                          <a:cs typeface="Times New Roman" panose="02020603050405020304" pitchFamily="18" charset="0"/>
                        </a:rPr>
                        <a:t>0x12345678</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76306463"/>
                  </a:ext>
                </a:extLst>
              </a:tr>
            </a:tbl>
          </a:graphicData>
        </a:graphic>
      </p:graphicFrame>
      <p:sp>
        <p:nvSpPr>
          <p:cNvPr id="10" name="Right Brace 9">
            <a:extLst>
              <a:ext uri="{FF2B5EF4-FFF2-40B4-BE49-F238E27FC236}">
                <a16:creationId xmlns:a16="http://schemas.microsoft.com/office/drawing/2014/main" id="{A62004FF-248A-29F0-226E-4567AA434ACD}"/>
              </a:ext>
            </a:extLst>
          </p:cNvPr>
          <p:cNvSpPr/>
          <p:nvPr/>
        </p:nvSpPr>
        <p:spPr>
          <a:xfrm rot="16200000">
            <a:off x="3036303" y="1479672"/>
            <a:ext cx="501161" cy="3397494"/>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sz="1350"/>
          </a:p>
        </p:txBody>
      </p:sp>
      <p:sp>
        <p:nvSpPr>
          <p:cNvPr id="11" name="Right Brace 10">
            <a:extLst>
              <a:ext uri="{FF2B5EF4-FFF2-40B4-BE49-F238E27FC236}">
                <a16:creationId xmlns:a16="http://schemas.microsoft.com/office/drawing/2014/main" id="{45694F85-7168-EAF1-5D0F-D34A4CA28777}"/>
              </a:ext>
            </a:extLst>
          </p:cNvPr>
          <p:cNvSpPr/>
          <p:nvPr/>
        </p:nvSpPr>
        <p:spPr>
          <a:xfrm rot="16200000">
            <a:off x="8184200" y="1490705"/>
            <a:ext cx="501161" cy="3397494"/>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sz="1350"/>
          </a:p>
        </p:txBody>
      </p:sp>
      <p:sp>
        <p:nvSpPr>
          <p:cNvPr id="12" name="TextBox 11">
            <a:extLst>
              <a:ext uri="{FF2B5EF4-FFF2-40B4-BE49-F238E27FC236}">
                <a16:creationId xmlns:a16="http://schemas.microsoft.com/office/drawing/2014/main" id="{0B472FE2-F2F0-BB94-643F-891708FFBFE1}"/>
              </a:ext>
            </a:extLst>
          </p:cNvPr>
          <p:cNvSpPr txBox="1"/>
          <p:nvPr/>
        </p:nvSpPr>
        <p:spPr>
          <a:xfrm>
            <a:off x="7385926" y="2389691"/>
            <a:ext cx="2133234" cy="461665"/>
          </a:xfrm>
          <a:prstGeom prst="rect">
            <a:avLst/>
          </a:prstGeom>
          <a:noFill/>
        </p:spPr>
        <p:txBody>
          <a:bodyPr wrap="square">
            <a:spAutoFit/>
          </a:bodyPr>
          <a:lstStyle/>
          <a:p>
            <a:pPr algn="ctr"/>
            <a:r>
              <a:rPr lang="en-US" sz="2400" dirty="0">
                <a:latin typeface="Times New Roman" panose="02020603050405020304" pitchFamily="18" charset="0"/>
                <a:cs typeface="Times New Roman" panose="02020603050405020304" pitchFamily="18" charset="0"/>
              </a:rPr>
              <a:t>Big-Endian</a:t>
            </a:r>
            <a:endParaRPr lang="en-US" sz="2400" dirty="0"/>
          </a:p>
        </p:txBody>
      </p:sp>
      <p:sp>
        <p:nvSpPr>
          <p:cNvPr id="13" name="TextBox 12">
            <a:extLst>
              <a:ext uri="{FF2B5EF4-FFF2-40B4-BE49-F238E27FC236}">
                <a16:creationId xmlns:a16="http://schemas.microsoft.com/office/drawing/2014/main" id="{6A183265-5976-30FE-8480-D3B320CB1F33}"/>
              </a:ext>
            </a:extLst>
          </p:cNvPr>
          <p:cNvSpPr txBox="1"/>
          <p:nvPr/>
        </p:nvSpPr>
        <p:spPr>
          <a:xfrm>
            <a:off x="2223751" y="2405843"/>
            <a:ext cx="2133234" cy="461665"/>
          </a:xfrm>
          <a:prstGeom prst="rect">
            <a:avLst/>
          </a:prstGeom>
          <a:noFill/>
        </p:spPr>
        <p:txBody>
          <a:bodyPr wrap="square">
            <a:spAutoFit/>
          </a:bodyPr>
          <a:lstStyle/>
          <a:p>
            <a:pPr algn="ctr"/>
            <a:r>
              <a:rPr lang="en-US" sz="2400" dirty="0">
                <a:latin typeface="Times New Roman" panose="02020603050405020304" pitchFamily="18" charset="0"/>
                <a:cs typeface="Times New Roman" panose="02020603050405020304" pitchFamily="18" charset="0"/>
              </a:rPr>
              <a:t>Little-Endian</a:t>
            </a:r>
            <a:endParaRPr lang="en-US" sz="2400" dirty="0"/>
          </a:p>
        </p:txBody>
      </p:sp>
    </p:spTree>
    <p:extLst>
      <p:ext uri="{BB962C8B-B14F-4D97-AF65-F5344CB8AC3E}">
        <p14:creationId xmlns:p14="http://schemas.microsoft.com/office/powerpoint/2010/main" val="2365415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ppt_x"/>
                                          </p:val>
                                        </p:tav>
                                        <p:tav tm="100000">
                                          <p:val>
                                            <p:strVal val="#ppt_x"/>
                                          </p:val>
                                        </p:tav>
                                      </p:tavLst>
                                    </p:anim>
                                    <p:anim calcmode="lin" valueType="num">
                                      <p:cBhvr additive="base">
                                        <p:cTn id="16" dur="500" fill="hold"/>
                                        <p:tgtEl>
                                          <p:spTgt spid="10"/>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fill="hold"/>
                                        <p:tgtEl>
                                          <p:spTgt spid="12"/>
                                        </p:tgtEl>
                                        <p:attrNameLst>
                                          <p:attrName>ppt_x</p:attrName>
                                        </p:attrNameLst>
                                      </p:cBhvr>
                                      <p:tavLst>
                                        <p:tav tm="0">
                                          <p:val>
                                            <p:strVal val="#ppt_x"/>
                                          </p:val>
                                        </p:tav>
                                        <p:tav tm="100000">
                                          <p:val>
                                            <p:strVal val="#ppt_x"/>
                                          </p:val>
                                        </p:tav>
                                      </p:tavLst>
                                    </p:anim>
                                    <p:anim calcmode="lin" valueType="num">
                                      <p:cBhvr additive="base">
                                        <p:cTn id="24" dur="500" fill="hold"/>
                                        <p:tgtEl>
                                          <p:spTgt spid="12"/>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500" fill="hold"/>
                                        <p:tgtEl>
                                          <p:spTgt spid="13"/>
                                        </p:tgtEl>
                                        <p:attrNameLst>
                                          <p:attrName>ppt_x</p:attrName>
                                        </p:attrNameLst>
                                      </p:cBhvr>
                                      <p:tavLst>
                                        <p:tav tm="0">
                                          <p:val>
                                            <p:strVal val="#ppt_x"/>
                                          </p:val>
                                        </p:tav>
                                        <p:tav tm="100000">
                                          <p:val>
                                            <p:strVal val="#ppt_x"/>
                                          </p:val>
                                        </p:tav>
                                      </p:tavLst>
                                    </p:anim>
                                    <p:anim calcmode="lin" valueType="num">
                                      <p:cBhvr additive="base">
                                        <p:cTn id="2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p:bldP spid="13"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pPr>
              <a:lnSpc>
                <a:spcPct val="90000"/>
              </a:lnSpc>
              <a:defRPr/>
            </a:pPr>
            <a:r>
              <a:rPr lang="en-US"/>
              <a:t>Toán hạng bộ nhớ (tt)</a:t>
            </a:r>
            <a:endParaRPr lang="en-US" b="1"/>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39</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8" name="TextBox 7">
            <a:extLst>
              <a:ext uri="{FF2B5EF4-FFF2-40B4-BE49-F238E27FC236}">
                <a16:creationId xmlns:a16="http://schemas.microsoft.com/office/drawing/2014/main" id="{4A0E060B-1111-1E45-F698-E0940E36ECC0}"/>
              </a:ext>
            </a:extLst>
          </p:cNvPr>
          <p:cNvSpPr txBox="1"/>
          <p:nvPr/>
        </p:nvSpPr>
        <p:spPr>
          <a:xfrm>
            <a:off x="2319771" y="1918133"/>
            <a:ext cx="2049624" cy="461665"/>
          </a:xfrm>
          <a:prstGeom prst="rect">
            <a:avLst/>
          </a:prstGeom>
          <a:noFill/>
        </p:spPr>
        <p:txBody>
          <a:bodyPr wrap="square">
            <a:spAutoFit/>
          </a:bodyPr>
          <a:lstStyle/>
          <a:p>
            <a:pPr algn="ctr"/>
            <a:r>
              <a:rPr lang="en-US" sz="2400" dirty="0" err="1">
                <a:solidFill>
                  <a:srgbClr val="FF0000"/>
                </a:solidFill>
                <a:latin typeface="Times New Roman" panose="02020603050405020304" pitchFamily="18" charset="0"/>
                <a:cs typeface="Times New Roman" panose="02020603050405020304" pitchFamily="18" charset="0"/>
              </a:rPr>
              <a:t>lw</a:t>
            </a:r>
            <a:r>
              <a:rPr lang="en-US" sz="2400" dirty="0">
                <a:solidFill>
                  <a:srgbClr val="FF0000"/>
                </a:solidFill>
                <a:latin typeface="Times New Roman" panose="02020603050405020304" pitchFamily="18" charset="0"/>
                <a:cs typeface="Times New Roman" panose="02020603050405020304" pitchFamily="18" charset="0"/>
              </a:rPr>
              <a:t> </a:t>
            </a:r>
            <a:r>
              <a:rPr lang="en-US" sz="2400" dirty="0">
                <a:solidFill>
                  <a:srgbClr val="7030A0"/>
                </a:solidFill>
                <a:latin typeface="Times New Roman" panose="02020603050405020304" pitchFamily="18" charset="0"/>
                <a:cs typeface="Times New Roman" panose="02020603050405020304" pitchFamily="18" charset="0"/>
              </a:rPr>
              <a:t>$s1</a:t>
            </a:r>
            <a:r>
              <a:rPr lang="en-US" sz="2400" dirty="0">
                <a:latin typeface="Times New Roman" panose="02020603050405020304" pitchFamily="18" charset="0"/>
                <a:cs typeface="Times New Roman" panose="02020603050405020304" pitchFamily="18" charset="0"/>
              </a:rPr>
              <a:t>,</a:t>
            </a:r>
            <a:r>
              <a:rPr lang="en-US" sz="2400" dirty="0">
                <a:solidFill>
                  <a:srgbClr val="FF0000"/>
                </a:solidFill>
                <a:latin typeface="Times New Roman" panose="02020603050405020304" pitchFamily="18" charset="0"/>
                <a:cs typeface="Times New Roman" panose="02020603050405020304" pitchFamily="18" charset="0"/>
              </a:rPr>
              <a:t> </a:t>
            </a:r>
            <a:r>
              <a:rPr lang="en-US" sz="2400" dirty="0">
                <a:solidFill>
                  <a:srgbClr val="00B0F0"/>
                </a:solidFill>
                <a:latin typeface="Times New Roman" panose="02020603050405020304" pitchFamily="18" charset="0"/>
                <a:cs typeface="Times New Roman" panose="02020603050405020304" pitchFamily="18" charset="0"/>
              </a:rPr>
              <a:t>4</a:t>
            </a:r>
            <a:r>
              <a:rPr lang="en-US" sz="2400" dirty="0">
                <a:solidFill>
                  <a:srgbClr val="00B050"/>
                </a:solidFill>
                <a:latin typeface="Times New Roman" panose="02020603050405020304" pitchFamily="18" charset="0"/>
                <a:cs typeface="Times New Roman" panose="02020603050405020304" pitchFamily="18" charset="0"/>
              </a:rPr>
              <a:t>($t2)</a:t>
            </a:r>
          </a:p>
        </p:txBody>
      </p:sp>
      <p:graphicFrame>
        <p:nvGraphicFramePr>
          <p:cNvPr id="9" name="Table 8">
            <a:extLst>
              <a:ext uri="{FF2B5EF4-FFF2-40B4-BE49-F238E27FC236}">
                <a16:creationId xmlns:a16="http://schemas.microsoft.com/office/drawing/2014/main" id="{5028ECE7-3847-3595-3F75-1CAC31702583}"/>
              </a:ext>
            </a:extLst>
          </p:cNvPr>
          <p:cNvGraphicFramePr>
            <a:graphicFrameLocks noGrp="1"/>
          </p:cNvGraphicFramePr>
          <p:nvPr>
            <p:extLst>
              <p:ext uri="{D42A27DB-BD31-4B8C-83A1-F6EECF244321}">
                <p14:modId xmlns:p14="http://schemas.microsoft.com/office/powerpoint/2010/main" val="2221156539"/>
              </p:ext>
            </p:extLst>
          </p:nvPr>
        </p:nvGraphicFramePr>
        <p:xfrm>
          <a:off x="5244127" y="2765340"/>
          <a:ext cx="4950804" cy="2171700"/>
        </p:xfrm>
        <a:graphic>
          <a:graphicData uri="http://schemas.openxmlformats.org/drawingml/2006/table">
            <a:tbl>
              <a:tblPr firstRow="1" bandRow="1">
                <a:tableStyleId>{5940675A-B579-460E-94D1-54222C63F5DA}</a:tableStyleId>
              </a:tblPr>
              <a:tblGrid>
                <a:gridCol w="1650268">
                  <a:extLst>
                    <a:ext uri="{9D8B030D-6E8A-4147-A177-3AD203B41FA5}">
                      <a16:colId xmlns:a16="http://schemas.microsoft.com/office/drawing/2014/main" val="3241220435"/>
                    </a:ext>
                  </a:extLst>
                </a:gridCol>
                <a:gridCol w="825134">
                  <a:extLst>
                    <a:ext uri="{9D8B030D-6E8A-4147-A177-3AD203B41FA5}">
                      <a16:colId xmlns:a16="http://schemas.microsoft.com/office/drawing/2014/main" val="853026056"/>
                    </a:ext>
                  </a:extLst>
                </a:gridCol>
                <a:gridCol w="825134">
                  <a:extLst>
                    <a:ext uri="{9D8B030D-6E8A-4147-A177-3AD203B41FA5}">
                      <a16:colId xmlns:a16="http://schemas.microsoft.com/office/drawing/2014/main" val="1294574985"/>
                    </a:ext>
                  </a:extLst>
                </a:gridCol>
                <a:gridCol w="825134">
                  <a:extLst>
                    <a:ext uri="{9D8B030D-6E8A-4147-A177-3AD203B41FA5}">
                      <a16:colId xmlns:a16="http://schemas.microsoft.com/office/drawing/2014/main" val="3794730779"/>
                    </a:ext>
                  </a:extLst>
                </a:gridCol>
                <a:gridCol w="825134">
                  <a:extLst>
                    <a:ext uri="{9D8B030D-6E8A-4147-A177-3AD203B41FA5}">
                      <a16:colId xmlns:a16="http://schemas.microsoft.com/office/drawing/2014/main" val="3509354948"/>
                    </a:ext>
                  </a:extLst>
                </a:gridCol>
              </a:tblGrid>
              <a:tr h="434340">
                <a:tc>
                  <a:txBody>
                    <a:bodyPr/>
                    <a:lstStyle/>
                    <a:p>
                      <a:pPr algn="ctr"/>
                      <a:r>
                        <a:rPr lang="en-US" sz="2400" dirty="0">
                          <a:latin typeface="Times New Roman" panose="02020603050405020304" pitchFamily="18" charset="0"/>
                          <a:cs typeface="Times New Roman" panose="02020603050405020304" pitchFamily="18" charset="0"/>
                        </a:rPr>
                        <a:t>…</a:t>
                      </a:r>
                    </a:p>
                  </a:txBody>
                  <a:tcPr marL="68580" marR="68580" marT="34290" marB="3429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400" dirty="0">
                          <a:latin typeface="Times New Roman" panose="02020603050405020304" pitchFamily="18" charset="0"/>
                          <a:cs typeface="Times New Roman" panose="02020603050405020304" pitchFamily="18" charset="0"/>
                        </a:rPr>
                        <a:t>…</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latin typeface="Times New Roman" panose="02020603050405020304" pitchFamily="18" charset="0"/>
                          <a:cs typeface="Times New Roman" panose="02020603050405020304" pitchFamily="18" charset="0"/>
                        </a:rPr>
                        <a:t>…</a:t>
                      </a:r>
                    </a:p>
                  </a:txBody>
                  <a:tcPr marL="68580" marR="68580" marT="34290" marB="34290">
                    <a:lnL w="12700" cap="flat" cmpd="sng" algn="ctr">
                      <a:solidFill>
                        <a:schemeClr val="tx1"/>
                      </a:solidFill>
                      <a:prstDash val="solid"/>
                      <a:round/>
                      <a:headEnd type="none" w="med" len="med"/>
                      <a:tailEnd type="none" w="med" len="med"/>
                    </a:lnL>
                  </a:tcPr>
                </a:tc>
                <a:tc>
                  <a:txBody>
                    <a:bodyPr/>
                    <a:lstStyle/>
                    <a:p>
                      <a:pPr algn="ctr"/>
                      <a:r>
                        <a:rPr lang="en-US" sz="2400" dirty="0">
                          <a:latin typeface="Times New Roman" panose="02020603050405020304" pitchFamily="18" charset="0"/>
                          <a:cs typeface="Times New Roman" panose="02020603050405020304" pitchFamily="18" charset="0"/>
                        </a:rPr>
                        <a:t>…</a:t>
                      </a:r>
                    </a:p>
                  </a:txBody>
                  <a:tcPr marL="68580" marR="68580" marT="34290" marB="34290"/>
                </a:tc>
                <a:tc>
                  <a:txBody>
                    <a:bodyPr/>
                    <a:lstStyle/>
                    <a:p>
                      <a:pPr algn="ctr"/>
                      <a:r>
                        <a:rPr lang="en-US" sz="2400" dirty="0">
                          <a:latin typeface="Times New Roman" panose="02020603050405020304" pitchFamily="18" charset="0"/>
                          <a:cs typeface="Times New Roman" panose="02020603050405020304" pitchFamily="18" charset="0"/>
                        </a:rPr>
                        <a:t>…</a:t>
                      </a:r>
                    </a:p>
                  </a:txBody>
                  <a:tcPr marL="68580" marR="68580" marT="34290" marB="34290"/>
                </a:tc>
                <a:extLst>
                  <a:ext uri="{0D108BD9-81ED-4DB2-BD59-A6C34878D82A}">
                    <a16:rowId xmlns:a16="http://schemas.microsoft.com/office/drawing/2014/main" val="3205713870"/>
                  </a:ext>
                </a:extLst>
              </a:tr>
              <a:tr h="434340">
                <a:tc>
                  <a:txBody>
                    <a:bodyPr/>
                    <a:lstStyle/>
                    <a:p>
                      <a:pPr algn="ctr"/>
                      <a:r>
                        <a:rPr lang="en-US" sz="2400" dirty="0">
                          <a:solidFill>
                            <a:schemeClr val="tx1"/>
                          </a:solidFill>
                          <a:latin typeface="Times New Roman" panose="02020603050405020304" pitchFamily="18" charset="0"/>
                          <a:cs typeface="Times New Roman" panose="02020603050405020304" pitchFamily="18" charset="0"/>
                        </a:rPr>
                        <a:t>0x000C</a:t>
                      </a:r>
                    </a:p>
                  </a:txBody>
                  <a:tcPr marL="68580" marR="68580" marT="34290" marB="3429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300" dirty="0">
                          <a:solidFill>
                            <a:schemeClr val="tx1"/>
                          </a:solidFill>
                          <a:latin typeface="Times New Roman" panose="02020603050405020304" pitchFamily="18" charset="0"/>
                          <a:cs typeface="Times New Roman" panose="02020603050405020304" pitchFamily="18" charset="0"/>
                        </a:rPr>
                        <a:t>0x0C</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300" dirty="0">
                          <a:solidFill>
                            <a:schemeClr val="tx1"/>
                          </a:solidFill>
                          <a:latin typeface="Times New Roman" panose="02020603050405020304" pitchFamily="18" charset="0"/>
                          <a:cs typeface="Times New Roman" panose="02020603050405020304" pitchFamily="18" charset="0"/>
                        </a:rPr>
                        <a:t>0x0D</a:t>
                      </a:r>
                    </a:p>
                  </a:txBody>
                  <a:tcPr marL="68580" marR="68580" marT="34290" marB="34290">
                    <a:lnL w="12700" cap="flat" cmpd="sng" algn="ctr">
                      <a:solidFill>
                        <a:schemeClr val="tx1"/>
                      </a:solidFill>
                      <a:prstDash val="solid"/>
                      <a:round/>
                      <a:headEnd type="none" w="med" len="med"/>
                      <a:tailEnd type="none" w="med" len="med"/>
                    </a:lnL>
                  </a:tcPr>
                </a:tc>
                <a:tc>
                  <a:txBody>
                    <a:bodyPr/>
                    <a:lstStyle/>
                    <a:p>
                      <a:r>
                        <a:rPr lang="en-US" sz="2300" dirty="0">
                          <a:solidFill>
                            <a:schemeClr val="tx1"/>
                          </a:solidFill>
                          <a:latin typeface="Times New Roman" panose="02020603050405020304" pitchFamily="18" charset="0"/>
                          <a:cs typeface="Times New Roman" panose="02020603050405020304" pitchFamily="18" charset="0"/>
                        </a:rPr>
                        <a:t>0x0E</a:t>
                      </a:r>
                    </a:p>
                  </a:txBody>
                  <a:tcPr marL="68580" marR="68580" marT="34290" marB="34290"/>
                </a:tc>
                <a:tc>
                  <a:txBody>
                    <a:bodyPr/>
                    <a:lstStyle/>
                    <a:p>
                      <a:r>
                        <a:rPr lang="en-US" sz="2300" dirty="0">
                          <a:solidFill>
                            <a:schemeClr val="tx1"/>
                          </a:solidFill>
                          <a:latin typeface="Times New Roman" panose="02020603050405020304" pitchFamily="18" charset="0"/>
                          <a:cs typeface="Times New Roman" panose="02020603050405020304" pitchFamily="18" charset="0"/>
                        </a:rPr>
                        <a:t>0x0F</a:t>
                      </a:r>
                    </a:p>
                  </a:txBody>
                  <a:tcPr marL="68580" marR="68580" marT="34290" marB="34290"/>
                </a:tc>
                <a:extLst>
                  <a:ext uri="{0D108BD9-81ED-4DB2-BD59-A6C34878D82A}">
                    <a16:rowId xmlns:a16="http://schemas.microsoft.com/office/drawing/2014/main" val="1184022973"/>
                  </a:ext>
                </a:extLst>
              </a:tr>
              <a:tr h="434340">
                <a:tc>
                  <a:txBody>
                    <a:bodyPr/>
                    <a:lstStyle/>
                    <a:p>
                      <a:pPr algn="ctr"/>
                      <a:r>
                        <a:rPr lang="en-US" sz="2400" dirty="0">
                          <a:solidFill>
                            <a:schemeClr val="tx1"/>
                          </a:solidFill>
                          <a:latin typeface="Times New Roman" panose="02020603050405020304" pitchFamily="18" charset="0"/>
                          <a:cs typeface="Times New Roman" panose="02020603050405020304" pitchFamily="18" charset="0"/>
                        </a:rPr>
                        <a:t>0x0008</a:t>
                      </a:r>
                    </a:p>
                  </a:txBody>
                  <a:tcPr marL="68580" marR="68580" marT="34290" marB="3429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300" dirty="0">
                          <a:solidFill>
                            <a:schemeClr val="tx1"/>
                          </a:solidFill>
                          <a:latin typeface="Times New Roman" panose="02020603050405020304" pitchFamily="18" charset="0"/>
                          <a:cs typeface="Times New Roman" panose="02020603050405020304" pitchFamily="18" charset="0"/>
                        </a:rPr>
                        <a:t>0x08</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300" dirty="0">
                          <a:solidFill>
                            <a:schemeClr val="tx1"/>
                          </a:solidFill>
                          <a:latin typeface="Times New Roman" panose="02020603050405020304" pitchFamily="18" charset="0"/>
                          <a:cs typeface="Times New Roman" panose="02020603050405020304" pitchFamily="18" charset="0"/>
                        </a:rPr>
                        <a:t>0x09</a:t>
                      </a:r>
                    </a:p>
                  </a:txBody>
                  <a:tcPr marL="68580" marR="68580" marT="34290" marB="34290">
                    <a:lnL w="12700" cap="flat" cmpd="sng" algn="ctr">
                      <a:solidFill>
                        <a:schemeClr val="tx1"/>
                      </a:solidFill>
                      <a:prstDash val="solid"/>
                      <a:round/>
                      <a:headEnd type="none" w="med" len="med"/>
                      <a:tailEnd type="none" w="med" len="med"/>
                    </a:lnL>
                  </a:tcPr>
                </a:tc>
                <a:tc>
                  <a:txBody>
                    <a:bodyPr/>
                    <a:lstStyle/>
                    <a:p>
                      <a:r>
                        <a:rPr lang="en-US" sz="2300" dirty="0">
                          <a:solidFill>
                            <a:schemeClr val="tx1"/>
                          </a:solidFill>
                          <a:latin typeface="Times New Roman" panose="02020603050405020304" pitchFamily="18" charset="0"/>
                          <a:cs typeface="Times New Roman" panose="02020603050405020304" pitchFamily="18" charset="0"/>
                        </a:rPr>
                        <a:t>0x0A</a:t>
                      </a:r>
                    </a:p>
                  </a:txBody>
                  <a:tcPr marL="68580" marR="68580" marT="34290" marB="34290"/>
                </a:tc>
                <a:tc>
                  <a:txBody>
                    <a:bodyPr/>
                    <a:lstStyle/>
                    <a:p>
                      <a:r>
                        <a:rPr lang="en-US" sz="2300" dirty="0">
                          <a:solidFill>
                            <a:schemeClr val="tx1"/>
                          </a:solidFill>
                          <a:latin typeface="Times New Roman" panose="02020603050405020304" pitchFamily="18" charset="0"/>
                          <a:cs typeface="Times New Roman" panose="02020603050405020304" pitchFamily="18" charset="0"/>
                        </a:rPr>
                        <a:t>0x0B</a:t>
                      </a:r>
                    </a:p>
                  </a:txBody>
                  <a:tcPr marL="68580" marR="68580" marT="34290" marB="34290"/>
                </a:tc>
                <a:extLst>
                  <a:ext uri="{0D108BD9-81ED-4DB2-BD59-A6C34878D82A}">
                    <a16:rowId xmlns:a16="http://schemas.microsoft.com/office/drawing/2014/main" val="3324630392"/>
                  </a:ext>
                </a:extLst>
              </a:tr>
              <a:tr h="434340">
                <a:tc>
                  <a:txBody>
                    <a:bodyPr/>
                    <a:lstStyle/>
                    <a:p>
                      <a:pPr algn="ctr"/>
                      <a:r>
                        <a:rPr lang="en-US" sz="2400" dirty="0">
                          <a:solidFill>
                            <a:schemeClr val="tx1"/>
                          </a:solidFill>
                          <a:latin typeface="Times New Roman" panose="02020603050405020304" pitchFamily="18" charset="0"/>
                          <a:cs typeface="Times New Roman" panose="02020603050405020304" pitchFamily="18" charset="0"/>
                        </a:rPr>
                        <a:t>0x0004</a:t>
                      </a:r>
                    </a:p>
                  </a:txBody>
                  <a:tcPr marL="68580" marR="68580" marT="34290" marB="3429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400" dirty="0">
                          <a:solidFill>
                            <a:schemeClr val="tx1"/>
                          </a:solidFill>
                          <a:latin typeface="Times New Roman" panose="02020603050405020304" pitchFamily="18" charset="0"/>
                          <a:cs typeface="Times New Roman" panose="02020603050405020304" pitchFamily="18" charset="0"/>
                        </a:rPr>
                        <a:t>0x04</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solidFill>
                            <a:schemeClr val="tx1"/>
                          </a:solidFill>
                          <a:latin typeface="Times New Roman" panose="02020603050405020304" pitchFamily="18" charset="0"/>
                          <a:cs typeface="Times New Roman" panose="02020603050405020304" pitchFamily="18" charset="0"/>
                        </a:rPr>
                        <a:t>0x05</a:t>
                      </a:r>
                    </a:p>
                  </a:txBody>
                  <a:tcPr marL="68580" marR="68580" marT="34290" marB="34290">
                    <a:lnL w="12700" cap="flat" cmpd="sng" algn="ctr">
                      <a:solidFill>
                        <a:schemeClr val="tx1"/>
                      </a:solidFill>
                      <a:prstDash val="solid"/>
                      <a:round/>
                      <a:headEnd type="none" w="med" len="med"/>
                      <a:tailEnd type="none" w="med" len="med"/>
                    </a:lnL>
                  </a:tcPr>
                </a:tc>
                <a:tc>
                  <a:txBody>
                    <a:bodyPr/>
                    <a:lstStyle/>
                    <a:p>
                      <a:r>
                        <a:rPr lang="en-US" sz="2400" dirty="0">
                          <a:solidFill>
                            <a:schemeClr val="tx1"/>
                          </a:solidFill>
                          <a:latin typeface="Times New Roman" panose="02020603050405020304" pitchFamily="18" charset="0"/>
                          <a:cs typeface="Times New Roman" panose="02020603050405020304" pitchFamily="18" charset="0"/>
                        </a:rPr>
                        <a:t>0x06</a:t>
                      </a:r>
                    </a:p>
                  </a:txBody>
                  <a:tcPr marL="68580" marR="68580" marT="34290" marB="34290"/>
                </a:tc>
                <a:tc>
                  <a:txBody>
                    <a:bodyPr/>
                    <a:lstStyle/>
                    <a:p>
                      <a:r>
                        <a:rPr lang="en-US" sz="2400" dirty="0">
                          <a:solidFill>
                            <a:schemeClr val="tx1"/>
                          </a:solidFill>
                          <a:latin typeface="Times New Roman" panose="02020603050405020304" pitchFamily="18" charset="0"/>
                          <a:cs typeface="Times New Roman" panose="02020603050405020304" pitchFamily="18" charset="0"/>
                        </a:rPr>
                        <a:t>0x07</a:t>
                      </a:r>
                    </a:p>
                  </a:txBody>
                  <a:tcPr marL="68580" marR="68580" marT="34290" marB="34290"/>
                </a:tc>
                <a:extLst>
                  <a:ext uri="{0D108BD9-81ED-4DB2-BD59-A6C34878D82A}">
                    <a16:rowId xmlns:a16="http://schemas.microsoft.com/office/drawing/2014/main" val="559057927"/>
                  </a:ext>
                </a:extLst>
              </a:tr>
              <a:tr h="434340">
                <a:tc>
                  <a:txBody>
                    <a:bodyPr/>
                    <a:lstStyle/>
                    <a:p>
                      <a:pPr algn="ctr"/>
                      <a:r>
                        <a:rPr lang="en-US" sz="2400" dirty="0">
                          <a:solidFill>
                            <a:schemeClr val="tx1"/>
                          </a:solidFill>
                          <a:latin typeface="Times New Roman" panose="02020603050405020304" pitchFamily="18" charset="0"/>
                          <a:cs typeface="Times New Roman" panose="02020603050405020304" pitchFamily="18" charset="0"/>
                        </a:rPr>
                        <a:t>0x0000</a:t>
                      </a:r>
                    </a:p>
                  </a:txBody>
                  <a:tcPr marL="68580" marR="68580" marT="34290" marB="3429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400" dirty="0">
                          <a:solidFill>
                            <a:schemeClr val="tx1"/>
                          </a:solidFill>
                          <a:latin typeface="Times New Roman" panose="02020603050405020304" pitchFamily="18" charset="0"/>
                          <a:cs typeface="Times New Roman" panose="02020603050405020304" pitchFamily="18" charset="0"/>
                        </a:rPr>
                        <a:t>0x00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solidFill>
                            <a:schemeClr val="tx1"/>
                          </a:solidFill>
                          <a:latin typeface="Times New Roman" panose="02020603050405020304" pitchFamily="18" charset="0"/>
                          <a:cs typeface="Times New Roman" panose="02020603050405020304" pitchFamily="18" charset="0"/>
                        </a:rPr>
                        <a:t>0x01</a:t>
                      </a:r>
                    </a:p>
                  </a:txBody>
                  <a:tcPr marL="68580" marR="68580" marT="34290" marB="34290">
                    <a:lnL w="12700" cap="flat" cmpd="sng" algn="ctr">
                      <a:solidFill>
                        <a:schemeClr val="tx1"/>
                      </a:solidFill>
                      <a:prstDash val="solid"/>
                      <a:round/>
                      <a:headEnd type="none" w="med" len="med"/>
                      <a:tailEnd type="none" w="med" len="med"/>
                    </a:lnL>
                  </a:tcPr>
                </a:tc>
                <a:tc>
                  <a:txBody>
                    <a:bodyPr/>
                    <a:lstStyle/>
                    <a:p>
                      <a:r>
                        <a:rPr lang="en-US" sz="2400" dirty="0">
                          <a:solidFill>
                            <a:schemeClr val="tx1"/>
                          </a:solidFill>
                          <a:latin typeface="Times New Roman" panose="02020603050405020304" pitchFamily="18" charset="0"/>
                          <a:cs typeface="Times New Roman" panose="02020603050405020304" pitchFamily="18" charset="0"/>
                        </a:rPr>
                        <a:t>0x02</a:t>
                      </a:r>
                    </a:p>
                  </a:txBody>
                  <a:tcPr marL="68580" marR="68580" marT="34290" marB="34290"/>
                </a:tc>
                <a:tc>
                  <a:txBody>
                    <a:bodyPr/>
                    <a:lstStyle/>
                    <a:p>
                      <a:r>
                        <a:rPr lang="en-US" sz="2400" dirty="0">
                          <a:solidFill>
                            <a:schemeClr val="tx1"/>
                          </a:solidFill>
                          <a:latin typeface="Times New Roman" panose="02020603050405020304" pitchFamily="18" charset="0"/>
                          <a:cs typeface="Times New Roman" panose="02020603050405020304" pitchFamily="18" charset="0"/>
                        </a:rPr>
                        <a:t>0x03</a:t>
                      </a:r>
                    </a:p>
                  </a:txBody>
                  <a:tcPr marL="68580" marR="68580" marT="34290" marB="34290"/>
                </a:tc>
                <a:extLst>
                  <a:ext uri="{0D108BD9-81ED-4DB2-BD59-A6C34878D82A}">
                    <a16:rowId xmlns:a16="http://schemas.microsoft.com/office/drawing/2014/main" val="1928883691"/>
                  </a:ext>
                </a:extLst>
              </a:tr>
            </a:tbl>
          </a:graphicData>
        </a:graphic>
      </p:graphicFrame>
      <p:graphicFrame>
        <p:nvGraphicFramePr>
          <p:cNvPr id="10" name="Table 9">
            <a:extLst>
              <a:ext uri="{FF2B5EF4-FFF2-40B4-BE49-F238E27FC236}">
                <a16:creationId xmlns:a16="http://schemas.microsoft.com/office/drawing/2014/main" id="{14126DDB-4BC6-C04C-374E-715F261A9232}"/>
              </a:ext>
            </a:extLst>
          </p:cNvPr>
          <p:cNvGraphicFramePr>
            <a:graphicFrameLocks noGrp="1"/>
          </p:cNvGraphicFramePr>
          <p:nvPr>
            <p:extLst>
              <p:ext uri="{D42A27DB-BD31-4B8C-83A1-F6EECF244321}">
                <p14:modId xmlns:p14="http://schemas.microsoft.com/office/powerpoint/2010/main" val="4204319563"/>
              </p:ext>
            </p:extLst>
          </p:nvPr>
        </p:nvGraphicFramePr>
        <p:xfrm>
          <a:off x="1641479" y="3634020"/>
          <a:ext cx="2398103" cy="1303020"/>
        </p:xfrm>
        <a:graphic>
          <a:graphicData uri="http://schemas.openxmlformats.org/drawingml/2006/table">
            <a:tbl>
              <a:tblPr firstRow="1" bandRow="1">
                <a:tableStyleId>{5940675A-B579-460E-94D1-54222C63F5DA}</a:tableStyleId>
              </a:tblPr>
              <a:tblGrid>
                <a:gridCol w="947372">
                  <a:extLst>
                    <a:ext uri="{9D8B030D-6E8A-4147-A177-3AD203B41FA5}">
                      <a16:colId xmlns:a16="http://schemas.microsoft.com/office/drawing/2014/main" val="2104779220"/>
                    </a:ext>
                  </a:extLst>
                </a:gridCol>
                <a:gridCol w="1450731">
                  <a:extLst>
                    <a:ext uri="{9D8B030D-6E8A-4147-A177-3AD203B41FA5}">
                      <a16:colId xmlns:a16="http://schemas.microsoft.com/office/drawing/2014/main" val="1767099797"/>
                    </a:ext>
                  </a:extLst>
                </a:gridCol>
              </a:tblGrid>
              <a:tr h="434340">
                <a:tc>
                  <a:txBody>
                    <a:bodyPr/>
                    <a:lstStyle/>
                    <a:p>
                      <a:pPr algn="ctr"/>
                      <a:r>
                        <a:rPr lang="en-US" sz="2400" dirty="0">
                          <a:latin typeface="Times New Roman" panose="02020603050405020304" pitchFamily="18" charset="0"/>
                          <a:cs typeface="Times New Roman" panose="02020603050405020304" pitchFamily="18" charset="0"/>
                        </a:rPr>
                        <a:t>…</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latin typeface="Times New Roman" panose="02020603050405020304" pitchFamily="18" charset="0"/>
                          <a:cs typeface="Times New Roman" panose="02020603050405020304" pitchFamily="18" charset="0"/>
                        </a:rPr>
                        <a:t>…</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1080934"/>
                  </a:ext>
                </a:extLst>
              </a:tr>
              <a:tr h="434340">
                <a:tc>
                  <a:txBody>
                    <a:bodyPr/>
                    <a:lstStyle/>
                    <a:p>
                      <a:pPr algn="ctr"/>
                      <a:r>
                        <a:rPr lang="en-US" sz="2400" dirty="0">
                          <a:latin typeface="Times New Roman" panose="02020603050405020304" pitchFamily="18" charset="0"/>
                          <a:cs typeface="Times New Roman" panose="02020603050405020304" pitchFamily="18" charset="0"/>
                        </a:rPr>
                        <a:t>$t2</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0x08</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3117984"/>
                  </a:ext>
                </a:extLst>
              </a:tr>
              <a:tr h="434340">
                <a:tc>
                  <a:txBody>
                    <a:bodyPr/>
                    <a:lstStyle/>
                    <a:p>
                      <a:pPr algn="ctr"/>
                      <a:r>
                        <a:rPr lang="en-US" sz="2400" dirty="0">
                          <a:latin typeface="Times New Roman" panose="02020603050405020304" pitchFamily="18" charset="0"/>
                          <a:cs typeface="Times New Roman" panose="02020603050405020304" pitchFamily="18" charset="0"/>
                        </a:rPr>
                        <a:t>...</a:t>
                      </a:r>
                    </a:p>
                  </a:txBody>
                  <a:tcPr marL="68580" marR="68580" marT="34290" marB="3429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latin typeface="Times New Roman" panose="02020603050405020304" pitchFamily="18" charset="0"/>
                          <a:cs typeface="Times New Roman" panose="02020603050405020304" pitchFamily="18" charset="0"/>
                        </a:rPr>
                        <a:t>…</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47873999"/>
                  </a:ext>
                </a:extLst>
              </a:tr>
            </a:tbl>
          </a:graphicData>
        </a:graphic>
      </p:graphicFrame>
      <p:sp>
        <p:nvSpPr>
          <p:cNvPr id="11" name="Plus Sign 10">
            <a:extLst>
              <a:ext uri="{FF2B5EF4-FFF2-40B4-BE49-F238E27FC236}">
                <a16:creationId xmlns:a16="http://schemas.microsoft.com/office/drawing/2014/main" id="{59322BC3-5211-5E43-4BD6-156BC00B3B5E}"/>
              </a:ext>
            </a:extLst>
          </p:cNvPr>
          <p:cNvSpPr/>
          <p:nvPr/>
        </p:nvSpPr>
        <p:spPr>
          <a:xfrm>
            <a:off x="4336294" y="3113986"/>
            <a:ext cx="422031" cy="438581"/>
          </a:xfrm>
          <a:prstGeom prst="mathPlus">
            <a:avLst/>
          </a:prstGeom>
          <a:solidFill>
            <a:schemeClr val="accent2"/>
          </a:solidFill>
          <a:ln>
            <a:solidFill>
              <a:schemeClr val="accent2"/>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350"/>
          </a:p>
        </p:txBody>
      </p:sp>
      <p:cxnSp>
        <p:nvCxnSpPr>
          <p:cNvPr id="12" name="Straight Connector 11">
            <a:extLst>
              <a:ext uri="{FF2B5EF4-FFF2-40B4-BE49-F238E27FC236}">
                <a16:creationId xmlns:a16="http://schemas.microsoft.com/office/drawing/2014/main" id="{198BD159-C2E4-2937-DE23-657F150D1629}"/>
              </a:ext>
            </a:extLst>
          </p:cNvPr>
          <p:cNvCxnSpPr>
            <a:cxnSpLocks/>
          </p:cNvCxnSpPr>
          <p:nvPr/>
        </p:nvCxnSpPr>
        <p:spPr>
          <a:xfrm>
            <a:off x="3561865" y="2401092"/>
            <a:ext cx="774430" cy="824662"/>
          </a:xfrm>
          <a:prstGeom prst="line">
            <a:avLst/>
          </a:prstGeom>
          <a:ln>
            <a:solidFill>
              <a:srgbClr val="00B0F0"/>
            </a:solidFill>
            <a:headEnd type="none" w="med" len="med"/>
            <a:tailEnd type="triangle" w="med" len="med"/>
          </a:ln>
        </p:spPr>
        <p:style>
          <a:lnRef idx="1">
            <a:schemeClr val="accent2"/>
          </a:lnRef>
          <a:fillRef idx="0">
            <a:schemeClr val="accent2"/>
          </a:fillRef>
          <a:effectRef idx="0">
            <a:schemeClr val="accent2"/>
          </a:effectRef>
          <a:fontRef idx="minor">
            <a:schemeClr val="tx1"/>
          </a:fontRef>
        </p:style>
      </p:cxnSp>
      <p:cxnSp>
        <p:nvCxnSpPr>
          <p:cNvPr id="13" name="Straight Connector 12">
            <a:extLst>
              <a:ext uri="{FF2B5EF4-FFF2-40B4-BE49-F238E27FC236}">
                <a16:creationId xmlns:a16="http://schemas.microsoft.com/office/drawing/2014/main" id="{9F4EA41B-C507-2308-C668-269EC9E9AAB9}"/>
              </a:ext>
            </a:extLst>
          </p:cNvPr>
          <p:cNvCxnSpPr>
            <a:cxnSpLocks/>
          </p:cNvCxnSpPr>
          <p:nvPr/>
        </p:nvCxnSpPr>
        <p:spPr>
          <a:xfrm flipH="1">
            <a:off x="3245342" y="2356713"/>
            <a:ext cx="651226" cy="1799777"/>
          </a:xfrm>
          <a:prstGeom prst="line">
            <a:avLst/>
          </a:prstGeom>
          <a:ln>
            <a:solidFill>
              <a:srgbClr val="00B050"/>
            </a:solidFill>
            <a:headEnd type="none" w="med" len="med"/>
            <a:tailEnd type="triangle" w="med" len="med"/>
          </a:ln>
        </p:spPr>
        <p:style>
          <a:lnRef idx="1">
            <a:schemeClr val="accent2"/>
          </a:lnRef>
          <a:fillRef idx="0">
            <a:schemeClr val="accent2"/>
          </a:fillRef>
          <a:effectRef idx="0">
            <a:schemeClr val="accent2"/>
          </a:effectRef>
          <a:fontRef idx="minor">
            <a:schemeClr val="tx1"/>
          </a:fontRef>
        </p:style>
      </p:cxnSp>
      <p:cxnSp>
        <p:nvCxnSpPr>
          <p:cNvPr id="14" name="Straight Connector 13">
            <a:extLst>
              <a:ext uri="{FF2B5EF4-FFF2-40B4-BE49-F238E27FC236}">
                <a16:creationId xmlns:a16="http://schemas.microsoft.com/office/drawing/2014/main" id="{C7F3328A-412B-0592-688E-67BEC3763472}"/>
              </a:ext>
            </a:extLst>
          </p:cNvPr>
          <p:cNvCxnSpPr>
            <a:cxnSpLocks/>
          </p:cNvCxnSpPr>
          <p:nvPr/>
        </p:nvCxnSpPr>
        <p:spPr>
          <a:xfrm flipV="1">
            <a:off x="3725287" y="3526497"/>
            <a:ext cx="611007" cy="629993"/>
          </a:xfrm>
          <a:prstGeom prst="line">
            <a:avLst/>
          </a:prstGeom>
          <a:ln>
            <a:solidFill>
              <a:srgbClr val="00B050"/>
            </a:solidFill>
            <a:headEnd type="none" w="med" len="med"/>
            <a:tailEnd type="triangle" w="med" len="med"/>
          </a:ln>
        </p:spPr>
        <p:style>
          <a:lnRef idx="1">
            <a:schemeClr val="accent2"/>
          </a:lnRef>
          <a:fillRef idx="0">
            <a:schemeClr val="accent2"/>
          </a:fillRef>
          <a:effectRef idx="0">
            <a:schemeClr val="accent2"/>
          </a:effectRef>
          <a:fontRef idx="minor">
            <a:schemeClr val="tx1"/>
          </a:fontRef>
        </p:style>
      </p:cxnSp>
      <p:sp>
        <p:nvSpPr>
          <p:cNvPr id="15" name="TextBox 14">
            <a:extLst>
              <a:ext uri="{FF2B5EF4-FFF2-40B4-BE49-F238E27FC236}">
                <a16:creationId xmlns:a16="http://schemas.microsoft.com/office/drawing/2014/main" id="{5C3CE5FD-2FD4-C5DC-B554-D88D4EAF6D39}"/>
              </a:ext>
            </a:extLst>
          </p:cNvPr>
          <p:cNvSpPr txBox="1"/>
          <p:nvPr/>
        </p:nvSpPr>
        <p:spPr>
          <a:xfrm>
            <a:off x="1641478" y="3087916"/>
            <a:ext cx="2020112" cy="461665"/>
          </a:xfrm>
          <a:prstGeom prst="rect">
            <a:avLst/>
          </a:prstGeom>
          <a:noFill/>
        </p:spPr>
        <p:txBody>
          <a:bodyPr wrap="square">
            <a:spAutoFit/>
          </a:bodyPr>
          <a:lstStyle/>
          <a:p>
            <a:pPr algn="ctr"/>
            <a:r>
              <a:rPr lang="en-US" sz="2400" dirty="0" err="1">
                <a:latin typeface="Times New Roman" panose="02020603050405020304" pitchFamily="18" charset="0"/>
                <a:cs typeface="Times New Roman" panose="02020603050405020304" pitchFamily="18" charset="0"/>
              </a:rPr>
              <a:t>Tập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thanh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ghi</a:t>
            </a:r>
            <a:endParaRPr lang="en-US" sz="2400" dirty="0">
              <a:latin typeface="Times New Roman" panose="02020603050405020304" pitchFamily="18" charset="0"/>
              <a:cs typeface="Times New Roman" panose="02020603050405020304" pitchFamily="18" charset="0"/>
            </a:endParaRPr>
          </a:p>
        </p:txBody>
      </p:sp>
      <p:cxnSp>
        <p:nvCxnSpPr>
          <p:cNvPr id="16" name="Straight Connector 15">
            <a:extLst>
              <a:ext uri="{FF2B5EF4-FFF2-40B4-BE49-F238E27FC236}">
                <a16:creationId xmlns:a16="http://schemas.microsoft.com/office/drawing/2014/main" id="{BC42EBEA-3BF2-57F8-0576-5E1BAD2900B3}"/>
              </a:ext>
            </a:extLst>
          </p:cNvPr>
          <p:cNvCxnSpPr>
            <a:cxnSpLocks/>
          </p:cNvCxnSpPr>
          <p:nvPr/>
        </p:nvCxnSpPr>
        <p:spPr>
          <a:xfrm flipV="1">
            <a:off x="4804400" y="3392487"/>
            <a:ext cx="736439" cy="1"/>
          </a:xfrm>
          <a:prstGeom prst="line">
            <a:avLst/>
          </a:prstGeom>
          <a:ln>
            <a:solidFill>
              <a:srgbClr val="FFC000"/>
            </a:solidFill>
            <a:headEnd type="none" w="med" len="med"/>
            <a:tailEnd type="triangle" w="med" len="med"/>
          </a:ln>
        </p:spPr>
        <p:style>
          <a:lnRef idx="1">
            <a:schemeClr val="accent2"/>
          </a:lnRef>
          <a:fillRef idx="0">
            <a:schemeClr val="accent2"/>
          </a:fillRef>
          <a:effectRef idx="0">
            <a:schemeClr val="accent2"/>
          </a:effectRef>
          <a:fontRef idx="minor">
            <a:schemeClr val="tx1"/>
          </a:fontRef>
        </p:style>
      </p:cxnSp>
      <p:sp>
        <p:nvSpPr>
          <p:cNvPr id="17" name="TextBox 16">
            <a:extLst>
              <a:ext uri="{FF2B5EF4-FFF2-40B4-BE49-F238E27FC236}">
                <a16:creationId xmlns:a16="http://schemas.microsoft.com/office/drawing/2014/main" id="{0E5F92B5-EAD9-7C3B-9AA2-DD2873DB22EA}"/>
              </a:ext>
            </a:extLst>
          </p:cNvPr>
          <p:cNvSpPr txBox="1"/>
          <p:nvPr/>
        </p:nvSpPr>
        <p:spPr>
          <a:xfrm>
            <a:off x="8652611" y="2194988"/>
            <a:ext cx="1561368" cy="461665"/>
          </a:xfrm>
          <a:prstGeom prst="rect">
            <a:avLst/>
          </a:prstGeom>
          <a:noFill/>
        </p:spPr>
        <p:txBody>
          <a:bodyPr wrap="square">
            <a:spAutoFit/>
          </a:bodyPr>
          <a:lstStyle/>
          <a:p>
            <a:pPr algn="ctr"/>
            <a:r>
              <a:rPr lang="en-US" sz="2400" dirty="0" err="1">
                <a:latin typeface="Times New Roman" panose="02020603050405020304" pitchFamily="18" charset="0"/>
                <a:cs typeface="Times New Roman" panose="02020603050405020304" pitchFamily="18" charset="0"/>
              </a:rPr>
              <a:t>Bộ</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nhớ</a:t>
            </a:r>
            <a:endParaRPr lang="en-US" sz="2400" dirty="0">
              <a:latin typeface="Times New Roman" panose="02020603050405020304" pitchFamily="18" charset="0"/>
              <a:cs typeface="Times New Roman" panose="02020603050405020304" pitchFamily="18" charset="0"/>
            </a:endParaRPr>
          </a:p>
        </p:txBody>
      </p:sp>
      <p:sp>
        <p:nvSpPr>
          <p:cNvPr id="18" name="Right Brace 17">
            <a:extLst>
              <a:ext uri="{FF2B5EF4-FFF2-40B4-BE49-F238E27FC236}">
                <a16:creationId xmlns:a16="http://schemas.microsoft.com/office/drawing/2014/main" id="{FA9F5E66-10D5-0234-354F-D167459FDBF0}"/>
              </a:ext>
            </a:extLst>
          </p:cNvPr>
          <p:cNvSpPr/>
          <p:nvPr/>
        </p:nvSpPr>
        <p:spPr>
          <a:xfrm rot="16200000">
            <a:off x="8229781" y="1352191"/>
            <a:ext cx="592186" cy="3128560"/>
          </a:xfrm>
          <a:prstGeom prst="rightBrace">
            <a:avLst/>
          </a:prstGeom>
          <a:ln>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19" name="Arc 18">
            <a:extLst>
              <a:ext uri="{FF2B5EF4-FFF2-40B4-BE49-F238E27FC236}">
                <a16:creationId xmlns:a16="http://schemas.microsoft.com/office/drawing/2014/main" id="{834BC8E6-29F3-E8A3-B7E8-BD4E17CB7603}"/>
              </a:ext>
            </a:extLst>
          </p:cNvPr>
          <p:cNvSpPr/>
          <p:nvPr/>
        </p:nvSpPr>
        <p:spPr>
          <a:xfrm>
            <a:off x="2649440" y="1609581"/>
            <a:ext cx="5757116" cy="1799777"/>
          </a:xfrm>
          <a:prstGeom prst="arc">
            <a:avLst>
              <a:gd name="adj1" fmla="val 11702759"/>
              <a:gd name="adj2" fmla="val 94049"/>
            </a:avLst>
          </a:prstGeom>
          <a:ln>
            <a:solidFill>
              <a:srgbClr val="7030A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Tree>
    <p:extLst>
      <p:ext uri="{BB962C8B-B14F-4D97-AF65-F5344CB8AC3E}">
        <p14:creationId xmlns:p14="http://schemas.microsoft.com/office/powerpoint/2010/main" val="552325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fill="hold"/>
                                        <p:tgtEl>
                                          <p:spTgt spid="13"/>
                                        </p:tgtEl>
                                        <p:attrNameLst>
                                          <p:attrName>ppt_x</p:attrName>
                                        </p:attrNameLst>
                                      </p:cBhvr>
                                      <p:tavLst>
                                        <p:tav tm="0">
                                          <p:val>
                                            <p:strVal val="#ppt_x"/>
                                          </p:val>
                                        </p:tav>
                                        <p:tav tm="100000">
                                          <p:val>
                                            <p:strVal val="#ppt_x"/>
                                          </p:val>
                                        </p:tav>
                                      </p:tavLst>
                                    </p:anim>
                                    <p:anim calcmode="lin" valueType="num">
                                      <p:cBhvr additive="base">
                                        <p:cTn id="1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ppt_x"/>
                                          </p:val>
                                        </p:tav>
                                        <p:tav tm="100000">
                                          <p:val>
                                            <p:strVal val="#ppt_x"/>
                                          </p:val>
                                        </p:tav>
                                      </p:tavLst>
                                    </p:anim>
                                    <p:anim calcmode="lin" valueType="num">
                                      <p:cBhvr additive="base">
                                        <p:cTn id="20" dur="500" fill="hold"/>
                                        <p:tgtEl>
                                          <p:spTgt spid="12"/>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anim calcmode="lin" valueType="num">
                                      <p:cBhvr additive="base">
                                        <p:cTn id="23" dur="500" fill="hold"/>
                                        <p:tgtEl>
                                          <p:spTgt spid="14"/>
                                        </p:tgtEl>
                                        <p:attrNameLst>
                                          <p:attrName>ppt_x</p:attrName>
                                        </p:attrNameLst>
                                      </p:cBhvr>
                                      <p:tavLst>
                                        <p:tav tm="0">
                                          <p:val>
                                            <p:strVal val="#ppt_x"/>
                                          </p:val>
                                        </p:tav>
                                        <p:tav tm="100000">
                                          <p:val>
                                            <p:strVal val="#ppt_x"/>
                                          </p:val>
                                        </p:tav>
                                      </p:tavLst>
                                    </p:anim>
                                    <p:anim calcmode="lin" valueType="num">
                                      <p:cBhvr additive="base">
                                        <p:cTn id="24" dur="500" fill="hold"/>
                                        <p:tgtEl>
                                          <p:spTgt spid="14"/>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500" fill="hold"/>
                                        <p:tgtEl>
                                          <p:spTgt spid="11"/>
                                        </p:tgtEl>
                                        <p:attrNameLst>
                                          <p:attrName>ppt_x</p:attrName>
                                        </p:attrNameLst>
                                      </p:cBhvr>
                                      <p:tavLst>
                                        <p:tav tm="0">
                                          <p:val>
                                            <p:strVal val="#ppt_x"/>
                                          </p:val>
                                        </p:tav>
                                        <p:tav tm="100000">
                                          <p:val>
                                            <p:strVal val="#ppt_x"/>
                                          </p:val>
                                        </p:tav>
                                      </p:tavLst>
                                    </p:anim>
                                    <p:anim calcmode="lin" valueType="num">
                                      <p:cBhvr additive="base">
                                        <p:cTn id="2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16"/>
                                        </p:tgtEl>
                                        <p:attrNameLst>
                                          <p:attrName>style.visibility</p:attrName>
                                        </p:attrNameLst>
                                      </p:cBhvr>
                                      <p:to>
                                        <p:strVal val="visible"/>
                                      </p:to>
                                    </p:set>
                                    <p:anim calcmode="lin" valueType="num">
                                      <p:cBhvr additive="base">
                                        <p:cTn id="33" dur="500" fill="hold"/>
                                        <p:tgtEl>
                                          <p:spTgt spid="16"/>
                                        </p:tgtEl>
                                        <p:attrNameLst>
                                          <p:attrName>ppt_x</p:attrName>
                                        </p:attrNameLst>
                                      </p:cBhvr>
                                      <p:tavLst>
                                        <p:tav tm="0">
                                          <p:val>
                                            <p:strVal val="#ppt_x"/>
                                          </p:val>
                                        </p:tav>
                                        <p:tav tm="100000">
                                          <p:val>
                                            <p:strVal val="#ppt_x"/>
                                          </p:val>
                                        </p:tav>
                                      </p:tavLst>
                                    </p:anim>
                                    <p:anim calcmode="lin" valueType="num">
                                      <p:cBhvr additive="base">
                                        <p:cTn id="34"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18"/>
                                        </p:tgtEl>
                                        <p:attrNameLst>
                                          <p:attrName>style.visibility</p:attrName>
                                        </p:attrNameLst>
                                      </p:cBhvr>
                                      <p:to>
                                        <p:strVal val="visible"/>
                                      </p:to>
                                    </p:set>
                                    <p:anim calcmode="lin" valueType="num">
                                      <p:cBhvr additive="base">
                                        <p:cTn id="39" dur="500" fill="hold"/>
                                        <p:tgtEl>
                                          <p:spTgt spid="18"/>
                                        </p:tgtEl>
                                        <p:attrNameLst>
                                          <p:attrName>ppt_x</p:attrName>
                                        </p:attrNameLst>
                                      </p:cBhvr>
                                      <p:tavLst>
                                        <p:tav tm="0">
                                          <p:val>
                                            <p:strVal val="#ppt_x"/>
                                          </p:val>
                                        </p:tav>
                                        <p:tav tm="100000">
                                          <p:val>
                                            <p:strVal val="#ppt_x"/>
                                          </p:val>
                                        </p:tav>
                                      </p:tavLst>
                                    </p:anim>
                                    <p:anim calcmode="lin" valueType="num">
                                      <p:cBhvr additive="base">
                                        <p:cTn id="40" dur="500" fill="hold"/>
                                        <p:tgtEl>
                                          <p:spTgt spid="18"/>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9"/>
                                        </p:tgtEl>
                                        <p:attrNameLst>
                                          <p:attrName>style.visibility</p:attrName>
                                        </p:attrNameLst>
                                      </p:cBhvr>
                                      <p:to>
                                        <p:strVal val="visible"/>
                                      </p:to>
                                    </p:set>
                                    <p:anim calcmode="lin" valueType="num">
                                      <p:cBhvr additive="base">
                                        <p:cTn id="43" dur="500" fill="hold"/>
                                        <p:tgtEl>
                                          <p:spTgt spid="19"/>
                                        </p:tgtEl>
                                        <p:attrNameLst>
                                          <p:attrName>ppt_x</p:attrName>
                                        </p:attrNameLst>
                                      </p:cBhvr>
                                      <p:tavLst>
                                        <p:tav tm="0">
                                          <p:val>
                                            <p:strVal val="#ppt_x"/>
                                          </p:val>
                                        </p:tav>
                                        <p:tav tm="100000">
                                          <p:val>
                                            <p:strVal val="#ppt_x"/>
                                          </p:val>
                                        </p:tav>
                                      </p:tavLst>
                                    </p:anim>
                                    <p:anim calcmode="lin" valueType="num">
                                      <p:cBhvr additive="base">
                                        <p:cTn id="44"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animBg="1"/>
      <p:bldP spid="18" grpId="0" animBg="1"/>
      <p:bldP spid="19"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pPr>
              <a:lnSpc>
                <a:spcPct val="90000"/>
              </a:lnSpc>
              <a:defRPr/>
            </a:pPr>
            <a:r>
              <a:rPr lang="en-US"/>
              <a:t>Toán hạng bộ nhớ - Quiz 3</a:t>
            </a:r>
            <a:endParaRPr lang="en-US" b="1"/>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40</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8" name="Content Placeholder 2">
            <a:extLst>
              <a:ext uri="{FF2B5EF4-FFF2-40B4-BE49-F238E27FC236}">
                <a16:creationId xmlns:a16="http://schemas.microsoft.com/office/drawing/2014/main" id="{1234E930-16D7-4A82-4351-52E28F6DF845}"/>
              </a:ext>
            </a:extLst>
          </p:cNvPr>
          <p:cNvSpPr>
            <a:spLocks noGrp="1"/>
          </p:cNvSpPr>
          <p:nvPr>
            <p:ph idx="1"/>
          </p:nvPr>
        </p:nvSpPr>
        <p:spPr>
          <a:xfrm>
            <a:off x="1014096" y="3338830"/>
            <a:ext cx="6742595" cy="2618625"/>
          </a:xfrm>
        </p:spPr>
        <p:txBody>
          <a:bodyPr>
            <a:normAutofit/>
          </a:bodyPr>
          <a:lstStyle/>
          <a:p>
            <a:pPr marL="0" indent="0">
              <a:buNone/>
            </a:pPr>
            <a:r>
              <a:rPr lang="en-US" sz="2400" dirty="0" err="1"/>
              <a:t>Chuyển</a:t>
            </a:r>
            <a:r>
              <a:rPr lang="en-US" sz="2400" dirty="0"/>
              <a:t> </a:t>
            </a:r>
            <a:r>
              <a:rPr lang="en-US" sz="2400" dirty="0" err="1"/>
              <a:t>đổi</a:t>
            </a:r>
            <a:r>
              <a:rPr lang="en-US" sz="2400" dirty="0"/>
              <a:t> </a:t>
            </a:r>
            <a:r>
              <a:rPr lang="en-US" sz="2400" dirty="0" err="1"/>
              <a:t>lệnh</a:t>
            </a:r>
            <a:r>
              <a:rPr lang="en-US" sz="2400" dirty="0"/>
              <a:t> </a:t>
            </a:r>
            <a:r>
              <a:rPr lang="en-US" sz="2400" dirty="0" err="1"/>
              <a:t>trong</a:t>
            </a:r>
            <a:r>
              <a:rPr lang="en-US" sz="2400" dirty="0"/>
              <a:t> </a:t>
            </a:r>
            <a:r>
              <a:rPr lang="en-US" sz="2400" dirty="0" err="1"/>
              <a:t>lập</a:t>
            </a:r>
            <a:r>
              <a:rPr lang="en-US" sz="2400" dirty="0"/>
              <a:t> </a:t>
            </a:r>
            <a:r>
              <a:rPr lang="en-US" sz="2400" dirty="0" err="1"/>
              <a:t>trình</a:t>
            </a:r>
            <a:r>
              <a:rPr lang="en-US" sz="2400" dirty="0"/>
              <a:t> C </a:t>
            </a:r>
            <a:r>
              <a:rPr lang="en-US" sz="2400" dirty="0" err="1"/>
              <a:t>thành</a:t>
            </a:r>
            <a:r>
              <a:rPr lang="en-US" sz="2400" dirty="0"/>
              <a:t> </a:t>
            </a:r>
            <a:r>
              <a:rPr lang="en-US" sz="2400" dirty="0" err="1"/>
              <a:t>lệnh</a:t>
            </a:r>
            <a:r>
              <a:rPr lang="en-US" sz="2400" dirty="0"/>
              <a:t> </a:t>
            </a:r>
            <a:r>
              <a:rPr lang="en-US" sz="2400" dirty="0" err="1"/>
              <a:t>hợp</a:t>
            </a:r>
            <a:r>
              <a:rPr lang="en-US" sz="2400" dirty="0"/>
              <a:t> </a:t>
            </a:r>
            <a:r>
              <a:rPr lang="en-US" sz="2400" dirty="0" err="1"/>
              <a:t>ngữ</a:t>
            </a:r>
            <a:r>
              <a:rPr lang="en-US" sz="2400" dirty="0"/>
              <a:t> MIPS, </a:t>
            </a:r>
            <a:r>
              <a:rPr lang="en-US" sz="2400" dirty="0" err="1"/>
              <a:t>giả</a:t>
            </a:r>
            <a:r>
              <a:rPr lang="en-US" sz="2400" dirty="0"/>
              <a:t> </a:t>
            </a:r>
            <a:r>
              <a:rPr lang="en-US" sz="2400" dirty="0" err="1"/>
              <a:t>sử</a:t>
            </a:r>
            <a:r>
              <a:rPr lang="en-US" sz="2400" dirty="0"/>
              <a:t> A </a:t>
            </a:r>
            <a:r>
              <a:rPr lang="en-US" sz="2400" dirty="0" err="1"/>
              <a:t>là</a:t>
            </a:r>
            <a:r>
              <a:rPr lang="en-US" sz="2400" dirty="0"/>
              <a:t> </a:t>
            </a:r>
            <a:r>
              <a:rPr lang="en-US" sz="2400" dirty="0" err="1"/>
              <a:t>một</a:t>
            </a:r>
            <a:r>
              <a:rPr lang="en-US" sz="2400" dirty="0"/>
              <a:t> </a:t>
            </a:r>
            <a:r>
              <a:rPr lang="en-US" sz="2400" dirty="0" err="1"/>
              <a:t>biến</a:t>
            </a:r>
            <a:r>
              <a:rPr lang="en-US" sz="2400" dirty="0"/>
              <a:t> </a:t>
            </a:r>
            <a:r>
              <a:rPr lang="en-US" sz="2400" dirty="0" err="1"/>
              <a:t>nguyên</a:t>
            </a:r>
            <a:r>
              <a:rPr lang="en-US" sz="2400" dirty="0"/>
              <a:t> </a:t>
            </a:r>
            <a:r>
              <a:rPr lang="en-US" sz="2400" dirty="0" err="1"/>
              <a:t>nằm</a:t>
            </a:r>
            <a:r>
              <a:rPr lang="en-US" sz="2400" dirty="0"/>
              <a:t> </a:t>
            </a:r>
            <a:r>
              <a:rPr lang="en-US" sz="2400" dirty="0" err="1"/>
              <a:t>trong</a:t>
            </a:r>
            <a:r>
              <a:rPr lang="en-US" sz="2400" dirty="0"/>
              <a:t> $s0 </a:t>
            </a:r>
            <a:r>
              <a:rPr lang="en-US" sz="2400" dirty="0" err="1"/>
              <a:t>và</a:t>
            </a:r>
            <a:r>
              <a:rPr lang="en-US" sz="2400" dirty="0"/>
              <a:t> </a:t>
            </a:r>
            <a:r>
              <a:rPr lang="en-US" sz="2400" dirty="0" err="1"/>
              <a:t>mảng</a:t>
            </a:r>
            <a:r>
              <a:rPr lang="en-US" sz="2400" dirty="0"/>
              <a:t> </a:t>
            </a:r>
            <a:r>
              <a:rPr lang="en-US" sz="2400" dirty="0" err="1"/>
              <a:t>các</a:t>
            </a:r>
            <a:r>
              <a:rPr lang="en-US" sz="2400" dirty="0"/>
              <a:t> </a:t>
            </a:r>
            <a:r>
              <a:rPr lang="en-US" sz="2400" dirty="0" err="1"/>
              <a:t>số</a:t>
            </a:r>
            <a:r>
              <a:rPr lang="en-US" sz="2400" dirty="0"/>
              <a:t> </a:t>
            </a:r>
            <a:r>
              <a:rPr lang="en-US" sz="2400" dirty="0" err="1"/>
              <a:t>nguyên</a:t>
            </a:r>
            <a:r>
              <a:rPr lang="en-US" sz="2400" dirty="0"/>
              <a:t> B </a:t>
            </a:r>
            <a:r>
              <a:rPr lang="en-US" sz="2400" dirty="0" err="1"/>
              <a:t>có</a:t>
            </a:r>
            <a:r>
              <a:rPr lang="en-US" sz="2400" dirty="0"/>
              <a:t> </a:t>
            </a:r>
            <a:r>
              <a:rPr lang="en-US" sz="2400" dirty="0" err="1"/>
              <a:t>địa</a:t>
            </a:r>
            <a:r>
              <a:rPr lang="en-US" sz="2400" dirty="0"/>
              <a:t> </a:t>
            </a:r>
            <a:r>
              <a:rPr lang="en-US" sz="2400" dirty="0" err="1"/>
              <a:t>chỉ</a:t>
            </a:r>
            <a:r>
              <a:rPr lang="en-US" sz="2400" dirty="0"/>
              <a:t> </a:t>
            </a:r>
            <a:r>
              <a:rPr lang="en-US" sz="2400" dirty="0" err="1"/>
              <a:t>nằm</a:t>
            </a:r>
            <a:r>
              <a:rPr lang="en-US" sz="2400" dirty="0"/>
              <a:t> </a:t>
            </a:r>
            <a:r>
              <a:rPr lang="en-US" sz="2400" dirty="0" err="1"/>
              <a:t>trong</a:t>
            </a:r>
            <a:r>
              <a:rPr lang="en-US" sz="2400" dirty="0"/>
              <a:t> $s7:</a:t>
            </a:r>
          </a:p>
          <a:p>
            <a:pPr marL="0" indent="0">
              <a:buNone/>
            </a:pPr>
            <a:endParaRPr lang="en-US" sz="2400" dirty="0"/>
          </a:p>
          <a:p>
            <a:pPr marL="0" indent="0" algn="ctr">
              <a:buNone/>
            </a:pPr>
            <a:r>
              <a:rPr lang="en-US" sz="2400" dirty="0"/>
              <a:t>F = A + B[3]</a:t>
            </a:r>
          </a:p>
        </p:txBody>
      </p:sp>
      <p:graphicFrame>
        <p:nvGraphicFramePr>
          <p:cNvPr id="9" name="Table 8">
            <a:extLst>
              <a:ext uri="{FF2B5EF4-FFF2-40B4-BE49-F238E27FC236}">
                <a16:creationId xmlns:a16="http://schemas.microsoft.com/office/drawing/2014/main" id="{ACF63951-5214-D28C-345F-415F33F3D272}"/>
              </a:ext>
            </a:extLst>
          </p:cNvPr>
          <p:cNvGraphicFramePr>
            <a:graphicFrameLocks noGrp="1"/>
          </p:cNvGraphicFramePr>
          <p:nvPr>
            <p:extLst>
              <p:ext uri="{D42A27DB-BD31-4B8C-83A1-F6EECF244321}">
                <p14:modId xmlns:p14="http://schemas.microsoft.com/office/powerpoint/2010/main" val="1417711739"/>
              </p:ext>
            </p:extLst>
          </p:nvPr>
        </p:nvGraphicFramePr>
        <p:xfrm>
          <a:off x="1014096" y="1662430"/>
          <a:ext cx="6742595" cy="1448754"/>
        </p:xfrm>
        <a:graphic>
          <a:graphicData uri="http://schemas.openxmlformats.org/drawingml/2006/table">
            <a:tbl>
              <a:tblPr firstRow="1" firstCol="1" bandRow="1">
                <a:tableStyleId>{5940675A-B579-460E-94D1-54222C63F5DA}</a:tableStyleId>
              </a:tblPr>
              <a:tblGrid>
                <a:gridCol w="1617052">
                  <a:extLst>
                    <a:ext uri="{9D8B030D-6E8A-4147-A177-3AD203B41FA5}">
                      <a16:colId xmlns:a16="http://schemas.microsoft.com/office/drawing/2014/main" val="1849330155"/>
                    </a:ext>
                  </a:extLst>
                </a:gridCol>
                <a:gridCol w="2294792">
                  <a:extLst>
                    <a:ext uri="{9D8B030D-6E8A-4147-A177-3AD203B41FA5}">
                      <a16:colId xmlns:a16="http://schemas.microsoft.com/office/drawing/2014/main" val="1574376215"/>
                    </a:ext>
                  </a:extLst>
                </a:gridCol>
                <a:gridCol w="2830751">
                  <a:extLst>
                    <a:ext uri="{9D8B030D-6E8A-4147-A177-3AD203B41FA5}">
                      <a16:colId xmlns:a16="http://schemas.microsoft.com/office/drawing/2014/main" val="3827853875"/>
                    </a:ext>
                  </a:extLst>
                </a:gridCol>
              </a:tblGrid>
              <a:tr h="482918">
                <a:tc>
                  <a:txBody>
                    <a:bodyPr/>
                    <a:lstStyle/>
                    <a:p>
                      <a:pPr marL="0" marR="0" algn="ctr">
                        <a:lnSpc>
                          <a:spcPct val="150000"/>
                        </a:lnSpc>
                        <a:spcBef>
                          <a:spcPts val="0"/>
                        </a:spcBef>
                        <a:spcAft>
                          <a:spcPts val="0"/>
                        </a:spcAft>
                      </a:pPr>
                      <a:r>
                        <a:rPr lang="en-US" sz="2400" b="1" dirty="0" err="1">
                          <a:effectLst/>
                          <a:latin typeface="Arial" panose="020B0604020202020204" pitchFamily="34" charset="0"/>
                          <a:cs typeface="Arial" panose="020B0604020202020204" pitchFamily="34" charset="0"/>
                        </a:rPr>
                        <a:t>Lệnh</a:t>
                      </a:r>
                      <a:endParaRPr lang="en-US" sz="2400" b="1" dirty="0">
                        <a:effectLst/>
                        <a:latin typeface="Arial" panose="020B0604020202020204" pitchFamily="34" charset="0"/>
                        <a:ea typeface="Times New Roman" panose="02020603050405020304" pitchFamily="18" charset="0"/>
                        <a:cs typeface="Arial" panose="020B0604020202020204" pitchFamily="34" charset="0"/>
                      </a:endParaRPr>
                    </a:p>
                  </a:txBody>
                  <a:tcPr marL="21224" marR="21224" marT="0" marB="0"/>
                </a:tc>
                <a:tc>
                  <a:txBody>
                    <a:bodyPr/>
                    <a:lstStyle/>
                    <a:p>
                      <a:pPr marL="0" marR="0" algn="ctr">
                        <a:lnSpc>
                          <a:spcPct val="150000"/>
                        </a:lnSpc>
                        <a:spcBef>
                          <a:spcPts val="0"/>
                        </a:spcBef>
                        <a:spcAft>
                          <a:spcPts val="0"/>
                        </a:spcAft>
                      </a:pPr>
                      <a:r>
                        <a:rPr lang="en-US" sz="2400" b="1" dirty="0" err="1">
                          <a:effectLst/>
                          <a:latin typeface="Arial" panose="020B0604020202020204" pitchFamily="34" charset="0"/>
                          <a:cs typeface="Arial" panose="020B0604020202020204" pitchFamily="34" charset="0"/>
                        </a:rPr>
                        <a:t>Ví</a:t>
                      </a:r>
                      <a:r>
                        <a:rPr lang="en-US" sz="2400" b="1" dirty="0">
                          <a:effectLst/>
                          <a:latin typeface="Arial" panose="020B0604020202020204" pitchFamily="34" charset="0"/>
                          <a:cs typeface="Arial" panose="020B0604020202020204" pitchFamily="34" charset="0"/>
                        </a:rPr>
                        <a:t> </a:t>
                      </a:r>
                      <a:r>
                        <a:rPr lang="en-US" sz="2400" b="1" dirty="0" err="1">
                          <a:effectLst/>
                          <a:latin typeface="Arial" panose="020B0604020202020204" pitchFamily="34" charset="0"/>
                          <a:cs typeface="Arial" panose="020B0604020202020204" pitchFamily="34" charset="0"/>
                        </a:rPr>
                        <a:t>dụ</a:t>
                      </a:r>
                      <a:endParaRPr lang="en-US" sz="2400" b="1" dirty="0">
                        <a:effectLst/>
                        <a:latin typeface="Arial" panose="020B0604020202020204" pitchFamily="34" charset="0"/>
                        <a:ea typeface="Times New Roman" panose="02020603050405020304" pitchFamily="18" charset="0"/>
                        <a:cs typeface="Arial" panose="020B0604020202020204" pitchFamily="34" charset="0"/>
                      </a:endParaRPr>
                    </a:p>
                  </a:txBody>
                  <a:tcPr marL="21224" marR="21224" marT="0" marB="0"/>
                </a:tc>
                <a:tc>
                  <a:txBody>
                    <a:bodyPr/>
                    <a:lstStyle/>
                    <a:p>
                      <a:pPr marL="0" marR="0" algn="ctr">
                        <a:lnSpc>
                          <a:spcPct val="150000"/>
                        </a:lnSpc>
                        <a:spcBef>
                          <a:spcPts val="0"/>
                        </a:spcBef>
                        <a:spcAft>
                          <a:spcPts val="0"/>
                        </a:spcAft>
                      </a:pPr>
                      <a:r>
                        <a:rPr lang="en-US" sz="2400" b="1" dirty="0">
                          <a:effectLst/>
                          <a:latin typeface="Arial" panose="020B0604020202020204" pitchFamily="34" charset="0"/>
                          <a:cs typeface="Arial" panose="020B0604020202020204" pitchFamily="34" charset="0"/>
                        </a:rPr>
                        <a:t>Ý </a:t>
                      </a:r>
                      <a:r>
                        <a:rPr lang="en-US" sz="2400" b="1" dirty="0" err="1">
                          <a:effectLst/>
                          <a:latin typeface="Arial" panose="020B0604020202020204" pitchFamily="34" charset="0"/>
                          <a:cs typeface="Arial" panose="020B0604020202020204" pitchFamily="34" charset="0"/>
                        </a:rPr>
                        <a:t>nghĩa</a:t>
                      </a:r>
                      <a:endParaRPr lang="en-US" sz="2400" b="1" dirty="0">
                        <a:effectLst/>
                        <a:latin typeface="Arial" panose="020B0604020202020204" pitchFamily="34" charset="0"/>
                        <a:ea typeface="Times New Roman" panose="02020603050405020304" pitchFamily="18" charset="0"/>
                        <a:cs typeface="Arial" panose="020B0604020202020204" pitchFamily="34" charset="0"/>
                      </a:endParaRPr>
                    </a:p>
                  </a:txBody>
                  <a:tcPr marL="21224" marR="21224" marT="0" marB="0"/>
                </a:tc>
                <a:extLst>
                  <a:ext uri="{0D108BD9-81ED-4DB2-BD59-A6C34878D82A}">
                    <a16:rowId xmlns:a16="http://schemas.microsoft.com/office/drawing/2014/main" val="3695188036"/>
                  </a:ext>
                </a:extLst>
              </a:tr>
              <a:tr h="482918">
                <a:tc>
                  <a:txBody>
                    <a:bodyPr/>
                    <a:lstStyle/>
                    <a:p>
                      <a:pPr marL="0" marR="0" algn="just">
                        <a:lnSpc>
                          <a:spcPct val="150000"/>
                        </a:lnSpc>
                        <a:spcBef>
                          <a:spcPts val="0"/>
                        </a:spcBef>
                        <a:spcAft>
                          <a:spcPts val="0"/>
                        </a:spcAft>
                      </a:pPr>
                      <a:r>
                        <a:rPr lang="en-US" sz="2400" dirty="0" err="1">
                          <a:effectLst/>
                          <a:latin typeface="Arial" panose="020B0604020202020204" pitchFamily="34" charset="0"/>
                          <a:cs typeface="Arial" panose="020B0604020202020204" pitchFamily="34" charset="0"/>
                        </a:rPr>
                        <a:t>Cộng</a:t>
                      </a:r>
                      <a:r>
                        <a:rPr lang="en-US" sz="2400" dirty="0">
                          <a:effectLst/>
                          <a:latin typeface="Arial" panose="020B0604020202020204" pitchFamily="34" charset="0"/>
                          <a:cs typeface="Arial" panose="020B0604020202020204" pitchFamily="34" charset="0"/>
                        </a:rPr>
                        <a:t> </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21224" marR="21224" marT="0" marB="0"/>
                </a:tc>
                <a:tc>
                  <a:txBody>
                    <a:bodyPr/>
                    <a:lstStyle/>
                    <a:p>
                      <a:pPr marL="0" marR="0" algn="just">
                        <a:lnSpc>
                          <a:spcPct val="150000"/>
                        </a:lnSpc>
                        <a:spcBef>
                          <a:spcPts val="0"/>
                        </a:spcBef>
                        <a:spcAft>
                          <a:spcPts val="0"/>
                        </a:spcAft>
                      </a:pPr>
                      <a:r>
                        <a:rPr lang="en-US" sz="2400" dirty="0">
                          <a:effectLst/>
                          <a:latin typeface="Arial" panose="020B0604020202020204" pitchFamily="34" charset="0"/>
                          <a:cs typeface="Arial" panose="020B0604020202020204" pitchFamily="34" charset="0"/>
                        </a:rPr>
                        <a:t>add $s1,$s2,$s3</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21224" marR="21224" marT="0" marB="0"/>
                </a:tc>
                <a:tc>
                  <a:txBody>
                    <a:bodyPr/>
                    <a:lstStyle/>
                    <a:p>
                      <a:pPr marL="0" marR="0" algn="just">
                        <a:lnSpc>
                          <a:spcPct val="150000"/>
                        </a:lnSpc>
                        <a:spcBef>
                          <a:spcPts val="0"/>
                        </a:spcBef>
                        <a:spcAft>
                          <a:spcPts val="0"/>
                        </a:spcAft>
                      </a:pPr>
                      <a:r>
                        <a:rPr lang="en-US" sz="2400" dirty="0">
                          <a:effectLst/>
                          <a:latin typeface="Arial" panose="020B0604020202020204" pitchFamily="34" charset="0"/>
                          <a:cs typeface="Arial" panose="020B0604020202020204" pitchFamily="34" charset="0"/>
                        </a:rPr>
                        <a:t>$s1= $s2 + $s3</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21224" marR="21224" marT="0" marB="0"/>
                </a:tc>
                <a:extLst>
                  <a:ext uri="{0D108BD9-81ED-4DB2-BD59-A6C34878D82A}">
                    <a16:rowId xmlns:a16="http://schemas.microsoft.com/office/drawing/2014/main" val="827066081"/>
                  </a:ext>
                </a:extLst>
              </a:tr>
              <a:tr h="482918">
                <a:tc>
                  <a:txBody>
                    <a:bodyPr/>
                    <a:lstStyle/>
                    <a:p>
                      <a:pPr marL="0" marR="0" algn="just">
                        <a:lnSpc>
                          <a:spcPct val="150000"/>
                        </a:lnSpc>
                        <a:spcBef>
                          <a:spcPts val="0"/>
                        </a:spcBef>
                        <a:spcAft>
                          <a:spcPts val="0"/>
                        </a:spcAft>
                      </a:pPr>
                      <a:r>
                        <a:rPr lang="en-US" sz="2400" dirty="0" err="1">
                          <a:effectLst/>
                          <a:latin typeface="Arial" panose="020B0604020202020204" pitchFamily="34" charset="0"/>
                          <a:cs typeface="Arial" panose="020B0604020202020204" pitchFamily="34" charset="0"/>
                        </a:rPr>
                        <a:t>Nạp</a:t>
                      </a:r>
                      <a:r>
                        <a:rPr lang="en-US" sz="2400" dirty="0">
                          <a:effectLst/>
                          <a:latin typeface="Arial" panose="020B0604020202020204" pitchFamily="34" charset="0"/>
                          <a:cs typeface="Arial" panose="020B0604020202020204" pitchFamily="34" charset="0"/>
                        </a:rPr>
                        <a:t> word</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21224" marR="21224" marT="0" marB="0"/>
                </a:tc>
                <a:tc>
                  <a:txBody>
                    <a:bodyPr/>
                    <a:lstStyle/>
                    <a:p>
                      <a:pPr marL="0" marR="0" algn="just">
                        <a:lnSpc>
                          <a:spcPct val="150000"/>
                        </a:lnSpc>
                        <a:spcBef>
                          <a:spcPts val="0"/>
                        </a:spcBef>
                        <a:spcAft>
                          <a:spcPts val="0"/>
                        </a:spcAft>
                      </a:pPr>
                      <a:r>
                        <a:rPr lang="en-US" sz="2400">
                          <a:effectLst/>
                          <a:latin typeface="Arial" panose="020B0604020202020204" pitchFamily="34" charset="0"/>
                          <a:cs typeface="Arial" panose="020B0604020202020204" pitchFamily="34" charset="0"/>
                        </a:rPr>
                        <a:t>lw </a:t>
                      </a:r>
                      <a:r>
                        <a:rPr lang="en-US" sz="2400" dirty="0">
                          <a:effectLst/>
                          <a:latin typeface="Arial" panose="020B0604020202020204" pitchFamily="34" charset="0"/>
                          <a:cs typeface="Arial" panose="020B0604020202020204" pitchFamily="34" charset="0"/>
                        </a:rPr>
                        <a:t>$s1,20($s2)</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21224" marR="21224" marT="0" marB="0"/>
                </a:tc>
                <a:tc>
                  <a:txBody>
                    <a:bodyPr/>
                    <a:lstStyle/>
                    <a:p>
                      <a:pPr marL="0" marR="0" algn="just">
                        <a:lnSpc>
                          <a:spcPct val="150000"/>
                        </a:lnSpc>
                        <a:spcBef>
                          <a:spcPts val="0"/>
                        </a:spcBef>
                        <a:spcAft>
                          <a:spcPts val="0"/>
                        </a:spcAft>
                      </a:pPr>
                      <a:r>
                        <a:rPr lang="en-US" sz="2400" dirty="0">
                          <a:effectLst/>
                          <a:latin typeface="Arial" panose="020B0604020202020204" pitchFamily="34" charset="0"/>
                          <a:cs typeface="Arial" panose="020B0604020202020204" pitchFamily="34" charset="0"/>
                        </a:rPr>
                        <a:t>$s1= Mem[$s2 + 20]</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21224" marR="21224" marT="0" marB="0"/>
                </a:tc>
                <a:extLst>
                  <a:ext uri="{0D108BD9-81ED-4DB2-BD59-A6C34878D82A}">
                    <a16:rowId xmlns:a16="http://schemas.microsoft.com/office/drawing/2014/main" val="1539860786"/>
                  </a:ext>
                </a:extLst>
              </a:tr>
            </a:tbl>
          </a:graphicData>
        </a:graphic>
      </p:graphicFrame>
      <p:pic>
        <p:nvPicPr>
          <p:cNvPr id="10" name="Picture 2">
            <a:extLst>
              <a:ext uri="{FF2B5EF4-FFF2-40B4-BE49-F238E27FC236}">
                <a16:creationId xmlns:a16="http://schemas.microsoft.com/office/drawing/2014/main" id="{FE72D576-CD61-4D87-06AE-1AFD09440D1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70022"/>
          <a:stretch/>
        </p:blipFill>
        <p:spPr bwMode="auto">
          <a:xfrm>
            <a:off x="8641705" y="814298"/>
            <a:ext cx="2745674" cy="5661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825339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pPr>
              <a:lnSpc>
                <a:spcPct val="90000"/>
              </a:lnSpc>
              <a:defRPr/>
            </a:pPr>
            <a:r>
              <a:rPr lang="en-US"/>
              <a:t>Toán hạng số tức thời</a:t>
            </a:r>
            <a:endParaRPr lang="en-US" b="1"/>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41</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6" name="Content Placeholder 5">
            <a:extLst>
              <a:ext uri="{FF2B5EF4-FFF2-40B4-BE49-F238E27FC236}">
                <a16:creationId xmlns:a16="http://schemas.microsoft.com/office/drawing/2014/main" id="{0B4F2B83-D5E3-F3AB-3102-BC7580F97B74}"/>
              </a:ext>
            </a:extLst>
          </p:cNvPr>
          <p:cNvSpPr>
            <a:spLocks noGrp="1"/>
          </p:cNvSpPr>
          <p:nvPr>
            <p:ph idx="1"/>
          </p:nvPr>
        </p:nvSpPr>
        <p:spPr/>
        <p:txBody>
          <a:bodyPr/>
          <a:lstStyle/>
          <a:p>
            <a:r>
              <a:rPr lang="vi-VN"/>
              <a:t>Dữ liệu hằng số được chỉ định ngay trong lệnh</a:t>
            </a:r>
          </a:p>
          <a:p>
            <a:pPr lvl="1"/>
            <a:r>
              <a:rPr lang="vi-VN"/>
              <a:t>Sử dụng dữ liệu ngay mà không cần tìm kiếm như thanh ghi và bộ nhớ</a:t>
            </a:r>
          </a:p>
          <a:p>
            <a:pPr lvl="1"/>
            <a:r>
              <a:rPr lang="vi-VN"/>
              <a:t>Không cần phải nạp dữ liệu từ bộ nhớ!!!</a:t>
            </a:r>
          </a:p>
          <a:p>
            <a:pPr lvl="1"/>
            <a:r>
              <a:rPr lang="vi-VN"/>
              <a:t>Nhưng giá trị thường nhỏ</a:t>
            </a:r>
          </a:p>
          <a:p>
            <a:r>
              <a:rPr lang="vi-VN"/>
              <a:t>Ví dụ:</a:t>
            </a:r>
          </a:p>
          <a:p>
            <a:pPr lvl="1"/>
            <a:r>
              <a:rPr lang="vi-VN"/>
              <a:t>addi $s3, $s2, 4</a:t>
            </a:r>
          </a:p>
          <a:p>
            <a:pPr lvl="1"/>
            <a:r>
              <a:rPr lang="vi-VN"/>
              <a:t>addi $t2, $t1, -7</a:t>
            </a:r>
          </a:p>
          <a:p>
            <a:r>
              <a:rPr lang="vi-VN"/>
              <a:t>MIPS có thanh ghi số 0 ($zero) luôn luôn là một hằng số 0</a:t>
            </a:r>
          </a:p>
          <a:p>
            <a:pPr lvl="1"/>
            <a:r>
              <a:rPr lang="vi-VN"/>
              <a:t>Sao chép giá trị: add $t2, $t1, $zero</a:t>
            </a:r>
          </a:p>
          <a:p>
            <a:endParaRPr lang="en-US"/>
          </a:p>
        </p:txBody>
      </p:sp>
    </p:spTree>
    <p:extLst>
      <p:ext uri="{BB962C8B-B14F-4D97-AF65-F5344CB8AC3E}">
        <p14:creationId xmlns:p14="http://schemas.microsoft.com/office/powerpoint/2010/main" val="18651344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pPr>
              <a:lnSpc>
                <a:spcPct val="90000"/>
              </a:lnSpc>
              <a:defRPr/>
            </a:pPr>
            <a:r>
              <a:rPr lang="en-US"/>
              <a:t>Toán hạng số tức thời - Quiz 4 </a:t>
            </a:r>
            <a:endParaRPr lang="en-US" b="1"/>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42</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6" name="Content Placeholder 5">
            <a:extLst>
              <a:ext uri="{FF2B5EF4-FFF2-40B4-BE49-F238E27FC236}">
                <a16:creationId xmlns:a16="http://schemas.microsoft.com/office/drawing/2014/main" id="{550E64C7-9387-B020-6C50-1414C338A85E}"/>
              </a:ext>
            </a:extLst>
          </p:cNvPr>
          <p:cNvSpPr>
            <a:spLocks noGrp="1"/>
          </p:cNvSpPr>
          <p:nvPr>
            <p:ph idx="1"/>
          </p:nvPr>
        </p:nvSpPr>
        <p:spPr>
          <a:xfrm>
            <a:off x="693419" y="3654966"/>
            <a:ext cx="7292341" cy="2456274"/>
          </a:xfrm>
        </p:spPr>
        <p:txBody>
          <a:bodyPr/>
          <a:lstStyle/>
          <a:p>
            <a:pPr marL="0" indent="0">
              <a:buNone/>
            </a:pPr>
            <a:r>
              <a:rPr lang="en-US" sz="2400" dirty="0" err="1"/>
              <a:t>Chuyển</a:t>
            </a:r>
            <a:r>
              <a:rPr lang="en-US" sz="2400" dirty="0"/>
              <a:t> </a:t>
            </a:r>
            <a:r>
              <a:rPr lang="en-US" sz="2400" dirty="0" err="1"/>
              <a:t>đổi</a:t>
            </a:r>
            <a:r>
              <a:rPr lang="en-US" sz="2400" dirty="0"/>
              <a:t> </a:t>
            </a:r>
            <a:r>
              <a:rPr lang="en-US" sz="2400" dirty="0" err="1"/>
              <a:t>lệnh</a:t>
            </a:r>
            <a:r>
              <a:rPr lang="en-US" sz="2400" dirty="0"/>
              <a:t> </a:t>
            </a:r>
            <a:r>
              <a:rPr lang="en-US" sz="2400" dirty="0" err="1"/>
              <a:t>trong</a:t>
            </a:r>
            <a:r>
              <a:rPr lang="en-US" sz="2400" dirty="0"/>
              <a:t> </a:t>
            </a:r>
            <a:r>
              <a:rPr lang="en-US" sz="2400" dirty="0" err="1"/>
              <a:t>lập</a:t>
            </a:r>
            <a:r>
              <a:rPr lang="en-US" sz="2400" dirty="0"/>
              <a:t> </a:t>
            </a:r>
            <a:r>
              <a:rPr lang="en-US" sz="2400" dirty="0" err="1"/>
              <a:t>trình</a:t>
            </a:r>
            <a:r>
              <a:rPr lang="en-US" sz="2400" dirty="0"/>
              <a:t> C </a:t>
            </a:r>
            <a:r>
              <a:rPr lang="en-US" sz="2400" dirty="0" err="1"/>
              <a:t>thành</a:t>
            </a:r>
            <a:r>
              <a:rPr lang="en-US" sz="2400" dirty="0"/>
              <a:t> </a:t>
            </a:r>
            <a:r>
              <a:rPr lang="en-US" sz="2400" dirty="0" err="1"/>
              <a:t>lệnh</a:t>
            </a:r>
            <a:r>
              <a:rPr lang="en-US" sz="2400" dirty="0"/>
              <a:t> </a:t>
            </a:r>
            <a:r>
              <a:rPr lang="en-US" sz="2400" dirty="0" err="1"/>
              <a:t>hợp</a:t>
            </a:r>
            <a:r>
              <a:rPr lang="en-US" sz="2400" dirty="0"/>
              <a:t> </a:t>
            </a:r>
            <a:r>
              <a:rPr lang="en-US" sz="2400" dirty="0" err="1"/>
              <a:t>ngữ</a:t>
            </a:r>
            <a:r>
              <a:rPr lang="en-US" sz="2400" dirty="0"/>
              <a:t> MIPS, </a:t>
            </a:r>
            <a:r>
              <a:rPr lang="en-US" sz="2400" dirty="0" err="1"/>
              <a:t>biết</a:t>
            </a:r>
            <a:r>
              <a:rPr lang="en-US" sz="2400" dirty="0"/>
              <a:t> </a:t>
            </a:r>
            <a:r>
              <a:rPr lang="en-US" sz="2400" dirty="0" err="1"/>
              <a:t>rằng</a:t>
            </a:r>
            <a:r>
              <a:rPr lang="en-US" sz="2400" dirty="0"/>
              <a:t> </a:t>
            </a:r>
            <a:r>
              <a:rPr lang="en-US" sz="2400" dirty="0" err="1"/>
              <a:t>các</a:t>
            </a:r>
            <a:r>
              <a:rPr lang="en-US" sz="2400" dirty="0"/>
              <a:t> </a:t>
            </a:r>
            <a:r>
              <a:rPr lang="en-US" sz="2400" dirty="0" err="1"/>
              <a:t>biến</a:t>
            </a:r>
            <a:r>
              <a:rPr lang="en-US" sz="2400" dirty="0"/>
              <a:t> F, A, B, C </a:t>
            </a:r>
            <a:r>
              <a:rPr lang="en-US" sz="2400" dirty="0" err="1"/>
              <a:t>nằm</a:t>
            </a:r>
            <a:r>
              <a:rPr lang="en-US" sz="2400" dirty="0"/>
              <a:t> </a:t>
            </a:r>
            <a:r>
              <a:rPr lang="en-US" sz="2400" dirty="0" err="1"/>
              <a:t>trong</a:t>
            </a:r>
            <a:r>
              <a:rPr lang="en-US" sz="2400" dirty="0"/>
              <a:t> </a:t>
            </a:r>
            <a:r>
              <a:rPr lang="en-US" sz="2400" dirty="0" err="1"/>
              <a:t>các</a:t>
            </a:r>
            <a:r>
              <a:rPr lang="en-US" sz="2400" dirty="0"/>
              <a:t> </a:t>
            </a:r>
            <a:r>
              <a:rPr lang="en-US" sz="2400" dirty="0" err="1"/>
              <a:t>thanh</a:t>
            </a:r>
            <a:r>
              <a:rPr lang="en-US" sz="2400" dirty="0"/>
              <a:t> </a:t>
            </a:r>
            <a:r>
              <a:rPr lang="en-US" sz="2400" dirty="0" err="1"/>
              <a:t>ghi</a:t>
            </a:r>
            <a:r>
              <a:rPr lang="en-US" sz="2400" dirty="0"/>
              <a:t> </a:t>
            </a:r>
            <a:r>
              <a:rPr lang="en-US" sz="2400" dirty="0" err="1"/>
              <a:t>từ</a:t>
            </a:r>
            <a:r>
              <a:rPr lang="en-US" sz="2400" dirty="0"/>
              <a:t> t5 </a:t>
            </a:r>
            <a:r>
              <a:rPr lang="en-US" sz="2400" dirty="0" err="1"/>
              <a:t>đến</a:t>
            </a:r>
            <a:r>
              <a:rPr lang="en-US" sz="2400" dirty="0"/>
              <a:t> t8:</a:t>
            </a:r>
          </a:p>
          <a:p>
            <a:pPr marL="0" indent="0">
              <a:buNone/>
            </a:pPr>
            <a:endParaRPr lang="en-US" sz="2400" dirty="0"/>
          </a:p>
          <a:p>
            <a:pPr marL="0" indent="0" algn="ctr">
              <a:buNone/>
            </a:pPr>
            <a:r>
              <a:rPr lang="en-US" sz="2400" dirty="0"/>
              <a:t>F = A  – (B + 7) + C</a:t>
            </a:r>
          </a:p>
          <a:p>
            <a:endParaRPr lang="en-US" dirty="0"/>
          </a:p>
        </p:txBody>
      </p:sp>
      <p:graphicFrame>
        <p:nvGraphicFramePr>
          <p:cNvPr id="8" name="Table 7">
            <a:extLst>
              <a:ext uri="{FF2B5EF4-FFF2-40B4-BE49-F238E27FC236}">
                <a16:creationId xmlns:a16="http://schemas.microsoft.com/office/drawing/2014/main" id="{19674414-B99C-B193-E89E-516BB7005872}"/>
              </a:ext>
            </a:extLst>
          </p:cNvPr>
          <p:cNvGraphicFramePr>
            <a:graphicFrameLocks noGrp="1"/>
          </p:cNvGraphicFramePr>
          <p:nvPr>
            <p:extLst>
              <p:ext uri="{D42A27DB-BD31-4B8C-83A1-F6EECF244321}">
                <p14:modId xmlns:p14="http://schemas.microsoft.com/office/powerpoint/2010/main" val="1796958099"/>
              </p:ext>
            </p:extLst>
          </p:nvPr>
        </p:nvGraphicFramePr>
        <p:xfrm>
          <a:off x="815976" y="1271362"/>
          <a:ext cx="6765924" cy="2157636"/>
        </p:xfrm>
        <a:graphic>
          <a:graphicData uri="http://schemas.openxmlformats.org/drawingml/2006/table">
            <a:tbl>
              <a:tblPr firstRow="1" firstCol="1" bandRow="1">
                <a:tableStyleId>{5940675A-B579-460E-94D1-54222C63F5DA}</a:tableStyleId>
              </a:tblPr>
              <a:tblGrid>
                <a:gridCol w="1809492">
                  <a:extLst>
                    <a:ext uri="{9D8B030D-6E8A-4147-A177-3AD203B41FA5}">
                      <a16:colId xmlns:a16="http://schemas.microsoft.com/office/drawing/2014/main" val="1849330155"/>
                    </a:ext>
                  </a:extLst>
                </a:gridCol>
                <a:gridCol w="2302657">
                  <a:extLst>
                    <a:ext uri="{9D8B030D-6E8A-4147-A177-3AD203B41FA5}">
                      <a16:colId xmlns:a16="http://schemas.microsoft.com/office/drawing/2014/main" val="1574376215"/>
                    </a:ext>
                  </a:extLst>
                </a:gridCol>
                <a:gridCol w="2653775">
                  <a:extLst>
                    <a:ext uri="{9D8B030D-6E8A-4147-A177-3AD203B41FA5}">
                      <a16:colId xmlns:a16="http://schemas.microsoft.com/office/drawing/2014/main" val="3827853875"/>
                    </a:ext>
                  </a:extLst>
                </a:gridCol>
              </a:tblGrid>
              <a:tr h="539409">
                <a:tc>
                  <a:txBody>
                    <a:bodyPr/>
                    <a:lstStyle/>
                    <a:p>
                      <a:pPr marL="0" marR="0" algn="ctr">
                        <a:lnSpc>
                          <a:spcPct val="150000"/>
                        </a:lnSpc>
                        <a:spcBef>
                          <a:spcPts val="0"/>
                        </a:spcBef>
                        <a:spcAft>
                          <a:spcPts val="0"/>
                        </a:spcAft>
                      </a:pPr>
                      <a:r>
                        <a:rPr lang="en-US" sz="2400" b="1" dirty="0" err="1">
                          <a:effectLst/>
                          <a:latin typeface="Arial" panose="020B0604020202020204" pitchFamily="34" charset="0"/>
                          <a:cs typeface="Arial" panose="020B0604020202020204" pitchFamily="34" charset="0"/>
                        </a:rPr>
                        <a:t>Lệnh</a:t>
                      </a:r>
                      <a:endParaRPr lang="en-US" sz="2400" b="1" dirty="0">
                        <a:effectLst/>
                        <a:latin typeface="Arial" panose="020B0604020202020204" pitchFamily="34" charset="0"/>
                        <a:ea typeface="Times New Roman" panose="02020603050405020304" pitchFamily="18" charset="0"/>
                        <a:cs typeface="Arial" panose="020B0604020202020204" pitchFamily="34" charset="0"/>
                      </a:endParaRPr>
                    </a:p>
                  </a:txBody>
                  <a:tcPr marL="21224" marR="21224" marT="0" marB="0"/>
                </a:tc>
                <a:tc>
                  <a:txBody>
                    <a:bodyPr/>
                    <a:lstStyle/>
                    <a:p>
                      <a:pPr marL="0" marR="0" algn="ctr">
                        <a:lnSpc>
                          <a:spcPct val="150000"/>
                        </a:lnSpc>
                        <a:spcBef>
                          <a:spcPts val="0"/>
                        </a:spcBef>
                        <a:spcAft>
                          <a:spcPts val="0"/>
                        </a:spcAft>
                      </a:pPr>
                      <a:r>
                        <a:rPr lang="en-US" sz="2400" b="1" dirty="0" err="1">
                          <a:effectLst/>
                          <a:latin typeface="Arial" panose="020B0604020202020204" pitchFamily="34" charset="0"/>
                          <a:cs typeface="Arial" panose="020B0604020202020204" pitchFamily="34" charset="0"/>
                        </a:rPr>
                        <a:t>Ví</a:t>
                      </a:r>
                      <a:r>
                        <a:rPr lang="en-US" sz="2400" b="1" dirty="0">
                          <a:effectLst/>
                          <a:latin typeface="Arial" panose="020B0604020202020204" pitchFamily="34" charset="0"/>
                          <a:cs typeface="Arial" panose="020B0604020202020204" pitchFamily="34" charset="0"/>
                        </a:rPr>
                        <a:t> </a:t>
                      </a:r>
                      <a:r>
                        <a:rPr lang="en-US" sz="2400" b="1" dirty="0" err="1">
                          <a:effectLst/>
                          <a:latin typeface="Arial" panose="020B0604020202020204" pitchFamily="34" charset="0"/>
                          <a:cs typeface="Arial" panose="020B0604020202020204" pitchFamily="34" charset="0"/>
                        </a:rPr>
                        <a:t>dụ</a:t>
                      </a:r>
                      <a:endParaRPr lang="en-US" sz="2400" b="1" dirty="0">
                        <a:effectLst/>
                        <a:latin typeface="Arial" panose="020B0604020202020204" pitchFamily="34" charset="0"/>
                        <a:ea typeface="Times New Roman" panose="02020603050405020304" pitchFamily="18" charset="0"/>
                        <a:cs typeface="Arial" panose="020B0604020202020204" pitchFamily="34" charset="0"/>
                      </a:endParaRPr>
                    </a:p>
                  </a:txBody>
                  <a:tcPr marL="21224" marR="21224" marT="0" marB="0"/>
                </a:tc>
                <a:tc>
                  <a:txBody>
                    <a:bodyPr/>
                    <a:lstStyle/>
                    <a:p>
                      <a:pPr marL="0" marR="0" algn="ctr">
                        <a:lnSpc>
                          <a:spcPct val="150000"/>
                        </a:lnSpc>
                        <a:spcBef>
                          <a:spcPts val="0"/>
                        </a:spcBef>
                        <a:spcAft>
                          <a:spcPts val="0"/>
                        </a:spcAft>
                      </a:pPr>
                      <a:r>
                        <a:rPr lang="en-US" sz="2400" b="1" dirty="0">
                          <a:effectLst/>
                          <a:latin typeface="Arial" panose="020B0604020202020204" pitchFamily="34" charset="0"/>
                          <a:cs typeface="Arial" panose="020B0604020202020204" pitchFamily="34" charset="0"/>
                        </a:rPr>
                        <a:t>Ý </a:t>
                      </a:r>
                      <a:r>
                        <a:rPr lang="en-US" sz="2400" b="1" dirty="0" err="1">
                          <a:effectLst/>
                          <a:latin typeface="Arial" panose="020B0604020202020204" pitchFamily="34" charset="0"/>
                          <a:cs typeface="Arial" panose="020B0604020202020204" pitchFamily="34" charset="0"/>
                        </a:rPr>
                        <a:t>nghĩa</a:t>
                      </a:r>
                      <a:endParaRPr lang="en-US" sz="2400" b="1" dirty="0">
                        <a:effectLst/>
                        <a:latin typeface="Arial" panose="020B0604020202020204" pitchFamily="34" charset="0"/>
                        <a:ea typeface="Times New Roman" panose="02020603050405020304" pitchFamily="18" charset="0"/>
                        <a:cs typeface="Arial" panose="020B0604020202020204" pitchFamily="34" charset="0"/>
                      </a:endParaRPr>
                    </a:p>
                  </a:txBody>
                  <a:tcPr marL="21224" marR="21224" marT="0" marB="0"/>
                </a:tc>
                <a:extLst>
                  <a:ext uri="{0D108BD9-81ED-4DB2-BD59-A6C34878D82A}">
                    <a16:rowId xmlns:a16="http://schemas.microsoft.com/office/drawing/2014/main" val="3695188036"/>
                  </a:ext>
                </a:extLst>
              </a:tr>
              <a:tr h="539409">
                <a:tc>
                  <a:txBody>
                    <a:bodyPr/>
                    <a:lstStyle/>
                    <a:p>
                      <a:pPr marL="0" marR="0" algn="just">
                        <a:lnSpc>
                          <a:spcPct val="150000"/>
                        </a:lnSpc>
                        <a:spcBef>
                          <a:spcPts val="0"/>
                        </a:spcBef>
                        <a:spcAft>
                          <a:spcPts val="0"/>
                        </a:spcAft>
                      </a:pPr>
                      <a:r>
                        <a:rPr lang="en-US" sz="2400" dirty="0" err="1">
                          <a:effectLst/>
                          <a:latin typeface="Arial" panose="020B0604020202020204" pitchFamily="34" charset="0"/>
                          <a:cs typeface="Arial" panose="020B0604020202020204" pitchFamily="34" charset="0"/>
                        </a:rPr>
                        <a:t>Cộng</a:t>
                      </a:r>
                      <a:r>
                        <a:rPr lang="en-US" sz="2400" dirty="0">
                          <a:effectLst/>
                          <a:latin typeface="Arial" panose="020B0604020202020204" pitchFamily="34" charset="0"/>
                          <a:cs typeface="Arial" panose="020B0604020202020204" pitchFamily="34" charset="0"/>
                        </a:rPr>
                        <a:t> </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21224" marR="21224" marT="0" marB="0"/>
                </a:tc>
                <a:tc>
                  <a:txBody>
                    <a:bodyPr/>
                    <a:lstStyle/>
                    <a:p>
                      <a:pPr marL="0" marR="0" algn="just">
                        <a:lnSpc>
                          <a:spcPct val="150000"/>
                        </a:lnSpc>
                        <a:spcBef>
                          <a:spcPts val="0"/>
                        </a:spcBef>
                        <a:spcAft>
                          <a:spcPts val="0"/>
                        </a:spcAft>
                      </a:pPr>
                      <a:r>
                        <a:rPr lang="en-US" sz="2400" dirty="0">
                          <a:effectLst/>
                          <a:latin typeface="Arial" panose="020B0604020202020204" pitchFamily="34" charset="0"/>
                          <a:cs typeface="Arial" panose="020B0604020202020204" pitchFamily="34" charset="0"/>
                        </a:rPr>
                        <a:t>add $s1,$s2,$s3</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21224" marR="21224" marT="0" marB="0"/>
                </a:tc>
                <a:tc>
                  <a:txBody>
                    <a:bodyPr/>
                    <a:lstStyle/>
                    <a:p>
                      <a:pPr marL="0" marR="0" algn="just">
                        <a:lnSpc>
                          <a:spcPct val="150000"/>
                        </a:lnSpc>
                        <a:spcBef>
                          <a:spcPts val="0"/>
                        </a:spcBef>
                        <a:spcAft>
                          <a:spcPts val="0"/>
                        </a:spcAft>
                      </a:pPr>
                      <a:r>
                        <a:rPr lang="en-US" sz="2400" dirty="0">
                          <a:effectLst/>
                          <a:latin typeface="Arial" panose="020B0604020202020204" pitchFamily="34" charset="0"/>
                          <a:cs typeface="Arial" panose="020B0604020202020204" pitchFamily="34" charset="0"/>
                        </a:rPr>
                        <a:t>$s1=$s2 + $s3</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21224" marR="21224" marT="0" marB="0"/>
                </a:tc>
                <a:extLst>
                  <a:ext uri="{0D108BD9-81ED-4DB2-BD59-A6C34878D82A}">
                    <a16:rowId xmlns:a16="http://schemas.microsoft.com/office/drawing/2014/main" val="827066081"/>
                  </a:ext>
                </a:extLst>
              </a:tr>
              <a:tr h="539409">
                <a:tc>
                  <a:txBody>
                    <a:bodyPr/>
                    <a:lstStyle/>
                    <a:p>
                      <a:pPr marL="0" marR="0" algn="just">
                        <a:lnSpc>
                          <a:spcPct val="150000"/>
                        </a:lnSpc>
                        <a:spcBef>
                          <a:spcPts val="0"/>
                        </a:spcBef>
                        <a:spcAft>
                          <a:spcPts val="0"/>
                        </a:spcAft>
                      </a:pPr>
                      <a:r>
                        <a:rPr lang="en-US" sz="2400" dirty="0" err="1">
                          <a:effectLst/>
                          <a:latin typeface="Arial" panose="020B0604020202020204" pitchFamily="34" charset="0"/>
                          <a:ea typeface="Times New Roman" panose="02020603050405020304" pitchFamily="18" charset="0"/>
                          <a:cs typeface="Arial" panose="020B0604020202020204" pitchFamily="34" charset="0"/>
                        </a:rPr>
                        <a:t>Trừ</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21224" marR="21224" marT="0" marB="0"/>
                </a:tc>
                <a:tc>
                  <a:txBody>
                    <a:bodyPr/>
                    <a:lstStyle/>
                    <a:p>
                      <a:pPr marL="0" marR="0" algn="just">
                        <a:lnSpc>
                          <a:spcPct val="150000"/>
                        </a:lnSpc>
                        <a:spcBef>
                          <a:spcPts val="0"/>
                        </a:spcBef>
                        <a:spcAft>
                          <a:spcPts val="0"/>
                        </a:spcAft>
                      </a:pPr>
                      <a:r>
                        <a:rPr lang="en-US" sz="2400" dirty="0">
                          <a:effectLst/>
                          <a:latin typeface="Arial" panose="020B0604020202020204" pitchFamily="34" charset="0"/>
                          <a:cs typeface="Arial" panose="020B0604020202020204" pitchFamily="34" charset="0"/>
                        </a:rPr>
                        <a:t>sub $s1,$s2,$s3</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21224" marR="21224" marT="0" marB="0"/>
                </a:tc>
                <a:tc>
                  <a:txBody>
                    <a:bodyPr/>
                    <a:lstStyle/>
                    <a:p>
                      <a:pPr marL="0" marR="0" algn="just">
                        <a:lnSpc>
                          <a:spcPct val="150000"/>
                        </a:lnSpc>
                        <a:spcBef>
                          <a:spcPts val="0"/>
                        </a:spcBef>
                        <a:spcAft>
                          <a:spcPts val="0"/>
                        </a:spcAft>
                      </a:pPr>
                      <a:r>
                        <a:rPr lang="en-US" sz="2400" dirty="0">
                          <a:effectLst/>
                          <a:latin typeface="Arial" panose="020B0604020202020204" pitchFamily="34" charset="0"/>
                          <a:cs typeface="Arial" panose="020B0604020202020204" pitchFamily="34" charset="0"/>
                        </a:rPr>
                        <a:t>$s1=$s2 - $s3</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21224" marR="21224" marT="0" marB="0"/>
                </a:tc>
                <a:extLst>
                  <a:ext uri="{0D108BD9-81ED-4DB2-BD59-A6C34878D82A}">
                    <a16:rowId xmlns:a16="http://schemas.microsoft.com/office/drawing/2014/main" val="2130248962"/>
                  </a:ext>
                </a:extLst>
              </a:tr>
              <a:tr h="539409">
                <a:tc>
                  <a:txBody>
                    <a:bodyPr/>
                    <a:lstStyle/>
                    <a:p>
                      <a:pPr marL="0" marR="0" algn="just">
                        <a:lnSpc>
                          <a:spcPct val="150000"/>
                        </a:lnSpc>
                        <a:spcBef>
                          <a:spcPts val="0"/>
                        </a:spcBef>
                        <a:spcAft>
                          <a:spcPts val="0"/>
                        </a:spcAft>
                      </a:pPr>
                      <a:r>
                        <a:rPr lang="en-US" sz="2400" dirty="0" err="1">
                          <a:effectLst/>
                          <a:latin typeface="Arial" panose="020B0604020202020204" pitchFamily="34" charset="0"/>
                          <a:ea typeface="Times New Roman" panose="02020603050405020304" pitchFamily="18" charset="0"/>
                          <a:cs typeface="Arial" panose="020B0604020202020204" pitchFamily="34" charset="0"/>
                        </a:rPr>
                        <a:t>Cộng</a:t>
                      </a:r>
                      <a:r>
                        <a:rPr lang="en-US" sz="2400" dirty="0">
                          <a:effectLst/>
                          <a:latin typeface="Arial" panose="020B0604020202020204" pitchFamily="34" charset="0"/>
                          <a:ea typeface="Times New Roman" panose="02020603050405020304" pitchFamily="18" charset="0"/>
                          <a:cs typeface="Arial" panose="020B0604020202020204" pitchFamily="34" charset="0"/>
                        </a:rPr>
                        <a:t> </a:t>
                      </a:r>
                      <a:r>
                        <a:rPr lang="en-US" sz="2400" dirty="0" err="1">
                          <a:effectLst/>
                          <a:latin typeface="Arial" panose="020B0604020202020204" pitchFamily="34" charset="0"/>
                          <a:ea typeface="Times New Roman" panose="02020603050405020304" pitchFamily="18" charset="0"/>
                          <a:cs typeface="Arial" panose="020B0604020202020204" pitchFamily="34" charset="0"/>
                        </a:rPr>
                        <a:t>tức</a:t>
                      </a:r>
                      <a:r>
                        <a:rPr lang="en-US" sz="2400" dirty="0">
                          <a:effectLst/>
                          <a:latin typeface="Arial" panose="020B0604020202020204" pitchFamily="34" charset="0"/>
                          <a:ea typeface="Times New Roman" panose="02020603050405020304" pitchFamily="18" charset="0"/>
                          <a:cs typeface="Arial" panose="020B0604020202020204" pitchFamily="34" charset="0"/>
                        </a:rPr>
                        <a:t> </a:t>
                      </a:r>
                      <a:r>
                        <a:rPr lang="en-US" sz="2400" dirty="0" err="1">
                          <a:effectLst/>
                          <a:latin typeface="Arial" panose="020B0604020202020204" pitchFamily="34" charset="0"/>
                          <a:ea typeface="Times New Roman" panose="02020603050405020304" pitchFamily="18" charset="0"/>
                          <a:cs typeface="Arial" panose="020B0604020202020204" pitchFamily="34" charset="0"/>
                        </a:rPr>
                        <a:t>thì</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21224" marR="21224" marT="0" marB="0"/>
                </a:tc>
                <a:tc>
                  <a:txBody>
                    <a:bodyPr/>
                    <a:lstStyle/>
                    <a:p>
                      <a:pPr marL="0" marR="0" algn="just">
                        <a:lnSpc>
                          <a:spcPct val="150000"/>
                        </a:lnSpc>
                        <a:spcBef>
                          <a:spcPts val="0"/>
                        </a:spcBef>
                        <a:spcAft>
                          <a:spcPts val="0"/>
                        </a:spcAft>
                      </a:pPr>
                      <a:r>
                        <a:rPr lang="en-US" sz="2400" dirty="0" err="1">
                          <a:effectLst/>
                          <a:latin typeface="Arial" panose="020B0604020202020204" pitchFamily="34" charset="0"/>
                          <a:ea typeface="Times New Roman" panose="02020603050405020304" pitchFamily="18" charset="0"/>
                          <a:cs typeface="Arial" panose="020B0604020202020204" pitchFamily="34" charset="0"/>
                        </a:rPr>
                        <a:t>addi</a:t>
                      </a:r>
                      <a:r>
                        <a:rPr lang="en-US" sz="2400" dirty="0">
                          <a:effectLst/>
                          <a:latin typeface="Arial" panose="020B0604020202020204" pitchFamily="34" charset="0"/>
                          <a:ea typeface="Times New Roman" panose="02020603050405020304" pitchFamily="18" charset="0"/>
                          <a:cs typeface="Arial" panose="020B0604020202020204" pitchFamily="34" charset="0"/>
                        </a:rPr>
                        <a:t> $s1,$s2,5</a:t>
                      </a:r>
                    </a:p>
                  </a:txBody>
                  <a:tcPr marL="21224" marR="21224" marT="0" marB="0"/>
                </a:tc>
                <a:tc>
                  <a:txBody>
                    <a:bodyPr/>
                    <a:lstStyle/>
                    <a:p>
                      <a:pPr marL="0" marR="0" algn="just">
                        <a:lnSpc>
                          <a:spcPct val="150000"/>
                        </a:lnSpc>
                        <a:spcBef>
                          <a:spcPts val="0"/>
                        </a:spcBef>
                        <a:spcAft>
                          <a:spcPts val="0"/>
                        </a:spcAft>
                      </a:pPr>
                      <a:r>
                        <a:rPr lang="en-US" sz="2400" dirty="0">
                          <a:effectLst/>
                          <a:latin typeface="Arial" panose="020B0604020202020204" pitchFamily="34" charset="0"/>
                          <a:cs typeface="Arial" panose="020B0604020202020204" pitchFamily="34" charset="0"/>
                        </a:rPr>
                        <a:t>$s1=$s2 + 5</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21224" marR="21224" marT="0" marB="0"/>
                </a:tc>
                <a:extLst>
                  <a:ext uri="{0D108BD9-81ED-4DB2-BD59-A6C34878D82A}">
                    <a16:rowId xmlns:a16="http://schemas.microsoft.com/office/drawing/2014/main" val="1539860786"/>
                  </a:ext>
                </a:extLst>
              </a:tr>
            </a:tbl>
          </a:graphicData>
        </a:graphic>
      </p:graphicFrame>
      <p:pic>
        <p:nvPicPr>
          <p:cNvPr id="9" name="Picture 2">
            <a:extLst>
              <a:ext uri="{FF2B5EF4-FFF2-40B4-BE49-F238E27FC236}">
                <a16:creationId xmlns:a16="http://schemas.microsoft.com/office/drawing/2014/main" id="{C25743E7-21AC-D8D0-F353-81306A8338C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70022"/>
          <a:stretch/>
        </p:blipFill>
        <p:spPr bwMode="auto">
          <a:xfrm>
            <a:off x="8843449" y="1045751"/>
            <a:ext cx="2532575" cy="5221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0204961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r>
              <a:rPr lang="en-US" altLang="ja-JP" dirty="0" err="1"/>
              <a:t>Tóm</a:t>
            </a:r>
            <a:r>
              <a:rPr lang="en-US" altLang="ja-JP" dirty="0"/>
              <a:t> </a:t>
            </a:r>
            <a:r>
              <a:rPr lang="en-US" altLang="ja-JP" dirty="0" err="1"/>
              <a:t>tắt</a:t>
            </a:r>
            <a:r>
              <a:rPr lang="en-US" altLang="ja-JP" dirty="0"/>
              <a:t> </a:t>
            </a:r>
            <a:r>
              <a:rPr lang="en-US" altLang="ja-JP" dirty="0" err="1"/>
              <a:t>lại</a:t>
            </a:r>
            <a:r>
              <a:rPr lang="en-US" altLang="ja-JP" dirty="0"/>
              <a:t> </a:t>
            </a:r>
            <a:r>
              <a:rPr lang="en-US" altLang="ja-JP" dirty="0" err="1"/>
              <a:t>nội</a:t>
            </a:r>
            <a:r>
              <a:rPr lang="en-US" altLang="ja-JP" dirty="0"/>
              <a:t> dung </a:t>
            </a:r>
            <a:r>
              <a:rPr lang="en-US" altLang="ja-JP" dirty="0" err="1"/>
              <a:t>buổi</a:t>
            </a:r>
            <a:r>
              <a:rPr lang="en-US" altLang="ja-JP" dirty="0"/>
              <a:t> </a:t>
            </a:r>
            <a:r>
              <a:rPr lang="en-US" altLang="ja-JP" dirty="0" err="1"/>
              <a:t>học</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43</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7" name="Content Placeholder 6">
            <a:extLst>
              <a:ext uri="{FF2B5EF4-FFF2-40B4-BE49-F238E27FC236}">
                <a16:creationId xmlns:a16="http://schemas.microsoft.com/office/drawing/2014/main" id="{C71475DA-3627-6EA5-076A-FEC53D57665A}"/>
              </a:ext>
            </a:extLst>
          </p:cNvPr>
          <p:cNvSpPr>
            <a:spLocks noGrp="1"/>
          </p:cNvSpPr>
          <p:nvPr>
            <p:ph idx="1"/>
          </p:nvPr>
        </p:nvSpPr>
        <p:spPr/>
        <p:txBody>
          <a:bodyPr/>
          <a:lstStyle/>
          <a:p>
            <a:pPr marL="514350" marR="0" lvl="0" indent="-514350" algn="just" defTabSz="914400" rtl="0" eaLnBrk="1" fontAlgn="auto" latinLnBrk="0" hangingPunct="1">
              <a:lnSpc>
                <a:spcPct val="150000"/>
              </a:lnSpc>
              <a:spcBef>
                <a:spcPts val="1000"/>
              </a:spcBef>
              <a:spcAft>
                <a:spcPts val="0"/>
              </a:spcAft>
              <a:buClrTx/>
              <a:buSzTx/>
              <a:buFont typeface="+mj-lt"/>
              <a:buAutoNum type="arabicPeriod"/>
              <a:tabLst/>
              <a:defRPr/>
            </a:pPr>
            <a:r>
              <a:rPr kumimoji="0" lang="en-US" sz="32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Kiến</a:t>
            </a:r>
            <a:r>
              <a:rPr kumimoji="0" lang="en-US" sz="3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32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trúc</a:t>
            </a:r>
            <a:r>
              <a:rPr kumimoji="0" lang="en-US" sz="3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32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tập</a:t>
            </a:r>
            <a:r>
              <a:rPr kumimoji="0" lang="en-US" sz="3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32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lệnh</a:t>
            </a:r>
            <a:endParaRPr kumimoji="0" lang="en-US" sz="3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514350" marR="0" lvl="0" indent="-514350" algn="just" defTabSz="914400" rtl="0" eaLnBrk="1" fontAlgn="auto" latinLnBrk="0" hangingPunct="1">
              <a:lnSpc>
                <a:spcPct val="150000"/>
              </a:lnSpc>
              <a:spcBef>
                <a:spcPts val="1000"/>
              </a:spcBef>
              <a:spcAft>
                <a:spcPts val="0"/>
              </a:spcAft>
              <a:buClrTx/>
              <a:buSzTx/>
              <a:buFont typeface="+mj-lt"/>
              <a:buAutoNum type="arabicPeriod"/>
              <a:tabLst/>
              <a:defRPr/>
            </a:pPr>
            <a:r>
              <a:rPr kumimoji="0" lang="en-US" sz="32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Lệnh</a:t>
            </a:r>
            <a:r>
              <a:rPr kumimoji="0" lang="en-US" sz="3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32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và</a:t>
            </a:r>
            <a:r>
              <a:rPr kumimoji="0" lang="en-US" sz="3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32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tập</a:t>
            </a:r>
            <a:r>
              <a:rPr kumimoji="0" lang="en-US" sz="3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32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lệnh</a:t>
            </a:r>
            <a:r>
              <a:rPr kumimoji="0" lang="en-US" sz="3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MIPS</a:t>
            </a:r>
          </a:p>
          <a:p>
            <a:pPr marL="514350" marR="0" lvl="0" indent="-514350" algn="just" defTabSz="914400" rtl="0" eaLnBrk="1" fontAlgn="auto" latinLnBrk="0" hangingPunct="1">
              <a:lnSpc>
                <a:spcPct val="150000"/>
              </a:lnSpc>
              <a:spcBef>
                <a:spcPts val="1000"/>
              </a:spcBef>
              <a:spcAft>
                <a:spcPts val="0"/>
              </a:spcAft>
              <a:buClrTx/>
              <a:buSzTx/>
              <a:buFont typeface="+mj-lt"/>
              <a:buAutoNum type="arabicPeriod"/>
              <a:tabLst/>
              <a:defRPr/>
            </a:pPr>
            <a:r>
              <a:rPr kumimoji="0" lang="en-US" sz="32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Các</a:t>
            </a:r>
            <a:r>
              <a:rPr kumimoji="0" lang="en-US" sz="3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32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nhóm</a:t>
            </a:r>
            <a:r>
              <a:rPr kumimoji="0" lang="en-US" sz="3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32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lệnh</a:t>
            </a:r>
            <a:r>
              <a:rPr kumimoji="0" lang="en-US" sz="3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MIPS</a:t>
            </a:r>
          </a:p>
          <a:p>
            <a:pPr marL="514350" marR="0" lvl="0" indent="-514350" algn="just" defTabSz="914400" rtl="0" eaLnBrk="1" fontAlgn="auto" latinLnBrk="0" hangingPunct="1">
              <a:lnSpc>
                <a:spcPct val="150000"/>
              </a:lnSpc>
              <a:spcBef>
                <a:spcPts val="1000"/>
              </a:spcBef>
              <a:spcAft>
                <a:spcPts val="0"/>
              </a:spcAft>
              <a:buClrTx/>
              <a:buSzTx/>
              <a:buFont typeface="+mj-lt"/>
              <a:buAutoNum type="arabicPeriod"/>
              <a:tabLst/>
              <a:defRPr/>
            </a:pPr>
            <a:r>
              <a:rPr kumimoji="0" lang="en-US" sz="32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Toán</a:t>
            </a:r>
            <a:r>
              <a:rPr kumimoji="0" lang="en-US" sz="3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32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hạng</a:t>
            </a:r>
            <a:endParaRPr kumimoji="0" lang="en-US" sz="3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endParaRPr lang="en-US" dirty="0"/>
          </a:p>
        </p:txBody>
      </p:sp>
    </p:spTree>
    <p:extLst>
      <p:ext uri="{BB962C8B-B14F-4D97-AF65-F5344CB8AC3E}">
        <p14:creationId xmlns:p14="http://schemas.microsoft.com/office/powerpoint/2010/main" val="16712348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D8756CC-FF80-6915-444D-795BAF1CD5A1}"/>
              </a:ext>
            </a:extLst>
          </p:cNvPr>
          <p:cNvSpPr>
            <a:spLocks noGrp="1"/>
          </p:cNvSpPr>
          <p:nvPr>
            <p:ph type="sldNum" sz="quarter" idx="12"/>
          </p:nvPr>
        </p:nvSpPr>
        <p:spPr/>
        <p:txBody>
          <a:bodyPr/>
          <a:lstStyle/>
          <a:p>
            <a:fld id="{D8B0B3AC-44A8-D142-AAF6-9A453466E1A4}" type="slidenum">
              <a:rPr lang="en-VN" smtClean="0"/>
              <a:pPr/>
              <a:t>44</a:t>
            </a:fld>
            <a:endParaRPr lang="en-VN" dirty="0"/>
          </a:p>
        </p:txBody>
      </p:sp>
      <p:sp>
        <p:nvSpPr>
          <p:cNvPr id="3" name="Footer Placeholder 2">
            <a:extLst>
              <a:ext uri="{FF2B5EF4-FFF2-40B4-BE49-F238E27FC236}">
                <a16:creationId xmlns:a16="http://schemas.microsoft.com/office/drawing/2014/main" id="{BF1000C4-9A2E-05A2-1818-684E7F995947}"/>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Title 1">
            <a:extLst>
              <a:ext uri="{FF2B5EF4-FFF2-40B4-BE49-F238E27FC236}">
                <a16:creationId xmlns:a16="http://schemas.microsoft.com/office/drawing/2014/main" id="{7A14E97F-0DB8-D467-8B0C-A879824FD45F}"/>
              </a:ext>
            </a:extLst>
          </p:cNvPr>
          <p:cNvSpPr txBox="1">
            <a:spLocks/>
          </p:cNvSpPr>
          <p:nvPr/>
        </p:nvSpPr>
        <p:spPr>
          <a:xfrm>
            <a:off x="4684910" y="1918010"/>
            <a:ext cx="4012558" cy="1100921"/>
          </a:xfrm>
          <a:prstGeom prst="rect">
            <a:avLst/>
          </a:prstGeom>
        </p:spPr>
        <p:txBody>
          <a:bodyPr/>
          <a:lstStyle>
            <a:lvl1pPr algn="l" defTabSz="914400" rtl="0" eaLnBrk="1" latinLnBrk="0" hangingPunct="1">
              <a:lnSpc>
                <a:spcPct val="90000"/>
              </a:lnSpc>
              <a:spcBef>
                <a:spcPct val="0"/>
              </a:spcBef>
              <a:buNone/>
              <a:defRPr sz="4000" b="1" kern="1200">
                <a:gradFill flip="none" rotWithShape="1">
                  <a:gsLst>
                    <a:gs pos="0">
                      <a:srgbClr val="0072FF"/>
                    </a:gs>
                    <a:gs pos="100000">
                      <a:srgbClr val="00C6FF"/>
                    </a:gs>
                  </a:gsLst>
                  <a:lin ang="2700000" scaled="1"/>
                  <a:tileRect/>
                </a:gradFill>
                <a:effectLst>
                  <a:innerShdw blurRad="114300">
                    <a:schemeClr val="bg1"/>
                  </a:innerShdw>
                </a:effectLst>
                <a:latin typeface="Times New Roman" panose="02020603050405020304" pitchFamily="18" charset="0"/>
                <a:ea typeface="+mj-ea"/>
                <a:cs typeface="Times New Roman" panose="02020603050405020304" pitchFamily="18" charset="0"/>
              </a:defRPr>
            </a:lvl1pPr>
          </a:lstStyle>
          <a:p>
            <a:r>
              <a:rPr lang="en-US" dirty="0"/>
              <a:t>THẢO LUẬN</a:t>
            </a:r>
          </a:p>
        </p:txBody>
      </p:sp>
      <p:pic>
        <p:nvPicPr>
          <p:cNvPr id="5" name="Picture 4" descr="http://data.sinhvienit.net/2013/T09/img/SinhVienIT.Net---suy-nghi.jpg">
            <a:extLst>
              <a:ext uri="{FF2B5EF4-FFF2-40B4-BE49-F238E27FC236}">
                <a16:creationId xmlns:a16="http://schemas.microsoft.com/office/drawing/2014/main" id="{91D62A03-02AF-AB7F-80A0-89E3D2490D6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95842" y="3018931"/>
            <a:ext cx="3211551" cy="24086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656097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r>
              <a:rPr lang="en-US" dirty="0" err="1"/>
              <a:t>Câu</a:t>
            </a:r>
            <a:r>
              <a:rPr lang="en-US" dirty="0"/>
              <a:t> </a:t>
            </a:r>
            <a:r>
              <a:rPr lang="en-US" dirty="0" err="1"/>
              <a:t>hỏi</a:t>
            </a:r>
            <a:r>
              <a:rPr lang="en-US" dirty="0"/>
              <a:t> </a:t>
            </a:r>
            <a:r>
              <a:rPr lang="en-US" dirty="0" err="1"/>
              <a:t>ôn</a:t>
            </a:r>
            <a:r>
              <a:rPr lang="en-US" dirty="0"/>
              <a:t> </a:t>
            </a:r>
            <a:r>
              <a:rPr lang="en-US" dirty="0" err="1"/>
              <a:t>tập</a:t>
            </a:r>
            <a:r>
              <a:rPr lang="en-US" dirty="0"/>
              <a:t> </a:t>
            </a:r>
            <a:r>
              <a:rPr lang="en-US" err="1"/>
              <a:t>chương</a:t>
            </a:r>
            <a:r>
              <a:rPr lang="en-US"/>
              <a:t> 6</a:t>
            </a:r>
            <a:endParaRPr lang="en-VN" dirty="0"/>
          </a:p>
        </p:txBody>
      </p:sp>
      <p:sp>
        <p:nvSpPr>
          <p:cNvPr id="3" name="Content Placeholder 2">
            <a:extLst>
              <a:ext uri="{FF2B5EF4-FFF2-40B4-BE49-F238E27FC236}">
                <a16:creationId xmlns:a16="http://schemas.microsoft.com/office/drawing/2014/main" id="{75A01CFC-41FA-4D7B-A058-603D95BA37C2}"/>
              </a:ext>
            </a:extLst>
          </p:cNvPr>
          <p:cNvSpPr>
            <a:spLocks noGrp="1"/>
          </p:cNvSpPr>
          <p:nvPr>
            <p:ph idx="1"/>
          </p:nvPr>
        </p:nvSpPr>
        <p:spPr>
          <a:xfrm>
            <a:off x="1142797" y="1195821"/>
            <a:ext cx="4023563" cy="5160527"/>
          </a:xfrm>
        </p:spPr>
        <p:txBody>
          <a:bodyPr/>
          <a:lstStyle/>
          <a:p>
            <a:r>
              <a:rPr lang="vi-VN" sz="2800"/>
              <a:t>Giả sử các biến f, g, h, i và j lần lượt được gán tới các thanh ghi $s0, $s1, $s2, $s3 và $s4. Giả sử địa chỉ nền của mảng A và B lần lượt nằm trong các thanh ghi $s6 và $s7.</a:t>
            </a:r>
          </a:p>
          <a:p>
            <a:r>
              <a:rPr lang="vi-VN" sz="2800"/>
              <a:t>Chương trình C tương ứng là gì?</a:t>
            </a:r>
            <a:endParaRPr lang="vi-VN" sz="2800"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45</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6" name="TextBox 5">
            <a:extLst>
              <a:ext uri="{FF2B5EF4-FFF2-40B4-BE49-F238E27FC236}">
                <a16:creationId xmlns:a16="http://schemas.microsoft.com/office/drawing/2014/main" id="{39823051-45D9-AE9E-6397-56179DF6DAA8}"/>
              </a:ext>
            </a:extLst>
          </p:cNvPr>
          <p:cNvSpPr txBox="1"/>
          <p:nvPr/>
        </p:nvSpPr>
        <p:spPr>
          <a:xfrm>
            <a:off x="6450512" y="1769038"/>
            <a:ext cx="4971867" cy="3097964"/>
          </a:xfrm>
          <a:prstGeom prst="rect">
            <a:avLst/>
          </a:prstGeom>
          <a:noFill/>
        </p:spPr>
        <p:txBody>
          <a:bodyPr wrap="square">
            <a:spAutoFit/>
          </a:bodyPr>
          <a:lstStyle/>
          <a:p>
            <a:pPr algn="just">
              <a:lnSpc>
                <a:spcPts val="1725"/>
              </a:lnSpc>
              <a:spcBef>
                <a:spcPts val="450"/>
              </a:spcBef>
              <a:spcAft>
                <a:spcPts val="450"/>
              </a:spcAft>
            </a:pPr>
            <a:r>
              <a:rPr lang="en-US" sz="2400" dirty="0" err="1">
                <a:latin typeface="Times New Roman" panose="02020603050405020304" pitchFamily="18" charset="0"/>
                <a:ea typeface="Times New Roman" panose="02020603050405020304" pitchFamily="18" charset="0"/>
              </a:rPr>
              <a:t>sll</a:t>
            </a:r>
            <a:r>
              <a:rPr lang="en-US" sz="2400" dirty="0">
                <a:latin typeface="Times New Roman" panose="02020603050405020304" pitchFamily="18" charset="0"/>
                <a:ea typeface="Times New Roman" panose="02020603050405020304" pitchFamily="18" charset="0"/>
              </a:rPr>
              <a:t> $t0, $s0, 2       # $t0 = f * 4</a:t>
            </a:r>
          </a:p>
          <a:p>
            <a:pPr algn="just">
              <a:lnSpc>
                <a:spcPts val="1725"/>
              </a:lnSpc>
              <a:spcBef>
                <a:spcPts val="450"/>
              </a:spcBef>
              <a:spcAft>
                <a:spcPts val="450"/>
              </a:spcAft>
            </a:pPr>
            <a:r>
              <a:rPr lang="en-US" sz="2400" dirty="0">
                <a:latin typeface="Times New Roman" panose="02020603050405020304" pitchFamily="18" charset="0"/>
                <a:ea typeface="Times New Roman" panose="02020603050405020304" pitchFamily="18" charset="0"/>
              </a:rPr>
              <a:t>add $t0, $s6, $t0  # $t0 = &amp;A[f]</a:t>
            </a:r>
          </a:p>
          <a:p>
            <a:pPr algn="just">
              <a:lnSpc>
                <a:spcPts val="1725"/>
              </a:lnSpc>
              <a:spcBef>
                <a:spcPts val="450"/>
              </a:spcBef>
              <a:spcAft>
                <a:spcPts val="450"/>
              </a:spcAft>
            </a:pPr>
            <a:r>
              <a:rPr lang="en-US" sz="2400" dirty="0" err="1">
                <a:latin typeface="Times New Roman" panose="02020603050405020304" pitchFamily="18" charset="0"/>
                <a:ea typeface="Times New Roman" panose="02020603050405020304" pitchFamily="18" charset="0"/>
              </a:rPr>
              <a:t>sll</a:t>
            </a:r>
            <a:r>
              <a:rPr lang="en-US" sz="2400" dirty="0">
                <a:latin typeface="Times New Roman" panose="02020603050405020304" pitchFamily="18" charset="0"/>
                <a:ea typeface="Times New Roman" panose="02020603050405020304" pitchFamily="18" charset="0"/>
              </a:rPr>
              <a:t> $t1, $s1, 2       # $t1 = g * 4</a:t>
            </a:r>
          </a:p>
          <a:p>
            <a:pPr algn="just">
              <a:lnSpc>
                <a:spcPts val="1725"/>
              </a:lnSpc>
              <a:spcBef>
                <a:spcPts val="450"/>
              </a:spcBef>
              <a:spcAft>
                <a:spcPts val="450"/>
              </a:spcAft>
            </a:pPr>
            <a:r>
              <a:rPr lang="en-US" sz="2400" dirty="0">
                <a:latin typeface="Times New Roman" panose="02020603050405020304" pitchFamily="18" charset="0"/>
                <a:ea typeface="Times New Roman" panose="02020603050405020304" pitchFamily="18" charset="0"/>
              </a:rPr>
              <a:t>add $t1, $s7, $t1  # $t1 = &amp;B[g]</a:t>
            </a:r>
          </a:p>
          <a:p>
            <a:pPr algn="just">
              <a:lnSpc>
                <a:spcPts val="1725"/>
              </a:lnSpc>
              <a:spcBef>
                <a:spcPts val="450"/>
              </a:spcBef>
              <a:spcAft>
                <a:spcPts val="450"/>
              </a:spcAft>
            </a:pPr>
            <a:r>
              <a:rPr lang="en-US" sz="2400" dirty="0" err="1">
                <a:latin typeface="Times New Roman" panose="02020603050405020304" pitchFamily="18" charset="0"/>
                <a:ea typeface="Times New Roman" panose="02020603050405020304" pitchFamily="18" charset="0"/>
              </a:rPr>
              <a:t>lw</a:t>
            </a:r>
            <a:r>
              <a:rPr lang="en-US" sz="2400" dirty="0">
                <a:latin typeface="Times New Roman" panose="02020603050405020304" pitchFamily="18" charset="0"/>
                <a:ea typeface="Times New Roman" panose="02020603050405020304" pitchFamily="18" charset="0"/>
              </a:rPr>
              <a:t> $s0, 0($t0)      # f = A[f]</a:t>
            </a:r>
          </a:p>
          <a:p>
            <a:pPr algn="just">
              <a:lnSpc>
                <a:spcPts val="1725"/>
              </a:lnSpc>
              <a:spcBef>
                <a:spcPts val="450"/>
              </a:spcBef>
              <a:spcAft>
                <a:spcPts val="450"/>
              </a:spcAft>
            </a:pPr>
            <a:r>
              <a:rPr lang="en-US" sz="2400" dirty="0" err="1">
                <a:latin typeface="Times New Roman" panose="02020603050405020304" pitchFamily="18" charset="0"/>
                <a:ea typeface="Times New Roman" panose="02020603050405020304" pitchFamily="18" charset="0"/>
              </a:rPr>
              <a:t>addi</a:t>
            </a:r>
            <a:r>
              <a:rPr lang="en-US" sz="2400" dirty="0">
                <a:latin typeface="Times New Roman" panose="02020603050405020304" pitchFamily="18" charset="0"/>
                <a:ea typeface="Times New Roman" panose="02020603050405020304" pitchFamily="18" charset="0"/>
              </a:rPr>
              <a:t> $t2, $t0, 4</a:t>
            </a:r>
          </a:p>
          <a:p>
            <a:pPr algn="just">
              <a:lnSpc>
                <a:spcPts val="1725"/>
              </a:lnSpc>
              <a:spcBef>
                <a:spcPts val="450"/>
              </a:spcBef>
              <a:spcAft>
                <a:spcPts val="450"/>
              </a:spcAft>
            </a:pPr>
            <a:r>
              <a:rPr lang="en-US" sz="2400" dirty="0" err="1">
                <a:latin typeface="Times New Roman" panose="02020603050405020304" pitchFamily="18" charset="0"/>
                <a:ea typeface="Times New Roman" panose="02020603050405020304" pitchFamily="18" charset="0"/>
              </a:rPr>
              <a:t>lw</a:t>
            </a:r>
            <a:r>
              <a:rPr lang="en-US" sz="2400" dirty="0">
                <a:latin typeface="Times New Roman" panose="02020603050405020304" pitchFamily="18" charset="0"/>
                <a:ea typeface="Times New Roman" panose="02020603050405020304" pitchFamily="18" charset="0"/>
              </a:rPr>
              <a:t> $t0, 0($t2)</a:t>
            </a:r>
          </a:p>
          <a:p>
            <a:pPr algn="just">
              <a:lnSpc>
                <a:spcPts val="1725"/>
              </a:lnSpc>
              <a:spcBef>
                <a:spcPts val="450"/>
              </a:spcBef>
              <a:spcAft>
                <a:spcPts val="450"/>
              </a:spcAft>
            </a:pPr>
            <a:r>
              <a:rPr lang="en-US" sz="2400" dirty="0">
                <a:latin typeface="Times New Roman" panose="02020603050405020304" pitchFamily="18" charset="0"/>
                <a:ea typeface="Times New Roman" panose="02020603050405020304" pitchFamily="18" charset="0"/>
              </a:rPr>
              <a:t>add $t0, $t0, $s0</a:t>
            </a:r>
          </a:p>
          <a:p>
            <a:pPr algn="just">
              <a:lnSpc>
                <a:spcPts val="1725"/>
              </a:lnSpc>
              <a:spcBef>
                <a:spcPts val="450"/>
              </a:spcBef>
              <a:spcAft>
                <a:spcPts val="450"/>
              </a:spcAft>
            </a:pPr>
            <a:r>
              <a:rPr lang="en-US" sz="2400" dirty="0" err="1">
                <a:latin typeface="Times New Roman" panose="02020603050405020304" pitchFamily="18" charset="0"/>
                <a:ea typeface="Times New Roman" panose="02020603050405020304" pitchFamily="18" charset="0"/>
              </a:rPr>
              <a:t>sw</a:t>
            </a:r>
            <a:r>
              <a:rPr lang="en-US" sz="2400" dirty="0">
                <a:latin typeface="Times New Roman" panose="02020603050405020304" pitchFamily="18" charset="0"/>
                <a:ea typeface="Times New Roman" panose="02020603050405020304" pitchFamily="18" charset="0"/>
              </a:rPr>
              <a:t> $t0, 0($t1)</a:t>
            </a:r>
          </a:p>
        </p:txBody>
      </p:sp>
    </p:spTree>
    <p:extLst>
      <p:ext uri="{BB962C8B-B14F-4D97-AF65-F5344CB8AC3E}">
        <p14:creationId xmlns:p14="http://schemas.microsoft.com/office/powerpoint/2010/main" val="5822418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98D90-9ADB-CC70-23B1-99A39FC50777}"/>
              </a:ext>
            </a:extLst>
          </p:cNvPr>
          <p:cNvSpPr>
            <a:spLocks noGrp="1"/>
          </p:cNvSpPr>
          <p:nvPr>
            <p:ph type="title"/>
          </p:nvPr>
        </p:nvSpPr>
        <p:spPr/>
        <p:txBody>
          <a:bodyPr/>
          <a:lstStyle/>
          <a:p>
            <a:r>
              <a:rPr lang="en-US"/>
              <a:t>Câu hỏi ôn tập chương 6 (tt)</a:t>
            </a:r>
          </a:p>
        </p:txBody>
      </p:sp>
      <p:sp>
        <p:nvSpPr>
          <p:cNvPr id="3" name="Content Placeholder 2">
            <a:extLst>
              <a:ext uri="{FF2B5EF4-FFF2-40B4-BE49-F238E27FC236}">
                <a16:creationId xmlns:a16="http://schemas.microsoft.com/office/drawing/2014/main" id="{365F8A57-DEFD-EB0C-534D-32D3F3CC5760}"/>
              </a:ext>
            </a:extLst>
          </p:cNvPr>
          <p:cNvSpPr>
            <a:spLocks noGrp="1"/>
          </p:cNvSpPr>
          <p:nvPr>
            <p:ph idx="1"/>
          </p:nvPr>
        </p:nvSpPr>
        <p:spPr/>
        <p:txBody>
          <a:bodyPr/>
          <a:lstStyle/>
          <a:p>
            <a:r>
              <a:rPr lang="vi-VN"/>
              <a:t>Viết chương trình hợp ngữ tính tổng 100 phần tử của mảng</a:t>
            </a:r>
          </a:p>
          <a:p>
            <a:r>
              <a:rPr lang="vi-VN"/>
              <a:t>Viết chương trình hợp ngữ kiểm tra một số có phải là số nguyên tố hay không</a:t>
            </a:r>
          </a:p>
          <a:p>
            <a:endParaRPr lang="en-US"/>
          </a:p>
        </p:txBody>
      </p:sp>
      <p:sp>
        <p:nvSpPr>
          <p:cNvPr id="4" name="Footer Placeholder 3">
            <a:extLst>
              <a:ext uri="{FF2B5EF4-FFF2-40B4-BE49-F238E27FC236}">
                <a16:creationId xmlns:a16="http://schemas.microsoft.com/office/drawing/2014/main" id="{6B53EC42-A1FA-E34E-B9D9-94C35BD05C95}"/>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Slide Number Placeholder 4">
            <a:extLst>
              <a:ext uri="{FF2B5EF4-FFF2-40B4-BE49-F238E27FC236}">
                <a16:creationId xmlns:a16="http://schemas.microsoft.com/office/drawing/2014/main" id="{354977A3-9B3B-EAE6-851C-AF8CE20D8925}"/>
              </a:ext>
            </a:extLst>
          </p:cNvPr>
          <p:cNvSpPr>
            <a:spLocks noGrp="1"/>
          </p:cNvSpPr>
          <p:nvPr>
            <p:ph type="sldNum" sz="quarter" idx="12"/>
          </p:nvPr>
        </p:nvSpPr>
        <p:spPr/>
        <p:txBody>
          <a:bodyPr/>
          <a:lstStyle/>
          <a:p>
            <a:fld id="{D8B0B3AC-44A8-D142-AAF6-9A453466E1A4}" type="slidenum">
              <a:rPr lang="en-VN" smtClean="0"/>
              <a:pPr/>
              <a:t>46</a:t>
            </a:fld>
            <a:endParaRPr lang="en-VN" dirty="0"/>
          </a:p>
        </p:txBody>
      </p:sp>
      <p:sp>
        <p:nvSpPr>
          <p:cNvPr id="6" name="Date Placeholder 5">
            <a:extLst>
              <a:ext uri="{FF2B5EF4-FFF2-40B4-BE49-F238E27FC236}">
                <a16:creationId xmlns:a16="http://schemas.microsoft.com/office/drawing/2014/main" id="{7EBA6AEE-EAEF-0F10-54D0-3DE0F39CBF3F}"/>
              </a:ext>
            </a:extLst>
          </p:cNvPr>
          <p:cNvSpPr>
            <a:spLocks noGrp="1"/>
          </p:cNvSpPr>
          <p:nvPr>
            <p:ph type="dt" sz="half" idx="13"/>
          </p:nvPr>
        </p:nvSpPr>
        <p:spPr/>
        <p:txBody>
          <a:bodyPr/>
          <a:lstStyle/>
          <a:p>
            <a:fld id="{46CDDB1B-AAE9-1649-A755-11FADEB7E97E}" type="datetime4">
              <a:rPr lang="en-US" smtClean="0"/>
              <a:pPr/>
              <a:t>April 21, 2024</a:t>
            </a:fld>
            <a:endParaRPr lang="en-US" dirty="0"/>
          </a:p>
        </p:txBody>
      </p:sp>
    </p:spTree>
    <p:extLst>
      <p:ext uri="{BB962C8B-B14F-4D97-AF65-F5344CB8AC3E}">
        <p14:creationId xmlns:p14="http://schemas.microsoft.com/office/powerpoint/2010/main" val="32209784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1163</TotalTime>
  <Words>4016</Words>
  <Application>Microsoft Office PowerPoint</Application>
  <PresentationFormat>Widescreen</PresentationFormat>
  <Paragraphs>800</Paragraphs>
  <Slides>46</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46</vt:i4>
      </vt:variant>
    </vt:vector>
  </HeadingPairs>
  <TitlesOfParts>
    <vt:vector size="52" baseType="lpstr">
      <vt:lpstr>Arial</vt:lpstr>
      <vt:lpstr>Calibri</vt:lpstr>
      <vt:lpstr>Symbol</vt:lpstr>
      <vt:lpstr>Times New Roman</vt:lpstr>
      <vt:lpstr>Wingdings</vt:lpstr>
      <vt:lpstr>Office Theme</vt:lpstr>
      <vt:lpstr>PowerPoint Presentation</vt:lpstr>
      <vt:lpstr>Ôn tập các chương trước</vt:lpstr>
      <vt:lpstr>PowerPoint Presentation</vt:lpstr>
      <vt:lpstr>PowerPoint Presentation</vt:lpstr>
      <vt:lpstr>PowerPoint Presentation</vt:lpstr>
      <vt:lpstr>PowerPoint Presentation</vt:lpstr>
      <vt:lpstr>Kiến trúc tập lệnh - Định nghĩa</vt:lpstr>
      <vt:lpstr>Kiến trúc tập lệnh - Phân loại</vt:lpstr>
      <vt:lpstr>Kiến trúc tập lệnh - Thanh ghi-thanh ghi</vt:lpstr>
      <vt:lpstr>Kiến trúc tập lệnh</vt:lpstr>
      <vt:lpstr>PowerPoint Presentation</vt:lpstr>
      <vt:lpstr>Kiến trúc tập lệnh - Lệnh</vt:lpstr>
      <vt:lpstr>Kiến trúc tập lệnh – Quiz 1</vt:lpstr>
      <vt:lpstr>Kiến trúc tập lệnh - Tập lệnh MIPS</vt:lpstr>
      <vt:lpstr>Kiến trúc tập lệnh - Tập lệnh MIPS (tt)</vt:lpstr>
      <vt:lpstr>Kiến trúc tập lệnh - Tập lệnh MIPS (tt)</vt:lpstr>
      <vt:lpstr>PowerPoint Presentation</vt:lpstr>
      <vt:lpstr>Nhóm lệnh số học và luận lý </vt:lpstr>
      <vt:lpstr>Nhóm lệnh số học và luận lý - add </vt:lpstr>
      <vt:lpstr>Nhóm lệnh số học và luận lý - andi </vt:lpstr>
      <vt:lpstr>Nhóm lệnh số học và luận lý - lệnh dịch sll</vt:lpstr>
      <vt:lpstr>Nhóm lệnh số học và luận lý - lệnh slti</vt:lpstr>
      <vt:lpstr>Nhóm lệnh truyền dữ liệu </vt:lpstr>
      <vt:lpstr>Nhóm lệnh truyền dữ liệu - Lệnh lw </vt:lpstr>
      <vt:lpstr>Nhóm lệnh truyền dữ liệu - Lệnh sw </vt:lpstr>
      <vt:lpstr>Nhóm lệnh điều khiển </vt:lpstr>
      <vt:lpstr>Lệnh rẽ nhánh - beq </vt:lpstr>
      <vt:lpstr>Lệnh rẽ nhánh - beq (tt)</vt:lpstr>
      <vt:lpstr>Lệnh rẽ nhánh - bne</vt:lpstr>
      <vt:lpstr>Nhóm lệnh nhảy - j/jr/jal</vt:lpstr>
      <vt:lpstr>PowerPoint Presentation</vt:lpstr>
      <vt:lpstr>Toán hạng</vt:lpstr>
      <vt:lpstr>Toán hạng thanh ghi </vt:lpstr>
      <vt:lpstr>Toán hạng thanh ghi (tt)</vt:lpstr>
      <vt:lpstr>Toán hạng thanh ghi </vt:lpstr>
      <vt:lpstr>Toán hạng thanh ghi - Quiz 2 </vt:lpstr>
      <vt:lpstr>Toán hạng bộ nhớ</vt:lpstr>
      <vt:lpstr>Toán hạng bộ nhớ (tt)</vt:lpstr>
      <vt:lpstr>Toán hạng bộ nhớ (tt)</vt:lpstr>
      <vt:lpstr>Toán hạng bộ nhớ - Quiz 3</vt:lpstr>
      <vt:lpstr>Toán hạng số tức thời</vt:lpstr>
      <vt:lpstr>Toán hạng số tức thời - Quiz 4 </vt:lpstr>
      <vt:lpstr>Tóm tắt lại nội dung buổi học</vt:lpstr>
      <vt:lpstr>PowerPoint Presentation</vt:lpstr>
      <vt:lpstr>Câu hỏi ôn tập chương 6</vt:lpstr>
      <vt:lpstr>Câu hỏi ôn tập chương 6 (tt)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Trần Hoàng Lộc</dc:creator>
  <cp:lastModifiedBy>Phan Đình Duy</cp:lastModifiedBy>
  <cp:revision>112</cp:revision>
  <dcterms:created xsi:type="dcterms:W3CDTF">2023-03-03T01:55:04Z</dcterms:created>
  <dcterms:modified xsi:type="dcterms:W3CDTF">2024-04-21T13:58:12Z</dcterms:modified>
</cp:coreProperties>
</file>