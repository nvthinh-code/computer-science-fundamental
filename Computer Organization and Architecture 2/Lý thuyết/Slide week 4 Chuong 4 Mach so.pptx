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</p:sldMasterIdLst>
  <p:notesMasterIdLst>
    <p:notesMasterId r:id="rId40"/>
  </p:notesMasterIdLst>
  <p:sldIdLst>
    <p:sldId id="314" r:id="rId2"/>
    <p:sldId id="320" r:id="rId3"/>
    <p:sldId id="262" r:id="rId4"/>
    <p:sldId id="269" r:id="rId5"/>
    <p:sldId id="261" r:id="rId6"/>
    <p:sldId id="263" r:id="rId7"/>
    <p:sldId id="345" r:id="rId8"/>
    <p:sldId id="347" r:id="rId9"/>
    <p:sldId id="348" r:id="rId10"/>
    <p:sldId id="414" r:id="rId11"/>
    <p:sldId id="413" r:id="rId12"/>
    <p:sldId id="417" r:id="rId13"/>
    <p:sldId id="443" r:id="rId14"/>
    <p:sldId id="378" r:id="rId15"/>
    <p:sldId id="295" r:id="rId16"/>
    <p:sldId id="302" r:id="rId17"/>
    <p:sldId id="296" r:id="rId18"/>
    <p:sldId id="379" r:id="rId19"/>
    <p:sldId id="380" r:id="rId20"/>
    <p:sldId id="381" r:id="rId21"/>
    <p:sldId id="394" r:id="rId22"/>
    <p:sldId id="331" r:id="rId23"/>
    <p:sldId id="426" r:id="rId24"/>
    <p:sldId id="333" r:id="rId25"/>
    <p:sldId id="438" r:id="rId26"/>
    <p:sldId id="382" r:id="rId27"/>
    <p:sldId id="383" r:id="rId28"/>
    <p:sldId id="384" r:id="rId29"/>
    <p:sldId id="385" r:id="rId30"/>
    <p:sldId id="386" r:id="rId31"/>
    <p:sldId id="301" r:id="rId32"/>
    <p:sldId id="368" r:id="rId33"/>
    <p:sldId id="371" r:id="rId34"/>
    <p:sldId id="387" r:id="rId35"/>
    <p:sldId id="330" r:id="rId36"/>
    <p:sldId id="388" r:id="rId37"/>
    <p:sldId id="389" r:id="rId38"/>
    <p:sldId id="268" r:id="rId39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6FF"/>
    <a:srgbClr val="0072FF"/>
    <a:srgbClr val="1CB5E0"/>
    <a:srgbClr val="000046"/>
    <a:srgbClr val="00F7FF"/>
    <a:srgbClr val="0A4671"/>
    <a:srgbClr val="114F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60"/>
    <p:restoredTop sz="94668"/>
  </p:normalViewPr>
  <p:slideViewPr>
    <p:cSldViewPr snapToGrid="0">
      <p:cViewPr varScale="1">
        <p:scale>
          <a:sx n="63" d="100"/>
          <a:sy n="63" d="100"/>
        </p:scale>
        <p:origin x="55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B713-64C2-0949-8ADC-A04FFD1F6467}" type="datetimeFigureOut">
              <a:rPr lang="en-VN" smtClean="0"/>
              <a:t>03/25/2024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F204-C7F4-F140-967F-D2FA889DA61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99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48612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895161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00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08593-9999-46B0-AA2F-E39338DD28D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604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noFill/>
                </a:ln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5400000" scaled="1"/>
                </a:gra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buNone/>
              <a:defRPr lang="en-VN" sz="2800" b="1" kern="1200" dirty="0"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</a:gradFill>
                <a:effectLst>
                  <a:innerShdw blurRad="114300">
                    <a:schemeClr val="bg1"/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0970" y="4963048"/>
            <a:ext cx="2830058" cy="345005"/>
          </a:xfr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8BC0B81-9708-34C0-3CBB-EA50270B9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0807" y="3630811"/>
            <a:ext cx="8490387" cy="64421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spc="150" baseline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(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): 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  <a:endParaRPr lang="en-V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25, 2024</a:t>
            </a:fld>
            <a:endParaRPr lang="en-US" dirty="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4ECB9C0D-6BC4-06A8-31B3-6D4D05D5A532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Isosceles Triangle 12">
            <a:extLst>
              <a:ext uri="{FF2B5EF4-FFF2-40B4-BE49-F238E27FC236}">
                <a16:creationId xmlns:a16="http://schemas.microsoft.com/office/drawing/2014/main" id="{255375C3-CD88-2FF5-F57C-94012687A003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375E782-84F1-2FE6-B32C-2CEDC078A3E7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F1B8EEE-CF84-3651-C40A-CC45C71B09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9B08090-ABF9-71C9-96B7-ED39806CA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EB532A4-691C-A7B2-9B00-A888444BF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828B3C0-BF98-308C-1C96-1B1B2C948F8A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2911F23-834E-9635-07BE-56C6BA818073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784C0A6-0AA7-8759-5AE6-71A7E3F80D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09177AE-D197-ED6A-5143-84F37D23F6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02A77F6-D23F-C55B-9FEB-B467C8EF82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Freeform 17">
            <a:extLst>
              <a:ext uri="{FF2B5EF4-FFF2-40B4-BE49-F238E27FC236}">
                <a16:creationId xmlns:a16="http://schemas.microsoft.com/office/drawing/2014/main" id="{C7427735-FDF5-AD43-D981-0D29697A194D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A68358DF-BF42-3FFC-B68E-5620302F32D2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35" name="Picture 34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41FD0EA7-1986-4A78-23EF-56793D0AEB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47B4D88-61CE-2596-B416-49A0B85F0514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1511375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March 25, 2024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C6B2679F-C18F-09A3-96AB-5F2B6ACB82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chemeClr val="bg1">
              <a:lumMod val="95000"/>
            </a:schemeClr>
          </a:solidFill>
          <a:ln w="19050" cap="rnd">
            <a:gradFill flip="none" rotWithShape="1">
              <a:gsLst>
                <a:gs pos="0">
                  <a:srgbClr val="00C6FF"/>
                </a:gs>
                <a:gs pos="99000">
                  <a:srgbClr val="00F7FF"/>
                </a:gs>
              </a:gsLst>
              <a:lin ang="2700000" scaled="1"/>
              <a:tileRect/>
            </a:gradFill>
          </a:ln>
        </p:spPr>
        <p:txBody>
          <a:bodyPr anchor="ctr">
            <a:normAutofit/>
          </a:bodyPr>
          <a:lstStyle>
            <a:lvl1pPr marL="1333500" indent="0">
              <a:buNone/>
              <a:tabLst/>
              <a:defRPr sz="2000" b="1" i="0">
                <a:gradFill flip="none" rotWithShape="1">
                  <a:gsLst>
                    <a:gs pos="100000">
                      <a:srgbClr val="0072FF"/>
                    </a:gs>
                    <a:gs pos="0">
                      <a:srgbClr val="00F7FF"/>
                    </a:gs>
                  </a:gsLst>
                  <a:lin ang="27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Họ và tên</a:t>
            </a:r>
            <a:br>
              <a:rPr lang="en-VN" dirty="0"/>
            </a:br>
            <a:r>
              <a:rPr lang="en-VN" dirty="0"/>
              <a:t>Email</a:t>
            </a:r>
            <a:br>
              <a:rPr lang="en-VN" dirty="0"/>
            </a:br>
            <a:r>
              <a:rPr lang="en-VN" dirty="0"/>
              <a:t>Khoa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7094EB-B733-82D9-0C1A-47F50ED8DF48}"/>
              </a:ext>
            </a:extLst>
          </p:cNvPr>
          <p:cNvGrpSpPr/>
          <p:nvPr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2951CF-9EB0-47B4-697B-3EC7AC808E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49411" y="1986636"/>
              <a:ext cx="6360520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FAF29A-75A4-8EF7-11D9-AB3F5C16B25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11109" y="1480500"/>
              <a:ext cx="591405" cy="506136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D2D0A89-881E-F365-FCB8-0CCF88B4F0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2514" y="1480500"/>
              <a:ext cx="1378423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8ED5AC8-396E-82A3-EA13-53B0DC1B1744}"/>
                </a:ext>
              </a:extLst>
            </p:cNvPr>
            <p:cNvSpPr/>
            <p:nvPr userDrawn="1"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 flip="none" rotWithShape="1"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1"/>
              <a:tileRect/>
            </a:gra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D5DF290-BB09-CD5D-D16C-F337A2AE1710}"/>
              </a:ext>
            </a:extLst>
          </p:cNvPr>
          <p:cNvSpPr>
            <a:spLocks noChangeAspect="1"/>
          </p:cNvSpPr>
          <p:nvPr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  <a:ln>
            <a:gradFill>
              <a:gsLst>
                <a:gs pos="0">
                  <a:srgbClr val="00C6FF"/>
                </a:gs>
                <a:gs pos="100000">
                  <a:srgbClr val="0072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6519316-5BE7-6687-FE60-23F1FB91349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F7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VN" dirty="0"/>
              <a:t>Profile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8F295F7-595F-E903-E034-0D8FEC5E07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1214" y="2263753"/>
            <a:ext cx="3576761" cy="622002"/>
          </a:xfrm>
          <a:effectLst>
            <a:innerShdw blurRad="114300">
              <a:srgbClr val="00F7FF"/>
            </a:innerShdw>
          </a:effectLst>
        </p:spPr>
        <p:txBody>
          <a:bodyPr anchor="ctr">
            <a:noAutofit/>
          </a:bodyPr>
          <a:lstStyle>
            <a:lvl1pPr marL="0" indent="0" algn="r">
              <a:buNone/>
              <a:defRPr lang="en-VN" sz="36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GIẢNG VIÊN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8712626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27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3899" y="1559014"/>
            <a:ext cx="8124204" cy="4153664"/>
          </a:xfrm>
        </p:spPr>
        <p:txBody>
          <a:bodyPr anchor="ctr">
            <a:normAutofit/>
          </a:bodyPr>
          <a:lstStyle>
            <a:lvl1pPr marL="514350" indent="-51435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March 25, 2024</a:t>
            </a:fld>
            <a:endParaRPr lang="en-VN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F56C1099-1EF4-24C1-B5E1-A484342C7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9729" y="734646"/>
            <a:ext cx="2714625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NỘI DUNG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07209014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929" y="2095027"/>
            <a:ext cx="9941071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930" y="3169159"/>
            <a:ext cx="9941070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x.x.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0x.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25, 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AA7010-A78E-2DCB-8D89-28F704E05138}"/>
              </a:ext>
            </a:extLst>
          </p:cNvPr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F7FF"/>
              </a:gs>
              <a:gs pos="100000">
                <a:srgbClr val="00F7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6A6D30-76D9-ADFA-439D-D8ACD753FA68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A54932-7153-1124-6FAB-6B0BCE7F15CF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1FFE3-7A74-DE46-A817-485EEBD35CE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189745-CA80-BAF4-D0A4-5251C5A38265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4A45EE-E6B0-E916-950B-83B5D9C719DA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5BCF47-41EA-DC9C-B39C-19996485644F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57563D2E-1464-F4DC-680D-29877EB89C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320C05E-2806-6A11-0CEC-1BE4315205D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AE0A98-F8D1-D0A3-1A2F-7154B6549892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523DC2-02C7-8C77-2D04-A96541E3A583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91C568-955A-59F4-0185-C0BD5DF387B3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082665-0C7D-50B7-34EE-4782EFDC418A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F7AF7B-AD51-D4E7-8DBE-54F0B941BF46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6AE3EB-4115-B561-8E64-59E593CFEC98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12">
            <a:extLst>
              <a:ext uri="{FF2B5EF4-FFF2-40B4-BE49-F238E27FC236}">
                <a16:creationId xmlns:a16="http://schemas.microsoft.com/office/drawing/2014/main" id="{082F8C24-8EC3-12D9-31D2-D9AF7899ED56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AEA8BB2-C106-8466-0C4C-617FDA7C1F51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14CB226-4F6B-BE76-F70F-6C697E90FA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1602105-9594-E052-65A8-1862699041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8DC0ADB-CDDD-6330-2943-0D153B845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Isosceles Triangle 12">
            <a:extLst>
              <a:ext uri="{FF2B5EF4-FFF2-40B4-BE49-F238E27FC236}">
                <a16:creationId xmlns:a16="http://schemas.microsoft.com/office/drawing/2014/main" id="{5901D9CF-985A-8406-4A37-38F31E2609D6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B37415A-2375-7DEF-5823-D3665222BA11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20844FD-9E24-FB04-4E6D-4EADDADB34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22A5C58-98E1-B5E0-7929-4E19F441F7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D85F7D8-734D-6489-3F73-028DC84ED1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Freeform 30">
            <a:extLst>
              <a:ext uri="{FF2B5EF4-FFF2-40B4-BE49-F238E27FC236}">
                <a16:creationId xmlns:a16="http://schemas.microsoft.com/office/drawing/2014/main" id="{42F002FA-8869-A427-1258-CFBBD56FC75F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50" name="Slide Number Placeholder 4">
            <a:extLst>
              <a:ext uri="{FF2B5EF4-FFF2-40B4-BE49-F238E27FC236}">
                <a16:creationId xmlns:a16="http://schemas.microsoft.com/office/drawing/2014/main" id="{1F7437DE-B61C-AA09-3196-BE1C81E8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939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F6D26DEF-252F-4533-E8C5-9C000CC261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930" y="2095027"/>
            <a:ext cx="6264164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52" name="Text Placeholder 34">
            <a:extLst>
              <a:ext uri="{FF2B5EF4-FFF2-40B4-BE49-F238E27FC236}">
                <a16:creationId xmlns:a16="http://schemas.microsoft.com/office/drawing/2014/main" id="{312D54FE-A165-49EC-7CF1-955D9964FF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930" y="3169159"/>
            <a:ext cx="8913813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1.x. TÊN MỤC CON (NẾU CÓ)</a:t>
            </a:r>
          </a:p>
        </p:txBody>
      </p:sp>
      <p:sp>
        <p:nvSpPr>
          <p:cNvPr id="53" name="Text Placeholder 36">
            <a:extLst>
              <a:ext uri="{FF2B5EF4-FFF2-40B4-BE49-F238E27FC236}">
                <a16:creationId xmlns:a16="http://schemas.microsoft.com/office/drawing/2014/main" id="{03533A13-7B00-C8B7-BBDA-994F134AB8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7C1F332-54AD-1918-5972-6C04BED89F98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51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5" y="1233824"/>
            <a:ext cx="10579654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March 25, 2024</a:t>
            </a:fld>
            <a:endParaRPr lang="en-VN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106768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 san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233825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March 25, 2024</a:t>
            </a:fld>
            <a:endParaRPr lang="en-VN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228490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7D36B1-517A-D556-9184-ED466900A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879290617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 san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962615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March 25, 2024</a:t>
            </a:fld>
            <a:endParaRPr lang="en-VN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957280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F1C539-8AC9-C464-0C2F-4D72861584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4144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1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0714139-C59C-330B-707A-90AA2C2D1C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006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2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AE4A723-09B9-08FA-D05B-D53CF4EB2C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53679024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March 25, 2024</a:t>
            </a:fld>
            <a:endParaRPr lang="en-VN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85934" y="202009"/>
            <a:ext cx="6267866" cy="5969620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93861893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March 25, 2024</a:t>
            </a:fld>
            <a:endParaRPr lang="en-VN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E9790B-4A7F-B016-57E9-8F5F385CF8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VN" dirty="0"/>
              <a:t>Hình ảnh</a:t>
            </a:r>
          </a:p>
        </p:txBody>
      </p:sp>
    </p:spTree>
    <p:extLst>
      <p:ext uri="{BB962C8B-B14F-4D97-AF65-F5344CB8AC3E}">
        <p14:creationId xmlns:p14="http://schemas.microsoft.com/office/powerpoint/2010/main" val="3608002983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g tro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AAAD69AF-EC8B-72EE-4E78-98A3BACF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72" name="Date Placeholder 3">
            <a:extLst>
              <a:ext uri="{FF2B5EF4-FFF2-40B4-BE49-F238E27FC236}">
                <a16:creationId xmlns:a16="http://schemas.microsoft.com/office/drawing/2014/main" id="{E08B9789-E935-79BF-7612-287E195CA82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March 25, 2024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7513520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g tro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1CB305D-8829-8A5C-C77A-F06CC22D3171}"/>
              </a:ext>
            </a:extLst>
          </p:cNvPr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B213357-208D-5A7C-6EC3-620968AB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39354553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0400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</a:t>
            </a:r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5144" y="1286346"/>
            <a:ext cx="6721714" cy="4699000"/>
          </a:xfrm>
        </p:spPr>
        <p:txBody>
          <a:bodyPr anchor="ctr">
            <a:normAutofit/>
          </a:bodyPr>
          <a:lstStyle>
            <a:lvl1pPr marL="514350" indent="-514350" algn="just">
              <a:buFont typeface="+mj-lt"/>
              <a:buAutoNum type="arabicPeriod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6" name="Picture 85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59A81B3C-3C09-2267-567B-AD3F47296C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25,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468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0A66F8-E091-9C03-CD6B-317D0180ADDD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5F01B-1418-7515-A2D9-40BE42BE32BD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161D7-9C70-83EF-EE51-E59464E9FF79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94F566-E8F9-197C-FC4C-0E96F2163AA2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20CF87-B708-06C0-11BA-20052748E49F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2E2ADF-9658-9B1B-7EA8-E37B1FC3CB44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1192873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89939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70930" y="2095027"/>
            <a:ext cx="6264164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70930" y="3169159"/>
            <a:ext cx="8913813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1.x.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01.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8382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25, 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7478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673557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rang trố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CF4205-FE69-B110-BFEC-96C243E84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4104" y="6481647"/>
            <a:ext cx="4823792" cy="239828"/>
          </a:xfrm>
        </p:spPr>
        <p:txBody>
          <a:bodyPr/>
          <a:lstStyle>
            <a:lvl1pPr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B001B7A-ACFD-E95F-12D9-19AAE5D26050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Isosceles Triangle 12">
            <a:extLst>
              <a:ext uri="{FF2B5EF4-FFF2-40B4-BE49-F238E27FC236}">
                <a16:creationId xmlns:a16="http://schemas.microsoft.com/office/drawing/2014/main" id="{EC54FC6D-4EA2-05B8-622E-978CA44EE451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6BFCC2-A4FC-FD21-E540-274D8A5E86A6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E02FF7A-C97B-6315-EE50-502DD70172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FBB8E8B-5D54-0BE8-2B45-A52136DC7C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26865F1-6407-106A-3054-46BDFFCABB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Isosceles Triangle 12">
            <a:extLst>
              <a:ext uri="{FF2B5EF4-FFF2-40B4-BE49-F238E27FC236}">
                <a16:creationId xmlns:a16="http://schemas.microsoft.com/office/drawing/2014/main" id="{F7A0C3F8-4035-744F-55A7-EA06C1D5C7EA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9E4668-1010-687F-A942-6C4D5A705103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38CE8D-69BB-4124-0995-8FFFD3591C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67A915F-DF8B-DE38-6935-2EF2855BD4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9EE0435-0ACC-2AB8-1B9F-A6029A49F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193E2330-6133-BE87-4D2E-C83A58844D20}"/>
              </a:ext>
            </a:extLst>
          </p:cNvPr>
          <p:cNvSpPr/>
          <p:nvPr userDrawn="1"/>
        </p:nvSpPr>
        <p:spPr>
          <a:xfrm>
            <a:off x="11926541" y="6589084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37ACE3-8FB7-24F0-3868-FE9125A2AECB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A5D02D-0007-4DC9-960D-BEF3BFABF7BF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C732A1-B62D-CEEA-BA05-6809BA51F8BD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4BF2B8-4151-6AB5-64CB-17CA8871FA1F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AEE115-474E-0C83-1F8A-40C90DC3E1A5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BB15EA-009D-0AD0-1DD5-9E5E43B737E1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0750E473-BE75-9843-7989-024278E0E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543E0-8536-7E05-8D77-79C6CEA0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7699" y="6560242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AD0C70-2015-36A0-DCB1-0E2322D0D36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481647"/>
            <a:ext cx="2148299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25,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189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gradFill>
                    <a:gsLst>
                      <a:gs pos="0">
                        <a:srgbClr val="000046"/>
                      </a:gs>
                      <a:gs pos="100000">
                        <a:srgbClr val="1CB5E0"/>
                      </a:gs>
                    </a:gsLst>
                    <a:lin ang="5400000" scaled="1"/>
                  </a:gradFill>
                </a:ln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2000" b="1" kern="1200" dirty="0"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</a:gradFill>
                <a:effectLst>
                  <a:innerShdw blurRad="114300">
                    <a:schemeClr val="bg1"/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0970" y="4963048"/>
            <a:ext cx="2830058" cy="345005"/>
          </a:xfr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8BC0B81-9708-34C0-3CBB-EA50270B9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0807" y="3630811"/>
            <a:ext cx="8490387" cy="64421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spc="150" baseline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(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): 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  <a:endParaRPr lang="en-V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25,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4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0400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r>
              <a:rPr lang="en-V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5144" y="1286346"/>
            <a:ext cx="6721714" cy="4699000"/>
          </a:xfrm>
        </p:spPr>
        <p:txBody>
          <a:bodyPr anchor="ctr">
            <a:normAutofit/>
          </a:bodyPr>
          <a:lstStyle>
            <a:lvl1pPr marL="514350" indent="-514350" algn="just">
              <a:buFont typeface="+mj-lt"/>
              <a:buAutoNum type="arabicPeriod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6" name="Picture 85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59A81B3C-3C09-2267-567B-AD3F47296C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March 25,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48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DDB1B-AAE9-1649-A755-11FADEB7E97E}" type="datetime4">
              <a:rPr lang="en-US" smtClean="0"/>
              <a:t>March 25, 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54291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49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effectLst>
            <a:innerShdw blurRad="114300">
              <a:schemeClr val="bg1"/>
            </a:inn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5" Type="http://schemas.openxmlformats.org/officeDocument/2006/relationships/image" Target="../media/image18.jpe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package" Target="../embeddings/Microsoft_Visio_Drawing1.vsdx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package" Target="../embeddings/Microsoft_Visio_Drawing2.vsd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72110C-D077-8C1D-3057-3378C02C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8DCF8-0D88-9852-95C4-4F568F0A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F55CA5-843C-3510-DCA9-291216FC76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TỔ CHỨC VÀ CẤU TRÚC MÁY TÍNH II</a:t>
            </a:r>
            <a:endParaRPr lang="en-V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2113BCF-E52A-540A-4540-2833CA1A0E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6990" y="3062315"/>
            <a:ext cx="10438019" cy="459447"/>
          </a:xfrm>
        </p:spPr>
        <p:txBody>
          <a:bodyPr/>
          <a:lstStyle/>
          <a:p>
            <a:r>
              <a:rPr lang="en-US" dirty="0"/>
              <a:t>CHƯƠNG 4: MẠCH SỐ</a:t>
            </a:r>
            <a:endParaRPr lang="en-V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41A4B7-48D3-1CAE-C056-FDAD586D04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PHAN ĐÌNH DUY</a:t>
            </a:r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73612D-1002-64DC-D3C2-F4E546D792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.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98065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Nội dung môn học - lý thuyết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spcBef>
                <a:spcPts val="0"/>
              </a:spcBef>
              <a:buSzPts val="2600"/>
              <a:buFont typeface="Wingdings" panose="05000000000000000000" pitchFamily="2" charset="2"/>
              <a:buChar char="Ø"/>
            </a:pPr>
            <a:r>
              <a:rPr lang="vi-VN">
                <a:solidFill>
                  <a:schemeClr val="accent6"/>
                </a:solidFill>
              </a:rPr>
              <a:t>Chương 1: Tổng quan về máy tính</a:t>
            </a:r>
          </a:p>
          <a:p>
            <a:pPr algn="just">
              <a:spcBef>
                <a:spcPts val="520"/>
              </a:spcBef>
              <a:buSzPts val="2600"/>
              <a:buFont typeface="Wingdings" panose="05000000000000000000" pitchFamily="2" charset="2"/>
              <a:buChar char="Ø"/>
            </a:pPr>
            <a:r>
              <a:rPr lang="vi-VN">
                <a:solidFill>
                  <a:schemeClr val="accent6"/>
                </a:solidFill>
              </a:rPr>
              <a:t>Chương 2: Biểu diễn thông tin</a:t>
            </a:r>
          </a:p>
          <a:p>
            <a:pPr algn="just">
              <a:spcBef>
                <a:spcPts val="520"/>
              </a:spcBef>
              <a:buSzPts val="2600"/>
              <a:buFont typeface="Wingdings" panose="05000000000000000000" pitchFamily="2" charset="2"/>
              <a:buChar char="Ø"/>
            </a:pPr>
            <a:r>
              <a:rPr lang="vi-VN">
                <a:solidFill>
                  <a:schemeClr val="accent6"/>
                </a:solidFill>
              </a:rPr>
              <a:t>Chương 3: Đại số Boolean</a:t>
            </a:r>
          </a:p>
          <a:p>
            <a:pPr algn="just">
              <a:spcBef>
                <a:spcPts val="520"/>
              </a:spcBef>
              <a:buSzPts val="2600"/>
              <a:buFont typeface="Wingdings" panose="05000000000000000000" pitchFamily="2" charset="2"/>
              <a:buChar char="Ø"/>
            </a:pPr>
            <a:r>
              <a:rPr lang="vi-VN" b="1">
                <a:solidFill>
                  <a:srgbClr val="FF0000"/>
                </a:solidFill>
              </a:rPr>
              <a:t>Chương 4: Mạch số</a:t>
            </a:r>
          </a:p>
          <a:p>
            <a:pPr algn="just">
              <a:spcBef>
                <a:spcPts val="520"/>
              </a:spcBef>
              <a:buSzPts val="2600"/>
              <a:buFont typeface="Wingdings" panose="05000000000000000000" pitchFamily="2" charset="2"/>
              <a:buChar char="Ø"/>
            </a:pPr>
            <a:r>
              <a:rPr lang="vi-VN"/>
              <a:t>Chương 5: Ứng dụng mạch số</a:t>
            </a:r>
          </a:p>
          <a:p>
            <a:pPr algn="just">
              <a:spcBef>
                <a:spcPts val="520"/>
              </a:spcBef>
              <a:buSzPts val="2600"/>
              <a:buFont typeface="Wingdings" panose="05000000000000000000" pitchFamily="2" charset="2"/>
              <a:buChar char="Ø"/>
            </a:pPr>
            <a:r>
              <a:rPr lang="vi-VN"/>
              <a:t>Chương 6: Kiến trúc tập lệnh</a:t>
            </a:r>
          </a:p>
          <a:p>
            <a:pPr algn="just">
              <a:spcBef>
                <a:spcPts val="520"/>
              </a:spcBef>
              <a:buSzPts val="2600"/>
              <a:buFont typeface="Wingdings" panose="05000000000000000000" pitchFamily="2" charset="2"/>
              <a:buChar char="Ø"/>
            </a:pPr>
            <a:r>
              <a:rPr lang="vi-VN"/>
              <a:t>Chương 7: Biên dịch chương trình</a:t>
            </a:r>
          </a:p>
          <a:p>
            <a:pPr algn="just">
              <a:spcBef>
                <a:spcPts val="520"/>
              </a:spcBef>
              <a:buSzPts val="2600"/>
              <a:buFont typeface="Wingdings" panose="05000000000000000000" pitchFamily="2" charset="2"/>
              <a:buChar char="Ø"/>
            </a:pPr>
            <a:r>
              <a:rPr lang="vi-VN"/>
              <a:t>Chương 8: Bộ xử lý</a:t>
            </a:r>
          </a:p>
          <a:p>
            <a:pPr algn="just">
              <a:spcBef>
                <a:spcPts val="520"/>
              </a:spcBef>
              <a:buSzPts val="2600"/>
              <a:buFont typeface="Wingdings" panose="05000000000000000000" pitchFamily="2" charset="2"/>
              <a:buChar char="Ø"/>
            </a:pPr>
            <a:r>
              <a:rPr lang="vi-VN"/>
              <a:t>Chương 9: Hiệu suất máy tính</a:t>
            </a:r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43007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6FCBF-4D71-BDAD-8392-99213DE0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9BD337-3CBD-0719-2FDF-03E1A468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</a:t>
            </a:fld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CC069-E19E-B22C-6D85-1188A3E8F0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 err="1"/>
              <a:t>Hiểu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chức</a:t>
            </a:r>
            <a:r>
              <a:rPr lang="en-US" sz="2800" dirty="0"/>
              <a:t> </a:t>
            </a:r>
            <a:r>
              <a:rPr lang="en-US" sz="2800" dirty="0" err="1"/>
              <a:t>năng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cấu</a:t>
            </a:r>
            <a:r>
              <a:rPr lang="en-US" sz="2800" dirty="0"/>
              <a:t> </a:t>
            </a:r>
            <a:r>
              <a:rPr lang="en-US" sz="2800" dirty="0" err="1"/>
              <a:t>trúc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mạch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endParaRPr lang="en-US" sz="2800" dirty="0"/>
          </a:p>
          <a:p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tích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hoạt</a:t>
            </a:r>
            <a:r>
              <a:rPr lang="en-US" sz="2800" dirty="0"/>
              <a:t> </a:t>
            </a:r>
            <a:r>
              <a:rPr lang="en-US" sz="2800" dirty="0" err="1"/>
              <a:t>động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mạch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endParaRPr lang="en-US" sz="2800" dirty="0"/>
          </a:p>
          <a:p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thiết</a:t>
            </a:r>
            <a:r>
              <a:rPr lang="en-US" sz="2800" dirty="0"/>
              <a:t> </a:t>
            </a:r>
            <a:r>
              <a:rPr lang="en-US" sz="2800" dirty="0" err="1"/>
              <a:t>kế</a:t>
            </a:r>
            <a:r>
              <a:rPr lang="en-US" sz="2800" dirty="0"/>
              <a:t> </a:t>
            </a:r>
            <a:r>
              <a:rPr lang="en-US" sz="2800" dirty="0" err="1"/>
              <a:t>mạch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tổ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5992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6FCBF-4D71-BDAD-8392-99213DE0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9BD337-3CBD-0719-2FDF-03E1A468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</a:t>
            </a:fld>
            <a:endParaRPr lang="en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D77E0-7814-E542-0144-95AEF5C06A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 err="1"/>
              <a:t>Mạch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Mạch</a:t>
            </a:r>
            <a:r>
              <a:rPr lang="en-US" sz="2800" dirty="0"/>
              <a:t> </a:t>
            </a:r>
            <a:r>
              <a:rPr lang="en-US" sz="2800" dirty="0" err="1"/>
              <a:t>tổ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Thiết</a:t>
            </a:r>
            <a:r>
              <a:rPr lang="en-US" sz="2800" dirty="0"/>
              <a:t> </a:t>
            </a:r>
            <a:r>
              <a:rPr lang="en-US" sz="2800" dirty="0" err="1"/>
              <a:t>kế</a:t>
            </a:r>
            <a:r>
              <a:rPr lang="en-US" sz="2800" dirty="0"/>
              <a:t> </a:t>
            </a:r>
            <a:r>
              <a:rPr lang="en-US" sz="2800" dirty="0" err="1"/>
              <a:t>mạch</a:t>
            </a:r>
            <a:r>
              <a:rPr lang="en-US" sz="2800" dirty="0"/>
              <a:t> </a:t>
            </a:r>
            <a:r>
              <a:rPr lang="en-US" sz="2800" dirty="0" err="1"/>
              <a:t>tổ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Mạch</a:t>
            </a:r>
            <a:r>
              <a:rPr lang="en-US" sz="2800" dirty="0"/>
              <a:t> </a:t>
            </a:r>
            <a:r>
              <a:rPr lang="en-US" sz="2800" dirty="0" err="1"/>
              <a:t>tuần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Thiết</a:t>
            </a:r>
            <a:r>
              <a:rPr lang="en-US" sz="2800" dirty="0"/>
              <a:t> </a:t>
            </a:r>
            <a:r>
              <a:rPr lang="en-US" sz="2800" dirty="0" err="1"/>
              <a:t>bị</a:t>
            </a:r>
            <a:r>
              <a:rPr lang="en-US" sz="2800" dirty="0"/>
              <a:t> </a:t>
            </a:r>
            <a:r>
              <a:rPr lang="en-US" sz="2800" dirty="0" err="1"/>
              <a:t>lưu</a:t>
            </a:r>
            <a:r>
              <a:rPr lang="en-US" sz="2800" dirty="0"/>
              <a:t> </a:t>
            </a:r>
            <a:r>
              <a:rPr lang="en-US" sz="2800" dirty="0" err="1"/>
              <a:t>trữ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1905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9" y="2095027"/>
            <a:ext cx="7918398" cy="884656"/>
          </a:xfrm>
        </p:spPr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V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04568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, </a:t>
            </a:r>
            <a:r>
              <a:rPr lang="en-US" dirty="0" err="1"/>
              <a:t>truyền</a:t>
            </a:r>
            <a:r>
              <a:rPr lang="en-US" dirty="0"/>
              <a:t>,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pPr lvl="2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:</a:t>
            </a:r>
          </a:p>
          <a:p>
            <a:pPr lvl="3">
              <a:lnSpc>
                <a:spcPct val="110000"/>
              </a:lnSpc>
            </a:pPr>
            <a:r>
              <a:rPr lang="en-US" dirty="0" err="1"/>
              <a:t>Hàm</a:t>
            </a:r>
            <a:r>
              <a:rPr lang="en-US" dirty="0"/>
              <a:t> Boole</a:t>
            </a:r>
          </a:p>
          <a:p>
            <a:pPr lvl="3">
              <a:lnSpc>
                <a:spcPct val="110000"/>
              </a:lnSpc>
            </a:pP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  <a:p>
            <a:pPr lvl="1"/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pPr lvl="2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:</a:t>
            </a:r>
          </a:p>
          <a:p>
            <a:pPr lvl="3">
              <a:lnSpc>
                <a:spcPct val="100000"/>
              </a:lnSpc>
            </a:pPr>
            <a:r>
              <a:rPr lang="en-US" dirty="0"/>
              <a:t>AND, OR, NOT</a:t>
            </a:r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</a:t>
            </a:fld>
            <a:endParaRPr lang="en-VN" dirty="0"/>
          </a:p>
        </p:txBody>
      </p:sp>
      <p:pic>
        <p:nvPicPr>
          <p:cNvPr id="1026" name="Picture 2" descr="Khái niệm Digital và Analog - Sửa Laptop Cần Thơ">
            <a:extLst>
              <a:ext uri="{FF2B5EF4-FFF2-40B4-BE49-F238E27FC236}">
                <a16:creationId xmlns:a16="http://schemas.microsoft.com/office/drawing/2014/main" id="{E196D8C8-6097-2087-6B67-B9E05D157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172" y="2230244"/>
            <a:ext cx="2937171" cy="200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64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-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logic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E4091D2F-B6D3-B50C-7AAC-2F60F15DC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128" y="1427855"/>
            <a:ext cx="3609489" cy="466566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7</a:t>
            </a:fld>
            <a:endParaRPr lang="en-V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D8843-F70F-E9DC-AAD2-0CAECD558B7D}"/>
              </a:ext>
            </a:extLst>
          </p:cNvPr>
          <p:cNvSpPr/>
          <p:nvPr/>
        </p:nvSpPr>
        <p:spPr>
          <a:xfrm>
            <a:off x="4232986" y="1447885"/>
            <a:ext cx="18399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 = AB</a:t>
            </a:r>
            <a:r>
              <a:rPr lang="en-US" sz="28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+ C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9D16C5A-9DCB-4D3C-1114-7DDD49528D26}"/>
                  </a:ext>
                </a:extLst>
              </p:cNvPr>
              <p:cNvSpPr/>
              <p:nvPr/>
            </p:nvSpPr>
            <p:spPr>
              <a:xfrm>
                <a:off x="4232986" y="3282376"/>
                <a:ext cx="3554819" cy="525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 =</a:t>
                </a:r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</a:t>
                </a:r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)(C + D + E)</a:t>
                </a:r>
                <a:endParaRPr lang="en-US" sz="2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9D16C5A-9DCB-4D3C-1114-7DDD49528D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986" y="3282376"/>
                <a:ext cx="3554819" cy="525208"/>
              </a:xfrm>
              <a:prstGeom prst="rect">
                <a:avLst/>
              </a:prstGeom>
              <a:blipFill>
                <a:blip r:embed="rId3"/>
                <a:stretch>
                  <a:fillRect l="-3559" t="-11905" r="-2491" b="-3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E6B9BAD-A870-D00B-BF93-67CC184A1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88" y="3760685"/>
            <a:ext cx="4823932" cy="15441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5AAD04-C3E5-FEC3-6ACF-7EA33ACF20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488" y="1820212"/>
            <a:ext cx="3758308" cy="138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1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Quiz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2D6B4F-DE31-A5F9-3323-3CFE9AEC1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854" y="1506131"/>
            <a:ext cx="10515600" cy="3845737"/>
          </a:xfrm>
        </p:spPr>
        <p:txBody>
          <a:bodyPr/>
          <a:lstStyle/>
          <a:p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8</a:t>
            </a:fld>
            <a:endParaRPr lang="en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01BDB4D-70AE-772D-ACE6-B0D4890E4C56}"/>
                  </a:ext>
                </a:extLst>
              </p:cNvPr>
              <p:cNvSpPr/>
              <p:nvPr/>
            </p:nvSpPr>
            <p:spPr>
              <a:xfrm>
                <a:off x="3750486" y="2231760"/>
                <a:ext cx="4691028" cy="525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</a:t>
                </a:r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1(A, B, C)</a:t>
                </a:r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</a:t>
                </a:r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</a:t>
                </a:r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)(C + D)B</a:t>
                </a:r>
                <a:endParaRPr lang="en-US" sz="28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01BDB4D-70AE-772D-ACE6-B0D4890E4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486" y="2231760"/>
                <a:ext cx="4691028" cy="525208"/>
              </a:xfrm>
              <a:prstGeom prst="rect">
                <a:avLst/>
              </a:prstGeom>
              <a:blipFill>
                <a:blip r:embed="rId2"/>
                <a:stretch>
                  <a:fillRect l="-2703" t="-11905" r="-1892" b="-3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F946FFA-5C5A-C301-F97F-D14465275108}"/>
                  </a:ext>
                </a:extLst>
              </p:cNvPr>
              <p:cNvSpPr/>
              <p:nvPr/>
            </p:nvSpPr>
            <p:spPr>
              <a:xfrm>
                <a:off x="3227874" y="3482597"/>
                <a:ext cx="5795561" cy="525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</a:t>
                </a:r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2(A, B, C)</a:t>
                </a:r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</a:t>
                </a:r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</a:t>
                </a:r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C)(C + ABD) + D</a:t>
                </a:r>
                <a:endParaRPr lang="en-US" sz="28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F946FFA-5C5A-C301-F97F-D144652751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874" y="3482597"/>
                <a:ext cx="5795561" cy="525208"/>
              </a:xfrm>
              <a:prstGeom prst="rect">
                <a:avLst/>
              </a:prstGeom>
              <a:blipFill>
                <a:blip r:embed="rId3"/>
                <a:stretch>
                  <a:fillRect l="-2188" t="-11905" r="-1313" b="-3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9197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-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9</a:t>
            </a:fld>
            <a:endParaRPr lang="en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1D084-6B62-9CF0-9F02-D68C67796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92" y="1503910"/>
            <a:ext cx="5193819" cy="33738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E0E36F-9066-C33E-3B09-873E0142E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948" y="1503910"/>
            <a:ext cx="5210987" cy="337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80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Cổng</a:t>
            </a:r>
            <a:r>
              <a:rPr lang="en-US" dirty="0"/>
              <a:t> logic NAND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NAND = NOT AND</a:t>
                </a:r>
              </a:p>
              <a:p>
                <a:pPr lvl="1"/>
                <a:r>
                  <a:rPr lang="en-US" dirty="0"/>
                  <a:t>X =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A</m:t>
                        </m:r>
                        <m:r>
                          <a:rPr lang="en-US" b="0" i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 smtClean="0">
                            <a:sym typeface="Symbol"/>
                          </a:rPr>
                          <m:t></m:t>
                        </m:r>
                        <m:r>
                          <a:rPr lang="en-US" b="0" i="0" dirty="0" smtClean="0">
                            <a:latin typeface="Cambria Math"/>
                            <a:sym typeface="Symbol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B</m:t>
                        </m:r>
                      </m:e>
                    </m:ba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 cstate="print"/>
                <a:stretch>
                  <a:fillRect l="-1259" t="-1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1981201" y="2633663"/>
            <a:ext cx="8328025" cy="3492500"/>
            <a:chOff x="417" y="1677"/>
            <a:chExt cx="5246" cy="2200"/>
          </a:xfrm>
        </p:grpSpPr>
        <p:pic>
          <p:nvPicPr>
            <p:cNvPr id="7" name="Picture 11" descr="fg03_00000_AAGTNLQ0"/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17" y="1677"/>
              <a:ext cx="5246" cy="2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Rectangle 12"/>
            <p:cNvSpPr>
              <a:spLocks noChangeArrowheads="1"/>
            </p:cNvSpPr>
            <p:nvPr/>
          </p:nvSpPr>
          <p:spPr bwMode="auto">
            <a:xfrm>
              <a:off x="1404" y="2528"/>
              <a:ext cx="257" cy="30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1433" y="3642"/>
              <a:ext cx="257" cy="21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4642" y="3162"/>
              <a:ext cx="257" cy="30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 useBgFill="1">
        <p:nvSpPr>
          <p:cNvPr id="11" name="TextBox 10"/>
          <p:cNvSpPr txBox="1"/>
          <p:nvPr/>
        </p:nvSpPr>
        <p:spPr>
          <a:xfrm>
            <a:off x="4675188" y="3581400"/>
            <a:ext cx="1649412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GB" sz="2000"/>
              <a:t>Dấu bù/ đảo </a:t>
            </a:r>
            <a:r>
              <a:rPr lang="en-GB" sz="2000" dirty="0" err="1"/>
              <a:t>ngược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CE52937-733F-305B-8A00-9440C3576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71596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Cổng</a:t>
            </a:r>
            <a:r>
              <a:rPr lang="en-US" dirty="0"/>
              <a:t> logic NOR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NOR = NOT OR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en-US" dirty="0"/>
                  <a:t>X =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A</m:t>
                        </m:r>
                        <m:r>
                          <a:rPr lang="en-US" b="0" i="0" smtClean="0">
                            <a:latin typeface="Cambria Math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B</m:t>
                        </m:r>
                      </m:e>
                    </m:ba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99" t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1905000" y="2620964"/>
            <a:ext cx="4800600" cy="3017837"/>
            <a:chOff x="423" y="2251"/>
            <a:chExt cx="2796" cy="1754"/>
          </a:xfrm>
        </p:grpSpPr>
        <p:pic>
          <p:nvPicPr>
            <p:cNvPr id="8" name="Picture 8" descr="fg03_0190a_AAGTNLM0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23" y="2251"/>
              <a:ext cx="2796" cy="1754"/>
            </a:xfrm>
            <a:prstGeom prst="rect">
              <a:avLst/>
            </a:prstGeom>
            <a:noFill/>
          </p:spPr>
        </p:pic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303" y="2981"/>
              <a:ext cx="235" cy="30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0" name="Picture 10" descr="fg03_0190c_AAGTNLM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02451" y="2409826"/>
            <a:ext cx="3482975" cy="2460625"/>
          </a:xfrm>
          <a:prstGeom prst="rect">
            <a:avLst/>
          </a:prstGeom>
          <a:noFill/>
        </p:spPr>
      </p:pic>
      <p:sp useBgFill="1">
        <p:nvSpPr>
          <p:cNvPr id="11" name="TextBox 10"/>
          <p:cNvSpPr txBox="1"/>
          <p:nvPr/>
        </p:nvSpPr>
        <p:spPr>
          <a:xfrm>
            <a:off x="4495800" y="3581400"/>
            <a:ext cx="2133600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GB" sz="2000" err="1"/>
              <a:t>Dấu</a:t>
            </a:r>
            <a:r>
              <a:rPr lang="en-GB" sz="2000"/>
              <a:t> bù/đảo </a:t>
            </a:r>
            <a:r>
              <a:rPr lang="en-GB" sz="2000" dirty="0" err="1"/>
              <a:t>ngược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8638CF5-37D9-3A3A-A847-C82E0D56C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72108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Cổng</a:t>
            </a:r>
            <a:r>
              <a:rPr lang="en-US" dirty="0"/>
              <a:t> logic XOR, XNOR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XOR = Exclusive OR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1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1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lẻ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X = A    B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XNOR = Exclusive NOR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1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1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chẵn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X = A    B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876" y="2809876"/>
            <a:ext cx="4124325" cy="1000125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2380785" y="2492297"/>
            <a:ext cx="152400" cy="152400"/>
            <a:chOff x="1866900" y="2133600"/>
            <a:chExt cx="228600" cy="228600"/>
          </a:xfrm>
        </p:grpSpPr>
        <p:sp>
          <p:nvSpPr>
            <p:cNvPr id="12" name="Oval 11"/>
            <p:cNvSpPr/>
            <p:nvPr/>
          </p:nvSpPr>
          <p:spPr>
            <a:xfrm>
              <a:off x="1866900" y="21336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cxnSp>
          <p:nvCxnSpPr>
            <p:cNvPr id="16" name="Straight Connector 15"/>
            <p:cNvCxnSpPr>
              <a:stCxn id="12" idx="2"/>
              <a:endCxn id="12" idx="6"/>
            </p:cNvCxnSpPr>
            <p:nvPr/>
          </p:nvCxnSpPr>
          <p:spPr>
            <a:xfrm>
              <a:off x="1866900" y="2247900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endCxn id="12" idx="4"/>
            </p:cNvCxnSpPr>
            <p:nvPr/>
          </p:nvCxnSpPr>
          <p:spPr>
            <a:xfrm>
              <a:off x="1981200" y="2133600"/>
              <a:ext cx="0" cy="228600"/>
            </a:xfrm>
            <a:prstGeom prst="line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2400609" y="5668780"/>
            <a:ext cx="152400" cy="152400"/>
            <a:chOff x="1866900" y="2133600"/>
            <a:chExt cx="228600" cy="228600"/>
          </a:xfrm>
        </p:grpSpPr>
        <p:sp>
          <p:nvSpPr>
            <p:cNvPr id="22" name="Oval 21"/>
            <p:cNvSpPr/>
            <p:nvPr/>
          </p:nvSpPr>
          <p:spPr>
            <a:xfrm>
              <a:off x="1866900" y="21336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cxnSp>
          <p:nvCxnSpPr>
            <p:cNvPr id="23" name="Straight Connector 22"/>
            <p:cNvCxnSpPr>
              <a:stCxn id="22" idx="2"/>
              <a:endCxn id="22" idx="6"/>
            </p:cNvCxnSpPr>
            <p:nvPr/>
          </p:nvCxnSpPr>
          <p:spPr>
            <a:xfrm>
              <a:off x="1866900" y="2247900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endCxn id="22" idx="4"/>
            </p:cNvCxnSpPr>
            <p:nvPr/>
          </p:nvCxnSpPr>
          <p:spPr>
            <a:xfrm>
              <a:off x="1981200" y="2133600"/>
              <a:ext cx="0" cy="228600"/>
            </a:xfrm>
            <a:prstGeom prst="line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/>
          <p:cNvCxnSpPr/>
          <p:nvPr/>
        </p:nvCxnSpPr>
        <p:spPr>
          <a:xfrm>
            <a:off x="2171143" y="5525894"/>
            <a:ext cx="70872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863" y="5505450"/>
            <a:ext cx="4162425" cy="97155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550" y="2286000"/>
            <a:ext cx="3295650" cy="238125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67AFE3D-657D-899B-41B1-FA3BF638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591405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76464" y="2110624"/>
                <a:ext cx="3673135" cy="101645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X =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AB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 smtClean="0">
                            <a:sym typeface="Symbol"/>
                          </a:rPr>
                          <m:t></m:t>
                        </m:r>
                        <m:r>
                          <a:rPr lang="en-US" b="0" i="1" dirty="0" smtClean="0">
                            <a:latin typeface="Cambria Math"/>
                            <a:sym typeface="Symbol"/>
                          </a:rPr>
                          <m:t> (</m:t>
                        </m:r>
                        <m:bar>
                          <m:barPr>
                            <m:pos m:val="top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C</m:t>
                            </m:r>
                            <m:r>
                              <a:rPr lang="en-US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dirty="0" smtClean="0">
                                <a:sym typeface="Symbol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D</m:t>
                            </m:r>
                          </m:e>
                        </m:bar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e>
                    </m:ba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76464" y="2110624"/>
                <a:ext cx="3673135" cy="1016455"/>
              </a:xfrm>
              <a:blipFill>
                <a:blip r:embed="rId4"/>
                <a:stretch>
                  <a:fillRect l="-344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11" descr="fg03_00000_AAGTNLU0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52173" y="3608708"/>
            <a:ext cx="8328025" cy="176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 useBgFill="1">
        <p:nvSpPr>
          <p:cNvPr id="7" name="TextBox 6"/>
          <p:cNvSpPr txBox="1"/>
          <p:nvPr/>
        </p:nvSpPr>
        <p:spPr>
          <a:xfrm>
            <a:off x="2057400" y="1488755"/>
            <a:ext cx="6883400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buClr>
                <a:srgbClr val="0000CC"/>
              </a:buClr>
            </a:pP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Thiết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kế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mạch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logic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dirty="0">
              <a:latin typeface="VNI-Times" pitchFamily="2" charset="0"/>
              <a:cs typeface="Times New Roman" pitchFamily="18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logic 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86A1411-C879-1C71-84A2-446048F41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8859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Quiz 2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2D6B4F-DE31-A5F9-3323-3CFE9AEC1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854" y="1506131"/>
            <a:ext cx="10515600" cy="3845737"/>
          </a:xfrm>
        </p:spPr>
        <p:txBody>
          <a:bodyPr/>
          <a:lstStyle/>
          <a:p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14</a:t>
            </a:fld>
            <a:endParaRPr lang="en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65EACCE-F9A2-14CD-86B1-FD4E108B5F64}"/>
                  </a:ext>
                </a:extLst>
              </p:cNvPr>
              <p:cNvSpPr/>
              <p:nvPr/>
            </p:nvSpPr>
            <p:spPr>
              <a:xfrm>
                <a:off x="3725713" y="2464600"/>
                <a:ext cx="4558299" cy="525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</a:t>
                </a:r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1(A, B, C)</a:t>
                </a:r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</a:t>
                </a:r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C)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65EACCE-F9A2-14CD-86B1-FD4E108B5F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713" y="2464600"/>
                <a:ext cx="4558299" cy="525208"/>
              </a:xfrm>
              <a:prstGeom prst="rect">
                <a:avLst/>
              </a:prstGeom>
              <a:blipFill>
                <a:blip r:embed="rId2"/>
                <a:stretch>
                  <a:fillRect l="-2778" t="-9302" b="-3255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88833E3-571B-9C3F-59F2-04C266EE2735}"/>
                  </a:ext>
                </a:extLst>
              </p:cNvPr>
              <p:cNvSpPr/>
              <p:nvPr/>
            </p:nvSpPr>
            <p:spPr>
              <a:xfrm>
                <a:off x="3227874" y="3482602"/>
                <a:ext cx="5822620" cy="5353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</a:t>
                </a:r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2(A, B, C)</a:t>
                </a:r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</a:t>
                </a:r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(</a:t>
                </a:r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vi-VN" sz="2800" i="1" spc="-2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C)(C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vi-VN" sz="2800" i="1" spc="-2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  <a:endParaRPr lang="en-US" sz="28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88833E3-571B-9C3F-59F2-04C266EE27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874" y="3482602"/>
                <a:ext cx="5822620" cy="535339"/>
              </a:xfrm>
              <a:prstGeom prst="rect">
                <a:avLst/>
              </a:prstGeom>
              <a:blipFill>
                <a:blip r:embed="rId3"/>
                <a:stretch>
                  <a:fillRect l="-2179" t="-11628" r="-1307" b="-302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0043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15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9" y="2095027"/>
            <a:ext cx="7918398" cy="884656"/>
          </a:xfrm>
        </p:spPr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5844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443" y="152400"/>
            <a:ext cx="9031357" cy="7159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16</a:t>
            </a:fld>
            <a:endParaRPr kumimoji="1" lang="ja-JP" altLang="en-US"/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1371600" y="1524000"/>
            <a:ext cx="5791200" cy="1371600"/>
            <a:chOff x="1056" y="2304"/>
            <a:chExt cx="3648" cy="864"/>
          </a:xfrm>
        </p:grpSpPr>
        <p:grpSp>
          <p:nvGrpSpPr>
            <p:cNvPr id="6" name="Group 22"/>
            <p:cNvGrpSpPr>
              <a:grpSpLocks/>
            </p:cNvGrpSpPr>
            <p:nvPr/>
          </p:nvGrpSpPr>
          <p:grpSpPr bwMode="auto">
            <a:xfrm>
              <a:off x="2208" y="2304"/>
              <a:ext cx="1296" cy="864"/>
              <a:chOff x="2208" y="2304"/>
              <a:chExt cx="1296" cy="864"/>
            </a:xfrm>
          </p:grpSpPr>
          <p:sp>
            <p:nvSpPr>
              <p:cNvPr id="23" name="Rectangle 6"/>
              <p:cNvSpPr>
                <a:spLocks noChangeArrowheads="1"/>
              </p:cNvSpPr>
              <p:nvPr/>
            </p:nvSpPr>
            <p:spPr bwMode="auto">
              <a:xfrm>
                <a:off x="2208" y="2304"/>
                <a:ext cx="1296" cy="86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4" name="Text Box 7"/>
              <p:cNvSpPr txBox="1">
                <a:spLocks noChangeArrowheads="1"/>
              </p:cNvSpPr>
              <p:nvPr/>
            </p:nvSpPr>
            <p:spPr bwMode="auto">
              <a:xfrm>
                <a:off x="2256" y="2544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b="1">
                    <a:latin typeface="Times New Roman" pitchFamily="18" charset="0"/>
                  </a:rPr>
                  <a:t>Mạch tổ hợp</a:t>
                </a:r>
                <a:endParaRPr lang="en-GB" altLang="en-US" sz="2400">
                  <a:latin typeface="Times New Roman" pitchFamily="18" charset="0"/>
                </a:endParaRPr>
              </a:p>
            </p:txBody>
          </p:sp>
        </p:grpSp>
        <p:grpSp>
          <p:nvGrpSpPr>
            <p:cNvPr id="7" name="Group 14"/>
            <p:cNvGrpSpPr>
              <a:grpSpLocks/>
            </p:cNvGrpSpPr>
            <p:nvPr/>
          </p:nvGrpSpPr>
          <p:grpSpPr bwMode="auto">
            <a:xfrm>
              <a:off x="1536" y="2448"/>
              <a:ext cx="672" cy="576"/>
              <a:chOff x="1536" y="2448"/>
              <a:chExt cx="672" cy="576"/>
            </a:xfrm>
          </p:grpSpPr>
          <p:sp>
            <p:nvSpPr>
              <p:cNvPr id="17" name="Line 8"/>
              <p:cNvSpPr>
                <a:spLocks noChangeShapeType="1"/>
              </p:cNvSpPr>
              <p:nvPr/>
            </p:nvSpPr>
            <p:spPr bwMode="auto">
              <a:xfrm>
                <a:off x="1536" y="2448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9"/>
              <p:cNvSpPr>
                <a:spLocks noChangeShapeType="1"/>
              </p:cNvSpPr>
              <p:nvPr/>
            </p:nvSpPr>
            <p:spPr bwMode="auto">
              <a:xfrm>
                <a:off x="1536" y="2544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10"/>
              <p:cNvSpPr>
                <a:spLocks noChangeShapeType="1"/>
              </p:cNvSpPr>
              <p:nvPr/>
            </p:nvSpPr>
            <p:spPr bwMode="auto">
              <a:xfrm>
                <a:off x="1536" y="2640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Line 11"/>
              <p:cNvSpPr>
                <a:spLocks noChangeShapeType="1"/>
              </p:cNvSpPr>
              <p:nvPr/>
            </p:nvSpPr>
            <p:spPr bwMode="auto">
              <a:xfrm>
                <a:off x="1536" y="2928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Line 12"/>
              <p:cNvSpPr>
                <a:spLocks noChangeShapeType="1"/>
              </p:cNvSpPr>
              <p:nvPr/>
            </p:nvSpPr>
            <p:spPr bwMode="auto">
              <a:xfrm>
                <a:off x="1536" y="3024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Text Box 13"/>
              <p:cNvSpPr txBox="1">
                <a:spLocks noChangeArrowheads="1"/>
              </p:cNvSpPr>
              <p:nvPr/>
            </p:nvSpPr>
            <p:spPr bwMode="auto">
              <a:xfrm>
                <a:off x="1728" y="2592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2400" b="1">
                    <a:latin typeface="Times New Roman" pitchFamily="18" charset="0"/>
                  </a:rPr>
                  <a:t>: :</a:t>
                </a:r>
                <a:endParaRPr lang="en-GB" altLang="en-US" sz="2400">
                  <a:latin typeface="Times New Roman" pitchFamily="18" charset="0"/>
                </a:endParaRPr>
              </a:p>
            </p:txBody>
          </p:sp>
        </p:grpSp>
        <p:grpSp>
          <p:nvGrpSpPr>
            <p:cNvPr id="8" name="Group 15"/>
            <p:cNvGrpSpPr>
              <a:grpSpLocks/>
            </p:cNvGrpSpPr>
            <p:nvPr/>
          </p:nvGrpSpPr>
          <p:grpSpPr bwMode="auto">
            <a:xfrm>
              <a:off x="3504" y="2448"/>
              <a:ext cx="672" cy="576"/>
              <a:chOff x="1536" y="2448"/>
              <a:chExt cx="672" cy="576"/>
            </a:xfrm>
          </p:grpSpPr>
          <p:sp>
            <p:nvSpPr>
              <p:cNvPr id="11" name="Line 16"/>
              <p:cNvSpPr>
                <a:spLocks noChangeShapeType="1"/>
              </p:cNvSpPr>
              <p:nvPr/>
            </p:nvSpPr>
            <p:spPr bwMode="auto">
              <a:xfrm>
                <a:off x="1536" y="2448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Line 17"/>
              <p:cNvSpPr>
                <a:spLocks noChangeShapeType="1"/>
              </p:cNvSpPr>
              <p:nvPr/>
            </p:nvSpPr>
            <p:spPr bwMode="auto">
              <a:xfrm>
                <a:off x="1536" y="2544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Line 18"/>
              <p:cNvSpPr>
                <a:spLocks noChangeShapeType="1"/>
              </p:cNvSpPr>
              <p:nvPr/>
            </p:nvSpPr>
            <p:spPr bwMode="auto">
              <a:xfrm>
                <a:off x="1536" y="2640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Line 19"/>
              <p:cNvSpPr>
                <a:spLocks noChangeShapeType="1"/>
              </p:cNvSpPr>
              <p:nvPr/>
            </p:nvSpPr>
            <p:spPr bwMode="auto">
              <a:xfrm>
                <a:off x="1536" y="2928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20"/>
              <p:cNvSpPr>
                <a:spLocks noChangeShapeType="1"/>
              </p:cNvSpPr>
              <p:nvPr/>
            </p:nvSpPr>
            <p:spPr bwMode="auto">
              <a:xfrm>
                <a:off x="1536" y="3024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Text Box 21"/>
              <p:cNvSpPr txBox="1">
                <a:spLocks noChangeArrowheads="1"/>
              </p:cNvSpPr>
              <p:nvPr/>
            </p:nvSpPr>
            <p:spPr bwMode="auto">
              <a:xfrm>
                <a:off x="1728" y="2592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2400" b="1">
                    <a:latin typeface="Times New Roman" pitchFamily="18" charset="0"/>
                  </a:rPr>
                  <a:t>: :</a:t>
                </a:r>
                <a:endParaRPr lang="en-GB" altLang="en-US" sz="2400">
                  <a:latin typeface="Times New Roman" pitchFamily="18" charset="0"/>
                </a:endParaRPr>
              </a:p>
            </p:txBody>
          </p:sp>
        </p:grpSp>
        <p:sp>
          <p:nvSpPr>
            <p:cNvPr id="9" name="Text Box 23"/>
            <p:cNvSpPr txBox="1">
              <a:spLocks noChangeArrowheads="1"/>
            </p:cNvSpPr>
            <p:nvPr/>
          </p:nvSpPr>
          <p:spPr bwMode="auto">
            <a:xfrm>
              <a:off x="1056" y="2640"/>
              <a:ext cx="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b="1">
                  <a:latin typeface="Times New Roman" pitchFamily="18" charset="0"/>
                </a:rPr>
                <a:t>inputs</a:t>
              </a:r>
            </a:p>
          </p:txBody>
        </p:sp>
        <p:sp>
          <p:nvSpPr>
            <p:cNvPr id="10" name="Text Box 24"/>
            <p:cNvSpPr txBox="1">
              <a:spLocks noChangeArrowheads="1"/>
            </p:cNvSpPr>
            <p:nvPr/>
          </p:nvSpPr>
          <p:spPr bwMode="auto">
            <a:xfrm>
              <a:off x="4032" y="2640"/>
              <a:ext cx="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b="1">
                  <a:latin typeface="Times New Roman" pitchFamily="18" charset="0"/>
                </a:rPr>
                <a:t>outputs</a:t>
              </a:r>
            </a:p>
          </p:txBody>
        </p:sp>
      </p:grpSp>
      <p:grpSp>
        <p:nvGrpSpPr>
          <p:cNvPr id="25" name="Group 45"/>
          <p:cNvGrpSpPr>
            <a:grpSpLocks/>
          </p:cNvGrpSpPr>
          <p:nvPr/>
        </p:nvGrpSpPr>
        <p:grpSpPr bwMode="auto">
          <a:xfrm>
            <a:off x="1371600" y="3886200"/>
            <a:ext cx="5638800" cy="2603706"/>
            <a:chOff x="1344" y="1536"/>
            <a:chExt cx="3552" cy="1776"/>
          </a:xfrm>
        </p:grpSpPr>
        <p:grpSp>
          <p:nvGrpSpPr>
            <p:cNvPr id="26" name="Group 7"/>
            <p:cNvGrpSpPr>
              <a:grpSpLocks/>
            </p:cNvGrpSpPr>
            <p:nvPr/>
          </p:nvGrpSpPr>
          <p:grpSpPr bwMode="auto">
            <a:xfrm>
              <a:off x="2448" y="1536"/>
              <a:ext cx="1296" cy="864"/>
              <a:chOff x="2208" y="2304"/>
              <a:chExt cx="1296" cy="864"/>
            </a:xfrm>
          </p:grpSpPr>
          <p:sp>
            <p:nvSpPr>
              <p:cNvPr id="52" name="Rectangle 8"/>
              <p:cNvSpPr>
                <a:spLocks noChangeArrowheads="1"/>
              </p:cNvSpPr>
              <p:nvPr/>
            </p:nvSpPr>
            <p:spPr bwMode="auto">
              <a:xfrm>
                <a:off x="2208" y="2304"/>
                <a:ext cx="1296" cy="86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" name="Text Box 9"/>
              <p:cNvSpPr txBox="1">
                <a:spLocks noChangeArrowheads="1"/>
              </p:cNvSpPr>
              <p:nvPr/>
            </p:nvSpPr>
            <p:spPr bwMode="auto">
              <a:xfrm>
                <a:off x="2256" y="2544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b="1">
                    <a:latin typeface="Times New Roman" pitchFamily="18" charset="0"/>
                  </a:rPr>
                  <a:t>Mạch tổ hợp</a:t>
                </a:r>
                <a:endParaRPr lang="en-GB" altLang="en-US" sz="2400">
                  <a:latin typeface="Times New Roman" pitchFamily="18" charset="0"/>
                </a:endParaRPr>
              </a:p>
            </p:txBody>
          </p:sp>
        </p:grpSp>
        <p:grpSp>
          <p:nvGrpSpPr>
            <p:cNvPr id="27" name="Group 26"/>
            <p:cNvGrpSpPr>
              <a:grpSpLocks/>
            </p:cNvGrpSpPr>
            <p:nvPr/>
          </p:nvGrpSpPr>
          <p:grpSpPr bwMode="auto">
            <a:xfrm>
              <a:off x="1776" y="1680"/>
              <a:ext cx="672" cy="528"/>
              <a:chOff x="1680" y="2256"/>
              <a:chExt cx="672" cy="528"/>
            </a:xfrm>
          </p:grpSpPr>
          <p:sp>
            <p:nvSpPr>
              <p:cNvPr id="46" name="Line 11"/>
              <p:cNvSpPr>
                <a:spLocks noChangeShapeType="1"/>
              </p:cNvSpPr>
              <p:nvPr/>
            </p:nvSpPr>
            <p:spPr bwMode="auto">
              <a:xfrm>
                <a:off x="1680" y="2256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" name="Line 12"/>
              <p:cNvSpPr>
                <a:spLocks noChangeShapeType="1"/>
              </p:cNvSpPr>
              <p:nvPr/>
            </p:nvSpPr>
            <p:spPr bwMode="auto">
              <a:xfrm>
                <a:off x="1680" y="2352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Line 13"/>
              <p:cNvSpPr>
                <a:spLocks noChangeShapeType="1"/>
              </p:cNvSpPr>
              <p:nvPr/>
            </p:nvSpPr>
            <p:spPr bwMode="auto">
              <a:xfrm>
                <a:off x="1680" y="2448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Line 14"/>
              <p:cNvSpPr>
                <a:spLocks noChangeShapeType="1"/>
              </p:cNvSpPr>
              <p:nvPr/>
            </p:nvSpPr>
            <p:spPr bwMode="auto">
              <a:xfrm>
                <a:off x="1680" y="2688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Line 15"/>
              <p:cNvSpPr>
                <a:spLocks noChangeShapeType="1"/>
              </p:cNvSpPr>
              <p:nvPr/>
            </p:nvSpPr>
            <p:spPr bwMode="auto">
              <a:xfrm>
                <a:off x="1680" y="2784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Text Box 16"/>
              <p:cNvSpPr txBox="1">
                <a:spLocks noChangeArrowheads="1"/>
              </p:cNvSpPr>
              <p:nvPr/>
            </p:nvSpPr>
            <p:spPr bwMode="auto">
              <a:xfrm>
                <a:off x="1872" y="2400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2400" b="1">
                    <a:latin typeface="Times New Roman" pitchFamily="18" charset="0"/>
                  </a:rPr>
                  <a:t>: :</a:t>
                </a:r>
                <a:endParaRPr lang="en-GB" altLang="en-US" sz="2400">
                  <a:latin typeface="Times New Roman" pitchFamily="18" charset="0"/>
                </a:endParaRPr>
              </a:p>
            </p:txBody>
          </p:sp>
        </p:grpSp>
        <p:sp>
          <p:nvSpPr>
            <p:cNvPr id="28" name="Text Box 24"/>
            <p:cNvSpPr txBox="1">
              <a:spLocks noChangeArrowheads="1"/>
            </p:cNvSpPr>
            <p:nvPr/>
          </p:nvSpPr>
          <p:spPr bwMode="auto">
            <a:xfrm>
              <a:off x="1344" y="1872"/>
              <a:ext cx="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b="1">
                  <a:latin typeface="Times New Roman" pitchFamily="18" charset="0"/>
                </a:rPr>
                <a:t>inputs</a:t>
              </a:r>
            </a:p>
          </p:txBody>
        </p:sp>
        <p:sp>
          <p:nvSpPr>
            <p:cNvPr id="29" name="Text Box 25"/>
            <p:cNvSpPr txBox="1">
              <a:spLocks noChangeArrowheads="1"/>
            </p:cNvSpPr>
            <p:nvPr/>
          </p:nvSpPr>
          <p:spPr bwMode="auto">
            <a:xfrm>
              <a:off x="4224" y="1881"/>
              <a:ext cx="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b="1">
                  <a:latin typeface="Times New Roman" pitchFamily="18" charset="0"/>
                </a:rPr>
                <a:t>outputs</a:t>
              </a:r>
            </a:p>
          </p:txBody>
        </p:sp>
        <p:grpSp>
          <p:nvGrpSpPr>
            <p:cNvPr id="30" name="Group 27"/>
            <p:cNvGrpSpPr>
              <a:grpSpLocks/>
            </p:cNvGrpSpPr>
            <p:nvPr/>
          </p:nvGrpSpPr>
          <p:grpSpPr bwMode="auto">
            <a:xfrm>
              <a:off x="3744" y="1680"/>
              <a:ext cx="672" cy="528"/>
              <a:chOff x="1680" y="2256"/>
              <a:chExt cx="672" cy="528"/>
            </a:xfrm>
          </p:grpSpPr>
          <p:sp>
            <p:nvSpPr>
              <p:cNvPr id="40" name="Line 28"/>
              <p:cNvSpPr>
                <a:spLocks noChangeShapeType="1"/>
              </p:cNvSpPr>
              <p:nvPr/>
            </p:nvSpPr>
            <p:spPr bwMode="auto">
              <a:xfrm>
                <a:off x="1680" y="2256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Line 29"/>
              <p:cNvSpPr>
                <a:spLocks noChangeShapeType="1"/>
              </p:cNvSpPr>
              <p:nvPr/>
            </p:nvSpPr>
            <p:spPr bwMode="auto">
              <a:xfrm>
                <a:off x="1680" y="2352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Line 30"/>
              <p:cNvSpPr>
                <a:spLocks noChangeShapeType="1"/>
              </p:cNvSpPr>
              <p:nvPr/>
            </p:nvSpPr>
            <p:spPr bwMode="auto">
              <a:xfrm>
                <a:off x="1680" y="2448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Line 31"/>
              <p:cNvSpPr>
                <a:spLocks noChangeShapeType="1"/>
              </p:cNvSpPr>
              <p:nvPr/>
            </p:nvSpPr>
            <p:spPr bwMode="auto">
              <a:xfrm>
                <a:off x="1680" y="2688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32"/>
              <p:cNvSpPr>
                <a:spLocks noChangeShapeType="1"/>
              </p:cNvSpPr>
              <p:nvPr/>
            </p:nvSpPr>
            <p:spPr bwMode="auto">
              <a:xfrm>
                <a:off x="1680" y="2784"/>
                <a:ext cx="67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Text Box 33"/>
              <p:cNvSpPr txBox="1">
                <a:spLocks noChangeArrowheads="1"/>
              </p:cNvSpPr>
              <p:nvPr/>
            </p:nvSpPr>
            <p:spPr bwMode="auto">
              <a:xfrm>
                <a:off x="1872" y="2400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2400" b="1">
                    <a:latin typeface="Times New Roman" pitchFamily="18" charset="0"/>
                  </a:rPr>
                  <a:t>: :</a:t>
                </a:r>
                <a:endParaRPr lang="en-GB" altLang="en-US" sz="2400">
                  <a:latin typeface="Times New Roman" pitchFamily="18" charset="0"/>
                </a:endParaRPr>
              </a:p>
            </p:txBody>
          </p:sp>
        </p:grpSp>
        <p:grpSp>
          <p:nvGrpSpPr>
            <p:cNvPr id="31" name="Group 44"/>
            <p:cNvGrpSpPr>
              <a:grpSpLocks/>
            </p:cNvGrpSpPr>
            <p:nvPr/>
          </p:nvGrpSpPr>
          <p:grpSpPr bwMode="auto">
            <a:xfrm>
              <a:off x="2976" y="2544"/>
              <a:ext cx="232" cy="768"/>
              <a:chOff x="2976" y="2544"/>
              <a:chExt cx="232" cy="768"/>
            </a:xfrm>
          </p:grpSpPr>
          <p:sp>
            <p:nvSpPr>
              <p:cNvPr id="38" name="Rectangle 34"/>
              <p:cNvSpPr>
                <a:spLocks noChangeArrowheads="1"/>
              </p:cNvSpPr>
              <p:nvPr/>
            </p:nvSpPr>
            <p:spPr bwMode="auto">
              <a:xfrm>
                <a:off x="2976" y="2544"/>
                <a:ext cx="192" cy="76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9" name="Text Box 36"/>
              <p:cNvSpPr txBox="1">
                <a:spLocks noChangeArrowheads="1"/>
              </p:cNvSpPr>
              <p:nvPr/>
            </p:nvSpPr>
            <p:spPr bwMode="auto">
              <a:xfrm rot="5400000">
                <a:off x="2732" y="2835"/>
                <a:ext cx="72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b="1">
                    <a:latin typeface="Times New Roman" pitchFamily="18" charset="0"/>
                  </a:rPr>
                  <a:t>Memory</a:t>
                </a:r>
              </a:p>
            </p:txBody>
          </p:sp>
        </p:grpSp>
        <p:sp>
          <p:nvSpPr>
            <p:cNvPr id="32" name="Line 38"/>
            <p:cNvSpPr>
              <a:spLocks noChangeShapeType="1"/>
            </p:cNvSpPr>
            <p:nvPr/>
          </p:nvSpPr>
          <p:spPr bwMode="auto">
            <a:xfrm>
              <a:off x="2208" y="2304"/>
              <a:ext cx="0" cy="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39"/>
            <p:cNvSpPr>
              <a:spLocks noChangeShapeType="1"/>
            </p:cNvSpPr>
            <p:nvPr/>
          </p:nvSpPr>
          <p:spPr bwMode="auto">
            <a:xfrm flipH="1">
              <a:off x="3744" y="2304"/>
              <a:ext cx="24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40"/>
            <p:cNvSpPr>
              <a:spLocks noChangeShapeType="1"/>
            </p:cNvSpPr>
            <p:nvPr/>
          </p:nvSpPr>
          <p:spPr bwMode="auto">
            <a:xfrm>
              <a:off x="3984" y="2304"/>
              <a:ext cx="0" cy="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41"/>
            <p:cNvSpPr>
              <a:spLocks noChangeShapeType="1"/>
            </p:cNvSpPr>
            <p:nvPr/>
          </p:nvSpPr>
          <p:spPr bwMode="auto">
            <a:xfrm>
              <a:off x="2208" y="2304"/>
              <a:ext cx="24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42"/>
            <p:cNvSpPr>
              <a:spLocks noChangeShapeType="1"/>
            </p:cNvSpPr>
            <p:nvPr/>
          </p:nvSpPr>
          <p:spPr bwMode="auto">
            <a:xfrm flipH="1">
              <a:off x="2208" y="2928"/>
              <a:ext cx="76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43"/>
            <p:cNvSpPr>
              <a:spLocks noChangeShapeType="1"/>
            </p:cNvSpPr>
            <p:nvPr/>
          </p:nvSpPr>
          <p:spPr bwMode="auto">
            <a:xfrm flipH="1">
              <a:off x="3168" y="2928"/>
              <a:ext cx="81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55" name="Straight Connector 54"/>
          <p:cNvCxnSpPr/>
          <p:nvPr/>
        </p:nvCxnSpPr>
        <p:spPr>
          <a:xfrm>
            <a:off x="1524000" y="335280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416800" y="1371601"/>
            <a:ext cx="28194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>
                <a:solidFill>
                  <a:srgbClr val="0000CC"/>
                </a:solidFill>
              </a:rPr>
              <a:t>MẠCH TỔ HỢP</a:t>
            </a:r>
          </a:p>
          <a:p>
            <a:pPr marL="174625" indent="-174625"/>
            <a:r>
              <a:rPr lang="en-US" sz="2600">
                <a:solidFill>
                  <a:srgbClr val="0000CC"/>
                </a:solidFill>
              </a:rPr>
              <a:t>- Ngõ ra sẽ thay đổi lập tức khi ngõ vào thay đổi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16800" y="3733800"/>
            <a:ext cx="28194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>
                <a:solidFill>
                  <a:srgbClr val="0000CC"/>
                </a:solidFill>
              </a:rPr>
              <a:t>MẠCH TUẦN TỰ</a:t>
            </a:r>
          </a:p>
          <a:p>
            <a:pPr marL="174625" indent="-174625"/>
            <a:r>
              <a:rPr lang="en-US" sz="2600">
                <a:solidFill>
                  <a:srgbClr val="0000CC"/>
                </a:solidFill>
              </a:rPr>
              <a:t>- Ngõ ra sẽ thay đổi phụ thuộc vào ngõ vào và trạng thái trước đó.</a:t>
            </a:r>
          </a:p>
          <a:p>
            <a:pPr marL="174625" indent="-174625"/>
            <a:r>
              <a:rPr lang="en-US" sz="2600">
                <a:solidFill>
                  <a:srgbClr val="0000CC"/>
                </a:solidFill>
              </a:rPr>
              <a:t>- Mạch có tính chất nhớ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4FA8BE7-99D8-6420-CC7E-A9E0DF3B2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01388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4292B0-FE3A-A243-041D-0B53F61A7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hay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endParaRPr lang="en-US" dirty="0"/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hay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ra</a:t>
            </a:r>
            <a:endParaRPr lang="en-US" dirty="0"/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(</a:t>
            </a:r>
            <a:r>
              <a:rPr lang="en-US" dirty="0" err="1"/>
              <a:t>Hàm</a:t>
            </a:r>
            <a:r>
              <a:rPr lang="en-US" dirty="0"/>
              <a:t> Boolean)</a:t>
            </a:r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lan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(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1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)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AND, OR, NOT, XOR, XNOR, NAND, NOR</a:t>
            </a:r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17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38478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US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4292B0-FE3A-A243-041D-0B53F61A7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không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endParaRPr lang="en-US" dirty="0"/>
          </a:p>
          <a:p>
            <a:pPr lvl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  <a:p>
            <a:pPr lvl="1"/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: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nh</a:t>
            </a:r>
            <a:r>
              <a:rPr lang="vi-VN" dirty="0"/>
              <a:t>ư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lại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ra</a:t>
            </a:r>
            <a:endParaRPr lang="en-US" dirty="0"/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18</a:t>
            </a:fld>
            <a:endParaRPr lang="en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E617F6-E22E-06F3-53F9-F075B5C38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13" y="3852612"/>
            <a:ext cx="3758308" cy="13811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584310-83FE-C56B-6B27-4033EDB54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477" y="3804201"/>
            <a:ext cx="3795357" cy="15747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2C01F5-31FC-DF21-1BE2-26D73D9D0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942" y="3804201"/>
            <a:ext cx="3966058" cy="147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724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19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9" y="2095027"/>
            <a:ext cx="7918398" cy="884656"/>
          </a:xfrm>
        </p:spPr>
        <p:txBody>
          <a:bodyPr>
            <a:normAutofit/>
          </a:bodyPr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00685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4292B0-FE3A-A243-041D-0B53F61A7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: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vẽ</a:t>
            </a:r>
            <a:r>
              <a:rPr lang="en-US" dirty="0"/>
              <a:t> s</a:t>
            </a:r>
            <a:r>
              <a:rPr lang="vi-VN" dirty="0"/>
              <a:t>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tích</a:t>
            </a:r>
            <a:endParaRPr lang="en-US" dirty="0"/>
          </a:p>
          <a:p>
            <a:pPr lvl="1"/>
            <a:r>
              <a:rPr lang="en-US" dirty="0" err="1"/>
              <a:t>Hàm</a:t>
            </a:r>
            <a:r>
              <a:rPr lang="en-US" dirty="0"/>
              <a:t> Boole 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xạ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nhất</a:t>
            </a:r>
            <a:endParaRPr lang="en-US" dirty="0"/>
          </a:p>
          <a:p>
            <a:pPr lvl="2"/>
            <a:r>
              <a:rPr lang="en-US" dirty="0" err="1"/>
              <a:t>Tối</a:t>
            </a:r>
            <a:r>
              <a:rPr lang="en-US" dirty="0"/>
              <a:t> 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(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Boole </a:t>
            </a:r>
            <a:r>
              <a:rPr lang="en-US"/>
              <a:t>/ Bìa </a:t>
            </a:r>
            <a:r>
              <a:rPr lang="en-US" dirty="0"/>
              <a:t>Karnaugh)</a:t>
            </a:r>
          </a:p>
          <a:p>
            <a:pPr lvl="3"/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endParaRPr lang="en-US" dirty="0"/>
          </a:p>
          <a:p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endParaRPr lang="en-US" dirty="0"/>
          </a:p>
          <a:p>
            <a:pPr lvl="1"/>
            <a:r>
              <a:rPr lang="en-US" dirty="0" err="1"/>
              <a:t>Bước</a:t>
            </a:r>
            <a:r>
              <a:rPr lang="en-US" dirty="0"/>
              <a:t> 1: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  <a:p>
            <a:pPr lvl="1"/>
            <a:r>
              <a:rPr lang="en-US" dirty="0" err="1"/>
              <a:t>Bước</a:t>
            </a:r>
            <a:r>
              <a:rPr lang="en-US" dirty="0"/>
              <a:t> 2: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err="1"/>
              <a:t>bảng</a:t>
            </a:r>
            <a:r>
              <a:rPr lang="en-US"/>
              <a:t> chân trị </a:t>
            </a:r>
            <a:r>
              <a:rPr lang="en-US" dirty="0"/>
              <a:t>sang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err="1"/>
              <a:t>thức</a:t>
            </a:r>
            <a:r>
              <a:rPr lang="en-US"/>
              <a:t> luận lý</a:t>
            </a:r>
            <a:endParaRPr lang="en-US" dirty="0"/>
          </a:p>
          <a:p>
            <a:pPr lvl="1"/>
            <a:r>
              <a:rPr lang="en-US" dirty="0" err="1"/>
              <a:t>Bước</a:t>
            </a:r>
            <a:r>
              <a:rPr lang="en-US" dirty="0"/>
              <a:t> 3</a:t>
            </a:r>
            <a:r>
              <a:rPr lang="en-US"/>
              <a:t>: Tối ưu luận lý</a:t>
            </a:r>
            <a:endParaRPr lang="en-US" dirty="0"/>
          </a:p>
          <a:p>
            <a:pPr lvl="1"/>
            <a:r>
              <a:rPr lang="en-US" dirty="0" err="1"/>
              <a:t>Bước</a:t>
            </a:r>
            <a:r>
              <a:rPr lang="en-US" dirty="0"/>
              <a:t> 4: </a:t>
            </a:r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err="1"/>
              <a:t>đồ</a:t>
            </a:r>
            <a:r>
              <a:rPr lang="en-US"/>
              <a:t> mạch </a:t>
            </a:r>
            <a:endParaRPr lang="en-US" dirty="0"/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20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23855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 err="1"/>
              <a:t>Thiết</a:t>
            </a:r>
            <a:r>
              <a:rPr lang="en-US" sz="3000" dirty="0"/>
              <a:t> </a:t>
            </a:r>
            <a:r>
              <a:rPr lang="en-US" sz="3000" dirty="0" err="1"/>
              <a:t>kế</a:t>
            </a:r>
            <a:r>
              <a:rPr lang="en-US" sz="3000" dirty="0"/>
              <a:t> </a:t>
            </a:r>
            <a:r>
              <a:rPr lang="en-US" sz="3000" dirty="0" err="1"/>
              <a:t>một</a:t>
            </a:r>
            <a:r>
              <a:rPr lang="en-US" sz="3000" dirty="0"/>
              <a:t> </a:t>
            </a:r>
            <a:r>
              <a:rPr lang="en-US" sz="3000" dirty="0" err="1"/>
              <a:t>mạch</a:t>
            </a:r>
            <a:r>
              <a:rPr lang="en-US" sz="3000" dirty="0"/>
              <a:t> logic </a:t>
            </a:r>
            <a:r>
              <a:rPr lang="en-US" sz="3000" err="1"/>
              <a:t>số</a:t>
            </a:r>
            <a:r>
              <a:rPr lang="en-US" sz="3000"/>
              <a:t> với</a:t>
            </a:r>
            <a:endParaRPr lang="en-US" sz="3000" dirty="0"/>
          </a:p>
          <a:p>
            <a:pPr lvl="1"/>
            <a:r>
              <a:rPr lang="en-US" sz="2600"/>
              <a:t>3 </a:t>
            </a:r>
            <a:r>
              <a:rPr lang="en-US" sz="2600" err="1"/>
              <a:t>ngõ</a:t>
            </a:r>
            <a:r>
              <a:rPr lang="en-US" sz="2600"/>
              <a:t> vào</a:t>
            </a:r>
          </a:p>
          <a:p>
            <a:pPr lvl="1"/>
            <a:r>
              <a:rPr lang="en-US" sz="2600"/>
              <a:t>1 </a:t>
            </a:r>
            <a:r>
              <a:rPr lang="en-US" sz="2600" err="1"/>
              <a:t>ngõ</a:t>
            </a:r>
            <a:r>
              <a:rPr lang="en-US" sz="2600"/>
              <a:t> ra</a:t>
            </a:r>
          </a:p>
          <a:p>
            <a:pPr lvl="1"/>
            <a:r>
              <a:rPr lang="en-US" sz="2600"/>
              <a:t>Kết </a:t>
            </a:r>
            <a:r>
              <a:rPr lang="en-US" sz="2600" dirty="0" err="1"/>
              <a:t>quả</a:t>
            </a:r>
            <a:r>
              <a:rPr lang="en-US" sz="2600" dirty="0"/>
              <a:t> </a:t>
            </a:r>
            <a:r>
              <a:rPr lang="en-US" sz="2600" dirty="0" err="1"/>
              <a:t>ngõ</a:t>
            </a:r>
            <a:r>
              <a:rPr lang="en-US" sz="2600" dirty="0"/>
              <a:t> </a:t>
            </a:r>
            <a:r>
              <a:rPr lang="en-US" sz="2600" dirty="0" err="1"/>
              <a:t>ra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r>
              <a:rPr lang="en-US" sz="2600" dirty="0"/>
              <a:t> 1 </a:t>
            </a:r>
            <a:r>
              <a:rPr lang="en-US" sz="2600" dirty="0" err="1"/>
              <a:t>khi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từ</a:t>
            </a:r>
            <a:r>
              <a:rPr lang="en-US" sz="2600" dirty="0"/>
              <a:t> 2 </a:t>
            </a:r>
            <a:r>
              <a:rPr lang="en-US" sz="2600" dirty="0" err="1"/>
              <a:t>ngõ</a:t>
            </a:r>
            <a:r>
              <a:rPr lang="en-US" sz="2600" dirty="0"/>
              <a:t> </a:t>
            </a:r>
            <a:r>
              <a:rPr lang="en-US" sz="2600" dirty="0" err="1"/>
              <a:t>vào</a:t>
            </a:r>
            <a:r>
              <a:rPr lang="en-US" sz="2600" dirty="0"/>
              <a:t> </a:t>
            </a:r>
            <a:r>
              <a:rPr lang="en-US" sz="2600" dirty="0" err="1"/>
              <a:t>trở</a:t>
            </a:r>
            <a:r>
              <a:rPr lang="en-US" sz="2600" dirty="0"/>
              <a:t> </a:t>
            </a:r>
            <a:r>
              <a:rPr lang="en-US" sz="2600" dirty="0" err="1"/>
              <a:t>lên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r>
              <a:rPr lang="en-US" sz="2600" dirty="0"/>
              <a:t>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21</a:t>
            </a:fld>
            <a:endParaRPr kumimoji="1" lang="ja-JP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9990E83-FC45-65C9-0EB4-05039EAC0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Các bước thiết </a:t>
            </a:r>
            <a:r>
              <a:rPr lang="en-US" sz="3400" err="1"/>
              <a:t>kế</a:t>
            </a:r>
            <a:r>
              <a:rPr lang="en-US" sz="3400"/>
              <a:t> một mạch </a:t>
            </a:r>
            <a:r>
              <a:rPr lang="en-US" sz="3400" dirty="0"/>
              <a:t>logic </a:t>
            </a:r>
            <a:r>
              <a:rPr lang="en-US" sz="3400" dirty="0" err="1"/>
              <a:t>số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Bước</a:t>
            </a:r>
            <a:r>
              <a:rPr lang="en-US" b="1" dirty="0"/>
              <a:t> 1</a:t>
            </a:r>
            <a:r>
              <a:rPr lang="en-US" dirty="0"/>
              <a:t>: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/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22</a:t>
            </a:fld>
            <a:endParaRPr kumimoji="1" lang="ja-JP" altLang="en-US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857376"/>
            <a:ext cx="6800286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8897312" y="2438400"/>
            <a:ext cx="39908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897312" y="2895600"/>
            <a:ext cx="39908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868737" y="3276600"/>
            <a:ext cx="39908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878743" y="3748087"/>
            <a:ext cx="39908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868737" y="4114800"/>
            <a:ext cx="39908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878743" y="4572000"/>
            <a:ext cx="39908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897312" y="4953000"/>
            <a:ext cx="39908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868737" y="5410200"/>
            <a:ext cx="39908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56D85ED-3E81-AAE5-7081-FACEB8BB6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5864770" y="1768367"/>
            <a:ext cx="4327704" cy="4343399"/>
            <a:chOff x="5105400" y="1604171"/>
            <a:chExt cx="4327704" cy="4343399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 rotWithShape="1">
            <a:blip r:embed="rId2"/>
            <a:srcRect l="20203"/>
            <a:stretch/>
          </p:blipFill>
          <p:spPr bwMode="auto">
            <a:xfrm>
              <a:off x="5105400" y="1604171"/>
              <a:ext cx="4327704" cy="43433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Rectangle 4"/>
            <p:cNvSpPr/>
            <p:nvPr/>
          </p:nvSpPr>
          <p:spPr>
            <a:xfrm>
              <a:off x="5105400" y="3429000"/>
              <a:ext cx="317938" cy="2514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/>
          <a:srcRect t="42142" r="74466"/>
          <a:stretch/>
        </p:blipFill>
        <p:spPr bwMode="auto">
          <a:xfrm>
            <a:off x="4787394" y="3582987"/>
            <a:ext cx="1384807" cy="2513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Các bước thiết </a:t>
            </a:r>
            <a:r>
              <a:rPr lang="en-US" sz="3400" err="1"/>
              <a:t>kế</a:t>
            </a:r>
            <a:r>
              <a:rPr lang="en-US" sz="3400"/>
              <a:t> một mạch </a:t>
            </a:r>
            <a:r>
              <a:rPr lang="en-US" sz="3400" dirty="0"/>
              <a:t>logic </a:t>
            </a:r>
            <a:r>
              <a:rPr lang="en-US" sz="3400" dirty="0" err="1"/>
              <a:t>số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Bước</a:t>
            </a:r>
            <a:r>
              <a:rPr lang="en-US" b="1" dirty="0"/>
              <a:t> 2: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 sang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err="1"/>
              <a:t>thức</a:t>
            </a:r>
            <a:r>
              <a:rPr lang="en-US"/>
              <a:t> luận lý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23</a:t>
            </a:fld>
            <a:endParaRPr kumimoji="1" lang="ja-JP" altLang="en-US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/>
        </p:nvGraphicFramePr>
        <p:xfrm>
          <a:off x="2653794" y="1905000"/>
          <a:ext cx="2286001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4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6705600" y="5715000"/>
            <a:ext cx="3810000" cy="76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30000"/>
              </a:spcBef>
            </a:pPr>
            <a:r>
              <a:rPr lang="en-US" sz="2400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nhóm</a:t>
            </a:r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AND</a:t>
            </a:r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cho</a:t>
            </a:r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mỗi</a:t>
            </a:r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trường</a:t>
            </a:r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hợp</a:t>
            </a:r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ngõ</a:t>
            </a:r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ra</a:t>
            </a:r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1</a:t>
            </a: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5410201" y="3582988"/>
            <a:ext cx="1655763" cy="2744788"/>
            <a:chOff x="1984" y="2620"/>
            <a:chExt cx="1043" cy="1729"/>
          </a:xfrm>
        </p:grpSpPr>
        <p:sp>
          <p:nvSpPr>
            <p:cNvPr id="8" name="Rectangle 23"/>
            <p:cNvSpPr>
              <a:spLocks noChangeArrowheads="1"/>
            </p:cNvSpPr>
            <p:nvPr/>
          </p:nvSpPr>
          <p:spPr bwMode="auto">
            <a:xfrm>
              <a:off x="1984" y="2620"/>
              <a:ext cx="528" cy="15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24"/>
            <p:cNvSpPr>
              <a:spLocks noChangeShapeType="1"/>
            </p:cNvSpPr>
            <p:nvPr/>
          </p:nvSpPr>
          <p:spPr bwMode="auto">
            <a:xfrm flipV="1">
              <a:off x="2248" y="4203"/>
              <a:ext cx="0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5"/>
            <p:cNvSpPr>
              <a:spLocks noChangeShapeType="1"/>
            </p:cNvSpPr>
            <p:nvPr/>
          </p:nvSpPr>
          <p:spPr bwMode="auto">
            <a:xfrm>
              <a:off x="2248" y="4349"/>
              <a:ext cx="7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5864771" y="1768367"/>
            <a:ext cx="4251437" cy="404813"/>
          </a:xfrm>
          <a:prstGeom prst="rect">
            <a:avLst/>
          </a:prstGeom>
          <a:solidFill>
            <a:srgbClr val="A4CA39"/>
          </a:solidFill>
          <a:ln>
            <a:solidFill>
              <a:schemeClr val="tx1"/>
            </a:solidFill>
          </a:ln>
        </p:spPr>
        <p:txBody>
          <a:bodyPr/>
          <a:lstStyle/>
          <a:p>
            <a:pPr algn="ctr">
              <a:spcBef>
                <a:spcPct val="30000"/>
              </a:spcBef>
            </a:pPr>
            <a:r>
              <a:rPr lang="en-US" sz="2400" b="1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Biểu</a:t>
            </a:r>
            <a:r>
              <a:rPr lang="en-US" sz="2400" b="1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thức</a:t>
            </a:r>
            <a:r>
              <a:rPr lang="en-US" sz="2400" b="1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SOP </a:t>
            </a:r>
            <a:r>
              <a:rPr lang="en-US" sz="2400" b="1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cho</a:t>
            </a:r>
            <a:r>
              <a:rPr lang="en-US" sz="2400" b="1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ngõ</a:t>
            </a:r>
            <a:r>
              <a:rPr lang="en-US" sz="2400" b="1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ra</a:t>
            </a:r>
            <a:r>
              <a:rPr lang="en-US" sz="2400" b="1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X: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3391C3E-385C-CF21-87E4-0FBFFC25F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88871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Các bước thiết </a:t>
            </a:r>
            <a:r>
              <a:rPr lang="en-US" sz="3400" err="1"/>
              <a:t>kế</a:t>
            </a:r>
            <a:r>
              <a:rPr lang="en-US" sz="3400"/>
              <a:t> một mạch </a:t>
            </a:r>
            <a:r>
              <a:rPr lang="en-US" sz="3400" dirty="0"/>
              <a:t>logic </a:t>
            </a:r>
            <a:r>
              <a:rPr lang="en-US" sz="3400" dirty="0" err="1"/>
              <a:t>số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Bước</a:t>
            </a:r>
            <a:r>
              <a:rPr lang="en-US" b="1" dirty="0"/>
              <a:t> 3</a:t>
            </a:r>
            <a:r>
              <a:rPr lang="en-US" b="1"/>
              <a:t>: </a:t>
            </a:r>
            <a:r>
              <a:rPr lang="en-US"/>
              <a:t>Tối ưu luận lý </a:t>
            </a:r>
            <a:r>
              <a:rPr lang="en-US" dirty="0"/>
              <a:t>qua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err="1"/>
              <a:t>cổng</a:t>
            </a:r>
            <a:r>
              <a:rPr lang="en-US"/>
              <a:t> luận lý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(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24</a:t>
            </a:fld>
            <a:endParaRPr kumimoji="1" lang="ja-JP" altLang="en-US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3028950"/>
            <a:ext cx="6553200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895600" y="4063381"/>
            <a:ext cx="6248400" cy="468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95600" y="4532042"/>
            <a:ext cx="6248400" cy="468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4F2B289-318F-E7E4-66B9-AAAA85112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Các bước thiết </a:t>
            </a:r>
            <a:r>
              <a:rPr lang="en-US" sz="3400" err="1"/>
              <a:t>kế</a:t>
            </a:r>
            <a:r>
              <a:rPr lang="en-US" sz="3400"/>
              <a:t> một mạch </a:t>
            </a:r>
            <a:r>
              <a:rPr lang="en-US" sz="3400" dirty="0"/>
              <a:t>logic </a:t>
            </a:r>
            <a:r>
              <a:rPr lang="en-US" sz="3400" dirty="0" err="1"/>
              <a:t>số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Bước</a:t>
            </a:r>
            <a:r>
              <a:rPr lang="en-US" b="1" dirty="0"/>
              <a:t> 4: </a:t>
            </a:r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err="1"/>
              <a:t>mạch</a:t>
            </a:r>
            <a:r>
              <a:rPr lang="en-US"/>
              <a:t> logic 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25</a:t>
            </a:fld>
            <a:endParaRPr kumimoji="1" lang="ja-JP" altLang="en-US"/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1" y="2162176"/>
            <a:ext cx="6839639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276600" y="2960340"/>
            <a:ext cx="6019800" cy="32118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D318ADE-ADB3-21AB-9DC9-7D8504AED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541112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US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4292B0-FE3A-A243-041D-0B53F61A7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35" y="1195821"/>
            <a:ext cx="4311787" cy="5160527"/>
          </a:xfrm>
        </p:spPr>
        <p:txBody>
          <a:bodyPr>
            <a:normAutofit lnSpcReduction="10000"/>
          </a:bodyPr>
          <a:lstStyle/>
          <a:p>
            <a:r>
              <a:rPr lang="vi-VN" dirty="0"/>
              <a:t>Bài toán: Thiết kế mạch báo động (A = 1) cho lái xe với các</a:t>
            </a:r>
            <a:r>
              <a:rPr lang="en-US" dirty="0"/>
              <a:t> </a:t>
            </a:r>
            <a:r>
              <a:rPr lang="vi-VN" dirty="0"/>
              <a:t>tình</a:t>
            </a:r>
            <a:r>
              <a:rPr lang="en-US" dirty="0"/>
              <a:t> </a:t>
            </a:r>
            <a:r>
              <a:rPr lang="vi-VN"/>
              <a:t>huống:</a:t>
            </a:r>
            <a:endParaRPr lang="en-US"/>
          </a:p>
          <a:p>
            <a:pPr lvl="1"/>
            <a:r>
              <a:rPr lang="vi-VN"/>
              <a:t>Bugi </a:t>
            </a:r>
            <a:r>
              <a:rPr lang="vi-VN" dirty="0"/>
              <a:t>bật (B = 1) và cửa mở (C = 0</a:t>
            </a:r>
            <a:r>
              <a:rPr lang="vi-VN"/>
              <a:t>), </a:t>
            </a:r>
            <a:endParaRPr lang="en-US"/>
          </a:p>
          <a:p>
            <a:pPr lvl="1"/>
            <a:r>
              <a:rPr lang="en-US"/>
              <a:t>H</a:t>
            </a:r>
            <a:r>
              <a:rPr lang="vi-VN"/>
              <a:t>oặc bugi bật (B = 1) </a:t>
            </a:r>
            <a:r>
              <a:rPr lang="en-US"/>
              <a:t>và </a:t>
            </a:r>
            <a:r>
              <a:rPr lang="vi-VN"/>
              <a:t>chưa </a:t>
            </a:r>
            <a:r>
              <a:rPr lang="vi-VN" dirty="0"/>
              <a:t>cài dây an toàn</a:t>
            </a:r>
            <a:r>
              <a:rPr lang="en-US" dirty="0"/>
              <a:t> </a:t>
            </a:r>
            <a:r>
              <a:rPr lang="vi-VN" dirty="0"/>
              <a:t>(D = </a:t>
            </a:r>
            <a:r>
              <a:rPr lang="vi-VN"/>
              <a:t>0)</a:t>
            </a:r>
            <a:endParaRPr lang="en-US"/>
          </a:p>
          <a:p>
            <a:pPr marL="457200" lvl="1" indent="0">
              <a:buNone/>
            </a:pPr>
            <a:br>
              <a:rPr lang="vi-VN" dirty="0"/>
            </a:br>
            <a:endParaRPr lang="en-US" dirty="0"/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26</a:t>
            </a:fld>
            <a:endParaRPr lang="en-V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519290F-750D-37D7-5CA2-2B35D84B4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058143"/>
              </p:ext>
            </p:extLst>
          </p:nvPr>
        </p:nvGraphicFramePr>
        <p:xfrm>
          <a:off x="5221695" y="1118054"/>
          <a:ext cx="1973244" cy="443979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93311">
                  <a:extLst>
                    <a:ext uri="{9D8B030D-6E8A-4147-A177-3AD203B41FA5}">
                      <a16:colId xmlns:a16="http://schemas.microsoft.com/office/drawing/2014/main" val="2768402040"/>
                    </a:ext>
                  </a:extLst>
                </a:gridCol>
                <a:gridCol w="493311">
                  <a:extLst>
                    <a:ext uri="{9D8B030D-6E8A-4147-A177-3AD203B41FA5}">
                      <a16:colId xmlns:a16="http://schemas.microsoft.com/office/drawing/2014/main" val="1050564844"/>
                    </a:ext>
                  </a:extLst>
                </a:gridCol>
                <a:gridCol w="493311">
                  <a:extLst>
                    <a:ext uri="{9D8B030D-6E8A-4147-A177-3AD203B41FA5}">
                      <a16:colId xmlns:a16="http://schemas.microsoft.com/office/drawing/2014/main" val="1396698076"/>
                    </a:ext>
                  </a:extLst>
                </a:gridCol>
                <a:gridCol w="493311">
                  <a:extLst>
                    <a:ext uri="{9D8B030D-6E8A-4147-A177-3AD203B41FA5}">
                      <a16:colId xmlns:a16="http://schemas.microsoft.com/office/drawing/2014/main" val="2813129439"/>
                    </a:ext>
                  </a:extLst>
                </a:gridCol>
              </a:tblGrid>
              <a:tr h="493311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1120360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3843577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191748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333599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6921451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7341117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1942997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813387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8662" marR="98662" marT="49331" marB="49331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75740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DB563E0-D294-A7A4-F694-75D475485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944020"/>
              </p:ext>
            </p:extLst>
          </p:nvPr>
        </p:nvGraphicFramePr>
        <p:xfrm>
          <a:off x="8258275" y="938349"/>
          <a:ext cx="3566160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3659221027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3880953367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425227832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22312766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41611835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3303385268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646816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0239189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endParaRPr lang="en-US" sz="2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48052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endParaRPr lang="en-US" sz="2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4087993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E506C20E-D633-0A08-00D2-8DF70B061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379" y="3229065"/>
            <a:ext cx="4456986" cy="2905125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F11DBB7-9587-7893-D5D1-F54E70D88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707297"/>
              </p:ext>
            </p:extLst>
          </p:nvPr>
        </p:nvGraphicFramePr>
        <p:xfrm>
          <a:off x="6701628" y="1611365"/>
          <a:ext cx="493311" cy="39464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93311">
                  <a:extLst>
                    <a:ext uri="{9D8B030D-6E8A-4147-A177-3AD203B41FA5}">
                      <a16:colId xmlns:a16="http://schemas.microsoft.com/office/drawing/2014/main" val="1960269817"/>
                    </a:ext>
                  </a:extLst>
                </a:gridCol>
              </a:tblGrid>
              <a:tr h="493311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8515843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8173551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4258083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850407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8662" marR="98662" marT="49331" marB="49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4710067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8662" marR="98662" marT="49331" marB="49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3834646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8662" marR="98662" marT="49331" marB="49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9185705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662" marR="98662" marT="49331" marB="49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681082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6A21477-BE1E-A0BC-2782-AE51D4D51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091779"/>
              </p:ext>
            </p:extLst>
          </p:nvPr>
        </p:nvGraphicFramePr>
        <p:xfrm>
          <a:off x="9446995" y="2127069"/>
          <a:ext cx="2377440" cy="1188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414364959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40920578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393336167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9865366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930221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0886079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2E97919C-2885-7A24-BD00-C71ADD1FFC7E}"/>
              </a:ext>
            </a:extLst>
          </p:cNvPr>
          <p:cNvSpPr/>
          <p:nvPr/>
        </p:nvSpPr>
        <p:spPr>
          <a:xfrm>
            <a:off x="9628708" y="2788535"/>
            <a:ext cx="861646" cy="42862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CDA580CC-B168-AC91-8957-6916A215785A}"/>
              </a:ext>
            </a:extLst>
          </p:cNvPr>
          <p:cNvSpPr/>
          <p:nvPr/>
        </p:nvSpPr>
        <p:spPr>
          <a:xfrm>
            <a:off x="8546273" y="2800440"/>
            <a:ext cx="1384300" cy="477249"/>
          </a:xfrm>
          <a:prstGeom prst="arc">
            <a:avLst>
              <a:gd name="adj1" fmla="val 16200000"/>
              <a:gd name="adj2" fmla="val 5414843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318687F-EA15-22D6-052D-D161BE1CC1B3}"/>
                  </a:ext>
                </a:extLst>
              </p:cNvPr>
              <p:cNvSpPr txBox="1"/>
              <p:nvPr/>
            </p:nvSpPr>
            <p:spPr>
              <a:xfrm>
                <a:off x="9298780" y="3402037"/>
                <a:ext cx="2436678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8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2800" b="0" i="0" smtClean="0">
                            <a:solidFill>
                              <a:schemeClr val="accent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2800" b="0" i="0" smtClean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318687F-EA15-22D6-052D-D161BE1CC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8780" y="3402037"/>
                <a:ext cx="2436678" cy="525208"/>
              </a:xfrm>
              <a:prstGeom prst="rect">
                <a:avLst/>
              </a:prstGeom>
              <a:blipFill>
                <a:blip r:embed="rId3"/>
                <a:stretch>
                  <a:fillRect l="-5000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c 2">
            <a:extLst>
              <a:ext uri="{FF2B5EF4-FFF2-40B4-BE49-F238E27FC236}">
                <a16:creationId xmlns:a16="http://schemas.microsoft.com/office/drawing/2014/main" id="{A95C7DDA-F461-DC1B-AC4C-1B0900B63F8A}"/>
              </a:ext>
            </a:extLst>
          </p:cNvPr>
          <p:cNvSpPr/>
          <p:nvPr/>
        </p:nvSpPr>
        <p:spPr>
          <a:xfrm rot="10800000">
            <a:off x="11336621" y="2788382"/>
            <a:ext cx="1384300" cy="477249"/>
          </a:xfrm>
          <a:prstGeom prst="arc">
            <a:avLst>
              <a:gd name="adj1" fmla="val 16200000"/>
              <a:gd name="adj2" fmla="val 5414843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9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Quiz 3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70C640F-214A-BF0A-1E46-59EA5D40E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7</a:t>
            </a:r>
          </a:p>
          <a:p>
            <a:pPr lvl="1"/>
            <a:r>
              <a:rPr lang="en-US" dirty="0" err="1"/>
              <a:t>Gợi</a:t>
            </a:r>
            <a:r>
              <a:rPr lang="en-US" dirty="0"/>
              <a:t> </a:t>
            </a:r>
            <a:r>
              <a:rPr lang="en-US" dirty="0" err="1"/>
              <a:t>ý</a:t>
            </a:r>
            <a:r>
              <a:rPr lang="en-US" dirty="0"/>
              <a:t>: 4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, 1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ra</a:t>
            </a:r>
            <a:endParaRPr lang="en-US" dirty="0"/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27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918096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28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9" y="2095027"/>
            <a:ext cx="7918398" cy="884656"/>
          </a:xfrm>
        </p:spPr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42739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4292B0-FE3A-A243-041D-0B53F61A7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Số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 err="1"/>
              <a:t>ợng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lên</a:t>
            </a:r>
            <a:endParaRPr lang="en-US" dirty="0"/>
          </a:p>
          <a:p>
            <a:pPr lvl="2"/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 err="1"/>
              <a:t>ợng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endParaRPr lang="en-US" dirty="0"/>
          </a:p>
          <a:p>
            <a:pPr lvl="3">
              <a:lnSpc>
                <a:spcPct val="110000"/>
              </a:lnSpc>
            </a:pP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endParaRPr lang="en-US" dirty="0"/>
          </a:p>
          <a:p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/>
              <a:t>: Để vào 64 bit dữ liệu thì chúng ta cần thiết kế một mạch có 64 ngõ vào -&gt; mạch sẽ phức tạp</a:t>
            </a:r>
            <a:endParaRPr lang="en-US" dirty="0"/>
          </a:p>
          <a:p>
            <a:pPr lvl="1"/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/>
              <a:t>: Có thể dung 1 mạch có 8 ngõ vào, nhận dữ liệu trong 8 lần</a:t>
            </a:r>
          </a:p>
          <a:p>
            <a:pPr lvl="1"/>
            <a:r>
              <a:rPr lang="en-US"/>
              <a:t>Cần có giải pháp đồng bộ cho các lần nhận tín hiệu</a:t>
            </a:r>
          </a:p>
          <a:p>
            <a:pPr lvl="1"/>
            <a:r>
              <a:rPr lang="en-US"/>
              <a:t>Cần lưu trữ giá trị trong các lần nhận trước</a:t>
            </a:r>
            <a:endParaRPr lang="en-US" dirty="0"/>
          </a:p>
          <a:p>
            <a:pPr algn="just"/>
            <a:r>
              <a:rPr lang="en-US"/>
              <a:t>Một mạch số mà nhận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1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err="1"/>
              <a:t>bằng</a:t>
            </a:r>
            <a:r>
              <a:rPr lang="en-US"/>
              <a:t> nhiều lần khác nhau -&gt; Mạch </a:t>
            </a:r>
            <a:r>
              <a:rPr lang="en-US" err="1"/>
              <a:t>tuần</a:t>
            </a:r>
            <a:r>
              <a:rPr lang="en-US"/>
              <a:t> tự (có tính chất nhớ)</a:t>
            </a:r>
            <a:endParaRPr lang="en-US" dirty="0"/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29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8196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US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4292B0-FE3A-A243-041D-0B53F61A7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97" y="1195821"/>
            <a:ext cx="4223860" cy="5160527"/>
          </a:xfrm>
        </p:spPr>
        <p:txBody>
          <a:bodyPr>
            <a:normAutofit fontScale="92500"/>
          </a:bodyPr>
          <a:lstStyle/>
          <a:p>
            <a:pPr algn="just"/>
            <a:r>
              <a:rPr lang="vi-VN" dirty="0"/>
              <a:t>Thiết bị lưu trữ: </a:t>
            </a:r>
            <a:r>
              <a:rPr lang="en-US" dirty="0"/>
              <a:t>L</a:t>
            </a:r>
            <a:r>
              <a:rPr lang="vi-VN" dirty="0"/>
              <a:t>ưu trữ trạng thái hiện </a:t>
            </a:r>
            <a:r>
              <a:rPr lang="en-US" dirty="0" err="1"/>
              <a:t>tại</a:t>
            </a:r>
            <a:endParaRPr lang="en-US" dirty="0"/>
          </a:p>
          <a:p>
            <a:pPr algn="just"/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vi-VN" dirty="0"/>
              <a:t> tổ hợp: </a:t>
            </a:r>
            <a:r>
              <a:rPr lang="en-US" dirty="0"/>
              <a:t>X</a:t>
            </a:r>
            <a:r>
              <a:rPr lang="vi-VN" dirty="0"/>
              <a:t>ử lý để xác định trạng thái kế tiếp và ngõ ra</a:t>
            </a:r>
            <a:endParaRPr lang="en-US" dirty="0"/>
          </a:p>
          <a:p>
            <a:pPr lvl="0" algn="just"/>
            <a:r>
              <a:rPr lang="vi-VN" dirty="0"/>
              <a:t>Ngõ vào: </a:t>
            </a:r>
            <a:r>
              <a:rPr lang="en-US" dirty="0"/>
              <a:t>C</a:t>
            </a:r>
            <a:r>
              <a:rPr lang="vi-VN" dirty="0"/>
              <a:t>ác ngõ vào</a:t>
            </a:r>
            <a:endParaRPr lang="en-US" dirty="0"/>
          </a:p>
          <a:p>
            <a:pPr lvl="0" algn="just"/>
            <a:r>
              <a:rPr lang="vi-VN" dirty="0"/>
              <a:t>Ngõ ra: </a:t>
            </a:r>
            <a:r>
              <a:rPr lang="en-US" dirty="0"/>
              <a:t>C</a:t>
            </a:r>
            <a:r>
              <a:rPr lang="vi-VN" dirty="0"/>
              <a:t>ác ngõ ra</a:t>
            </a:r>
            <a:endParaRPr lang="en-US" dirty="0"/>
          </a:p>
          <a:p>
            <a:pPr algn="just"/>
            <a:r>
              <a:rPr lang="en-US" dirty="0"/>
              <a:t>NẠP</a:t>
            </a:r>
            <a:r>
              <a:rPr lang="vi-VN" dirty="0"/>
              <a:t>:</a:t>
            </a:r>
            <a:r>
              <a:rPr lang="en-US" dirty="0"/>
              <a:t> N</a:t>
            </a:r>
            <a:r>
              <a:rPr lang="vi-VN" dirty="0"/>
              <a:t>gõ vào điều khiển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30</a:t>
            </a:fld>
            <a:endParaRPr lang="en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ED6027-07D3-C798-B3B8-999715956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657" y="1165023"/>
            <a:ext cx="6601442" cy="2770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E32F4B-7D40-3C27-735A-E957A098D7EA}"/>
              </a:ext>
            </a:extLst>
          </p:cNvPr>
          <p:cNvSpPr txBox="1"/>
          <p:nvPr/>
        </p:nvSpPr>
        <p:spPr>
          <a:xfrm>
            <a:off x="5402046" y="4331737"/>
            <a:ext cx="6566053" cy="9787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37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31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8" y="2095027"/>
            <a:ext cx="8831311" cy="884656"/>
          </a:xfrm>
        </p:spPr>
        <p:txBody>
          <a:bodyPr>
            <a:normAutofit/>
          </a:bodyPr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trữ</a:t>
            </a:r>
            <a:endParaRPr lang="en-V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887663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trữ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69" y="1195821"/>
            <a:ext cx="6436377" cy="5160527"/>
          </a:xfrm>
        </p:spPr>
        <p:txBody>
          <a:bodyPr>
            <a:noAutofit/>
          </a:bodyPr>
          <a:lstStyle/>
          <a:p>
            <a:pPr lvl="0" algn="just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1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(Q)</a:t>
            </a:r>
          </a:p>
          <a:p>
            <a:pPr lvl="0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1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  <a:p>
            <a:pPr algn="just"/>
            <a:r>
              <a:rPr lang="en-US" dirty="0" err="1"/>
              <a:t>Có</a:t>
            </a:r>
            <a:r>
              <a:rPr lang="en-US" dirty="0"/>
              <a:t> 1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NẠP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(E (Enable), CLK)</a:t>
            </a:r>
          </a:p>
          <a:p>
            <a:pPr lvl="1" algn="just"/>
            <a:r>
              <a:rPr lang="en-US" dirty="0"/>
              <a:t>Latch: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(E)</a:t>
            </a:r>
          </a:p>
          <a:p>
            <a:pPr lvl="1" algn="just"/>
            <a:r>
              <a:rPr lang="en-US" dirty="0"/>
              <a:t>Flipflop: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(CLK)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32</a:t>
            </a:fld>
            <a:endParaRPr lang="en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3F56D4-65D9-6921-8510-BB1A04C1F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136" r="36901" b="21114"/>
          <a:stretch/>
        </p:blipFill>
        <p:spPr>
          <a:xfrm>
            <a:off x="6858946" y="792204"/>
            <a:ext cx="5036535" cy="2370324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3E1CEB3-8691-9B01-8DA6-778B19E91B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151095"/>
              </p:ext>
            </p:extLst>
          </p:nvPr>
        </p:nvGraphicFramePr>
        <p:xfrm>
          <a:off x="6418866" y="3435163"/>
          <a:ext cx="5612584" cy="274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190938" imgH="2076587" progId="Visio.Drawing.15">
                  <p:embed/>
                </p:oleObj>
              </mc:Choice>
              <mc:Fallback>
                <p:oleObj name="Visio" r:id="rId3" imgW="4190938" imgH="2076587" progId="Visio.Drawing.15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F385122E-FEEE-4232-911B-0E60ECAB6F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866" y="3435163"/>
                        <a:ext cx="5612584" cy="2747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D573A32-2CE1-128A-9F83-06944B0ED50A}"/>
              </a:ext>
            </a:extLst>
          </p:cNvPr>
          <p:cNvSpPr txBox="1"/>
          <p:nvPr/>
        </p:nvSpPr>
        <p:spPr>
          <a:xfrm>
            <a:off x="774145" y="5870986"/>
            <a:ext cx="6436377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76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trữ</a:t>
            </a:r>
            <a:r>
              <a:rPr lang="en-US" dirty="0"/>
              <a:t> - Latch</a:t>
            </a:r>
            <a:endParaRPr lang="en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CB69C85-FDD1-DDBF-73B1-52E071C27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 </a:t>
            </a:r>
            <a:r>
              <a:rPr lang="en-US" dirty="0"/>
              <a:t>Latch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(</a:t>
            </a:r>
            <a:r>
              <a:rPr lang="en-US" dirty="0" err="1"/>
              <a:t>cao</a:t>
            </a:r>
            <a:r>
              <a:rPr lang="en-US" dirty="0"/>
              <a:t>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1-bit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33</a:t>
            </a:fld>
            <a:endParaRPr lang="en-V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043D8A-0539-AB0A-51D9-E614DBFCE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705" y="2303837"/>
            <a:ext cx="5341352" cy="2237594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1ED966B-2C56-0FD0-CFEE-D69313121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260352"/>
              </p:ext>
            </p:extLst>
          </p:nvPr>
        </p:nvGraphicFramePr>
        <p:xfrm>
          <a:off x="7989750" y="2244033"/>
          <a:ext cx="1828800" cy="341871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8806235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12350734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7314895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221764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200" spc="-20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2484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8382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2750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163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7673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9683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1919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9646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spc="-2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45228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38DDDB-CAF1-C73D-DD82-CCDCF7FA7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487054"/>
              </p:ext>
            </p:extLst>
          </p:nvPr>
        </p:nvGraphicFramePr>
        <p:xfrm>
          <a:off x="10264799" y="3271061"/>
          <a:ext cx="914400" cy="113957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7118625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55947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200" spc="-20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2969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157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235663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0ED77782-87F7-54D4-A5C5-6FB40EFA35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271" b="41243"/>
          <a:stretch/>
        </p:blipFill>
        <p:spPr>
          <a:xfrm>
            <a:off x="1341564" y="4560888"/>
            <a:ext cx="5341353" cy="96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9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trữ</a:t>
            </a:r>
            <a:r>
              <a:rPr lang="en-US" dirty="0"/>
              <a:t> - Flipflop</a:t>
            </a:r>
            <a:endParaRPr lang="en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3B8C1E4-FB95-5A9C-ED73-F5A19C056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Flipflop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(</a:t>
            </a:r>
            <a:r>
              <a:rPr lang="en-US" dirty="0" err="1"/>
              <a:t>lên</a:t>
            </a:r>
            <a:r>
              <a:rPr lang="en-US" dirty="0"/>
              <a:t>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1 bit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34</a:t>
            </a:fld>
            <a:endParaRPr lang="en-V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0F9386-44A6-DB27-3142-FE4513626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640" y="2248933"/>
            <a:ext cx="4933950" cy="2066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B9AAD4-23AC-2CBD-3621-1E8F6C7F5B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090" b="40849"/>
          <a:stretch/>
        </p:blipFill>
        <p:spPr>
          <a:xfrm>
            <a:off x="994625" y="4408711"/>
            <a:ext cx="6123832" cy="106579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B7477E0-EB70-7AC0-5755-8988C9903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298834"/>
              </p:ext>
            </p:extLst>
          </p:nvPr>
        </p:nvGraphicFramePr>
        <p:xfrm>
          <a:off x="8113706" y="2056534"/>
          <a:ext cx="2103120" cy="347052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198521546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1203813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6890465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82142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CLK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200" spc="-20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8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0091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0707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1310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1269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↑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9641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↑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3116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↑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9549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↑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67678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0ED3A39-456F-16C7-D71D-B3BC5DD13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121387"/>
              </p:ext>
            </p:extLst>
          </p:nvPr>
        </p:nvGraphicFramePr>
        <p:xfrm>
          <a:off x="10548902" y="3269827"/>
          <a:ext cx="1188720" cy="11460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7118625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55947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CLK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200" spc="-20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2969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157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↑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235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315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C928F-FD0D-4B45-B267-CE34B1B5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Quiz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95092-46DC-4C20-A243-DCE0826D1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287" y="1472967"/>
            <a:ext cx="2193382" cy="3912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Hoàn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sóng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Q1 </a:t>
            </a:r>
            <a:r>
              <a:rPr lang="en-US" dirty="0" err="1"/>
              <a:t>và</a:t>
            </a:r>
            <a:r>
              <a:rPr lang="en-US" dirty="0"/>
              <a:t> Q2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0D379-2EBA-4481-AB34-AFBAF72ED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5D75C1-0D82-4F9C-BA7A-670F9FB44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371" y="1092580"/>
            <a:ext cx="7362815" cy="508438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2275C-3E00-19A7-5125-48862BAC1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922863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trữ</a:t>
            </a:r>
            <a:r>
              <a:rPr lang="en-US" dirty="0"/>
              <a:t> - Thanh </a:t>
            </a:r>
            <a:r>
              <a:rPr lang="en-US" dirty="0" err="1"/>
              <a:t>ghi</a:t>
            </a:r>
            <a:endParaRPr lang="en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A0D679-1BB0-B121-466C-6A1D1749A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0659" y="1195822"/>
            <a:ext cx="7307737" cy="3811608"/>
          </a:xfrm>
        </p:spPr>
        <p:txBody>
          <a:bodyPr/>
          <a:lstStyle/>
          <a:p>
            <a:r>
              <a:rPr lang="en-US" dirty="0"/>
              <a:t>Thanh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flipflop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CLK</a:t>
            </a:r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36</a:t>
            </a:fld>
            <a:endParaRPr lang="en-VN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14D9549-5B2E-F63B-AD1A-683F2F243F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206670"/>
              </p:ext>
            </p:extLst>
          </p:nvPr>
        </p:nvGraphicFramePr>
        <p:xfrm>
          <a:off x="533603" y="1195821"/>
          <a:ext cx="3726751" cy="4665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438481" imgH="4371783" progId="Visio.Drawing.15">
                  <p:embed/>
                </p:oleObj>
              </mc:Choice>
              <mc:Fallback>
                <p:oleObj name="Visio" r:id="rId2" imgW="3438481" imgH="4371783" progId="Visio.Drawing.15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3C530018-E08A-42C2-8447-6803806AF0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603" y="1195821"/>
                        <a:ext cx="3726751" cy="46656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6A859DD-FF2A-FDFC-79ED-760C17D6DE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468297"/>
              </p:ext>
            </p:extLst>
          </p:nvPr>
        </p:nvGraphicFramePr>
        <p:xfrm>
          <a:off x="4350660" y="3770059"/>
          <a:ext cx="230505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314637" imgH="1428790" progId="Visio.Drawing.15">
                  <p:embed/>
                </p:oleObj>
              </mc:Choice>
              <mc:Fallback>
                <p:oleObj name="Visio" r:id="rId4" imgW="2314637" imgH="1428790" progId="Visio.Drawing.15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DBBECFF1-446A-41E2-AC71-9E72D2E98D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0660" y="3770059"/>
                        <a:ext cx="2305050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579AA3B-A2E4-CC1B-2BB2-621E6ACF75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825" y="4370134"/>
            <a:ext cx="59721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7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 err="1"/>
              <a:t>Tóm</a:t>
            </a:r>
            <a:r>
              <a:rPr lang="en-US" altLang="ja-JP" dirty="0"/>
              <a:t> </a:t>
            </a:r>
            <a:r>
              <a:rPr lang="en-US" altLang="ja-JP" dirty="0" err="1"/>
              <a:t>tắt</a:t>
            </a:r>
            <a:r>
              <a:rPr lang="en-US" altLang="ja-JP" dirty="0"/>
              <a:t> </a:t>
            </a:r>
            <a:r>
              <a:rPr lang="en-US" altLang="ja-JP" dirty="0" err="1"/>
              <a:t>lại</a:t>
            </a:r>
            <a:r>
              <a:rPr lang="en-US" altLang="ja-JP" dirty="0"/>
              <a:t> </a:t>
            </a:r>
            <a:r>
              <a:rPr lang="en-US" altLang="ja-JP" dirty="0" err="1"/>
              <a:t>nội</a:t>
            </a:r>
            <a:r>
              <a:rPr lang="en-US" altLang="ja-JP" dirty="0"/>
              <a:t> dung </a:t>
            </a:r>
            <a:r>
              <a:rPr lang="en-US" altLang="ja-JP" dirty="0" err="1"/>
              <a:t>buổi</a:t>
            </a:r>
            <a:r>
              <a:rPr lang="en-US" altLang="ja-JP" dirty="0"/>
              <a:t> </a:t>
            </a:r>
            <a:r>
              <a:rPr lang="en-US" altLang="ja-JP" dirty="0" err="1"/>
              <a:t>học</a:t>
            </a:r>
            <a:endParaRPr lang="en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47ED98-E7B7-F869-F969-A13D23356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 err="1"/>
              <a:t>Mạch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Mạch</a:t>
            </a:r>
            <a:r>
              <a:rPr lang="en-US" sz="2800" dirty="0"/>
              <a:t> </a:t>
            </a:r>
            <a:r>
              <a:rPr lang="en-US" sz="2800" dirty="0" err="1"/>
              <a:t>tổ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Thiết</a:t>
            </a:r>
            <a:r>
              <a:rPr lang="en-US" sz="2800" dirty="0"/>
              <a:t> </a:t>
            </a:r>
            <a:r>
              <a:rPr lang="en-US" sz="2800" dirty="0" err="1"/>
              <a:t>kế</a:t>
            </a:r>
            <a:r>
              <a:rPr lang="en-US" sz="2800" dirty="0"/>
              <a:t> </a:t>
            </a:r>
            <a:r>
              <a:rPr lang="en-US" sz="2800" dirty="0" err="1"/>
              <a:t>mạch</a:t>
            </a:r>
            <a:r>
              <a:rPr lang="en-US" sz="2800" dirty="0"/>
              <a:t> </a:t>
            </a:r>
            <a:r>
              <a:rPr lang="en-US" sz="2800" dirty="0" err="1"/>
              <a:t>tổ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Mạch</a:t>
            </a:r>
            <a:r>
              <a:rPr lang="en-US" sz="2800" dirty="0"/>
              <a:t> </a:t>
            </a:r>
            <a:r>
              <a:rPr lang="en-US" sz="2800" dirty="0" err="1"/>
              <a:t>tuần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Thiết</a:t>
            </a:r>
            <a:r>
              <a:rPr lang="en-US" sz="2800" dirty="0"/>
              <a:t> </a:t>
            </a:r>
            <a:r>
              <a:rPr lang="en-US" sz="2800" dirty="0" err="1"/>
              <a:t>bị</a:t>
            </a:r>
            <a:r>
              <a:rPr lang="en-US" sz="2800" dirty="0"/>
              <a:t> </a:t>
            </a:r>
            <a:r>
              <a:rPr lang="en-US" sz="2800" dirty="0" err="1"/>
              <a:t>lưu</a:t>
            </a:r>
            <a:r>
              <a:rPr lang="en-US" sz="2800" dirty="0"/>
              <a:t> </a:t>
            </a:r>
            <a:r>
              <a:rPr lang="en-US" sz="2800" dirty="0" err="1"/>
              <a:t>trữ</a:t>
            </a:r>
            <a:endParaRPr lang="en-US" sz="2800" dirty="0"/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37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6087732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000C4-9A2E-05A2-1818-684E7F99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8756CC-FF80-6915-444D-795BAF1C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38</a:t>
            </a:fld>
            <a:endParaRPr lang="en-V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14E97F-0DB8-D467-8B0C-A879824FD45F}"/>
              </a:ext>
            </a:extLst>
          </p:cNvPr>
          <p:cNvSpPr txBox="1">
            <a:spLocks/>
          </p:cNvSpPr>
          <p:nvPr/>
        </p:nvSpPr>
        <p:spPr>
          <a:xfrm>
            <a:off x="4684910" y="1918010"/>
            <a:ext cx="4012558" cy="11009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lin ang="2700000" scaled="1"/>
                  <a:tileRect/>
                </a:gradFill>
                <a:effectLst>
                  <a:innerShdw blurRad="114300">
                    <a:schemeClr val="bg1"/>
                  </a:inn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THẢO LUẬN</a:t>
            </a:r>
          </a:p>
        </p:txBody>
      </p:sp>
      <p:pic>
        <p:nvPicPr>
          <p:cNvPr id="5" name="Picture 4" descr="http://data.sinhvienit.net/2013/T09/img/SinhVienIT.Net---suy-nghi.jpg">
            <a:extLst>
              <a:ext uri="{FF2B5EF4-FFF2-40B4-BE49-F238E27FC236}">
                <a16:creationId xmlns:a16="http://schemas.microsoft.com/office/drawing/2014/main" id="{91D62A03-02AF-AB7F-80A0-89E3D2490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42" y="3018931"/>
            <a:ext cx="3211551" cy="240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5609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C6FF"/>
            </a:gs>
            <a:gs pos="100000">
              <a:srgbClr val="0072FF"/>
            </a:gs>
          </a:gsLst>
          <a:lin ang="5400000" scaled="1"/>
        </a:gradFill>
        <a:ln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</a:ln>
      </a:spPr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just">
          <a:lnSpc>
            <a:spcPct val="120000"/>
          </a:lnSpc>
          <a:spcBef>
            <a:spcPts val="200"/>
          </a:spcBef>
          <a:spcAft>
            <a:spcPts val="200"/>
          </a:spcAft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Bai giang so UIT update</Template>
  <TotalTime>1229</TotalTime>
  <Words>2157</Words>
  <Application>Microsoft Office PowerPoint</Application>
  <PresentationFormat>Widescreen</PresentationFormat>
  <Paragraphs>417</Paragraphs>
  <Slides>38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Calibri</vt:lpstr>
      <vt:lpstr>Cambria Math</vt:lpstr>
      <vt:lpstr>Symbol</vt:lpstr>
      <vt:lpstr>Times New Roman</vt:lpstr>
      <vt:lpstr>VNI-Times</vt:lpstr>
      <vt:lpstr>Wingdings</vt:lpstr>
      <vt:lpstr>Office Theme</vt:lpstr>
      <vt:lpstr>Visio</vt:lpstr>
      <vt:lpstr>PowerPoint Presentation</vt:lpstr>
      <vt:lpstr>Nội dung môn học - lý thuyết</vt:lpstr>
      <vt:lpstr>PowerPoint Presentation</vt:lpstr>
      <vt:lpstr>PowerPoint Presentation</vt:lpstr>
      <vt:lpstr>PowerPoint Presentation</vt:lpstr>
      <vt:lpstr>Mạch số</vt:lpstr>
      <vt:lpstr>Mạch số - Biểu thức logic và cổng luận lý</vt:lpstr>
      <vt:lpstr>Quiz 1</vt:lpstr>
      <vt:lpstr>Mạch số - Các cổng luận lý khác</vt:lpstr>
      <vt:lpstr>Cổng logic NAND</vt:lpstr>
      <vt:lpstr>Cổng logic NOR</vt:lpstr>
      <vt:lpstr>Cổng logic XOR, XNOR</vt:lpstr>
      <vt:lpstr>Thiết kế mạch số từ biểu thức logic </vt:lpstr>
      <vt:lpstr>Quiz 2</vt:lpstr>
      <vt:lpstr>PowerPoint Presentation</vt:lpstr>
      <vt:lpstr>Phân biệt mạch tổ hợp và tuần tự</vt:lpstr>
      <vt:lpstr>Mạch tổ hợp</vt:lpstr>
      <vt:lpstr>Mạch tổ hợp (tt)</vt:lpstr>
      <vt:lpstr>PowerPoint Presentation</vt:lpstr>
      <vt:lpstr>Thiết kế mạch tổ hợp</vt:lpstr>
      <vt:lpstr>Thiết kế một mạch số</vt:lpstr>
      <vt:lpstr>Các bước thiết kế một mạch logic số</vt:lpstr>
      <vt:lpstr>Các bước thiết kế một mạch logic số</vt:lpstr>
      <vt:lpstr>Các bước thiết kế một mạch logic số</vt:lpstr>
      <vt:lpstr>Các bước thiết kế một mạch logic số</vt:lpstr>
      <vt:lpstr>Thiết kế mạch tổ hợp (tt)</vt:lpstr>
      <vt:lpstr>Quiz 3</vt:lpstr>
      <vt:lpstr>PowerPoint Presentation</vt:lpstr>
      <vt:lpstr>Mạch tuần tự</vt:lpstr>
      <vt:lpstr>Mạch tuần tự (tt)</vt:lpstr>
      <vt:lpstr>PowerPoint Presentation</vt:lpstr>
      <vt:lpstr>Thiết bị lưu trữ</vt:lpstr>
      <vt:lpstr>Thiết bị lưu trữ - Latch</vt:lpstr>
      <vt:lpstr>Thiết bị lưu trữ - Flipflop</vt:lpstr>
      <vt:lpstr>Quiz 4</vt:lpstr>
      <vt:lpstr>Thiết bị lưu trữ - Thanh ghi</vt:lpstr>
      <vt:lpstr>Tóm tắt lại nội dung buổi học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Phan Đình Duy</cp:lastModifiedBy>
  <cp:revision>128</cp:revision>
  <dcterms:created xsi:type="dcterms:W3CDTF">2023-03-03T01:55:04Z</dcterms:created>
  <dcterms:modified xsi:type="dcterms:W3CDTF">2024-03-25T06:10:55Z</dcterms:modified>
</cp:coreProperties>
</file>