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Lst>
  <p:notesMasterIdLst>
    <p:notesMasterId r:id="rId36"/>
  </p:notesMasterIdLst>
  <p:sldIdLst>
    <p:sldId id="314" r:id="rId2"/>
    <p:sldId id="262" r:id="rId3"/>
    <p:sldId id="269" r:id="rId4"/>
    <p:sldId id="261" r:id="rId5"/>
    <p:sldId id="263" r:id="rId6"/>
    <p:sldId id="393" r:id="rId7"/>
    <p:sldId id="378" r:id="rId8"/>
    <p:sldId id="295" r:id="rId9"/>
    <p:sldId id="296" r:id="rId10"/>
    <p:sldId id="394" r:id="rId11"/>
    <p:sldId id="395" r:id="rId12"/>
    <p:sldId id="396" r:id="rId13"/>
    <p:sldId id="405" r:id="rId14"/>
    <p:sldId id="301" r:id="rId15"/>
    <p:sldId id="273" r:id="rId16"/>
    <p:sldId id="385" r:id="rId17"/>
    <p:sldId id="406" r:id="rId18"/>
    <p:sldId id="397" r:id="rId19"/>
    <p:sldId id="398" r:id="rId20"/>
    <p:sldId id="407" r:id="rId21"/>
    <p:sldId id="302" r:id="rId22"/>
    <p:sldId id="343" r:id="rId23"/>
    <p:sldId id="404" r:id="rId24"/>
    <p:sldId id="389" r:id="rId25"/>
    <p:sldId id="402" r:id="rId26"/>
    <p:sldId id="274" r:id="rId27"/>
    <p:sldId id="403" r:id="rId28"/>
    <p:sldId id="390" r:id="rId29"/>
    <p:sldId id="392" r:id="rId30"/>
    <p:sldId id="399" r:id="rId31"/>
    <p:sldId id="400" r:id="rId32"/>
    <p:sldId id="401" r:id="rId33"/>
    <p:sldId id="371" r:id="rId34"/>
    <p:sldId id="268" r:id="rId35"/>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6FF"/>
    <a:srgbClr val="0072FF"/>
    <a:srgbClr val="1CB5E0"/>
    <a:srgbClr val="000046"/>
    <a:srgbClr val="00F7FF"/>
    <a:srgbClr val="0A4671"/>
    <a:srgbClr val="114F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28"/>
    <p:restoredTop sz="72651" autoAdjust="0"/>
  </p:normalViewPr>
  <p:slideViewPr>
    <p:cSldViewPr snapToGrid="0">
      <p:cViewPr varScale="1">
        <p:scale>
          <a:sx n="44" d="100"/>
          <a:sy n="44" d="100"/>
        </p:scale>
        <p:origin x="907"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1B713-64C2-0949-8ADC-A04FFD1F6467}" type="datetimeFigureOut">
              <a:rPr lang="en-VN" smtClean="0"/>
              <a:t>09/06/2023</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9F204-C7F4-F140-967F-D2FA889DA617}" type="slidenum">
              <a:rPr lang="en-VN" smtClean="0"/>
              <a:t>‹#›</a:t>
            </a:fld>
            <a:endParaRPr lang="en-VN"/>
          </a:p>
        </p:txBody>
      </p:sp>
    </p:spTree>
    <p:extLst>
      <p:ext uri="{BB962C8B-B14F-4D97-AF65-F5344CB8AC3E}">
        <p14:creationId xmlns:p14="http://schemas.microsoft.com/office/powerpoint/2010/main" val="29899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CPI: Số chu kỳ clock cần để thực thi 1 lệnh</a:t>
            </a:r>
          </a:p>
          <a:p>
            <a:r>
              <a:rPr lang="en-US"/>
              <a:t>1. Tổng số lệnh của một chương trình được quyết định bởi ISA (Kiến trúc Tập lệnh)</a:t>
            </a:r>
            <a:r>
              <a:rPr lang="vi-VN"/>
              <a:t> và Trình biên dịch.</a:t>
            </a:r>
          </a:p>
          <a:p>
            <a:r>
              <a:rPr lang="vi-VN">
                <a:sym typeface="Wingdings" panose="05000000000000000000" pitchFamily="2" charset="2"/>
              </a:rPr>
              <a:t>2. CPI (Số lượng clock trên mỗi lệnh) được quyết định bởi phần cứng. Mỗi lệnh khác nhau thì có CPI khác nhau</a:t>
            </a:r>
          </a:p>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15</a:t>
            </a:fld>
            <a:endParaRPr lang="en-VN"/>
          </a:p>
        </p:txBody>
      </p:sp>
    </p:spTree>
    <p:extLst>
      <p:ext uri="{BB962C8B-B14F-4D97-AF65-F5344CB8AC3E}">
        <p14:creationId xmlns:p14="http://schemas.microsoft.com/office/powerpoint/2010/main" val="975236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DC19F204-C7F4-F140-967F-D2FA889DA617}" type="slidenum">
              <a:rPr lang="en-VN" smtClean="0"/>
              <a:t>22</a:t>
            </a:fld>
            <a:endParaRPr lang="en-VN"/>
          </a:p>
        </p:txBody>
      </p:sp>
    </p:spTree>
    <p:extLst>
      <p:ext uri="{BB962C8B-B14F-4D97-AF65-F5344CB8AC3E}">
        <p14:creationId xmlns:p14="http://schemas.microsoft.com/office/powerpoint/2010/main" val="750229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b="1" dirty="0"/>
          </a:p>
          <a:p>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25</a:t>
            </a:fld>
            <a:endParaRPr lang="en-VN"/>
          </a:p>
        </p:txBody>
      </p:sp>
    </p:spTree>
    <p:extLst>
      <p:ext uri="{BB962C8B-B14F-4D97-AF65-F5344CB8AC3E}">
        <p14:creationId xmlns:p14="http://schemas.microsoft.com/office/powerpoint/2010/main" val="177233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b="1" dirty="0"/>
              <a:t>1. </a:t>
            </a:r>
            <a:r>
              <a:rPr lang="en-US" sz="1200" dirty="0" err="1">
                <a:solidFill>
                  <a:schemeClr val="tx1"/>
                </a:solidFill>
                <a:latin typeface="Times New Roman" panose="02020603050405020304" pitchFamily="18" charset="0"/>
                <a:cs typeface="Times New Roman" panose="02020603050405020304" pitchFamily="18" charset="0"/>
              </a:rPr>
              <a:t>Thuật</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toán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sẽ</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quyết</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định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có</a:t>
            </a:r>
            <a:r>
              <a:rPr lang="en-US" sz="1200" baseline="0" dirty="0">
                <a:solidFill>
                  <a:schemeClr val="tx1"/>
                </a:solidFill>
                <a:latin typeface="Times New Roman" panose="02020603050405020304" pitchFamily="18" charset="0"/>
                <a:cs typeface="Times New Roman" panose="02020603050405020304" pitchFamily="18" charset="0"/>
              </a:rPr>
              <a:t> bao </a:t>
            </a:r>
            <a:r>
              <a:rPr lang="en-US" sz="1200" baseline="0" dirty="0" err="1">
                <a:solidFill>
                  <a:schemeClr val="tx1"/>
                </a:solidFill>
                <a:latin typeface="Times New Roman" panose="02020603050405020304" pitchFamily="18" charset="0"/>
                <a:cs typeface="Times New Roman" panose="02020603050405020304" pitchFamily="18" charset="0"/>
              </a:rPr>
              <a:t>nhiêu</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trong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chương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trình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nguồn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và</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theo</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đó</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là</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số</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lượng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mà</a:t>
            </a:r>
            <a:r>
              <a:rPr lang="en-US" sz="1200" baseline="0" dirty="0">
                <a:solidFill>
                  <a:schemeClr val="tx1"/>
                </a:solidFill>
                <a:latin typeface="Times New Roman" panose="02020603050405020304" pitchFamily="18" charset="0"/>
                <a:cs typeface="Times New Roman" panose="02020603050405020304" pitchFamily="18" charset="0"/>
              </a:rPr>
              <a:t> CPU </a:t>
            </a:r>
            <a:r>
              <a:rPr lang="en-US" sz="1200" baseline="0" dirty="0" err="1">
                <a:solidFill>
                  <a:schemeClr val="tx1"/>
                </a:solidFill>
                <a:latin typeface="Times New Roman" panose="02020603050405020304" pitchFamily="18" charset="0"/>
                <a:cs typeface="Times New Roman" panose="02020603050405020304" pitchFamily="18" charset="0"/>
              </a:rPr>
              <a:t>phải</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thực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thi</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Thuật</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toán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cũng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có</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thể</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ảnh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hưởng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đến</a:t>
            </a:r>
            <a:r>
              <a:rPr lang="en-US" sz="1200" baseline="0" dirty="0">
                <a:solidFill>
                  <a:schemeClr val="tx1"/>
                </a:solidFill>
                <a:latin typeface="Times New Roman" panose="02020603050405020304" pitchFamily="18" charset="0"/>
                <a:cs typeface="Times New Roman" panose="02020603050405020304" pitchFamily="18" charset="0"/>
              </a:rPr>
              <a:t> CPI </a:t>
            </a:r>
            <a:r>
              <a:rPr lang="en-US" sz="1200" baseline="0" dirty="0" err="1">
                <a:solidFill>
                  <a:schemeClr val="tx1"/>
                </a:solidFill>
                <a:latin typeface="Times New Roman" panose="02020603050405020304" pitchFamily="18" charset="0"/>
                <a:cs typeface="Times New Roman" panose="02020603050405020304" pitchFamily="18" charset="0"/>
              </a:rPr>
              <a:t>về</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khía</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cạnh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chạy</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nhanh</a:t>
            </a:r>
            <a:r>
              <a:rPr lang="en-US" sz="1200" baseline="0" dirty="0">
                <a:solidFill>
                  <a:schemeClr val="tx1"/>
                </a:solidFill>
                <a:latin typeface="Times New Roman" panose="02020603050405020304" pitchFamily="18" charset="0"/>
                <a:cs typeface="Times New Roman" panose="02020603050405020304" pitchFamily="18" charset="0"/>
              </a:rPr>
              <a:t> hay </a:t>
            </a:r>
            <a:r>
              <a:rPr lang="en-US" sz="1200" baseline="0" dirty="0" err="1">
                <a:solidFill>
                  <a:schemeClr val="tx1"/>
                </a:solidFill>
                <a:latin typeface="Times New Roman" panose="02020603050405020304" pitchFamily="18" charset="0"/>
                <a:cs typeface="Times New Roman" panose="02020603050405020304" pitchFamily="18" charset="0"/>
              </a:rPr>
              <a:t>chậm</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ví</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dụ</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nếu</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thuật</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toán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có</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nhiều</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phép</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tính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trên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số</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thực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dấu</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chấm</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động</a:t>
            </a:r>
            <a:r>
              <a:rPr lang="en-US" sz="1200" baseline="0" dirty="0">
                <a:solidFill>
                  <a:schemeClr val="tx1"/>
                </a:solidFill>
                <a:latin typeface="Times New Roman" panose="02020603050405020304" pitchFamily="18" charset="0"/>
                <a:cs typeface="Times New Roman" panose="02020603050405020304" pitchFamily="18" charset="0"/>
              </a:rPr>
              <a:t> (floating-point), </a:t>
            </a:r>
            <a:r>
              <a:rPr lang="en-US" sz="1200" baseline="0" dirty="0" err="1">
                <a:solidFill>
                  <a:schemeClr val="tx1"/>
                </a:solidFill>
                <a:latin typeface="Times New Roman" panose="02020603050405020304" pitchFamily="18" charset="0"/>
                <a:cs typeface="Times New Roman" panose="02020603050405020304" pitchFamily="18" charset="0"/>
              </a:rPr>
              <a:t>khả</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năng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sẽ</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có</a:t>
            </a:r>
            <a:r>
              <a:rPr lang="en-US" sz="1200" baseline="0" dirty="0">
                <a:solidFill>
                  <a:schemeClr val="tx1"/>
                </a:solidFill>
                <a:latin typeface="Times New Roman" panose="02020603050405020304" pitchFamily="18" charset="0"/>
                <a:cs typeface="Times New Roman" panose="02020603050405020304" pitchFamily="18" charset="0"/>
              </a:rPr>
              <a:t> CPI </a:t>
            </a:r>
            <a:r>
              <a:rPr lang="en-US" sz="1200" baseline="0" dirty="0" err="1">
                <a:solidFill>
                  <a:schemeClr val="tx1"/>
                </a:solidFill>
                <a:latin typeface="Times New Roman" panose="02020603050405020304" pitchFamily="18" charset="0"/>
                <a:cs typeface="Times New Roman" panose="02020603050405020304" pitchFamily="18" charset="0"/>
              </a:rPr>
              <a:t>cao</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hơn</a:t>
            </a:r>
            <a:r>
              <a:rPr lang="en-US" sz="1200" baseline="0" dirty="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b="1" dirty="0"/>
              <a:t>2. </a:t>
            </a:r>
            <a:r>
              <a:rPr lang="en-US" sz="1200" dirty="0" err="1">
                <a:solidFill>
                  <a:schemeClr val="tx1"/>
                </a:solidFill>
                <a:latin typeface="Times New Roman" panose="02020603050405020304" pitchFamily="18" charset="0"/>
                <a:cs typeface="Times New Roman" panose="02020603050405020304" pitchFamily="18" charset="0"/>
              </a:rPr>
              <a:t>Ngôn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ngữ</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lập</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trình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chắc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chắn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ảnh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hưởng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đến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số</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lượng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vì</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các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chương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trình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viết</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bằng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ngôn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ngữ</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lập</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trình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sẽ</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được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chuyển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thành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cho</a:t>
            </a:r>
            <a:r>
              <a:rPr lang="en-US" sz="1200" baseline="0" dirty="0">
                <a:solidFill>
                  <a:schemeClr val="tx1"/>
                </a:solidFill>
                <a:latin typeface="Times New Roman" panose="02020603050405020304" pitchFamily="18" charset="0"/>
                <a:cs typeface="Times New Roman" panose="02020603050405020304" pitchFamily="18" charset="0"/>
              </a:rPr>
              <a:t> bộ </a:t>
            </a:r>
            <a:r>
              <a:rPr lang="en-US" sz="1200" baseline="0" dirty="0" err="1">
                <a:solidFill>
                  <a:schemeClr val="tx1"/>
                </a:solidFill>
                <a:latin typeface="Times New Roman" panose="02020603050405020304" pitchFamily="18" charset="0"/>
                <a:cs typeface="Times New Roman" panose="02020603050405020304" pitchFamily="18" charset="0"/>
              </a:rPr>
              <a:t>xử</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lý</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Ngoài</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ra</a:t>
            </a:r>
            <a:r>
              <a:rPr lang="en-US" sz="1200" baseline="0" dirty="0">
                <a:solidFill>
                  <a:schemeClr val="tx1"/>
                </a:solidFill>
                <a:latin typeface="Times New Roman" panose="02020603050405020304" pitchFamily="18" charset="0"/>
                <a:cs typeface="Times New Roman" panose="02020603050405020304" pitchFamily="18" charset="0"/>
              </a:rPr>
              <a:t>, CPI </a:t>
            </a:r>
            <a:r>
              <a:rPr lang="en-US" sz="1200" baseline="0" dirty="0" err="1">
                <a:solidFill>
                  <a:schemeClr val="tx1"/>
                </a:solidFill>
                <a:latin typeface="Times New Roman" panose="02020603050405020304" pitchFamily="18" charset="0"/>
                <a:cs typeface="Times New Roman" panose="02020603050405020304" pitchFamily="18" charset="0"/>
              </a:rPr>
              <a:t>cũng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có</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thể</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bị</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ảnh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hưởng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ví</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dụ</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một</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ngôn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ngữ</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có</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tính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năng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hỗ</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trợ</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mạnh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về</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trừu</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tượng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hóa</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dữ</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liệu</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như</a:t>
            </a:r>
            <a:r>
              <a:rPr lang="en-US" sz="1200" baseline="0" dirty="0">
                <a:solidFill>
                  <a:schemeClr val="tx1"/>
                </a:solidFill>
                <a:latin typeface="Times New Roman" panose="02020603050405020304" pitchFamily="18" charset="0"/>
                <a:cs typeface="Times New Roman" panose="02020603050405020304" pitchFamily="18" charset="0"/>
              </a:rPr>
              <a:t> Java) </a:t>
            </a:r>
            <a:r>
              <a:rPr lang="en-US" sz="1200" baseline="0" dirty="0" err="1">
                <a:solidFill>
                  <a:schemeClr val="tx1"/>
                </a:solidFill>
                <a:latin typeface="Times New Roman" panose="02020603050405020304" pitchFamily="18" charset="0"/>
                <a:cs typeface="Times New Roman" panose="02020603050405020304" pitchFamily="18" charset="0"/>
              </a:rPr>
              <a:t>sẽ</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có</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nhiều</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lời</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gọi</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không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trực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tiếp</a:t>
            </a:r>
            <a:r>
              <a:rPr lang="en-US" sz="1200" baseline="0" dirty="0">
                <a:solidFill>
                  <a:schemeClr val="tx1"/>
                </a:solidFill>
                <a:latin typeface="Times New Roman" panose="02020603050405020304" pitchFamily="18" charset="0"/>
                <a:cs typeface="Times New Roman" panose="02020603050405020304" pitchFamily="18" charset="0"/>
              </a:rPr>
              <a:t>, do </a:t>
            </a:r>
            <a:r>
              <a:rPr lang="en-US" sz="1200" baseline="0" dirty="0" err="1">
                <a:solidFill>
                  <a:schemeClr val="tx1"/>
                </a:solidFill>
                <a:latin typeface="Times New Roman" panose="02020603050405020304" pitchFamily="18" charset="0"/>
                <a:cs typeface="Times New Roman" panose="02020603050405020304" pitchFamily="18" charset="0"/>
              </a:rPr>
              <a:t>đó</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sẽ</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sử</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dụng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nhiều</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có</a:t>
            </a:r>
            <a:r>
              <a:rPr lang="en-US" sz="1200" baseline="0" dirty="0">
                <a:solidFill>
                  <a:schemeClr val="tx1"/>
                </a:solidFill>
                <a:latin typeface="Times New Roman" panose="02020603050405020304" pitchFamily="18" charset="0"/>
                <a:cs typeface="Times New Roman" panose="02020603050405020304" pitchFamily="18" charset="0"/>
              </a:rPr>
              <a:t> CPI </a:t>
            </a:r>
            <a:r>
              <a:rPr lang="en-US" sz="1200" baseline="0" dirty="0" err="1">
                <a:solidFill>
                  <a:schemeClr val="tx1"/>
                </a:solidFill>
                <a:latin typeface="Times New Roman" panose="02020603050405020304" pitchFamily="18" charset="0"/>
                <a:cs typeface="Times New Roman" panose="02020603050405020304" pitchFamily="18" charset="0"/>
              </a:rPr>
              <a:t>cao</a:t>
            </a:r>
            <a:r>
              <a:rPr lang="en-US" sz="1200" baseline="0" dirty="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endParaRPr lang="vi-VN" b="1" dirty="0"/>
          </a:p>
          <a:p>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26</a:t>
            </a:fld>
            <a:endParaRPr lang="en-VN"/>
          </a:p>
        </p:txBody>
      </p:sp>
    </p:spTree>
    <p:extLst>
      <p:ext uri="{BB962C8B-B14F-4D97-AF65-F5344CB8AC3E}">
        <p14:creationId xmlns:p14="http://schemas.microsoft.com/office/powerpoint/2010/main" val="388431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vi-VN" b="1" dirty="0"/>
              <a:t>3. </a:t>
            </a:r>
            <a:r>
              <a:rPr lang="en-US" sz="1200" dirty="0" err="1">
                <a:solidFill>
                  <a:schemeClr val="tx1"/>
                </a:solidFill>
                <a:latin typeface="Times New Roman" panose="02020603050405020304" pitchFamily="18" charset="0"/>
                <a:cs typeface="Times New Roman" panose="02020603050405020304" pitchFamily="18" charset="0"/>
              </a:rPr>
              <a:t>Vì</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trình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biên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dịch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thực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hiện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việc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chuyển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các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từ</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ngôn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ngữ</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cấp</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cao</a:t>
            </a:r>
            <a:r>
              <a:rPr lang="en-US" sz="1200" baseline="0" dirty="0">
                <a:solidFill>
                  <a:schemeClr val="tx1"/>
                </a:solidFill>
                <a:latin typeface="Times New Roman" panose="02020603050405020304" pitchFamily="18" charset="0"/>
                <a:cs typeface="Times New Roman" panose="02020603050405020304" pitchFamily="18" charset="0"/>
              </a:rPr>
              <a:t> sang </a:t>
            </a:r>
            <a:r>
              <a:rPr lang="en-US" sz="1200" baseline="0" dirty="0" err="1">
                <a:solidFill>
                  <a:schemeClr val="tx1"/>
                </a:solidFill>
                <a:latin typeface="Times New Roman" panose="02020603050405020304" pitchFamily="18" charset="0"/>
                <a:cs typeface="Times New Roman" panose="02020603050405020304" pitchFamily="18" charset="0"/>
              </a:rPr>
              <a:t>ngôn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ngữ</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máy</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nên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chắc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chắn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tác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động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đến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số</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lượng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lệnh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và</a:t>
            </a:r>
            <a:r>
              <a:rPr lang="en-US" sz="1200" baseline="0" dirty="0">
                <a:solidFill>
                  <a:schemeClr val="tx1"/>
                </a:solidFill>
                <a:latin typeface="Times New Roman" panose="02020603050405020304" pitchFamily="18" charset="0"/>
                <a:cs typeface="Times New Roman" panose="02020603050405020304" pitchFamily="18" charset="0"/>
              </a:rPr>
              <a:t> CPI. </a:t>
            </a:r>
            <a:r>
              <a:rPr lang="en-US" sz="1200" baseline="0" dirty="0" err="1">
                <a:solidFill>
                  <a:schemeClr val="tx1"/>
                </a:solidFill>
                <a:latin typeface="Times New Roman" panose="02020603050405020304" pitchFamily="18" charset="0"/>
                <a:cs typeface="Times New Roman" panose="02020603050405020304" pitchFamily="18" charset="0"/>
              </a:rPr>
              <a:t>Vai</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trò</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của</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trình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biên</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dịch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rất</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phức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tạp</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và</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ảnh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hưởng</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đến</a:t>
            </a:r>
            <a:r>
              <a:rPr lang="en-US" sz="1200" baseline="0" dirty="0">
                <a:solidFill>
                  <a:schemeClr val="tx1"/>
                </a:solidFill>
                <a:latin typeface="Times New Roman" panose="02020603050405020304" pitchFamily="18" charset="0"/>
                <a:cs typeface="Times New Roman" panose="02020603050405020304" pitchFamily="18" charset="0"/>
              </a:rPr>
              <a:t> CPI </a:t>
            </a:r>
            <a:r>
              <a:rPr lang="en-US" sz="1200" baseline="0" dirty="0" err="1">
                <a:solidFill>
                  <a:schemeClr val="tx1"/>
                </a:solidFill>
                <a:latin typeface="Times New Roman" panose="02020603050405020304" pitchFamily="18" charset="0"/>
                <a:cs typeface="Times New Roman" panose="02020603050405020304" pitchFamily="18" charset="0"/>
              </a:rPr>
              <a:t>theo</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một</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cách</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phức</a:t>
            </a:r>
            <a:r>
              <a:rPr lang="en-US" sz="1200" baseline="0" dirty="0">
                <a:solidFill>
                  <a:schemeClr val="tx1"/>
                </a:solidFill>
                <a:latin typeface="Times New Roman" panose="02020603050405020304" pitchFamily="18" charset="0"/>
                <a:cs typeface="Times New Roman" panose="02020603050405020304" pitchFamily="18" charset="0"/>
              </a:rPr>
              <a:t> </a:t>
            </a:r>
            <a:r>
              <a:rPr lang="en-US" sz="1200" baseline="0" dirty="0" err="1">
                <a:solidFill>
                  <a:schemeClr val="tx1"/>
                </a:solidFill>
                <a:latin typeface="Times New Roman" panose="02020603050405020304" pitchFamily="18" charset="0"/>
                <a:cs typeface="Times New Roman" panose="02020603050405020304" pitchFamily="18" charset="0"/>
              </a:rPr>
              <a:t>tạp</a:t>
            </a:r>
            <a:r>
              <a:rPr lang="en-US" sz="1200" baseline="0" dirty="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vi-VN" b="1" dirty="0"/>
              <a:t>4. </a:t>
            </a:r>
            <a:r>
              <a:rPr lang="en-US" sz="1200" dirty="0" err="1">
                <a:latin typeface="Times New Roman" panose="02020603050405020304" pitchFamily="18" charset="0"/>
                <a:cs typeface="Times New Roman" panose="02020603050405020304" pitchFamily="18" charset="0"/>
              </a:rPr>
              <a:t>Kiến</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trúc</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tập</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lệnh</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tác</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động</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đến</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cả</a:t>
            </a:r>
            <a:r>
              <a:rPr lang="en-US" sz="1200" baseline="0" dirty="0">
                <a:latin typeface="Times New Roman" panose="02020603050405020304" pitchFamily="18" charset="0"/>
                <a:cs typeface="Times New Roman" panose="02020603050405020304" pitchFamily="18" charset="0"/>
              </a:rPr>
              <a:t> 3 </a:t>
            </a:r>
            <a:r>
              <a:rPr lang="en-US" sz="1200" baseline="0" dirty="0" err="1">
                <a:latin typeface="Times New Roman" panose="02020603050405020304" pitchFamily="18" charset="0"/>
                <a:cs typeface="Times New Roman" panose="02020603050405020304" pitchFamily="18" charset="0"/>
              </a:rPr>
              <a:t>yếu</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tố</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của</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hiệu</a:t>
            </a:r>
            <a:r>
              <a:rPr lang="en-US" sz="1200" baseline="0" dirty="0">
                <a:latin typeface="Times New Roman" panose="02020603050405020304" pitchFamily="18" charset="0"/>
                <a:cs typeface="Times New Roman" panose="02020603050405020304" pitchFamily="18" charset="0"/>
              </a:rPr>
              <a:t> </a:t>
            </a:r>
            <a:r>
              <a:rPr lang="vi-VN" sz="1200" baseline="0" dirty="0">
                <a:latin typeface="Times New Roman" panose="02020603050405020304" pitchFamily="18" charset="0"/>
                <a:cs typeface="Times New Roman" panose="02020603050405020304" pitchFamily="18" charset="0"/>
              </a:rPr>
              <a:t>suất</a:t>
            </a:r>
            <a:r>
              <a:rPr lang="en-US" sz="1200" baseline="0" dirty="0">
                <a:latin typeface="Times New Roman" panose="02020603050405020304" pitchFamily="18" charset="0"/>
                <a:cs typeface="Times New Roman" panose="02020603050405020304" pitchFamily="18" charset="0"/>
              </a:rPr>
              <a:t> CPU, </a:t>
            </a:r>
            <a:r>
              <a:rPr lang="en-US" sz="1200" baseline="0" dirty="0" err="1">
                <a:latin typeface="Times New Roman" panose="02020603050405020304" pitchFamily="18" charset="0"/>
                <a:cs typeface="Times New Roman" panose="02020603050405020304" pitchFamily="18" charset="0"/>
              </a:rPr>
              <a:t>v</a:t>
            </a:r>
            <a:r>
              <a:rPr lang="en-US" sz="1200" dirty="0" err="1">
                <a:latin typeface="Times New Roman" panose="02020603050405020304" pitchFamily="18" charset="0"/>
                <a:cs typeface="Times New Roman" panose="02020603050405020304" pitchFamily="18" charset="0"/>
              </a:rPr>
              <a:t>ì</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nó</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quyết</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định</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các</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lệnh</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cần</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để</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thực</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hiện</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một</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chức</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năng</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số</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lượng</a:t>
            </a:r>
            <a:r>
              <a:rPr lang="en-US" sz="1200" baseline="0" dirty="0">
                <a:latin typeface="Times New Roman" panose="02020603050405020304" pitchFamily="18" charset="0"/>
                <a:cs typeface="Times New Roman" panose="02020603050405020304" pitchFamily="18" charset="0"/>
              </a:rPr>
              <a:t> chu </a:t>
            </a:r>
            <a:r>
              <a:rPr lang="en-US" sz="1200" baseline="0" dirty="0" err="1">
                <a:latin typeface="Times New Roman" panose="02020603050405020304" pitchFamily="18" charset="0"/>
                <a:cs typeface="Times New Roman" panose="02020603050405020304" pitchFamily="18" charset="0"/>
              </a:rPr>
              <a:t>kỳ</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cho</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một</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lệnh</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và</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tần</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số</a:t>
            </a:r>
            <a:r>
              <a:rPr lang="en-US" sz="1200" baseline="0" dirty="0">
                <a:latin typeface="Times New Roman" panose="02020603050405020304" pitchFamily="18" charset="0"/>
                <a:cs typeface="Times New Roman" panose="02020603050405020304" pitchFamily="18" charset="0"/>
              </a:rPr>
              <a:t> clock </a:t>
            </a:r>
            <a:r>
              <a:rPr lang="en-US" sz="1200" baseline="0" dirty="0" err="1">
                <a:latin typeface="Times New Roman" panose="02020603050405020304" pitchFamily="18" charset="0"/>
                <a:cs typeface="Times New Roman" panose="02020603050405020304" pitchFamily="18" charset="0"/>
              </a:rPr>
              <a:t>tổng</a:t>
            </a:r>
            <a:r>
              <a:rPr lang="en-US" sz="1200" baseline="0" dirty="0">
                <a:latin typeface="Times New Roman" panose="02020603050405020304" pitchFamily="18" charset="0"/>
                <a:cs typeface="Times New Roman" panose="02020603050405020304" pitchFamily="18" charset="0"/>
              </a:rPr>
              <a:t> </a:t>
            </a:r>
            <a:r>
              <a:rPr lang="vi-VN" sz="1200" baseline="0" dirty="0">
                <a:latin typeface="Times New Roman" panose="02020603050405020304" pitchFamily="18" charset="0"/>
                <a:cs typeface="Times New Roman" panose="02020603050405020304" pitchFamily="18" charset="0"/>
              </a:rPr>
              <a:t>thể</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của</a:t>
            </a:r>
            <a:r>
              <a:rPr lang="en-US" sz="1200" baseline="0" dirty="0">
                <a:latin typeface="Times New Roman" panose="02020603050405020304" pitchFamily="18" charset="0"/>
                <a:cs typeface="Times New Roman" panose="02020603050405020304" pitchFamily="18" charset="0"/>
              </a:rPr>
              <a:t> bộ </a:t>
            </a:r>
            <a:r>
              <a:rPr lang="en-US" sz="1200" baseline="0" dirty="0" err="1">
                <a:latin typeface="Times New Roman" panose="02020603050405020304" pitchFamily="18" charset="0"/>
                <a:cs typeface="Times New Roman" panose="02020603050405020304" pitchFamily="18" charset="0"/>
              </a:rPr>
              <a:t>xử</a:t>
            </a:r>
            <a:r>
              <a:rPr lang="en-US" sz="1200" baseline="0" dirty="0">
                <a:latin typeface="Times New Roman" panose="02020603050405020304" pitchFamily="18" charset="0"/>
                <a:cs typeface="Times New Roman" panose="02020603050405020304" pitchFamily="18" charset="0"/>
              </a:rPr>
              <a:t> </a:t>
            </a:r>
            <a:r>
              <a:rPr lang="en-US" sz="1200" baseline="0" dirty="0" err="1">
                <a:latin typeface="Times New Roman" panose="02020603050405020304" pitchFamily="18" charset="0"/>
                <a:cs typeface="Times New Roman" panose="02020603050405020304" pitchFamily="18" charset="0"/>
              </a:rPr>
              <a:t>lý</a:t>
            </a:r>
            <a:r>
              <a:rPr lang="en-US" sz="1200" baseline="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endParaRPr lang="vi-VN" b="1" dirty="0"/>
          </a:p>
          <a:p>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27</a:t>
            </a:fld>
            <a:endParaRPr lang="en-VN"/>
          </a:p>
        </p:txBody>
      </p:sp>
    </p:spTree>
    <p:extLst>
      <p:ext uri="{BB962C8B-B14F-4D97-AF65-F5344CB8AC3E}">
        <p14:creationId xmlns:p14="http://schemas.microsoft.com/office/powerpoint/2010/main" val="3029823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C19F204-C7F4-F140-967F-D2FA889DA617}" type="slidenum">
              <a:rPr lang="en-VN" smtClean="0"/>
              <a:t>30</a:t>
            </a:fld>
            <a:endParaRPr lang="en-VN"/>
          </a:p>
        </p:txBody>
      </p:sp>
    </p:spTree>
    <p:extLst>
      <p:ext uri="{BB962C8B-B14F-4D97-AF65-F5344CB8AC3E}">
        <p14:creationId xmlns:p14="http://schemas.microsoft.com/office/powerpoint/2010/main" val="29543890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gradFill>
                  <a:gsLst>
                    <a:gs pos="0">
                      <a:srgbClr val="000046"/>
                    </a:gs>
                    <a:gs pos="100000">
                      <a:srgbClr val="1CB5E0"/>
                    </a:gs>
                  </a:gsLst>
                  <a:lin ang="5400000" scaled="1"/>
                </a:grad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6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6, 2023</a:t>
            </a:fld>
            <a:endParaRPr lang="en-US" dirty="0"/>
          </a:p>
        </p:txBody>
      </p:sp>
      <p:sp>
        <p:nvSpPr>
          <p:cNvPr id="3" name="Freeform 6">
            <a:extLst>
              <a:ext uri="{FF2B5EF4-FFF2-40B4-BE49-F238E27FC236}">
                <a16:creationId xmlns:a16="http://schemas.microsoft.com/office/drawing/2014/main" id="{BCCF0192-36D8-9F32-C171-8B4BD8A99F4C}"/>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Isosceles Triangle 12">
            <a:extLst>
              <a:ext uri="{FF2B5EF4-FFF2-40B4-BE49-F238E27FC236}">
                <a16:creationId xmlns:a16="http://schemas.microsoft.com/office/drawing/2014/main" id="{73A696F7-7DEB-E59E-064E-973083131C90}"/>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0ACDE408-DEB7-4BE7-FD54-864ED0E22FEB}"/>
              </a:ext>
            </a:extLst>
          </p:cNvPr>
          <p:cNvGrpSpPr/>
          <p:nvPr userDrawn="1"/>
        </p:nvGrpSpPr>
        <p:grpSpPr>
          <a:xfrm>
            <a:off x="58527" y="40944"/>
            <a:ext cx="2869771" cy="1563379"/>
            <a:chOff x="44879" y="27296"/>
            <a:chExt cx="2869771" cy="1563379"/>
          </a:xfrm>
          <a:solidFill>
            <a:srgbClr val="0072FF"/>
          </a:solidFill>
        </p:grpSpPr>
        <p:cxnSp>
          <p:nvCxnSpPr>
            <p:cNvPr id="21" name="Straight Connector 20">
              <a:extLst>
                <a:ext uri="{FF2B5EF4-FFF2-40B4-BE49-F238E27FC236}">
                  <a16:creationId xmlns:a16="http://schemas.microsoft.com/office/drawing/2014/main" id="{57D6359C-748A-8752-56FF-72BC06E01F52}"/>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D2DDCD-F590-1B5B-C972-1650B1CC33A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F47FC40-0EA4-DC83-2C86-82AA4015B8D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7" name="Isosceles Triangle 26">
            <a:extLst>
              <a:ext uri="{FF2B5EF4-FFF2-40B4-BE49-F238E27FC236}">
                <a16:creationId xmlns:a16="http://schemas.microsoft.com/office/drawing/2014/main" id="{7538739F-6F8B-6C6B-62B4-8CC686C503D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6422847D-050D-7BE3-13F5-4373E5BFEACE}"/>
              </a:ext>
            </a:extLst>
          </p:cNvPr>
          <p:cNvGrpSpPr/>
          <p:nvPr userDrawn="1"/>
        </p:nvGrpSpPr>
        <p:grpSpPr>
          <a:xfrm flipH="1" flipV="1">
            <a:off x="9263702" y="5253677"/>
            <a:ext cx="2869771" cy="1563379"/>
            <a:chOff x="44879" y="27296"/>
            <a:chExt cx="2869771" cy="1563379"/>
          </a:xfrm>
          <a:solidFill>
            <a:srgbClr val="0072FF"/>
          </a:solidFill>
        </p:grpSpPr>
        <p:cxnSp>
          <p:nvCxnSpPr>
            <p:cNvPr id="29" name="Straight Connector 28">
              <a:extLst>
                <a:ext uri="{FF2B5EF4-FFF2-40B4-BE49-F238E27FC236}">
                  <a16:creationId xmlns:a16="http://schemas.microsoft.com/office/drawing/2014/main" id="{BE1E49AC-242E-EE1F-F40B-1843CBC98C5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0686CED-10A4-E556-F9DD-80FCAF6A76DD}"/>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C549E8B-0112-2167-0896-AEBBF633A10B}"/>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32" name="Freeform 17">
            <a:extLst>
              <a:ext uri="{FF2B5EF4-FFF2-40B4-BE49-F238E27FC236}">
                <a16:creationId xmlns:a16="http://schemas.microsoft.com/office/drawing/2014/main" id="{BEE27D29-989D-D9D6-AFC6-84BCF9F3843B}"/>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33" name="Freeform 18">
            <a:extLst>
              <a:ext uri="{FF2B5EF4-FFF2-40B4-BE49-F238E27FC236}">
                <a16:creationId xmlns:a16="http://schemas.microsoft.com/office/drawing/2014/main" id="{65B74CCA-0894-8F14-CE7A-C4AFAF5CEF78}"/>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35" name="Picture 34" descr="A picture containing clipart, vector graphics&#10;&#10;Description automatically generated">
            <a:extLst>
              <a:ext uri="{FF2B5EF4-FFF2-40B4-BE49-F238E27FC236}">
                <a16:creationId xmlns:a16="http://schemas.microsoft.com/office/drawing/2014/main" id="{F6F55451-EECF-55BD-FB84-611A5BBD028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37" name="TextBox 36">
            <a:extLst>
              <a:ext uri="{FF2B5EF4-FFF2-40B4-BE49-F238E27FC236}">
                <a16:creationId xmlns:a16="http://schemas.microsoft.com/office/drawing/2014/main" id="{DD3DF69E-02F8-A552-A692-60F03BD28D8B}"/>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Tree>
    <p:extLst>
      <p:ext uri="{BB962C8B-B14F-4D97-AF65-F5344CB8AC3E}">
        <p14:creationId xmlns:p14="http://schemas.microsoft.com/office/powerpoint/2010/main" val="982258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6, 2023</a:t>
            </a:fld>
            <a:endParaRPr lang="en-VN"/>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8" name="Text Placeholder 21">
            <a:extLst>
              <a:ext uri="{FF2B5EF4-FFF2-40B4-BE49-F238E27FC236}">
                <a16:creationId xmlns:a16="http://schemas.microsoft.com/office/drawing/2014/main" id="{C6B2679F-C18F-09A3-96AB-5F2B6ACB82CA}"/>
              </a:ext>
            </a:extLst>
          </p:cNvPr>
          <p:cNvSpPr>
            <a:spLocks noGrp="1"/>
          </p:cNvSpPr>
          <p:nvPr>
            <p:ph type="body" sz="quarter" idx="19" hasCustomPrompt="1"/>
          </p:nvPr>
        </p:nvSpPr>
        <p:spPr>
          <a:xfrm>
            <a:off x="1704109" y="3019167"/>
            <a:ext cx="4583866" cy="1439258"/>
          </a:xfrm>
          <a:prstGeom prst="roundRect">
            <a:avLst>
              <a:gd name="adj" fmla="val 2631"/>
            </a:avLst>
          </a:prstGeom>
          <a:solidFill>
            <a:schemeClr val="bg1">
              <a:lumMod val="95000"/>
            </a:schemeClr>
          </a:solidFill>
          <a:ln w="19050" cap="rnd">
            <a:gradFill flip="none" rotWithShape="1">
              <a:gsLst>
                <a:gs pos="0">
                  <a:srgbClr val="00C6FF"/>
                </a:gs>
                <a:gs pos="99000">
                  <a:srgbClr val="00F7FF"/>
                </a:gs>
              </a:gsLst>
              <a:lin ang="2700000" scaled="1"/>
              <a:tileRect/>
            </a:gradFill>
          </a:ln>
        </p:spPr>
        <p:txBody>
          <a:bodyPr anchor="ctr">
            <a:normAutofit/>
          </a:bodyPr>
          <a:lstStyle>
            <a:lvl1pPr marL="1333500" indent="0">
              <a:buNone/>
              <a:tabLst/>
              <a:defRPr sz="2000" b="1" i="0">
                <a:gradFill flip="none" rotWithShape="1">
                  <a:gsLst>
                    <a:gs pos="100000">
                      <a:srgbClr val="0072FF"/>
                    </a:gs>
                    <a:gs pos="0">
                      <a:srgbClr val="00F7FF"/>
                    </a:gs>
                  </a:gsLst>
                  <a:lin ang="2700000" scaled="1"/>
                  <a:tileRect/>
                </a:gradFill>
                <a:latin typeface="Times New Roman" panose="02020603050405020304" pitchFamily="18" charset="0"/>
                <a:cs typeface="Times New Roman" panose="02020603050405020304" pitchFamily="18" charset="0"/>
              </a:defRPr>
            </a:lvl1pPr>
          </a:lstStyle>
          <a:p>
            <a:pPr lvl="0"/>
            <a:r>
              <a:rPr lang="en-VN" dirty="0"/>
              <a:t>Họ và tên</a:t>
            </a:r>
            <a:br>
              <a:rPr lang="en-VN" dirty="0"/>
            </a:br>
            <a:r>
              <a:rPr lang="en-VN" dirty="0"/>
              <a:t>Email</a:t>
            </a:r>
            <a:br>
              <a:rPr lang="en-VN" dirty="0"/>
            </a:br>
            <a:r>
              <a:rPr lang="en-VN" dirty="0"/>
              <a:t>Khoa</a:t>
            </a:r>
          </a:p>
        </p:txBody>
      </p:sp>
      <p:grpSp>
        <p:nvGrpSpPr>
          <p:cNvPr id="34" name="Group 33">
            <a:extLst>
              <a:ext uri="{FF2B5EF4-FFF2-40B4-BE49-F238E27FC236}">
                <a16:creationId xmlns:a16="http://schemas.microsoft.com/office/drawing/2014/main" id="{AF7094EB-B733-82D9-0C1A-47F50ED8DF48}"/>
              </a:ext>
            </a:extLst>
          </p:cNvPr>
          <p:cNvGrpSpPr/>
          <p:nvPr/>
        </p:nvGrpSpPr>
        <p:grpSpPr>
          <a:xfrm>
            <a:off x="-1" y="4458425"/>
            <a:ext cx="8647103" cy="664514"/>
            <a:chOff x="-349411" y="1322122"/>
            <a:chExt cx="8647103" cy="664514"/>
          </a:xfrm>
        </p:grpSpPr>
        <p:cxnSp>
          <p:nvCxnSpPr>
            <p:cNvPr id="36" name="Straight Connector 35">
              <a:extLst>
                <a:ext uri="{FF2B5EF4-FFF2-40B4-BE49-F238E27FC236}">
                  <a16:creationId xmlns:a16="http://schemas.microsoft.com/office/drawing/2014/main" id="{A42951CF-9EB0-47B4-697B-3EC7AC808EA9}"/>
                </a:ext>
              </a:extLst>
            </p:cNvPr>
            <p:cNvCxnSpPr>
              <a:cxnSpLocks/>
            </p:cNvCxnSpPr>
            <p:nvPr userDrawn="1"/>
          </p:nvCxnSpPr>
          <p:spPr>
            <a:xfrm>
              <a:off x="-349411" y="1986636"/>
              <a:ext cx="6360520"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BFAF29A-75A4-8EF7-11D9-AB3F5C16B253}"/>
                </a:ext>
              </a:extLst>
            </p:cNvPr>
            <p:cNvCxnSpPr>
              <a:cxnSpLocks/>
            </p:cNvCxnSpPr>
            <p:nvPr userDrawn="1"/>
          </p:nvCxnSpPr>
          <p:spPr>
            <a:xfrm flipV="1">
              <a:off x="6011109" y="1480500"/>
              <a:ext cx="591405" cy="506136"/>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D2D0A89-881E-F365-FCB8-0CCF88B4F092}"/>
                </a:ext>
              </a:extLst>
            </p:cNvPr>
            <p:cNvCxnSpPr>
              <a:cxnSpLocks/>
            </p:cNvCxnSpPr>
            <p:nvPr userDrawn="1"/>
          </p:nvCxnSpPr>
          <p:spPr>
            <a:xfrm>
              <a:off x="6602514" y="1480500"/>
              <a:ext cx="1378423"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8ED5AC8-396E-82A3-EA13-53B0DC1B1744}"/>
                </a:ext>
              </a:extLst>
            </p:cNvPr>
            <p:cNvSpPr/>
            <p:nvPr userDrawn="1"/>
          </p:nvSpPr>
          <p:spPr>
            <a:xfrm>
              <a:off x="7980937" y="1322122"/>
              <a:ext cx="316755" cy="316755"/>
            </a:xfrm>
            <a:prstGeom prst="ellipse">
              <a:avLst/>
            </a:prstGeom>
            <a:gradFill flip="none" rotWithShape="1">
              <a:gsLst>
                <a:gs pos="0">
                  <a:srgbClr val="00F7FF"/>
                </a:gs>
                <a:gs pos="100000">
                  <a:srgbClr val="00C6FF"/>
                </a:gs>
              </a:gsLst>
              <a:lin ang="2700000" scaled="1"/>
              <a:tileRect/>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Oval 3">
            <a:extLst>
              <a:ext uri="{FF2B5EF4-FFF2-40B4-BE49-F238E27FC236}">
                <a16:creationId xmlns:a16="http://schemas.microsoft.com/office/drawing/2014/main" id="{CD5DF290-BB09-CD5D-D16C-F337A2AE1710}"/>
              </a:ext>
            </a:extLst>
          </p:cNvPr>
          <p:cNvSpPr>
            <a:spLocks noChangeAspect="1"/>
          </p:cNvSpPr>
          <p:nvPr/>
        </p:nvSpPr>
        <p:spPr>
          <a:xfrm>
            <a:off x="796022" y="2736380"/>
            <a:ext cx="2019600" cy="2019600"/>
          </a:xfrm>
          <a:prstGeom prst="ellipse">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Picture Placeholder 3">
            <a:extLst>
              <a:ext uri="{FF2B5EF4-FFF2-40B4-BE49-F238E27FC236}">
                <a16:creationId xmlns:a16="http://schemas.microsoft.com/office/drawing/2014/main" id="{E6519316-5BE7-6687-FE60-23F1FB913498}"/>
              </a:ext>
            </a:extLst>
          </p:cNvPr>
          <p:cNvSpPr>
            <a:spLocks noGrp="1" noChangeAspect="1"/>
          </p:cNvSpPr>
          <p:nvPr>
            <p:ph type="pic" sz="quarter" idx="20" hasCustomPrompt="1"/>
          </p:nvPr>
        </p:nvSpPr>
        <p:spPr>
          <a:xfrm>
            <a:off x="690326" y="2728996"/>
            <a:ext cx="2020888" cy="2019600"/>
          </a:xfrm>
          <a:prstGeom prst="ellipse">
            <a:avLst/>
          </a:prstGeom>
          <a:solidFill>
            <a:schemeClr val="bg1"/>
          </a:solidFill>
          <a:ln w="19050">
            <a:solidFill>
              <a:srgbClr val="00F7FF"/>
            </a:solidFill>
          </a:ln>
          <a:effectLst>
            <a:outerShdw blurRad="63500" sx="102000" sy="102000" algn="ctr" rotWithShape="0">
              <a:prstClr val="black">
                <a:alpha val="40000"/>
              </a:prstClr>
            </a:outerShdw>
          </a:effectLst>
        </p:spPr>
        <p:txBody>
          <a:bodyPr anchor="ctr"/>
          <a:lstStyle>
            <a:lvl1pPr marL="0" indent="0" algn="ctr">
              <a:buNone/>
              <a:defRPr>
                <a:solidFill>
                  <a:schemeClr val="tx1"/>
                </a:solidFill>
              </a:defRPr>
            </a:lvl1pPr>
          </a:lstStyle>
          <a:p>
            <a:r>
              <a:rPr lang="en-VN" dirty="0"/>
              <a:t>Profile picture</a:t>
            </a:r>
          </a:p>
        </p:txBody>
      </p:sp>
      <p:sp>
        <p:nvSpPr>
          <p:cNvPr id="39" name="Text Placeholder 38">
            <a:extLst>
              <a:ext uri="{FF2B5EF4-FFF2-40B4-BE49-F238E27FC236}">
                <a16:creationId xmlns:a16="http://schemas.microsoft.com/office/drawing/2014/main" id="{08F295F7-595F-E903-E034-0D8FEC5E07C6}"/>
              </a:ext>
            </a:extLst>
          </p:cNvPr>
          <p:cNvSpPr>
            <a:spLocks noGrp="1"/>
          </p:cNvSpPr>
          <p:nvPr>
            <p:ph type="body" sz="quarter" idx="21" hasCustomPrompt="1"/>
          </p:nvPr>
        </p:nvSpPr>
        <p:spPr>
          <a:xfrm>
            <a:off x="2711214" y="2263753"/>
            <a:ext cx="3576761" cy="622002"/>
          </a:xfrm>
          <a:effectLst>
            <a:innerShdw blurRad="114300">
              <a:srgbClr val="00F7FF"/>
            </a:innerShdw>
          </a:effectLst>
        </p:spPr>
        <p:txBody>
          <a:bodyPr anchor="ctr">
            <a:noAutofit/>
          </a:bodyPr>
          <a:lstStyle>
            <a:lvl1pPr marL="0" indent="0" algn="r">
              <a:buNone/>
              <a:defRPr lang="en-VN" sz="36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GIẢNG VIÊN</a:t>
            </a:r>
            <a:endParaRPr lang="en-VN" dirty="0"/>
          </a:p>
        </p:txBody>
      </p:sp>
    </p:spTree>
    <p:extLst>
      <p:ext uri="{BB962C8B-B14F-4D97-AF65-F5344CB8AC3E}">
        <p14:creationId xmlns:p14="http://schemas.microsoft.com/office/powerpoint/2010/main" val="131285519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a:p>
        </p:txBody>
      </p:sp>
      <p:grpSp>
        <p:nvGrpSpPr>
          <p:cNvPr id="36" name="Group 35">
            <a:extLst>
              <a:ext uri="{FF2B5EF4-FFF2-40B4-BE49-F238E27FC236}">
                <a16:creationId xmlns:a16="http://schemas.microsoft.com/office/drawing/2014/main" id="{11E5AAB4-F14E-4F9C-E123-7635A7EF6275}"/>
              </a:ext>
            </a:extLst>
          </p:cNvPr>
          <p:cNvGrpSpPr/>
          <p:nvPr/>
        </p:nvGrpSpPr>
        <p:grpSpPr>
          <a:xfrm>
            <a:off x="-2323526"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p:nvGrpSpPr>
        <p:grpSpPr>
          <a:xfrm flipH="1">
            <a:off x="9674240"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p:nvSpPr>
        <p:spPr>
          <a:xfrm>
            <a:off x="82718"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58527"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0" name="TextBox 69">
            <a:extLst>
              <a:ext uri="{FF2B5EF4-FFF2-40B4-BE49-F238E27FC236}">
                <a16:creationId xmlns:a16="http://schemas.microsoft.com/office/drawing/2014/main" id="{03E32705-3D72-A324-09E4-62DB4F73E8B8}"/>
              </a:ext>
            </a:extLst>
          </p:cNvPr>
          <p:cNvSpPr txBox="1"/>
          <p:nvPr/>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033899" y="1559014"/>
            <a:ext cx="8124204" cy="4153664"/>
          </a:xfrm>
        </p:spPr>
        <p:txBody>
          <a:bodyPr anchor="ctr">
            <a:normAutofit/>
          </a:bodyPr>
          <a:lstStyle>
            <a:lvl1pPr marL="514350" indent="-514350" algn="just">
              <a:lnSpc>
                <a:spcPct val="130000"/>
              </a:lnSpc>
              <a:spcBef>
                <a:spcPts val="300"/>
              </a:spcBef>
              <a:spcAft>
                <a:spcPts val="300"/>
              </a:spcAft>
              <a:buFont typeface="+mj-lt"/>
              <a:buAutoNum type="arabicPeriod"/>
              <a:defRPr sz="28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6, 2023</a:t>
            </a:fld>
            <a:endParaRPr lang="en-VN"/>
          </a:p>
        </p:txBody>
      </p:sp>
      <p:sp>
        <p:nvSpPr>
          <p:cNvPr id="68" name="Text Placeholder 67">
            <a:extLst>
              <a:ext uri="{FF2B5EF4-FFF2-40B4-BE49-F238E27FC236}">
                <a16:creationId xmlns:a16="http://schemas.microsoft.com/office/drawing/2014/main" id="{F56C1099-1EF4-24C1-B5E1-A484342C74DE}"/>
              </a:ext>
            </a:extLst>
          </p:cNvPr>
          <p:cNvSpPr>
            <a:spLocks noGrp="1"/>
          </p:cNvSpPr>
          <p:nvPr>
            <p:ph type="body" sz="quarter" idx="15" hasCustomPrompt="1"/>
          </p:nvPr>
        </p:nvSpPr>
        <p:spPr>
          <a:xfrm>
            <a:off x="4859729" y="734646"/>
            <a:ext cx="2714625" cy="457200"/>
          </a:xfrm>
        </p:spPr>
        <p:txBody>
          <a:bodyPr anchor="ctr">
            <a:noAutofit/>
          </a:bodyPr>
          <a:lstStyle>
            <a:lvl1pPr marL="0" indent="0" algn="ctr">
              <a:buNone/>
              <a:defRPr sz="3600" b="1">
                <a:solidFill>
                  <a:schemeClr val="bg1"/>
                </a:solidFill>
                <a:latin typeface="Times New Roman" panose="02020603050405020304" pitchFamily="18" charset="0"/>
                <a:cs typeface="Times New Roman" panose="02020603050405020304" pitchFamily="18" charset="0"/>
              </a:defRPr>
            </a:lvl1pPr>
          </a:lstStyle>
          <a:p>
            <a:pPr lvl="0"/>
            <a:r>
              <a:rPr lang="en-VN" dirty="0"/>
              <a:t>NỘI DUNG</a:t>
            </a:r>
          </a:p>
        </p:txBody>
      </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Tree>
    <p:extLst>
      <p:ext uri="{BB962C8B-B14F-4D97-AF65-F5344CB8AC3E}">
        <p14:creationId xmlns:p14="http://schemas.microsoft.com/office/powerpoint/2010/main" val="1076716342"/>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33" name="Text Placeholder 32">
            <a:extLst>
              <a:ext uri="{FF2B5EF4-FFF2-40B4-BE49-F238E27FC236}">
                <a16:creationId xmlns:a16="http://schemas.microsoft.com/office/drawing/2014/main" id="{16FB8E2A-4378-29FE-41E3-42BAD72ADA63}"/>
              </a:ext>
            </a:extLst>
          </p:cNvPr>
          <p:cNvSpPr>
            <a:spLocks noGrp="1"/>
          </p:cNvSpPr>
          <p:nvPr>
            <p:ph type="body" sz="quarter" idx="13" hasCustomPrompt="1"/>
          </p:nvPr>
        </p:nvSpPr>
        <p:spPr>
          <a:xfrm>
            <a:off x="1470929" y="2095027"/>
            <a:ext cx="9941071"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p:ph type="body" sz="quarter" idx="14" hasCustomPrompt="1"/>
          </p:nvPr>
        </p:nvSpPr>
        <p:spPr>
          <a:xfrm>
            <a:off x="1470930" y="3169159"/>
            <a:ext cx="9941070"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x.x.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p:ph type="body" sz="quarter" idx="15" hasCustomPrompt="1"/>
          </p:nvPr>
        </p:nvSpPr>
        <p:spPr>
          <a:xfrm>
            <a:off x="1470930" y="4137397"/>
            <a:ext cx="7147030" cy="916698"/>
          </a:xfrm>
        </p:spPr>
        <p:txBody>
          <a:bodyPr anchor="t">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0x.</a:t>
            </a:r>
          </a:p>
        </p:txBody>
      </p:sp>
      <p:cxnSp>
        <p:nvCxnSpPr>
          <p:cNvPr id="41" name="Straight Connector 40">
            <a:extLst>
              <a:ext uri="{FF2B5EF4-FFF2-40B4-BE49-F238E27FC236}">
                <a16:creationId xmlns:a16="http://schemas.microsoft.com/office/drawing/2014/main" id="{88382EF5-131E-F7DD-C939-044C31C113C7}"/>
              </a:ext>
            </a:extLst>
          </p:cNvPr>
          <p:cNvCxnSpPr/>
          <p:nvPr/>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6, 2023</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4" name="Group 3">
            <a:extLst>
              <a:ext uri="{FF2B5EF4-FFF2-40B4-BE49-F238E27FC236}">
                <a16:creationId xmlns:a16="http://schemas.microsoft.com/office/drawing/2014/main" id="{B1AA7010-A78E-2DCB-8D89-28F704E05138}"/>
              </a:ext>
            </a:extLst>
          </p:cNvPr>
          <p:cNvGrpSpPr/>
          <p:nvPr/>
        </p:nvGrpSpPr>
        <p:grpSpPr>
          <a:xfrm>
            <a:off x="16026" y="4629289"/>
            <a:ext cx="434350" cy="2228711"/>
            <a:chOff x="16026" y="4629289"/>
            <a:chExt cx="434350" cy="2228711"/>
          </a:xfrm>
          <a:gradFill flip="none" rotWithShape="1">
            <a:gsLst>
              <a:gs pos="0">
                <a:srgbClr val="00F7FF"/>
              </a:gs>
              <a:gs pos="100000">
                <a:srgbClr val="00F7FF">
                  <a:alpha val="0"/>
                </a:srgbClr>
              </a:gs>
            </a:gsLst>
            <a:lin ang="16200000" scaled="1"/>
            <a:tileRect/>
          </a:gradFill>
        </p:grpSpPr>
        <p:sp>
          <p:nvSpPr>
            <p:cNvPr id="14" name="Rectangle 13">
              <a:extLst>
                <a:ext uri="{FF2B5EF4-FFF2-40B4-BE49-F238E27FC236}">
                  <a16:creationId xmlns:a16="http://schemas.microsoft.com/office/drawing/2014/main" id="{B96A6D30-76D9-ADFA-439D-D8ACD753FA68}"/>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A54932-7153-1124-6FAB-6B0BCE7F15CF}"/>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11FFE3-7A74-DE46-A817-485EEBD35CE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7189745-CA80-BAF4-D0A4-5251C5A38265}"/>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64A45EE-E6B0-E916-950B-83B5D9C719DA}"/>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5BCF47-41EA-DC9C-B39C-19996485644F}"/>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pic>
        <p:nvPicPr>
          <p:cNvPr id="8" name="Picture 7" descr="Background pattern&#10;&#10;Description automatically generated">
            <a:extLst>
              <a:ext uri="{FF2B5EF4-FFF2-40B4-BE49-F238E27FC236}">
                <a16:creationId xmlns:a16="http://schemas.microsoft.com/office/drawing/2014/main" id="{454590D3-D223-D111-DDC9-C178F64E2C0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9" name="Rectangle 8">
            <a:extLst>
              <a:ext uri="{FF2B5EF4-FFF2-40B4-BE49-F238E27FC236}">
                <a16:creationId xmlns:a16="http://schemas.microsoft.com/office/drawing/2014/main" id="{70E5A169-8FD2-7E64-01B0-F823ECD4887B}"/>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Rectangle 9">
            <a:extLst>
              <a:ext uri="{FF2B5EF4-FFF2-40B4-BE49-F238E27FC236}">
                <a16:creationId xmlns:a16="http://schemas.microsoft.com/office/drawing/2014/main" id="{6F695EFC-8882-24D9-16B7-3A691BBC8227}"/>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4A80CB-D168-F6B1-019D-A1BA8743EFA1}"/>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222C395-C5CF-A256-0302-1DFC3CF75021}"/>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18394F9-45D9-4CC1-C3F6-0DDE06EBBAB0}"/>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532C9E3-AC96-CC45-23A4-B7E3CC42A757}"/>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F1794335-E5CA-40DB-0FFD-EB73E5E78870}"/>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12">
            <a:extLst>
              <a:ext uri="{FF2B5EF4-FFF2-40B4-BE49-F238E27FC236}">
                <a16:creationId xmlns:a16="http://schemas.microsoft.com/office/drawing/2014/main" id="{9E8EC968-51AE-6CBF-0DE4-3CCE14634262}"/>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36FE83F5-5A77-5988-DE98-E9D6029A21FF}"/>
              </a:ext>
            </a:extLst>
          </p:cNvPr>
          <p:cNvGrpSpPr/>
          <p:nvPr userDrawn="1"/>
        </p:nvGrpSpPr>
        <p:grpSpPr>
          <a:xfrm>
            <a:off x="58527" y="40944"/>
            <a:ext cx="2869771" cy="1563379"/>
            <a:chOff x="44879" y="27296"/>
            <a:chExt cx="2869771" cy="1563379"/>
          </a:xfrm>
          <a:solidFill>
            <a:srgbClr val="0072FF"/>
          </a:solidFill>
        </p:grpSpPr>
        <p:cxnSp>
          <p:nvCxnSpPr>
            <p:cNvPr id="40" name="Straight Connector 39">
              <a:extLst>
                <a:ext uri="{FF2B5EF4-FFF2-40B4-BE49-F238E27FC236}">
                  <a16:creationId xmlns:a16="http://schemas.microsoft.com/office/drawing/2014/main" id="{99484CBD-3153-5EFA-6895-9F3720ABA15D}"/>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BC61B7E-06B4-61B2-7899-D933F897EC29}"/>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7B76A29-4A7E-71B1-FC5E-30AA4F3F894C}"/>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44" name="Isosceles Triangle 12">
            <a:extLst>
              <a:ext uri="{FF2B5EF4-FFF2-40B4-BE49-F238E27FC236}">
                <a16:creationId xmlns:a16="http://schemas.microsoft.com/office/drawing/2014/main" id="{AA999593-FE15-92AD-6A42-252D8633BEDA}"/>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F53E54AB-8AA9-90EC-D7EB-9A46EE202069}"/>
              </a:ext>
            </a:extLst>
          </p:cNvPr>
          <p:cNvGrpSpPr/>
          <p:nvPr userDrawn="1"/>
        </p:nvGrpSpPr>
        <p:grpSpPr>
          <a:xfrm flipH="1" flipV="1">
            <a:off x="9263702" y="5253677"/>
            <a:ext cx="2869771" cy="1563379"/>
            <a:chOff x="44879" y="27296"/>
            <a:chExt cx="2869771" cy="1563379"/>
          </a:xfrm>
          <a:solidFill>
            <a:srgbClr val="0072FF"/>
          </a:solidFill>
        </p:grpSpPr>
        <p:cxnSp>
          <p:nvCxnSpPr>
            <p:cNvPr id="46" name="Straight Connector 45">
              <a:extLst>
                <a:ext uri="{FF2B5EF4-FFF2-40B4-BE49-F238E27FC236}">
                  <a16:creationId xmlns:a16="http://schemas.microsoft.com/office/drawing/2014/main" id="{4AC14621-C3FB-0CD5-10D1-C0706C08FFD9}"/>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019E15A-B9E9-D926-BEF7-777531FEEB35}"/>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E21930C-BD47-B094-A5C4-E278D6A7129A}"/>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49" name="Freeform 30">
            <a:extLst>
              <a:ext uri="{FF2B5EF4-FFF2-40B4-BE49-F238E27FC236}">
                <a16:creationId xmlns:a16="http://schemas.microsoft.com/office/drawing/2014/main" id="{2C91AEF4-92CD-657A-C1E9-765BCB1E0FDD}"/>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0" name="Slide Number Placeholder 4">
            <a:extLst>
              <a:ext uri="{FF2B5EF4-FFF2-40B4-BE49-F238E27FC236}">
                <a16:creationId xmlns:a16="http://schemas.microsoft.com/office/drawing/2014/main" id="{23509F80-DEF4-8754-EA3E-C9E27C93FFC4}"/>
              </a:ext>
            </a:extLst>
          </p:cNvPr>
          <p:cNvSpPr>
            <a:spLocks noGrp="1"/>
          </p:cNvSpPr>
          <p:nvPr>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1" name="Text Placeholder 32">
            <a:extLst>
              <a:ext uri="{FF2B5EF4-FFF2-40B4-BE49-F238E27FC236}">
                <a16:creationId xmlns:a16="http://schemas.microsoft.com/office/drawing/2014/main" id="{3D01D6CA-C151-D34A-1A62-79877D6652BE}"/>
              </a:ext>
            </a:extLst>
          </p:cNvPr>
          <p:cNvSpPr>
            <a:spLocks noGrp="1"/>
          </p:cNvSpPr>
          <p:nvPr>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52" name="Text Placeholder 34">
            <a:extLst>
              <a:ext uri="{FF2B5EF4-FFF2-40B4-BE49-F238E27FC236}">
                <a16:creationId xmlns:a16="http://schemas.microsoft.com/office/drawing/2014/main" id="{2D1E19D2-70F6-EE1D-C81F-D820ED9ED042}"/>
              </a:ext>
            </a:extLst>
          </p:cNvPr>
          <p:cNvSpPr>
            <a:spLocks noGrp="1"/>
          </p:cNvSpPr>
          <p:nvPr>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53" name="Text Placeholder 36">
            <a:extLst>
              <a:ext uri="{FF2B5EF4-FFF2-40B4-BE49-F238E27FC236}">
                <a16:creationId xmlns:a16="http://schemas.microsoft.com/office/drawing/2014/main" id="{7DECC624-0F73-D0C9-37C6-71D525088A42}"/>
              </a:ext>
            </a:extLst>
          </p:cNvPr>
          <p:cNvSpPr>
            <a:spLocks noGrp="1"/>
          </p:cNvSpPr>
          <p:nvPr>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cxnSp>
        <p:nvCxnSpPr>
          <p:cNvPr id="54" name="Straight Connector 53">
            <a:extLst>
              <a:ext uri="{FF2B5EF4-FFF2-40B4-BE49-F238E27FC236}">
                <a16:creationId xmlns:a16="http://schemas.microsoft.com/office/drawing/2014/main" id="{9C1D13BF-D4BD-EE27-1B78-FD2EAB08FCB6}"/>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9751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i dung">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5" y="1233824"/>
            <a:ext cx="10579654"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6,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66493295"/>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 sanh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233825"/>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6,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228490"/>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itle 1">
            <a:extLst>
              <a:ext uri="{FF2B5EF4-FFF2-40B4-BE49-F238E27FC236}">
                <a16:creationId xmlns:a16="http://schemas.microsoft.com/office/drawing/2014/main" id="{187D36B1-517A-D556-9184-ED466900A8D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1218712001"/>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 sanh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962615"/>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6,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957280"/>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ext Placeholder 14">
            <a:extLst>
              <a:ext uri="{FF2B5EF4-FFF2-40B4-BE49-F238E27FC236}">
                <a16:creationId xmlns:a16="http://schemas.microsoft.com/office/drawing/2014/main" id="{EDF1C539-8AC9-C464-0C2F-4D728615840B}"/>
              </a:ext>
            </a:extLst>
          </p:cNvPr>
          <p:cNvSpPr>
            <a:spLocks noGrp="1"/>
          </p:cNvSpPr>
          <p:nvPr>
            <p:ph type="body" sz="quarter" idx="16" hasCustomPrompt="1"/>
          </p:nvPr>
        </p:nvSpPr>
        <p:spPr>
          <a:xfrm>
            <a:off x="774144"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1</a:t>
            </a:r>
          </a:p>
        </p:txBody>
      </p:sp>
      <p:sp>
        <p:nvSpPr>
          <p:cNvPr id="19" name="Text Placeholder 14">
            <a:extLst>
              <a:ext uri="{FF2B5EF4-FFF2-40B4-BE49-F238E27FC236}">
                <a16:creationId xmlns:a16="http://schemas.microsoft.com/office/drawing/2014/main" id="{F0714139-C59C-330B-707A-90AA2C2D1C7D}"/>
              </a:ext>
            </a:extLst>
          </p:cNvPr>
          <p:cNvSpPr>
            <a:spLocks noGrp="1"/>
          </p:cNvSpPr>
          <p:nvPr>
            <p:ph type="body" sz="quarter" idx="17" hasCustomPrompt="1"/>
          </p:nvPr>
        </p:nvSpPr>
        <p:spPr>
          <a:xfrm>
            <a:off x="6151006"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2</a:t>
            </a:r>
          </a:p>
        </p:txBody>
      </p:sp>
      <p:sp>
        <p:nvSpPr>
          <p:cNvPr id="29" name="Title 1">
            <a:extLst>
              <a:ext uri="{FF2B5EF4-FFF2-40B4-BE49-F238E27FC236}">
                <a16:creationId xmlns:a16="http://schemas.microsoft.com/office/drawing/2014/main" id="{6AE4A723-09B9-08FA-D05B-D53CF4EB2CA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61768568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oi dung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6,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5085934" y="202009"/>
            <a:ext cx="6267866" cy="5969620"/>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Tree>
    <p:extLst>
      <p:ext uri="{BB962C8B-B14F-4D97-AF65-F5344CB8AC3E}">
        <p14:creationId xmlns:p14="http://schemas.microsoft.com/office/powerpoint/2010/main" val="2086896298"/>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ình ảnh">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6, 2023</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5" name="Picture Placeholder 14">
            <a:extLst>
              <a:ext uri="{FF2B5EF4-FFF2-40B4-BE49-F238E27FC236}">
                <a16:creationId xmlns:a16="http://schemas.microsoft.com/office/drawing/2014/main" id="{9AE9790B-4A7F-B016-57E9-8F5F385CF84E}"/>
              </a:ext>
            </a:extLst>
          </p:cNvPr>
          <p:cNvSpPr>
            <a:spLocks noGrp="1"/>
          </p:cNvSpPr>
          <p:nvPr>
            <p:ph type="pic" sz="quarter" idx="14" hasCustomPrompt="1"/>
          </p:nvPr>
        </p:nvSpPr>
        <p:spPr>
          <a:xfrm>
            <a:off x="5160373" y="202009"/>
            <a:ext cx="6237261" cy="5976999"/>
          </a:xfrm>
          <a:prstGeom prst="roundRect">
            <a:avLst>
              <a:gd name="adj" fmla="val 574"/>
            </a:avLst>
          </a:prstGeom>
        </p:spPr>
        <p:txBody>
          <a:bodyPr/>
          <a:lstStyle>
            <a:lvl1pPr>
              <a:lnSpc>
                <a:spcPct val="130000"/>
              </a:lnSpc>
              <a:spcBef>
                <a:spcPts val="300"/>
              </a:spcBef>
              <a:spcAft>
                <a:spcPts val="300"/>
              </a:spcAft>
              <a:defRPr>
                <a:latin typeface="Arial" panose="020B0604020202020204" pitchFamily="34" charset="0"/>
                <a:cs typeface="Arial" panose="020B0604020202020204" pitchFamily="34" charset="0"/>
              </a:defRPr>
            </a:lvl1pPr>
          </a:lstStyle>
          <a:p>
            <a:r>
              <a:rPr lang="en-VN" dirty="0"/>
              <a:t>Hình ảnh</a:t>
            </a:r>
          </a:p>
        </p:txBody>
      </p:sp>
    </p:spTree>
    <p:extLst>
      <p:ext uri="{BB962C8B-B14F-4D97-AF65-F5344CB8AC3E}">
        <p14:creationId xmlns:p14="http://schemas.microsoft.com/office/powerpoint/2010/main" val="60489799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ang trong 1">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8EDBFE5-F6A7-D377-B524-2A5E293A8580}"/>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71" name="Footer Placeholder 4">
            <a:extLst>
              <a:ext uri="{FF2B5EF4-FFF2-40B4-BE49-F238E27FC236}">
                <a16:creationId xmlns:a16="http://schemas.microsoft.com/office/drawing/2014/main" id="{AAAD69AF-EC8B-72EE-4E78-98A3BACFC70B}"/>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72" name="Date Placeholder 3">
            <a:extLst>
              <a:ext uri="{FF2B5EF4-FFF2-40B4-BE49-F238E27FC236}">
                <a16:creationId xmlns:a16="http://schemas.microsoft.com/office/drawing/2014/main" id="{E08B9789-E935-79BF-7612-287E195CA82E}"/>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September 6, 2023</a:t>
            </a:fld>
            <a:endParaRPr lang="en-VN"/>
          </a:p>
        </p:txBody>
      </p:sp>
    </p:spTree>
    <p:extLst>
      <p:ext uri="{BB962C8B-B14F-4D97-AF65-F5344CB8AC3E}">
        <p14:creationId xmlns:p14="http://schemas.microsoft.com/office/powerpoint/2010/main" val="3175671794"/>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rang trong 2">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1CB305D-8829-8A5C-C77A-F06CC22D3171}"/>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9B213357-208D-5A7C-6EC3-620968ABB590}"/>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285491929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US" sz="3600" b="1">
                <a:solidFill>
                  <a:schemeClr val="bg1"/>
                </a:solidFill>
                <a:latin typeface="Times New Roman" panose="02020603050405020304" pitchFamily="18" charset="0"/>
                <a:cs typeface="Times New Roman" panose="02020603050405020304" pitchFamily="18" charset="0"/>
              </a:rPr>
              <a:t>MỤC TIÊU</a:t>
            </a: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6, 2023</a:t>
            </a:fld>
            <a:endParaRPr lang="en-US" dirty="0"/>
          </a:p>
        </p:txBody>
      </p:sp>
    </p:spTree>
    <p:extLst>
      <p:ext uri="{BB962C8B-B14F-4D97-AF65-F5344CB8AC3E}">
        <p14:creationId xmlns:p14="http://schemas.microsoft.com/office/powerpoint/2010/main" val="3095316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50A66F8-E091-9C03-CD6B-317D0180ADDD}"/>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A5F01B-1418-7515-A2D9-40BE42BE32BD}"/>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A161D7-9C70-83EF-EE51-E59464E9FF79}"/>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4F566-E8F9-197C-FC4C-0E96F2163AA2}"/>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0CF87-B708-06C0-11BA-20052748E49F}"/>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2E2ADF-9658-9B1B-7EA8-E37B1FC3CB4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48BE0DC-C12B-7B32-5521-E1BCC5CB89B7}"/>
              </a:ext>
            </a:extLst>
          </p:cNvPr>
          <p:cNvSpPr/>
          <p:nvPr/>
        </p:nvSpPr>
        <p:spPr>
          <a:xfrm>
            <a:off x="1192873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01.</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8382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6, 2023</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3677478"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2441479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Trang trốn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CF4205-FE69-B110-BFEC-96C243E846C8}"/>
              </a:ext>
            </a:extLst>
          </p:cNvPr>
          <p:cNvSpPr>
            <a:spLocks noGrp="1"/>
          </p:cNvSpPr>
          <p:nvPr>
            <p:ph type="ftr" sz="quarter" idx="11"/>
          </p:nvPr>
        </p:nvSpPr>
        <p:spPr>
          <a:xfrm>
            <a:off x="3684104" y="6481647"/>
            <a:ext cx="482379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5" name="Freeform 4">
            <a:extLst>
              <a:ext uri="{FF2B5EF4-FFF2-40B4-BE49-F238E27FC236}">
                <a16:creationId xmlns:a16="http://schemas.microsoft.com/office/drawing/2014/main" id="{7B001B7A-ACFD-E95F-12D9-19AAE5D26050}"/>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Isosceles Triangle 12">
            <a:extLst>
              <a:ext uri="{FF2B5EF4-FFF2-40B4-BE49-F238E27FC236}">
                <a16:creationId xmlns:a16="http://schemas.microsoft.com/office/drawing/2014/main" id="{EC54FC6D-4EA2-05B8-622E-978CA44EE451}"/>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86BFCC2-A4FC-FD21-E540-274D8A5E86A6}"/>
              </a:ext>
            </a:extLst>
          </p:cNvPr>
          <p:cNvGrpSpPr/>
          <p:nvPr userDrawn="1"/>
        </p:nvGrpSpPr>
        <p:grpSpPr>
          <a:xfrm>
            <a:off x="58527" y="40944"/>
            <a:ext cx="2869771" cy="1563379"/>
            <a:chOff x="44879" y="27296"/>
            <a:chExt cx="2869771" cy="1563379"/>
          </a:xfrm>
          <a:solidFill>
            <a:srgbClr val="0072FF"/>
          </a:solidFill>
        </p:grpSpPr>
        <p:cxnSp>
          <p:nvCxnSpPr>
            <p:cNvPr id="8" name="Straight Connector 7">
              <a:extLst>
                <a:ext uri="{FF2B5EF4-FFF2-40B4-BE49-F238E27FC236}">
                  <a16:creationId xmlns:a16="http://schemas.microsoft.com/office/drawing/2014/main" id="{FE02FF7A-C97B-6315-EE50-502DD70172C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8E8B-5D54-0BE8-2B45-A52136DC7C1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6865F1-6407-106A-3054-46BDFFCABBC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1" name="Isosceles Triangle 12">
            <a:extLst>
              <a:ext uri="{FF2B5EF4-FFF2-40B4-BE49-F238E27FC236}">
                <a16:creationId xmlns:a16="http://schemas.microsoft.com/office/drawing/2014/main" id="{F7A0C3F8-4035-744F-55A7-EA06C1D5C7E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C9E4668-1010-687F-A942-6C4D5A705103}"/>
              </a:ext>
            </a:extLst>
          </p:cNvPr>
          <p:cNvGrpSpPr/>
          <p:nvPr userDrawn="1"/>
        </p:nvGrpSpPr>
        <p:grpSpPr>
          <a:xfrm flipH="1" flipV="1">
            <a:off x="9263702" y="5253677"/>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5C38CE8D-69BB-4124-0995-8FFFD3591CF4}"/>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7A915F-DF8B-DE38-6935-2EF2855BD44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EE0435-0ACC-2AB8-1B9F-A6029A49FCEA}"/>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6" name="Oval 15">
            <a:extLst>
              <a:ext uri="{FF2B5EF4-FFF2-40B4-BE49-F238E27FC236}">
                <a16:creationId xmlns:a16="http://schemas.microsoft.com/office/drawing/2014/main" id="{193E2330-6133-BE87-4D2E-C83A58844D20}"/>
              </a:ext>
            </a:extLst>
          </p:cNvPr>
          <p:cNvSpPr/>
          <p:nvPr userDrawn="1"/>
        </p:nvSpPr>
        <p:spPr>
          <a:xfrm>
            <a:off x="11926541" y="6589084"/>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037ACE3-8FB7-24F0-3868-FE9125A2AECB}"/>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A5D02D-0007-4DC9-960D-BEF3BFABF7BF}"/>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C732A1-B62D-CEEA-BA05-6809BA51F8BD}"/>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4BF2B8-4151-6AB5-64CB-17CA8871FA1F}"/>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AEE115-474E-0C83-1F8A-40C90DC3E1A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BB15EA-009D-0AD0-1DD5-9E5E43B737E1}"/>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clipart, vector graphics&#10;&#10;Description automatically generated">
            <a:extLst>
              <a:ext uri="{FF2B5EF4-FFF2-40B4-BE49-F238E27FC236}">
                <a16:creationId xmlns:a16="http://schemas.microsoft.com/office/drawing/2014/main" id="{0750E473-BE75-9843-7989-024278E0E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Slide Number Placeholder 3">
            <a:extLst>
              <a:ext uri="{FF2B5EF4-FFF2-40B4-BE49-F238E27FC236}">
                <a16:creationId xmlns:a16="http://schemas.microsoft.com/office/drawing/2014/main" id="{807543E0-8536-7E05-8D77-79C6CEA07DB9}"/>
              </a:ext>
            </a:extLst>
          </p:cNvPr>
          <p:cNvSpPr>
            <a:spLocks noGrp="1"/>
          </p:cNvSpPr>
          <p:nvPr>
            <p:ph type="sldNum" sz="quarter" idx="12"/>
          </p:nvPr>
        </p:nvSpPr>
        <p:spPr>
          <a:xfrm>
            <a:off x="11897699" y="6560242"/>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 name="Date Placeholder 1">
            <a:extLst>
              <a:ext uri="{FF2B5EF4-FFF2-40B4-BE49-F238E27FC236}">
                <a16:creationId xmlns:a16="http://schemas.microsoft.com/office/drawing/2014/main" id="{90AD0C70-2015-36A0-DCB1-0E2322D0D364}"/>
              </a:ext>
            </a:extLst>
          </p:cNvPr>
          <p:cNvSpPr>
            <a:spLocks noGrp="1"/>
          </p:cNvSpPr>
          <p:nvPr>
            <p:ph type="dt" sz="half" idx="13"/>
          </p:nvPr>
        </p:nvSpPr>
        <p:spPr>
          <a:xfrm>
            <a:off x="838200" y="6481647"/>
            <a:ext cx="2148299"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6, 2023</a:t>
            </a:fld>
            <a:endParaRPr lang="en-US" dirty="0"/>
          </a:p>
        </p:txBody>
      </p:sp>
    </p:spTree>
    <p:extLst>
      <p:ext uri="{BB962C8B-B14F-4D97-AF65-F5344CB8AC3E}">
        <p14:creationId xmlns:p14="http://schemas.microsoft.com/office/powerpoint/2010/main" val="3977742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11894359" y="6566401"/>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gradFill>
                    <a:gsLst>
                      <a:gs pos="0">
                        <a:srgbClr val="000046"/>
                      </a:gs>
                      <a:gs pos="100000">
                        <a:srgbClr val="1CB5E0"/>
                      </a:gs>
                    </a:gsLst>
                    <a:lin ang="5400000" scaled="1"/>
                  </a:gradFill>
                </a:ln>
                <a:no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rmAutofit/>
          </a:bodyPr>
          <a:lstStyle>
            <a:lvl1pPr marL="0" indent="0" algn="ctr" defTabSz="914400" rtl="0" eaLnBrk="1" latinLnBrk="0" hangingPunct="1">
              <a:buNone/>
              <a:defRPr lang="en-VN" sz="20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7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6, 2023</a:t>
            </a:fld>
            <a:endParaRPr lang="en-US" dirty="0"/>
          </a:p>
        </p:txBody>
      </p:sp>
    </p:spTree>
    <p:extLst>
      <p:ext uri="{BB962C8B-B14F-4D97-AF65-F5344CB8AC3E}">
        <p14:creationId xmlns:p14="http://schemas.microsoft.com/office/powerpoint/2010/main" val="36952346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VN" sz="3600" b="1" dirty="0">
                <a:solidFill>
                  <a:schemeClr val="bg1"/>
                </a:solidFill>
                <a:latin typeface="Times New Roman" panose="02020603050405020304" pitchFamily="18" charset="0"/>
                <a:cs typeface="Times New Roman" panose="02020603050405020304" pitchFamily="18" charset="0"/>
              </a:rPr>
              <a:t>NỘI DUNG</a:t>
            </a: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September 6, 2023</a:t>
            </a:fld>
            <a:endParaRPr lang="en-US" dirty="0"/>
          </a:p>
        </p:txBody>
      </p:sp>
    </p:spTree>
    <p:extLst>
      <p:ext uri="{BB962C8B-B14F-4D97-AF65-F5344CB8AC3E}">
        <p14:creationId xmlns:p14="http://schemas.microsoft.com/office/powerpoint/2010/main" val="1027483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DDB1B-AAE9-1649-A755-11FADEB7E97E}" type="datetime4">
              <a:rPr lang="en-US" smtClean="0"/>
              <a:t>September 6, 2023</a:t>
            </a:fld>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2267162931"/>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49" r:id="rId15"/>
    <p:sldLayoutId id="2147483664" r:id="rId16"/>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normAutofit fontScale="77500" lnSpcReduction="20000"/>
          </a:bodyPr>
          <a:lstStyle/>
          <a:p>
            <a:r>
              <a:rPr lang="en-US"/>
              <a:t>TỔ CHỨC VÀ CẤU TRÚC MÁY TÍNH II</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a:xfrm>
            <a:off x="876990" y="3062315"/>
            <a:ext cx="10438019" cy="459447"/>
          </a:xfrm>
        </p:spPr>
        <p:txBody>
          <a:bodyPr/>
          <a:lstStyle/>
          <a:p>
            <a:r>
              <a:rPr lang="en-US"/>
              <a:t>CHƯƠNG 9: HIỆU SUẤT MÁY TÍNH</a:t>
            </a:r>
            <a:endParaRPr lang="en-VN" dirty="0"/>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p:txBody>
          <a:bodyPr/>
          <a:lstStyle/>
          <a:p>
            <a:r>
              <a:rPr lang="en-US"/>
              <a:t>PHAN ĐÌNH DUY</a:t>
            </a:r>
            <a:endParaRPr lang="en-VN"/>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a:t>Trình bày các thông tin cơ bản về hiệu suất máy tính, các phương pháp để tính hiệu suất máy tính, các yếu tố ảnh hưởng đến hiệu suất máy tính và giải pháp để nâng cao hiệu suất.</a:t>
            </a:r>
            <a:endParaRPr lang="en-VN"/>
          </a:p>
        </p:txBody>
      </p:sp>
    </p:spTree>
    <p:extLst>
      <p:ext uri="{BB962C8B-B14F-4D97-AF65-F5344CB8AC3E}">
        <p14:creationId xmlns:p14="http://schemas.microsoft.com/office/powerpoint/2010/main" val="298065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
        <p:nvSpPr>
          <p:cNvPr id="3" name="Text Placeholder 2">
            <a:extLst>
              <a:ext uri="{FF2B5EF4-FFF2-40B4-BE49-F238E27FC236}">
                <a16:creationId xmlns:a16="http://schemas.microsoft.com/office/drawing/2014/main" id="{2B4CC069-E19E-B22C-6D85-1188A3E8F06F}"/>
              </a:ext>
            </a:extLst>
          </p:cNvPr>
          <p:cNvSpPr>
            <a:spLocks noGrp="1"/>
          </p:cNvSpPr>
          <p:nvPr>
            <p:ph type="body" sz="quarter" idx="13"/>
          </p:nvPr>
        </p:nvSpPr>
        <p:spPr/>
        <p:txBody>
          <a:bodyPr/>
          <a:lstStyle/>
          <a:p>
            <a:r>
              <a:rPr lang="en-US" sz="2800"/>
              <a:t>Trình bày </a:t>
            </a:r>
            <a:r>
              <a:rPr lang="en-US" sz="2800" dirty="0" err="1"/>
              <a:t>được</a:t>
            </a:r>
            <a:r>
              <a:rPr lang="en-US" sz="2800" dirty="0"/>
              <a:t> </a:t>
            </a:r>
            <a:r>
              <a:rPr lang="en-US" sz="2800" err="1"/>
              <a:t>các</a:t>
            </a:r>
            <a:r>
              <a:rPr lang="en-US" sz="2800"/>
              <a:t> thông số liên quan đến hiệu suất</a:t>
            </a:r>
          </a:p>
          <a:p>
            <a:r>
              <a:rPr lang="en-US" sz="2800"/>
              <a:t>Hiện thực được các bài toán về tính hoặc so sánh hiệu suất của bộ xử lý</a:t>
            </a:r>
            <a:endParaRPr lang="en-US" sz="2800" dirty="0"/>
          </a:p>
        </p:txBody>
      </p:sp>
    </p:spTree>
    <p:extLst>
      <p:ext uri="{BB962C8B-B14F-4D97-AF65-F5344CB8AC3E}">
        <p14:creationId xmlns:p14="http://schemas.microsoft.com/office/powerpoint/2010/main" val="275992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
        <p:nvSpPr>
          <p:cNvPr id="5" name="Text Placeholder 4">
            <a:extLst>
              <a:ext uri="{FF2B5EF4-FFF2-40B4-BE49-F238E27FC236}">
                <a16:creationId xmlns:a16="http://schemas.microsoft.com/office/drawing/2014/main" id="{CFBD77E0-7814-E542-0144-95AEF5C06AD5}"/>
              </a:ext>
            </a:extLst>
          </p:cNvPr>
          <p:cNvSpPr>
            <a:spLocks noGrp="1"/>
          </p:cNvSpPr>
          <p:nvPr>
            <p:ph type="body" sz="quarter" idx="13"/>
          </p:nvPr>
        </p:nvSpPr>
        <p:spPr/>
        <p:txBody>
          <a:bodyPr/>
          <a:lstStyle/>
          <a:p>
            <a:pPr>
              <a:lnSpc>
                <a:spcPct val="150000"/>
              </a:lnSpc>
            </a:pPr>
            <a:r>
              <a:rPr lang="en-US" sz="2800" dirty="0" err="1"/>
              <a:t>Thời</a:t>
            </a:r>
            <a:r>
              <a:rPr lang="en-US" sz="2800" dirty="0"/>
              <a:t> </a:t>
            </a:r>
            <a:r>
              <a:rPr lang="en-US" sz="2800" dirty="0" err="1"/>
              <a:t>gian</a:t>
            </a:r>
            <a:r>
              <a:rPr lang="en-US" sz="2800" dirty="0"/>
              <a:t> </a:t>
            </a:r>
            <a:r>
              <a:rPr lang="en-US" sz="2800" dirty="0" err="1"/>
              <a:t>thực</a:t>
            </a:r>
            <a:r>
              <a:rPr lang="en-US" sz="2800" dirty="0"/>
              <a:t> </a:t>
            </a:r>
            <a:r>
              <a:rPr lang="en-US" sz="2800" dirty="0" err="1"/>
              <a:t>thi</a:t>
            </a:r>
            <a:r>
              <a:rPr lang="en-US" sz="2800" dirty="0"/>
              <a:t> </a:t>
            </a:r>
            <a:r>
              <a:rPr lang="en-US" sz="2800" dirty="0" err="1"/>
              <a:t>và</a:t>
            </a:r>
            <a:r>
              <a:rPr lang="en-US" sz="2800" dirty="0"/>
              <a:t> </a:t>
            </a:r>
            <a:r>
              <a:rPr lang="en-US" sz="2800" dirty="0" err="1"/>
              <a:t>hiệu</a:t>
            </a:r>
            <a:r>
              <a:rPr lang="en-US" sz="2800" dirty="0"/>
              <a:t> </a:t>
            </a:r>
            <a:r>
              <a:rPr lang="en-US" sz="2800" dirty="0" err="1"/>
              <a:t>suất</a:t>
            </a:r>
            <a:endParaRPr lang="en-US" sz="2800" dirty="0"/>
          </a:p>
          <a:p>
            <a:pPr>
              <a:lnSpc>
                <a:spcPct val="150000"/>
              </a:lnSpc>
            </a:pPr>
            <a:r>
              <a:rPr lang="en-US" sz="2800" dirty="0"/>
              <a:t>Clock</a:t>
            </a:r>
          </a:p>
          <a:p>
            <a:pPr>
              <a:lnSpc>
                <a:spcPct val="150000"/>
              </a:lnSpc>
            </a:pPr>
            <a:r>
              <a:rPr lang="en-US" sz="2800" dirty="0"/>
              <a:t>CPI</a:t>
            </a:r>
          </a:p>
          <a:p>
            <a:pPr>
              <a:lnSpc>
                <a:spcPct val="150000"/>
              </a:lnSpc>
            </a:pPr>
            <a:r>
              <a:rPr lang="en-US" sz="2800" dirty="0" err="1"/>
              <a:t>Tính</a:t>
            </a:r>
            <a:r>
              <a:rPr lang="en-US" sz="2800" dirty="0"/>
              <a:t> </a:t>
            </a:r>
            <a:r>
              <a:rPr lang="en-US" sz="2800" err="1"/>
              <a:t>hiệu</a:t>
            </a:r>
            <a:r>
              <a:rPr lang="en-US" sz="2800"/>
              <a:t> </a:t>
            </a:r>
            <a:r>
              <a:rPr lang="en-US" sz="2800" dirty="0"/>
              <a:t>s</a:t>
            </a:r>
            <a:r>
              <a:rPr lang="en-US" sz="2800"/>
              <a:t>uất </a:t>
            </a:r>
            <a:r>
              <a:rPr lang="en-US" sz="2800" dirty="0" err="1"/>
              <a:t>theo</a:t>
            </a:r>
            <a:r>
              <a:rPr lang="en-US" sz="2800" dirty="0"/>
              <a:t> IPS/MIPS</a:t>
            </a:r>
          </a:p>
          <a:p>
            <a:pPr>
              <a:lnSpc>
                <a:spcPct val="150000"/>
              </a:lnSpc>
            </a:pPr>
            <a:r>
              <a:rPr lang="en-US" sz="2800" dirty="0" err="1"/>
              <a:t>Các</a:t>
            </a:r>
            <a:r>
              <a:rPr lang="en-US" sz="2800" dirty="0"/>
              <a:t> </a:t>
            </a:r>
            <a:r>
              <a:rPr lang="en-US" sz="2800" dirty="0" err="1"/>
              <a:t>kỹ</a:t>
            </a:r>
            <a:r>
              <a:rPr lang="en-US" sz="2800" dirty="0"/>
              <a:t> </a:t>
            </a:r>
            <a:r>
              <a:rPr lang="en-US" sz="2800" dirty="0" err="1"/>
              <a:t>thuật</a:t>
            </a:r>
            <a:r>
              <a:rPr lang="en-US" sz="2800" dirty="0"/>
              <a:t> </a:t>
            </a:r>
            <a:r>
              <a:rPr lang="en-US" sz="2800" dirty="0" err="1"/>
              <a:t>nâng</a:t>
            </a:r>
            <a:r>
              <a:rPr lang="en-US" sz="2800" dirty="0"/>
              <a:t> </a:t>
            </a:r>
            <a:r>
              <a:rPr lang="en-US" sz="2800" dirty="0" err="1"/>
              <a:t>cao</a:t>
            </a:r>
            <a:r>
              <a:rPr lang="en-US" sz="2800" dirty="0"/>
              <a:t> </a:t>
            </a:r>
            <a:r>
              <a:rPr lang="en-US" sz="2800" dirty="0" err="1"/>
              <a:t>hiệu</a:t>
            </a:r>
            <a:r>
              <a:rPr lang="en-US" sz="2800" dirty="0"/>
              <a:t> </a:t>
            </a:r>
            <a:r>
              <a:rPr lang="en-US" sz="2800" dirty="0" err="1"/>
              <a:t>suất</a:t>
            </a:r>
            <a:endParaRPr lang="en-US" sz="2800" dirty="0"/>
          </a:p>
        </p:txBody>
      </p:sp>
    </p:spTree>
    <p:extLst>
      <p:ext uri="{BB962C8B-B14F-4D97-AF65-F5344CB8AC3E}">
        <p14:creationId xmlns:p14="http://schemas.microsoft.com/office/powerpoint/2010/main" val="221905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333471" cy="884656"/>
          </a:xfrm>
        </p:spPr>
        <p:txBody>
          <a:bodyPr>
            <a:normAutofit fontScale="85000" lnSpcReduction="10000"/>
          </a:bodyPr>
          <a:lstStyle/>
          <a:p>
            <a:pPr>
              <a:lnSpc>
                <a:spcPct val="150000"/>
              </a:lnSpc>
            </a:pPr>
            <a:r>
              <a:rPr lang="en-US" dirty="0"/>
              <a:t>1. </a:t>
            </a:r>
            <a:r>
              <a:rPr lang="en-US" dirty="0" err="1"/>
              <a:t>Thời</a:t>
            </a:r>
            <a:r>
              <a:rPr lang="en-US" dirty="0"/>
              <a:t> </a:t>
            </a:r>
            <a:r>
              <a:rPr lang="en-US" dirty="0" err="1"/>
              <a:t>gian</a:t>
            </a:r>
            <a:r>
              <a:rPr lang="en-US" dirty="0"/>
              <a:t> </a:t>
            </a:r>
            <a:r>
              <a:rPr lang="en-US" dirty="0" err="1"/>
              <a:t>thực</a:t>
            </a:r>
            <a:r>
              <a:rPr lang="en-US" dirty="0"/>
              <a:t> </a:t>
            </a:r>
            <a:r>
              <a:rPr lang="en-US" dirty="0" err="1"/>
              <a:t>thi</a:t>
            </a:r>
            <a:r>
              <a:rPr lang="en-US" dirty="0"/>
              <a:t> </a:t>
            </a:r>
            <a:r>
              <a:rPr lang="en-US" dirty="0" err="1"/>
              <a:t>và</a:t>
            </a:r>
            <a:r>
              <a:rPr lang="en-US" dirty="0"/>
              <a:t> </a:t>
            </a:r>
            <a:r>
              <a:rPr lang="en-US" dirty="0" err="1"/>
              <a:t>hiệu</a:t>
            </a:r>
            <a:r>
              <a:rPr lang="en-US" dirty="0"/>
              <a:t> </a:t>
            </a:r>
            <a:r>
              <a:rPr lang="en-US" dirty="0" err="1"/>
              <a:t>suất</a:t>
            </a:r>
            <a:endParaRPr lang="en-US" sz="4400"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1704568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a:t>Thời gian thực thi và hiệu suất</a:t>
            </a:r>
            <a:endParaRPr lang="en-US" sz="40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pPr algn="just"/>
            <a:r>
              <a:rPr lang="en-US" dirty="0" err="1"/>
              <a:t>Thời</a:t>
            </a:r>
            <a:r>
              <a:rPr lang="en-US" dirty="0"/>
              <a:t> </a:t>
            </a:r>
            <a:r>
              <a:rPr lang="en-US" dirty="0" err="1"/>
              <a:t>gian</a:t>
            </a:r>
            <a:r>
              <a:rPr lang="en-US" dirty="0"/>
              <a:t> </a:t>
            </a:r>
            <a:r>
              <a:rPr lang="en-US" dirty="0" err="1"/>
              <a:t>thực</a:t>
            </a:r>
            <a:r>
              <a:rPr lang="en-US" dirty="0"/>
              <a:t> </a:t>
            </a:r>
            <a:r>
              <a:rPr lang="en-US" dirty="0" err="1"/>
              <a:t>thi</a:t>
            </a:r>
            <a:r>
              <a:rPr lang="en-US" dirty="0"/>
              <a:t>: </a:t>
            </a:r>
            <a:r>
              <a:rPr lang="en-US" dirty="0" err="1"/>
              <a:t>Tổng</a:t>
            </a:r>
            <a:r>
              <a:rPr lang="en-US" dirty="0"/>
              <a:t> </a:t>
            </a:r>
            <a:r>
              <a:rPr lang="en-US" dirty="0" err="1"/>
              <a:t>thời</a:t>
            </a:r>
            <a:r>
              <a:rPr lang="en-US" dirty="0"/>
              <a:t> </a:t>
            </a:r>
            <a:r>
              <a:rPr lang="en-US" dirty="0" err="1"/>
              <a:t>gian</a:t>
            </a:r>
            <a:r>
              <a:rPr lang="en-US" dirty="0"/>
              <a:t> </a:t>
            </a:r>
            <a:r>
              <a:rPr lang="en-US" dirty="0" err="1"/>
              <a:t>để</a:t>
            </a:r>
            <a:r>
              <a:rPr lang="en-US" dirty="0"/>
              <a:t> </a:t>
            </a:r>
            <a:r>
              <a:rPr lang="en-US" dirty="0" err="1"/>
              <a:t>hoàn</a:t>
            </a:r>
            <a:r>
              <a:rPr lang="en-US" dirty="0"/>
              <a:t> </a:t>
            </a:r>
            <a:r>
              <a:rPr lang="en-US" dirty="0" err="1"/>
              <a:t>thành</a:t>
            </a:r>
            <a:r>
              <a:rPr lang="en-US" dirty="0"/>
              <a:t> </a:t>
            </a:r>
            <a:r>
              <a:rPr lang="en-US" dirty="0" err="1"/>
              <a:t>một</a:t>
            </a:r>
            <a:r>
              <a:rPr lang="en-US" dirty="0"/>
              <a:t> </a:t>
            </a:r>
            <a:r>
              <a:rPr lang="en-US" dirty="0" err="1"/>
              <a:t>tác</a:t>
            </a:r>
            <a:r>
              <a:rPr lang="en-US" dirty="0"/>
              <a:t> </a:t>
            </a:r>
            <a:r>
              <a:rPr lang="en-US" dirty="0" err="1"/>
              <a:t>vụ</a:t>
            </a:r>
            <a:r>
              <a:rPr lang="en-US" dirty="0"/>
              <a:t> </a:t>
            </a:r>
            <a:r>
              <a:rPr lang="en-US" dirty="0" err="1"/>
              <a:t>nào</a:t>
            </a:r>
            <a:r>
              <a:rPr lang="en-US" dirty="0"/>
              <a:t> </a:t>
            </a:r>
            <a:r>
              <a:rPr lang="en-US" dirty="0" err="1"/>
              <a:t>đó</a:t>
            </a:r>
            <a:endParaRPr lang="en-US" dirty="0"/>
          </a:p>
          <a:p>
            <a:pPr lvl="1" algn="just"/>
            <a:r>
              <a:rPr lang="en-US" dirty="0" err="1"/>
              <a:t>Truy</a:t>
            </a:r>
            <a:r>
              <a:rPr lang="en-US" dirty="0"/>
              <a:t> </a:t>
            </a:r>
            <a:r>
              <a:rPr lang="en-US" dirty="0" err="1"/>
              <a:t>cập</a:t>
            </a:r>
            <a:r>
              <a:rPr lang="en-US" dirty="0"/>
              <a:t> </a:t>
            </a:r>
            <a:r>
              <a:rPr lang="en-US" dirty="0" err="1"/>
              <a:t>ổ</a:t>
            </a:r>
            <a:r>
              <a:rPr lang="en-US" dirty="0"/>
              <a:t> </a:t>
            </a:r>
            <a:r>
              <a:rPr lang="en-US" dirty="0" err="1"/>
              <a:t>đĩa</a:t>
            </a:r>
            <a:r>
              <a:rPr lang="en-US" dirty="0"/>
              <a:t>, bộ </a:t>
            </a:r>
            <a:r>
              <a:rPr lang="en-US" dirty="0" err="1"/>
              <a:t>nhớ</a:t>
            </a:r>
            <a:r>
              <a:rPr lang="en-US" dirty="0"/>
              <a:t>, I/O, OS, v.v...</a:t>
            </a:r>
          </a:p>
          <a:p>
            <a:pPr algn="just"/>
            <a:endParaRPr lang="en-US" dirty="0"/>
          </a:p>
          <a:p>
            <a:pPr algn="just"/>
            <a:r>
              <a:rPr lang="en-US" dirty="0" err="1"/>
              <a:t>Hiệu</a:t>
            </a:r>
            <a:r>
              <a:rPr lang="en-US" dirty="0"/>
              <a:t> </a:t>
            </a:r>
            <a:r>
              <a:rPr lang="en-US" dirty="0" err="1"/>
              <a:t>suất</a:t>
            </a:r>
            <a:r>
              <a:rPr lang="en-US" dirty="0"/>
              <a:t>: </a:t>
            </a:r>
            <a:r>
              <a:rPr lang="en-US" dirty="0" err="1"/>
              <a:t>Số</a:t>
            </a:r>
            <a:r>
              <a:rPr lang="en-US" dirty="0"/>
              <a:t> </a:t>
            </a:r>
            <a:r>
              <a:rPr lang="en-US" dirty="0" err="1"/>
              <a:t>lượng</a:t>
            </a:r>
            <a:r>
              <a:rPr lang="en-US" dirty="0"/>
              <a:t> </a:t>
            </a:r>
            <a:r>
              <a:rPr lang="en-US" dirty="0" err="1"/>
              <a:t>tác</a:t>
            </a:r>
            <a:r>
              <a:rPr lang="en-US" dirty="0"/>
              <a:t> </a:t>
            </a:r>
            <a:r>
              <a:rPr lang="en-US" dirty="0" err="1"/>
              <a:t>vụ</a:t>
            </a:r>
            <a:r>
              <a:rPr lang="en-US" dirty="0"/>
              <a:t> </a:t>
            </a:r>
            <a:r>
              <a:rPr lang="en-US" dirty="0" err="1"/>
              <a:t>hoàn</a:t>
            </a:r>
            <a:r>
              <a:rPr lang="en-US" dirty="0"/>
              <a:t> </a:t>
            </a:r>
            <a:r>
              <a:rPr lang="en-US" dirty="0" err="1"/>
              <a:t>thành</a:t>
            </a:r>
            <a:r>
              <a:rPr lang="en-US" dirty="0"/>
              <a:t> </a:t>
            </a:r>
            <a:r>
              <a:rPr lang="en-US" dirty="0" err="1"/>
              <a:t>trong</a:t>
            </a:r>
            <a:r>
              <a:rPr lang="en-US" dirty="0"/>
              <a:t> </a:t>
            </a:r>
            <a:r>
              <a:rPr lang="en-US" dirty="0" err="1"/>
              <a:t>một</a:t>
            </a:r>
            <a:r>
              <a:rPr lang="en-US" dirty="0"/>
              <a:t> </a:t>
            </a:r>
            <a:r>
              <a:rPr lang="en-US" dirty="0" err="1"/>
              <a:t>đơn</a:t>
            </a:r>
            <a:r>
              <a:rPr lang="en-US" dirty="0"/>
              <a:t> </a:t>
            </a:r>
            <a:r>
              <a:rPr lang="en-US" dirty="0" err="1"/>
              <a:t>vị</a:t>
            </a:r>
            <a:r>
              <a:rPr lang="en-US" dirty="0"/>
              <a:t> </a:t>
            </a:r>
            <a:r>
              <a:rPr lang="en-US" dirty="0" err="1"/>
              <a:t>thời</a:t>
            </a:r>
            <a:r>
              <a:rPr lang="en-US" dirty="0"/>
              <a:t> </a:t>
            </a:r>
            <a:r>
              <a:rPr lang="en-US" dirty="0" err="1"/>
              <a:t>gian</a:t>
            </a:r>
            <a:endParaRPr lang="en-US" sz="165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5</a:t>
            </a:fld>
            <a:endParaRPr lang="en-VN"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61E94BC-41B8-379F-F95A-EA4D78EDC899}"/>
                  </a:ext>
                </a:extLst>
              </p:cNvPr>
              <p:cNvSpPr txBox="1"/>
              <p:nvPr/>
            </p:nvSpPr>
            <p:spPr>
              <a:xfrm>
                <a:off x="4143574" y="4933405"/>
                <a:ext cx="3840795" cy="7583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400">
                          <a:latin typeface="Times New Roman" panose="02020603050405020304" pitchFamily="18" charset="0"/>
                          <a:cs typeface="Times New Roman" panose="02020603050405020304" pitchFamily="18" charset="0"/>
                        </a:rPr>
                        <m:t>Hi</m:t>
                      </m:r>
                      <m:r>
                        <m:rPr>
                          <m:nor/>
                        </m:rPr>
                        <a:rPr lang="en-US" sz="2400">
                          <a:latin typeface="Times New Roman" panose="02020603050405020304" pitchFamily="18" charset="0"/>
                          <a:cs typeface="Times New Roman" panose="02020603050405020304" pitchFamily="18" charset="0"/>
                        </a:rPr>
                        <m:t>ệ</m:t>
                      </m:r>
                      <m:r>
                        <m:rPr>
                          <m:nor/>
                        </m:rPr>
                        <a:rPr lang="en-US" sz="2400">
                          <a:latin typeface="Times New Roman" panose="02020603050405020304" pitchFamily="18" charset="0"/>
                          <a:cs typeface="Times New Roman" panose="02020603050405020304" pitchFamily="18" charset="0"/>
                        </a:rPr>
                        <m:t>u</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su</m:t>
                      </m:r>
                      <m:r>
                        <m:rPr>
                          <m:nor/>
                        </m:rPr>
                        <a:rPr lang="en-US" sz="2400">
                          <a:latin typeface="Times New Roman" panose="02020603050405020304" pitchFamily="18" charset="0"/>
                          <a:cs typeface="Times New Roman" panose="02020603050405020304" pitchFamily="18" charset="0"/>
                        </a:rPr>
                        <m:t>ấ</m:t>
                      </m:r>
                      <m:r>
                        <m:rPr>
                          <m:nor/>
                        </m:rPr>
                        <a:rPr lang="en-US" sz="2400">
                          <a:latin typeface="Times New Roman" panose="02020603050405020304" pitchFamily="18" charset="0"/>
                          <a:cs typeface="Times New Roman" panose="02020603050405020304" pitchFamily="18" charset="0"/>
                        </a:rPr>
                        <m:t>t</m:t>
                      </m:r>
                      <m:r>
                        <m:rPr>
                          <m:nor/>
                        </m:rPr>
                        <a:rPr lang="en-US" sz="2400">
                          <a:latin typeface="Times New Roman" panose="02020603050405020304" pitchFamily="18" charset="0"/>
                          <a:cs typeface="Times New Roman" panose="02020603050405020304" pitchFamily="18" charset="0"/>
                        </a:rPr>
                        <m:t> = </m:t>
                      </m:r>
                      <m:f>
                        <m:fPr>
                          <m:ctrlPr>
                            <a:rPr lang="en-US" sz="2400" i="1">
                              <a:latin typeface="Cambria Math" panose="02040503050406030204" pitchFamily="18" charset="0"/>
                            </a:rPr>
                          </m:ctrlPr>
                        </m:fPr>
                        <m:num>
                          <m:r>
                            <m:rPr>
                              <m:nor/>
                            </m:rPr>
                            <a:rPr lang="en-US" sz="2400">
                              <a:latin typeface="Times New Roman" panose="02020603050405020304" pitchFamily="18" charset="0"/>
                              <a:cs typeface="Times New Roman" panose="02020603050405020304" pitchFamily="18" charset="0"/>
                            </a:rPr>
                            <m:t>1</m:t>
                          </m:r>
                        </m:num>
                        <m:den>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ờ</m:t>
                          </m:r>
                          <m:r>
                            <m:rPr>
                              <m:nor/>
                            </m:rPr>
                            <a:rPr lang="en-US" sz="2400">
                              <a:latin typeface="Times New Roman" panose="02020603050405020304" pitchFamily="18" charset="0"/>
                              <a:cs typeface="Times New Roman" panose="02020603050405020304" pitchFamily="18" charset="0"/>
                            </a:rPr>
                            <m:t>i</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gian</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ự</m:t>
                          </m:r>
                          <m:r>
                            <m:rPr>
                              <m:nor/>
                            </m:rPr>
                            <a:rPr lang="en-US" sz="2400">
                              <a:latin typeface="Times New Roman" panose="02020603050405020304" pitchFamily="18" charset="0"/>
                              <a:cs typeface="Times New Roman" panose="02020603050405020304" pitchFamily="18" charset="0"/>
                            </a:rPr>
                            <m:t>c</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thi</m:t>
                          </m:r>
                        </m:den>
                      </m:f>
                    </m:oMath>
                  </m:oMathPara>
                </a14:m>
                <a:endParaRPr lang="en-US" sz="2400" dirty="0">
                  <a:latin typeface="Times New Roman" panose="02020603050405020304" pitchFamily="18" charset="0"/>
                  <a:cs typeface="Times New Roman" panose="02020603050405020304" pitchFamily="18" charset="0"/>
                </a:endParaRPr>
              </a:p>
            </p:txBody>
          </p:sp>
        </mc:Choice>
        <mc:Fallback>
          <p:sp>
            <p:nvSpPr>
              <p:cNvPr id="6" name="TextBox 5">
                <a:extLst>
                  <a:ext uri="{FF2B5EF4-FFF2-40B4-BE49-F238E27FC236}">
                    <a16:creationId xmlns:a16="http://schemas.microsoft.com/office/drawing/2014/main" id="{F61E94BC-41B8-379F-F95A-EA4D78EDC899}"/>
                  </a:ext>
                </a:extLst>
              </p:cNvPr>
              <p:cNvSpPr txBox="1">
                <a:spLocks noRot="1" noChangeAspect="1" noMove="1" noResize="1" noEditPoints="1" noAdjustHandles="1" noChangeArrowheads="1" noChangeShapeType="1" noTextEdit="1"/>
              </p:cNvSpPr>
              <p:nvPr/>
            </p:nvSpPr>
            <p:spPr>
              <a:xfrm>
                <a:off x="4143574" y="4933405"/>
                <a:ext cx="3840795" cy="758349"/>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9264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a:t>Thời gian thực thi và hiệu suất (tt)</a:t>
            </a:r>
            <a:endParaRPr lang="en-US" sz="40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r>
              <a:rPr lang="en-US" dirty="0" err="1"/>
              <a:t>Máy</a:t>
            </a:r>
            <a:r>
              <a:rPr lang="en-US" dirty="0"/>
              <a:t> </a:t>
            </a:r>
            <a:r>
              <a:rPr lang="en-US" dirty="0" err="1"/>
              <a:t>tính</a:t>
            </a:r>
            <a:r>
              <a:rPr lang="en-US" dirty="0"/>
              <a:t> X </a:t>
            </a:r>
            <a:r>
              <a:rPr lang="en-US" dirty="0" err="1"/>
              <a:t>có</a:t>
            </a:r>
            <a:r>
              <a:rPr lang="en-US" dirty="0"/>
              <a:t> </a:t>
            </a:r>
            <a:r>
              <a:rPr lang="en-US" dirty="0" err="1"/>
              <a:t>hiệu</a:t>
            </a:r>
            <a:r>
              <a:rPr lang="en-US" dirty="0"/>
              <a:t> </a:t>
            </a:r>
            <a:r>
              <a:rPr lang="en-US" dirty="0" err="1"/>
              <a:t>suất</a:t>
            </a:r>
            <a:r>
              <a:rPr lang="en-US" dirty="0"/>
              <a:t> </a:t>
            </a:r>
            <a:r>
              <a:rPr lang="en-US" dirty="0" err="1"/>
              <a:t>cao</a:t>
            </a:r>
            <a:r>
              <a:rPr lang="en-US" dirty="0"/>
              <a:t> </a:t>
            </a:r>
            <a:r>
              <a:rPr lang="en-US" dirty="0" err="1"/>
              <a:t>hơn</a:t>
            </a:r>
            <a:r>
              <a:rPr lang="en-US" dirty="0"/>
              <a:t> </a:t>
            </a:r>
            <a:r>
              <a:rPr lang="en-US" dirty="0" err="1"/>
              <a:t>máy</a:t>
            </a:r>
            <a:r>
              <a:rPr lang="en-US" dirty="0"/>
              <a:t> </a:t>
            </a:r>
            <a:r>
              <a:rPr lang="en-US" dirty="0" err="1"/>
              <a:t>tính</a:t>
            </a:r>
            <a:r>
              <a:rPr lang="en-US" dirty="0"/>
              <a:t> Y </a:t>
            </a:r>
            <a:r>
              <a:rPr lang="en-US" dirty="0" err="1"/>
              <a:t>nghĩa</a:t>
            </a:r>
            <a:r>
              <a:rPr lang="en-US" dirty="0"/>
              <a:t> </a:t>
            </a:r>
            <a:r>
              <a:rPr lang="en-US" dirty="0" err="1"/>
              <a:t>là</a:t>
            </a:r>
            <a:r>
              <a:rPr lang="en-US" dirty="0"/>
              <a:t> </a:t>
            </a:r>
            <a:r>
              <a:rPr lang="en-US" dirty="0" err="1"/>
              <a:t>gì</a:t>
            </a:r>
            <a:r>
              <a:rPr lang="en-US" dirty="0"/>
              <a: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a:t>
            </a:fld>
            <a:endParaRPr lang="en-VN"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DB7B5DE-944E-A197-E2F1-4DC55633F410}"/>
                  </a:ext>
                </a:extLst>
              </p:cNvPr>
              <p:cNvSpPr txBox="1"/>
              <p:nvPr/>
            </p:nvSpPr>
            <p:spPr>
              <a:xfrm>
                <a:off x="3478387" y="2675731"/>
                <a:ext cx="5953425" cy="16705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400" smtClean="0">
                          <a:latin typeface="Times New Roman" panose="02020603050405020304" pitchFamily="18" charset="0"/>
                          <a:cs typeface="Times New Roman" panose="02020603050405020304" pitchFamily="18" charset="0"/>
                        </a:rPr>
                        <m:t> </m:t>
                      </m:r>
                      <m:m>
                        <m:mPr>
                          <m:mcs>
                            <m:mc>
                              <m:mcPr>
                                <m:count m:val="3"/>
                                <m:mcJc m:val="center"/>
                              </m:mcPr>
                            </m:mc>
                          </m:mcs>
                          <m:ctrlPr>
                            <a:rPr lang="en-US" sz="2400" i="1" smtClean="0">
                              <a:latin typeface="Cambria Math" panose="02040503050406030204" pitchFamily="18" charset="0"/>
                            </a:rPr>
                          </m:ctrlPr>
                        </m:mPr>
                        <m:mr>
                          <m:e>
                            <m:sSub>
                              <m:sSubPr>
                                <m:ctrlPr>
                                  <a:rPr lang="en-US" sz="2400" i="1">
                                    <a:latin typeface="Cambria Math" panose="02040503050406030204" pitchFamily="18" charset="0"/>
                                  </a:rPr>
                                </m:ctrlPr>
                              </m:sSubPr>
                              <m:e>
                                <m:r>
                                  <m:rPr>
                                    <m:nor/>
                                  </m:rPr>
                                  <a:rPr lang="en-US" sz="2400">
                                    <a:latin typeface="Times New Roman" panose="02020603050405020304" pitchFamily="18" charset="0"/>
                                    <a:cs typeface="Times New Roman" panose="02020603050405020304" pitchFamily="18" charset="0"/>
                                  </a:rPr>
                                  <m:t>Hi</m:t>
                                </m:r>
                                <m:r>
                                  <m:rPr>
                                    <m:nor/>
                                  </m:rPr>
                                  <a:rPr lang="en-US" sz="2400">
                                    <a:latin typeface="Times New Roman" panose="02020603050405020304" pitchFamily="18" charset="0"/>
                                    <a:cs typeface="Times New Roman" panose="02020603050405020304" pitchFamily="18" charset="0"/>
                                  </a:rPr>
                                  <m:t>ệ</m:t>
                                </m:r>
                                <m:r>
                                  <m:rPr>
                                    <m:nor/>
                                  </m:rPr>
                                  <a:rPr lang="en-US" sz="2400">
                                    <a:latin typeface="Times New Roman" panose="02020603050405020304" pitchFamily="18" charset="0"/>
                                    <a:cs typeface="Times New Roman" panose="02020603050405020304" pitchFamily="18" charset="0"/>
                                  </a:rPr>
                                  <m:t>u</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su</m:t>
                                </m:r>
                                <m:r>
                                  <m:rPr>
                                    <m:nor/>
                                  </m:rPr>
                                  <a:rPr lang="en-US" sz="2400">
                                    <a:latin typeface="Times New Roman" panose="02020603050405020304" pitchFamily="18" charset="0"/>
                                    <a:cs typeface="Times New Roman" panose="02020603050405020304" pitchFamily="18" charset="0"/>
                                  </a:rPr>
                                  <m:t>ấ</m:t>
                                </m:r>
                                <m:r>
                                  <m:rPr>
                                    <m:nor/>
                                  </m:rPr>
                                  <a:rPr lang="en-US" sz="2400">
                                    <a:latin typeface="Times New Roman" panose="02020603050405020304" pitchFamily="18" charset="0"/>
                                    <a:cs typeface="Times New Roman" panose="02020603050405020304" pitchFamily="18" charset="0"/>
                                  </a:rPr>
                                  <m:t>t</m:t>
                                </m:r>
                              </m:e>
                              <m:sub>
                                <m:r>
                                  <m:rPr>
                                    <m:nor/>
                                  </m:rPr>
                                  <a:rPr lang="en-US" sz="2400">
                                    <a:latin typeface="Times New Roman" panose="02020603050405020304" pitchFamily="18" charset="0"/>
                                    <a:cs typeface="Times New Roman" panose="02020603050405020304" pitchFamily="18" charset="0"/>
                                  </a:rPr>
                                  <m:t>X</m:t>
                                </m:r>
                              </m:sub>
                            </m:sSub>
                          </m:e>
                          <m:e>
                            <m:r>
                              <m:rPr>
                                <m:nor/>
                              </m:rPr>
                              <a:rPr lang="en-US" sz="2400">
                                <a:latin typeface="Times New Roman" panose="02020603050405020304" pitchFamily="18" charset="0"/>
                                <a:cs typeface="Times New Roman" panose="02020603050405020304" pitchFamily="18" charset="0"/>
                              </a:rPr>
                              <m:t>&gt;</m:t>
                            </m:r>
                          </m:e>
                          <m:e>
                            <m:sSub>
                              <m:sSubPr>
                                <m:ctrlPr>
                                  <a:rPr lang="en-US" sz="2400" i="1">
                                    <a:latin typeface="Cambria Math" panose="02040503050406030204" pitchFamily="18" charset="0"/>
                                  </a:rPr>
                                </m:ctrlPr>
                              </m:sSubPr>
                              <m:e>
                                <m:r>
                                  <m:rPr>
                                    <m:nor/>
                                  </m:rPr>
                                  <a:rPr lang="en-US" sz="2400">
                                    <a:latin typeface="Times New Roman" panose="02020603050405020304" pitchFamily="18" charset="0"/>
                                    <a:cs typeface="Times New Roman" panose="02020603050405020304" pitchFamily="18" charset="0"/>
                                  </a:rPr>
                                  <m:t>Hi</m:t>
                                </m:r>
                                <m:r>
                                  <m:rPr>
                                    <m:nor/>
                                  </m:rPr>
                                  <a:rPr lang="en-US" sz="2400">
                                    <a:latin typeface="Times New Roman" panose="02020603050405020304" pitchFamily="18" charset="0"/>
                                    <a:cs typeface="Times New Roman" panose="02020603050405020304" pitchFamily="18" charset="0"/>
                                  </a:rPr>
                                  <m:t>ệ</m:t>
                                </m:r>
                                <m:r>
                                  <m:rPr>
                                    <m:nor/>
                                  </m:rPr>
                                  <a:rPr lang="en-US" sz="2400">
                                    <a:latin typeface="Times New Roman" panose="02020603050405020304" pitchFamily="18" charset="0"/>
                                    <a:cs typeface="Times New Roman" panose="02020603050405020304" pitchFamily="18" charset="0"/>
                                  </a:rPr>
                                  <m:t>u</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su</m:t>
                                </m:r>
                                <m:r>
                                  <m:rPr>
                                    <m:nor/>
                                  </m:rPr>
                                  <a:rPr lang="en-US" sz="2400">
                                    <a:latin typeface="Times New Roman" panose="02020603050405020304" pitchFamily="18" charset="0"/>
                                    <a:cs typeface="Times New Roman" panose="02020603050405020304" pitchFamily="18" charset="0"/>
                                  </a:rPr>
                                  <m:t>ấ</m:t>
                                </m:r>
                                <m:r>
                                  <m:rPr>
                                    <m:nor/>
                                  </m:rPr>
                                  <a:rPr lang="en-US" sz="2400">
                                    <a:latin typeface="Times New Roman" panose="02020603050405020304" pitchFamily="18" charset="0"/>
                                    <a:cs typeface="Times New Roman" panose="02020603050405020304" pitchFamily="18" charset="0"/>
                                  </a:rPr>
                                  <m:t>t</m:t>
                                </m:r>
                              </m:e>
                              <m:sub>
                                <m:r>
                                  <m:rPr>
                                    <m:nor/>
                                  </m:rPr>
                                  <a:rPr lang="en-US" sz="2400">
                                    <a:latin typeface="Times New Roman" panose="02020603050405020304" pitchFamily="18" charset="0"/>
                                    <a:cs typeface="Times New Roman" panose="02020603050405020304" pitchFamily="18" charset="0"/>
                                  </a:rPr>
                                  <m:t>Y</m:t>
                                </m:r>
                              </m:sub>
                            </m:sSub>
                          </m:e>
                        </m:mr>
                        <m:mr>
                          <m:e>
                            <m:f>
                              <m:fPr>
                                <m:ctrlPr>
                                  <a:rPr lang="en-US" sz="2400" i="1" smtClean="0">
                                    <a:latin typeface="Cambria Math" panose="02040503050406030204" pitchFamily="18" charset="0"/>
                                  </a:rPr>
                                </m:ctrlPr>
                              </m:fPr>
                              <m:num>
                                <m:r>
                                  <m:rPr>
                                    <m:nor/>
                                  </m:rPr>
                                  <a:rPr lang="en-US" sz="2400">
                                    <a:latin typeface="Times New Roman" panose="02020603050405020304" pitchFamily="18" charset="0"/>
                                    <a:cs typeface="Times New Roman" panose="02020603050405020304" pitchFamily="18" charset="0"/>
                                  </a:rPr>
                                  <m:t>1</m:t>
                                </m:r>
                              </m:num>
                              <m:den>
                                <m:sSub>
                                  <m:sSubPr>
                                    <m:ctrlPr>
                                      <a:rPr lang="en-US" sz="2400" i="1">
                                        <a:latin typeface="Cambria Math" panose="02040503050406030204" pitchFamily="18" charset="0"/>
                                        <a:cs typeface="Times New Roman" panose="02020603050405020304" pitchFamily="18" charset="0"/>
                                      </a:rPr>
                                    </m:ctrlPr>
                                  </m:sSubPr>
                                  <m:e>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ờ</m:t>
                                    </m:r>
                                    <m:r>
                                      <m:rPr>
                                        <m:nor/>
                                      </m:rPr>
                                      <a:rPr lang="en-US" sz="2400">
                                        <a:latin typeface="Times New Roman" panose="02020603050405020304" pitchFamily="18" charset="0"/>
                                        <a:cs typeface="Times New Roman" panose="02020603050405020304" pitchFamily="18" charset="0"/>
                                      </a:rPr>
                                      <m:t>i</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gian</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ự</m:t>
                                    </m:r>
                                    <m:r>
                                      <m:rPr>
                                        <m:nor/>
                                      </m:rPr>
                                      <a:rPr lang="en-US" sz="2400">
                                        <a:latin typeface="Times New Roman" panose="02020603050405020304" pitchFamily="18" charset="0"/>
                                        <a:cs typeface="Times New Roman" panose="02020603050405020304" pitchFamily="18" charset="0"/>
                                      </a:rPr>
                                      <m:t>c</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thi</m:t>
                                    </m:r>
                                  </m:e>
                                  <m:sub>
                                    <m:r>
                                      <m:rPr>
                                        <m:nor/>
                                      </m:rPr>
                                      <a:rPr lang="en-US" sz="2400">
                                        <a:latin typeface="Times New Roman" panose="02020603050405020304" pitchFamily="18" charset="0"/>
                                        <a:cs typeface="Times New Roman" panose="02020603050405020304" pitchFamily="18" charset="0"/>
                                      </a:rPr>
                                      <m:t>X</m:t>
                                    </m:r>
                                  </m:sub>
                                </m:sSub>
                              </m:den>
                            </m:f>
                          </m:e>
                          <m:e>
                            <m:r>
                              <m:rPr>
                                <m:nor/>
                              </m:rPr>
                              <a:rPr lang="en-US" sz="2400">
                                <a:latin typeface="Times New Roman" panose="02020603050405020304" pitchFamily="18" charset="0"/>
                                <a:cs typeface="Times New Roman" panose="02020603050405020304" pitchFamily="18" charset="0"/>
                              </a:rPr>
                              <m:t>&gt;</m:t>
                            </m:r>
                          </m:e>
                          <m:e>
                            <m:f>
                              <m:fPr>
                                <m:ctrlPr>
                                  <a:rPr lang="en-US" sz="2400" i="1" smtClean="0">
                                    <a:latin typeface="Cambria Math" panose="02040503050406030204" pitchFamily="18" charset="0"/>
                                  </a:rPr>
                                </m:ctrlPr>
                              </m:fPr>
                              <m:num>
                                <m:r>
                                  <m:rPr>
                                    <m:nor/>
                                  </m:rPr>
                                  <a:rPr lang="en-US" sz="2400">
                                    <a:latin typeface="Times New Roman" panose="02020603050405020304" pitchFamily="18" charset="0"/>
                                    <a:cs typeface="Times New Roman" panose="02020603050405020304" pitchFamily="18" charset="0"/>
                                  </a:rPr>
                                  <m:t>1</m:t>
                                </m:r>
                              </m:num>
                              <m:den>
                                <m:sSub>
                                  <m:sSubPr>
                                    <m:ctrlPr>
                                      <a:rPr lang="en-US" sz="2400" i="1">
                                        <a:latin typeface="Cambria Math" panose="02040503050406030204" pitchFamily="18" charset="0"/>
                                      </a:rPr>
                                    </m:ctrlPr>
                                  </m:sSubPr>
                                  <m:e>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ờ</m:t>
                                    </m:r>
                                    <m:r>
                                      <m:rPr>
                                        <m:nor/>
                                      </m:rPr>
                                      <a:rPr lang="en-US" sz="2400">
                                        <a:latin typeface="Times New Roman" panose="02020603050405020304" pitchFamily="18" charset="0"/>
                                        <a:cs typeface="Times New Roman" panose="02020603050405020304" pitchFamily="18" charset="0"/>
                                      </a:rPr>
                                      <m:t>i</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gian</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ự</m:t>
                                    </m:r>
                                    <m:r>
                                      <m:rPr>
                                        <m:nor/>
                                      </m:rPr>
                                      <a:rPr lang="en-US" sz="2400">
                                        <a:latin typeface="Times New Roman" panose="02020603050405020304" pitchFamily="18" charset="0"/>
                                        <a:cs typeface="Times New Roman" panose="02020603050405020304" pitchFamily="18" charset="0"/>
                                      </a:rPr>
                                      <m:t>c</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thi</m:t>
                                    </m:r>
                                  </m:e>
                                  <m:sub>
                                    <m:r>
                                      <m:rPr>
                                        <m:nor/>
                                      </m:rPr>
                                      <a:rPr lang="en-US" sz="2400">
                                        <a:latin typeface="Times New Roman" panose="02020603050405020304" pitchFamily="18" charset="0"/>
                                        <a:cs typeface="Times New Roman" panose="02020603050405020304" pitchFamily="18" charset="0"/>
                                      </a:rPr>
                                      <m:t>Y</m:t>
                                    </m:r>
                                  </m:sub>
                                </m:sSub>
                              </m:den>
                            </m:f>
                          </m:e>
                        </m:mr>
                        <m:mr>
                          <m:e>
                            <m:sSub>
                              <m:sSubPr>
                                <m:ctrlPr>
                                  <a:rPr lang="en-US" sz="2400" i="1">
                                    <a:latin typeface="Cambria Math" panose="02040503050406030204" pitchFamily="18" charset="0"/>
                                  </a:rPr>
                                </m:ctrlPr>
                              </m:sSubPr>
                              <m:e>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ờ</m:t>
                                </m:r>
                                <m:r>
                                  <m:rPr>
                                    <m:nor/>
                                  </m:rPr>
                                  <a:rPr lang="en-US" sz="2400">
                                    <a:latin typeface="Times New Roman" panose="02020603050405020304" pitchFamily="18" charset="0"/>
                                    <a:cs typeface="Times New Roman" panose="02020603050405020304" pitchFamily="18" charset="0"/>
                                  </a:rPr>
                                  <m:t>i</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gian</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ự</m:t>
                                </m:r>
                                <m:r>
                                  <m:rPr>
                                    <m:nor/>
                                  </m:rPr>
                                  <a:rPr lang="en-US" sz="2400">
                                    <a:latin typeface="Times New Roman" panose="02020603050405020304" pitchFamily="18" charset="0"/>
                                    <a:cs typeface="Times New Roman" panose="02020603050405020304" pitchFamily="18" charset="0"/>
                                  </a:rPr>
                                  <m:t>c</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thi</m:t>
                                </m:r>
                              </m:e>
                              <m:sub>
                                <m:r>
                                  <m:rPr>
                                    <m:nor/>
                                  </m:rPr>
                                  <a:rPr lang="en-US" sz="2400">
                                    <a:latin typeface="Times New Roman" panose="02020603050405020304" pitchFamily="18" charset="0"/>
                                    <a:cs typeface="Times New Roman" panose="02020603050405020304" pitchFamily="18" charset="0"/>
                                  </a:rPr>
                                  <m:t>X</m:t>
                                </m:r>
                              </m:sub>
                            </m:sSub>
                          </m:e>
                          <m:e>
                            <m:r>
                              <a:rPr lang="vi-VN" sz="2400" b="0" i="1" smtClean="0">
                                <a:latin typeface="Cambria Math" panose="02040503050406030204" pitchFamily="18" charset="0"/>
                                <a:cs typeface="Times New Roman" panose="02020603050405020304" pitchFamily="18" charset="0"/>
                              </a:rPr>
                              <m:t>&lt;</m:t>
                            </m:r>
                          </m:e>
                          <m:e>
                            <m:sSub>
                              <m:sSubPr>
                                <m:ctrlPr>
                                  <a:rPr lang="en-US" sz="2400" i="1">
                                    <a:latin typeface="Cambria Math" panose="02040503050406030204" pitchFamily="18" charset="0"/>
                                  </a:rPr>
                                </m:ctrlPr>
                              </m:sSubPr>
                              <m:e>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ờ</m:t>
                                </m:r>
                                <m:r>
                                  <m:rPr>
                                    <m:nor/>
                                  </m:rPr>
                                  <a:rPr lang="en-US" sz="2400">
                                    <a:latin typeface="Times New Roman" panose="02020603050405020304" pitchFamily="18" charset="0"/>
                                    <a:cs typeface="Times New Roman" panose="02020603050405020304" pitchFamily="18" charset="0"/>
                                  </a:rPr>
                                  <m:t>i</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gian</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m:t>
                                </m:r>
                                <m:r>
                                  <m:rPr>
                                    <m:nor/>
                                  </m:rPr>
                                  <a:rPr lang="en-US" sz="2400">
                                    <a:latin typeface="Times New Roman" panose="02020603050405020304" pitchFamily="18" charset="0"/>
                                    <a:cs typeface="Times New Roman" panose="02020603050405020304" pitchFamily="18" charset="0"/>
                                  </a:rPr>
                                  <m:t>ự</m:t>
                                </m:r>
                                <m:r>
                                  <m:rPr>
                                    <m:nor/>
                                  </m:rPr>
                                  <a:rPr lang="en-US" sz="2400">
                                    <a:latin typeface="Times New Roman" panose="02020603050405020304" pitchFamily="18" charset="0"/>
                                    <a:cs typeface="Times New Roman" panose="02020603050405020304" pitchFamily="18" charset="0"/>
                                  </a:rPr>
                                  <m:t>c</m:t>
                                </m:r>
                                <m:r>
                                  <m:rPr>
                                    <m:nor/>
                                  </m:rPr>
                                  <a:rPr lang="en-US" sz="2400">
                                    <a:latin typeface="Times New Roman" panose="02020603050405020304" pitchFamily="18" charset="0"/>
                                    <a:cs typeface="Times New Roman" panose="02020603050405020304" pitchFamily="18" charset="0"/>
                                  </a:rPr>
                                  <m:t> </m:t>
                                </m:r>
                                <m:r>
                                  <m:rPr>
                                    <m:nor/>
                                  </m:rPr>
                                  <a:rPr lang="en-US" sz="2400">
                                    <a:latin typeface="Times New Roman" panose="02020603050405020304" pitchFamily="18" charset="0"/>
                                    <a:cs typeface="Times New Roman" panose="02020603050405020304" pitchFamily="18" charset="0"/>
                                  </a:rPr>
                                  <m:t>thi</m:t>
                                </m:r>
                              </m:e>
                              <m:sub>
                                <m:r>
                                  <m:rPr>
                                    <m:nor/>
                                  </m:rPr>
                                  <a:rPr lang="en-US" sz="2400">
                                    <a:latin typeface="Times New Roman" panose="02020603050405020304" pitchFamily="18" charset="0"/>
                                    <a:cs typeface="Times New Roman" panose="02020603050405020304" pitchFamily="18" charset="0"/>
                                  </a:rPr>
                                  <m:t>Y</m:t>
                                </m:r>
                              </m:sub>
                            </m:sSub>
                          </m:e>
                        </m:mr>
                      </m:m>
                    </m:oMath>
                  </m:oMathPara>
                </a14:m>
                <a:endParaRPr lang="en-US" sz="240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9DB7B5DE-944E-A197-E2F1-4DC55633F410}"/>
                  </a:ext>
                </a:extLst>
              </p:cNvPr>
              <p:cNvSpPr txBox="1">
                <a:spLocks noRot="1" noChangeAspect="1" noMove="1" noResize="1" noEditPoints="1" noAdjustHandles="1" noChangeArrowheads="1" noChangeShapeType="1" noTextEdit="1"/>
              </p:cNvSpPr>
              <p:nvPr/>
            </p:nvSpPr>
            <p:spPr>
              <a:xfrm>
                <a:off x="3478387" y="2675731"/>
                <a:ext cx="5953425" cy="1670522"/>
              </a:xfrm>
              <a:prstGeom prst="rect">
                <a:avLst/>
              </a:prstGeom>
              <a:blipFill>
                <a:blip r:embed="rId2"/>
                <a:stretch>
                  <a:fillRect l="-1279" t="-1504" b="-5263"/>
                </a:stretch>
              </a:blipFill>
            </p:spPr>
            <p:txBody>
              <a:bodyPr/>
              <a:lstStyle/>
              <a:p>
                <a:r>
                  <a:rPr lang="en-VN">
                    <a:noFill/>
                  </a:rPr>
                  <a:t> </a:t>
                </a:r>
              </a:p>
            </p:txBody>
          </p:sp>
        </mc:Fallback>
      </mc:AlternateContent>
    </p:spTree>
    <p:extLst>
      <p:ext uri="{BB962C8B-B14F-4D97-AF65-F5344CB8AC3E}">
        <p14:creationId xmlns:p14="http://schemas.microsoft.com/office/powerpoint/2010/main" val="269505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a:t>Quiz 1</a:t>
            </a:r>
            <a:endParaRPr lang="en-US" sz="4000"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fontScale="77500" lnSpcReduction="20000"/>
          </a:bodyPr>
          <a:lstStyle/>
          <a:p>
            <a:pPr algn="just"/>
            <a:r>
              <a:rPr lang="en-US" dirty="0" err="1"/>
              <a:t>Máy</a:t>
            </a:r>
            <a:r>
              <a:rPr lang="en-US" dirty="0"/>
              <a:t> </a:t>
            </a:r>
            <a:r>
              <a:rPr lang="en-US" dirty="0" err="1"/>
              <a:t>tính</a:t>
            </a:r>
            <a:r>
              <a:rPr lang="en-US" dirty="0"/>
              <a:t> A </a:t>
            </a:r>
            <a:r>
              <a:rPr lang="en-US" dirty="0" err="1"/>
              <a:t>cần</a:t>
            </a:r>
            <a:r>
              <a:rPr lang="en-US" dirty="0"/>
              <a:t> 10s </a:t>
            </a:r>
            <a:r>
              <a:rPr lang="en-US" dirty="0" err="1"/>
              <a:t>để</a:t>
            </a:r>
            <a:r>
              <a:rPr lang="en-US" dirty="0"/>
              <a:t> </a:t>
            </a:r>
            <a:r>
              <a:rPr lang="en-US" dirty="0" err="1"/>
              <a:t>hoàn</a:t>
            </a:r>
            <a:r>
              <a:rPr lang="en-US" dirty="0"/>
              <a:t> </a:t>
            </a:r>
            <a:r>
              <a:rPr lang="en-US" dirty="0" err="1"/>
              <a:t>thành</a:t>
            </a:r>
            <a:r>
              <a:rPr lang="en-US" dirty="0"/>
              <a:t> </a:t>
            </a:r>
            <a:r>
              <a:rPr lang="en-US" dirty="0" err="1"/>
              <a:t>chương</a:t>
            </a:r>
            <a:r>
              <a:rPr lang="en-US" dirty="0"/>
              <a:t> </a:t>
            </a:r>
            <a:r>
              <a:rPr lang="en-US" dirty="0" err="1"/>
              <a:t>trình</a:t>
            </a:r>
            <a:r>
              <a:rPr lang="en-US" dirty="0"/>
              <a:t> P. </a:t>
            </a:r>
            <a:r>
              <a:rPr lang="en-US" dirty="0" err="1"/>
              <a:t>Máy</a:t>
            </a:r>
            <a:r>
              <a:rPr lang="en-US" dirty="0"/>
              <a:t> </a:t>
            </a:r>
            <a:r>
              <a:rPr lang="en-US" dirty="0" err="1"/>
              <a:t>tính</a:t>
            </a:r>
            <a:r>
              <a:rPr lang="en-US" dirty="0"/>
              <a:t> B </a:t>
            </a:r>
            <a:r>
              <a:rPr lang="en-US" dirty="0" err="1"/>
              <a:t>cần</a:t>
            </a:r>
            <a:r>
              <a:rPr lang="en-US" dirty="0"/>
              <a:t> 15s </a:t>
            </a:r>
            <a:r>
              <a:rPr lang="en-US" dirty="0" err="1"/>
              <a:t>để</a:t>
            </a:r>
            <a:r>
              <a:rPr lang="en-US" dirty="0"/>
              <a:t> </a:t>
            </a:r>
            <a:r>
              <a:rPr lang="en-US" dirty="0" err="1"/>
              <a:t>hoàn</a:t>
            </a:r>
            <a:r>
              <a:rPr lang="en-US" dirty="0"/>
              <a:t> </a:t>
            </a:r>
            <a:r>
              <a:rPr lang="en-US" dirty="0" err="1"/>
              <a:t>thành</a:t>
            </a:r>
            <a:r>
              <a:rPr lang="en-US" dirty="0"/>
              <a:t> </a:t>
            </a:r>
            <a:r>
              <a:rPr lang="en-US" dirty="0" err="1"/>
              <a:t>chương</a:t>
            </a:r>
            <a:r>
              <a:rPr lang="en-US" dirty="0"/>
              <a:t> </a:t>
            </a:r>
            <a:r>
              <a:rPr lang="en-US" dirty="0" err="1"/>
              <a:t>trình</a:t>
            </a:r>
            <a:r>
              <a:rPr lang="en-US" dirty="0"/>
              <a:t> P.</a:t>
            </a:r>
          </a:p>
          <a:p>
            <a:pPr lvl="1" algn="just"/>
            <a:r>
              <a:rPr lang="en-US" dirty="0" err="1"/>
              <a:t>Máy</a:t>
            </a:r>
            <a:r>
              <a:rPr lang="en-US" dirty="0"/>
              <a:t> </a:t>
            </a:r>
            <a:r>
              <a:rPr lang="en-US" dirty="0" err="1"/>
              <a:t>tính</a:t>
            </a:r>
            <a:r>
              <a:rPr lang="en-US" dirty="0"/>
              <a:t> </a:t>
            </a:r>
            <a:r>
              <a:rPr lang="en-US" dirty="0" err="1"/>
              <a:t>nào</a:t>
            </a:r>
            <a:r>
              <a:rPr lang="en-US" dirty="0"/>
              <a:t> </a:t>
            </a:r>
            <a:r>
              <a:rPr lang="en-US" dirty="0" err="1"/>
              <a:t>có</a:t>
            </a:r>
            <a:r>
              <a:rPr lang="en-US" dirty="0"/>
              <a:t> </a:t>
            </a:r>
            <a:r>
              <a:rPr lang="en-US" dirty="0" err="1"/>
              <a:t>hiệu</a:t>
            </a:r>
            <a:r>
              <a:rPr lang="en-US" dirty="0"/>
              <a:t> </a:t>
            </a:r>
            <a:r>
              <a:rPr lang="en-US" dirty="0" err="1"/>
              <a:t>suất</a:t>
            </a:r>
            <a:r>
              <a:rPr lang="en-US" dirty="0"/>
              <a:t> </a:t>
            </a:r>
            <a:r>
              <a:rPr lang="en-US" dirty="0" err="1"/>
              <a:t>cao</a:t>
            </a:r>
            <a:r>
              <a:rPr lang="en-US" dirty="0"/>
              <a:t> </a:t>
            </a:r>
            <a:r>
              <a:rPr lang="en-US" dirty="0" err="1"/>
              <a:t>hơn</a:t>
            </a:r>
            <a:r>
              <a:rPr lang="en-US" dirty="0"/>
              <a:t>?</a:t>
            </a:r>
          </a:p>
          <a:p>
            <a:pPr lvl="1" algn="just"/>
            <a:r>
              <a:rPr lang="en-US" dirty="0" err="1"/>
              <a:t>Nhanh</a:t>
            </a:r>
            <a:r>
              <a:rPr lang="en-US" dirty="0"/>
              <a:t> </a:t>
            </a:r>
            <a:r>
              <a:rPr lang="en-US" dirty="0" err="1"/>
              <a:t>hơn</a:t>
            </a:r>
            <a:r>
              <a:rPr lang="en-US" dirty="0"/>
              <a:t> bao </a:t>
            </a:r>
            <a:r>
              <a:rPr lang="en-US" dirty="0" err="1"/>
              <a:t>nhiêu</a:t>
            </a:r>
            <a:r>
              <a:rPr lang="en-US" dirty="0"/>
              <a:t> </a:t>
            </a:r>
            <a:r>
              <a:rPr lang="en-US" dirty="0" err="1"/>
              <a:t>lần</a:t>
            </a:r>
            <a:r>
              <a:rPr lang="en-US" dirty="0"/>
              <a:t>? </a:t>
            </a:r>
          </a:p>
          <a:p>
            <a:pPr algn="just"/>
            <a:r>
              <a:rPr lang="en-US" u="sng" dirty="0" err="1"/>
              <a:t>Trả</a:t>
            </a:r>
            <a:r>
              <a:rPr lang="en-US" u="sng" dirty="0"/>
              <a:t> </a:t>
            </a:r>
            <a:r>
              <a:rPr lang="en-US" u="sng" dirty="0" err="1"/>
              <a:t>lời</a:t>
            </a:r>
            <a:r>
              <a:rPr lang="en-US" u="sng" dirty="0"/>
              <a:t>:</a:t>
            </a:r>
          </a:p>
          <a:p>
            <a:pPr algn="just"/>
            <a:endParaRPr lang="en-US" u="sng" dirty="0"/>
          </a:p>
          <a:p>
            <a:pPr algn="just"/>
            <a:endParaRPr lang="en-US" u="sng" dirty="0"/>
          </a:p>
          <a:p>
            <a:pPr algn="just"/>
            <a:endParaRPr lang="en-US" u="sng" dirty="0"/>
          </a:p>
          <a:p>
            <a:pPr algn="just"/>
            <a:endParaRPr lang="en-US" u="sng" dirty="0"/>
          </a:p>
          <a:p>
            <a:pPr algn="just"/>
            <a:endParaRPr lang="en-US" u="sng" dirty="0"/>
          </a:p>
          <a:p>
            <a:pPr marL="0" indent="0" algn="just">
              <a:buNone/>
            </a:pPr>
            <a:r>
              <a:rPr lang="en-US" dirty="0" err="1"/>
              <a:t>Vậy</a:t>
            </a:r>
            <a:r>
              <a:rPr lang="en-US" dirty="0"/>
              <a:t> </a:t>
            </a:r>
            <a:r>
              <a:rPr lang="en-US" dirty="0" err="1"/>
              <a:t>máy</a:t>
            </a:r>
            <a:r>
              <a:rPr lang="en-US" dirty="0"/>
              <a:t> </a:t>
            </a:r>
            <a:r>
              <a:rPr lang="en-US" dirty="0" err="1"/>
              <a:t>tính</a:t>
            </a:r>
            <a:r>
              <a:rPr lang="en-US" dirty="0"/>
              <a:t> A </a:t>
            </a:r>
            <a:r>
              <a:rPr lang="en-US" dirty="0" err="1"/>
              <a:t>nhanh</a:t>
            </a:r>
            <a:r>
              <a:rPr lang="en-US" dirty="0"/>
              <a:t> </a:t>
            </a:r>
            <a:r>
              <a:rPr lang="en-US" dirty="0" err="1"/>
              <a:t>hơn</a:t>
            </a:r>
            <a:r>
              <a:rPr lang="en-US" dirty="0"/>
              <a:t> </a:t>
            </a:r>
            <a:r>
              <a:rPr lang="en-US" dirty="0" err="1"/>
              <a:t>máy</a:t>
            </a:r>
            <a:r>
              <a:rPr lang="en-US" dirty="0"/>
              <a:t> </a:t>
            </a:r>
            <a:r>
              <a:rPr lang="en-US" dirty="0" err="1"/>
              <a:t>tính</a:t>
            </a:r>
            <a:r>
              <a:rPr lang="en-US" dirty="0"/>
              <a:t> B 1,5 </a:t>
            </a:r>
            <a:r>
              <a:rPr lang="en-US" dirty="0" err="1"/>
              <a:t>lần</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7</a:t>
            </a:fld>
            <a:endParaRPr lang="en-VN"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C4E6E7C-5F69-2C2C-110D-8CEE25AAF6A8}"/>
                  </a:ext>
                </a:extLst>
              </p:cNvPr>
              <p:cNvSpPr txBox="1"/>
              <p:nvPr/>
            </p:nvSpPr>
            <p:spPr>
              <a:xfrm>
                <a:off x="2771512" y="3478390"/>
                <a:ext cx="8630780" cy="876074"/>
              </a:xfrm>
              <a:prstGeom prst="rect">
                <a:avLst/>
              </a:prstGeom>
              <a:noFill/>
            </p:spPr>
            <p:txBody>
              <a:bodyPr wrap="square">
                <a:spAutoFit/>
              </a:bodyPr>
              <a:lstStyle/>
              <a:p>
                <a14:m>
                  <m:oMath xmlns:m="http://schemas.openxmlformats.org/officeDocument/2006/math">
                    <m:f>
                      <m:fPr>
                        <m:ctrlPr>
                          <a:rPr lang="en-US" sz="2400" i="1" smtClean="0">
                            <a:latin typeface="Cambria Math" panose="02040503050406030204" pitchFamily="18" charset="0"/>
                          </a:rPr>
                        </m:ctrlPr>
                      </m:fPr>
                      <m:num>
                        <m:r>
                          <m:rPr>
                            <m:nor/>
                          </m:rPr>
                          <a:rPr lang="en-US" sz="2400">
                            <a:latin typeface="Arial" panose="020B0604020202020204" pitchFamily="34" charset="0"/>
                            <a:cs typeface="Arial" panose="020B0604020202020204" pitchFamily="34" charset="0"/>
                          </a:rPr>
                          <m:t>Hi</m:t>
                        </m:r>
                        <m:r>
                          <m:rPr>
                            <m:nor/>
                          </m:rPr>
                          <a:rPr lang="en-US" sz="2400">
                            <a:latin typeface="Arial" panose="020B0604020202020204" pitchFamily="34" charset="0"/>
                            <a:cs typeface="Arial" panose="020B0604020202020204" pitchFamily="34" charset="0"/>
                          </a:rPr>
                          <m:t>ệ</m:t>
                        </m:r>
                        <m:r>
                          <m:rPr>
                            <m:nor/>
                          </m:rPr>
                          <a:rPr lang="en-US" sz="2400">
                            <a:latin typeface="Arial" panose="020B0604020202020204" pitchFamily="34" charset="0"/>
                            <a:cs typeface="Arial" panose="020B0604020202020204" pitchFamily="34" charset="0"/>
                          </a:rPr>
                          <m:t>u</m:t>
                        </m:r>
                        <m:r>
                          <m:rPr>
                            <m:nor/>
                          </m:rPr>
                          <a:rPr lang="en-US" sz="2400">
                            <a:latin typeface="Arial" panose="020B0604020202020204" pitchFamily="34" charset="0"/>
                            <a:cs typeface="Arial" panose="020B0604020202020204" pitchFamily="34" charset="0"/>
                          </a:rPr>
                          <m:t> </m:t>
                        </m:r>
                        <m:r>
                          <m:rPr>
                            <m:nor/>
                          </m:rPr>
                          <a:rPr lang="en-US" sz="2400">
                            <a:latin typeface="Arial" panose="020B0604020202020204" pitchFamily="34" charset="0"/>
                            <a:cs typeface="Arial" panose="020B0604020202020204" pitchFamily="34" charset="0"/>
                          </a:rPr>
                          <m:t>su</m:t>
                        </m:r>
                        <m:r>
                          <m:rPr>
                            <m:nor/>
                          </m:rPr>
                          <a:rPr lang="en-US" sz="2400">
                            <a:latin typeface="Arial" panose="020B0604020202020204" pitchFamily="34" charset="0"/>
                            <a:cs typeface="Arial" panose="020B0604020202020204" pitchFamily="34" charset="0"/>
                          </a:rPr>
                          <m:t>ấ</m:t>
                        </m:r>
                        <m:r>
                          <m:rPr>
                            <m:nor/>
                          </m:rPr>
                          <a:rPr lang="en-US" sz="2400">
                            <a:latin typeface="Arial" panose="020B0604020202020204" pitchFamily="34" charset="0"/>
                            <a:cs typeface="Arial" panose="020B0604020202020204" pitchFamily="34" charset="0"/>
                          </a:rPr>
                          <m:t>t</m:t>
                        </m:r>
                        <m:r>
                          <m:rPr>
                            <m:nor/>
                          </m:rPr>
                          <a:rPr lang="en-US" sz="2400">
                            <a:latin typeface="Arial" panose="020B0604020202020204" pitchFamily="34" charset="0"/>
                            <a:cs typeface="Arial" panose="020B0604020202020204" pitchFamily="34" charset="0"/>
                          </a:rPr>
                          <m:t> </m:t>
                        </m:r>
                        <m:r>
                          <m:rPr>
                            <m:nor/>
                          </m:rPr>
                          <a:rPr lang="en-US" sz="2400">
                            <a:latin typeface="Arial" panose="020B0604020202020204" pitchFamily="34" charset="0"/>
                            <a:cs typeface="Arial" panose="020B0604020202020204" pitchFamily="34" charset="0"/>
                          </a:rPr>
                          <m:t>m</m:t>
                        </m:r>
                        <m:r>
                          <m:rPr>
                            <m:nor/>
                          </m:rPr>
                          <a:rPr lang="en-US" sz="2400">
                            <a:latin typeface="Arial" panose="020B0604020202020204" pitchFamily="34" charset="0"/>
                            <a:cs typeface="Arial" panose="020B0604020202020204" pitchFamily="34" charset="0"/>
                          </a:rPr>
                          <m:t>á</m:t>
                        </m:r>
                        <m:r>
                          <m:rPr>
                            <m:nor/>
                          </m:rPr>
                          <a:rPr lang="en-US" sz="2400">
                            <a:latin typeface="Arial" panose="020B0604020202020204" pitchFamily="34" charset="0"/>
                            <a:cs typeface="Arial" panose="020B0604020202020204" pitchFamily="34" charset="0"/>
                          </a:rPr>
                          <m:t>y</m:t>
                        </m:r>
                        <m:r>
                          <m:rPr>
                            <m:nor/>
                          </m:rPr>
                          <a:rPr lang="en-US" sz="2400">
                            <a:latin typeface="Arial" panose="020B0604020202020204" pitchFamily="34" charset="0"/>
                            <a:cs typeface="Arial" panose="020B0604020202020204" pitchFamily="34" charset="0"/>
                          </a:rPr>
                          <m:t> </m:t>
                        </m:r>
                        <m:r>
                          <m:rPr>
                            <m:nor/>
                          </m:rPr>
                          <a:rPr lang="en-US" sz="2400">
                            <a:latin typeface="Arial" panose="020B0604020202020204" pitchFamily="34" charset="0"/>
                            <a:cs typeface="Arial" panose="020B0604020202020204" pitchFamily="34" charset="0"/>
                          </a:rPr>
                          <m:t>t</m:t>
                        </m:r>
                        <m:r>
                          <m:rPr>
                            <m:nor/>
                          </m:rPr>
                          <a:rPr lang="en-US" sz="2400">
                            <a:latin typeface="Arial" panose="020B0604020202020204" pitchFamily="34" charset="0"/>
                            <a:cs typeface="Arial" panose="020B0604020202020204" pitchFamily="34" charset="0"/>
                          </a:rPr>
                          <m:t>í</m:t>
                        </m:r>
                        <m:r>
                          <m:rPr>
                            <m:nor/>
                          </m:rPr>
                          <a:rPr lang="en-US" sz="2400">
                            <a:latin typeface="Arial" panose="020B0604020202020204" pitchFamily="34" charset="0"/>
                            <a:cs typeface="Arial" panose="020B0604020202020204" pitchFamily="34" charset="0"/>
                          </a:rPr>
                          <m:t>nh</m:t>
                        </m:r>
                        <m:r>
                          <m:rPr>
                            <m:nor/>
                          </m:rPr>
                          <a:rPr lang="en-US" sz="2400">
                            <a:latin typeface="Arial" panose="020B0604020202020204" pitchFamily="34" charset="0"/>
                            <a:cs typeface="Arial" panose="020B0604020202020204" pitchFamily="34" charset="0"/>
                          </a:rPr>
                          <m:t> </m:t>
                        </m:r>
                        <m:r>
                          <m:rPr>
                            <m:nor/>
                          </m:rPr>
                          <a:rPr lang="en-US" sz="2400">
                            <a:latin typeface="Arial" panose="020B0604020202020204" pitchFamily="34" charset="0"/>
                            <a:cs typeface="Arial" panose="020B0604020202020204" pitchFamily="34" charset="0"/>
                          </a:rPr>
                          <m:t>A</m:t>
                        </m:r>
                      </m:num>
                      <m:den>
                        <m:r>
                          <m:rPr>
                            <m:nor/>
                          </m:rPr>
                          <a:rPr lang="en-US" sz="2400" dirty="0">
                            <a:solidFill>
                              <a:prstClr val="black"/>
                            </a:solidFill>
                            <a:latin typeface="Arial" panose="020B0604020202020204" pitchFamily="34" charset="0"/>
                            <a:cs typeface="Arial" panose="020B0604020202020204" pitchFamily="34" charset="0"/>
                          </a:rPr>
                          <m:t>Hi</m:t>
                        </m:r>
                        <m:r>
                          <m:rPr>
                            <m:nor/>
                          </m:rPr>
                          <a:rPr lang="en-US" sz="2400" dirty="0">
                            <a:solidFill>
                              <a:prstClr val="black"/>
                            </a:solidFill>
                            <a:latin typeface="Arial" panose="020B0604020202020204" pitchFamily="34" charset="0"/>
                            <a:cs typeface="Arial" panose="020B0604020202020204" pitchFamily="34" charset="0"/>
                          </a:rPr>
                          <m:t>ệ</m:t>
                        </m:r>
                        <m:r>
                          <m:rPr>
                            <m:nor/>
                          </m:rPr>
                          <a:rPr lang="en-US" sz="2400" dirty="0">
                            <a:solidFill>
                              <a:prstClr val="black"/>
                            </a:solidFill>
                            <a:latin typeface="Arial" panose="020B0604020202020204" pitchFamily="34" charset="0"/>
                            <a:cs typeface="Arial" panose="020B0604020202020204" pitchFamily="34" charset="0"/>
                          </a:rPr>
                          <m:t>u</m:t>
                        </m:r>
                        <m:r>
                          <m:rPr>
                            <m:nor/>
                          </m:rPr>
                          <a:rPr lang="en-US" sz="2400" dirty="0">
                            <a:solidFill>
                              <a:prstClr val="black"/>
                            </a:solidFill>
                            <a:latin typeface="Arial" panose="020B0604020202020204" pitchFamily="34" charset="0"/>
                            <a:cs typeface="Arial" panose="020B0604020202020204" pitchFamily="34" charset="0"/>
                          </a:rPr>
                          <m:t> </m:t>
                        </m:r>
                        <m:r>
                          <m:rPr>
                            <m:nor/>
                          </m:rPr>
                          <a:rPr lang="en-US" sz="2400" dirty="0">
                            <a:solidFill>
                              <a:prstClr val="black"/>
                            </a:solidFill>
                            <a:latin typeface="Arial" panose="020B0604020202020204" pitchFamily="34" charset="0"/>
                            <a:cs typeface="Arial" panose="020B0604020202020204" pitchFamily="34" charset="0"/>
                          </a:rPr>
                          <m:t>su</m:t>
                        </m:r>
                        <m:r>
                          <m:rPr>
                            <m:nor/>
                          </m:rPr>
                          <a:rPr lang="en-US" sz="2400" dirty="0">
                            <a:solidFill>
                              <a:prstClr val="black"/>
                            </a:solidFill>
                            <a:latin typeface="Arial" panose="020B0604020202020204" pitchFamily="34" charset="0"/>
                            <a:cs typeface="Arial" panose="020B0604020202020204" pitchFamily="34" charset="0"/>
                          </a:rPr>
                          <m:t>ấ</m:t>
                        </m:r>
                        <m:r>
                          <m:rPr>
                            <m:nor/>
                          </m:rPr>
                          <a:rPr lang="en-US" sz="2400" dirty="0">
                            <a:solidFill>
                              <a:prstClr val="black"/>
                            </a:solidFill>
                            <a:latin typeface="Arial" panose="020B0604020202020204" pitchFamily="34" charset="0"/>
                            <a:cs typeface="Arial" panose="020B0604020202020204" pitchFamily="34" charset="0"/>
                          </a:rPr>
                          <m:t>t</m:t>
                        </m:r>
                        <m:r>
                          <m:rPr>
                            <m:nor/>
                          </m:rPr>
                          <a:rPr lang="en-US" sz="2400" dirty="0">
                            <a:solidFill>
                              <a:prstClr val="black"/>
                            </a:solidFill>
                            <a:latin typeface="Arial" panose="020B0604020202020204" pitchFamily="34" charset="0"/>
                            <a:cs typeface="Arial" panose="020B0604020202020204" pitchFamily="34" charset="0"/>
                          </a:rPr>
                          <m:t> </m:t>
                        </m:r>
                        <m:r>
                          <m:rPr>
                            <m:nor/>
                          </m:rPr>
                          <a:rPr lang="en-US" sz="2400" dirty="0">
                            <a:solidFill>
                              <a:prstClr val="black"/>
                            </a:solidFill>
                            <a:latin typeface="Arial" panose="020B0604020202020204" pitchFamily="34" charset="0"/>
                            <a:cs typeface="Arial" panose="020B0604020202020204" pitchFamily="34" charset="0"/>
                          </a:rPr>
                          <m:t>m</m:t>
                        </m:r>
                        <m:r>
                          <m:rPr>
                            <m:nor/>
                          </m:rPr>
                          <a:rPr lang="en-US" sz="2400" dirty="0">
                            <a:solidFill>
                              <a:prstClr val="black"/>
                            </a:solidFill>
                            <a:latin typeface="Arial" panose="020B0604020202020204" pitchFamily="34" charset="0"/>
                            <a:cs typeface="Arial" panose="020B0604020202020204" pitchFamily="34" charset="0"/>
                          </a:rPr>
                          <m:t>á</m:t>
                        </m:r>
                        <m:r>
                          <m:rPr>
                            <m:nor/>
                          </m:rPr>
                          <a:rPr lang="en-US" sz="2400" dirty="0">
                            <a:solidFill>
                              <a:prstClr val="black"/>
                            </a:solidFill>
                            <a:latin typeface="Arial" panose="020B0604020202020204" pitchFamily="34" charset="0"/>
                            <a:cs typeface="Arial" panose="020B0604020202020204" pitchFamily="34" charset="0"/>
                          </a:rPr>
                          <m:t>y</m:t>
                        </m:r>
                        <m:r>
                          <m:rPr>
                            <m:nor/>
                          </m:rPr>
                          <a:rPr lang="en-US" sz="2400" dirty="0">
                            <a:solidFill>
                              <a:prstClr val="black"/>
                            </a:solidFill>
                            <a:latin typeface="Arial" panose="020B0604020202020204" pitchFamily="34" charset="0"/>
                            <a:cs typeface="Arial" panose="020B0604020202020204" pitchFamily="34" charset="0"/>
                          </a:rPr>
                          <m:t> </m:t>
                        </m:r>
                        <m:r>
                          <m:rPr>
                            <m:nor/>
                          </m:rPr>
                          <a:rPr lang="en-US" sz="2400" dirty="0">
                            <a:solidFill>
                              <a:prstClr val="black"/>
                            </a:solidFill>
                            <a:latin typeface="Arial" panose="020B0604020202020204" pitchFamily="34" charset="0"/>
                            <a:cs typeface="Arial" panose="020B0604020202020204" pitchFamily="34" charset="0"/>
                          </a:rPr>
                          <m:t>t</m:t>
                        </m:r>
                        <m:r>
                          <m:rPr>
                            <m:nor/>
                          </m:rPr>
                          <a:rPr lang="en-US" sz="2400" dirty="0">
                            <a:solidFill>
                              <a:prstClr val="black"/>
                            </a:solidFill>
                            <a:latin typeface="Arial" panose="020B0604020202020204" pitchFamily="34" charset="0"/>
                            <a:cs typeface="Arial" panose="020B0604020202020204" pitchFamily="34" charset="0"/>
                          </a:rPr>
                          <m:t>í</m:t>
                        </m:r>
                        <m:r>
                          <m:rPr>
                            <m:nor/>
                          </m:rPr>
                          <a:rPr lang="en-US" sz="2400" dirty="0">
                            <a:solidFill>
                              <a:prstClr val="black"/>
                            </a:solidFill>
                            <a:latin typeface="Arial" panose="020B0604020202020204" pitchFamily="34" charset="0"/>
                            <a:cs typeface="Arial" panose="020B0604020202020204" pitchFamily="34" charset="0"/>
                          </a:rPr>
                          <m:t>nh</m:t>
                        </m:r>
                        <m:r>
                          <m:rPr>
                            <m:nor/>
                          </m:rPr>
                          <a:rPr lang="en-US" sz="2400" dirty="0">
                            <a:solidFill>
                              <a:prstClr val="black"/>
                            </a:solidFill>
                            <a:latin typeface="Arial" panose="020B0604020202020204" pitchFamily="34" charset="0"/>
                            <a:cs typeface="Arial" panose="020B0604020202020204" pitchFamily="34" charset="0"/>
                          </a:rPr>
                          <m:t> </m:t>
                        </m:r>
                        <m:r>
                          <m:rPr>
                            <m:nor/>
                          </m:rPr>
                          <a:rPr lang="en-US" sz="2400" dirty="0">
                            <a:solidFill>
                              <a:prstClr val="black"/>
                            </a:solidFill>
                            <a:latin typeface="Arial" panose="020B0604020202020204" pitchFamily="34" charset="0"/>
                            <a:cs typeface="Arial" panose="020B0604020202020204" pitchFamily="34" charset="0"/>
                          </a:rPr>
                          <m:t>B</m:t>
                        </m:r>
                      </m:den>
                    </m:f>
                  </m:oMath>
                </a14:m>
                <a:r>
                  <a:rPr lang="en-VN" sz="2400" dirty="0">
                    <a:latin typeface="Arial" panose="020B0604020202020204" pitchFamily="34" charset="0"/>
                    <a:cs typeface="Arial" panose="020B0604020202020204" pitchFamily="34" charset="0"/>
                  </a:rPr>
                  <a:t> = </a:t>
                </a:r>
                <a14:m>
                  <m:oMath xmlns:m="http://schemas.openxmlformats.org/officeDocument/2006/math">
                    <m:f>
                      <m:fPr>
                        <m:ctrlPr>
                          <a:rPr lang="en-US" sz="2400" i="1">
                            <a:latin typeface="Cambria Math" panose="02040503050406030204" pitchFamily="18" charset="0"/>
                            <a:cs typeface="Arial" panose="020B0604020202020204" pitchFamily="34" charset="0"/>
                          </a:rPr>
                        </m:ctrlPr>
                      </m:fPr>
                      <m:num>
                        <m:r>
                          <m:rPr>
                            <m:nor/>
                          </m:rPr>
                          <a:rPr lang="en-US" sz="2400" dirty="0">
                            <a:latin typeface="Arial" panose="020B0604020202020204" pitchFamily="34" charset="0"/>
                            <a:cs typeface="Arial" panose="020B0604020202020204" pitchFamily="34" charset="0"/>
                          </a:rPr>
                          <m:t>Th</m:t>
                        </m:r>
                        <m:r>
                          <m:rPr>
                            <m:nor/>
                          </m:rPr>
                          <a:rPr lang="en-US" sz="2400" dirty="0">
                            <a:latin typeface="Arial" panose="020B0604020202020204" pitchFamily="34" charset="0"/>
                            <a:cs typeface="Arial" panose="020B0604020202020204" pitchFamily="34" charset="0"/>
                          </a:rPr>
                          <m:t>ờ</m:t>
                        </m:r>
                        <m:r>
                          <m:rPr>
                            <m:nor/>
                          </m:rPr>
                          <a:rPr lang="en-US" sz="2400" dirty="0">
                            <a:latin typeface="Arial" panose="020B0604020202020204" pitchFamily="34" charset="0"/>
                            <a:cs typeface="Arial" panose="020B0604020202020204" pitchFamily="34" charset="0"/>
                          </a:rPr>
                          <m:t>i</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gian</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th</m:t>
                        </m:r>
                        <m:r>
                          <m:rPr>
                            <m:nor/>
                          </m:rPr>
                          <a:rPr lang="en-US" sz="2400" dirty="0">
                            <a:latin typeface="Arial" panose="020B0604020202020204" pitchFamily="34" charset="0"/>
                            <a:cs typeface="Arial" panose="020B0604020202020204" pitchFamily="34" charset="0"/>
                          </a:rPr>
                          <m:t>ự</m:t>
                        </m:r>
                        <m:r>
                          <m:rPr>
                            <m:nor/>
                          </m:rPr>
                          <a:rPr lang="en-US" sz="2400" dirty="0">
                            <a:latin typeface="Arial" panose="020B0604020202020204" pitchFamily="34" charset="0"/>
                            <a:cs typeface="Arial" panose="020B0604020202020204" pitchFamily="34" charset="0"/>
                          </a:rPr>
                          <m:t>c</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thi</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m</m:t>
                        </m:r>
                        <m:r>
                          <m:rPr>
                            <m:nor/>
                          </m:rPr>
                          <a:rPr lang="en-US" sz="2400" dirty="0">
                            <a:latin typeface="Arial" panose="020B0604020202020204" pitchFamily="34" charset="0"/>
                            <a:cs typeface="Arial" panose="020B0604020202020204" pitchFamily="34" charset="0"/>
                          </a:rPr>
                          <m:t>á</m:t>
                        </m:r>
                        <m:r>
                          <m:rPr>
                            <m:nor/>
                          </m:rPr>
                          <a:rPr lang="en-US" sz="2400" dirty="0">
                            <a:latin typeface="Arial" panose="020B0604020202020204" pitchFamily="34" charset="0"/>
                            <a:cs typeface="Arial" panose="020B0604020202020204" pitchFamily="34" charset="0"/>
                          </a:rPr>
                          <m:t>y</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t</m:t>
                        </m:r>
                        <m:r>
                          <m:rPr>
                            <m:nor/>
                          </m:rPr>
                          <a:rPr lang="en-US" sz="2400" dirty="0">
                            <a:latin typeface="Arial" panose="020B0604020202020204" pitchFamily="34" charset="0"/>
                            <a:cs typeface="Arial" panose="020B0604020202020204" pitchFamily="34" charset="0"/>
                          </a:rPr>
                          <m:t>í</m:t>
                        </m:r>
                        <m:r>
                          <m:rPr>
                            <m:nor/>
                          </m:rPr>
                          <a:rPr lang="en-US" sz="2400" dirty="0">
                            <a:latin typeface="Arial" panose="020B0604020202020204" pitchFamily="34" charset="0"/>
                            <a:cs typeface="Arial" panose="020B0604020202020204" pitchFamily="34" charset="0"/>
                          </a:rPr>
                          <m:t>nh</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B</m:t>
                        </m:r>
                      </m:num>
                      <m:den>
                        <m:r>
                          <m:rPr>
                            <m:nor/>
                          </m:rPr>
                          <a:rPr lang="en-US" sz="2400" dirty="0">
                            <a:latin typeface="Arial" panose="020B0604020202020204" pitchFamily="34" charset="0"/>
                            <a:cs typeface="Arial" panose="020B0604020202020204" pitchFamily="34" charset="0"/>
                          </a:rPr>
                          <m:t>Th</m:t>
                        </m:r>
                        <m:r>
                          <m:rPr>
                            <m:nor/>
                          </m:rPr>
                          <a:rPr lang="en-US" sz="2400" dirty="0">
                            <a:latin typeface="Arial" panose="020B0604020202020204" pitchFamily="34" charset="0"/>
                            <a:cs typeface="Arial" panose="020B0604020202020204" pitchFamily="34" charset="0"/>
                          </a:rPr>
                          <m:t>ờ</m:t>
                        </m:r>
                        <m:r>
                          <m:rPr>
                            <m:nor/>
                          </m:rPr>
                          <a:rPr lang="en-US" sz="2400" dirty="0">
                            <a:latin typeface="Arial" panose="020B0604020202020204" pitchFamily="34" charset="0"/>
                            <a:cs typeface="Arial" panose="020B0604020202020204" pitchFamily="34" charset="0"/>
                          </a:rPr>
                          <m:t>i</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gian</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th</m:t>
                        </m:r>
                        <m:r>
                          <m:rPr>
                            <m:nor/>
                          </m:rPr>
                          <a:rPr lang="en-US" sz="2400" dirty="0">
                            <a:latin typeface="Arial" panose="020B0604020202020204" pitchFamily="34" charset="0"/>
                            <a:cs typeface="Arial" panose="020B0604020202020204" pitchFamily="34" charset="0"/>
                          </a:rPr>
                          <m:t>ự</m:t>
                        </m:r>
                        <m:r>
                          <m:rPr>
                            <m:nor/>
                          </m:rPr>
                          <a:rPr lang="en-US" sz="2400" dirty="0">
                            <a:latin typeface="Arial" panose="020B0604020202020204" pitchFamily="34" charset="0"/>
                            <a:cs typeface="Arial" panose="020B0604020202020204" pitchFamily="34" charset="0"/>
                          </a:rPr>
                          <m:t>c</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thi</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m</m:t>
                        </m:r>
                        <m:r>
                          <m:rPr>
                            <m:nor/>
                          </m:rPr>
                          <a:rPr lang="en-US" sz="2400" dirty="0">
                            <a:latin typeface="Arial" panose="020B0604020202020204" pitchFamily="34" charset="0"/>
                            <a:cs typeface="Arial" panose="020B0604020202020204" pitchFamily="34" charset="0"/>
                          </a:rPr>
                          <m:t>á</m:t>
                        </m:r>
                        <m:r>
                          <m:rPr>
                            <m:nor/>
                          </m:rPr>
                          <a:rPr lang="en-US" sz="2400" dirty="0">
                            <a:latin typeface="Arial" panose="020B0604020202020204" pitchFamily="34" charset="0"/>
                            <a:cs typeface="Arial" panose="020B0604020202020204" pitchFamily="34" charset="0"/>
                          </a:rPr>
                          <m:t>y</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t</m:t>
                        </m:r>
                        <m:r>
                          <m:rPr>
                            <m:nor/>
                          </m:rPr>
                          <a:rPr lang="en-US" sz="2400" dirty="0">
                            <a:latin typeface="Arial" panose="020B0604020202020204" pitchFamily="34" charset="0"/>
                            <a:cs typeface="Arial" panose="020B0604020202020204" pitchFamily="34" charset="0"/>
                          </a:rPr>
                          <m:t>í</m:t>
                        </m:r>
                        <m:r>
                          <m:rPr>
                            <m:nor/>
                          </m:rPr>
                          <a:rPr lang="en-US" sz="2400" dirty="0">
                            <a:latin typeface="Arial" panose="020B0604020202020204" pitchFamily="34" charset="0"/>
                            <a:cs typeface="Arial" panose="020B0604020202020204" pitchFamily="34" charset="0"/>
                          </a:rPr>
                          <m:t>nh</m:t>
                        </m:r>
                        <m:r>
                          <m:rPr>
                            <m:nor/>
                          </m:rPr>
                          <a:rPr lang="en-US" sz="2400" dirty="0">
                            <a:latin typeface="Arial" panose="020B0604020202020204" pitchFamily="34" charset="0"/>
                            <a:cs typeface="Arial" panose="020B0604020202020204" pitchFamily="34" charset="0"/>
                          </a:rPr>
                          <m:t> </m:t>
                        </m:r>
                        <m:r>
                          <m:rPr>
                            <m:nor/>
                          </m:rPr>
                          <a:rPr lang="en-US" sz="2400" dirty="0">
                            <a:latin typeface="Arial" panose="020B0604020202020204" pitchFamily="34" charset="0"/>
                            <a:cs typeface="Arial" panose="020B0604020202020204" pitchFamily="34" charset="0"/>
                          </a:rPr>
                          <m:t>A</m:t>
                        </m:r>
                      </m:den>
                    </m:f>
                  </m:oMath>
                </a14:m>
                <a:endParaRPr lang="en-VN" sz="2400"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BC4E6E7C-5F69-2C2C-110D-8CEE25AAF6A8}"/>
                  </a:ext>
                </a:extLst>
              </p:cNvPr>
              <p:cNvSpPr txBox="1">
                <a:spLocks noRot="1" noChangeAspect="1" noMove="1" noResize="1" noEditPoints="1" noAdjustHandles="1" noChangeArrowheads="1" noChangeShapeType="1" noTextEdit="1"/>
              </p:cNvSpPr>
              <p:nvPr/>
            </p:nvSpPr>
            <p:spPr>
              <a:xfrm>
                <a:off x="2771512" y="3478390"/>
                <a:ext cx="8630780" cy="876074"/>
              </a:xfrm>
              <a:prstGeom prst="rect">
                <a:avLst/>
              </a:prstGeom>
              <a:blipFill>
                <a:blip r:embed="rId2"/>
                <a:stretch>
                  <a:fillRect l="-588" b="-11594"/>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B7D31D5-AB25-6A60-DE5A-7948B097222D}"/>
                  </a:ext>
                </a:extLst>
              </p:cNvPr>
              <p:cNvSpPr txBox="1"/>
              <p:nvPr/>
            </p:nvSpPr>
            <p:spPr>
              <a:xfrm>
                <a:off x="5690450" y="4296269"/>
                <a:ext cx="6096000" cy="706091"/>
              </a:xfrm>
              <a:prstGeom prst="rect">
                <a:avLst/>
              </a:prstGeom>
              <a:noFill/>
            </p:spPr>
            <p:txBody>
              <a:bodyPr wrap="square">
                <a:spAutoFit/>
              </a:bodyPr>
              <a:lstStyle/>
              <a:p>
                <a:r>
                  <a:rPr lang="en-US" sz="2800" dirty="0"/>
                  <a:t>=</a:t>
                </a:r>
                <a:r>
                  <a:rPr lang="en-US" sz="1800" dirty="0"/>
                  <a:t> </a:t>
                </a:r>
                <a14:m>
                  <m:oMath xmlns:m="http://schemas.openxmlformats.org/officeDocument/2006/math">
                    <m:f>
                      <m:fPr>
                        <m:ctrlPr>
                          <a:rPr lang="en-US" sz="2400" i="1" smtClean="0">
                            <a:latin typeface="Cambria Math" panose="02040503050406030204" pitchFamily="18" charset="0"/>
                          </a:rPr>
                        </m:ctrlPr>
                      </m:fPr>
                      <m:num>
                        <m:r>
                          <m:rPr>
                            <m:nor/>
                          </m:rPr>
                          <a:rPr lang="vi-VN" sz="2400" b="0" i="1" smtClean="0">
                            <a:latin typeface="Arial" panose="020B0604020202020204" pitchFamily="34" charset="0"/>
                            <a:cs typeface="Arial" panose="020B0604020202020204" pitchFamily="34" charset="0"/>
                          </a:rPr>
                          <m:t>15</m:t>
                        </m:r>
                      </m:num>
                      <m:den>
                        <m:r>
                          <m:rPr>
                            <m:nor/>
                          </m:rPr>
                          <a:rPr lang="en-US" sz="2400" dirty="0">
                            <a:latin typeface="Arial" panose="020B0604020202020204" pitchFamily="34" charset="0"/>
                            <a:cs typeface="Arial" panose="020B0604020202020204" pitchFamily="34" charset="0"/>
                          </a:rPr>
                          <m:t>10</m:t>
                        </m:r>
                      </m:den>
                    </m:f>
                  </m:oMath>
                </a14:m>
                <a:r>
                  <a:rPr lang="en-VN" sz="1800" dirty="0">
                    <a:latin typeface="Arial" panose="020B0604020202020204" pitchFamily="34" charset="0"/>
                    <a:cs typeface="Arial" panose="020B0604020202020204" pitchFamily="34" charset="0"/>
                  </a:rPr>
                  <a:t> </a:t>
                </a:r>
                <a:endParaRPr lang="en-VN" dirty="0"/>
              </a:p>
            </p:txBody>
          </p:sp>
        </mc:Choice>
        <mc:Fallback xmlns="">
          <p:sp>
            <p:nvSpPr>
              <p:cNvPr id="11" name="TextBox 10">
                <a:extLst>
                  <a:ext uri="{FF2B5EF4-FFF2-40B4-BE49-F238E27FC236}">
                    <a16:creationId xmlns:a16="http://schemas.microsoft.com/office/drawing/2014/main" id="{BB7D31D5-AB25-6A60-DE5A-7948B097222D}"/>
                  </a:ext>
                </a:extLst>
              </p:cNvPr>
              <p:cNvSpPr txBox="1">
                <a:spLocks noRot="1" noChangeAspect="1" noMove="1" noResize="1" noEditPoints="1" noAdjustHandles="1" noChangeArrowheads="1" noChangeShapeType="1" noTextEdit="1"/>
              </p:cNvSpPr>
              <p:nvPr/>
            </p:nvSpPr>
            <p:spPr>
              <a:xfrm>
                <a:off x="5690450" y="4296269"/>
                <a:ext cx="6096000" cy="706091"/>
              </a:xfrm>
              <a:prstGeom prst="rect">
                <a:avLst/>
              </a:prstGeom>
              <a:blipFill>
                <a:blip r:embed="rId3"/>
                <a:stretch>
                  <a:fillRect l="-1871" b="-12281"/>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7F6D2B1A-737A-A859-252A-32D9281F5DBE}"/>
              </a:ext>
            </a:extLst>
          </p:cNvPr>
          <p:cNvSpPr txBox="1"/>
          <p:nvPr/>
        </p:nvSpPr>
        <p:spPr>
          <a:xfrm>
            <a:off x="5704305" y="5024647"/>
            <a:ext cx="892264" cy="461665"/>
          </a:xfrm>
          <a:prstGeom prst="rect">
            <a:avLst/>
          </a:prstGeom>
          <a:noFill/>
        </p:spPr>
        <p:txBody>
          <a:bodyPr wrap="square" rtlCol="0">
            <a:spAutoFit/>
          </a:bodyPr>
          <a:lstStyle/>
          <a:p>
            <a:r>
              <a:rPr lang="en-VN" sz="2400" dirty="0">
                <a:latin typeface="Arial" panose="020B0604020202020204" pitchFamily="34" charset="0"/>
                <a:cs typeface="Arial" panose="020B0604020202020204" pitchFamily="34" charset="0"/>
              </a:rPr>
              <a:t>=1.5</a:t>
            </a:r>
          </a:p>
        </p:txBody>
      </p:sp>
    </p:spTree>
    <p:extLst>
      <p:ext uri="{BB962C8B-B14F-4D97-AF65-F5344CB8AC3E}">
        <p14:creationId xmlns:p14="http://schemas.microsoft.com/office/powerpoint/2010/main" val="92964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sz="4400" dirty="0"/>
              <a:t>2. Clock</a:t>
            </a:r>
            <a:endParaRPr lang="en-US"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3705844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sz="4000"/>
              <a:t>Clock</a:t>
            </a:r>
            <a:endParaRPr lang="en-US" b="1" dirty="0"/>
          </a:p>
        </p:txBody>
      </p:sp>
      <p:sp>
        <p:nvSpPr>
          <p:cNvPr id="10" name="Content Placeholder 9">
            <a:extLst>
              <a:ext uri="{FF2B5EF4-FFF2-40B4-BE49-F238E27FC236}">
                <a16:creationId xmlns:a16="http://schemas.microsoft.com/office/drawing/2014/main" id="{9C8A759A-44F6-797A-516E-A2BA4F51F4EF}"/>
              </a:ext>
            </a:extLst>
          </p:cNvPr>
          <p:cNvSpPr>
            <a:spLocks noGrp="1"/>
          </p:cNvSpPr>
          <p:nvPr>
            <p:ph idx="1"/>
          </p:nvPr>
        </p:nvSpPr>
        <p:spPr/>
        <p:txBody>
          <a:bodyPr/>
          <a:lstStyle/>
          <a:p>
            <a:pPr algn="just">
              <a:lnSpc>
                <a:spcPct val="150000"/>
              </a:lnSpc>
            </a:pPr>
            <a:r>
              <a:rPr lang="en-US" dirty="0" err="1"/>
              <a:t>Máy</a:t>
            </a:r>
            <a:r>
              <a:rPr lang="en-US" dirty="0"/>
              <a:t> </a:t>
            </a:r>
            <a:r>
              <a:rPr lang="en-US" dirty="0" err="1"/>
              <a:t>tính</a:t>
            </a:r>
            <a:r>
              <a:rPr lang="en-US" dirty="0"/>
              <a:t> </a:t>
            </a:r>
            <a:r>
              <a:rPr lang="en-US" dirty="0" err="1"/>
              <a:t>cần</a:t>
            </a:r>
            <a:r>
              <a:rPr lang="en-US" dirty="0"/>
              <a:t> </a:t>
            </a:r>
            <a:r>
              <a:rPr lang="en-US" dirty="0" err="1"/>
              <a:t>một</a:t>
            </a:r>
            <a:r>
              <a:rPr lang="en-US" dirty="0"/>
              <a:t> clock </a:t>
            </a:r>
            <a:r>
              <a:rPr lang="en-US" dirty="0" err="1"/>
              <a:t>để</a:t>
            </a:r>
            <a:r>
              <a:rPr lang="en-US" dirty="0"/>
              <a:t> </a:t>
            </a:r>
            <a:r>
              <a:rPr lang="en-US" dirty="0" err="1"/>
              <a:t>xác</a:t>
            </a:r>
            <a:r>
              <a:rPr lang="en-US" dirty="0"/>
              <a:t> </a:t>
            </a:r>
            <a:r>
              <a:rPr lang="en-US" dirty="0" err="1"/>
              <a:t>định</a:t>
            </a:r>
            <a:r>
              <a:rPr lang="en-US" dirty="0"/>
              <a:t> </a:t>
            </a:r>
            <a:r>
              <a:rPr lang="en-US" dirty="0" err="1"/>
              <a:t>khi</a:t>
            </a:r>
            <a:r>
              <a:rPr lang="en-US" dirty="0"/>
              <a:t> </a:t>
            </a:r>
            <a:r>
              <a:rPr lang="en-US" dirty="0" err="1"/>
              <a:t>nào</a:t>
            </a:r>
            <a:r>
              <a:rPr lang="en-US" dirty="0"/>
              <a:t> </a:t>
            </a:r>
            <a:r>
              <a:rPr lang="en-US" dirty="0" err="1"/>
              <a:t>một</a:t>
            </a:r>
            <a:r>
              <a:rPr lang="en-US" dirty="0"/>
              <a:t> </a:t>
            </a:r>
            <a:r>
              <a:rPr lang="en-US" dirty="0" err="1"/>
              <a:t>thao</a:t>
            </a:r>
            <a:r>
              <a:rPr lang="en-US" dirty="0"/>
              <a:t> </a:t>
            </a:r>
            <a:r>
              <a:rPr lang="en-US" dirty="0" err="1"/>
              <a:t>tác</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trong</a:t>
            </a:r>
            <a:r>
              <a:rPr lang="en-US" dirty="0"/>
              <a:t> </a:t>
            </a:r>
            <a:r>
              <a:rPr lang="en-US" dirty="0" err="1"/>
              <a:t>phần</a:t>
            </a:r>
            <a:r>
              <a:rPr lang="en-US" dirty="0"/>
              <a:t> </a:t>
            </a:r>
            <a:r>
              <a:rPr lang="en-US" dirty="0" err="1"/>
              <a:t>cứng</a:t>
            </a:r>
            <a:endParaRPr lang="en-US" b="1" dirty="0"/>
          </a:p>
          <a:p>
            <a:pPr lvl="1" algn="just">
              <a:lnSpc>
                <a:spcPct val="150000"/>
              </a:lnSpc>
            </a:pPr>
            <a:r>
              <a:rPr lang="en-US" dirty="0" err="1"/>
              <a:t>Khối</a:t>
            </a:r>
            <a:r>
              <a:rPr lang="en-US" dirty="0"/>
              <a:t> </a:t>
            </a:r>
            <a:r>
              <a:rPr lang="en-US" dirty="0" err="1"/>
              <a:t>tạo</a:t>
            </a:r>
            <a:r>
              <a:rPr lang="en-US" dirty="0"/>
              <a:t> </a:t>
            </a:r>
            <a:r>
              <a:rPr lang="en-US" dirty="0" err="1"/>
              <a:t>ra</a:t>
            </a:r>
            <a:r>
              <a:rPr lang="en-US" dirty="0"/>
              <a:t> </a:t>
            </a:r>
            <a:r>
              <a:rPr lang="en-US" dirty="0" err="1"/>
              <a:t>các</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định</a:t>
            </a:r>
            <a:r>
              <a:rPr lang="en-US" dirty="0"/>
              <a:t> </a:t>
            </a:r>
            <a:r>
              <a:rPr lang="en-US" dirty="0" err="1"/>
              <a:t>thời</a:t>
            </a:r>
            <a:r>
              <a:rPr lang="en-US" dirty="0"/>
              <a:t> </a:t>
            </a:r>
            <a:r>
              <a:rPr lang="en-US" dirty="0" err="1"/>
              <a:t>cho</a:t>
            </a:r>
            <a:r>
              <a:rPr lang="en-US" dirty="0"/>
              <a:t> </a:t>
            </a:r>
            <a:r>
              <a:rPr lang="en-US" dirty="0" err="1"/>
              <a:t>máy</a:t>
            </a:r>
            <a:r>
              <a:rPr lang="en-US" dirty="0"/>
              <a:t> </a:t>
            </a:r>
            <a:r>
              <a:rPr lang="en-US" dirty="0" err="1"/>
              <a:t>tính</a:t>
            </a:r>
            <a:r>
              <a:rPr lang="en-US" dirty="0"/>
              <a:t> </a:t>
            </a:r>
            <a:r>
              <a:rPr lang="en-US" dirty="0" err="1"/>
              <a:t>làm</a:t>
            </a:r>
            <a:r>
              <a:rPr lang="en-US" dirty="0"/>
              <a:t> </a:t>
            </a:r>
            <a:r>
              <a:rPr lang="en-US" dirty="0" err="1"/>
              <a:t>việc</a:t>
            </a:r>
            <a:r>
              <a:rPr lang="en-US" dirty="0"/>
              <a:t> </a:t>
            </a:r>
            <a:r>
              <a:rPr lang="en-US" dirty="0" err="1"/>
              <a:t>này</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khối</a:t>
            </a:r>
            <a:r>
              <a:rPr lang="en-US" dirty="0"/>
              <a:t> </a:t>
            </a:r>
            <a:r>
              <a:rPr lang="en-US" dirty="0" err="1"/>
              <a:t>tạo</a:t>
            </a:r>
            <a:r>
              <a:rPr lang="en-US" dirty="0"/>
              <a:t> clock.</a:t>
            </a:r>
          </a:p>
          <a:p>
            <a:pPr>
              <a:lnSpc>
                <a:spcPct val="150000"/>
              </a:lnSpc>
            </a:pPr>
            <a:r>
              <a:rPr lang="en-US" dirty="0"/>
              <a:t>Hai </a:t>
            </a:r>
            <a:r>
              <a:rPr lang="en-US" dirty="0" err="1"/>
              <a:t>khái</a:t>
            </a:r>
            <a:r>
              <a:rPr lang="en-US" dirty="0"/>
              <a:t> </a:t>
            </a:r>
            <a:r>
              <a:rPr lang="en-US" dirty="0" err="1"/>
              <a:t>niệm</a:t>
            </a:r>
            <a:r>
              <a:rPr lang="en-US" dirty="0"/>
              <a:t> </a:t>
            </a:r>
            <a:r>
              <a:rPr lang="en-US" dirty="0" err="1"/>
              <a:t>liên</a:t>
            </a:r>
            <a:r>
              <a:rPr lang="en-US" dirty="0"/>
              <a:t> </a:t>
            </a:r>
            <a:r>
              <a:rPr lang="en-US" dirty="0" err="1"/>
              <a:t>quan</a:t>
            </a:r>
            <a:r>
              <a:rPr lang="en-US" dirty="0"/>
              <a:t> </a:t>
            </a:r>
            <a:r>
              <a:rPr lang="en-US" dirty="0" err="1"/>
              <a:t>đến</a:t>
            </a:r>
            <a:r>
              <a:rPr lang="en-US" dirty="0"/>
              <a:t> clock</a:t>
            </a:r>
            <a:r>
              <a:rPr lang="en-US" sz="2400" dirty="0"/>
              <a:t>:</a:t>
            </a:r>
          </a:p>
          <a:p>
            <a:pPr lvl="1">
              <a:lnSpc>
                <a:spcPct val="150000"/>
              </a:lnSpc>
            </a:pPr>
            <a:r>
              <a:rPr lang="en-US" sz="2200" dirty="0"/>
              <a:t>Chu </a:t>
            </a:r>
            <a:r>
              <a:rPr lang="en-US" sz="2200" dirty="0" err="1"/>
              <a:t>kỳ</a:t>
            </a:r>
            <a:r>
              <a:rPr lang="en-US" sz="2200" dirty="0"/>
              <a:t> (Clock cycle) (T)</a:t>
            </a:r>
          </a:p>
          <a:p>
            <a:pPr lvl="1">
              <a:lnSpc>
                <a:spcPct val="150000"/>
              </a:lnSpc>
            </a:pPr>
            <a:r>
              <a:rPr lang="en-US" sz="2400" dirty="0" err="1"/>
              <a:t>Tần</a:t>
            </a:r>
            <a:r>
              <a:rPr lang="en-US" sz="2400" dirty="0"/>
              <a:t> </a:t>
            </a:r>
            <a:r>
              <a:rPr lang="en-US" sz="2400" dirty="0" err="1"/>
              <a:t>số</a:t>
            </a:r>
            <a:r>
              <a:rPr lang="en-US" sz="2400" dirty="0"/>
              <a:t> (Clock rate </a:t>
            </a:r>
            <a:r>
              <a:rPr lang="en-US" sz="2400" dirty="0" err="1"/>
              <a:t>hoặc</a:t>
            </a:r>
            <a:r>
              <a:rPr lang="en-US" sz="2400" dirty="0"/>
              <a:t> clock frequency) (F)</a:t>
            </a:r>
          </a:p>
          <a:p>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Tree>
    <p:extLst>
      <p:ext uri="{BB962C8B-B14F-4D97-AF65-F5344CB8AC3E}">
        <p14:creationId xmlns:p14="http://schemas.microsoft.com/office/powerpoint/2010/main" val="2384781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sz="4000"/>
              <a:t>Clock (tt)</a:t>
            </a:r>
            <a:endParaRPr lang="en-US" b="1" dirty="0"/>
          </a:p>
        </p:txBody>
      </p:sp>
      <p:sp>
        <p:nvSpPr>
          <p:cNvPr id="10" name="Content Placeholder 9">
            <a:extLst>
              <a:ext uri="{FF2B5EF4-FFF2-40B4-BE49-F238E27FC236}">
                <a16:creationId xmlns:a16="http://schemas.microsoft.com/office/drawing/2014/main" id="{9C8A759A-44F6-797A-516E-A2BA4F51F4EF}"/>
              </a:ext>
            </a:extLst>
          </p:cNvPr>
          <p:cNvSpPr>
            <a:spLocks noGrp="1"/>
          </p:cNvSpPr>
          <p:nvPr>
            <p:ph idx="1"/>
          </p:nvPr>
        </p:nvSpPr>
        <p:spPr/>
        <p:txBody>
          <a:bodyPr/>
          <a:lstStyle/>
          <a:p>
            <a:pPr algn="just"/>
            <a:r>
              <a:rPr lang="en-US" b="1"/>
              <a:t>Chu kỳ clock </a:t>
            </a:r>
            <a:r>
              <a:rPr lang="en-US"/>
              <a:t>và </a:t>
            </a:r>
            <a:r>
              <a:rPr lang="en-US" b="1"/>
              <a:t>tần số clock</a:t>
            </a:r>
          </a:p>
          <a:p>
            <a:endParaRPr lang="en-US"/>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10</a:t>
            </a:fld>
            <a:endParaRPr lang="en-VN" dirty="0"/>
          </a:p>
        </p:txBody>
      </p:sp>
      <p:pic>
        <p:nvPicPr>
          <p:cNvPr id="3" name="Picture 2">
            <a:extLst>
              <a:ext uri="{FF2B5EF4-FFF2-40B4-BE49-F238E27FC236}">
                <a16:creationId xmlns:a16="http://schemas.microsoft.com/office/drawing/2014/main" id="{C30F831C-8DF7-07B4-1C0D-70375CE364CA}"/>
              </a:ext>
            </a:extLst>
          </p:cNvPr>
          <p:cNvPicPr>
            <a:picLocks noChangeAspect="1"/>
          </p:cNvPicPr>
          <p:nvPr/>
        </p:nvPicPr>
        <p:blipFill>
          <a:blip r:embed="rId2"/>
          <a:stretch>
            <a:fillRect/>
          </a:stretch>
        </p:blipFill>
        <p:spPr>
          <a:xfrm>
            <a:off x="1868773" y="1947420"/>
            <a:ext cx="8454453" cy="2658359"/>
          </a:xfrm>
          <a:prstGeom prst="rect">
            <a:avLst/>
          </a:prstGeom>
        </p:spPr>
      </p:pic>
      <p:pic>
        <p:nvPicPr>
          <p:cNvPr id="6" name="Picture 5">
            <a:extLst>
              <a:ext uri="{FF2B5EF4-FFF2-40B4-BE49-F238E27FC236}">
                <a16:creationId xmlns:a16="http://schemas.microsoft.com/office/drawing/2014/main" id="{3586E483-DA2C-8028-2CE5-845CCF872D29}"/>
              </a:ext>
            </a:extLst>
          </p:cNvPr>
          <p:cNvPicPr>
            <a:picLocks noChangeAspect="1"/>
          </p:cNvPicPr>
          <p:nvPr/>
        </p:nvPicPr>
        <p:blipFill>
          <a:blip r:embed="rId3"/>
          <a:stretch>
            <a:fillRect/>
          </a:stretch>
        </p:blipFill>
        <p:spPr>
          <a:xfrm>
            <a:off x="2401534" y="4723150"/>
            <a:ext cx="7388930" cy="1221699"/>
          </a:xfrm>
          <a:prstGeom prst="rect">
            <a:avLst/>
          </a:prstGeom>
        </p:spPr>
      </p:pic>
      <p:pic>
        <p:nvPicPr>
          <p:cNvPr id="1026" name="Picture 2" descr="Clocks and Timing">
            <a:extLst>
              <a:ext uri="{FF2B5EF4-FFF2-40B4-BE49-F238E27FC236}">
                <a16:creationId xmlns:a16="http://schemas.microsoft.com/office/drawing/2014/main" id="{DD024563-18D1-8F96-3B47-268CC5A3D3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6580" y="150068"/>
            <a:ext cx="5406801" cy="164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sz="4000"/>
              <a:t>Clock (tt)</a:t>
            </a:r>
            <a:endParaRPr lang="en-US" b="1" dirty="0"/>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AFD75B79-7C89-C642-CE47-41D97C6A2351}"/>
                  </a:ext>
                </a:extLst>
              </p:cNvPr>
              <p:cNvSpPr>
                <a:spLocks noGrp="1" noChangeArrowheads="1"/>
              </p:cNvSpPr>
              <p:nvPr>
                <p:ph idx="1"/>
              </p:nvPr>
            </p:nvSpPr>
            <p:spPr>
              <a:xfrm>
                <a:off x="1069327" y="1675160"/>
                <a:ext cx="10053345" cy="3200400"/>
              </a:xfrm>
            </p:spPr>
            <p:txBody>
              <a:bodyPr>
                <a:normAutofit fontScale="77500" lnSpcReduction="20000"/>
              </a:bodyPr>
              <a:lstStyle/>
              <a:p>
                <a:pPr marL="0" indent="0" algn="ctr">
                  <a:spcAft>
                    <a:spcPts val="1350"/>
                  </a:spcAft>
                  <a:buNone/>
                </a:pPr>
                <a:r>
                  <a:rPr lang="en-US" dirty="0" err="1"/>
                  <a:t>Thời</a:t>
                </a:r>
                <a:r>
                  <a:rPr lang="en-US" dirty="0"/>
                  <a:t> </a:t>
                </a:r>
                <a:r>
                  <a:rPr lang="en-US" dirty="0" err="1"/>
                  <a:t>gian</a:t>
                </a:r>
                <a:r>
                  <a:rPr lang="en-US" dirty="0"/>
                  <a:t> </a:t>
                </a:r>
                <a:r>
                  <a:rPr lang="en-US" dirty="0" err="1"/>
                  <a:t>thực</a:t>
                </a:r>
                <a:r>
                  <a:rPr lang="en-US" dirty="0"/>
                  <a:t> </a:t>
                </a:r>
                <a:r>
                  <a:rPr lang="en-US" dirty="0" err="1"/>
                  <a:t>thi</a:t>
                </a:r>
                <a:r>
                  <a:rPr lang="en-US" dirty="0"/>
                  <a:t> = </a:t>
                </a:r>
                <a:r>
                  <a:rPr lang="en-US" dirty="0" err="1"/>
                  <a:t>Tổng</a:t>
                </a:r>
                <a:r>
                  <a:rPr lang="en-US" dirty="0"/>
                  <a:t> </a:t>
                </a:r>
                <a:r>
                  <a:rPr lang="en-US" dirty="0" err="1"/>
                  <a:t>số</a:t>
                </a:r>
                <a:r>
                  <a:rPr lang="en-US" dirty="0"/>
                  <a:t> chu </a:t>
                </a:r>
                <a:r>
                  <a:rPr lang="en-US" dirty="0" err="1"/>
                  <a:t>kỳ</a:t>
                </a:r>
                <a:r>
                  <a:rPr lang="en-US" dirty="0"/>
                  <a:t> clock * Chu </a:t>
                </a:r>
                <a:r>
                  <a:rPr lang="en-US" dirty="0" err="1"/>
                  <a:t>kỳ</a:t>
                </a:r>
                <a:r>
                  <a:rPr lang="en-US" dirty="0"/>
                  <a:t> clock</a:t>
                </a:r>
              </a:p>
              <a:p>
                <a:pPr marL="0" indent="0">
                  <a:spcAft>
                    <a:spcPts val="1350"/>
                  </a:spcAft>
                  <a:buNone/>
                </a:pPr>
                <a:endParaRPr lang="en-US" sz="2250" dirty="0"/>
              </a:p>
              <a:p>
                <a:pPr marL="0" indent="0">
                  <a:spcBef>
                    <a:spcPts val="750"/>
                  </a:spcBef>
                  <a:buNone/>
                </a:pPr>
                <a14:m>
                  <m:oMathPara xmlns:m="http://schemas.openxmlformats.org/officeDocument/2006/math">
                    <m:oMathParaPr>
                      <m:jc m:val="centerGroup"/>
                    </m:oMathParaPr>
                    <m:oMath xmlns:m="http://schemas.openxmlformats.org/officeDocument/2006/math">
                      <m:r>
                        <m:rPr>
                          <m:nor/>
                        </m:rPr>
                        <a:rPr lang="en-US" b="0" i="0" smtClean="0">
                          <a:sym typeface="Wingdings" pitchFamily="2" charset="2"/>
                        </a:rPr>
                        <m:t>Th</m:t>
                      </m:r>
                      <m:r>
                        <m:rPr>
                          <m:nor/>
                        </m:rPr>
                        <a:rPr lang="en-US" b="0" i="0" smtClean="0">
                          <a:sym typeface="Wingdings" pitchFamily="2" charset="2"/>
                        </a:rPr>
                        <m:t>ờ</m:t>
                      </m:r>
                      <m:r>
                        <m:rPr>
                          <m:nor/>
                        </m:rPr>
                        <a:rPr lang="en-US" b="0" i="0" smtClean="0">
                          <a:sym typeface="Wingdings" pitchFamily="2" charset="2"/>
                        </a:rPr>
                        <m:t>i</m:t>
                      </m:r>
                      <m:r>
                        <m:rPr>
                          <m:nor/>
                        </m:rPr>
                        <a:rPr lang="en-US" b="0" i="0" smtClean="0">
                          <a:sym typeface="Wingdings" pitchFamily="2" charset="2"/>
                        </a:rPr>
                        <m:t> </m:t>
                      </m:r>
                      <m:r>
                        <m:rPr>
                          <m:nor/>
                        </m:rPr>
                        <a:rPr lang="en-US" b="0" i="0" smtClean="0">
                          <a:sym typeface="Wingdings" pitchFamily="2" charset="2"/>
                        </a:rPr>
                        <m:t>gian</m:t>
                      </m:r>
                      <m:r>
                        <m:rPr>
                          <m:nor/>
                        </m:rPr>
                        <a:rPr lang="en-US" b="0" i="0" smtClean="0">
                          <a:sym typeface="Wingdings" pitchFamily="2" charset="2"/>
                        </a:rPr>
                        <m:t> </m:t>
                      </m:r>
                      <m:r>
                        <m:rPr>
                          <m:nor/>
                        </m:rPr>
                        <a:rPr lang="en-US" b="0" i="0" smtClean="0">
                          <a:sym typeface="Wingdings" pitchFamily="2" charset="2"/>
                        </a:rPr>
                        <m:t>th</m:t>
                      </m:r>
                      <m:r>
                        <m:rPr>
                          <m:nor/>
                        </m:rPr>
                        <a:rPr lang="en-US" b="0" i="0" smtClean="0">
                          <a:sym typeface="Wingdings" pitchFamily="2" charset="2"/>
                        </a:rPr>
                        <m:t>ự</m:t>
                      </m:r>
                      <m:r>
                        <m:rPr>
                          <m:nor/>
                        </m:rPr>
                        <a:rPr lang="en-US" b="0" i="0" smtClean="0">
                          <a:sym typeface="Wingdings" pitchFamily="2" charset="2"/>
                        </a:rPr>
                        <m:t>c</m:t>
                      </m:r>
                      <m:r>
                        <m:rPr>
                          <m:nor/>
                        </m:rPr>
                        <a:rPr lang="en-US" b="0" i="0" smtClean="0">
                          <a:sym typeface="Wingdings" pitchFamily="2" charset="2"/>
                        </a:rPr>
                        <m:t> </m:t>
                      </m:r>
                      <m:r>
                        <m:rPr>
                          <m:nor/>
                        </m:rPr>
                        <a:rPr lang="en-US" b="0" i="0" smtClean="0">
                          <a:sym typeface="Wingdings" pitchFamily="2" charset="2"/>
                        </a:rPr>
                        <m:t>thi</m:t>
                      </m:r>
                      <m:r>
                        <m:rPr>
                          <m:nor/>
                        </m:rPr>
                        <a:rPr lang="en-US" b="0" i="0" smtClean="0">
                          <a:sym typeface="Wingdings" pitchFamily="2" charset="2"/>
                        </a:rPr>
                        <m:t> =</m:t>
                      </m:r>
                      <m:f>
                        <m:fPr>
                          <m:ctrlPr>
                            <a:rPr lang="en-US" i="1" smtClean="0">
                              <a:latin typeface="Cambria Math" panose="02040503050406030204" pitchFamily="18" charset="0"/>
                              <a:sym typeface="Wingdings" pitchFamily="2" charset="2"/>
                            </a:rPr>
                          </m:ctrlPr>
                        </m:fPr>
                        <m:num>
                          <m:r>
                            <m:rPr>
                              <m:nor/>
                            </m:rPr>
                            <a:rPr lang="en-US" b="0" i="0" smtClean="0">
                              <a:sym typeface="Wingdings" pitchFamily="2" charset="2"/>
                            </a:rPr>
                            <m:t>T</m:t>
                          </m:r>
                          <m:r>
                            <m:rPr>
                              <m:nor/>
                            </m:rPr>
                            <a:rPr lang="en-US" b="0" i="0" smtClean="0">
                              <a:sym typeface="Wingdings" pitchFamily="2" charset="2"/>
                            </a:rPr>
                            <m:t>ổ</m:t>
                          </m:r>
                          <m:r>
                            <m:rPr>
                              <m:nor/>
                            </m:rPr>
                            <a:rPr lang="en-US" b="0" i="0" smtClean="0">
                              <a:sym typeface="Wingdings" pitchFamily="2" charset="2"/>
                            </a:rPr>
                            <m:t>ng</m:t>
                          </m:r>
                          <m:r>
                            <m:rPr>
                              <m:nor/>
                            </m:rPr>
                            <a:rPr lang="en-US" b="0" i="0" smtClean="0">
                              <a:sym typeface="Wingdings" pitchFamily="2" charset="2"/>
                            </a:rPr>
                            <m:t> </m:t>
                          </m:r>
                          <m:r>
                            <m:rPr>
                              <m:nor/>
                            </m:rPr>
                            <a:rPr lang="en-US" b="0" i="0" smtClean="0">
                              <a:sym typeface="Wingdings" pitchFamily="2" charset="2"/>
                            </a:rPr>
                            <m:t>s</m:t>
                          </m:r>
                          <m:r>
                            <m:rPr>
                              <m:nor/>
                            </m:rPr>
                            <a:rPr lang="en-US" b="0" i="0" smtClean="0">
                              <a:sym typeface="Wingdings" pitchFamily="2" charset="2"/>
                            </a:rPr>
                            <m:t>ố </m:t>
                          </m:r>
                          <m:r>
                            <m:rPr>
                              <m:nor/>
                            </m:rPr>
                            <a:rPr lang="en-US" b="0" i="0" smtClean="0">
                              <a:sym typeface="Wingdings" pitchFamily="2" charset="2"/>
                            </a:rPr>
                            <m:t>chu</m:t>
                          </m:r>
                          <m:r>
                            <m:rPr>
                              <m:nor/>
                            </m:rPr>
                            <a:rPr lang="en-US" b="0" i="0" smtClean="0">
                              <a:sym typeface="Wingdings" pitchFamily="2" charset="2"/>
                            </a:rPr>
                            <m:t> </m:t>
                          </m:r>
                          <m:r>
                            <m:rPr>
                              <m:nor/>
                            </m:rPr>
                            <a:rPr lang="en-US" b="0" i="0" smtClean="0">
                              <a:sym typeface="Wingdings" pitchFamily="2" charset="2"/>
                            </a:rPr>
                            <m:t>k</m:t>
                          </m:r>
                          <m:r>
                            <m:rPr>
                              <m:nor/>
                            </m:rPr>
                            <a:rPr lang="en-US" b="0" i="0" smtClean="0">
                              <a:sym typeface="Wingdings" pitchFamily="2" charset="2"/>
                            </a:rPr>
                            <m:t>ỳ </m:t>
                          </m:r>
                          <m:r>
                            <m:rPr>
                              <m:nor/>
                            </m:rPr>
                            <a:rPr lang="en-US" b="0" i="0" smtClean="0">
                              <a:sym typeface="Wingdings" pitchFamily="2" charset="2"/>
                            </a:rPr>
                            <m:t>clock</m:t>
                          </m:r>
                        </m:num>
                        <m:den>
                          <m:r>
                            <m:rPr>
                              <m:nor/>
                            </m:rPr>
                            <a:rPr lang="en-US" b="0" i="0" smtClean="0">
                              <a:sym typeface="Wingdings" pitchFamily="2" charset="2"/>
                            </a:rPr>
                            <m:t>T</m:t>
                          </m:r>
                          <m:r>
                            <m:rPr>
                              <m:nor/>
                            </m:rPr>
                            <a:rPr lang="en-US" b="0" i="0" smtClean="0">
                              <a:sym typeface="Wingdings" pitchFamily="2" charset="2"/>
                            </a:rPr>
                            <m:t>ầ</m:t>
                          </m:r>
                          <m:r>
                            <m:rPr>
                              <m:nor/>
                            </m:rPr>
                            <a:rPr lang="en-US" b="0" i="0" smtClean="0">
                              <a:sym typeface="Wingdings" pitchFamily="2" charset="2"/>
                            </a:rPr>
                            <m:t>n</m:t>
                          </m:r>
                          <m:r>
                            <m:rPr>
                              <m:nor/>
                            </m:rPr>
                            <a:rPr lang="en-US" b="0" i="0" smtClean="0">
                              <a:sym typeface="Wingdings" pitchFamily="2" charset="2"/>
                            </a:rPr>
                            <m:t> </m:t>
                          </m:r>
                          <m:r>
                            <m:rPr>
                              <m:nor/>
                            </m:rPr>
                            <a:rPr lang="en-US" b="0" i="0" smtClean="0">
                              <a:sym typeface="Wingdings" pitchFamily="2" charset="2"/>
                            </a:rPr>
                            <m:t>s</m:t>
                          </m:r>
                          <m:r>
                            <m:rPr>
                              <m:nor/>
                            </m:rPr>
                            <a:rPr lang="en-US" b="0" i="0" smtClean="0">
                              <a:sym typeface="Wingdings" pitchFamily="2" charset="2"/>
                            </a:rPr>
                            <m:t>ố </m:t>
                          </m:r>
                          <m:r>
                            <m:rPr>
                              <m:nor/>
                            </m:rPr>
                            <a:rPr lang="en-US" b="0" i="0" smtClean="0">
                              <a:sym typeface="Wingdings" pitchFamily="2" charset="2"/>
                            </a:rPr>
                            <m:t>clock</m:t>
                          </m:r>
                        </m:den>
                      </m:f>
                    </m:oMath>
                  </m:oMathPara>
                </a14:m>
                <a:endParaRPr lang="en-US" dirty="0">
                  <a:sym typeface="Wingdings" pitchFamily="2" charset="2"/>
                </a:endParaRPr>
              </a:p>
              <a:p>
                <a:pPr marL="0" indent="0">
                  <a:spcBef>
                    <a:spcPts val="750"/>
                  </a:spcBef>
                  <a:buNone/>
                </a:pPr>
                <a:endParaRPr lang="en-US" dirty="0">
                  <a:sym typeface="Wingdings" pitchFamily="2" charset="2"/>
                </a:endParaRPr>
              </a:p>
              <a:p>
                <a:pPr marL="0" indent="0" algn="ctr">
                  <a:spcBef>
                    <a:spcPts val="750"/>
                  </a:spcBef>
                  <a:buNone/>
                </a:pPr>
                <a:r>
                  <a:rPr lang="en-US" dirty="0" err="1">
                    <a:highlight>
                      <a:srgbClr val="FFFF00"/>
                    </a:highlight>
                    <a:sym typeface="Wingdings" pitchFamily="2" charset="2"/>
                  </a:rPr>
                  <a:t>Tăng</a:t>
                </a:r>
                <a:r>
                  <a:rPr lang="en-US" dirty="0">
                    <a:highlight>
                      <a:srgbClr val="FFFF00"/>
                    </a:highlight>
                    <a:sym typeface="Wingdings" pitchFamily="2" charset="2"/>
                  </a:rPr>
                  <a:t> </a:t>
                </a:r>
                <a:r>
                  <a:rPr lang="en-US" dirty="0" err="1">
                    <a:highlight>
                      <a:srgbClr val="FFFF00"/>
                    </a:highlight>
                    <a:sym typeface="Wingdings" pitchFamily="2" charset="2"/>
                  </a:rPr>
                  <a:t>hiệu</a:t>
                </a:r>
                <a:r>
                  <a:rPr lang="en-US" dirty="0">
                    <a:highlight>
                      <a:srgbClr val="FFFF00"/>
                    </a:highlight>
                    <a:sym typeface="Wingdings" pitchFamily="2" charset="2"/>
                  </a:rPr>
                  <a:t> </a:t>
                </a:r>
                <a:r>
                  <a:rPr lang="en-US" dirty="0" err="1">
                    <a:highlight>
                      <a:srgbClr val="FFFF00"/>
                    </a:highlight>
                    <a:sym typeface="Wingdings" pitchFamily="2" charset="2"/>
                  </a:rPr>
                  <a:t>suất</a:t>
                </a:r>
                <a:r>
                  <a:rPr lang="en-US" dirty="0">
                    <a:highlight>
                      <a:srgbClr val="FFFF00"/>
                    </a:highlight>
                    <a:sym typeface="Wingdings" pitchFamily="2" charset="2"/>
                  </a:rPr>
                  <a:t> </a:t>
                </a:r>
                <a:r>
                  <a:rPr lang="en-US" dirty="0" err="1">
                    <a:highlight>
                      <a:srgbClr val="FFFF00"/>
                    </a:highlight>
                    <a:sym typeface="Wingdings" pitchFamily="2" charset="2"/>
                  </a:rPr>
                  <a:t>bằng</a:t>
                </a:r>
                <a:r>
                  <a:rPr lang="en-US" dirty="0">
                    <a:highlight>
                      <a:srgbClr val="FFFF00"/>
                    </a:highlight>
                    <a:sym typeface="Wingdings" pitchFamily="2" charset="2"/>
                  </a:rPr>
                  <a:t> </a:t>
                </a:r>
                <a:r>
                  <a:rPr lang="en-US" dirty="0" err="1">
                    <a:highlight>
                      <a:srgbClr val="FFFF00"/>
                    </a:highlight>
                    <a:sym typeface="Wingdings" pitchFamily="2" charset="2"/>
                  </a:rPr>
                  <a:t>cách</a:t>
                </a:r>
                <a:r>
                  <a:rPr lang="en-US" dirty="0">
                    <a:highlight>
                      <a:srgbClr val="FFFF00"/>
                    </a:highlight>
                    <a:sym typeface="Wingdings" pitchFamily="2" charset="2"/>
                  </a:rPr>
                  <a:t> </a:t>
                </a:r>
                <a:r>
                  <a:rPr lang="en-US" dirty="0" err="1">
                    <a:highlight>
                      <a:srgbClr val="FFFF00"/>
                    </a:highlight>
                    <a:sym typeface="Wingdings" pitchFamily="2" charset="2"/>
                  </a:rPr>
                  <a:t>giảm</a:t>
                </a:r>
                <a:r>
                  <a:rPr lang="en-US" dirty="0">
                    <a:highlight>
                      <a:srgbClr val="FFFF00"/>
                    </a:highlight>
                    <a:sym typeface="Wingdings" pitchFamily="2" charset="2"/>
                  </a:rPr>
                  <a:t> chu </a:t>
                </a:r>
                <a:r>
                  <a:rPr lang="en-US" dirty="0" err="1">
                    <a:highlight>
                      <a:srgbClr val="FFFF00"/>
                    </a:highlight>
                    <a:sym typeface="Wingdings" pitchFamily="2" charset="2"/>
                  </a:rPr>
                  <a:t>kỳ</a:t>
                </a:r>
                <a:r>
                  <a:rPr lang="en-US" dirty="0">
                    <a:highlight>
                      <a:srgbClr val="FFFF00"/>
                    </a:highlight>
                    <a:sym typeface="Wingdings" pitchFamily="2" charset="2"/>
                  </a:rPr>
                  <a:t> clock (</a:t>
                </a:r>
                <a:r>
                  <a:rPr lang="en-US" dirty="0" err="1">
                    <a:highlight>
                      <a:srgbClr val="FFFF00"/>
                    </a:highlight>
                    <a:sym typeface="Wingdings" pitchFamily="2" charset="2"/>
                  </a:rPr>
                  <a:t>tăng</a:t>
                </a:r>
                <a:r>
                  <a:rPr lang="en-US" dirty="0">
                    <a:highlight>
                      <a:srgbClr val="FFFF00"/>
                    </a:highlight>
                    <a:sym typeface="Wingdings" pitchFamily="2" charset="2"/>
                  </a:rPr>
                  <a:t> </a:t>
                </a:r>
                <a:r>
                  <a:rPr lang="en-US" dirty="0" err="1">
                    <a:highlight>
                      <a:srgbClr val="FFFF00"/>
                    </a:highlight>
                    <a:sym typeface="Wingdings" pitchFamily="2" charset="2"/>
                  </a:rPr>
                  <a:t>tần</a:t>
                </a:r>
                <a:r>
                  <a:rPr lang="en-US" dirty="0">
                    <a:highlight>
                      <a:srgbClr val="FFFF00"/>
                    </a:highlight>
                    <a:sym typeface="Wingdings" pitchFamily="2" charset="2"/>
                  </a:rPr>
                  <a:t> </a:t>
                </a:r>
                <a:r>
                  <a:rPr lang="en-US" dirty="0" err="1">
                    <a:highlight>
                      <a:srgbClr val="FFFF00"/>
                    </a:highlight>
                    <a:sym typeface="Wingdings" pitchFamily="2" charset="2"/>
                  </a:rPr>
                  <a:t>số</a:t>
                </a:r>
                <a:r>
                  <a:rPr lang="en-US" dirty="0">
                    <a:highlight>
                      <a:srgbClr val="FFFF00"/>
                    </a:highlight>
                    <a:sym typeface="Wingdings" pitchFamily="2" charset="2"/>
                  </a:rPr>
                  <a:t> clock)</a:t>
                </a:r>
              </a:p>
              <a:p>
                <a:pPr marL="0" indent="0">
                  <a:spcBef>
                    <a:spcPts val="750"/>
                  </a:spcBef>
                  <a:buNone/>
                </a:pPr>
                <a:endParaRPr lang="en-US" sz="1650" dirty="0">
                  <a:sym typeface="Wingdings" pitchFamily="2" charset="2"/>
                </a:endParaRPr>
              </a:p>
              <a:p>
                <a:pPr marL="0" indent="0">
                  <a:spcBef>
                    <a:spcPts val="750"/>
                  </a:spcBef>
                  <a:buNone/>
                </a:pPr>
                <a:endParaRPr lang="en-US" sz="1650" dirty="0">
                  <a:sym typeface="Wingdings" pitchFamily="2" charset="2"/>
                </a:endParaRPr>
              </a:p>
              <a:p>
                <a:pPr marL="0" indent="0">
                  <a:spcBef>
                    <a:spcPts val="750"/>
                  </a:spcBef>
                  <a:buNone/>
                </a:pPr>
                <a:endParaRPr lang="en-US" sz="1650" dirty="0">
                  <a:sym typeface="Wingdings" pitchFamily="2" charset="2"/>
                </a:endParaRPr>
              </a:p>
            </p:txBody>
          </p:sp>
        </mc:Choice>
        <mc:Fallback xmlns="">
          <p:sp>
            <p:nvSpPr>
              <p:cNvPr id="7" name="Rectangle 3">
                <a:extLst>
                  <a:ext uri="{FF2B5EF4-FFF2-40B4-BE49-F238E27FC236}">
                    <a16:creationId xmlns:a16="http://schemas.microsoft.com/office/drawing/2014/main" id="{AFD75B79-7C89-C642-CE47-41D97C6A2351}"/>
                  </a:ext>
                </a:extLst>
              </p:cNvPr>
              <p:cNvSpPr>
                <a:spLocks noGrp="1" noRot="1" noChangeAspect="1" noMove="1" noResize="1" noEditPoints="1" noAdjustHandles="1" noChangeArrowheads="1" noChangeShapeType="1" noTextEdit="1"/>
              </p:cNvSpPr>
              <p:nvPr>
                <p:ph idx="1"/>
              </p:nvPr>
            </p:nvSpPr>
            <p:spPr>
              <a:xfrm>
                <a:off x="1069327" y="1675160"/>
                <a:ext cx="10053345" cy="3200400"/>
              </a:xfrm>
              <a:blipFill>
                <a:blip r:embed="rId2"/>
                <a:stretch>
                  <a:fillRect t="-1143"/>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11</a:t>
            </a:fld>
            <a:endParaRPr lang="en-VN" dirty="0"/>
          </a:p>
        </p:txBody>
      </p:sp>
    </p:spTree>
    <p:extLst>
      <p:ext uri="{BB962C8B-B14F-4D97-AF65-F5344CB8AC3E}">
        <p14:creationId xmlns:p14="http://schemas.microsoft.com/office/powerpoint/2010/main" val="67514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 calcmode="lin" valueType="num">
                                      <p:cBhvr additive="base">
                                        <p:cTn id="1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Quiz 2</a:t>
            </a:r>
            <a:endParaRPr lang="en-US" b="1" dirty="0"/>
          </a:p>
        </p:txBody>
      </p:sp>
      <p:sp>
        <p:nvSpPr>
          <p:cNvPr id="6" name="Content Placeholder 5">
            <a:extLst>
              <a:ext uri="{FF2B5EF4-FFF2-40B4-BE49-F238E27FC236}">
                <a16:creationId xmlns:a16="http://schemas.microsoft.com/office/drawing/2014/main" id="{7F2884DD-C737-C2B4-D280-87D5C7126AA3}"/>
              </a:ext>
            </a:extLst>
          </p:cNvPr>
          <p:cNvSpPr>
            <a:spLocks noGrp="1"/>
          </p:cNvSpPr>
          <p:nvPr>
            <p:ph idx="1"/>
          </p:nvPr>
        </p:nvSpPr>
        <p:spPr/>
        <p:txBody>
          <a:bodyPr>
            <a:normAutofit fontScale="92500" lnSpcReduction="10000"/>
          </a:bodyPr>
          <a:lstStyle/>
          <a:p>
            <a:pPr marL="0" indent="0" algn="just">
              <a:lnSpc>
                <a:spcPct val="150000"/>
              </a:lnSpc>
              <a:buNone/>
            </a:pPr>
            <a:r>
              <a:rPr lang="vi-VN"/>
              <a:t>Một chương trình máy tính chạy trong </a:t>
            </a:r>
            <a:r>
              <a:rPr lang="vi-VN" b="1">
                <a:solidFill>
                  <a:schemeClr val="accent1"/>
                </a:solidFill>
              </a:rPr>
              <a:t>10 giây </a:t>
            </a:r>
            <a:r>
              <a:rPr lang="vi-VN"/>
              <a:t>trên máy tính A có </a:t>
            </a:r>
            <a:r>
              <a:rPr lang="vi-VN" b="1">
                <a:solidFill>
                  <a:schemeClr val="accent1"/>
                </a:solidFill>
              </a:rPr>
              <a:t>tần số xung clock 2GHz</a:t>
            </a:r>
            <a:r>
              <a:rPr lang="vi-VN"/>
              <a:t>. Một nhà thiết kế mong muốn xây dựng máy tính B chạy chương trình này chỉ trong </a:t>
            </a:r>
            <a:r>
              <a:rPr lang="vi-VN" b="1">
                <a:solidFill>
                  <a:srgbClr val="FF0000"/>
                </a:solidFill>
              </a:rPr>
              <a:t>6 giây</a:t>
            </a:r>
            <a:r>
              <a:rPr lang="vi-VN"/>
              <a:t>. Nhà thiết kế quyết định tăng tần số xung clock cho máy tính B, </a:t>
            </a:r>
            <a:r>
              <a:rPr lang="vi-VN" b="1">
                <a:solidFill>
                  <a:srgbClr val="00B050"/>
                </a:solidFill>
              </a:rPr>
              <a:t>nhưng việc tăng giá trị này ảnh hưởng đến những phần thiết kế khác của CPU, khiến máy tính B yêu cầu nhiều chu kỳ clock hơn máy tính A 1.2 lần để chạy chương trình</a:t>
            </a:r>
            <a:r>
              <a:rPr lang="vi-VN"/>
              <a:t>. </a:t>
            </a:r>
          </a:p>
          <a:p>
            <a:pPr marL="0" indent="0" algn="just">
              <a:lnSpc>
                <a:spcPct val="150000"/>
              </a:lnSpc>
              <a:buNone/>
            </a:pPr>
            <a:r>
              <a:rPr lang="vi-VN"/>
              <a:t>Hỏi </a:t>
            </a:r>
            <a:r>
              <a:rPr lang="vi-VN" b="1">
                <a:solidFill>
                  <a:srgbClr val="FF0000"/>
                </a:solidFill>
              </a:rPr>
              <a:t>tần số xung clock nhà thiết kế dùng cho B</a:t>
            </a:r>
            <a:r>
              <a:rPr lang="vi-VN">
                <a:solidFill>
                  <a:srgbClr val="FF0000"/>
                </a:solidFill>
              </a:rPr>
              <a:t> </a:t>
            </a:r>
            <a:r>
              <a:rPr lang="vi-VN"/>
              <a:t>là bao nhiêu?</a:t>
            </a:r>
          </a:p>
          <a:p>
            <a:pPr algn="just"/>
            <a:endParaRPr lang="vi-VN"/>
          </a:p>
          <a:p>
            <a:endParaRPr lang="en-US"/>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12</a:t>
            </a:fld>
            <a:endParaRPr lang="en-VN" dirty="0"/>
          </a:p>
        </p:txBody>
      </p:sp>
    </p:spTree>
    <p:extLst>
      <p:ext uri="{BB962C8B-B14F-4D97-AF65-F5344CB8AC3E}">
        <p14:creationId xmlns:p14="http://schemas.microsoft.com/office/powerpoint/2010/main" val="4255389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Quiz 2 - Đáp án</a:t>
            </a:r>
            <a:endParaRPr lang="en-US" b="1" dirty="0"/>
          </a:p>
        </p:txBody>
      </p:sp>
      <p:sp>
        <p:nvSpPr>
          <p:cNvPr id="9" name="Rectangle 3">
            <a:extLst>
              <a:ext uri="{FF2B5EF4-FFF2-40B4-BE49-F238E27FC236}">
                <a16:creationId xmlns:a16="http://schemas.microsoft.com/office/drawing/2014/main" id="{02590528-3345-BD23-E80B-F01299144B13}"/>
              </a:ext>
            </a:extLst>
          </p:cNvPr>
          <p:cNvSpPr>
            <a:spLocks noGrp="1" noChangeArrowheads="1"/>
          </p:cNvSpPr>
          <p:nvPr>
            <p:ph idx="1"/>
          </p:nvPr>
        </p:nvSpPr>
        <p:spPr>
          <a:xfrm>
            <a:off x="1981200" y="1143000"/>
            <a:ext cx="8229600" cy="5029200"/>
          </a:xfrm>
        </p:spPr>
        <p:txBody>
          <a:bodyPr/>
          <a:lstStyle/>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buNone/>
            </a:pPr>
            <a:endParaRPr lang="en-US" sz="2000" dirty="0"/>
          </a:p>
          <a:p>
            <a:pPr marL="0" indent="0" algn="just">
              <a:lnSpc>
                <a:spcPct val="90000"/>
              </a:lnSpc>
              <a:buNone/>
            </a:pPr>
            <a:endParaRPr lang="en-US" sz="20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13</a:t>
            </a:fld>
            <a:endParaRPr lang="en-VN" dirty="0"/>
          </a:p>
        </p:txBody>
      </p:sp>
      <p:pic>
        <p:nvPicPr>
          <p:cNvPr id="14" name="Picture 4">
            <a:extLst>
              <a:ext uri="{FF2B5EF4-FFF2-40B4-BE49-F238E27FC236}">
                <a16:creationId xmlns:a16="http://schemas.microsoft.com/office/drawing/2014/main" id="{3D0E7CEF-AE09-56D7-3225-DD7B732AD8E1}"/>
              </a:ext>
            </a:extLst>
          </p:cNvPr>
          <p:cNvPicPr>
            <a:picLocks noChangeAspect="1" noChangeArrowheads="1"/>
          </p:cNvPicPr>
          <p:nvPr/>
        </p:nvPicPr>
        <p:blipFill rotWithShape="1">
          <a:blip r:embed="rId2" cstate="print"/>
          <a:srcRect b="81506"/>
          <a:stretch/>
        </p:blipFill>
        <p:spPr bwMode="auto">
          <a:xfrm>
            <a:off x="2217557" y="985802"/>
            <a:ext cx="7341997" cy="1056928"/>
          </a:xfrm>
          <a:prstGeom prst="rect">
            <a:avLst/>
          </a:prstGeom>
          <a:noFill/>
          <a:ln w="9525">
            <a:noFill/>
            <a:miter lim="800000"/>
            <a:headEnd/>
            <a:tailEnd/>
          </a:ln>
        </p:spPr>
      </p:pic>
      <p:sp>
        <p:nvSpPr>
          <p:cNvPr id="15" name="Rectangle 3">
            <a:extLst>
              <a:ext uri="{FF2B5EF4-FFF2-40B4-BE49-F238E27FC236}">
                <a16:creationId xmlns:a16="http://schemas.microsoft.com/office/drawing/2014/main" id="{7489C061-9703-B8A7-8F87-E3664137321C}"/>
              </a:ext>
            </a:extLst>
          </p:cNvPr>
          <p:cNvSpPr txBox="1">
            <a:spLocks noChangeArrowheads="1"/>
          </p:cNvSpPr>
          <p:nvPr/>
        </p:nvSpPr>
        <p:spPr>
          <a:xfrm>
            <a:off x="1981200" y="917716"/>
            <a:ext cx="8229600" cy="5029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1000"/>
              </a:spcAft>
              <a:buFont typeface="Arial" panose="020B0604020202020204" pitchFamily="34" charset="0"/>
              <a:buNone/>
            </a:pPr>
            <a:endParaRPr lang="en-US" sz="2000" dirty="0"/>
          </a:p>
          <a:p>
            <a:pPr marL="0" indent="0" algn="just">
              <a:spcAft>
                <a:spcPts val="1000"/>
              </a:spcAft>
              <a:buFont typeface="Arial" panose="020B0604020202020204" pitchFamily="34" charset="0"/>
              <a:buNone/>
            </a:pPr>
            <a:endParaRPr lang="en-US" sz="2000" dirty="0"/>
          </a:p>
          <a:p>
            <a:pPr marL="0" indent="0" algn="just">
              <a:spcAft>
                <a:spcPts val="1000"/>
              </a:spcAft>
              <a:buFont typeface="Arial" panose="020B0604020202020204" pitchFamily="34" charset="0"/>
              <a:buNone/>
            </a:pPr>
            <a:endParaRPr lang="en-US" sz="2000" dirty="0"/>
          </a:p>
          <a:p>
            <a:pPr marL="0" indent="0" algn="just">
              <a:spcAft>
                <a:spcPts val="1000"/>
              </a:spcAft>
              <a:buFont typeface="Arial" panose="020B0604020202020204" pitchFamily="34" charset="0"/>
              <a:buNone/>
            </a:pPr>
            <a:endParaRPr lang="en-US" sz="2000" dirty="0"/>
          </a:p>
          <a:p>
            <a:pPr marL="0" indent="0" algn="just">
              <a:spcAft>
                <a:spcPts val="1000"/>
              </a:spcAft>
              <a:buFont typeface="Arial" panose="020B0604020202020204" pitchFamily="34" charset="0"/>
              <a:buNone/>
            </a:pPr>
            <a:endParaRPr lang="en-US" sz="2000" dirty="0"/>
          </a:p>
          <a:p>
            <a:pPr marL="0" indent="0" algn="just">
              <a:spcAft>
                <a:spcPts val="1000"/>
              </a:spcAft>
              <a:buFont typeface="Arial" panose="020B0604020202020204" pitchFamily="34" charset="0"/>
              <a:buNone/>
            </a:pPr>
            <a:endParaRPr lang="en-US" sz="2000" dirty="0"/>
          </a:p>
          <a:p>
            <a:pPr marL="0" indent="0" algn="just">
              <a:buFont typeface="Arial" panose="020B0604020202020204" pitchFamily="34" charset="0"/>
              <a:buNone/>
            </a:pPr>
            <a:endParaRPr lang="en-US" sz="2000" dirty="0"/>
          </a:p>
          <a:p>
            <a:pPr marL="0" indent="0" algn="just">
              <a:buFont typeface="Arial" panose="020B0604020202020204" pitchFamily="34" charset="0"/>
              <a:buNone/>
            </a:pPr>
            <a:endParaRPr lang="en-US" sz="2000" dirty="0"/>
          </a:p>
        </p:txBody>
      </p:sp>
      <p:pic>
        <p:nvPicPr>
          <p:cNvPr id="17" name="Picture 4">
            <a:extLst>
              <a:ext uri="{FF2B5EF4-FFF2-40B4-BE49-F238E27FC236}">
                <a16:creationId xmlns:a16="http://schemas.microsoft.com/office/drawing/2014/main" id="{C7C1A9A4-892D-8C26-DF3B-47EAF4C80FDF}"/>
              </a:ext>
            </a:extLst>
          </p:cNvPr>
          <p:cNvPicPr>
            <a:picLocks noChangeAspect="1" noChangeArrowheads="1"/>
          </p:cNvPicPr>
          <p:nvPr/>
        </p:nvPicPr>
        <p:blipFill rotWithShape="1">
          <a:blip r:embed="rId2" cstate="print"/>
          <a:srcRect t="50735" b="31860"/>
          <a:stretch/>
        </p:blipFill>
        <p:spPr bwMode="auto">
          <a:xfrm>
            <a:off x="2424209" y="2075695"/>
            <a:ext cx="7341997" cy="994736"/>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053D168-07C6-1BE9-2648-3C77ED8B53DA}"/>
                  </a:ext>
                </a:extLst>
              </p:cNvPr>
              <p:cNvSpPr txBox="1"/>
              <p:nvPr/>
            </p:nvSpPr>
            <p:spPr>
              <a:xfrm>
                <a:off x="3228916" y="3138935"/>
                <a:ext cx="5319277" cy="18517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mr-IN" sz="1700" i="1">
                              <a:latin typeface="Cambria Math" panose="02040503050406030204" pitchFamily="18" charset="0"/>
                              <a:ea typeface="Cambria Math" charset="0"/>
                              <a:cs typeface="Cambria Math" charset="0"/>
                            </a:rPr>
                          </m:ctrlPr>
                        </m:fPr>
                        <m:num>
                          <m:sSub>
                            <m:sSubPr>
                              <m:ctrlPr>
                                <a:rPr lang="en-US" sz="1700" i="1">
                                  <a:latin typeface="Cambria Math" panose="02040503050406030204" pitchFamily="18" charset="0"/>
                                  <a:ea typeface="Cambria Math" charset="0"/>
                                  <a:cs typeface="Cambria Math" charset="0"/>
                                </a:rPr>
                              </m:ctrlPr>
                            </m:sSubPr>
                            <m:e>
                              <m:eqArr>
                                <m:eqArrPr>
                                  <m:ctrlPr>
                                    <a:rPr lang="en-US" sz="1700" i="1">
                                      <a:latin typeface="Cambria Math" panose="02040503050406030204" pitchFamily="18" charset="0"/>
                                      <a:ea typeface="Cambria Math" charset="0"/>
                                      <a:cs typeface="Cambria Math" charset="0"/>
                                    </a:rPr>
                                  </m:ctrlPr>
                                </m:eqArrPr>
                                <m:e>
                                  <m:r>
                                    <m:rPr>
                                      <m:sty m:val="p"/>
                                    </m:rPr>
                                    <a:rPr lang="en-US" sz="1700">
                                      <a:latin typeface="Cambria Math" charset="0"/>
                                      <a:ea typeface="Cambria Math" charset="0"/>
                                      <a:cs typeface="Cambria Math" charset="0"/>
                                    </a:rPr>
                                    <m:t>Th</m:t>
                                  </m:r>
                                  <m:r>
                                    <a:rPr lang="en-US" sz="1700">
                                      <a:latin typeface="Cambria Math" charset="0"/>
                                      <a:ea typeface="Cambria Math" charset="0"/>
                                      <a:cs typeface="Cambria Math" charset="0"/>
                                    </a:rPr>
                                    <m:t>ờ</m:t>
                                  </m:r>
                                  <m:r>
                                    <m:rPr>
                                      <m:sty m:val="p"/>
                                    </m:rPr>
                                    <a:rPr lang="en-US" sz="1700">
                                      <a:latin typeface="Cambria Math" charset="0"/>
                                      <a:ea typeface="Cambria Math" charset="0"/>
                                      <a:cs typeface="Cambria Math" charset="0"/>
                                    </a:rPr>
                                    <m:t>i</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gian</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th</m:t>
                                  </m:r>
                                  <m:r>
                                    <a:rPr lang="en-US" sz="1700">
                                      <a:latin typeface="Cambria Math" charset="0"/>
                                      <a:ea typeface="Cambria Math" charset="0"/>
                                      <a:cs typeface="Cambria Math" charset="0"/>
                                    </a:rPr>
                                    <m:t>ự</m:t>
                                  </m:r>
                                  <m:r>
                                    <m:rPr>
                                      <m:sty m:val="p"/>
                                    </m:rPr>
                                    <a:rPr lang="en-US" sz="1700">
                                      <a:latin typeface="Cambria Math" charset="0"/>
                                      <a:ea typeface="Cambria Math" charset="0"/>
                                      <a:cs typeface="Cambria Math" charset="0"/>
                                    </a:rPr>
                                    <m:t>c</m:t>
                                  </m:r>
                                  <m:r>
                                    <a:rPr lang="en-US" sz="1700">
                                      <a:latin typeface="Cambria Math" charset="0"/>
                                      <a:ea typeface="Cambria Math" charset="0"/>
                                      <a:cs typeface="Cambria Math" charset="0"/>
                                    </a:rPr>
                                    <m:t> </m:t>
                                  </m:r>
                                </m:e>
                                <m:e>
                                  <m:r>
                                    <m:rPr>
                                      <m:sty m:val="p"/>
                                    </m:rPr>
                                    <a:rPr lang="en-US" sz="1700">
                                      <a:latin typeface="Cambria Math" charset="0"/>
                                      <a:ea typeface="Cambria Math" charset="0"/>
                                      <a:cs typeface="Cambria Math" charset="0"/>
                                    </a:rPr>
                                    <m:t>ch</m:t>
                                  </m:r>
                                  <m:r>
                                    <a:rPr lang="en-US" sz="1700">
                                      <a:latin typeface="Cambria Math" charset="0"/>
                                      <a:ea typeface="Cambria Math" charset="0"/>
                                      <a:cs typeface="Cambria Math" charset="0"/>
                                    </a:rPr>
                                    <m:t>ươ</m:t>
                                  </m:r>
                                  <m:r>
                                    <m:rPr>
                                      <m:sty m:val="p"/>
                                    </m:rPr>
                                    <a:rPr lang="en-US" sz="1700">
                                      <a:latin typeface="Cambria Math" charset="0"/>
                                      <a:ea typeface="Cambria Math" charset="0"/>
                                      <a:cs typeface="Cambria Math" charset="0"/>
                                    </a:rPr>
                                    <m:t>ng</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tr</m:t>
                                  </m:r>
                                  <m:r>
                                    <a:rPr lang="en-US" sz="1700">
                                      <a:latin typeface="Cambria Math" charset="0"/>
                                      <a:ea typeface="Cambria Math" charset="0"/>
                                      <a:cs typeface="Cambria Math" charset="0"/>
                                    </a:rPr>
                                    <m:t>ì</m:t>
                                  </m:r>
                                  <m:r>
                                    <m:rPr>
                                      <m:sty m:val="p"/>
                                    </m:rPr>
                                    <a:rPr lang="en-US" sz="1700">
                                      <a:latin typeface="Cambria Math" charset="0"/>
                                      <a:ea typeface="Cambria Math" charset="0"/>
                                      <a:cs typeface="Cambria Math" charset="0"/>
                                    </a:rPr>
                                    <m:t>nh</m:t>
                                  </m:r>
                                </m:e>
                              </m:eqArr>
                            </m:e>
                            <m:sub>
                              <m:r>
                                <a:rPr lang="vi-VN" sz="1700">
                                  <a:latin typeface="Cambria Math" charset="0"/>
                                  <a:ea typeface="Cambria Math" charset="0"/>
                                  <a:cs typeface="Cambria Math" charset="0"/>
                                </a:rPr>
                                <m:t>(</m:t>
                              </m:r>
                              <m:r>
                                <m:rPr>
                                  <m:sty m:val="p"/>
                                </m:rPr>
                                <a:rPr lang="vi-VN" sz="1700">
                                  <a:latin typeface="Cambria Math" charset="0"/>
                                  <a:ea typeface="Cambria Math" charset="0"/>
                                  <a:cs typeface="Cambria Math" charset="0"/>
                                </a:rPr>
                                <m:t>m</m:t>
                              </m:r>
                              <m:r>
                                <a:rPr lang="vi-VN" sz="1700">
                                  <a:latin typeface="Cambria Math" charset="0"/>
                                  <a:ea typeface="Cambria Math" charset="0"/>
                                  <a:cs typeface="Cambria Math" charset="0"/>
                                </a:rPr>
                                <m:t>á</m:t>
                              </m:r>
                              <m:r>
                                <m:rPr>
                                  <m:sty m:val="p"/>
                                </m:rPr>
                                <a:rPr lang="vi-VN" sz="1700">
                                  <a:latin typeface="Cambria Math" charset="0"/>
                                  <a:ea typeface="Cambria Math" charset="0"/>
                                  <a:cs typeface="Cambria Math" charset="0"/>
                                </a:rPr>
                                <m:t>y</m:t>
                              </m:r>
                              <m:r>
                                <a:rPr lang="vi-VN" sz="1700">
                                  <a:latin typeface="Cambria Math" charset="0"/>
                                  <a:ea typeface="Cambria Math" charset="0"/>
                                  <a:cs typeface="Cambria Math" charset="0"/>
                                </a:rPr>
                                <m:t> </m:t>
                              </m:r>
                              <m:r>
                                <m:rPr>
                                  <m:sty m:val="p"/>
                                </m:rPr>
                                <a:rPr lang="vi-VN" sz="1700">
                                  <a:latin typeface="Cambria Math" charset="0"/>
                                  <a:ea typeface="Cambria Math" charset="0"/>
                                  <a:cs typeface="Cambria Math" charset="0"/>
                                </a:rPr>
                                <m:t>B</m:t>
                              </m:r>
                              <m:r>
                                <a:rPr lang="vi-VN" sz="1700">
                                  <a:latin typeface="Cambria Math" charset="0"/>
                                  <a:ea typeface="Cambria Math" charset="0"/>
                                  <a:cs typeface="Cambria Math" charset="0"/>
                                </a:rPr>
                                <m:t>)</m:t>
                              </m:r>
                            </m:sub>
                          </m:sSub>
                        </m:num>
                        <m:den>
                          <m:sSub>
                            <m:sSubPr>
                              <m:ctrlPr>
                                <a:rPr lang="en-US" sz="1700" i="1">
                                  <a:latin typeface="Cambria Math" panose="02040503050406030204" pitchFamily="18" charset="0"/>
                                  <a:ea typeface="Cambria Math" charset="0"/>
                                  <a:cs typeface="Cambria Math" charset="0"/>
                                </a:rPr>
                              </m:ctrlPr>
                            </m:sSubPr>
                            <m:e>
                              <m:eqArr>
                                <m:eqArrPr>
                                  <m:ctrlPr>
                                    <a:rPr lang="en-US" sz="1700" i="1">
                                      <a:latin typeface="Cambria Math" panose="02040503050406030204" pitchFamily="18" charset="0"/>
                                      <a:ea typeface="Cambria Math" charset="0"/>
                                      <a:cs typeface="Cambria Math" charset="0"/>
                                    </a:rPr>
                                  </m:ctrlPr>
                                </m:eqArrPr>
                                <m:e>
                                  <m:r>
                                    <m:rPr>
                                      <m:sty m:val="p"/>
                                    </m:rPr>
                                    <a:rPr lang="en-US" sz="1700">
                                      <a:latin typeface="Cambria Math" charset="0"/>
                                      <a:ea typeface="Cambria Math" charset="0"/>
                                      <a:cs typeface="Cambria Math" charset="0"/>
                                    </a:rPr>
                                    <m:t>Th</m:t>
                                  </m:r>
                                  <m:r>
                                    <a:rPr lang="en-US" sz="1700">
                                      <a:latin typeface="Cambria Math" charset="0"/>
                                      <a:ea typeface="Cambria Math" charset="0"/>
                                      <a:cs typeface="Cambria Math" charset="0"/>
                                    </a:rPr>
                                    <m:t>ờ</m:t>
                                  </m:r>
                                  <m:r>
                                    <m:rPr>
                                      <m:sty m:val="p"/>
                                    </m:rPr>
                                    <a:rPr lang="en-US" sz="1700">
                                      <a:latin typeface="Cambria Math" charset="0"/>
                                      <a:ea typeface="Cambria Math" charset="0"/>
                                      <a:cs typeface="Cambria Math" charset="0"/>
                                    </a:rPr>
                                    <m:t>i</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gian</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th</m:t>
                                  </m:r>
                                  <m:r>
                                    <a:rPr lang="en-US" sz="1700">
                                      <a:latin typeface="Cambria Math" charset="0"/>
                                      <a:ea typeface="Cambria Math" charset="0"/>
                                      <a:cs typeface="Cambria Math" charset="0"/>
                                    </a:rPr>
                                    <m:t>ự</m:t>
                                  </m:r>
                                  <m:r>
                                    <m:rPr>
                                      <m:sty m:val="p"/>
                                    </m:rPr>
                                    <a:rPr lang="en-US" sz="1700">
                                      <a:latin typeface="Cambria Math" charset="0"/>
                                      <a:ea typeface="Cambria Math" charset="0"/>
                                      <a:cs typeface="Cambria Math" charset="0"/>
                                    </a:rPr>
                                    <m:t>c</m:t>
                                  </m:r>
                                  <m:r>
                                    <a:rPr lang="en-US" sz="1700">
                                      <a:latin typeface="Cambria Math" charset="0"/>
                                      <a:ea typeface="Cambria Math" charset="0"/>
                                      <a:cs typeface="Cambria Math" charset="0"/>
                                    </a:rPr>
                                    <m:t> </m:t>
                                  </m:r>
                                </m:e>
                                <m:e>
                                  <m:r>
                                    <m:rPr>
                                      <m:sty m:val="p"/>
                                    </m:rPr>
                                    <a:rPr lang="en-US" sz="1700">
                                      <a:latin typeface="Cambria Math" charset="0"/>
                                      <a:ea typeface="Cambria Math" charset="0"/>
                                      <a:cs typeface="Cambria Math" charset="0"/>
                                    </a:rPr>
                                    <m:t>ch</m:t>
                                  </m:r>
                                  <m:r>
                                    <a:rPr lang="en-US" sz="1700">
                                      <a:latin typeface="Cambria Math" charset="0"/>
                                      <a:ea typeface="Cambria Math" charset="0"/>
                                      <a:cs typeface="Cambria Math" charset="0"/>
                                    </a:rPr>
                                    <m:t>ươ</m:t>
                                  </m:r>
                                  <m:r>
                                    <m:rPr>
                                      <m:sty m:val="p"/>
                                    </m:rPr>
                                    <a:rPr lang="en-US" sz="1700">
                                      <a:latin typeface="Cambria Math" charset="0"/>
                                      <a:ea typeface="Cambria Math" charset="0"/>
                                      <a:cs typeface="Cambria Math" charset="0"/>
                                    </a:rPr>
                                    <m:t>ng</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tr</m:t>
                                  </m:r>
                                  <m:r>
                                    <a:rPr lang="en-US" sz="1700">
                                      <a:latin typeface="Cambria Math" charset="0"/>
                                      <a:ea typeface="Cambria Math" charset="0"/>
                                      <a:cs typeface="Cambria Math" charset="0"/>
                                    </a:rPr>
                                    <m:t>ì</m:t>
                                  </m:r>
                                  <m:r>
                                    <m:rPr>
                                      <m:sty m:val="p"/>
                                    </m:rPr>
                                    <a:rPr lang="en-US" sz="1700">
                                      <a:latin typeface="Cambria Math" charset="0"/>
                                      <a:ea typeface="Cambria Math" charset="0"/>
                                      <a:cs typeface="Cambria Math" charset="0"/>
                                    </a:rPr>
                                    <m:t>nh</m:t>
                                  </m:r>
                                </m:e>
                              </m:eqArr>
                            </m:e>
                            <m:sub>
                              <m:r>
                                <a:rPr lang="vi-VN" sz="1700">
                                  <a:latin typeface="Cambria Math" charset="0"/>
                                  <a:ea typeface="Cambria Math" charset="0"/>
                                  <a:cs typeface="Cambria Math" charset="0"/>
                                </a:rPr>
                                <m:t>(</m:t>
                              </m:r>
                              <m:r>
                                <m:rPr>
                                  <m:sty m:val="p"/>
                                </m:rPr>
                                <a:rPr lang="vi-VN" sz="1700">
                                  <a:latin typeface="Cambria Math" charset="0"/>
                                  <a:ea typeface="Cambria Math" charset="0"/>
                                  <a:cs typeface="Cambria Math" charset="0"/>
                                </a:rPr>
                                <m:t>m</m:t>
                              </m:r>
                              <m:r>
                                <a:rPr lang="vi-VN" sz="1700">
                                  <a:latin typeface="Cambria Math" charset="0"/>
                                  <a:ea typeface="Cambria Math" charset="0"/>
                                  <a:cs typeface="Cambria Math" charset="0"/>
                                </a:rPr>
                                <m:t>á</m:t>
                              </m:r>
                              <m:r>
                                <m:rPr>
                                  <m:sty m:val="p"/>
                                </m:rPr>
                                <a:rPr lang="vi-VN" sz="1700">
                                  <a:latin typeface="Cambria Math" charset="0"/>
                                  <a:ea typeface="Cambria Math" charset="0"/>
                                  <a:cs typeface="Cambria Math" charset="0"/>
                                </a:rPr>
                                <m:t>y</m:t>
                              </m:r>
                              <m:r>
                                <a:rPr lang="vi-VN" sz="1700">
                                  <a:latin typeface="Cambria Math" charset="0"/>
                                  <a:ea typeface="Cambria Math" charset="0"/>
                                  <a:cs typeface="Cambria Math" charset="0"/>
                                </a:rPr>
                                <m:t> </m:t>
                              </m:r>
                              <m:r>
                                <m:rPr>
                                  <m:sty m:val="p"/>
                                </m:rPr>
                                <a:rPr lang="vi-VN" sz="1700">
                                  <a:latin typeface="Cambria Math" charset="0"/>
                                  <a:ea typeface="Cambria Math" charset="0"/>
                                  <a:cs typeface="Cambria Math" charset="0"/>
                                </a:rPr>
                                <m:t>A</m:t>
                              </m:r>
                              <m:r>
                                <a:rPr lang="vi-VN" sz="1700">
                                  <a:latin typeface="Cambria Math" charset="0"/>
                                  <a:ea typeface="Cambria Math" charset="0"/>
                                  <a:cs typeface="Cambria Math" charset="0"/>
                                </a:rPr>
                                <m:t>)</m:t>
                              </m:r>
                            </m:sub>
                          </m:sSub>
                        </m:den>
                      </m:f>
                      <m:r>
                        <a:rPr lang="mr-IN" sz="1700">
                          <a:latin typeface="Cambria Math" charset="0"/>
                          <a:ea typeface="Cambria Math" charset="0"/>
                          <a:cs typeface="Cambria Math" charset="0"/>
                        </a:rPr>
                        <m:t>=</m:t>
                      </m:r>
                      <m:f>
                        <m:fPr>
                          <m:ctrlPr>
                            <a:rPr lang="mr-IN" sz="1700" i="1">
                              <a:latin typeface="Cambria Math" panose="02040503050406030204" pitchFamily="18" charset="0"/>
                              <a:ea typeface="Cambria Math" charset="0"/>
                              <a:cs typeface="Cambria Math" charset="0"/>
                            </a:rPr>
                          </m:ctrlPr>
                        </m:fPr>
                        <m:num>
                          <m:eqArr>
                            <m:eqArrPr>
                              <m:ctrlPr>
                                <a:rPr lang="vi-VN" sz="1700" i="1">
                                  <a:latin typeface="Cambria Math" panose="02040503050406030204" pitchFamily="18" charset="0"/>
                                  <a:ea typeface="Cambria Math" charset="0"/>
                                  <a:cs typeface="Cambria Math" charset="0"/>
                                </a:rPr>
                              </m:ctrlPr>
                            </m:eqArrPr>
                            <m:e>
                              <m:r>
                                <a:rPr lang="vi-VN" sz="1700">
                                  <a:latin typeface="Cambria Math" charset="0"/>
                                  <a:ea typeface="Cambria Math" charset="0"/>
                                  <a:cs typeface="Cambria Math" charset="0"/>
                                </a:rPr>
                                <m:t> </m:t>
                              </m:r>
                            </m:e>
                            <m:e>
                              <m:r>
                                <a:rPr lang="vi-VN" sz="1700">
                                  <a:latin typeface="Cambria Math" charset="0"/>
                                  <a:ea typeface="Cambria Math" charset="0"/>
                                  <a:cs typeface="Cambria Math" charset="0"/>
                                </a:rPr>
                                <m:t>1.2 </m:t>
                              </m:r>
                              <m:r>
                                <m:rPr>
                                  <m:sty m:val="p"/>
                                </m:rPr>
                                <a:rPr lang="vi-VN" sz="1700">
                                  <a:latin typeface="Cambria Math" charset="0"/>
                                  <a:ea typeface="Cambria Math" charset="0"/>
                                  <a:cs typeface="Cambria Math" charset="0"/>
                                </a:rPr>
                                <m:t>x</m:t>
                              </m:r>
                              <m:r>
                                <a:rPr lang="vi-VN" sz="1700">
                                  <a:latin typeface="Cambria Math" charset="0"/>
                                  <a:ea typeface="Cambria Math" charset="0"/>
                                  <a:cs typeface="Cambria Math" charset="0"/>
                                </a:rPr>
                                <m:t> </m:t>
                              </m:r>
                              <m:sSub>
                                <m:sSubPr>
                                  <m:ctrlPr>
                                    <a:rPr lang="en-US" sz="1700" i="1">
                                      <a:latin typeface="Cambria Math" panose="02040503050406030204" pitchFamily="18" charset="0"/>
                                      <a:ea typeface="Cambria Math" charset="0"/>
                                      <a:cs typeface="Cambria Math" charset="0"/>
                                    </a:rPr>
                                  </m:ctrlPr>
                                </m:sSubPr>
                                <m:e>
                                  <m:r>
                                    <m:rPr>
                                      <m:sty m:val="p"/>
                                    </m:rPr>
                                    <a:rPr lang="en-US" sz="1700">
                                      <a:latin typeface="Cambria Math" charset="0"/>
                                      <a:ea typeface="Cambria Math" charset="0"/>
                                      <a:cs typeface="Cambria Math" charset="0"/>
                                    </a:rPr>
                                    <m:t>T</m:t>
                                  </m:r>
                                  <m:r>
                                    <a:rPr lang="en-US" sz="1700">
                                      <a:latin typeface="Cambria Math" charset="0"/>
                                      <a:ea typeface="Cambria Math" charset="0"/>
                                      <a:cs typeface="Cambria Math" charset="0"/>
                                    </a:rPr>
                                    <m:t>ầ</m:t>
                                  </m:r>
                                  <m:r>
                                    <m:rPr>
                                      <m:sty m:val="p"/>
                                    </m:rPr>
                                    <a:rPr lang="en-US" sz="1700">
                                      <a:latin typeface="Cambria Math" charset="0"/>
                                      <a:ea typeface="Cambria Math" charset="0"/>
                                      <a:cs typeface="Cambria Math" charset="0"/>
                                    </a:rPr>
                                    <m:t>n</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s</m:t>
                                  </m:r>
                                  <m:r>
                                    <a:rPr lang="en-US" sz="1700">
                                      <a:latin typeface="Cambria Math" charset="0"/>
                                      <a:ea typeface="Cambria Math" charset="0"/>
                                      <a:cs typeface="Cambria Math" charset="0"/>
                                    </a:rPr>
                                    <m:t>ố </m:t>
                                  </m:r>
                                  <m:r>
                                    <m:rPr>
                                      <m:sty m:val="p"/>
                                    </m:rPr>
                                    <a:rPr lang="en-US" sz="1700">
                                      <a:latin typeface="Cambria Math" charset="0"/>
                                      <a:ea typeface="Cambria Math" charset="0"/>
                                      <a:cs typeface="Cambria Math" charset="0"/>
                                    </a:rPr>
                                    <m:t>xung</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clock</m:t>
                                  </m:r>
                                </m:e>
                                <m:sub>
                                  <m:r>
                                    <a:rPr lang="vi-VN" sz="1700">
                                      <a:latin typeface="Cambria Math" charset="0"/>
                                      <a:ea typeface="Cambria Math" charset="0"/>
                                      <a:cs typeface="Cambria Math" charset="0"/>
                                    </a:rPr>
                                    <m:t>(</m:t>
                                  </m:r>
                                  <m:r>
                                    <m:rPr>
                                      <m:sty m:val="p"/>
                                    </m:rPr>
                                    <a:rPr lang="vi-VN" sz="1700">
                                      <a:latin typeface="Cambria Math" charset="0"/>
                                      <a:ea typeface="Cambria Math" charset="0"/>
                                      <a:cs typeface="Cambria Math" charset="0"/>
                                    </a:rPr>
                                    <m:t>m</m:t>
                                  </m:r>
                                  <m:r>
                                    <a:rPr lang="vi-VN" sz="1700">
                                      <a:latin typeface="Cambria Math" charset="0"/>
                                      <a:ea typeface="Cambria Math" charset="0"/>
                                      <a:cs typeface="Cambria Math" charset="0"/>
                                    </a:rPr>
                                    <m:t>á</m:t>
                                  </m:r>
                                  <m:r>
                                    <m:rPr>
                                      <m:sty m:val="p"/>
                                    </m:rPr>
                                    <a:rPr lang="vi-VN" sz="1700">
                                      <a:latin typeface="Cambria Math" charset="0"/>
                                      <a:ea typeface="Cambria Math" charset="0"/>
                                      <a:cs typeface="Cambria Math" charset="0"/>
                                    </a:rPr>
                                    <m:t>y</m:t>
                                  </m:r>
                                  <m:r>
                                    <a:rPr lang="vi-VN"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A</m:t>
                                  </m:r>
                                  <m:r>
                                    <a:rPr lang="vi-VN" sz="1700">
                                      <a:latin typeface="Cambria Math" charset="0"/>
                                      <a:ea typeface="Cambria Math" charset="0"/>
                                      <a:cs typeface="Cambria Math" charset="0"/>
                                    </a:rPr>
                                    <m:t>)</m:t>
                                  </m:r>
                                </m:sub>
                              </m:sSub>
                              <m:r>
                                <a:rPr lang="vi-VN" sz="1700">
                                  <a:latin typeface="Cambria Math" charset="0"/>
                                  <a:ea typeface="Cambria Math" charset="0"/>
                                  <a:cs typeface="Cambria Math" charset="0"/>
                                </a:rPr>
                                <m:t> </m:t>
                              </m:r>
                            </m:e>
                          </m:eqArr>
                        </m:num>
                        <m:den>
                          <m:sSub>
                            <m:sSubPr>
                              <m:ctrlPr>
                                <a:rPr lang="en-US" sz="1700" i="1">
                                  <a:latin typeface="Cambria Math" panose="02040503050406030204" pitchFamily="18" charset="0"/>
                                  <a:ea typeface="Cambria Math" charset="0"/>
                                  <a:cs typeface="Cambria Math" charset="0"/>
                                </a:rPr>
                              </m:ctrlPr>
                            </m:sSubPr>
                            <m:e>
                              <m:r>
                                <m:rPr>
                                  <m:sty m:val="p"/>
                                </m:rPr>
                                <a:rPr lang="en-US" sz="1700">
                                  <a:latin typeface="Cambria Math" charset="0"/>
                                  <a:ea typeface="Cambria Math" charset="0"/>
                                  <a:cs typeface="Cambria Math" charset="0"/>
                                </a:rPr>
                                <m:t>T</m:t>
                              </m:r>
                              <m:r>
                                <a:rPr lang="en-US" sz="1700">
                                  <a:latin typeface="Cambria Math" charset="0"/>
                                  <a:ea typeface="Cambria Math" charset="0"/>
                                  <a:cs typeface="Cambria Math" charset="0"/>
                                </a:rPr>
                                <m:t>ầ</m:t>
                              </m:r>
                              <m:r>
                                <m:rPr>
                                  <m:sty m:val="p"/>
                                </m:rPr>
                                <a:rPr lang="en-US" sz="1700">
                                  <a:latin typeface="Cambria Math" charset="0"/>
                                  <a:ea typeface="Cambria Math" charset="0"/>
                                  <a:cs typeface="Cambria Math" charset="0"/>
                                </a:rPr>
                                <m:t>n</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s</m:t>
                              </m:r>
                              <m:r>
                                <a:rPr lang="en-US" sz="1700">
                                  <a:latin typeface="Cambria Math" charset="0"/>
                                  <a:ea typeface="Cambria Math" charset="0"/>
                                  <a:cs typeface="Cambria Math" charset="0"/>
                                </a:rPr>
                                <m:t>ố </m:t>
                              </m:r>
                              <m:r>
                                <m:rPr>
                                  <m:sty m:val="p"/>
                                </m:rPr>
                                <a:rPr lang="en-US" sz="1700">
                                  <a:latin typeface="Cambria Math" charset="0"/>
                                  <a:ea typeface="Cambria Math" charset="0"/>
                                  <a:cs typeface="Cambria Math" charset="0"/>
                                </a:rPr>
                                <m:t>xung</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clock</m:t>
                              </m:r>
                            </m:e>
                            <m:sub>
                              <m:r>
                                <a:rPr lang="vi-VN" sz="1700">
                                  <a:latin typeface="Cambria Math" charset="0"/>
                                  <a:ea typeface="Cambria Math" charset="0"/>
                                  <a:cs typeface="Cambria Math" charset="0"/>
                                </a:rPr>
                                <m:t>(</m:t>
                              </m:r>
                              <m:r>
                                <m:rPr>
                                  <m:sty m:val="p"/>
                                </m:rPr>
                                <a:rPr lang="vi-VN" sz="1700">
                                  <a:latin typeface="Cambria Math" charset="0"/>
                                  <a:ea typeface="Cambria Math" charset="0"/>
                                  <a:cs typeface="Cambria Math" charset="0"/>
                                </a:rPr>
                                <m:t>m</m:t>
                              </m:r>
                              <m:r>
                                <a:rPr lang="vi-VN" sz="1700">
                                  <a:latin typeface="Cambria Math" charset="0"/>
                                  <a:ea typeface="Cambria Math" charset="0"/>
                                  <a:cs typeface="Cambria Math" charset="0"/>
                                </a:rPr>
                                <m:t>á</m:t>
                              </m:r>
                              <m:r>
                                <m:rPr>
                                  <m:sty m:val="p"/>
                                </m:rPr>
                                <a:rPr lang="vi-VN" sz="1700">
                                  <a:latin typeface="Cambria Math" charset="0"/>
                                  <a:ea typeface="Cambria Math" charset="0"/>
                                  <a:cs typeface="Cambria Math" charset="0"/>
                                </a:rPr>
                                <m:t>y</m:t>
                              </m:r>
                              <m:r>
                                <a:rPr lang="vi-VN" sz="1700">
                                  <a:latin typeface="Cambria Math" charset="0"/>
                                  <a:ea typeface="Cambria Math" charset="0"/>
                                  <a:cs typeface="Cambria Math" charset="0"/>
                                </a:rPr>
                                <m:t> </m:t>
                              </m:r>
                              <m:r>
                                <m:rPr>
                                  <m:sty m:val="p"/>
                                </m:rPr>
                                <a:rPr lang="vi-VN" sz="1700">
                                  <a:latin typeface="Cambria Math" charset="0"/>
                                  <a:ea typeface="Cambria Math" charset="0"/>
                                  <a:cs typeface="Cambria Math" charset="0"/>
                                </a:rPr>
                                <m:t>B</m:t>
                              </m:r>
                              <m:r>
                                <a:rPr lang="vi-VN" sz="1700">
                                  <a:latin typeface="Cambria Math" charset="0"/>
                                  <a:ea typeface="Cambria Math" charset="0"/>
                                  <a:cs typeface="Cambria Math" charset="0"/>
                                </a:rPr>
                                <m:t>)</m:t>
                              </m:r>
                            </m:sub>
                          </m:sSub>
                          <m:r>
                            <a:rPr lang="vi-VN" sz="1700">
                              <a:latin typeface="Cambria Math" charset="0"/>
                              <a:ea typeface="Cambria Math" charset="0"/>
                              <a:cs typeface="Cambria Math" charset="0"/>
                            </a:rPr>
                            <m:t> </m:t>
                          </m:r>
                        </m:den>
                      </m:f>
                    </m:oMath>
                  </m:oMathPara>
                </a14:m>
                <a:endParaRPr lang="vi-VN" sz="1700" dirty="0">
                  <a:latin typeface="Cambria Math" charset="0"/>
                  <a:ea typeface="Cambria Math" charset="0"/>
                  <a:cs typeface="Cambria Math" charset="0"/>
                </a:endParaRPr>
              </a:p>
              <a:p>
                <a:pPr/>
                <a14:m>
                  <m:oMathPara xmlns:m="http://schemas.openxmlformats.org/officeDocument/2006/math">
                    <m:oMathParaPr>
                      <m:jc m:val="centerGroup"/>
                    </m:oMathParaPr>
                    <m:oMath xmlns:m="http://schemas.openxmlformats.org/officeDocument/2006/math">
                      <m:f>
                        <m:fPr>
                          <m:ctrlPr>
                            <a:rPr lang="mr-IN" sz="1700" i="1">
                              <a:latin typeface="Cambria Math" panose="02040503050406030204" pitchFamily="18" charset="0"/>
                              <a:ea typeface="Cambria Math" charset="0"/>
                              <a:cs typeface="Cambria Math" charset="0"/>
                            </a:rPr>
                          </m:ctrlPr>
                        </m:fPr>
                        <m:num>
                          <m:r>
                            <a:rPr lang="vi-VN" sz="1700">
                              <a:latin typeface="Cambria Math" charset="0"/>
                              <a:ea typeface="Cambria Math" charset="0"/>
                              <a:cs typeface="Cambria Math" charset="0"/>
                            </a:rPr>
                            <m:t>6 (</m:t>
                          </m:r>
                          <m:r>
                            <m:rPr>
                              <m:sty m:val="p"/>
                            </m:rPr>
                            <a:rPr lang="vi-VN" sz="1700">
                              <a:latin typeface="Cambria Math" charset="0"/>
                              <a:ea typeface="Cambria Math" charset="0"/>
                              <a:cs typeface="Cambria Math" charset="0"/>
                            </a:rPr>
                            <m:t>s</m:t>
                          </m:r>
                          <m:r>
                            <a:rPr lang="vi-VN" sz="1700">
                              <a:latin typeface="Cambria Math" charset="0"/>
                              <a:ea typeface="Cambria Math" charset="0"/>
                              <a:cs typeface="Cambria Math" charset="0"/>
                            </a:rPr>
                            <m:t>)</m:t>
                          </m:r>
                        </m:num>
                        <m:den>
                          <m:r>
                            <a:rPr lang="vi-VN" sz="1700">
                              <a:latin typeface="Cambria Math" charset="0"/>
                              <a:ea typeface="Cambria Math" charset="0"/>
                              <a:cs typeface="Cambria Math" charset="0"/>
                            </a:rPr>
                            <m:t>10 (</m:t>
                          </m:r>
                          <m:r>
                            <m:rPr>
                              <m:sty m:val="p"/>
                            </m:rPr>
                            <a:rPr lang="vi-VN" sz="1700">
                              <a:latin typeface="Cambria Math" charset="0"/>
                              <a:ea typeface="Cambria Math" charset="0"/>
                              <a:cs typeface="Cambria Math" charset="0"/>
                            </a:rPr>
                            <m:t>s</m:t>
                          </m:r>
                          <m:r>
                            <a:rPr lang="vi-VN" sz="1700">
                              <a:latin typeface="Cambria Math" charset="0"/>
                              <a:ea typeface="Cambria Math" charset="0"/>
                              <a:cs typeface="Cambria Math" charset="0"/>
                            </a:rPr>
                            <m:t>)</m:t>
                          </m:r>
                        </m:den>
                      </m:f>
                      <m:r>
                        <a:rPr lang="vi-VN" sz="1700">
                          <a:latin typeface="Cambria Math" charset="0"/>
                          <a:ea typeface="Cambria Math" charset="0"/>
                          <a:cs typeface="Cambria Math" charset="0"/>
                        </a:rPr>
                        <m:t>= </m:t>
                      </m:r>
                      <m:f>
                        <m:fPr>
                          <m:ctrlPr>
                            <a:rPr lang="mr-IN" sz="1700" i="1">
                              <a:latin typeface="Cambria Math" panose="02040503050406030204" pitchFamily="18" charset="0"/>
                              <a:ea typeface="Cambria Math" charset="0"/>
                              <a:cs typeface="Cambria Math" charset="0"/>
                            </a:rPr>
                          </m:ctrlPr>
                        </m:fPr>
                        <m:num>
                          <m:r>
                            <a:rPr lang="vi-VN" sz="1700">
                              <a:latin typeface="Cambria Math" charset="0"/>
                              <a:ea typeface="Cambria Math" charset="0"/>
                              <a:cs typeface="Cambria Math" charset="0"/>
                            </a:rPr>
                            <m:t>1.2 </m:t>
                          </m:r>
                          <m:r>
                            <m:rPr>
                              <m:sty m:val="p"/>
                            </m:rPr>
                            <a:rPr lang="vi-VN" sz="1700">
                              <a:latin typeface="Cambria Math" charset="0"/>
                              <a:ea typeface="Cambria Math" charset="0"/>
                              <a:cs typeface="Cambria Math" charset="0"/>
                            </a:rPr>
                            <m:t>x</m:t>
                          </m:r>
                          <m:r>
                            <a:rPr lang="vi-VN" sz="1700">
                              <a:latin typeface="Cambria Math" charset="0"/>
                              <a:ea typeface="Cambria Math" charset="0"/>
                              <a:cs typeface="Cambria Math" charset="0"/>
                            </a:rPr>
                            <m:t>  2 (</m:t>
                          </m:r>
                          <m:r>
                            <m:rPr>
                              <m:sty m:val="p"/>
                            </m:rPr>
                            <a:rPr lang="vi-VN" sz="1700">
                              <a:latin typeface="Cambria Math" charset="0"/>
                              <a:ea typeface="Cambria Math" charset="0"/>
                              <a:cs typeface="Cambria Math" charset="0"/>
                            </a:rPr>
                            <m:t>GHz</m:t>
                          </m:r>
                          <m:r>
                            <a:rPr lang="vi-VN" sz="1700">
                              <a:latin typeface="Cambria Math" charset="0"/>
                              <a:ea typeface="Cambria Math" charset="0"/>
                              <a:cs typeface="Cambria Math" charset="0"/>
                            </a:rPr>
                            <m:t>)</m:t>
                          </m:r>
                        </m:num>
                        <m:den>
                          <m:sSub>
                            <m:sSubPr>
                              <m:ctrlPr>
                                <a:rPr lang="en-US" sz="1700" i="1">
                                  <a:latin typeface="Cambria Math" panose="02040503050406030204" pitchFamily="18" charset="0"/>
                                  <a:ea typeface="Cambria Math" charset="0"/>
                                  <a:cs typeface="Cambria Math" charset="0"/>
                                </a:rPr>
                              </m:ctrlPr>
                            </m:sSubPr>
                            <m:e>
                              <m:r>
                                <m:rPr>
                                  <m:sty m:val="p"/>
                                </m:rPr>
                                <a:rPr lang="en-US" sz="1700">
                                  <a:latin typeface="Cambria Math" charset="0"/>
                                  <a:ea typeface="Cambria Math" charset="0"/>
                                  <a:cs typeface="Cambria Math" charset="0"/>
                                </a:rPr>
                                <m:t>T</m:t>
                              </m:r>
                              <m:r>
                                <a:rPr lang="en-US" sz="1700">
                                  <a:latin typeface="Cambria Math" charset="0"/>
                                  <a:ea typeface="Cambria Math" charset="0"/>
                                  <a:cs typeface="Cambria Math" charset="0"/>
                                </a:rPr>
                                <m:t>ầ</m:t>
                              </m:r>
                              <m:r>
                                <m:rPr>
                                  <m:sty m:val="p"/>
                                </m:rPr>
                                <a:rPr lang="en-US" sz="1700">
                                  <a:latin typeface="Cambria Math" charset="0"/>
                                  <a:ea typeface="Cambria Math" charset="0"/>
                                  <a:cs typeface="Cambria Math" charset="0"/>
                                </a:rPr>
                                <m:t>n</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s</m:t>
                              </m:r>
                              <m:r>
                                <a:rPr lang="en-US" sz="1700">
                                  <a:latin typeface="Cambria Math" charset="0"/>
                                  <a:ea typeface="Cambria Math" charset="0"/>
                                  <a:cs typeface="Cambria Math" charset="0"/>
                                </a:rPr>
                                <m:t>ố </m:t>
                              </m:r>
                              <m:r>
                                <m:rPr>
                                  <m:sty m:val="p"/>
                                </m:rPr>
                                <a:rPr lang="en-US" sz="1700">
                                  <a:latin typeface="Cambria Math" charset="0"/>
                                  <a:ea typeface="Cambria Math" charset="0"/>
                                  <a:cs typeface="Cambria Math" charset="0"/>
                                </a:rPr>
                                <m:t>xung</m:t>
                              </m:r>
                              <m:r>
                                <a:rPr lang="en-US" sz="1700">
                                  <a:latin typeface="Cambria Math" charset="0"/>
                                  <a:ea typeface="Cambria Math" charset="0"/>
                                  <a:cs typeface="Cambria Math" charset="0"/>
                                </a:rPr>
                                <m:t> </m:t>
                              </m:r>
                              <m:r>
                                <m:rPr>
                                  <m:sty m:val="p"/>
                                </m:rPr>
                                <a:rPr lang="en-US" sz="1700">
                                  <a:latin typeface="Cambria Math" charset="0"/>
                                  <a:ea typeface="Cambria Math" charset="0"/>
                                  <a:cs typeface="Cambria Math" charset="0"/>
                                </a:rPr>
                                <m:t>clock</m:t>
                              </m:r>
                            </m:e>
                            <m:sub>
                              <m:r>
                                <a:rPr lang="vi-VN" sz="1700">
                                  <a:latin typeface="Cambria Math" charset="0"/>
                                  <a:ea typeface="Cambria Math" charset="0"/>
                                  <a:cs typeface="Cambria Math" charset="0"/>
                                </a:rPr>
                                <m:t>(</m:t>
                              </m:r>
                              <m:r>
                                <m:rPr>
                                  <m:sty m:val="p"/>
                                </m:rPr>
                                <a:rPr lang="vi-VN" sz="1700">
                                  <a:latin typeface="Cambria Math" charset="0"/>
                                  <a:ea typeface="Cambria Math" charset="0"/>
                                  <a:cs typeface="Cambria Math" charset="0"/>
                                </a:rPr>
                                <m:t>m</m:t>
                              </m:r>
                              <m:r>
                                <a:rPr lang="vi-VN" sz="1700">
                                  <a:latin typeface="Cambria Math" charset="0"/>
                                  <a:ea typeface="Cambria Math" charset="0"/>
                                  <a:cs typeface="Cambria Math" charset="0"/>
                                </a:rPr>
                                <m:t>á</m:t>
                              </m:r>
                              <m:r>
                                <m:rPr>
                                  <m:sty m:val="p"/>
                                </m:rPr>
                                <a:rPr lang="vi-VN" sz="1700">
                                  <a:latin typeface="Cambria Math" charset="0"/>
                                  <a:ea typeface="Cambria Math" charset="0"/>
                                  <a:cs typeface="Cambria Math" charset="0"/>
                                </a:rPr>
                                <m:t>y</m:t>
                              </m:r>
                              <m:r>
                                <a:rPr lang="vi-VN" sz="1700">
                                  <a:latin typeface="Cambria Math" charset="0"/>
                                  <a:ea typeface="Cambria Math" charset="0"/>
                                  <a:cs typeface="Cambria Math" charset="0"/>
                                </a:rPr>
                                <m:t> </m:t>
                              </m:r>
                              <m:r>
                                <m:rPr>
                                  <m:sty m:val="p"/>
                                </m:rPr>
                                <a:rPr lang="vi-VN" sz="1700">
                                  <a:latin typeface="Cambria Math" charset="0"/>
                                  <a:ea typeface="Cambria Math" charset="0"/>
                                  <a:cs typeface="Cambria Math" charset="0"/>
                                </a:rPr>
                                <m:t>B</m:t>
                              </m:r>
                              <m:r>
                                <a:rPr lang="vi-VN" sz="1700">
                                  <a:latin typeface="Cambria Math" charset="0"/>
                                  <a:ea typeface="Cambria Math" charset="0"/>
                                  <a:cs typeface="Cambria Math" charset="0"/>
                                </a:rPr>
                                <m:t>)</m:t>
                              </m:r>
                            </m:sub>
                          </m:sSub>
                        </m:den>
                      </m:f>
                    </m:oMath>
                  </m:oMathPara>
                </a14:m>
                <a:endParaRPr lang="en-US" sz="1700" dirty="0">
                  <a:latin typeface="Cambria Math" charset="0"/>
                  <a:ea typeface="Cambria Math" charset="0"/>
                  <a:cs typeface="Cambria Math" charset="0"/>
                </a:endParaRPr>
              </a:p>
            </p:txBody>
          </p:sp>
        </mc:Choice>
        <mc:Fallback xmlns="">
          <p:sp>
            <p:nvSpPr>
              <p:cNvPr id="18" name="TextBox 17">
                <a:extLst>
                  <a:ext uri="{FF2B5EF4-FFF2-40B4-BE49-F238E27FC236}">
                    <a16:creationId xmlns:a16="http://schemas.microsoft.com/office/drawing/2014/main" id="{6053D168-07C6-1BE9-2648-3C77ED8B53DA}"/>
                  </a:ext>
                </a:extLst>
              </p:cNvPr>
              <p:cNvSpPr txBox="1">
                <a:spLocks noRot="1" noChangeAspect="1" noMove="1" noResize="1" noEditPoints="1" noAdjustHandles="1" noChangeArrowheads="1" noChangeShapeType="1" noTextEdit="1"/>
              </p:cNvSpPr>
              <p:nvPr/>
            </p:nvSpPr>
            <p:spPr>
              <a:xfrm>
                <a:off x="3228916" y="3138935"/>
                <a:ext cx="5319277" cy="1851725"/>
              </a:xfrm>
              <a:prstGeom prst="rect">
                <a:avLst/>
              </a:prstGeom>
              <a:blipFill>
                <a:blip r:embed="rId3"/>
                <a:stretch>
                  <a:fillRect b="-136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F8B2626-255F-974F-80FE-D42209AC349C}"/>
                  </a:ext>
                </a:extLst>
              </p:cNvPr>
              <p:cNvSpPr txBox="1"/>
              <p:nvPr/>
            </p:nvSpPr>
            <p:spPr>
              <a:xfrm>
                <a:off x="2495206" y="5138650"/>
                <a:ext cx="7646260" cy="15976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n-US" i="1" smtClean="0">
                              <a:latin typeface="Cambria Math" charset="0"/>
                            </a:rPr>
                            <m:t>T</m:t>
                          </m:r>
                          <m:r>
                            <a:rPr lang="en-US" i="1" smtClean="0">
                              <a:latin typeface="Cambria Math" charset="0"/>
                            </a:rPr>
                            <m:t>ầ</m:t>
                          </m:r>
                          <m:r>
                            <m:rPr>
                              <m:sty m:val="p"/>
                            </m:rPr>
                            <a:rPr lang="en-US" i="1" smtClean="0">
                              <a:latin typeface="Cambria Math" charset="0"/>
                            </a:rPr>
                            <m:t>n</m:t>
                          </m:r>
                          <m:r>
                            <a:rPr lang="en-US" i="1" smtClean="0">
                              <a:latin typeface="Cambria Math" charset="0"/>
                            </a:rPr>
                            <m:t> </m:t>
                          </m:r>
                          <m:r>
                            <m:rPr>
                              <m:sty m:val="p"/>
                            </m:rPr>
                            <a:rPr lang="en-US" i="1" smtClean="0">
                              <a:latin typeface="Cambria Math" charset="0"/>
                            </a:rPr>
                            <m:t>s</m:t>
                          </m:r>
                          <m:r>
                            <a:rPr lang="en-US" i="1" smtClean="0">
                              <a:latin typeface="Cambria Math" charset="0"/>
                            </a:rPr>
                            <m:t>ố </m:t>
                          </m:r>
                          <m:r>
                            <m:rPr>
                              <m:sty m:val="p"/>
                            </m:rPr>
                            <a:rPr lang="en-US" i="1" smtClean="0">
                              <a:latin typeface="Cambria Math" charset="0"/>
                            </a:rPr>
                            <m:t>xung</m:t>
                          </m:r>
                          <m:r>
                            <a:rPr lang="en-US" i="1" smtClean="0">
                              <a:latin typeface="Cambria Math" charset="0"/>
                            </a:rPr>
                            <m:t> </m:t>
                          </m:r>
                          <m:r>
                            <m:rPr>
                              <m:sty m:val="p"/>
                            </m:rPr>
                            <a:rPr lang="en-US" i="1" smtClean="0">
                              <a:latin typeface="Cambria Math" charset="0"/>
                            </a:rPr>
                            <m:t>clock</m:t>
                          </m:r>
                        </m:e>
                        <m:sub>
                          <m:r>
                            <a:rPr lang="vi-VN" b="0" i="1" smtClean="0">
                              <a:latin typeface="Cambria Math" charset="0"/>
                            </a:rPr>
                            <m:t>(</m:t>
                          </m:r>
                          <m:r>
                            <m:rPr>
                              <m:sty m:val="p"/>
                            </m:rPr>
                            <a:rPr lang="vi-VN" i="1" smtClean="0">
                              <a:latin typeface="Cambria Math" charset="0"/>
                            </a:rPr>
                            <m:t>m</m:t>
                          </m:r>
                          <m:r>
                            <a:rPr lang="vi-VN" i="1" smtClean="0">
                              <a:latin typeface="Cambria Math" charset="0"/>
                            </a:rPr>
                            <m:t>á</m:t>
                          </m:r>
                          <m:r>
                            <m:rPr>
                              <m:sty m:val="p"/>
                            </m:rPr>
                            <a:rPr lang="vi-VN" i="1" smtClean="0">
                              <a:latin typeface="Cambria Math" charset="0"/>
                            </a:rPr>
                            <m:t>y</m:t>
                          </m:r>
                          <m:r>
                            <a:rPr lang="vi-VN" i="1" smtClean="0">
                              <a:latin typeface="Cambria Math" charset="0"/>
                            </a:rPr>
                            <m:t> </m:t>
                          </m:r>
                          <m:r>
                            <a:rPr lang="vi-VN" b="0" i="1" smtClean="0">
                              <a:latin typeface="Cambria Math" charset="0"/>
                            </a:rPr>
                            <m:t>𝐵</m:t>
                          </m:r>
                          <m:r>
                            <a:rPr lang="vi-VN" b="0" i="1" smtClean="0">
                              <a:latin typeface="Cambria Math" charset="0"/>
                            </a:rPr>
                            <m:t>)</m:t>
                          </m:r>
                        </m:sub>
                      </m:sSub>
                      <m:r>
                        <a:rPr lang="mr-IN" i="1" smtClean="0">
                          <a:latin typeface="Cambria Math" charset="0"/>
                        </a:rPr>
                        <m:t>=</m:t>
                      </m:r>
                      <m:r>
                        <a:rPr lang="vi-VN" b="0" i="1" smtClean="0">
                          <a:latin typeface="Cambria Math" charset="0"/>
                        </a:rPr>
                        <m:t> </m:t>
                      </m:r>
                      <m:f>
                        <m:fPr>
                          <m:ctrlPr>
                            <a:rPr lang="mr-IN" b="0" i="1" smtClean="0">
                              <a:latin typeface="Cambria Math" panose="02040503050406030204" pitchFamily="18" charset="0"/>
                            </a:rPr>
                          </m:ctrlPr>
                        </m:fPr>
                        <m:num>
                          <m:r>
                            <a:rPr lang="vi-VN" b="0" i="1" smtClean="0">
                              <a:latin typeface="Cambria Math" charset="0"/>
                            </a:rPr>
                            <m:t>10 </m:t>
                          </m:r>
                          <m:r>
                            <m:rPr>
                              <m:sty m:val="p"/>
                            </m:rPr>
                            <a:rPr lang="vi-VN" i="1" smtClean="0">
                              <a:latin typeface="Cambria Math" charset="0"/>
                            </a:rPr>
                            <m:t>x</m:t>
                          </m:r>
                          <m:r>
                            <a:rPr lang="vi-VN" i="1" smtClean="0">
                              <a:latin typeface="Cambria Math" charset="0"/>
                            </a:rPr>
                            <m:t> 1.2 </m:t>
                          </m:r>
                          <m:r>
                            <m:rPr>
                              <m:sty m:val="p"/>
                            </m:rPr>
                            <a:rPr lang="vi-VN" i="1" smtClean="0">
                              <a:latin typeface="Cambria Math" charset="0"/>
                            </a:rPr>
                            <m:t>x</m:t>
                          </m:r>
                          <m:r>
                            <a:rPr lang="vi-VN" i="1" smtClean="0">
                              <a:latin typeface="Cambria Math" charset="0"/>
                            </a:rPr>
                            <m:t> 2</m:t>
                          </m:r>
                        </m:num>
                        <m:den>
                          <m:r>
                            <a:rPr lang="vi-VN" b="0" i="1" smtClean="0">
                              <a:latin typeface="Cambria Math" charset="0"/>
                            </a:rPr>
                            <m:t>6</m:t>
                          </m:r>
                        </m:den>
                      </m:f>
                      <m:r>
                        <a:rPr lang="vi-VN" b="0" i="1" smtClean="0">
                          <a:latin typeface="Cambria Math" charset="0"/>
                        </a:rPr>
                        <m:t>=4 </m:t>
                      </m:r>
                      <m:d>
                        <m:dPr>
                          <m:ctrlPr>
                            <a:rPr lang="vi-VN" b="0" i="1" smtClean="0">
                              <a:latin typeface="Cambria Math" panose="02040503050406030204" pitchFamily="18" charset="0"/>
                            </a:rPr>
                          </m:ctrlPr>
                        </m:dPr>
                        <m:e>
                          <m:r>
                            <m:rPr>
                              <m:sty m:val="p"/>
                            </m:rPr>
                            <a:rPr lang="vi-VN" i="1" smtClean="0">
                              <a:latin typeface="Cambria Math" charset="0"/>
                            </a:rPr>
                            <m:t>GH</m:t>
                          </m:r>
                          <m:r>
                            <a:rPr lang="vi-VN" b="0" i="1" smtClean="0">
                              <a:latin typeface="Cambria Math" charset="0"/>
                            </a:rPr>
                            <m:t>𝑧</m:t>
                          </m:r>
                        </m:e>
                      </m:d>
                    </m:oMath>
                  </m:oMathPara>
                </a14:m>
                <a:endParaRPr lang="vi-VN" b="0" dirty="0"/>
              </a:p>
              <a:p>
                <a:endParaRPr lang="vi-VN" dirty="0"/>
              </a:p>
              <a:p>
                <a:r>
                  <a:rPr lang="vi-VN" sz="1600" dirty="0"/>
                  <a:t>Vậy để chạy chương trình trong 6s, xung clock máy B phải có tần số gấp đôi máy A.</a:t>
                </a:r>
              </a:p>
              <a:p>
                <a:r>
                  <a:rPr lang="vi-VN" b="0" dirty="0"/>
                  <a:t> </a:t>
                </a:r>
              </a:p>
              <a:p>
                <a:endParaRPr lang="en-US" dirty="0"/>
              </a:p>
            </p:txBody>
          </p:sp>
        </mc:Choice>
        <mc:Fallback xmlns="">
          <p:sp>
            <p:nvSpPr>
              <p:cNvPr id="19" name="TextBox 18">
                <a:extLst>
                  <a:ext uri="{FF2B5EF4-FFF2-40B4-BE49-F238E27FC236}">
                    <a16:creationId xmlns:a16="http://schemas.microsoft.com/office/drawing/2014/main" id="{3F8B2626-255F-974F-80FE-D42209AC349C}"/>
                  </a:ext>
                </a:extLst>
              </p:cNvPr>
              <p:cNvSpPr txBox="1">
                <a:spLocks noRot="1" noChangeAspect="1" noMove="1" noResize="1" noEditPoints="1" noAdjustHandles="1" noChangeArrowheads="1" noChangeShapeType="1" noTextEdit="1"/>
              </p:cNvSpPr>
              <p:nvPr/>
            </p:nvSpPr>
            <p:spPr>
              <a:xfrm>
                <a:off x="2495206" y="5138650"/>
                <a:ext cx="7646260" cy="1597617"/>
              </a:xfrm>
              <a:prstGeom prst="rect">
                <a:avLst/>
              </a:prstGeom>
              <a:blipFill>
                <a:blip r:embed="rId4"/>
                <a:stretch>
                  <a:fillRect l="-1658" t="-3150" r="-663"/>
                </a:stretch>
              </a:blipFill>
            </p:spPr>
            <p:txBody>
              <a:bodyPr/>
              <a:lstStyle/>
              <a:p>
                <a:r>
                  <a:rPr lang="en-VN">
                    <a:noFill/>
                  </a:rPr>
                  <a:t> </a:t>
                </a:r>
              </a:p>
            </p:txBody>
          </p:sp>
        </mc:Fallback>
      </mc:AlternateContent>
    </p:spTree>
    <p:extLst>
      <p:ext uri="{BB962C8B-B14F-4D97-AF65-F5344CB8AC3E}">
        <p14:creationId xmlns:p14="http://schemas.microsoft.com/office/powerpoint/2010/main" val="50346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831311" cy="884656"/>
          </a:xfrm>
        </p:spPr>
        <p:txBody>
          <a:bodyPr>
            <a:normAutofit fontScale="85000" lnSpcReduction="10000"/>
          </a:bodyPr>
          <a:lstStyle/>
          <a:p>
            <a:r>
              <a:rPr lang="en-US" dirty="0"/>
              <a:t>3. CPI (Clock cycle Per Instruction)</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3088766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CPI (Clock cycle Per Instruction)</a:t>
            </a:r>
            <a:endParaRPr lang="en-VN"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C6656E8F-111A-4CEB-0AE2-E1E5D65BBADC}"/>
                  </a:ext>
                </a:extLst>
              </p:cNvPr>
              <p:cNvSpPr>
                <a:spLocks noGrp="1"/>
              </p:cNvSpPr>
              <p:nvPr>
                <p:ph idx="1"/>
              </p:nvPr>
            </p:nvSpPr>
            <p:spPr>
              <a:xfrm>
                <a:off x="601981" y="1428016"/>
                <a:ext cx="11056416" cy="4824536"/>
              </a:xfrm>
            </p:spPr>
            <p:txBody>
              <a:bodyPr/>
              <a:lstStyle/>
              <a:p>
                <a:pPr marL="0" indent="0" algn="ctr">
                  <a:buNone/>
                </a:pPr>
                <a:endParaRPr lang="vi-VN" dirty="0"/>
              </a:p>
              <a:p>
                <a:pPr marL="0" indent="0" algn="ctr">
                  <a:buNone/>
                </a:pPr>
                <a:r>
                  <a:rPr lang="en-US" dirty="0" err="1"/>
                  <a:t>Tổng</a:t>
                </a:r>
                <a:r>
                  <a:rPr lang="en-US" dirty="0"/>
                  <a:t> </a:t>
                </a:r>
                <a:r>
                  <a:rPr lang="en-US" dirty="0" err="1"/>
                  <a:t>số</a:t>
                </a:r>
                <a:r>
                  <a:rPr lang="en-US" dirty="0"/>
                  <a:t> chu </a:t>
                </a:r>
                <a:r>
                  <a:rPr lang="en-US" dirty="0" err="1"/>
                  <a:t>kỳ</a:t>
                </a:r>
                <a:r>
                  <a:rPr lang="en-US" dirty="0"/>
                  <a:t> clock = </a:t>
                </a:r>
                <a:r>
                  <a:rPr lang="en-US" dirty="0" err="1"/>
                  <a:t>Tổng</a:t>
                </a:r>
                <a:r>
                  <a:rPr lang="en-US" dirty="0"/>
                  <a:t> </a:t>
                </a:r>
                <a:r>
                  <a:rPr lang="en-US" dirty="0" err="1"/>
                  <a:t>số</a:t>
                </a:r>
                <a:r>
                  <a:rPr lang="en-US" dirty="0"/>
                  <a:t> </a:t>
                </a:r>
                <a:r>
                  <a:rPr lang="en-US" dirty="0" err="1"/>
                  <a:t>lệnh</a:t>
                </a:r>
                <a:r>
                  <a:rPr lang="en-US" dirty="0"/>
                  <a:t> * CPI</a:t>
                </a:r>
              </a:p>
              <a:p>
                <a:pPr marL="0" indent="0" algn="ctr">
                  <a:buNone/>
                </a:pPr>
                <a:endParaRPr lang="en-US" dirty="0"/>
              </a:p>
              <a:p>
                <a:pPr marL="0" indent="0" algn="ctr">
                  <a:buNone/>
                </a:pPr>
                <a:r>
                  <a:rPr lang="en-US" dirty="0" err="1"/>
                  <a:t>Thời</a:t>
                </a:r>
                <a:r>
                  <a:rPr lang="en-US" dirty="0"/>
                  <a:t> </a:t>
                </a:r>
                <a:r>
                  <a:rPr lang="en-US" dirty="0" err="1"/>
                  <a:t>gian</a:t>
                </a:r>
                <a:r>
                  <a:rPr lang="en-US" dirty="0"/>
                  <a:t> </a:t>
                </a:r>
                <a:r>
                  <a:rPr lang="en-US" dirty="0" err="1"/>
                  <a:t>thực</a:t>
                </a:r>
                <a:r>
                  <a:rPr lang="en-US" dirty="0"/>
                  <a:t> </a:t>
                </a:r>
                <a:r>
                  <a:rPr lang="en-US" dirty="0" err="1"/>
                  <a:t>thi</a:t>
                </a:r>
                <a:r>
                  <a:rPr lang="en-US" dirty="0"/>
                  <a:t> = </a:t>
                </a:r>
                <a:r>
                  <a:rPr lang="en-US" dirty="0" err="1"/>
                  <a:t>Tổng</a:t>
                </a:r>
                <a:r>
                  <a:rPr lang="en-US" dirty="0"/>
                  <a:t> </a:t>
                </a:r>
                <a:r>
                  <a:rPr lang="en-US" dirty="0" err="1"/>
                  <a:t>số</a:t>
                </a:r>
                <a:r>
                  <a:rPr lang="en-US" dirty="0"/>
                  <a:t> </a:t>
                </a:r>
                <a:r>
                  <a:rPr lang="en-US" dirty="0" err="1"/>
                  <a:t>lệnh</a:t>
                </a:r>
                <a:r>
                  <a:rPr lang="en-US" dirty="0"/>
                  <a:t> * CPI * Chu </a:t>
                </a:r>
                <a:r>
                  <a:rPr lang="en-US" dirty="0" err="1"/>
                  <a:t>kỳ</a:t>
                </a:r>
                <a:r>
                  <a:rPr lang="en-US" dirty="0"/>
                  <a:t> clock</a:t>
                </a:r>
              </a:p>
              <a:p>
                <a:pPr marL="0" indent="0" algn="ctr">
                  <a:buNone/>
                </a:pPr>
                <a:endParaRPr lang="en-US" dirty="0"/>
              </a:p>
              <a:p>
                <a:pPr marL="0" indent="0" algn="ctr">
                  <a:buNone/>
                </a:pPr>
                <a:r>
                  <a:rPr lang="en-US" dirty="0" err="1"/>
                  <a:t>Thời</a:t>
                </a:r>
                <a:r>
                  <a:rPr lang="en-US" dirty="0"/>
                  <a:t> </a:t>
                </a:r>
                <a:r>
                  <a:rPr lang="en-US" dirty="0" err="1"/>
                  <a:t>gian</a:t>
                </a:r>
                <a:r>
                  <a:rPr lang="en-US" dirty="0"/>
                  <a:t> </a:t>
                </a:r>
                <a:r>
                  <a:rPr lang="en-US" dirty="0" err="1"/>
                  <a:t>thực</a:t>
                </a:r>
                <a:r>
                  <a:rPr lang="en-US" dirty="0"/>
                  <a:t> </a:t>
                </a:r>
                <a:r>
                  <a:rPr lang="en-US" dirty="0" err="1"/>
                  <a:t>thi</a:t>
                </a:r>
                <a:r>
                  <a:rPr lang="en-US" dirty="0"/>
                  <a:t> </a:t>
                </a:r>
                <a14:m>
                  <m:oMath xmlns:m="http://schemas.openxmlformats.org/officeDocument/2006/math">
                    <m:r>
                      <m:rPr>
                        <m:nor/>
                      </m:rPr>
                      <a:rPr lang="en-US" i="0" smtClean="0"/>
                      <m:t>=</m:t>
                    </m:r>
                    <m:r>
                      <m:rPr>
                        <m:nor/>
                      </m:rPr>
                      <a:rPr lang="en-US" b="0" i="0" smtClean="0"/>
                      <m:t> </m:t>
                    </m:r>
                    <m:f>
                      <m:fPr>
                        <m:ctrlPr>
                          <a:rPr lang="en-US" i="1" smtClean="0">
                            <a:latin typeface="Cambria Math" panose="02040503050406030204" pitchFamily="18" charset="0"/>
                          </a:rPr>
                        </m:ctrlPr>
                      </m:fPr>
                      <m:num>
                        <m:r>
                          <m:rPr>
                            <m:nor/>
                          </m:rPr>
                          <a:rPr lang="en-US"/>
                          <m:t>T</m:t>
                        </m:r>
                        <m:r>
                          <m:rPr>
                            <m:nor/>
                          </m:rPr>
                          <a:rPr lang="en-US"/>
                          <m:t>ổ</m:t>
                        </m:r>
                        <m:r>
                          <m:rPr>
                            <m:nor/>
                          </m:rPr>
                          <a:rPr lang="en-US"/>
                          <m:t>ng</m:t>
                        </m:r>
                        <m:r>
                          <m:rPr>
                            <m:nor/>
                          </m:rPr>
                          <a:rPr lang="en-US"/>
                          <m:t> </m:t>
                        </m:r>
                        <m:r>
                          <m:rPr>
                            <m:nor/>
                          </m:rPr>
                          <a:rPr lang="en-US"/>
                          <m:t>s</m:t>
                        </m:r>
                        <m:r>
                          <m:rPr>
                            <m:nor/>
                          </m:rPr>
                          <a:rPr lang="en-US"/>
                          <m:t>ố </m:t>
                        </m:r>
                        <m:r>
                          <m:rPr>
                            <m:nor/>
                          </m:rPr>
                          <a:rPr lang="en-US"/>
                          <m:t>l</m:t>
                        </m:r>
                        <m:r>
                          <m:rPr>
                            <m:nor/>
                          </m:rPr>
                          <a:rPr lang="en-US"/>
                          <m:t>ệ</m:t>
                        </m:r>
                        <m:r>
                          <m:rPr>
                            <m:nor/>
                          </m:rPr>
                          <a:rPr lang="en-US"/>
                          <m:t>nh</m:t>
                        </m:r>
                        <m:r>
                          <m:rPr>
                            <m:nor/>
                          </m:rPr>
                          <a:rPr lang="en-US"/>
                          <m:t> ∗ </m:t>
                        </m:r>
                        <m:r>
                          <m:rPr>
                            <m:nor/>
                          </m:rPr>
                          <a:rPr lang="en-US"/>
                          <m:t>CPI</m:t>
                        </m:r>
                      </m:num>
                      <m:den>
                        <m:r>
                          <m:rPr>
                            <m:nor/>
                          </m:rPr>
                          <a:rPr lang="en-US" b="0" i="0" smtClean="0"/>
                          <m:t>T</m:t>
                        </m:r>
                        <m:r>
                          <m:rPr>
                            <m:nor/>
                          </m:rPr>
                          <a:rPr lang="en-US" b="0" i="0" smtClean="0"/>
                          <m:t>ầ</m:t>
                        </m:r>
                        <m:r>
                          <m:rPr>
                            <m:nor/>
                          </m:rPr>
                          <a:rPr lang="en-US" b="0" i="0" smtClean="0"/>
                          <m:t>n</m:t>
                        </m:r>
                        <m:r>
                          <m:rPr>
                            <m:nor/>
                          </m:rPr>
                          <a:rPr lang="en-US" b="0" i="0" smtClean="0"/>
                          <m:t> </m:t>
                        </m:r>
                        <m:r>
                          <m:rPr>
                            <m:nor/>
                          </m:rPr>
                          <a:rPr lang="en-US" b="0" i="0" smtClean="0"/>
                          <m:t>s</m:t>
                        </m:r>
                        <m:r>
                          <m:rPr>
                            <m:nor/>
                          </m:rPr>
                          <a:rPr lang="en-US" b="0" i="0" smtClean="0"/>
                          <m:t>ố </m:t>
                        </m:r>
                        <m:r>
                          <m:rPr>
                            <m:nor/>
                          </m:rPr>
                          <a:rPr lang="en-US" b="0" i="0" smtClean="0"/>
                          <m:t>clock</m:t>
                        </m:r>
                      </m:den>
                    </m:f>
                  </m:oMath>
                </a14:m>
                <a:endParaRPr lang="en-US" dirty="0"/>
              </a:p>
              <a:p>
                <a:pPr marL="0" indent="0">
                  <a:buNone/>
                </a:pPr>
                <a:endParaRPr lang="en-US" dirty="0"/>
              </a:p>
            </p:txBody>
          </p:sp>
        </mc:Choice>
        <mc:Fallback xmlns="">
          <p:sp>
            <p:nvSpPr>
              <p:cNvPr id="7" name="Content Placeholder 2">
                <a:extLst>
                  <a:ext uri="{FF2B5EF4-FFF2-40B4-BE49-F238E27FC236}">
                    <a16:creationId xmlns:a16="http://schemas.microsoft.com/office/drawing/2014/main" id="{C6656E8F-111A-4CEB-0AE2-E1E5D65BBADC}"/>
                  </a:ext>
                </a:extLst>
              </p:cNvPr>
              <p:cNvSpPr>
                <a:spLocks noGrp="1" noRot="1" noChangeAspect="1" noMove="1" noResize="1" noEditPoints="1" noAdjustHandles="1" noChangeArrowheads="1" noChangeShapeType="1" noTextEdit="1"/>
              </p:cNvSpPr>
              <p:nvPr>
                <p:ph idx="1"/>
              </p:nvPr>
            </p:nvSpPr>
            <p:spPr>
              <a:xfrm>
                <a:off x="601981" y="1428016"/>
                <a:ext cx="11056416" cy="4824536"/>
              </a:xfrm>
              <a:blipFill>
                <a:blip r:embed="rId3"/>
                <a:stretch>
                  <a:fillRect/>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15</a:t>
            </a:fld>
            <a:endParaRPr lang="en-VN" dirty="0"/>
          </a:p>
        </p:txBody>
      </p:sp>
    </p:spTree>
    <p:extLst>
      <p:ext uri="{BB962C8B-B14F-4D97-AF65-F5344CB8AC3E}">
        <p14:creationId xmlns:p14="http://schemas.microsoft.com/office/powerpoint/2010/main" val="96230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anim calcmode="lin" valueType="num">
                                      <p:cBhvr additive="base">
                                        <p:cTn id="1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Quiz 3</a:t>
            </a:r>
            <a:endParaRPr lang="en-VN" dirty="0"/>
          </a:p>
        </p:txBody>
      </p:sp>
      <p:sp>
        <p:nvSpPr>
          <p:cNvPr id="9" name="Content Placeholder 8">
            <a:extLst>
              <a:ext uri="{FF2B5EF4-FFF2-40B4-BE49-F238E27FC236}">
                <a16:creationId xmlns:a16="http://schemas.microsoft.com/office/drawing/2014/main" id="{0D3A8A35-3B27-E643-1517-A248F0FF1864}"/>
              </a:ext>
            </a:extLst>
          </p:cNvPr>
          <p:cNvSpPr>
            <a:spLocks noGrp="1"/>
          </p:cNvSpPr>
          <p:nvPr>
            <p:ph idx="1"/>
          </p:nvPr>
        </p:nvSpPr>
        <p:spPr/>
        <p:txBody>
          <a:bodyPr/>
          <a:lstStyle/>
          <a:p>
            <a:r>
              <a:rPr lang="vi-VN"/>
              <a:t>Máy tính A: Chu kỳ clock = 250ps, CPI = 2.0</a:t>
            </a:r>
          </a:p>
          <a:p>
            <a:r>
              <a:rPr lang="vi-VN"/>
              <a:t>Máy tính B: Chu kỳ clock = 500ps, CPI = 1.2</a:t>
            </a:r>
          </a:p>
          <a:p>
            <a:r>
              <a:rPr lang="vi-VN"/>
              <a:t>Cả 2 máy tính đều có cùng ISA. Máy tính nào nhanh hơn và nhanh hơn bao nhiêu lần?</a:t>
            </a:r>
            <a:endParaRPr lang="en-US"/>
          </a:p>
          <a:p>
            <a:endParaRPr lang="en-US"/>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Tree>
    <p:extLst>
      <p:ext uri="{BB962C8B-B14F-4D97-AF65-F5344CB8AC3E}">
        <p14:creationId xmlns:p14="http://schemas.microsoft.com/office/powerpoint/2010/main" val="1579012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Quiz 3 - Đáp án</a:t>
            </a:r>
            <a:endParaRPr lang="en-US" b="1" dirty="0"/>
          </a:p>
        </p:txBody>
      </p:sp>
      <p:sp>
        <p:nvSpPr>
          <p:cNvPr id="9" name="Rectangle 3">
            <a:extLst>
              <a:ext uri="{FF2B5EF4-FFF2-40B4-BE49-F238E27FC236}">
                <a16:creationId xmlns:a16="http://schemas.microsoft.com/office/drawing/2014/main" id="{02590528-3345-BD23-E80B-F01299144B13}"/>
              </a:ext>
            </a:extLst>
          </p:cNvPr>
          <p:cNvSpPr>
            <a:spLocks noGrp="1" noChangeArrowheads="1"/>
          </p:cNvSpPr>
          <p:nvPr>
            <p:ph idx="1"/>
          </p:nvPr>
        </p:nvSpPr>
        <p:spPr>
          <a:xfrm>
            <a:off x="1981200" y="1143000"/>
            <a:ext cx="8229600" cy="5029200"/>
          </a:xfrm>
        </p:spPr>
        <p:txBody>
          <a:bodyPr/>
          <a:lstStyle/>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buNone/>
            </a:pPr>
            <a:endParaRPr lang="en-US" sz="2000" dirty="0"/>
          </a:p>
          <a:p>
            <a:pPr marL="0" indent="0" algn="just">
              <a:lnSpc>
                <a:spcPct val="90000"/>
              </a:lnSpc>
              <a:buNone/>
            </a:pPr>
            <a:endParaRPr lang="en-US" sz="20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17</a:t>
            </a:fld>
            <a:endParaRPr lang="en-VN" dirty="0"/>
          </a:p>
        </p:txBody>
      </p:sp>
      <p:pic>
        <p:nvPicPr>
          <p:cNvPr id="8" name="Picture 2">
            <a:extLst>
              <a:ext uri="{FF2B5EF4-FFF2-40B4-BE49-F238E27FC236}">
                <a16:creationId xmlns:a16="http://schemas.microsoft.com/office/drawing/2014/main" id="{AB8FAEAA-9D4A-D9B5-5929-A6CFA3A0BEC1}"/>
              </a:ext>
            </a:extLst>
          </p:cNvPr>
          <p:cNvPicPr>
            <a:picLocks noChangeAspect="1" noChangeArrowheads="1"/>
          </p:cNvPicPr>
          <p:nvPr/>
        </p:nvPicPr>
        <p:blipFill rotWithShape="1">
          <a:blip r:embed="rId2" cstate="print"/>
          <a:srcRect t="33557" b="10032"/>
          <a:stretch/>
        </p:blipFill>
        <p:spPr bwMode="auto">
          <a:xfrm>
            <a:off x="1735254" y="2981673"/>
            <a:ext cx="6799146" cy="3102481"/>
          </a:xfrm>
          <a:prstGeom prst="rect">
            <a:avLst/>
          </a:prstGeom>
          <a:noFill/>
          <a:ln w="9525">
            <a:noFill/>
            <a:miter lim="800000"/>
            <a:headEnd/>
            <a:tailEnd/>
          </a:ln>
        </p:spPr>
      </p:pic>
      <p:sp>
        <p:nvSpPr>
          <p:cNvPr id="10" name="Rectangular Callout 9">
            <a:extLst>
              <a:ext uri="{FF2B5EF4-FFF2-40B4-BE49-F238E27FC236}">
                <a16:creationId xmlns:a16="http://schemas.microsoft.com/office/drawing/2014/main" id="{1E1E9A70-3BC7-26F7-BE86-29BBBEC80670}"/>
              </a:ext>
            </a:extLst>
          </p:cNvPr>
          <p:cNvSpPr/>
          <p:nvPr/>
        </p:nvSpPr>
        <p:spPr>
          <a:xfrm>
            <a:off x="8473380" y="5715000"/>
            <a:ext cx="2133600" cy="914400"/>
          </a:xfrm>
          <a:prstGeom prst="wedgeRectCallout">
            <a:avLst>
              <a:gd name="adj1" fmla="val -164745"/>
              <a:gd name="adj2" fmla="val -20155"/>
            </a:avLst>
          </a:prstGeom>
          <a:solidFill>
            <a:schemeClr val="accent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Lưu</a:t>
            </a:r>
            <a:r>
              <a:rPr lang="en-US" sz="1600" dirty="0">
                <a:solidFill>
                  <a:schemeClr val="tx1"/>
                </a:solidFill>
              </a:rPr>
              <a:t> ý: </a:t>
            </a:r>
            <a:r>
              <a:rPr lang="en-US" sz="1600" dirty="0" err="1">
                <a:solidFill>
                  <a:schemeClr val="tx1"/>
                </a:solidFill>
              </a:rPr>
              <a:t>Thời</a:t>
            </a:r>
            <a:r>
              <a:rPr lang="en-US" sz="1600" dirty="0">
                <a:solidFill>
                  <a:schemeClr val="tx1"/>
                </a:solidFill>
              </a:rPr>
              <a:t> </a:t>
            </a:r>
            <a:r>
              <a:rPr lang="en-US" sz="1600" dirty="0" err="1">
                <a:solidFill>
                  <a:schemeClr val="tx1"/>
                </a:solidFill>
              </a:rPr>
              <a:t>gian</a:t>
            </a:r>
            <a:r>
              <a:rPr lang="en-US" sz="1600" dirty="0">
                <a:solidFill>
                  <a:schemeClr val="tx1"/>
                </a:solidFill>
              </a:rPr>
              <a:t> </a:t>
            </a:r>
            <a:r>
              <a:rPr lang="en-US" sz="1600" dirty="0" err="1">
                <a:solidFill>
                  <a:schemeClr val="tx1"/>
                </a:solidFill>
              </a:rPr>
              <a:t>chạy</a:t>
            </a:r>
            <a:r>
              <a:rPr lang="en-US" sz="1600" dirty="0">
                <a:solidFill>
                  <a:schemeClr val="tx1"/>
                </a:solidFill>
              </a:rPr>
              <a:t> </a:t>
            </a:r>
            <a:r>
              <a:rPr lang="en-US" sz="1600" dirty="0" err="1">
                <a:solidFill>
                  <a:schemeClr val="tx1"/>
                </a:solidFill>
              </a:rPr>
              <a:t>máy</a:t>
            </a:r>
            <a:r>
              <a:rPr lang="en-US" sz="1600" dirty="0">
                <a:solidFill>
                  <a:schemeClr val="tx1"/>
                </a:solidFill>
              </a:rPr>
              <a:t> A </a:t>
            </a:r>
            <a:r>
              <a:rPr lang="en-US" sz="1600" dirty="0" err="1">
                <a:solidFill>
                  <a:schemeClr val="tx1"/>
                </a:solidFill>
              </a:rPr>
              <a:t>nhỏ</a:t>
            </a:r>
            <a:r>
              <a:rPr lang="en-US" sz="1600" dirty="0">
                <a:solidFill>
                  <a:schemeClr val="tx1"/>
                </a:solidFill>
              </a:rPr>
              <a:t> </a:t>
            </a:r>
            <a:r>
              <a:rPr lang="en-US" sz="1600" dirty="0" err="1">
                <a:solidFill>
                  <a:schemeClr val="tx1"/>
                </a:solidFill>
              </a:rPr>
              <a:t>hơn</a:t>
            </a:r>
            <a:r>
              <a:rPr lang="en-US" sz="1600" dirty="0">
                <a:solidFill>
                  <a:schemeClr val="tx1"/>
                </a:solidFill>
              </a:rPr>
              <a:t> </a:t>
            </a:r>
            <a:r>
              <a:rPr lang="en-US" sz="1600" dirty="0" err="1">
                <a:solidFill>
                  <a:schemeClr val="tx1"/>
                </a:solidFill>
              </a:rPr>
              <a:t>máy</a:t>
            </a:r>
            <a:r>
              <a:rPr lang="en-US" sz="1600" dirty="0">
                <a:solidFill>
                  <a:schemeClr val="tx1"/>
                </a:solidFill>
              </a:rPr>
              <a:t> B </a:t>
            </a:r>
            <a:r>
              <a:rPr lang="en-US" sz="1600" dirty="0" err="1">
                <a:solidFill>
                  <a:schemeClr val="tx1"/>
                </a:solidFill>
              </a:rPr>
              <a:t>thì</a:t>
            </a:r>
            <a:r>
              <a:rPr lang="en-US" sz="1600" dirty="0">
                <a:solidFill>
                  <a:schemeClr val="tx1"/>
                </a:solidFill>
              </a:rPr>
              <a:t> </a:t>
            </a:r>
            <a:r>
              <a:rPr lang="en-US" sz="1600" dirty="0" err="1">
                <a:solidFill>
                  <a:schemeClr val="tx1"/>
                </a:solidFill>
              </a:rPr>
              <a:t>máy</a:t>
            </a:r>
            <a:r>
              <a:rPr lang="en-US" sz="1600" dirty="0">
                <a:solidFill>
                  <a:schemeClr val="tx1"/>
                </a:solidFill>
              </a:rPr>
              <a:t> A </a:t>
            </a:r>
            <a:r>
              <a:rPr lang="en-US" sz="1600" dirty="0" err="1">
                <a:solidFill>
                  <a:schemeClr val="tx1"/>
                </a:solidFill>
              </a:rPr>
              <a:t>chạy</a:t>
            </a:r>
            <a:r>
              <a:rPr lang="en-US" sz="1600" dirty="0">
                <a:solidFill>
                  <a:schemeClr val="tx1"/>
                </a:solidFill>
              </a:rPr>
              <a:t> </a:t>
            </a:r>
            <a:r>
              <a:rPr lang="en-US" sz="1600" dirty="0" err="1">
                <a:solidFill>
                  <a:schemeClr val="tx1"/>
                </a:solidFill>
              </a:rPr>
              <a:t>nhanh</a:t>
            </a:r>
            <a:r>
              <a:rPr lang="en-US" sz="1600" dirty="0">
                <a:solidFill>
                  <a:schemeClr val="tx1"/>
                </a:solidFill>
              </a:rPr>
              <a:t> </a:t>
            </a:r>
            <a:r>
              <a:rPr lang="en-US" sz="1600" dirty="0" err="1">
                <a:solidFill>
                  <a:schemeClr val="tx1"/>
                </a:solidFill>
              </a:rPr>
              <a:t>hơn</a:t>
            </a:r>
            <a:r>
              <a:rPr lang="en-US" sz="1600" dirty="0">
                <a:solidFill>
                  <a:schemeClr val="tx1"/>
                </a:solidFill>
              </a:rPr>
              <a:t>.</a:t>
            </a:r>
          </a:p>
        </p:txBody>
      </p:sp>
      <p:pic>
        <p:nvPicPr>
          <p:cNvPr id="11" name="Picture 2">
            <a:extLst>
              <a:ext uri="{FF2B5EF4-FFF2-40B4-BE49-F238E27FC236}">
                <a16:creationId xmlns:a16="http://schemas.microsoft.com/office/drawing/2014/main" id="{896856D6-14FC-6716-FA06-0AD8AF171D5E}"/>
              </a:ext>
            </a:extLst>
          </p:cNvPr>
          <p:cNvPicPr>
            <a:picLocks noChangeAspect="1" noChangeArrowheads="1"/>
          </p:cNvPicPr>
          <p:nvPr/>
        </p:nvPicPr>
        <p:blipFill rotWithShape="1">
          <a:blip r:embed="rId2" cstate="print"/>
          <a:srcRect t="7058" b="66019"/>
          <a:stretch/>
        </p:blipFill>
        <p:spPr bwMode="auto">
          <a:xfrm>
            <a:off x="1789032" y="1462424"/>
            <a:ext cx="7136472" cy="1409919"/>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E9290DC-D28E-BDBC-63F9-3B7AA7D860AE}"/>
                  </a:ext>
                </a:extLst>
              </p:cNvPr>
              <p:cNvSpPr txBox="1"/>
              <p:nvPr/>
            </p:nvSpPr>
            <p:spPr>
              <a:xfrm>
                <a:off x="2215952" y="6000482"/>
                <a:ext cx="5830121" cy="5245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1600" i="1">
                              <a:latin typeface="Cambria Math" panose="02040503050406030204" pitchFamily="18" charset="0"/>
                            </a:rPr>
                          </m:ctrlPr>
                        </m:fPr>
                        <m:num>
                          <m:r>
                            <m:rPr>
                              <m:sty m:val="p"/>
                            </m:rPr>
                            <a:rPr lang="vi-VN" sz="1600" i="1">
                              <a:latin typeface="Cambria Math" charset="0"/>
                            </a:rPr>
                            <m:t>Hi</m:t>
                          </m:r>
                          <m:r>
                            <a:rPr lang="vi-VN" sz="1600" i="1">
                              <a:latin typeface="Cambria Math" charset="0"/>
                            </a:rPr>
                            <m:t>ệ</m:t>
                          </m:r>
                          <m:r>
                            <m:rPr>
                              <m:sty m:val="p"/>
                            </m:rPr>
                            <a:rPr lang="vi-VN" sz="1600" i="1">
                              <a:latin typeface="Cambria Math" charset="0"/>
                            </a:rPr>
                            <m:t>u</m:t>
                          </m:r>
                          <m:r>
                            <a:rPr lang="vi-VN" sz="1600" i="1">
                              <a:latin typeface="Cambria Math" charset="0"/>
                            </a:rPr>
                            <m:t> </m:t>
                          </m:r>
                          <m:r>
                            <m:rPr>
                              <m:sty m:val="p"/>
                            </m:rPr>
                            <a:rPr lang="vi-VN" sz="1600" i="1">
                              <a:latin typeface="Cambria Math" charset="0"/>
                            </a:rPr>
                            <m:t>su</m:t>
                          </m:r>
                          <m:r>
                            <a:rPr lang="vi-VN" sz="1600" i="1">
                              <a:latin typeface="Cambria Math" charset="0"/>
                            </a:rPr>
                            <m:t>ấ</m:t>
                          </m:r>
                          <m:r>
                            <m:rPr>
                              <m:sty m:val="p"/>
                            </m:rPr>
                            <a:rPr lang="vi-VN" sz="1600" i="1">
                              <a:latin typeface="Cambria Math" charset="0"/>
                            </a:rPr>
                            <m:t>t</m:t>
                          </m:r>
                          <m:r>
                            <a:rPr lang="vi-VN" sz="1600" i="1">
                              <a:latin typeface="Cambria Math" charset="0"/>
                            </a:rPr>
                            <m:t> </m:t>
                          </m:r>
                          <m:r>
                            <m:rPr>
                              <m:sty m:val="p"/>
                            </m:rPr>
                            <a:rPr lang="vi-VN" sz="1600" i="1">
                              <a:latin typeface="Cambria Math" charset="0"/>
                            </a:rPr>
                            <m:t>m</m:t>
                          </m:r>
                          <m:r>
                            <a:rPr lang="vi-VN" sz="1600" i="1">
                              <a:latin typeface="Cambria Math" charset="0"/>
                            </a:rPr>
                            <m:t>á</m:t>
                          </m:r>
                          <m:r>
                            <m:rPr>
                              <m:sty m:val="p"/>
                            </m:rPr>
                            <a:rPr lang="vi-VN" sz="1600" i="1">
                              <a:latin typeface="Cambria Math" charset="0"/>
                            </a:rPr>
                            <m:t>y</m:t>
                          </m:r>
                          <m:r>
                            <a:rPr lang="vi-VN" sz="1600" i="1">
                              <a:latin typeface="Cambria Math" charset="0"/>
                            </a:rPr>
                            <m:t> </m:t>
                          </m:r>
                          <m:r>
                            <m:rPr>
                              <m:sty m:val="p"/>
                            </m:rPr>
                            <a:rPr lang="vi-VN" sz="1600" i="1">
                              <a:latin typeface="Cambria Math" charset="0"/>
                            </a:rPr>
                            <m:t>A</m:t>
                          </m:r>
                        </m:num>
                        <m:den>
                          <m:r>
                            <m:rPr>
                              <m:sty m:val="p"/>
                            </m:rPr>
                            <a:rPr lang="vi-VN" sz="1600" i="1">
                              <a:latin typeface="Cambria Math" charset="0"/>
                            </a:rPr>
                            <m:t>Hi</m:t>
                          </m:r>
                          <m:r>
                            <a:rPr lang="vi-VN" sz="1600" i="1">
                              <a:latin typeface="Cambria Math" charset="0"/>
                            </a:rPr>
                            <m:t>ệ</m:t>
                          </m:r>
                          <m:r>
                            <m:rPr>
                              <m:sty m:val="p"/>
                            </m:rPr>
                            <a:rPr lang="vi-VN" sz="1600" i="1">
                              <a:latin typeface="Cambria Math" charset="0"/>
                            </a:rPr>
                            <m:t>u</m:t>
                          </m:r>
                          <m:r>
                            <a:rPr lang="vi-VN" sz="1600" i="1">
                              <a:latin typeface="Cambria Math" charset="0"/>
                            </a:rPr>
                            <m:t> </m:t>
                          </m:r>
                          <m:r>
                            <m:rPr>
                              <m:sty m:val="p"/>
                            </m:rPr>
                            <a:rPr lang="vi-VN" sz="1600" i="1">
                              <a:latin typeface="Cambria Math" charset="0"/>
                            </a:rPr>
                            <m:t>su</m:t>
                          </m:r>
                          <m:r>
                            <a:rPr lang="vi-VN" sz="1600" i="1">
                              <a:latin typeface="Cambria Math" charset="0"/>
                            </a:rPr>
                            <m:t>ấ</m:t>
                          </m:r>
                          <m:r>
                            <m:rPr>
                              <m:sty m:val="p"/>
                            </m:rPr>
                            <a:rPr lang="vi-VN" sz="1600" i="1">
                              <a:latin typeface="Cambria Math" charset="0"/>
                            </a:rPr>
                            <m:t>t</m:t>
                          </m:r>
                          <m:r>
                            <a:rPr lang="vi-VN" sz="1600" i="1">
                              <a:latin typeface="Cambria Math" charset="0"/>
                            </a:rPr>
                            <m:t> </m:t>
                          </m:r>
                          <m:r>
                            <m:rPr>
                              <m:sty m:val="p"/>
                            </m:rPr>
                            <a:rPr lang="vi-VN" sz="1600" i="1">
                              <a:latin typeface="Cambria Math" charset="0"/>
                            </a:rPr>
                            <m:t>m</m:t>
                          </m:r>
                          <m:r>
                            <a:rPr lang="vi-VN" sz="1600" i="1">
                              <a:latin typeface="Cambria Math" charset="0"/>
                            </a:rPr>
                            <m:t>á</m:t>
                          </m:r>
                          <m:r>
                            <m:rPr>
                              <m:sty m:val="p"/>
                            </m:rPr>
                            <a:rPr lang="vi-VN" sz="1600" i="1">
                              <a:latin typeface="Cambria Math" charset="0"/>
                            </a:rPr>
                            <m:t>y</m:t>
                          </m:r>
                          <m:r>
                            <a:rPr lang="vi-VN" sz="1600" i="1">
                              <a:latin typeface="Cambria Math" charset="0"/>
                            </a:rPr>
                            <m:t> </m:t>
                          </m:r>
                          <m:r>
                            <m:rPr>
                              <m:sty m:val="p"/>
                            </m:rPr>
                            <a:rPr lang="vi-VN" sz="1600" i="1">
                              <a:latin typeface="Cambria Math" charset="0"/>
                            </a:rPr>
                            <m:t>B</m:t>
                          </m:r>
                        </m:den>
                      </m:f>
                      <m:r>
                        <a:rPr lang="mr-IN" sz="1600" i="1">
                          <a:latin typeface="Cambria Math" charset="0"/>
                        </a:rPr>
                        <m:t>=</m:t>
                      </m:r>
                      <m:r>
                        <a:rPr lang="vi-VN" sz="1600" i="1">
                          <a:latin typeface="Cambria Math" charset="0"/>
                        </a:rPr>
                        <m:t> </m:t>
                      </m:r>
                      <m:f>
                        <m:fPr>
                          <m:ctrlPr>
                            <a:rPr lang="mr-IN" sz="1600" i="1">
                              <a:latin typeface="Cambria Math" panose="02040503050406030204" pitchFamily="18" charset="0"/>
                            </a:rPr>
                          </m:ctrlPr>
                        </m:fPr>
                        <m:num>
                          <m:r>
                            <m:rPr>
                              <m:sty m:val="p"/>
                            </m:rPr>
                            <a:rPr lang="vi-VN" sz="1600" i="1">
                              <a:latin typeface="Cambria Math" charset="0"/>
                            </a:rPr>
                            <m:t>Th</m:t>
                          </m:r>
                          <m:r>
                            <a:rPr lang="vi-VN" sz="1600" i="1">
                              <a:latin typeface="Cambria Math" charset="0"/>
                            </a:rPr>
                            <m:t>ờ</m:t>
                          </m:r>
                          <m:r>
                            <m:rPr>
                              <m:sty m:val="p"/>
                            </m:rPr>
                            <a:rPr lang="vi-VN" sz="1600" i="1">
                              <a:latin typeface="Cambria Math" charset="0"/>
                            </a:rPr>
                            <m:t>i</m:t>
                          </m:r>
                          <m:r>
                            <a:rPr lang="vi-VN" sz="1600" i="1">
                              <a:latin typeface="Cambria Math" charset="0"/>
                            </a:rPr>
                            <m:t> </m:t>
                          </m:r>
                          <m:r>
                            <m:rPr>
                              <m:sty m:val="p"/>
                            </m:rPr>
                            <a:rPr lang="vi-VN" sz="1600" i="1">
                              <a:latin typeface="Cambria Math" charset="0"/>
                            </a:rPr>
                            <m:t>gian</m:t>
                          </m:r>
                          <m:r>
                            <a:rPr lang="vi-VN" sz="1600" i="1">
                              <a:latin typeface="Cambria Math" charset="0"/>
                            </a:rPr>
                            <m:t> </m:t>
                          </m:r>
                          <m:r>
                            <m:rPr>
                              <m:sty m:val="p"/>
                            </m:rPr>
                            <a:rPr lang="vi-VN" sz="1600" i="1">
                              <a:latin typeface="Cambria Math" charset="0"/>
                            </a:rPr>
                            <m:t>th</m:t>
                          </m:r>
                          <m:r>
                            <a:rPr lang="vi-VN" sz="1600" i="1">
                              <a:latin typeface="Cambria Math" charset="0"/>
                            </a:rPr>
                            <m:t>ự</m:t>
                          </m:r>
                          <m:r>
                            <m:rPr>
                              <m:sty m:val="p"/>
                            </m:rPr>
                            <a:rPr lang="vi-VN" sz="1600" i="1">
                              <a:latin typeface="Cambria Math" charset="0"/>
                            </a:rPr>
                            <m:t>c</m:t>
                          </m:r>
                          <m:r>
                            <a:rPr lang="vi-VN" sz="1600" i="1">
                              <a:latin typeface="Cambria Math" charset="0"/>
                            </a:rPr>
                            <m:t> </m:t>
                          </m:r>
                          <m:r>
                            <m:rPr>
                              <m:sty m:val="p"/>
                            </m:rPr>
                            <a:rPr lang="vi-VN" sz="1600" i="1">
                              <a:latin typeface="Cambria Math" charset="0"/>
                            </a:rPr>
                            <m:t>thi</m:t>
                          </m:r>
                          <m:r>
                            <a:rPr lang="vi-VN" sz="1600" i="1">
                              <a:latin typeface="Cambria Math" charset="0"/>
                            </a:rPr>
                            <m:t> </m:t>
                          </m:r>
                          <m:r>
                            <m:rPr>
                              <m:sty m:val="p"/>
                            </m:rPr>
                            <a:rPr lang="vi-VN" sz="1600" i="1">
                              <a:latin typeface="Cambria Math" charset="0"/>
                            </a:rPr>
                            <m:t>m</m:t>
                          </m:r>
                          <m:r>
                            <a:rPr lang="vi-VN" sz="1600" i="1">
                              <a:latin typeface="Cambria Math" charset="0"/>
                            </a:rPr>
                            <m:t>á</m:t>
                          </m:r>
                          <m:r>
                            <m:rPr>
                              <m:sty m:val="p"/>
                            </m:rPr>
                            <a:rPr lang="vi-VN" sz="1600" i="1">
                              <a:latin typeface="Cambria Math" charset="0"/>
                            </a:rPr>
                            <m:t>y</m:t>
                          </m:r>
                          <m:r>
                            <a:rPr lang="vi-VN" sz="1600" i="1">
                              <a:latin typeface="Cambria Math" charset="0"/>
                            </a:rPr>
                            <m:t> </m:t>
                          </m:r>
                          <m:r>
                            <m:rPr>
                              <m:sty m:val="p"/>
                            </m:rPr>
                            <a:rPr lang="vi-VN" sz="1600" i="1">
                              <a:latin typeface="Cambria Math" charset="0"/>
                            </a:rPr>
                            <m:t>B</m:t>
                          </m:r>
                        </m:num>
                        <m:den>
                          <m:r>
                            <m:rPr>
                              <m:sty m:val="p"/>
                            </m:rPr>
                            <a:rPr lang="vi-VN" sz="1600" i="1">
                              <a:latin typeface="Cambria Math" charset="0"/>
                            </a:rPr>
                            <m:t>Th</m:t>
                          </m:r>
                          <m:r>
                            <a:rPr lang="vi-VN" sz="1600" i="1">
                              <a:latin typeface="Cambria Math" charset="0"/>
                            </a:rPr>
                            <m:t>ờ</m:t>
                          </m:r>
                          <m:r>
                            <m:rPr>
                              <m:sty m:val="p"/>
                            </m:rPr>
                            <a:rPr lang="vi-VN" sz="1600" i="1">
                              <a:latin typeface="Cambria Math" charset="0"/>
                            </a:rPr>
                            <m:t>i</m:t>
                          </m:r>
                          <m:r>
                            <a:rPr lang="vi-VN" sz="1600" i="1">
                              <a:latin typeface="Cambria Math" charset="0"/>
                            </a:rPr>
                            <m:t> </m:t>
                          </m:r>
                          <m:r>
                            <m:rPr>
                              <m:sty m:val="p"/>
                            </m:rPr>
                            <a:rPr lang="vi-VN" sz="1600" i="1">
                              <a:latin typeface="Cambria Math" charset="0"/>
                            </a:rPr>
                            <m:t>gian</m:t>
                          </m:r>
                          <m:r>
                            <a:rPr lang="vi-VN" sz="1600" i="1">
                              <a:latin typeface="Cambria Math" charset="0"/>
                            </a:rPr>
                            <m:t> </m:t>
                          </m:r>
                          <m:r>
                            <m:rPr>
                              <m:sty m:val="p"/>
                            </m:rPr>
                            <a:rPr lang="vi-VN" sz="1600" i="1">
                              <a:latin typeface="Cambria Math" charset="0"/>
                            </a:rPr>
                            <m:t>th</m:t>
                          </m:r>
                          <m:r>
                            <a:rPr lang="vi-VN" sz="1600" i="1">
                              <a:latin typeface="Cambria Math" charset="0"/>
                            </a:rPr>
                            <m:t>ự</m:t>
                          </m:r>
                          <m:r>
                            <m:rPr>
                              <m:sty m:val="p"/>
                            </m:rPr>
                            <a:rPr lang="vi-VN" sz="1600" i="1">
                              <a:latin typeface="Cambria Math" charset="0"/>
                            </a:rPr>
                            <m:t>c</m:t>
                          </m:r>
                          <m:r>
                            <a:rPr lang="vi-VN" sz="1600" i="1">
                              <a:latin typeface="Cambria Math" charset="0"/>
                            </a:rPr>
                            <m:t> </m:t>
                          </m:r>
                          <m:r>
                            <m:rPr>
                              <m:sty m:val="p"/>
                            </m:rPr>
                            <a:rPr lang="vi-VN" sz="1600" i="1">
                              <a:latin typeface="Cambria Math" charset="0"/>
                            </a:rPr>
                            <m:t>thi</m:t>
                          </m:r>
                          <m:r>
                            <a:rPr lang="vi-VN" sz="1600" i="1">
                              <a:latin typeface="Cambria Math" charset="0"/>
                            </a:rPr>
                            <m:t> </m:t>
                          </m:r>
                          <m:r>
                            <m:rPr>
                              <m:sty m:val="p"/>
                            </m:rPr>
                            <a:rPr lang="vi-VN" sz="1600" i="1">
                              <a:latin typeface="Cambria Math" charset="0"/>
                            </a:rPr>
                            <m:t>m</m:t>
                          </m:r>
                          <m:r>
                            <a:rPr lang="vi-VN" sz="1600" i="1">
                              <a:latin typeface="Cambria Math" charset="0"/>
                            </a:rPr>
                            <m:t>á</m:t>
                          </m:r>
                          <m:r>
                            <m:rPr>
                              <m:sty m:val="p"/>
                            </m:rPr>
                            <a:rPr lang="vi-VN" sz="1600" i="1">
                              <a:latin typeface="Cambria Math" charset="0"/>
                            </a:rPr>
                            <m:t>y</m:t>
                          </m:r>
                          <m:r>
                            <a:rPr lang="vi-VN" sz="1600" i="1">
                              <a:latin typeface="Cambria Math" charset="0"/>
                            </a:rPr>
                            <m:t> </m:t>
                          </m:r>
                          <m:r>
                            <m:rPr>
                              <m:sty m:val="p"/>
                            </m:rPr>
                            <a:rPr lang="vi-VN" sz="1600" i="1">
                              <a:latin typeface="Cambria Math" charset="0"/>
                            </a:rPr>
                            <m:t>A</m:t>
                          </m:r>
                        </m:den>
                      </m:f>
                      <m:r>
                        <a:rPr lang="vi-VN" sz="1600" i="1">
                          <a:latin typeface="Cambria Math" charset="0"/>
                        </a:rPr>
                        <m:t>= </m:t>
                      </m:r>
                      <m:f>
                        <m:fPr>
                          <m:ctrlPr>
                            <a:rPr lang="mr-IN" sz="1600" i="1">
                              <a:latin typeface="Cambria Math" panose="02040503050406030204" pitchFamily="18" charset="0"/>
                            </a:rPr>
                          </m:ctrlPr>
                        </m:fPr>
                        <m:num>
                          <m:r>
                            <a:rPr lang="vi-VN" sz="1600" i="1">
                              <a:latin typeface="Cambria Math" charset="0"/>
                            </a:rPr>
                            <m:t>600 </m:t>
                          </m:r>
                          <m:r>
                            <m:rPr>
                              <m:sty m:val="p"/>
                            </m:rPr>
                            <a:rPr lang="vi-VN" sz="1600" i="1">
                              <a:latin typeface="Cambria Math" charset="0"/>
                            </a:rPr>
                            <m:t>x</m:t>
                          </m:r>
                          <m:r>
                            <a:rPr lang="vi-VN" sz="1600" i="1">
                              <a:latin typeface="Cambria Math" charset="0"/>
                            </a:rPr>
                            <m:t> </m:t>
                          </m:r>
                          <m:r>
                            <m:rPr>
                              <m:sty m:val="p"/>
                            </m:rPr>
                            <a:rPr lang="vi-VN" sz="1600" i="1">
                              <a:latin typeface="Cambria Math" charset="0"/>
                            </a:rPr>
                            <m:t>I</m:t>
                          </m:r>
                          <m:r>
                            <a:rPr lang="vi-VN" sz="1600" i="1">
                              <a:latin typeface="Cambria Math" charset="0"/>
                            </a:rPr>
                            <m:t> (</m:t>
                          </m:r>
                          <m:r>
                            <m:rPr>
                              <m:sty m:val="p"/>
                            </m:rPr>
                            <a:rPr lang="vi-VN" sz="1600" i="1">
                              <a:latin typeface="Cambria Math" charset="0"/>
                            </a:rPr>
                            <m:t>ps</m:t>
                          </m:r>
                          <m:r>
                            <a:rPr lang="vi-VN" sz="1600" i="1">
                              <a:latin typeface="Cambria Math" charset="0"/>
                            </a:rPr>
                            <m:t>)</m:t>
                          </m:r>
                        </m:num>
                        <m:den>
                          <m:r>
                            <a:rPr lang="vi-VN" sz="1600" i="1">
                              <a:latin typeface="Cambria Math" charset="0"/>
                            </a:rPr>
                            <m:t>500 </m:t>
                          </m:r>
                          <m:r>
                            <m:rPr>
                              <m:sty m:val="p"/>
                            </m:rPr>
                            <a:rPr lang="vi-VN" sz="1600" i="1">
                              <a:latin typeface="Cambria Math" charset="0"/>
                            </a:rPr>
                            <m:t>x</m:t>
                          </m:r>
                          <m:r>
                            <a:rPr lang="vi-VN" sz="1600" i="1">
                              <a:latin typeface="Cambria Math" charset="0"/>
                            </a:rPr>
                            <m:t> </m:t>
                          </m:r>
                          <m:r>
                            <m:rPr>
                              <m:sty m:val="p"/>
                            </m:rPr>
                            <a:rPr lang="vi-VN" sz="1600" i="1">
                              <a:latin typeface="Cambria Math" charset="0"/>
                            </a:rPr>
                            <m:t>I</m:t>
                          </m:r>
                          <m:r>
                            <a:rPr lang="vi-VN" sz="1600" i="1">
                              <a:latin typeface="Cambria Math" charset="0"/>
                            </a:rPr>
                            <m:t> (</m:t>
                          </m:r>
                          <m:r>
                            <m:rPr>
                              <m:sty m:val="p"/>
                            </m:rPr>
                            <a:rPr lang="vi-VN" sz="1600" i="1">
                              <a:latin typeface="Cambria Math" charset="0"/>
                            </a:rPr>
                            <m:t>p</m:t>
                          </m:r>
                          <m:r>
                            <a:rPr lang="vi-VN" sz="1600" i="1">
                              <a:latin typeface="Cambria Math" charset="0"/>
                            </a:rPr>
                            <m:t>𝑠</m:t>
                          </m:r>
                          <m:r>
                            <a:rPr lang="vi-VN" sz="1600" i="1">
                              <a:latin typeface="Cambria Math" charset="0"/>
                            </a:rPr>
                            <m:t>)</m:t>
                          </m:r>
                        </m:den>
                      </m:f>
                      <m:r>
                        <a:rPr lang="vi-VN" sz="1600" i="1">
                          <a:latin typeface="Cambria Math" charset="0"/>
                        </a:rPr>
                        <m:t>=1.2</m:t>
                      </m:r>
                    </m:oMath>
                  </m:oMathPara>
                </a14:m>
                <a:endParaRPr lang="en-US" sz="1600" dirty="0"/>
              </a:p>
            </p:txBody>
          </p:sp>
        </mc:Choice>
        <mc:Fallback xmlns="">
          <p:sp>
            <p:nvSpPr>
              <p:cNvPr id="12" name="TextBox 11">
                <a:extLst>
                  <a:ext uri="{FF2B5EF4-FFF2-40B4-BE49-F238E27FC236}">
                    <a16:creationId xmlns:a16="http://schemas.microsoft.com/office/drawing/2014/main" id="{0E9290DC-D28E-BDBC-63F9-3B7AA7D860AE}"/>
                  </a:ext>
                </a:extLst>
              </p:cNvPr>
              <p:cNvSpPr txBox="1">
                <a:spLocks noRot="1" noChangeAspect="1" noMove="1" noResize="1" noEditPoints="1" noAdjustHandles="1" noChangeArrowheads="1" noChangeShapeType="1" noTextEdit="1"/>
              </p:cNvSpPr>
              <p:nvPr/>
            </p:nvSpPr>
            <p:spPr>
              <a:xfrm>
                <a:off x="2215952" y="6000482"/>
                <a:ext cx="5830121" cy="524503"/>
              </a:xfrm>
              <a:prstGeom prst="rect">
                <a:avLst/>
              </a:prstGeom>
              <a:blipFill>
                <a:blip r:embed="rId3"/>
                <a:stretch>
                  <a:fillRect l="-435" t="-4762" r="-217" b="-19048"/>
                </a:stretch>
              </a:blipFill>
            </p:spPr>
            <p:txBody>
              <a:bodyPr/>
              <a:lstStyle/>
              <a:p>
                <a:r>
                  <a:rPr lang="en-VN">
                    <a:noFill/>
                  </a:rPr>
                  <a:t> </a:t>
                </a:r>
              </a:p>
            </p:txBody>
          </p:sp>
        </mc:Fallback>
      </mc:AlternateContent>
      <p:pic>
        <p:nvPicPr>
          <p:cNvPr id="13" name="Picture 2">
            <a:extLst>
              <a:ext uri="{FF2B5EF4-FFF2-40B4-BE49-F238E27FC236}">
                <a16:creationId xmlns:a16="http://schemas.microsoft.com/office/drawing/2014/main" id="{ABD85F0D-0CE8-5933-5237-4F2231D78328}"/>
              </a:ext>
            </a:extLst>
          </p:cNvPr>
          <p:cNvPicPr>
            <a:picLocks noChangeAspect="1" noChangeArrowheads="1"/>
          </p:cNvPicPr>
          <p:nvPr/>
        </p:nvPicPr>
        <p:blipFill rotWithShape="1">
          <a:blip r:embed="rId2" cstate="print"/>
          <a:srcRect b="92643"/>
          <a:stretch/>
        </p:blipFill>
        <p:spPr bwMode="auto">
          <a:xfrm>
            <a:off x="3285152" y="978769"/>
            <a:ext cx="8585797" cy="510971"/>
          </a:xfrm>
          <a:prstGeom prst="rect">
            <a:avLst/>
          </a:prstGeom>
          <a:noFill/>
          <a:ln w="9525">
            <a:noFill/>
            <a:miter lim="800000"/>
            <a:headEnd/>
            <a:tailEnd/>
          </a:ln>
        </p:spPr>
      </p:pic>
    </p:spTree>
    <p:extLst>
      <p:ext uri="{BB962C8B-B14F-4D97-AF65-F5344CB8AC3E}">
        <p14:creationId xmlns:p14="http://schemas.microsoft.com/office/powerpoint/2010/main" val="169316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CPI (</a:t>
            </a:r>
            <a:r>
              <a:rPr lang="en-US" dirty="0" err="1"/>
              <a:t>tt</a:t>
            </a:r>
            <a:r>
              <a:rPr lang="en-US" dirty="0"/>
              <a:t>)</a:t>
            </a:r>
            <a:endParaRPr lang="en-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1A185E-E43E-B0DE-608B-1448264E761B}"/>
                  </a:ext>
                </a:extLst>
              </p:cNvPr>
              <p:cNvSpPr>
                <a:spLocks noGrp="1"/>
              </p:cNvSpPr>
              <p:nvPr>
                <p:ph idx="1"/>
              </p:nvPr>
            </p:nvSpPr>
            <p:spPr>
              <a:xfrm>
                <a:off x="861120" y="1348417"/>
                <a:ext cx="10584120" cy="4824536"/>
              </a:xfrm>
            </p:spPr>
            <p:txBody>
              <a:bodyPr>
                <a:normAutofit fontScale="92500" lnSpcReduction="20000"/>
              </a:bodyPr>
              <a:lstStyle/>
              <a:p>
                <a:r>
                  <a:rPr lang="vi-VN"/>
                  <a:t>Mỗi tập lệnh có nhiều nhóm lệnh khác nhau</a:t>
                </a:r>
              </a:p>
              <a:p>
                <a:endParaRPr lang="vi-VN"/>
              </a:p>
              <a:p>
                <a:pPr marL="0" indent="0" algn="ctr">
                  <a:buNone/>
                </a:pPr>
                <a14:m>
                  <m:oMathPara xmlns:m="http://schemas.openxmlformats.org/officeDocument/2006/math">
                    <m:oMathParaPr>
                      <m:jc m:val="centerGroup"/>
                    </m:oMathParaPr>
                    <m:oMath xmlns:m="http://schemas.openxmlformats.org/officeDocument/2006/math">
                      <m:r>
                        <m:rPr>
                          <m:nor/>
                        </m:rPr>
                        <a:rPr lang="vi-VN" b="0" i="0" smtClean="0">
                          <a:latin typeface="+mj-lt"/>
                        </a:rPr>
                        <m:t>Chu</m:t>
                      </m:r>
                      <m:r>
                        <m:rPr>
                          <m:nor/>
                        </m:rPr>
                        <a:rPr lang="vi-VN" b="0" i="0" smtClean="0">
                          <a:latin typeface="+mj-lt"/>
                        </a:rPr>
                        <m:t> </m:t>
                      </m:r>
                      <m:r>
                        <m:rPr>
                          <m:nor/>
                        </m:rPr>
                        <a:rPr lang="vi-VN" b="0" i="0" smtClean="0">
                          <a:latin typeface="+mj-lt"/>
                        </a:rPr>
                        <m:t>k</m:t>
                      </m:r>
                      <m:r>
                        <m:rPr>
                          <m:nor/>
                        </m:rPr>
                        <a:rPr lang="vi-VN" b="0" i="0" smtClean="0">
                          <a:latin typeface="+mj-lt"/>
                        </a:rPr>
                        <m:t>ỳ </m:t>
                      </m:r>
                      <m:r>
                        <m:rPr>
                          <m:nor/>
                        </m:rPr>
                        <a:rPr lang="vi-VN" b="0" i="0" smtClean="0">
                          <a:latin typeface="+mj-lt"/>
                        </a:rPr>
                        <m:t>clock</m:t>
                      </m:r>
                      <m:r>
                        <m:rPr>
                          <m:nor/>
                        </m:rPr>
                        <a:rPr lang="vi-VN" b="0" i="0" smtClean="0">
                          <a:latin typeface="+mj-lt"/>
                        </a:rPr>
                        <m:t> </m:t>
                      </m:r>
                      <m:r>
                        <m:rPr>
                          <m:nor/>
                        </m:rPr>
                        <a:rPr lang="pt-BR" i="0" smtClean="0">
                          <a:latin typeface="+mj-lt"/>
                        </a:rPr>
                        <m:t>=</m:t>
                      </m:r>
                      <m:nary>
                        <m:naryPr>
                          <m:chr m:val="∑"/>
                          <m:ctrlPr>
                            <a:rPr lang="pt-BR" i="1" smtClean="0">
                              <a:latin typeface="Cambria Math" panose="02040503050406030204" pitchFamily="18" charset="0"/>
                            </a:rPr>
                          </m:ctrlPr>
                        </m:naryPr>
                        <m:sub>
                          <m:r>
                            <m:rPr>
                              <m:nor/>
                            </m:rPr>
                            <a:rPr lang="vi-VN" b="0" i="0" smtClean="0"/>
                            <m:t>i</m:t>
                          </m:r>
                          <m:r>
                            <m:rPr>
                              <m:nor/>
                            </m:rPr>
                            <a:rPr lang="pt-BR" i="0" smtClean="0"/>
                            <m:t>=</m:t>
                          </m:r>
                          <m:r>
                            <m:rPr>
                              <m:nor/>
                            </m:rPr>
                            <a:rPr lang="vi-VN" b="0" i="0" smtClean="0"/>
                            <m:t>1</m:t>
                          </m:r>
                        </m:sub>
                        <m:sup>
                          <m:r>
                            <m:rPr>
                              <m:nor/>
                            </m:rPr>
                            <a:rPr lang="pt-BR" i="0" smtClean="0"/>
                            <m:t>n</m:t>
                          </m:r>
                        </m:sup>
                        <m:e>
                          <m:d>
                            <m:dPr>
                              <m:ctrlPr>
                                <a:rPr lang="pt-BR" i="1" smtClean="0">
                                  <a:latin typeface="Cambria Math" panose="02040503050406030204" pitchFamily="18" charset="0"/>
                                </a:rPr>
                              </m:ctrlPr>
                            </m:dPr>
                            <m:e>
                              <m:sSub>
                                <m:sSubPr>
                                  <m:ctrlPr>
                                    <a:rPr lang="pt-BR" i="1" smtClean="0">
                                      <a:latin typeface="Cambria Math" panose="02040503050406030204" pitchFamily="18" charset="0"/>
                                    </a:rPr>
                                  </m:ctrlPr>
                                </m:sSubPr>
                                <m:e>
                                  <m:r>
                                    <m:rPr>
                                      <m:nor/>
                                    </m:rPr>
                                    <a:rPr lang="vi-VN" b="0" i="0" smtClean="0">
                                      <a:latin typeface="+mj-lt"/>
                                    </a:rPr>
                                    <m:t>CPI</m:t>
                                  </m:r>
                                </m:e>
                                <m:sub>
                                  <m:r>
                                    <m:rPr>
                                      <m:nor/>
                                    </m:rPr>
                                    <a:rPr lang="vi-VN" b="0" i="0" smtClean="0">
                                      <a:latin typeface="+mj-lt"/>
                                    </a:rPr>
                                    <m:t>i</m:t>
                                  </m:r>
                                </m:sub>
                              </m:sSub>
                              <m:r>
                                <m:rPr>
                                  <m:nor/>
                                </m:rPr>
                                <a:rPr lang="vi-VN" b="0" i="0" smtClean="0">
                                  <a:latin typeface="+mj-lt"/>
                                </a:rPr>
                                <m:t> ∗ </m:t>
                              </m:r>
                              <m:sSub>
                                <m:sSubPr>
                                  <m:ctrlPr>
                                    <a:rPr lang="vi-VN" b="0" i="1" smtClean="0">
                                      <a:latin typeface="Cambria Math" panose="02040503050406030204" pitchFamily="18" charset="0"/>
                                    </a:rPr>
                                  </m:ctrlPr>
                                </m:sSubPr>
                                <m:e>
                                  <m:r>
                                    <m:rPr>
                                      <m:nor/>
                                    </m:rPr>
                                    <a:rPr lang="vi-VN" i="0">
                                      <a:latin typeface="+mj-lt"/>
                                    </a:rPr>
                                    <m:t>S</m:t>
                                  </m:r>
                                  <m:r>
                                    <m:rPr>
                                      <m:nor/>
                                    </m:rPr>
                                    <a:rPr lang="vi-VN" i="0">
                                      <a:latin typeface="+mj-lt"/>
                                    </a:rPr>
                                    <m:t>ố </m:t>
                                  </m:r>
                                  <m:r>
                                    <m:rPr>
                                      <m:nor/>
                                    </m:rPr>
                                    <a:rPr lang="vi-VN" i="0">
                                      <a:latin typeface="+mj-lt"/>
                                    </a:rPr>
                                    <m:t>l</m:t>
                                  </m:r>
                                  <m:r>
                                    <m:rPr>
                                      <m:nor/>
                                    </m:rPr>
                                    <a:rPr lang="vi-VN" i="0">
                                      <a:latin typeface="+mj-lt"/>
                                    </a:rPr>
                                    <m:t>ệ</m:t>
                                  </m:r>
                                  <m:r>
                                    <m:rPr>
                                      <m:nor/>
                                    </m:rPr>
                                    <a:rPr lang="vi-VN" i="0">
                                      <a:latin typeface="+mj-lt"/>
                                    </a:rPr>
                                    <m:t>nh</m:t>
                                  </m:r>
                                  <m:r>
                                    <m:rPr>
                                      <m:nor/>
                                    </m:rPr>
                                    <a:rPr lang="vi-VN" i="0">
                                      <a:latin typeface="+mj-lt"/>
                                    </a:rPr>
                                    <m:t> </m:t>
                                  </m:r>
                                  <m:r>
                                    <m:rPr>
                                      <m:nor/>
                                    </m:rPr>
                                    <a:rPr lang="vi-VN" i="0">
                                      <a:latin typeface="+mj-lt"/>
                                    </a:rPr>
                                    <m:t>trong</m:t>
                                  </m:r>
                                  <m:r>
                                    <m:rPr>
                                      <m:nor/>
                                    </m:rPr>
                                    <a:rPr lang="vi-VN" i="0">
                                      <a:latin typeface="+mj-lt"/>
                                    </a:rPr>
                                    <m:t> </m:t>
                                  </m:r>
                                  <m:r>
                                    <m:rPr>
                                      <m:nor/>
                                    </m:rPr>
                                    <a:rPr lang="vi-VN" i="0">
                                      <a:latin typeface="+mj-lt"/>
                                    </a:rPr>
                                    <m:t>nh</m:t>
                                  </m:r>
                                  <m:r>
                                    <m:rPr>
                                      <m:nor/>
                                    </m:rPr>
                                    <a:rPr lang="vi-VN" i="0">
                                      <a:latin typeface="+mj-lt"/>
                                    </a:rPr>
                                    <m:t>ó</m:t>
                                  </m:r>
                                  <m:r>
                                    <m:rPr>
                                      <m:nor/>
                                    </m:rPr>
                                    <a:rPr lang="vi-VN" i="0">
                                      <a:latin typeface="+mj-lt"/>
                                    </a:rPr>
                                    <m:t>m</m:t>
                                  </m:r>
                                </m:e>
                                <m:sub>
                                  <m:r>
                                    <m:rPr>
                                      <m:nor/>
                                    </m:rPr>
                                    <a:rPr lang="vi-VN" b="0" i="0" smtClean="0">
                                      <a:latin typeface="+mj-lt"/>
                                    </a:rPr>
                                    <m:t>i</m:t>
                                  </m:r>
                                </m:sub>
                              </m:sSub>
                            </m:e>
                          </m:d>
                        </m:e>
                      </m:nary>
                    </m:oMath>
                  </m:oMathPara>
                </a14:m>
                <a:endParaRPr lang="vi-VN">
                  <a:latin typeface="+mj-lt"/>
                </a:endParaRPr>
              </a:p>
              <a:p>
                <a:pPr marL="0" indent="0" algn="ctr">
                  <a:buNone/>
                </a:pPr>
                <a:endParaRPr lang="vi-VN">
                  <a:latin typeface="+mj-lt"/>
                </a:endParaRPr>
              </a:p>
              <a:p>
                <a:pPr marL="0" indent="0" algn="ctr">
                  <a:buNone/>
                </a:pPr>
                <a14:m>
                  <m:oMathPara xmlns:m="http://schemas.openxmlformats.org/officeDocument/2006/math">
                    <m:oMathParaPr>
                      <m:jc m:val="centerGroup"/>
                    </m:oMathParaPr>
                    <m:oMath xmlns:m="http://schemas.openxmlformats.org/officeDocument/2006/math">
                      <m:r>
                        <m:rPr>
                          <m:nor/>
                        </m:rPr>
                        <a:rPr lang="vi-VN" b="0" i="0" smtClean="0">
                          <a:latin typeface="+mj-lt"/>
                        </a:rPr>
                        <m:t>CPI</m:t>
                      </m:r>
                      <m:r>
                        <m:rPr>
                          <m:nor/>
                        </m:rPr>
                        <a:rPr lang="vi-VN" b="0" i="0" smtClean="0">
                          <a:latin typeface="+mj-lt"/>
                        </a:rPr>
                        <m:t>= </m:t>
                      </m:r>
                      <m:f>
                        <m:fPr>
                          <m:ctrlPr>
                            <a:rPr lang="vi-VN" b="0" i="1" smtClean="0">
                              <a:latin typeface="Cambria Math" panose="02040503050406030204" pitchFamily="18" charset="0"/>
                            </a:rPr>
                          </m:ctrlPr>
                        </m:fPr>
                        <m:num>
                          <m:r>
                            <m:rPr>
                              <m:nor/>
                            </m:rPr>
                            <a:rPr lang="vi-VN" b="0" i="0" smtClean="0">
                              <a:latin typeface="+mj-lt"/>
                            </a:rPr>
                            <m:t>chu</m:t>
                          </m:r>
                          <m:r>
                            <m:rPr>
                              <m:nor/>
                            </m:rPr>
                            <a:rPr lang="vi-VN" b="0" i="0" smtClean="0">
                              <a:latin typeface="+mj-lt"/>
                            </a:rPr>
                            <m:t> </m:t>
                          </m:r>
                          <m:r>
                            <m:rPr>
                              <m:nor/>
                            </m:rPr>
                            <a:rPr lang="vi-VN" b="0" i="0" smtClean="0">
                              <a:latin typeface="+mj-lt"/>
                            </a:rPr>
                            <m:t>k</m:t>
                          </m:r>
                          <m:r>
                            <m:rPr>
                              <m:nor/>
                            </m:rPr>
                            <a:rPr lang="vi-VN" b="0" i="0" smtClean="0">
                              <a:latin typeface="+mj-lt"/>
                            </a:rPr>
                            <m:t>ỳ </m:t>
                          </m:r>
                          <m:r>
                            <m:rPr>
                              <m:nor/>
                            </m:rPr>
                            <a:rPr lang="vi-VN" b="0" i="0" smtClean="0">
                              <a:latin typeface="+mj-lt"/>
                            </a:rPr>
                            <m:t>clock</m:t>
                          </m:r>
                        </m:num>
                        <m:den>
                          <m:r>
                            <m:rPr>
                              <m:nor/>
                            </m:rPr>
                            <a:rPr lang="vi-VN" b="0" i="0" smtClean="0">
                              <a:latin typeface="+mj-lt"/>
                            </a:rPr>
                            <m:t>T</m:t>
                          </m:r>
                          <m:r>
                            <m:rPr>
                              <m:nor/>
                            </m:rPr>
                            <a:rPr lang="vi-VN" b="0" i="0" smtClean="0">
                              <a:latin typeface="+mj-lt"/>
                            </a:rPr>
                            <m:t>ổ</m:t>
                          </m:r>
                          <m:r>
                            <m:rPr>
                              <m:nor/>
                            </m:rPr>
                            <a:rPr lang="vi-VN" b="0" i="0" smtClean="0">
                              <a:latin typeface="+mj-lt"/>
                            </a:rPr>
                            <m:t>ng</m:t>
                          </m:r>
                          <m:r>
                            <m:rPr>
                              <m:nor/>
                            </m:rPr>
                            <a:rPr lang="vi-VN" b="0" i="0" smtClean="0">
                              <a:latin typeface="+mj-lt"/>
                            </a:rPr>
                            <m:t> </m:t>
                          </m:r>
                          <m:r>
                            <m:rPr>
                              <m:nor/>
                            </m:rPr>
                            <a:rPr lang="vi-VN" b="0" i="0" smtClean="0">
                              <a:latin typeface="+mj-lt"/>
                            </a:rPr>
                            <m:t>s</m:t>
                          </m:r>
                          <m:r>
                            <m:rPr>
                              <m:nor/>
                            </m:rPr>
                            <a:rPr lang="vi-VN" b="0" i="0" smtClean="0">
                              <a:latin typeface="+mj-lt"/>
                            </a:rPr>
                            <m:t>ố </m:t>
                          </m:r>
                          <m:r>
                            <m:rPr>
                              <m:nor/>
                            </m:rPr>
                            <a:rPr lang="vi-VN" b="0" i="0" smtClean="0">
                              <a:latin typeface="+mj-lt"/>
                            </a:rPr>
                            <m:t>l</m:t>
                          </m:r>
                          <m:r>
                            <m:rPr>
                              <m:nor/>
                            </m:rPr>
                            <a:rPr lang="vi-VN" b="0" i="0" smtClean="0">
                              <a:latin typeface="+mj-lt"/>
                            </a:rPr>
                            <m:t>ệ</m:t>
                          </m:r>
                          <m:r>
                            <m:rPr>
                              <m:nor/>
                            </m:rPr>
                            <a:rPr lang="vi-VN" b="0" i="0" smtClean="0">
                              <a:latin typeface="+mj-lt"/>
                            </a:rPr>
                            <m:t>nh</m:t>
                          </m:r>
                        </m:den>
                      </m:f>
                      <m:r>
                        <m:rPr>
                          <m:nor/>
                        </m:rPr>
                        <a:rPr lang="vi-VN" b="0" i="0" smtClean="0">
                          <a:latin typeface="+mj-lt"/>
                        </a:rPr>
                        <m:t> </m:t>
                      </m:r>
                      <m:r>
                        <m:rPr>
                          <m:nor/>
                        </m:rPr>
                        <a:rPr lang="pt-BR" i="0" smtClean="0">
                          <a:latin typeface="+mj-lt"/>
                        </a:rPr>
                        <m:t>=</m:t>
                      </m:r>
                      <m:nary>
                        <m:naryPr>
                          <m:chr m:val="∑"/>
                          <m:ctrlPr>
                            <a:rPr lang="pt-BR" i="1" smtClean="0">
                              <a:latin typeface="Cambria Math" panose="02040503050406030204" pitchFamily="18" charset="0"/>
                            </a:rPr>
                          </m:ctrlPr>
                        </m:naryPr>
                        <m:sub>
                          <m:r>
                            <m:rPr>
                              <m:nor/>
                              <m:brk m:alnAt="23"/>
                            </m:rPr>
                            <a:rPr lang="vi-VN" b="0" i="0" smtClean="0">
                              <a:latin typeface="+mj-lt"/>
                            </a:rPr>
                            <m:t>i</m:t>
                          </m:r>
                          <m:r>
                            <m:rPr>
                              <m:nor/>
                            </m:rPr>
                            <a:rPr lang="pt-BR" i="0" smtClean="0">
                              <a:latin typeface="+mj-lt"/>
                            </a:rPr>
                            <m:t>=</m:t>
                          </m:r>
                          <m:r>
                            <m:rPr>
                              <m:nor/>
                            </m:rPr>
                            <a:rPr lang="vi-VN"/>
                            <m:t>1</m:t>
                          </m:r>
                        </m:sub>
                        <m:sup>
                          <m:r>
                            <m:rPr>
                              <m:nor/>
                            </m:rPr>
                            <a:rPr lang="pt-BR" i="0" smtClean="0"/>
                            <m:t>n</m:t>
                          </m:r>
                        </m:sup>
                        <m:e>
                          <m:d>
                            <m:dPr>
                              <m:ctrlPr>
                                <a:rPr lang="pt-BR" i="1" smtClean="0">
                                  <a:latin typeface="Cambria Math" panose="02040503050406030204" pitchFamily="18" charset="0"/>
                                </a:rPr>
                              </m:ctrlPr>
                            </m:dPr>
                            <m:e>
                              <m:sSub>
                                <m:sSubPr>
                                  <m:ctrlPr>
                                    <a:rPr lang="pt-BR" i="1" smtClean="0">
                                      <a:latin typeface="Cambria Math" panose="02040503050406030204" pitchFamily="18" charset="0"/>
                                    </a:rPr>
                                  </m:ctrlPr>
                                </m:sSubPr>
                                <m:e>
                                  <m:r>
                                    <m:rPr>
                                      <m:nor/>
                                    </m:rPr>
                                    <a:rPr lang="vi-VN" b="0" i="0" smtClean="0">
                                      <a:latin typeface="+mj-lt"/>
                                    </a:rPr>
                                    <m:t>CPI</m:t>
                                  </m:r>
                                </m:e>
                                <m:sub>
                                  <m:r>
                                    <m:rPr>
                                      <m:nor/>
                                    </m:rPr>
                                    <a:rPr lang="vi-VN" b="0" i="0" smtClean="0">
                                      <a:latin typeface="+mj-lt"/>
                                    </a:rPr>
                                    <m:t>i</m:t>
                                  </m:r>
                                </m:sub>
                              </m:sSub>
                              <m:r>
                                <m:rPr>
                                  <m:nor/>
                                </m:rPr>
                                <a:rPr lang="vi-VN" b="0" i="0" smtClean="0">
                                  <a:latin typeface="+mj-lt"/>
                                </a:rPr>
                                <m:t> ∗ </m:t>
                              </m:r>
                              <m:f>
                                <m:fPr>
                                  <m:ctrlPr>
                                    <a:rPr lang="vi-VN" b="0" i="1" smtClean="0">
                                      <a:latin typeface="Cambria Math" panose="02040503050406030204" pitchFamily="18" charset="0"/>
                                    </a:rPr>
                                  </m:ctrlPr>
                                </m:fPr>
                                <m:num>
                                  <m:sSub>
                                    <m:sSubPr>
                                      <m:ctrlPr>
                                        <a:rPr lang="vi-VN" i="1">
                                          <a:latin typeface="Cambria Math" panose="02040503050406030204" pitchFamily="18" charset="0"/>
                                        </a:rPr>
                                      </m:ctrlPr>
                                    </m:sSubPr>
                                    <m:e>
                                      <m:r>
                                        <m:rPr>
                                          <m:nor/>
                                        </m:rPr>
                                        <a:rPr lang="vi-VN">
                                          <a:latin typeface="+mj-lt"/>
                                        </a:rPr>
                                        <m:t>S</m:t>
                                      </m:r>
                                      <m:r>
                                        <m:rPr>
                                          <m:nor/>
                                        </m:rPr>
                                        <a:rPr lang="vi-VN">
                                          <a:latin typeface="+mj-lt"/>
                                        </a:rPr>
                                        <m:t>ố </m:t>
                                      </m:r>
                                      <m:r>
                                        <m:rPr>
                                          <m:nor/>
                                        </m:rPr>
                                        <a:rPr lang="vi-VN">
                                          <a:latin typeface="+mj-lt"/>
                                        </a:rPr>
                                        <m:t>l</m:t>
                                      </m:r>
                                      <m:r>
                                        <m:rPr>
                                          <m:nor/>
                                        </m:rPr>
                                        <a:rPr lang="vi-VN">
                                          <a:latin typeface="+mj-lt"/>
                                        </a:rPr>
                                        <m:t>ệ</m:t>
                                      </m:r>
                                      <m:r>
                                        <m:rPr>
                                          <m:nor/>
                                        </m:rPr>
                                        <a:rPr lang="vi-VN">
                                          <a:latin typeface="+mj-lt"/>
                                        </a:rPr>
                                        <m:t>nh</m:t>
                                      </m:r>
                                      <m:r>
                                        <m:rPr>
                                          <m:nor/>
                                        </m:rPr>
                                        <a:rPr lang="vi-VN">
                                          <a:latin typeface="+mj-lt"/>
                                        </a:rPr>
                                        <m:t> </m:t>
                                      </m:r>
                                      <m:r>
                                        <m:rPr>
                                          <m:nor/>
                                        </m:rPr>
                                        <a:rPr lang="vi-VN">
                                          <a:latin typeface="+mj-lt"/>
                                        </a:rPr>
                                        <m:t>trong</m:t>
                                      </m:r>
                                      <m:r>
                                        <m:rPr>
                                          <m:nor/>
                                        </m:rPr>
                                        <a:rPr lang="vi-VN">
                                          <a:latin typeface="+mj-lt"/>
                                        </a:rPr>
                                        <m:t> </m:t>
                                      </m:r>
                                      <m:r>
                                        <m:rPr>
                                          <m:nor/>
                                        </m:rPr>
                                        <a:rPr lang="vi-VN">
                                          <a:latin typeface="+mj-lt"/>
                                        </a:rPr>
                                        <m:t>nh</m:t>
                                      </m:r>
                                      <m:r>
                                        <m:rPr>
                                          <m:nor/>
                                        </m:rPr>
                                        <a:rPr lang="vi-VN">
                                          <a:latin typeface="+mj-lt"/>
                                        </a:rPr>
                                        <m:t>ó</m:t>
                                      </m:r>
                                      <m:r>
                                        <m:rPr>
                                          <m:nor/>
                                        </m:rPr>
                                        <a:rPr lang="vi-VN">
                                          <a:latin typeface="+mj-lt"/>
                                        </a:rPr>
                                        <m:t>m</m:t>
                                      </m:r>
                                    </m:e>
                                    <m:sub>
                                      <m:r>
                                        <m:rPr>
                                          <m:nor/>
                                        </m:rPr>
                                        <a:rPr lang="vi-VN">
                                          <a:latin typeface="+mj-lt"/>
                                        </a:rPr>
                                        <m:t>i</m:t>
                                      </m:r>
                                    </m:sub>
                                  </m:sSub>
                                </m:num>
                                <m:den>
                                  <m:r>
                                    <m:rPr>
                                      <m:nor/>
                                    </m:rPr>
                                    <a:rPr lang="vi-VN" b="0" i="0" smtClean="0">
                                      <a:latin typeface="+mj-lt"/>
                                    </a:rPr>
                                    <m:t>T</m:t>
                                  </m:r>
                                  <m:r>
                                    <m:rPr>
                                      <m:nor/>
                                    </m:rPr>
                                    <a:rPr lang="vi-VN" b="0" i="0" smtClean="0">
                                      <a:latin typeface="+mj-lt"/>
                                    </a:rPr>
                                    <m:t>ổ</m:t>
                                  </m:r>
                                  <m:r>
                                    <m:rPr>
                                      <m:nor/>
                                    </m:rPr>
                                    <a:rPr lang="vi-VN" b="0" i="0" smtClean="0">
                                      <a:latin typeface="+mj-lt"/>
                                    </a:rPr>
                                    <m:t>ng</m:t>
                                  </m:r>
                                  <m:r>
                                    <m:rPr>
                                      <m:nor/>
                                    </m:rPr>
                                    <a:rPr lang="vi-VN" b="0" i="0" smtClean="0">
                                      <a:latin typeface="+mj-lt"/>
                                    </a:rPr>
                                    <m:t> </m:t>
                                  </m:r>
                                  <m:r>
                                    <m:rPr>
                                      <m:nor/>
                                    </m:rPr>
                                    <a:rPr lang="vi-VN" b="0" i="0" smtClean="0">
                                      <a:latin typeface="+mj-lt"/>
                                    </a:rPr>
                                    <m:t>s</m:t>
                                  </m:r>
                                  <m:r>
                                    <m:rPr>
                                      <m:nor/>
                                    </m:rPr>
                                    <a:rPr lang="vi-VN" b="0" i="0" smtClean="0">
                                      <a:latin typeface="+mj-lt"/>
                                    </a:rPr>
                                    <m:t>ố </m:t>
                                  </m:r>
                                  <m:r>
                                    <m:rPr>
                                      <m:nor/>
                                    </m:rPr>
                                    <a:rPr lang="vi-VN" b="0" i="0" smtClean="0">
                                      <a:latin typeface="+mj-lt"/>
                                    </a:rPr>
                                    <m:t>l</m:t>
                                  </m:r>
                                  <m:r>
                                    <m:rPr>
                                      <m:nor/>
                                    </m:rPr>
                                    <a:rPr lang="vi-VN" b="0" i="0" smtClean="0">
                                      <a:latin typeface="+mj-lt"/>
                                    </a:rPr>
                                    <m:t>ệ</m:t>
                                  </m:r>
                                  <m:r>
                                    <m:rPr>
                                      <m:nor/>
                                    </m:rPr>
                                    <a:rPr lang="vi-VN" b="0" i="0" smtClean="0">
                                      <a:latin typeface="+mj-lt"/>
                                    </a:rPr>
                                    <m:t>nh</m:t>
                                  </m:r>
                                </m:den>
                              </m:f>
                            </m:e>
                          </m:d>
                        </m:e>
                      </m:nary>
                    </m:oMath>
                  </m:oMathPara>
                </a14:m>
                <a:endParaRPr lang="vi-VN">
                  <a:latin typeface="+mj-lt"/>
                </a:endParaRPr>
              </a:p>
            </p:txBody>
          </p:sp>
        </mc:Choice>
        <mc:Fallback xmlns="">
          <p:sp>
            <p:nvSpPr>
              <p:cNvPr id="3" name="Content Placeholder 2">
                <a:extLst>
                  <a:ext uri="{FF2B5EF4-FFF2-40B4-BE49-F238E27FC236}">
                    <a16:creationId xmlns:a16="http://schemas.microsoft.com/office/drawing/2014/main" id="{A71A185E-E43E-B0DE-608B-1448264E761B}"/>
                  </a:ext>
                </a:extLst>
              </p:cNvPr>
              <p:cNvSpPr>
                <a:spLocks noGrp="1" noRot="1" noChangeAspect="1" noMove="1" noResize="1" noEditPoints="1" noAdjustHandles="1" noChangeArrowheads="1" noChangeShapeType="1" noTextEdit="1"/>
              </p:cNvSpPr>
              <p:nvPr>
                <p:ph idx="1"/>
              </p:nvPr>
            </p:nvSpPr>
            <p:spPr>
              <a:xfrm>
                <a:off x="861120" y="1348417"/>
                <a:ext cx="10584120" cy="4824536"/>
              </a:xfrm>
              <a:blipFill>
                <a:blip r:embed="rId2"/>
                <a:stretch>
                  <a:fillRect l="-864" t="-1010"/>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18</a:t>
            </a:fld>
            <a:endParaRPr lang="en-VN" dirty="0"/>
          </a:p>
        </p:txBody>
      </p:sp>
    </p:spTree>
    <p:extLst>
      <p:ext uri="{BB962C8B-B14F-4D97-AF65-F5344CB8AC3E}">
        <p14:creationId xmlns:p14="http://schemas.microsoft.com/office/powerpoint/2010/main" val="91527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Quiz 4</a:t>
            </a:r>
            <a:endParaRPr lang="en-VN" dirty="0"/>
          </a:p>
        </p:txBody>
      </p:sp>
      <p:sp>
        <p:nvSpPr>
          <p:cNvPr id="9" name="Rectangle 3">
            <a:extLst>
              <a:ext uri="{FF2B5EF4-FFF2-40B4-BE49-F238E27FC236}">
                <a16:creationId xmlns:a16="http://schemas.microsoft.com/office/drawing/2014/main" id="{24FC9DF4-CBEF-F75A-A932-34B38927B2C8}"/>
              </a:ext>
            </a:extLst>
          </p:cNvPr>
          <p:cNvSpPr>
            <a:spLocks noGrp="1" noChangeArrowheads="1"/>
          </p:cNvSpPr>
          <p:nvPr>
            <p:ph idx="1"/>
          </p:nvPr>
        </p:nvSpPr>
        <p:spPr>
          <a:xfrm>
            <a:off x="1981200" y="963066"/>
            <a:ext cx="8229600" cy="5029200"/>
          </a:xfrm>
        </p:spPr>
        <p:txBody>
          <a:bodyPr/>
          <a:lstStyle/>
          <a:p>
            <a:pPr marL="0" indent="0" algn="just">
              <a:lnSpc>
                <a:spcPct val="90000"/>
              </a:lnSpc>
              <a:spcAft>
                <a:spcPts val="1000"/>
              </a:spcAft>
              <a:buNone/>
            </a:pPr>
            <a:r>
              <a:rPr lang="en-US" sz="2000" b="1" dirty="0"/>
              <a:t>So </a:t>
            </a:r>
            <a:r>
              <a:rPr lang="en-US" sz="2000" b="1" dirty="0" err="1"/>
              <a:t>sánh</a:t>
            </a:r>
            <a:r>
              <a:rPr lang="en-US" sz="2000" b="1" dirty="0"/>
              <a:t> hiệu </a:t>
            </a:r>
            <a:r>
              <a:rPr lang="en-US" sz="2000" b="1" dirty="0" err="1"/>
              <a:t>suất</a:t>
            </a:r>
            <a:r>
              <a:rPr lang="en-US" sz="2000" b="1" dirty="0"/>
              <a:t> </a:t>
            </a:r>
            <a:r>
              <a:rPr lang="en-US" sz="2000" b="1" dirty="0" err="1"/>
              <a:t>thực</a:t>
            </a:r>
            <a:r>
              <a:rPr lang="en-US" sz="2000" b="1" dirty="0"/>
              <a:t> </a:t>
            </a:r>
            <a:r>
              <a:rPr lang="en-US" sz="2000" b="1" dirty="0" err="1"/>
              <a:t>thi</a:t>
            </a:r>
            <a:r>
              <a:rPr lang="en-US" sz="2000" b="1" dirty="0"/>
              <a:t> </a:t>
            </a:r>
            <a:r>
              <a:rPr lang="en-US" sz="2000" b="1" dirty="0" err="1"/>
              <a:t>của</a:t>
            </a:r>
            <a:r>
              <a:rPr lang="en-US" sz="2000" b="1" dirty="0"/>
              <a:t> </a:t>
            </a:r>
            <a:r>
              <a:rPr lang="en-US" sz="2000" b="1" dirty="0" err="1"/>
              <a:t>đoạn</a:t>
            </a:r>
            <a:r>
              <a:rPr lang="en-US" sz="2000" b="1" dirty="0"/>
              <a:t> </a:t>
            </a:r>
            <a:r>
              <a:rPr lang="en-US" sz="2000" b="1" dirty="0" err="1"/>
              <a:t>mã</a:t>
            </a:r>
            <a:r>
              <a:rPr lang="en-US" sz="2000" b="1" dirty="0"/>
              <a:t> </a:t>
            </a:r>
            <a:r>
              <a:rPr lang="en-US" sz="2000" b="1" dirty="0" err="1"/>
              <a:t>chương</a:t>
            </a:r>
            <a:r>
              <a:rPr lang="en-US" sz="2000" b="1" dirty="0"/>
              <a:t> </a:t>
            </a:r>
            <a:r>
              <a:rPr lang="en-US" sz="2000" b="1" dirty="0" err="1"/>
              <a:t>trình</a:t>
            </a:r>
            <a:r>
              <a:rPr lang="en-US" sz="2000" b="1" dirty="0"/>
              <a:t>:</a:t>
            </a:r>
          </a:p>
          <a:p>
            <a:pPr marL="0" indent="0" algn="just">
              <a:lnSpc>
                <a:spcPct val="90000"/>
              </a:lnSpc>
              <a:spcAft>
                <a:spcPts val="1000"/>
              </a:spcAft>
              <a:buNone/>
            </a:pPr>
            <a:endParaRPr lang="en-US" sz="2000" b="1"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spcAft>
                <a:spcPts val="1000"/>
              </a:spcAft>
              <a:buNone/>
            </a:pPr>
            <a:endParaRPr lang="en-US" sz="2000" dirty="0"/>
          </a:p>
          <a:p>
            <a:pPr marL="0" indent="0" algn="just">
              <a:lnSpc>
                <a:spcPct val="90000"/>
              </a:lnSpc>
              <a:buNone/>
            </a:pPr>
            <a:endParaRPr lang="en-US" sz="2000" dirty="0"/>
          </a:p>
          <a:p>
            <a:pPr marL="0" indent="0" algn="just">
              <a:lnSpc>
                <a:spcPct val="90000"/>
              </a:lnSpc>
              <a:buNone/>
            </a:pPr>
            <a:endParaRPr lang="en-US" sz="20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19</a:t>
            </a:fld>
            <a:endParaRPr lang="en-VN" dirty="0"/>
          </a:p>
        </p:txBody>
      </p:sp>
      <p:pic>
        <p:nvPicPr>
          <p:cNvPr id="10" name="Picture 2">
            <a:extLst>
              <a:ext uri="{FF2B5EF4-FFF2-40B4-BE49-F238E27FC236}">
                <a16:creationId xmlns:a16="http://schemas.microsoft.com/office/drawing/2014/main" id="{3592778F-940C-1BE7-6EE6-F2F6759A97DD}"/>
              </a:ext>
            </a:extLst>
          </p:cNvPr>
          <p:cNvPicPr>
            <a:picLocks noChangeAspect="1" noChangeArrowheads="1"/>
          </p:cNvPicPr>
          <p:nvPr/>
        </p:nvPicPr>
        <p:blipFill rotWithShape="1">
          <a:blip r:embed="rId2" cstate="print"/>
          <a:srcRect t="21994" b="55149"/>
          <a:stretch/>
        </p:blipFill>
        <p:spPr bwMode="auto">
          <a:xfrm>
            <a:off x="3271838" y="2819400"/>
            <a:ext cx="6710363" cy="1219200"/>
          </a:xfrm>
          <a:prstGeom prst="rect">
            <a:avLst/>
          </a:prstGeom>
          <a:noFill/>
          <a:ln w="9525">
            <a:noFill/>
            <a:miter lim="800000"/>
            <a:headEnd/>
            <a:tailEnd/>
          </a:ln>
        </p:spPr>
      </p:pic>
      <p:pic>
        <p:nvPicPr>
          <p:cNvPr id="11" name="Picture 2">
            <a:extLst>
              <a:ext uri="{FF2B5EF4-FFF2-40B4-BE49-F238E27FC236}">
                <a16:creationId xmlns:a16="http://schemas.microsoft.com/office/drawing/2014/main" id="{D13461A2-1AF5-83DF-274B-C44EFF4C6DD4}"/>
              </a:ext>
            </a:extLst>
          </p:cNvPr>
          <p:cNvPicPr>
            <a:picLocks noChangeAspect="1" noChangeArrowheads="1"/>
          </p:cNvPicPr>
          <p:nvPr/>
        </p:nvPicPr>
        <p:blipFill rotWithShape="1">
          <a:blip r:embed="rId2" cstate="print"/>
          <a:srcRect t="61071" b="13215"/>
          <a:stretch/>
        </p:blipFill>
        <p:spPr bwMode="auto">
          <a:xfrm>
            <a:off x="3271838" y="4343400"/>
            <a:ext cx="6710363" cy="1371600"/>
          </a:xfrm>
          <a:prstGeom prst="rect">
            <a:avLst/>
          </a:prstGeom>
          <a:noFill/>
          <a:ln w="9525">
            <a:noFill/>
            <a:miter lim="800000"/>
            <a:headEnd/>
            <a:tailEnd/>
          </a:ln>
        </p:spPr>
      </p:pic>
      <p:sp>
        <p:nvSpPr>
          <p:cNvPr id="12" name="Rectangle 3">
            <a:extLst>
              <a:ext uri="{FF2B5EF4-FFF2-40B4-BE49-F238E27FC236}">
                <a16:creationId xmlns:a16="http://schemas.microsoft.com/office/drawing/2014/main" id="{8D882A6B-E981-C702-DAD4-67FD9B1AFC17}"/>
              </a:ext>
            </a:extLst>
          </p:cNvPr>
          <p:cNvSpPr txBox="1">
            <a:spLocks noChangeArrowheads="1"/>
          </p:cNvSpPr>
          <p:nvPr/>
        </p:nvSpPr>
        <p:spPr bwMode="auto">
          <a:xfrm>
            <a:off x="2279373" y="15240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q"/>
              <a:defRPr sz="2400">
                <a:solidFill>
                  <a:srgbClr val="0033CC"/>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eaLnBrk="1" hangingPunct="1">
              <a:lnSpc>
                <a:spcPct val="90000"/>
              </a:lnSpc>
              <a:spcAft>
                <a:spcPts val="1800"/>
              </a:spcAft>
              <a:buNone/>
            </a:pPr>
            <a:r>
              <a:rPr lang="en-US" sz="2000" kern="0" dirty="0" err="1"/>
              <a:t>Một</a:t>
            </a:r>
            <a:r>
              <a:rPr lang="en-US" sz="2000" kern="0" dirty="0"/>
              <a:t> </a:t>
            </a:r>
            <a:r>
              <a:rPr lang="en-US" sz="2000" kern="0" dirty="0" err="1"/>
              <a:t>người</a:t>
            </a:r>
            <a:r>
              <a:rPr lang="en-US" sz="2000" kern="0" dirty="0"/>
              <a:t> </a:t>
            </a:r>
            <a:r>
              <a:rPr lang="en-US" sz="2000" kern="0" dirty="0" err="1"/>
              <a:t>viết</a:t>
            </a:r>
            <a:r>
              <a:rPr lang="en-US" sz="2000" kern="0" dirty="0"/>
              <a:t> </a:t>
            </a:r>
            <a:r>
              <a:rPr lang="en-US" sz="2000" kern="0" dirty="0" err="1"/>
              <a:t>trình</a:t>
            </a:r>
            <a:r>
              <a:rPr lang="en-US" sz="2000" kern="0" dirty="0"/>
              <a:t> </a:t>
            </a:r>
            <a:r>
              <a:rPr lang="en-US" sz="2000" kern="0" dirty="0" err="1"/>
              <a:t>biên</a:t>
            </a:r>
            <a:r>
              <a:rPr lang="en-US" sz="2000" kern="0" dirty="0"/>
              <a:t> </a:t>
            </a:r>
            <a:r>
              <a:rPr lang="en-US" sz="2000" kern="0" dirty="0" err="1"/>
              <a:t>dịch</a:t>
            </a:r>
            <a:r>
              <a:rPr lang="en-US" sz="2000" kern="0" dirty="0"/>
              <a:t> (compiler) </a:t>
            </a:r>
            <a:r>
              <a:rPr lang="en-US" sz="2000" kern="0" dirty="0" err="1"/>
              <a:t>có</a:t>
            </a:r>
            <a:r>
              <a:rPr lang="en-US" sz="2000" kern="0" dirty="0"/>
              <a:t> </a:t>
            </a:r>
            <a:r>
              <a:rPr lang="en-US" sz="2000" kern="0" dirty="0" err="1"/>
              <a:t>hai</a:t>
            </a:r>
            <a:r>
              <a:rPr lang="en-US" sz="2000" kern="0" dirty="0"/>
              <a:t> </a:t>
            </a:r>
            <a:r>
              <a:rPr lang="en-US" sz="2000" kern="0" dirty="0" err="1"/>
              <a:t>đoạn</a:t>
            </a:r>
            <a:r>
              <a:rPr lang="en-US" sz="2000" kern="0" dirty="0"/>
              <a:t>/</a:t>
            </a:r>
            <a:r>
              <a:rPr lang="en-US" sz="2000" kern="0" dirty="0" err="1"/>
              <a:t>chuỗi</a:t>
            </a:r>
            <a:r>
              <a:rPr lang="en-US" sz="2000" kern="0" dirty="0"/>
              <a:t> code </a:t>
            </a:r>
            <a:r>
              <a:rPr lang="en-US" sz="2000" kern="0" dirty="0" err="1"/>
              <a:t>và</a:t>
            </a:r>
            <a:r>
              <a:rPr lang="en-US" sz="2000" kern="0" dirty="0"/>
              <a:t> </a:t>
            </a:r>
            <a:r>
              <a:rPr lang="en-US" sz="2000" kern="0" dirty="0" err="1"/>
              <a:t>đang</a:t>
            </a:r>
            <a:r>
              <a:rPr lang="en-US" sz="2000" kern="0" dirty="0"/>
              <a:t> </a:t>
            </a:r>
            <a:r>
              <a:rPr lang="en-US" sz="2000" kern="0" dirty="0" err="1"/>
              <a:t>cần</a:t>
            </a:r>
            <a:r>
              <a:rPr lang="en-US" sz="2000" kern="0" dirty="0"/>
              <a:t> so </a:t>
            </a:r>
            <a:r>
              <a:rPr lang="en-US" sz="2000" kern="0" dirty="0" err="1"/>
              <a:t>sánh</a:t>
            </a:r>
            <a:r>
              <a:rPr lang="en-US" sz="2000" kern="0" dirty="0"/>
              <a:t> </a:t>
            </a:r>
            <a:r>
              <a:rPr lang="en-US" sz="2000" kern="0" dirty="0" err="1"/>
              <a:t>hai</a:t>
            </a:r>
            <a:r>
              <a:rPr lang="en-US" sz="2000" kern="0" dirty="0"/>
              <a:t> </a:t>
            </a:r>
            <a:r>
              <a:rPr lang="en-US" sz="2000" kern="0" dirty="0" err="1"/>
              <a:t>đoạn</a:t>
            </a:r>
            <a:r>
              <a:rPr lang="en-US" sz="2000" kern="0" dirty="0"/>
              <a:t> </a:t>
            </a:r>
            <a:r>
              <a:rPr lang="en-US" sz="2000" kern="0" dirty="0" err="1"/>
              <a:t>này</a:t>
            </a:r>
            <a:r>
              <a:rPr lang="en-US" sz="2000" kern="0" dirty="0"/>
              <a:t> </a:t>
            </a:r>
            <a:r>
              <a:rPr lang="en-US" sz="2000" kern="0" dirty="0" err="1"/>
              <a:t>với</a:t>
            </a:r>
            <a:r>
              <a:rPr lang="en-US" sz="2000" kern="0" dirty="0"/>
              <a:t> </a:t>
            </a:r>
            <a:r>
              <a:rPr lang="en-US" sz="2000" kern="0" dirty="0" err="1"/>
              <a:t>các</a:t>
            </a:r>
            <a:r>
              <a:rPr lang="en-US" sz="2000" kern="0" dirty="0"/>
              <a:t> </a:t>
            </a:r>
            <a:r>
              <a:rPr lang="en-US" sz="2000" kern="0" dirty="0" err="1"/>
              <a:t>thông</a:t>
            </a:r>
            <a:r>
              <a:rPr lang="en-US" sz="2000" kern="0" dirty="0"/>
              <a:t> tin </a:t>
            </a:r>
            <a:r>
              <a:rPr lang="en-US" sz="2000" kern="0" dirty="0" err="1"/>
              <a:t>như</a:t>
            </a:r>
            <a:r>
              <a:rPr lang="en-US" sz="2000" kern="0" dirty="0"/>
              <a:t> </a:t>
            </a:r>
            <a:r>
              <a:rPr lang="en-US" sz="2000" kern="0" dirty="0" err="1"/>
              <a:t>sau</a:t>
            </a:r>
            <a:r>
              <a:rPr lang="en-US" sz="2000" kern="0" dirty="0"/>
              <a:t>:</a:t>
            </a:r>
          </a:p>
          <a:p>
            <a:pPr marL="0" indent="0" algn="just" eaLnBrk="1" hangingPunct="1">
              <a:lnSpc>
                <a:spcPct val="90000"/>
              </a:lnSpc>
              <a:spcAft>
                <a:spcPts val="1800"/>
              </a:spcAft>
              <a:buNone/>
            </a:pPr>
            <a:r>
              <a:rPr lang="en-US" sz="2000" kern="0" dirty="0" err="1"/>
              <a:t>Tập</a:t>
            </a:r>
            <a:r>
              <a:rPr lang="en-US" sz="2000" kern="0" dirty="0"/>
              <a:t> </a:t>
            </a:r>
            <a:r>
              <a:rPr lang="en-US" sz="2000" kern="0" dirty="0" err="1"/>
              <a:t>lệnh</a:t>
            </a:r>
            <a:r>
              <a:rPr lang="en-US" sz="2000" kern="0" dirty="0"/>
              <a:t> </a:t>
            </a:r>
            <a:r>
              <a:rPr lang="en-US" sz="2000" kern="0" dirty="0" err="1"/>
              <a:t>máy</a:t>
            </a:r>
            <a:r>
              <a:rPr lang="en-US" sz="2000" kern="0" dirty="0"/>
              <a:t> </a:t>
            </a:r>
            <a:r>
              <a:rPr lang="en-US" sz="2000" kern="0" dirty="0" err="1"/>
              <a:t>tính</a:t>
            </a:r>
            <a:r>
              <a:rPr lang="en-US" sz="2000" kern="0" dirty="0"/>
              <a:t> </a:t>
            </a:r>
            <a:r>
              <a:rPr lang="en-US" sz="2000" kern="0" dirty="0" err="1"/>
              <a:t>chia</a:t>
            </a:r>
            <a:r>
              <a:rPr lang="en-US" sz="2000" kern="0" dirty="0"/>
              <a:t> </a:t>
            </a:r>
            <a:r>
              <a:rPr lang="en-US" sz="2000" kern="0" dirty="0" err="1"/>
              <a:t>làm</a:t>
            </a:r>
            <a:r>
              <a:rPr lang="en-US" sz="2000" kern="0" dirty="0"/>
              <a:t> </a:t>
            </a:r>
            <a:r>
              <a:rPr lang="en-US" sz="2000" kern="0" dirty="0" err="1"/>
              <a:t>ba</a:t>
            </a:r>
            <a:r>
              <a:rPr lang="en-US" sz="2000" kern="0" dirty="0"/>
              <a:t> </a:t>
            </a:r>
            <a:r>
              <a:rPr lang="en-US" sz="2000" kern="0" dirty="0" err="1"/>
              <a:t>nhóm</a:t>
            </a:r>
            <a:r>
              <a:rPr lang="en-US" sz="2000" kern="0" dirty="0"/>
              <a:t> </a:t>
            </a:r>
            <a:r>
              <a:rPr lang="en-US" sz="2000" kern="0" dirty="0" err="1"/>
              <a:t>lệnh</a:t>
            </a:r>
            <a:r>
              <a:rPr lang="en-US" sz="2000" kern="0" dirty="0"/>
              <a:t> </a:t>
            </a:r>
            <a:r>
              <a:rPr lang="en-US" sz="2000" kern="0" dirty="0" err="1"/>
              <a:t>và</a:t>
            </a:r>
            <a:r>
              <a:rPr lang="en-US" sz="2000" kern="0" dirty="0"/>
              <a:t> CPI </a:t>
            </a:r>
            <a:r>
              <a:rPr lang="en-US" sz="2000" kern="0" dirty="0" err="1"/>
              <a:t>của</a:t>
            </a:r>
            <a:r>
              <a:rPr lang="en-US" sz="2000" kern="0" dirty="0"/>
              <a:t> </a:t>
            </a:r>
            <a:r>
              <a:rPr lang="en-US" sz="2000" kern="0" dirty="0" err="1"/>
              <a:t>mỗi</a:t>
            </a:r>
            <a:r>
              <a:rPr lang="en-US" sz="2000" kern="0" dirty="0"/>
              <a:t> </a:t>
            </a:r>
            <a:r>
              <a:rPr lang="en-US" sz="2000" kern="0" dirty="0" err="1"/>
              <a:t>nhóm</a:t>
            </a:r>
            <a:r>
              <a:rPr lang="en-US" sz="2000" kern="0" dirty="0"/>
              <a:t> </a:t>
            </a:r>
            <a:r>
              <a:rPr lang="en-US" sz="2000" kern="0" dirty="0" err="1"/>
              <a:t>được</a:t>
            </a:r>
            <a:r>
              <a:rPr lang="en-US" sz="2000" kern="0" dirty="0"/>
              <a:t> </a:t>
            </a:r>
            <a:r>
              <a:rPr lang="en-US" sz="2000" kern="0" dirty="0" err="1"/>
              <a:t>nhà</a:t>
            </a:r>
            <a:r>
              <a:rPr lang="en-US" sz="2000" kern="0" dirty="0"/>
              <a:t> </a:t>
            </a:r>
            <a:r>
              <a:rPr lang="en-US" sz="2000" kern="0" dirty="0" err="1"/>
              <a:t>thiết</a:t>
            </a:r>
            <a:r>
              <a:rPr lang="en-US" sz="2000" kern="0" dirty="0"/>
              <a:t> </a:t>
            </a:r>
            <a:r>
              <a:rPr lang="en-US" sz="2000" kern="0" dirty="0" err="1"/>
              <a:t>kế</a:t>
            </a:r>
            <a:r>
              <a:rPr lang="en-US" sz="2000" kern="0" dirty="0"/>
              <a:t> </a:t>
            </a:r>
            <a:r>
              <a:rPr lang="en-US" sz="2000" kern="0" dirty="0" err="1"/>
              <a:t>phần</a:t>
            </a:r>
            <a:r>
              <a:rPr lang="en-US" sz="2000" kern="0" dirty="0"/>
              <a:t> </a:t>
            </a:r>
            <a:r>
              <a:rPr lang="en-US" sz="2000" kern="0" dirty="0" err="1"/>
              <a:t>cứng</a:t>
            </a:r>
            <a:r>
              <a:rPr lang="en-US" sz="2000" kern="0" dirty="0"/>
              <a:t> </a:t>
            </a:r>
            <a:r>
              <a:rPr lang="en-US" sz="2000" kern="0" dirty="0" err="1"/>
              <a:t>của</a:t>
            </a:r>
            <a:r>
              <a:rPr lang="en-US" sz="2000" kern="0" dirty="0"/>
              <a:t> </a:t>
            </a:r>
            <a:r>
              <a:rPr lang="en-US" sz="2000" kern="0" dirty="0" err="1"/>
              <a:t>máy</a:t>
            </a:r>
            <a:r>
              <a:rPr lang="en-US" sz="2000" kern="0" dirty="0"/>
              <a:t> </a:t>
            </a:r>
            <a:r>
              <a:rPr lang="en-US" sz="2000" kern="0" dirty="0" err="1"/>
              <a:t>tính</a:t>
            </a:r>
            <a:r>
              <a:rPr lang="en-US" sz="2000" kern="0" dirty="0"/>
              <a:t>  </a:t>
            </a:r>
            <a:r>
              <a:rPr lang="en-US" sz="2000" kern="0" dirty="0" err="1"/>
              <a:t>cung</a:t>
            </a:r>
            <a:r>
              <a:rPr lang="en-US" sz="2000" kern="0" dirty="0"/>
              <a:t> </a:t>
            </a:r>
            <a:r>
              <a:rPr lang="en-US" sz="2000" kern="0" dirty="0" err="1"/>
              <a:t>cấp</a:t>
            </a:r>
            <a:r>
              <a:rPr lang="en-US" sz="2000" kern="0" dirty="0"/>
              <a:t>:</a:t>
            </a:r>
          </a:p>
          <a:p>
            <a:pPr marL="0" indent="0" algn="just" eaLnBrk="1" hangingPunct="1">
              <a:lnSpc>
                <a:spcPct val="90000"/>
              </a:lnSpc>
              <a:spcAft>
                <a:spcPts val="1800"/>
              </a:spcAft>
              <a:buNone/>
            </a:pPr>
            <a:endParaRPr lang="en-US" sz="2000" kern="0" dirty="0"/>
          </a:p>
          <a:p>
            <a:pPr marL="0" indent="0" algn="just" eaLnBrk="1" hangingPunct="1">
              <a:lnSpc>
                <a:spcPct val="90000"/>
              </a:lnSpc>
              <a:spcAft>
                <a:spcPts val="1800"/>
              </a:spcAft>
              <a:buNone/>
            </a:pPr>
            <a:endParaRPr lang="en-US" sz="900" kern="0" dirty="0"/>
          </a:p>
          <a:p>
            <a:pPr marL="0" indent="0" algn="just" eaLnBrk="1" hangingPunct="1">
              <a:lnSpc>
                <a:spcPct val="90000"/>
              </a:lnSpc>
              <a:spcAft>
                <a:spcPts val="1800"/>
              </a:spcAft>
              <a:buNone/>
            </a:pPr>
            <a:r>
              <a:rPr lang="en-US" sz="2000" kern="0" dirty="0" err="1"/>
              <a:t>Và</a:t>
            </a:r>
            <a:r>
              <a:rPr lang="en-US" sz="2000" kern="0" dirty="0"/>
              <a:t> </a:t>
            </a:r>
            <a:r>
              <a:rPr lang="en-US" sz="2000" kern="0" dirty="0" err="1"/>
              <a:t>hai</a:t>
            </a:r>
            <a:r>
              <a:rPr lang="en-US" sz="2000" kern="0" dirty="0"/>
              <a:t> </a:t>
            </a:r>
            <a:r>
              <a:rPr lang="en-US" sz="2000" kern="0" dirty="0" err="1"/>
              <a:t>đoạn</a:t>
            </a:r>
            <a:r>
              <a:rPr lang="en-US" sz="2000" kern="0" dirty="0"/>
              <a:t> code </a:t>
            </a:r>
            <a:r>
              <a:rPr lang="en-US" sz="2000" kern="0" dirty="0" err="1"/>
              <a:t>đang</a:t>
            </a:r>
            <a:r>
              <a:rPr lang="en-US" sz="2000" kern="0" dirty="0"/>
              <a:t> </a:t>
            </a:r>
            <a:r>
              <a:rPr lang="en-US" sz="2000" kern="0" dirty="0" err="1"/>
              <a:t>cần</a:t>
            </a:r>
            <a:r>
              <a:rPr lang="en-US" sz="2000" kern="0" dirty="0"/>
              <a:t> so </a:t>
            </a:r>
            <a:r>
              <a:rPr lang="en-US" sz="2000" kern="0" dirty="0" err="1"/>
              <a:t>sánh</a:t>
            </a:r>
            <a:r>
              <a:rPr lang="en-US" sz="2000" kern="0" dirty="0"/>
              <a:t> </a:t>
            </a:r>
            <a:r>
              <a:rPr lang="en-US" sz="2000" kern="0" dirty="0" err="1"/>
              <a:t>có</a:t>
            </a:r>
            <a:r>
              <a:rPr lang="en-US" sz="2000" kern="0" dirty="0"/>
              <a:t> </a:t>
            </a:r>
            <a:r>
              <a:rPr lang="en-US" sz="2000" kern="0" dirty="0" err="1"/>
              <a:t>số</a:t>
            </a:r>
            <a:r>
              <a:rPr lang="en-US" sz="2000" kern="0" dirty="0"/>
              <a:t> </a:t>
            </a:r>
            <a:r>
              <a:rPr lang="en-US" sz="2000" kern="0" dirty="0" err="1"/>
              <a:t>lượng</a:t>
            </a:r>
            <a:r>
              <a:rPr lang="en-US" sz="2000" kern="0" dirty="0"/>
              <a:t> </a:t>
            </a:r>
            <a:r>
              <a:rPr lang="en-US" sz="2000" kern="0" dirty="0" err="1"/>
              <a:t>lệnh</a:t>
            </a:r>
            <a:r>
              <a:rPr lang="en-US" sz="2000" kern="0" dirty="0"/>
              <a:t> </a:t>
            </a:r>
            <a:r>
              <a:rPr lang="en-US" sz="2000" kern="0" dirty="0" err="1"/>
              <a:t>tương</a:t>
            </a:r>
            <a:r>
              <a:rPr lang="en-US" sz="2000" kern="0" dirty="0"/>
              <a:t> </a:t>
            </a:r>
            <a:r>
              <a:rPr lang="en-US" sz="2000" kern="0" dirty="0" err="1"/>
              <a:t>ứng</a:t>
            </a:r>
            <a:r>
              <a:rPr lang="en-US" sz="2000" kern="0" dirty="0"/>
              <a:t> </a:t>
            </a:r>
            <a:r>
              <a:rPr lang="en-US" sz="2000" kern="0" dirty="0" err="1"/>
              <a:t>với</a:t>
            </a:r>
            <a:r>
              <a:rPr lang="en-US" sz="2000" kern="0" dirty="0"/>
              <a:t> </a:t>
            </a:r>
            <a:r>
              <a:rPr lang="en-US" sz="2000" kern="0" dirty="0" err="1"/>
              <a:t>mỗi</a:t>
            </a:r>
            <a:r>
              <a:rPr lang="en-US" sz="2000" kern="0" dirty="0"/>
              <a:t> </a:t>
            </a:r>
            <a:r>
              <a:rPr lang="en-US" sz="2000" kern="0" dirty="0" err="1"/>
              <a:t>nhóm</a:t>
            </a:r>
            <a:r>
              <a:rPr lang="en-US" sz="2000" kern="0" dirty="0"/>
              <a:t> </a:t>
            </a:r>
            <a:r>
              <a:rPr lang="en-US" sz="2000" kern="0" dirty="0" err="1"/>
              <a:t>như</a:t>
            </a:r>
            <a:r>
              <a:rPr lang="en-US" sz="2000" kern="0" dirty="0"/>
              <a:t> </a:t>
            </a:r>
            <a:r>
              <a:rPr lang="en-US" sz="2000" kern="0" dirty="0" err="1"/>
              <a:t>sau</a:t>
            </a:r>
            <a:r>
              <a:rPr lang="en-US" sz="2000" kern="0" dirty="0"/>
              <a:t>:</a:t>
            </a:r>
          </a:p>
          <a:p>
            <a:pPr marL="0" indent="0" algn="just" eaLnBrk="1" hangingPunct="1">
              <a:lnSpc>
                <a:spcPct val="90000"/>
              </a:lnSpc>
              <a:spcAft>
                <a:spcPts val="1800"/>
              </a:spcAft>
              <a:buNone/>
            </a:pPr>
            <a:endParaRPr lang="en-US" sz="800" kern="0" dirty="0"/>
          </a:p>
          <a:p>
            <a:pPr marL="0" indent="0" algn="just" eaLnBrk="1" hangingPunct="1">
              <a:lnSpc>
                <a:spcPct val="90000"/>
              </a:lnSpc>
              <a:spcBef>
                <a:spcPts val="1000"/>
              </a:spcBef>
              <a:buNone/>
            </a:pPr>
            <a:endParaRPr lang="en-US" sz="1800" kern="0" dirty="0"/>
          </a:p>
          <a:p>
            <a:pPr marL="0" indent="0" algn="just" eaLnBrk="1" hangingPunct="1">
              <a:lnSpc>
                <a:spcPct val="90000"/>
              </a:lnSpc>
              <a:spcBef>
                <a:spcPts val="1000"/>
              </a:spcBef>
              <a:buNone/>
            </a:pPr>
            <a:r>
              <a:rPr lang="en-US" sz="1800" kern="0" dirty="0" err="1"/>
              <a:t>Hỏi</a:t>
            </a:r>
            <a:r>
              <a:rPr lang="en-US" sz="1800" kern="0" dirty="0"/>
              <a:t> </a:t>
            </a:r>
            <a:r>
              <a:rPr lang="en-US" sz="1800" kern="0" dirty="0" err="1"/>
              <a:t>đoạn</a:t>
            </a:r>
            <a:r>
              <a:rPr lang="en-US" sz="1800" kern="0" dirty="0"/>
              <a:t> code </a:t>
            </a:r>
            <a:r>
              <a:rPr lang="en-US" sz="1800" kern="0" dirty="0" err="1"/>
              <a:t>nào</a:t>
            </a:r>
            <a:r>
              <a:rPr lang="en-US" sz="1800" kern="0" dirty="0"/>
              <a:t> </a:t>
            </a:r>
            <a:r>
              <a:rPr lang="en-US" sz="1800" kern="0" dirty="0" err="1"/>
              <a:t>tốn</a:t>
            </a:r>
            <a:r>
              <a:rPr lang="en-US" sz="1800" kern="0" dirty="0"/>
              <a:t> </a:t>
            </a:r>
            <a:r>
              <a:rPr lang="en-US" sz="1800" kern="0" dirty="0" err="1"/>
              <a:t>nhiều</a:t>
            </a:r>
            <a:r>
              <a:rPr lang="en-US" sz="1800" kern="0" dirty="0"/>
              <a:t> </a:t>
            </a:r>
            <a:r>
              <a:rPr lang="en-US" sz="1800" kern="0" dirty="0" err="1"/>
              <a:t>lệnh</a:t>
            </a:r>
            <a:r>
              <a:rPr lang="en-US" sz="1800" kern="0" dirty="0"/>
              <a:t> </a:t>
            </a:r>
            <a:r>
              <a:rPr lang="en-US" sz="1800" kern="0" dirty="0" err="1"/>
              <a:t>hơn</a:t>
            </a:r>
            <a:r>
              <a:rPr lang="en-US" sz="1800" kern="0" dirty="0"/>
              <a:t>? </a:t>
            </a:r>
            <a:r>
              <a:rPr lang="en-US" sz="1800" kern="0" dirty="0" err="1"/>
              <a:t>Đoạn</a:t>
            </a:r>
            <a:r>
              <a:rPr lang="en-US" sz="1800" kern="0" dirty="0"/>
              <a:t> code </a:t>
            </a:r>
            <a:r>
              <a:rPr lang="en-US" sz="1800" kern="0" dirty="0" err="1"/>
              <a:t>nào</a:t>
            </a:r>
            <a:r>
              <a:rPr lang="en-US" sz="1800" kern="0" dirty="0"/>
              <a:t> </a:t>
            </a:r>
            <a:r>
              <a:rPr lang="en-US" sz="1800" kern="0" dirty="0" err="1"/>
              <a:t>thực</a:t>
            </a:r>
            <a:r>
              <a:rPr lang="en-US" sz="1800" kern="0" dirty="0"/>
              <a:t> </a:t>
            </a:r>
            <a:r>
              <a:rPr lang="en-US" sz="1800" kern="0" dirty="0" err="1"/>
              <a:t>thi</a:t>
            </a:r>
            <a:r>
              <a:rPr lang="en-US" sz="1800" kern="0" dirty="0"/>
              <a:t> </a:t>
            </a:r>
            <a:r>
              <a:rPr lang="en-US" sz="1800" kern="0" dirty="0" err="1"/>
              <a:t>nhanh</a:t>
            </a:r>
            <a:r>
              <a:rPr lang="en-US" sz="1800" kern="0" dirty="0"/>
              <a:t> </a:t>
            </a:r>
            <a:r>
              <a:rPr lang="en-US" sz="1800" kern="0" dirty="0" err="1"/>
              <a:t>hơn</a:t>
            </a:r>
            <a:r>
              <a:rPr lang="en-US" sz="1800" kern="0" dirty="0"/>
              <a:t>? CPI </a:t>
            </a:r>
            <a:r>
              <a:rPr lang="en-US" sz="1800" kern="0" dirty="0" err="1"/>
              <a:t>của</a:t>
            </a:r>
            <a:r>
              <a:rPr lang="en-US" sz="1800" kern="0" dirty="0"/>
              <a:t> </a:t>
            </a:r>
            <a:r>
              <a:rPr lang="en-US" sz="1800" kern="0" dirty="0" err="1"/>
              <a:t>mỗi</a:t>
            </a:r>
            <a:r>
              <a:rPr lang="en-US" sz="1800" kern="0" dirty="0"/>
              <a:t> </a:t>
            </a:r>
            <a:r>
              <a:rPr lang="en-US" sz="1800" kern="0" dirty="0" err="1"/>
              <a:t>đoạn</a:t>
            </a:r>
            <a:r>
              <a:rPr lang="en-US" sz="1800" kern="0" dirty="0"/>
              <a:t>? </a:t>
            </a:r>
          </a:p>
          <a:p>
            <a:pPr marL="0" indent="0" algn="just" eaLnBrk="1" hangingPunct="1">
              <a:lnSpc>
                <a:spcPct val="90000"/>
              </a:lnSpc>
              <a:spcBef>
                <a:spcPts val="1000"/>
              </a:spcBef>
              <a:buNone/>
            </a:pPr>
            <a:endParaRPr lang="en-US" sz="1800" kern="0" dirty="0"/>
          </a:p>
          <a:p>
            <a:pPr marL="0" indent="0" algn="just" eaLnBrk="1" hangingPunct="1">
              <a:lnSpc>
                <a:spcPct val="90000"/>
              </a:lnSpc>
              <a:spcBef>
                <a:spcPts val="1000"/>
              </a:spcBef>
              <a:buNone/>
            </a:pPr>
            <a:endParaRPr lang="en-US" sz="1800" kern="0" dirty="0"/>
          </a:p>
        </p:txBody>
      </p:sp>
    </p:spTree>
    <p:extLst>
      <p:ext uri="{BB962C8B-B14F-4D97-AF65-F5344CB8AC3E}">
        <p14:creationId xmlns:p14="http://schemas.microsoft.com/office/powerpoint/2010/main" val="4013827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Quiz 4 - đáp án</a:t>
            </a:r>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20</a:t>
            </a:fld>
            <a:endParaRPr lang="en-VN" dirty="0"/>
          </a:p>
        </p:txBody>
      </p:sp>
      <p:pic>
        <p:nvPicPr>
          <p:cNvPr id="9" name="Picture 3">
            <a:extLst>
              <a:ext uri="{FF2B5EF4-FFF2-40B4-BE49-F238E27FC236}">
                <a16:creationId xmlns:a16="http://schemas.microsoft.com/office/drawing/2014/main" id="{A331D1B5-DA51-59DB-D213-4391562180CD}"/>
              </a:ext>
            </a:extLst>
          </p:cNvPr>
          <p:cNvPicPr>
            <a:picLocks noChangeAspect="1" noChangeArrowheads="1"/>
          </p:cNvPicPr>
          <p:nvPr/>
        </p:nvPicPr>
        <p:blipFill rotWithShape="1">
          <a:blip r:embed="rId2" cstate="print"/>
          <a:srcRect b="75125"/>
          <a:stretch/>
        </p:blipFill>
        <p:spPr bwMode="auto">
          <a:xfrm>
            <a:off x="2781300" y="927377"/>
            <a:ext cx="6629400" cy="1371600"/>
          </a:xfrm>
          <a:prstGeom prst="rect">
            <a:avLst/>
          </a:prstGeom>
          <a:noFill/>
          <a:ln w="9525">
            <a:noFill/>
            <a:miter lim="800000"/>
            <a:headEnd/>
            <a:tailEnd/>
          </a:ln>
        </p:spPr>
      </p:pic>
      <p:pic>
        <p:nvPicPr>
          <p:cNvPr id="10" name="Picture 3">
            <a:extLst>
              <a:ext uri="{FF2B5EF4-FFF2-40B4-BE49-F238E27FC236}">
                <a16:creationId xmlns:a16="http://schemas.microsoft.com/office/drawing/2014/main" id="{A6E1207C-02C2-F0CB-18B4-313CADA591EB}"/>
              </a:ext>
            </a:extLst>
          </p:cNvPr>
          <p:cNvPicPr>
            <a:picLocks noChangeAspect="1" noChangeArrowheads="1"/>
          </p:cNvPicPr>
          <p:nvPr/>
        </p:nvPicPr>
        <p:blipFill rotWithShape="1">
          <a:blip r:embed="rId2" cstate="print"/>
          <a:srcRect t="26257"/>
          <a:stretch/>
        </p:blipFill>
        <p:spPr bwMode="auto">
          <a:xfrm>
            <a:off x="2793012" y="2236654"/>
            <a:ext cx="6520921" cy="3999642"/>
          </a:xfrm>
          <a:prstGeom prst="rect">
            <a:avLst/>
          </a:prstGeom>
          <a:noFill/>
          <a:ln w="9525">
            <a:noFill/>
            <a:miter lim="800000"/>
            <a:headEnd/>
            <a:tailEnd/>
          </a:ln>
        </p:spPr>
      </p:pic>
    </p:spTree>
    <p:extLst>
      <p:ext uri="{BB962C8B-B14F-4D97-AF65-F5344CB8AC3E}">
        <p14:creationId xmlns:p14="http://schemas.microsoft.com/office/powerpoint/2010/main" val="307318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21</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526511" cy="884656"/>
          </a:xfrm>
        </p:spPr>
        <p:txBody>
          <a:bodyPr>
            <a:normAutofit fontScale="92500"/>
          </a:bodyPr>
          <a:lstStyle/>
          <a:p>
            <a:r>
              <a:rPr lang="vi-VN" dirty="0"/>
              <a:t>4. Tính </a:t>
            </a:r>
            <a:r>
              <a:rPr lang="vi-VN"/>
              <a:t>hiệu </a:t>
            </a:r>
            <a:r>
              <a:rPr lang="en-US"/>
              <a:t>s</a:t>
            </a:r>
            <a:r>
              <a:rPr lang="vi-VN"/>
              <a:t>uất </a:t>
            </a:r>
            <a:r>
              <a:rPr lang="vi-VN" dirty="0"/>
              <a:t>theo IPS/MIPS</a:t>
            </a:r>
            <a:endParaRPr lang="en-VN"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1329713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2895600" y="2895600"/>
            <a:ext cx="7086600" cy="2246970"/>
          </a:xfrm>
          <a:prstGeom prst="rect">
            <a:avLst/>
          </a:prstGeom>
          <a:noFill/>
          <a:ln w="9525">
            <a:noFill/>
            <a:miter lim="800000"/>
            <a:headEnd/>
            <a:tailEnd/>
          </a:ln>
        </p:spPr>
      </p:pic>
      <p:sp>
        <p:nvSpPr>
          <p:cNvPr id="48130" name="Rectangle 2"/>
          <p:cNvSpPr>
            <a:spLocks noGrp="1" noChangeArrowheads="1"/>
          </p:cNvSpPr>
          <p:nvPr>
            <p:ph type="title"/>
          </p:nvPr>
        </p:nvSpPr>
        <p:spPr/>
        <p:txBody>
          <a:bodyPr/>
          <a:lstStyle/>
          <a:p>
            <a:pPr marL="457200" indent="-457200">
              <a:lnSpc>
                <a:spcPct val="90000"/>
              </a:lnSpc>
            </a:pPr>
            <a:r>
              <a:rPr lang="en-US" sz="3500" dirty="0"/>
              <a:t>Hiệu </a:t>
            </a:r>
            <a:r>
              <a:rPr lang="en-US" sz="3500" dirty="0" err="1"/>
              <a:t>suất</a:t>
            </a:r>
            <a:endParaRPr lang="en-US" sz="3500" dirty="0"/>
          </a:p>
        </p:txBody>
      </p:sp>
      <p:sp>
        <p:nvSpPr>
          <p:cNvPr id="5" name="Content Placeholder 4">
            <a:extLst>
              <a:ext uri="{FF2B5EF4-FFF2-40B4-BE49-F238E27FC236}">
                <a16:creationId xmlns:a16="http://schemas.microsoft.com/office/drawing/2014/main" id="{817884DA-5C24-3DDD-C2D7-48A50C9D4B54}"/>
              </a:ext>
            </a:extLst>
          </p:cNvPr>
          <p:cNvSpPr>
            <a:spLocks noGrp="1"/>
          </p:cNvSpPr>
          <p:nvPr>
            <p:ph idx="1"/>
          </p:nvPr>
        </p:nvSpPr>
        <p:spPr>
          <a:xfrm>
            <a:off x="1142797" y="1045751"/>
            <a:ext cx="10515600" cy="5310597"/>
          </a:xfrm>
        </p:spPr>
        <p:txBody>
          <a:bodyPr>
            <a:normAutofit fontScale="62500" lnSpcReduction="20000"/>
          </a:bodyPr>
          <a:lstStyle/>
          <a:p>
            <a:pPr>
              <a:lnSpc>
                <a:spcPct val="170000"/>
              </a:lnSpc>
            </a:pPr>
            <a:r>
              <a:rPr lang="vi-VN" dirty="0"/>
              <a:t>MIPS (Million instructions per second): Một cách đo tốc độ thực thi của chương trình dựa trên số lượng triệu lệnh trên giây. MIPS được tính bằng số lượng lệnh chia cho tích của thời gian thực thi và giá trị 106.</a:t>
            </a:r>
          </a:p>
          <a:p>
            <a:endParaRPr lang="vi-VN" dirty="0"/>
          </a:p>
          <a:p>
            <a:endParaRPr lang="vi-VN" dirty="0"/>
          </a:p>
          <a:p>
            <a:endParaRPr lang="vi-VN" dirty="0"/>
          </a:p>
          <a:p>
            <a:endParaRPr lang="vi-VN" dirty="0"/>
          </a:p>
          <a:p>
            <a:endParaRPr lang="vi-VN" dirty="0"/>
          </a:p>
          <a:p>
            <a:endParaRPr lang="vi-VN" dirty="0"/>
          </a:p>
          <a:p>
            <a:endParaRPr lang="vi-VN" dirty="0"/>
          </a:p>
          <a:p>
            <a:pPr>
              <a:lnSpc>
                <a:spcPct val="170000"/>
              </a:lnSpc>
            </a:pPr>
            <a:r>
              <a:rPr lang="vi-VN" dirty="0"/>
              <a:t>IPS (Instructions per second): Số lệnh trên giây. Nếu đề bài chỉ yêu cầu tính IPS thì không cần chia cho 106</a:t>
            </a:r>
          </a:p>
          <a:p>
            <a:endParaRPr lang="vi-VN" dirty="0"/>
          </a:p>
          <a:p>
            <a:endParaRPr lang="en-VN" dirty="0"/>
          </a:p>
        </p:txBody>
      </p:sp>
      <p:sp>
        <p:nvSpPr>
          <p:cNvPr id="3" name="Footer Placeholder 2"/>
          <p:cNvSpPr>
            <a:spLocks noGrp="1"/>
          </p:cNvSpPr>
          <p:nvPr>
            <p:ph type="ftr" sz="quarter" idx="11"/>
          </p:nvPr>
        </p:nvSpPr>
        <p:spPr/>
        <p:txBody>
          <a:bodyPr/>
          <a:lstStyle/>
          <a:p>
            <a:r>
              <a:rPr kumimoji="1" lang="en-US" altLang="ja-JP" dirty="0"/>
              <a:t>Copyrights 2017 CE-UIT. All Rights Reserved.</a:t>
            </a:r>
            <a:endParaRPr kumimoji="1" lang="ja-JP" altLang="en-US" dirty="0"/>
          </a:p>
        </p:txBody>
      </p:sp>
      <p:sp>
        <p:nvSpPr>
          <p:cNvPr id="2" name="Date Placeholder 1"/>
          <p:cNvSpPr>
            <a:spLocks noGrp="1"/>
          </p:cNvSpPr>
          <p:nvPr>
            <p:ph type="dt" sz="half" idx="13"/>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sz="1000" kern="1200">
                <a:solidFill>
                  <a:schemeClr val="tx1"/>
                </a:solidFill>
                <a:latin typeface="Times New Roman" pitchFamily="18" charset="0"/>
                <a:ea typeface="+mn-ea"/>
                <a:cs typeface="Times New Roman" pitchFamily="18"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kumimoji="1" lang="en-US" altLang="ja-JP"/>
              <a:t>09/2017</a:t>
            </a:r>
            <a:endParaRPr kumimoji="1" lang="ja-JP" altLang="en-US" dirty="0"/>
          </a:p>
        </p:txBody>
      </p:sp>
      <p:sp>
        <p:nvSpPr>
          <p:cNvPr id="48132" name="Slide Number Placeholder 3"/>
          <p:cNvSpPr>
            <a:spLocks noGrp="1"/>
          </p:cNvSpPr>
          <p:nvPr>
            <p:ph type="sldNum" sz="quarter" idx="12"/>
          </p:nvPr>
        </p:nvSpPr>
        <p:spPr>
          <a:noFill/>
        </p:spPr>
        <p:txBody>
          <a:bodyPr/>
          <a:lstStyle/>
          <a:p>
            <a:fld id="{18196C4A-BC10-45D2-A8E1-8311C726F517}" type="slidenum">
              <a:rPr lang="en-US" smtClean="0"/>
              <a:pPr/>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Quiz 3</a:t>
            </a:r>
            <a:endParaRPr lang="en-VN" dirty="0"/>
          </a:p>
        </p:txBody>
      </p:sp>
      <p:sp>
        <p:nvSpPr>
          <p:cNvPr id="9" name="Content Placeholder 8">
            <a:extLst>
              <a:ext uri="{FF2B5EF4-FFF2-40B4-BE49-F238E27FC236}">
                <a16:creationId xmlns:a16="http://schemas.microsoft.com/office/drawing/2014/main" id="{0D3A8A35-3B27-E643-1517-A248F0FF1864}"/>
              </a:ext>
            </a:extLst>
          </p:cNvPr>
          <p:cNvSpPr>
            <a:spLocks noGrp="1"/>
          </p:cNvSpPr>
          <p:nvPr>
            <p:ph idx="1"/>
          </p:nvPr>
        </p:nvSpPr>
        <p:spPr/>
        <p:txBody>
          <a:bodyPr>
            <a:normAutofit lnSpcReduction="10000"/>
          </a:bodyPr>
          <a:lstStyle/>
          <a:p>
            <a:r>
              <a:rPr lang="vi-VN" dirty="0"/>
              <a:t>Máy tính A: Chu kỳ clock = 250ps, CPI = 2.0</a:t>
            </a:r>
          </a:p>
          <a:p>
            <a:r>
              <a:rPr lang="vi-VN" dirty="0"/>
              <a:t>Máy tính B: Chu kỳ clock = 500ps, CPI = 1.2</a:t>
            </a:r>
          </a:p>
          <a:p>
            <a:r>
              <a:rPr lang="vi-VN" dirty="0"/>
              <a:t>Cả 2 máy tính đều có cùng ISA. Máy tính nào nhanh hơn và nhanh hơn bao nhiêu lần?</a:t>
            </a:r>
          </a:p>
          <a:p>
            <a:r>
              <a:rPr lang="vi-VN" u="sng" dirty="0"/>
              <a:t>Trả lời:</a:t>
            </a:r>
          </a:p>
          <a:p>
            <a:r>
              <a:rPr lang="vi-VN" dirty="0"/>
              <a:t>Máy A: MIPS = 1/(250*10</a:t>
            </a:r>
            <a:r>
              <a:rPr lang="vi-VN" baseline="30000" dirty="0"/>
              <a:t>-9</a:t>
            </a:r>
            <a:r>
              <a:rPr lang="vi-VN" dirty="0"/>
              <a:t>*2*10</a:t>
            </a:r>
            <a:r>
              <a:rPr lang="vi-VN" baseline="30000" dirty="0"/>
              <a:t>6</a:t>
            </a:r>
            <a:r>
              <a:rPr lang="vi-VN" dirty="0"/>
              <a:t>) = 2</a:t>
            </a:r>
          </a:p>
          <a:p>
            <a:r>
              <a:rPr lang="vi-VN" dirty="0"/>
              <a:t>Máy B: MIPS = 1/(500*10</a:t>
            </a:r>
            <a:r>
              <a:rPr lang="vi-VN" baseline="30000" dirty="0"/>
              <a:t>-9</a:t>
            </a:r>
            <a:r>
              <a:rPr lang="vi-VN" dirty="0"/>
              <a:t>*1.2*10</a:t>
            </a:r>
            <a:r>
              <a:rPr lang="vi-VN" baseline="30000" dirty="0"/>
              <a:t>6</a:t>
            </a:r>
            <a:r>
              <a:rPr lang="vi-VN" dirty="0"/>
              <a:t>) = 1.67</a:t>
            </a:r>
          </a:p>
          <a:p>
            <a:pPr marL="0" indent="0">
              <a:buNone/>
            </a:pPr>
            <a:r>
              <a:rPr lang="vi-VN" dirty="0"/>
              <a:t>-&gt; Máy A nhanh hơn khoảng 2/1.67 = 1.2 lần</a:t>
            </a:r>
            <a:endParaRPr lang="en-US" dirty="0"/>
          </a:p>
          <a:p>
            <a:endParaRPr lang="en-US" dirty="0"/>
          </a:p>
          <a:p>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Tree>
    <p:extLst>
      <p:ext uri="{BB962C8B-B14F-4D97-AF65-F5344CB8AC3E}">
        <p14:creationId xmlns:p14="http://schemas.microsoft.com/office/powerpoint/2010/main" val="314953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24</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8" y="2095027"/>
            <a:ext cx="8526511" cy="884656"/>
          </a:xfrm>
        </p:spPr>
        <p:txBody>
          <a:bodyPr>
            <a:normAutofit fontScale="85000" lnSpcReduction="10000"/>
          </a:bodyPr>
          <a:lstStyle/>
          <a:p>
            <a:pPr>
              <a:lnSpc>
                <a:spcPct val="150000"/>
              </a:lnSpc>
            </a:pPr>
            <a:r>
              <a:rPr lang="vi-VN" dirty="0"/>
              <a:t>5. Các kỹ thuật nâng cao hiệu suất</a:t>
            </a:r>
            <a:endParaRPr lang="en-US" sz="4400"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446946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vi-VN"/>
              <a:t>Các yếu tố ảnh hưởng tới hiệu suất</a:t>
            </a:r>
            <a:endParaRPr lang="en-VN" dirty="0"/>
          </a:p>
        </p:txBody>
      </p:sp>
      <p:pic>
        <p:nvPicPr>
          <p:cNvPr id="6" name="Content Placeholder 5">
            <a:extLst>
              <a:ext uri="{FF2B5EF4-FFF2-40B4-BE49-F238E27FC236}">
                <a16:creationId xmlns:a16="http://schemas.microsoft.com/office/drawing/2014/main" id="{B4DDA423-4276-9BFA-4555-9DE9D64695EE}"/>
              </a:ext>
            </a:extLst>
          </p:cNvPr>
          <p:cNvPicPr>
            <a:picLocks noGrp="1" noChangeAspect="1"/>
          </p:cNvPicPr>
          <p:nvPr>
            <p:ph idx="1"/>
          </p:nvPr>
        </p:nvPicPr>
        <p:blipFill>
          <a:blip r:embed="rId3"/>
          <a:stretch>
            <a:fillRect/>
          </a:stretch>
        </p:blipFill>
        <p:spPr>
          <a:xfrm>
            <a:off x="1012690" y="2469742"/>
            <a:ext cx="9852353" cy="3949817"/>
          </a:xfrm>
          <a:prstGeom prst="rect">
            <a:avLst/>
          </a:prstGeom>
        </p:spPr>
      </p:pic>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25</a:t>
            </a:fld>
            <a:endParaRPr lang="en-V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FD5CBE3-677E-F209-D4E8-25F4D8D4F9BC}"/>
                  </a:ext>
                </a:extLst>
              </p:cNvPr>
              <p:cNvSpPr txBox="1"/>
              <p:nvPr/>
            </p:nvSpPr>
            <p:spPr>
              <a:xfrm>
                <a:off x="766195" y="1286238"/>
                <a:ext cx="4198265" cy="7698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400">
                          <a:latin typeface="Arial" panose="020B0604020202020204" pitchFamily="34" charset="0"/>
                          <a:cs typeface="Arial" panose="020B0604020202020204" pitchFamily="34" charset="0"/>
                        </a:rPr>
                        <m:t>Hi</m:t>
                      </m:r>
                      <m:r>
                        <m:rPr>
                          <m:nor/>
                        </m:rPr>
                        <a:rPr lang="en-US" sz="2400">
                          <a:latin typeface="Arial" panose="020B0604020202020204" pitchFamily="34" charset="0"/>
                          <a:cs typeface="Arial" panose="020B0604020202020204" pitchFamily="34" charset="0"/>
                        </a:rPr>
                        <m:t>ệ</m:t>
                      </m:r>
                      <m:r>
                        <m:rPr>
                          <m:nor/>
                        </m:rPr>
                        <a:rPr lang="en-US" sz="2400">
                          <a:latin typeface="Arial" panose="020B0604020202020204" pitchFamily="34" charset="0"/>
                          <a:cs typeface="Arial" panose="020B0604020202020204" pitchFamily="34" charset="0"/>
                        </a:rPr>
                        <m:t>u</m:t>
                      </m:r>
                      <m:r>
                        <m:rPr>
                          <m:nor/>
                        </m:rPr>
                        <a:rPr lang="en-US" sz="2400">
                          <a:latin typeface="Arial" panose="020B0604020202020204" pitchFamily="34" charset="0"/>
                          <a:cs typeface="Arial" panose="020B0604020202020204" pitchFamily="34" charset="0"/>
                        </a:rPr>
                        <m:t> </m:t>
                      </m:r>
                      <m:r>
                        <m:rPr>
                          <m:nor/>
                        </m:rPr>
                        <a:rPr lang="en-US" sz="2400">
                          <a:latin typeface="Arial" panose="020B0604020202020204" pitchFamily="34" charset="0"/>
                          <a:cs typeface="Arial" panose="020B0604020202020204" pitchFamily="34" charset="0"/>
                        </a:rPr>
                        <m:t>su</m:t>
                      </m:r>
                      <m:r>
                        <m:rPr>
                          <m:nor/>
                        </m:rPr>
                        <a:rPr lang="en-US" sz="2400">
                          <a:latin typeface="Arial" panose="020B0604020202020204" pitchFamily="34" charset="0"/>
                          <a:cs typeface="Arial" panose="020B0604020202020204" pitchFamily="34" charset="0"/>
                        </a:rPr>
                        <m:t>ấ</m:t>
                      </m:r>
                      <m:r>
                        <m:rPr>
                          <m:nor/>
                        </m:rPr>
                        <a:rPr lang="en-US" sz="2400">
                          <a:latin typeface="Arial" panose="020B0604020202020204" pitchFamily="34" charset="0"/>
                          <a:cs typeface="Arial" panose="020B0604020202020204" pitchFamily="34" charset="0"/>
                        </a:rPr>
                        <m:t>t</m:t>
                      </m:r>
                      <m:r>
                        <m:rPr>
                          <m:nor/>
                        </m:rPr>
                        <a:rPr lang="en-US" sz="2400">
                          <a:latin typeface="Arial" panose="020B0604020202020204" pitchFamily="34" charset="0"/>
                          <a:cs typeface="Arial" panose="020B0604020202020204" pitchFamily="34" charset="0"/>
                        </a:rPr>
                        <m:t> = </m:t>
                      </m:r>
                      <m:f>
                        <m:fPr>
                          <m:ctrlPr>
                            <a:rPr lang="en-US" sz="2400" i="1">
                              <a:latin typeface="Cambria Math" panose="02040503050406030204" pitchFamily="18" charset="0"/>
                            </a:rPr>
                          </m:ctrlPr>
                        </m:fPr>
                        <m:num>
                          <m:r>
                            <m:rPr>
                              <m:nor/>
                            </m:rPr>
                            <a:rPr lang="en-US" sz="2400">
                              <a:latin typeface="Arial" panose="020B0604020202020204" pitchFamily="34" charset="0"/>
                              <a:cs typeface="Arial" panose="020B0604020202020204" pitchFamily="34" charset="0"/>
                            </a:rPr>
                            <m:t>1</m:t>
                          </m:r>
                        </m:num>
                        <m:den>
                          <m:r>
                            <m:rPr>
                              <m:nor/>
                            </m:rPr>
                            <a:rPr lang="en-US" sz="2400">
                              <a:latin typeface="Arial" panose="020B0604020202020204" pitchFamily="34" charset="0"/>
                              <a:cs typeface="Arial" panose="020B0604020202020204" pitchFamily="34" charset="0"/>
                            </a:rPr>
                            <m:t>Th</m:t>
                          </m:r>
                          <m:r>
                            <m:rPr>
                              <m:nor/>
                            </m:rPr>
                            <a:rPr lang="en-US" sz="2400">
                              <a:latin typeface="Arial" panose="020B0604020202020204" pitchFamily="34" charset="0"/>
                              <a:cs typeface="Arial" panose="020B0604020202020204" pitchFamily="34" charset="0"/>
                            </a:rPr>
                            <m:t>ờ</m:t>
                          </m:r>
                          <m:r>
                            <m:rPr>
                              <m:nor/>
                            </m:rPr>
                            <a:rPr lang="en-US" sz="2400">
                              <a:latin typeface="Arial" panose="020B0604020202020204" pitchFamily="34" charset="0"/>
                              <a:cs typeface="Arial" panose="020B0604020202020204" pitchFamily="34" charset="0"/>
                            </a:rPr>
                            <m:t>i</m:t>
                          </m:r>
                          <m:r>
                            <m:rPr>
                              <m:nor/>
                            </m:rPr>
                            <a:rPr lang="en-US" sz="2400">
                              <a:latin typeface="Arial" panose="020B0604020202020204" pitchFamily="34" charset="0"/>
                              <a:cs typeface="Arial" panose="020B0604020202020204" pitchFamily="34" charset="0"/>
                            </a:rPr>
                            <m:t> </m:t>
                          </m:r>
                          <m:r>
                            <m:rPr>
                              <m:nor/>
                            </m:rPr>
                            <a:rPr lang="en-US" sz="2400">
                              <a:latin typeface="Arial" panose="020B0604020202020204" pitchFamily="34" charset="0"/>
                              <a:cs typeface="Arial" panose="020B0604020202020204" pitchFamily="34" charset="0"/>
                            </a:rPr>
                            <m:t>gian</m:t>
                          </m:r>
                          <m:r>
                            <m:rPr>
                              <m:nor/>
                            </m:rPr>
                            <a:rPr lang="en-US" sz="2400">
                              <a:latin typeface="Arial" panose="020B0604020202020204" pitchFamily="34" charset="0"/>
                              <a:cs typeface="Arial" panose="020B0604020202020204" pitchFamily="34" charset="0"/>
                            </a:rPr>
                            <m:t> </m:t>
                          </m:r>
                          <m:r>
                            <m:rPr>
                              <m:nor/>
                            </m:rPr>
                            <a:rPr lang="en-US" sz="2400">
                              <a:latin typeface="Arial" panose="020B0604020202020204" pitchFamily="34" charset="0"/>
                              <a:cs typeface="Arial" panose="020B0604020202020204" pitchFamily="34" charset="0"/>
                            </a:rPr>
                            <m:t>th</m:t>
                          </m:r>
                          <m:r>
                            <m:rPr>
                              <m:nor/>
                            </m:rPr>
                            <a:rPr lang="en-US" sz="2400">
                              <a:latin typeface="Arial" panose="020B0604020202020204" pitchFamily="34" charset="0"/>
                              <a:cs typeface="Arial" panose="020B0604020202020204" pitchFamily="34" charset="0"/>
                            </a:rPr>
                            <m:t>ự</m:t>
                          </m:r>
                          <m:r>
                            <m:rPr>
                              <m:nor/>
                            </m:rPr>
                            <a:rPr lang="en-US" sz="2400">
                              <a:latin typeface="Arial" panose="020B0604020202020204" pitchFamily="34" charset="0"/>
                              <a:cs typeface="Arial" panose="020B0604020202020204" pitchFamily="34" charset="0"/>
                            </a:rPr>
                            <m:t>c</m:t>
                          </m:r>
                          <m:r>
                            <m:rPr>
                              <m:nor/>
                            </m:rPr>
                            <a:rPr lang="en-US" sz="2400">
                              <a:latin typeface="Arial" panose="020B0604020202020204" pitchFamily="34" charset="0"/>
                              <a:cs typeface="Arial" panose="020B0604020202020204" pitchFamily="34" charset="0"/>
                            </a:rPr>
                            <m:t> </m:t>
                          </m:r>
                          <m:r>
                            <m:rPr>
                              <m:nor/>
                            </m:rPr>
                            <a:rPr lang="en-US" sz="2400">
                              <a:latin typeface="Arial" panose="020B0604020202020204" pitchFamily="34" charset="0"/>
                              <a:cs typeface="Arial" panose="020B0604020202020204" pitchFamily="34" charset="0"/>
                            </a:rPr>
                            <m:t>thi</m:t>
                          </m:r>
                        </m:den>
                      </m:f>
                    </m:oMath>
                  </m:oMathPara>
                </a14:m>
                <a:endParaRPr lang="en-US" sz="2400"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EFD5CBE3-677E-F209-D4E8-25F4D8D4F9BC}"/>
                  </a:ext>
                </a:extLst>
              </p:cNvPr>
              <p:cNvSpPr txBox="1">
                <a:spLocks noRot="1" noChangeAspect="1" noMove="1" noResize="1" noEditPoints="1" noAdjustHandles="1" noChangeArrowheads="1" noChangeShapeType="1" noTextEdit="1"/>
              </p:cNvSpPr>
              <p:nvPr/>
            </p:nvSpPr>
            <p:spPr>
              <a:xfrm>
                <a:off x="766195" y="1286238"/>
                <a:ext cx="4198265" cy="769891"/>
              </a:xfrm>
              <a:prstGeom prst="rect">
                <a:avLst/>
              </a:prstGeom>
              <a:blipFill>
                <a:blip r:embed="rId4"/>
                <a:stretch>
                  <a:fillRect l="-1813" t="-1639" r="-1208" b="-19672"/>
                </a:stretch>
              </a:blipFill>
            </p:spPr>
            <p:txBody>
              <a:bodyPr/>
              <a:lstStyle/>
              <a:p>
                <a:r>
                  <a:rPr lang="en-VN">
                    <a:noFill/>
                  </a:rPr>
                  <a:t> </a:t>
                </a:r>
              </a:p>
            </p:txBody>
          </p:sp>
        </mc:Fallback>
      </mc:AlternateContent>
      <p:sp>
        <p:nvSpPr>
          <p:cNvPr id="10" name="TextBox 9">
            <a:extLst>
              <a:ext uri="{FF2B5EF4-FFF2-40B4-BE49-F238E27FC236}">
                <a16:creationId xmlns:a16="http://schemas.microsoft.com/office/drawing/2014/main" id="{A8BAE36E-B4EF-350B-CEB7-5B32BB4ED0F2}"/>
              </a:ext>
            </a:extLst>
          </p:cNvPr>
          <p:cNvSpPr txBox="1"/>
          <p:nvPr/>
        </p:nvSpPr>
        <p:spPr>
          <a:xfrm>
            <a:off x="4321953" y="999344"/>
            <a:ext cx="7719328" cy="461665"/>
          </a:xfrm>
          <a:prstGeom prst="rect">
            <a:avLst/>
          </a:prstGeom>
          <a:noFill/>
        </p:spPr>
        <p:txBody>
          <a:bodyPr wrap="square">
            <a:spAutoFit/>
          </a:bodyPr>
          <a:lstStyle/>
          <a:p>
            <a:pPr marL="0" indent="0" algn="ctr">
              <a:buNone/>
            </a:pPr>
            <a:r>
              <a:rPr lang="en-US" sz="2400" dirty="0" err="1">
                <a:latin typeface="Arial" panose="020B0604020202020204" pitchFamily="34" charset="0"/>
                <a:cs typeface="Arial" panose="020B0604020202020204" pitchFamily="34" charset="0"/>
              </a:rPr>
              <a:t>Thời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thực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thi</a:t>
            </a:r>
            <a:r>
              <a:rPr lang="en-US" sz="2400" dirty="0">
                <a:latin typeface="Arial" panose="020B0604020202020204" pitchFamily="34" charset="0"/>
                <a:cs typeface="Arial" panose="020B0604020202020204" pitchFamily="34" charset="0"/>
              </a:rPr>
              <a:t> = </a:t>
            </a:r>
            <a:r>
              <a:rPr lang="en-US" sz="2400" dirty="0" err="1">
                <a:latin typeface="Arial" panose="020B0604020202020204" pitchFamily="34" charset="0"/>
                <a:cs typeface="Arial" panose="020B0604020202020204" pitchFamily="34" charset="0"/>
              </a:rPr>
              <a:t>Tổng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số</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lệnh</a:t>
            </a:r>
            <a:r>
              <a:rPr lang="en-US" sz="2400" dirty="0">
                <a:latin typeface="Arial" panose="020B0604020202020204" pitchFamily="34" charset="0"/>
                <a:cs typeface="Arial" panose="020B0604020202020204" pitchFamily="34" charset="0"/>
              </a:rPr>
              <a:t> * CPI * Chu </a:t>
            </a:r>
            <a:r>
              <a:rPr lang="en-US" sz="2400" dirty="0" err="1">
                <a:latin typeface="Arial" panose="020B0604020202020204" pitchFamily="34" charset="0"/>
                <a:cs typeface="Arial" panose="020B0604020202020204" pitchFamily="34" charset="0"/>
              </a:rPr>
              <a:t>kỳ</a:t>
            </a:r>
            <a:r>
              <a:rPr lang="en-US" sz="2400" dirty="0">
                <a:latin typeface="Arial" panose="020B0604020202020204" pitchFamily="34" charset="0"/>
                <a:cs typeface="Arial" panose="020B0604020202020204" pitchFamily="34" charset="0"/>
              </a:rPr>
              <a:t> clock</a:t>
            </a:r>
          </a:p>
        </p:txBody>
      </p:sp>
    </p:spTree>
    <p:extLst>
      <p:ext uri="{BB962C8B-B14F-4D97-AF65-F5344CB8AC3E}">
        <p14:creationId xmlns:p14="http://schemas.microsoft.com/office/powerpoint/2010/main" val="298914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vi-VN" dirty="0"/>
              <a:t>Các yếu tố ảnh hưởng tới hiệu suất (tt)</a:t>
            </a:r>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26</a:t>
            </a:fld>
            <a:endParaRPr lang="en-VN" dirty="0"/>
          </a:p>
        </p:txBody>
      </p:sp>
      <p:graphicFrame>
        <p:nvGraphicFramePr>
          <p:cNvPr id="9" name="Table 8">
            <a:extLst>
              <a:ext uri="{FF2B5EF4-FFF2-40B4-BE49-F238E27FC236}">
                <a16:creationId xmlns:a16="http://schemas.microsoft.com/office/drawing/2014/main" id="{68BDF323-2DA9-9A0A-85C7-5658101A8A74}"/>
              </a:ext>
            </a:extLst>
          </p:cNvPr>
          <p:cNvGraphicFramePr>
            <a:graphicFrameLocks noGrp="1"/>
          </p:cNvGraphicFramePr>
          <p:nvPr>
            <p:extLst>
              <p:ext uri="{D42A27DB-BD31-4B8C-83A1-F6EECF244321}">
                <p14:modId xmlns:p14="http://schemas.microsoft.com/office/powerpoint/2010/main" val="2216603749"/>
              </p:ext>
            </p:extLst>
          </p:nvPr>
        </p:nvGraphicFramePr>
        <p:xfrm>
          <a:off x="533400" y="1045751"/>
          <a:ext cx="11362081" cy="5638800"/>
        </p:xfrm>
        <a:graphic>
          <a:graphicData uri="http://schemas.openxmlformats.org/drawingml/2006/table">
            <a:tbl>
              <a:tblPr firstRow="1" bandRow="1">
                <a:tableStyleId>{5940675A-B579-460E-94D1-54222C63F5DA}</a:tableStyleId>
              </a:tblPr>
              <a:tblGrid>
                <a:gridCol w="2036598">
                  <a:extLst>
                    <a:ext uri="{9D8B030D-6E8A-4147-A177-3AD203B41FA5}">
                      <a16:colId xmlns:a16="http://schemas.microsoft.com/office/drawing/2014/main" val="20000"/>
                    </a:ext>
                  </a:extLst>
                </a:gridCol>
                <a:gridCol w="1607841">
                  <a:extLst>
                    <a:ext uri="{9D8B030D-6E8A-4147-A177-3AD203B41FA5}">
                      <a16:colId xmlns:a16="http://schemas.microsoft.com/office/drawing/2014/main" val="20001"/>
                    </a:ext>
                  </a:extLst>
                </a:gridCol>
                <a:gridCol w="7717642">
                  <a:extLst>
                    <a:ext uri="{9D8B030D-6E8A-4147-A177-3AD203B41FA5}">
                      <a16:colId xmlns:a16="http://schemas.microsoft.com/office/drawing/2014/main" val="20002"/>
                    </a:ext>
                  </a:extLst>
                </a:gridCol>
              </a:tblGrid>
              <a:tr h="629018">
                <a:tc>
                  <a:txBody>
                    <a:bodyPr/>
                    <a:lstStyle/>
                    <a:p>
                      <a:pPr algn="ctr"/>
                      <a:r>
                        <a:rPr lang="en-US" sz="2200" dirty="0" err="1">
                          <a:solidFill>
                            <a:schemeClr val="tx1"/>
                          </a:solidFill>
                          <a:latin typeface="Arial" panose="020B0604020202020204" pitchFamily="34" charset="0"/>
                          <a:cs typeface="Arial" panose="020B0604020202020204" pitchFamily="34" charset="0"/>
                        </a:rPr>
                        <a:t>Yếu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phần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cứng</a:t>
                      </a:r>
                      <a:r>
                        <a:rPr lang="en-US" sz="2200" baseline="0" dirty="0">
                          <a:solidFill>
                            <a:schemeClr val="tx1"/>
                          </a:solidFill>
                          <a:latin typeface="Arial" panose="020B0604020202020204" pitchFamily="34" charset="0"/>
                          <a:cs typeface="Arial" panose="020B0604020202020204" pitchFamily="34" charset="0"/>
                        </a:rPr>
                        <a:t>/</a:t>
                      </a:r>
                      <a:r>
                        <a:rPr lang="en-US" sz="2200" baseline="0" dirty="0" err="1">
                          <a:solidFill>
                            <a:schemeClr val="tx1"/>
                          </a:solidFill>
                          <a:latin typeface="Arial" panose="020B0604020202020204" pitchFamily="34" charset="0"/>
                          <a:cs typeface="Arial" panose="020B0604020202020204" pitchFamily="34" charset="0"/>
                        </a:rPr>
                        <a:t>phần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mềm</a:t>
                      </a:r>
                      <a:endParaRPr lang="en-US" sz="2200" dirty="0">
                        <a:solidFill>
                          <a:schemeClr val="tx1"/>
                        </a:solidFill>
                        <a:latin typeface="Arial" panose="020B0604020202020204" pitchFamily="34" charset="0"/>
                        <a:cs typeface="Arial" panose="020B0604020202020204" pitchFamily="34" charset="0"/>
                      </a:endParaRPr>
                    </a:p>
                  </a:txBody>
                  <a:tcPr>
                    <a:solidFill>
                      <a:srgbClr val="00B0F0"/>
                    </a:solidFill>
                  </a:tcPr>
                </a:tc>
                <a:tc>
                  <a:txBody>
                    <a:bodyPr/>
                    <a:lstStyle/>
                    <a:p>
                      <a:pPr algn="ctr"/>
                      <a:r>
                        <a:rPr lang="en-US" sz="2200" dirty="0" err="1">
                          <a:solidFill>
                            <a:schemeClr val="tx1"/>
                          </a:solidFill>
                          <a:latin typeface="Arial" panose="020B0604020202020204" pitchFamily="34" charset="0"/>
                          <a:cs typeface="Arial" panose="020B0604020202020204" pitchFamily="34" charset="0"/>
                        </a:rPr>
                        <a:t>Tác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động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vào</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gì</a:t>
                      </a:r>
                      <a:r>
                        <a:rPr lang="en-US" sz="2200" baseline="0" dirty="0">
                          <a:solidFill>
                            <a:schemeClr val="tx1"/>
                          </a:solidFill>
                          <a:latin typeface="Arial" panose="020B0604020202020204" pitchFamily="34" charset="0"/>
                          <a:cs typeface="Arial" panose="020B0604020202020204" pitchFamily="34" charset="0"/>
                        </a:rPr>
                        <a:t>?</a:t>
                      </a:r>
                      <a:endParaRPr lang="en-US" sz="2200" dirty="0">
                        <a:solidFill>
                          <a:schemeClr val="tx1"/>
                        </a:solidFill>
                        <a:latin typeface="Arial" panose="020B0604020202020204" pitchFamily="34" charset="0"/>
                        <a:cs typeface="Arial" panose="020B0604020202020204" pitchFamily="34" charset="0"/>
                      </a:endParaRPr>
                    </a:p>
                  </a:txBody>
                  <a:tcPr>
                    <a:solidFill>
                      <a:srgbClr val="00B0F0"/>
                    </a:solidFill>
                  </a:tcPr>
                </a:tc>
                <a:tc>
                  <a:txBody>
                    <a:bodyPr/>
                    <a:lstStyle/>
                    <a:p>
                      <a:pPr algn="ctr"/>
                      <a:r>
                        <a:rPr lang="en-US" sz="2200" dirty="0" err="1">
                          <a:solidFill>
                            <a:schemeClr val="tx1"/>
                          </a:solidFill>
                          <a:latin typeface="Arial" panose="020B0604020202020204" pitchFamily="34" charset="0"/>
                          <a:cs typeface="Arial" panose="020B0604020202020204" pitchFamily="34" charset="0"/>
                        </a:rPr>
                        <a:t>Như</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thế</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nào</a:t>
                      </a:r>
                      <a:r>
                        <a:rPr lang="en-US" sz="2200" baseline="0" dirty="0">
                          <a:solidFill>
                            <a:schemeClr val="tx1"/>
                          </a:solidFill>
                          <a:latin typeface="Arial" panose="020B0604020202020204" pitchFamily="34" charset="0"/>
                          <a:cs typeface="Arial" panose="020B0604020202020204" pitchFamily="34" charset="0"/>
                        </a:rPr>
                        <a:t>?</a:t>
                      </a:r>
                      <a:endParaRPr lang="en-US" sz="2200" dirty="0">
                        <a:solidFill>
                          <a:schemeClr val="tx1"/>
                        </a:solidFill>
                        <a:latin typeface="Arial" panose="020B0604020202020204" pitchFamily="34" charset="0"/>
                        <a:cs typeface="Arial" panose="020B0604020202020204" pitchFamily="34" charset="0"/>
                      </a:endParaRPr>
                    </a:p>
                  </a:txBody>
                  <a:tcPr>
                    <a:solidFill>
                      <a:srgbClr val="00B0F0"/>
                    </a:solidFill>
                  </a:tcPr>
                </a:tc>
                <a:extLst>
                  <a:ext uri="{0D108BD9-81ED-4DB2-BD59-A6C34878D82A}">
                    <a16:rowId xmlns:a16="http://schemas.microsoft.com/office/drawing/2014/main" val="10000"/>
                  </a:ext>
                </a:extLst>
              </a:tr>
              <a:tr h="1349918">
                <a:tc>
                  <a:txBody>
                    <a:bodyPr/>
                    <a:lstStyle/>
                    <a:p>
                      <a:r>
                        <a:rPr lang="en-US" sz="2200" dirty="0" err="1">
                          <a:solidFill>
                            <a:schemeClr val="tx1"/>
                          </a:solidFill>
                          <a:latin typeface="Arial" panose="020B0604020202020204" pitchFamily="34" charset="0"/>
                          <a:cs typeface="Arial" panose="020B0604020202020204" pitchFamily="34" charset="0"/>
                        </a:rPr>
                        <a:t>Thuật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toán</a:t>
                      </a:r>
                      <a:endParaRPr lang="en-US" sz="2200" dirty="0">
                        <a:solidFill>
                          <a:schemeClr val="tx1"/>
                        </a:solidFill>
                        <a:latin typeface="Arial" panose="020B0604020202020204" pitchFamily="34" charset="0"/>
                        <a:cs typeface="Arial" panose="020B0604020202020204" pitchFamily="34" charset="0"/>
                      </a:endParaRPr>
                    </a:p>
                  </a:txBody>
                  <a:tcPr/>
                </a:tc>
                <a:tc>
                  <a:txBody>
                    <a:bodyPr/>
                    <a:lstStyle/>
                    <a:p>
                      <a:r>
                        <a:rPr lang="en-US" sz="220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lượng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và</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thể</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cả</a:t>
                      </a:r>
                      <a:r>
                        <a:rPr lang="en-US" sz="2200" baseline="0" dirty="0">
                          <a:solidFill>
                            <a:schemeClr val="tx1"/>
                          </a:solidFill>
                          <a:latin typeface="Arial" panose="020B0604020202020204" pitchFamily="34" charset="0"/>
                          <a:cs typeface="Arial" panose="020B0604020202020204" pitchFamily="34" charset="0"/>
                        </a:rPr>
                        <a:t> CPI</a:t>
                      </a:r>
                      <a:endParaRPr lang="en-US" sz="2200" dirty="0">
                        <a:solidFill>
                          <a:schemeClr val="tx1"/>
                        </a:solidFill>
                        <a:latin typeface="Arial" panose="020B0604020202020204" pitchFamily="34" charset="0"/>
                        <a:cs typeface="Arial" panose="020B0604020202020204" pitchFamily="34" charset="0"/>
                      </a:endParaRPr>
                    </a:p>
                  </a:txBody>
                  <a:tcPr/>
                </a:tc>
                <a:tc>
                  <a:txBody>
                    <a:bodyPr/>
                    <a:lstStyle/>
                    <a:p>
                      <a:pPr algn="just"/>
                      <a:r>
                        <a:rPr lang="en-US" sz="2200" dirty="0" err="1">
                          <a:solidFill>
                            <a:schemeClr val="tx1"/>
                          </a:solidFill>
                          <a:latin typeface="Arial" panose="020B0604020202020204" pitchFamily="34" charset="0"/>
                          <a:cs typeface="Arial" panose="020B0604020202020204" pitchFamily="34" charset="0"/>
                        </a:rPr>
                        <a:t>Thuật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toán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sẽ</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quyết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định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bao</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nhiêu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trong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chương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trình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nguồn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và</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theo</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là</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lượng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mà</a:t>
                      </a:r>
                      <a:r>
                        <a:rPr lang="en-US" sz="2200" baseline="0" dirty="0">
                          <a:solidFill>
                            <a:schemeClr val="tx1"/>
                          </a:solidFill>
                          <a:latin typeface="Arial" panose="020B0604020202020204" pitchFamily="34" charset="0"/>
                          <a:cs typeface="Arial" panose="020B0604020202020204" pitchFamily="34" charset="0"/>
                        </a:rPr>
                        <a:t> CPU </a:t>
                      </a:r>
                      <a:r>
                        <a:rPr lang="en-US" sz="2200" baseline="0" dirty="0" err="1">
                          <a:solidFill>
                            <a:schemeClr val="tx1"/>
                          </a:solidFill>
                          <a:latin typeface="Arial" panose="020B0604020202020204" pitchFamily="34" charset="0"/>
                          <a:cs typeface="Arial" panose="020B0604020202020204" pitchFamily="34" charset="0"/>
                        </a:rPr>
                        <a:t>phải</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thực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thi</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Thuật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toán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cũng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thể</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ảnh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hưởng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đến</a:t>
                      </a:r>
                      <a:r>
                        <a:rPr lang="en-US" sz="2200" baseline="0" dirty="0">
                          <a:solidFill>
                            <a:schemeClr val="tx1"/>
                          </a:solidFill>
                          <a:latin typeface="Arial" panose="020B0604020202020204" pitchFamily="34" charset="0"/>
                          <a:cs typeface="Arial" panose="020B0604020202020204" pitchFamily="34" charset="0"/>
                        </a:rPr>
                        <a:t> CPI </a:t>
                      </a:r>
                      <a:r>
                        <a:rPr lang="en-US" sz="2200" baseline="0" dirty="0" err="1">
                          <a:solidFill>
                            <a:schemeClr val="tx1"/>
                          </a:solidFill>
                          <a:latin typeface="Arial" panose="020B0604020202020204" pitchFamily="34" charset="0"/>
                          <a:cs typeface="Arial" panose="020B0604020202020204" pitchFamily="34" charset="0"/>
                        </a:rPr>
                        <a:t>về</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khía</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cạnh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chạy</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nhanh</a:t>
                      </a:r>
                      <a:r>
                        <a:rPr lang="en-US" sz="2200" baseline="0" dirty="0">
                          <a:solidFill>
                            <a:schemeClr val="tx1"/>
                          </a:solidFill>
                          <a:latin typeface="Arial" panose="020B0604020202020204" pitchFamily="34" charset="0"/>
                          <a:cs typeface="Arial" panose="020B0604020202020204" pitchFamily="34" charset="0"/>
                        </a:rPr>
                        <a:t> hay </a:t>
                      </a:r>
                      <a:r>
                        <a:rPr lang="en-US" sz="2200" baseline="0" dirty="0" err="1">
                          <a:solidFill>
                            <a:schemeClr val="tx1"/>
                          </a:solidFill>
                          <a:latin typeface="Arial" panose="020B0604020202020204" pitchFamily="34" charset="0"/>
                          <a:cs typeface="Arial" panose="020B0604020202020204" pitchFamily="34" charset="0"/>
                        </a:rPr>
                        <a:t>chậm</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ví</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dụ</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nếu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thuật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toán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nhiều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phép</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tính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trên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thực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dấu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chấm</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động</a:t>
                      </a:r>
                      <a:r>
                        <a:rPr lang="en-US" sz="2200" baseline="0" dirty="0">
                          <a:solidFill>
                            <a:schemeClr val="tx1"/>
                          </a:solidFill>
                          <a:latin typeface="Arial" panose="020B0604020202020204" pitchFamily="34" charset="0"/>
                          <a:cs typeface="Arial" panose="020B0604020202020204" pitchFamily="34" charset="0"/>
                        </a:rPr>
                        <a:t> (floating-point), </a:t>
                      </a:r>
                      <a:r>
                        <a:rPr lang="en-US" sz="2200" baseline="0" dirty="0" err="1">
                          <a:solidFill>
                            <a:schemeClr val="tx1"/>
                          </a:solidFill>
                          <a:latin typeface="Arial" panose="020B0604020202020204" pitchFamily="34" charset="0"/>
                          <a:cs typeface="Arial" panose="020B0604020202020204" pitchFamily="34" charset="0"/>
                        </a:rPr>
                        <a:t>khả</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năng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sẽ</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CPI </a:t>
                      </a:r>
                      <a:r>
                        <a:rPr lang="en-US" sz="2200" baseline="0" dirty="0" err="1">
                          <a:solidFill>
                            <a:schemeClr val="tx1"/>
                          </a:solidFill>
                          <a:latin typeface="Arial" panose="020B0604020202020204" pitchFamily="34" charset="0"/>
                          <a:cs typeface="Arial" panose="020B0604020202020204" pitchFamily="34" charset="0"/>
                        </a:rPr>
                        <a:t>cao</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hơn</a:t>
                      </a:r>
                      <a:r>
                        <a:rPr lang="en-US" sz="2200" baseline="0" dirty="0">
                          <a:solidFill>
                            <a:schemeClr val="tx1"/>
                          </a:solidFill>
                          <a:latin typeface="Arial" panose="020B0604020202020204" pitchFamily="34" charset="0"/>
                          <a:cs typeface="Arial" panose="020B0604020202020204" pitchFamily="34" charset="0"/>
                        </a:rPr>
                        <a:t>.</a:t>
                      </a:r>
                      <a:endParaRPr lang="en-US" sz="2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349918">
                <a:tc>
                  <a:txBody>
                    <a:bodyPr/>
                    <a:lstStyle/>
                    <a:p>
                      <a:r>
                        <a:rPr lang="en-US" sz="2200" dirty="0" err="1">
                          <a:solidFill>
                            <a:schemeClr val="tx1"/>
                          </a:solidFill>
                          <a:latin typeface="Arial" panose="020B0604020202020204" pitchFamily="34" charset="0"/>
                          <a:cs typeface="Arial" panose="020B0604020202020204" pitchFamily="34" charset="0"/>
                        </a:rPr>
                        <a:t>Ngôn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ngữ</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lập</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trình</a:t>
                      </a:r>
                      <a:endParaRPr lang="en-US" sz="2200" dirty="0">
                        <a:solidFill>
                          <a:schemeClr val="tx1"/>
                        </a:solidFill>
                        <a:latin typeface="Arial" panose="020B0604020202020204" pitchFamily="34" charset="0"/>
                        <a:cs typeface="Arial" panose="020B0604020202020204" pitchFamily="34" charset="0"/>
                      </a:endParaRPr>
                    </a:p>
                  </a:txBody>
                  <a:tcPr/>
                </a:tc>
                <a:tc>
                  <a:txBody>
                    <a:bodyPr/>
                    <a:lstStyle/>
                    <a:p>
                      <a:r>
                        <a:rPr lang="en-US" sz="220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lượng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CPI</a:t>
                      </a:r>
                      <a:endParaRPr lang="en-US" sz="2200" dirty="0">
                        <a:solidFill>
                          <a:schemeClr val="tx1"/>
                        </a:solidFill>
                        <a:latin typeface="Arial" panose="020B0604020202020204" pitchFamily="34" charset="0"/>
                        <a:cs typeface="Arial" panose="020B0604020202020204" pitchFamily="34" charset="0"/>
                      </a:endParaRPr>
                    </a:p>
                  </a:txBody>
                  <a:tcPr/>
                </a:tc>
                <a:tc>
                  <a:txBody>
                    <a:bodyPr/>
                    <a:lstStyle/>
                    <a:p>
                      <a:pPr algn="just"/>
                      <a:r>
                        <a:rPr lang="en-US" sz="2200" dirty="0" err="1">
                          <a:solidFill>
                            <a:schemeClr val="tx1"/>
                          </a:solidFill>
                          <a:latin typeface="Arial" panose="020B0604020202020204" pitchFamily="34" charset="0"/>
                          <a:cs typeface="Arial" panose="020B0604020202020204" pitchFamily="34" charset="0"/>
                        </a:rPr>
                        <a:t>Ngôn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ngữ</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lập</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trình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chắc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chắn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ảnh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hưởng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đến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lượng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vì</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các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chương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trình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viết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bằng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ngôn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ngữ</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lập</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trình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sẽ</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được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chuyển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thành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cho</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bộ</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xử</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lý</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Ngoài</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ra</a:t>
                      </a:r>
                      <a:r>
                        <a:rPr lang="en-US" sz="2200" baseline="0" dirty="0">
                          <a:solidFill>
                            <a:schemeClr val="tx1"/>
                          </a:solidFill>
                          <a:latin typeface="Arial" panose="020B0604020202020204" pitchFamily="34" charset="0"/>
                          <a:cs typeface="Arial" panose="020B0604020202020204" pitchFamily="34" charset="0"/>
                        </a:rPr>
                        <a:t>, CPI </a:t>
                      </a:r>
                      <a:r>
                        <a:rPr lang="en-US" sz="2200" baseline="0" dirty="0" err="1">
                          <a:solidFill>
                            <a:schemeClr val="tx1"/>
                          </a:solidFill>
                          <a:latin typeface="Arial" panose="020B0604020202020204" pitchFamily="34" charset="0"/>
                          <a:cs typeface="Arial" panose="020B0604020202020204" pitchFamily="34" charset="0"/>
                        </a:rPr>
                        <a:t>cũng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thể</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bị</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ảnh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hưởng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ví</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dụ</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một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ngôn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ngữ</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tính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năng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hỗ</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trợ</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mạnh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về</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trừu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tượng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hóa</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dữ</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liệu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như</a:t>
                      </a:r>
                      <a:r>
                        <a:rPr lang="en-US" sz="2200" baseline="0" dirty="0">
                          <a:solidFill>
                            <a:schemeClr val="tx1"/>
                          </a:solidFill>
                          <a:latin typeface="Arial" panose="020B0604020202020204" pitchFamily="34" charset="0"/>
                          <a:cs typeface="Arial" panose="020B0604020202020204" pitchFamily="34" charset="0"/>
                        </a:rPr>
                        <a:t> Java) </a:t>
                      </a:r>
                      <a:r>
                        <a:rPr lang="en-US" sz="2200" baseline="0" dirty="0" err="1">
                          <a:solidFill>
                            <a:schemeClr val="tx1"/>
                          </a:solidFill>
                          <a:latin typeface="Arial" panose="020B0604020202020204" pitchFamily="34" charset="0"/>
                          <a:cs typeface="Arial" panose="020B0604020202020204" pitchFamily="34" charset="0"/>
                        </a:rPr>
                        <a:t>sẽ</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nhiều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lời</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gọi</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không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trực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tiếp</a:t>
                      </a:r>
                      <a:r>
                        <a:rPr lang="en-US" sz="2200" baseline="0" dirty="0">
                          <a:solidFill>
                            <a:schemeClr val="tx1"/>
                          </a:solidFill>
                          <a:latin typeface="Arial" panose="020B0604020202020204" pitchFamily="34" charset="0"/>
                          <a:cs typeface="Arial" panose="020B0604020202020204" pitchFamily="34" charset="0"/>
                        </a:rPr>
                        <a:t>, do </a:t>
                      </a:r>
                      <a:r>
                        <a:rPr lang="en-US" sz="2200" baseline="0" dirty="0" err="1">
                          <a:solidFill>
                            <a:schemeClr val="tx1"/>
                          </a:solidFill>
                          <a:latin typeface="Arial" panose="020B0604020202020204" pitchFamily="34" charset="0"/>
                          <a:cs typeface="Arial" panose="020B0604020202020204" pitchFamily="34" charset="0"/>
                        </a:rPr>
                        <a:t>đó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sẽ</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sử</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dụng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nhiều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có</a:t>
                      </a:r>
                      <a:r>
                        <a:rPr lang="en-US" sz="2200" baseline="0" dirty="0">
                          <a:solidFill>
                            <a:schemeClr val="tx1"/>
                          </a:solidFill>
                          <a:latin typeface="Arial" panose="020B0604020202020204" pitchFamily="34" charset="0"/>
                          <a:cs typeface="Arial" panose="020B0604020202020204" pitchFamily="34" charset="0"/>
                        </a:rPr>
                        <a:t> CPI </a:t>
                      </a:r>
                      <a:r>
                        <a:rPr lang="en-US" sz="2200" baseline="0" dirty="0" err="1">
                          <a:solidFill>
                            <a:schemeClr val="tx1"/>
                          </a:solidFill>
                          <a:latin typeface="Arial" panose="020B0604020202020204" pitchFamily="34" charset="0"/>
                          <a:cs typeface="Arial" panose="020B0604020202020204" pitchFamily="34" charset="0"/>
                        </a:rPr>
                        <a:t>cao</a:t>
                      </a:r>
                      <a:r>
                        <a:rPr lang="en-US" sz="2200" baseline="0" dirty="0">
                          <a:solidFill>
                            <a:schemeClr val="tx1"/>
                          </a:solidFill>
                          <a:latin typeface="Arial" panose="020B0604020202020204" pitchFamily="34" charset="0"/>
                          <a:cs typeface="Arial" panose="020B0604020202020204" pitchFamily="34" charset="0"/>
                        </a:rPr>
                        <a:t>.</a:t>
                      </a:r>
                      <a:endParaRPr lang="en-US" sz="2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99957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vi-VN" dirty="0"/>
              <a:t>Các yếu tố ảnh hưởng tới hiệu suất (tt)</a:t>
            </a:r>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27</a:t>
            </a:fld>
            <a:endParaRPr lang="en-VN" dirty="0"/>
          </a:p>
        </p:txBody>
      </p:sp>
      <p:graphicFrame>
        <p:nvGraphicFramePr>
          <p:cNvPr id="9" name="Table 8">
            <a:extLst>
              <a:ext uri="{FF2B5EF4-FFF2-40B4-BE49-F238E27FC236}">
                <a16:creationId xmlns:a16="http://schemas.microsoft.com/office/drawing/2014/main" id="{68BDF323-2DA9-9A0A-85C7-5658101A8A74}"/>
              </a:ext>
            </a:extLst>
          </p:cNvPr>
          <p:cNvGraphicFramePr>
            <a:graphicFrameLocks noGrp="1"/>
          </p:cNvGraphicFramePr>
          <p:nvPr>
            <p:extLst>
              <p:ext uri="{D42A27DB-BD31-4B8C-83A1-F6EECF244321}">
                <p14:modId xmlns:p14="http://schemas.microsoft.com/office/powerpoint/2010/main" val="3240814055"/>
              </p:ext>
            </p:extLst>
          </p:nvPr>
        </p:nvGraphicFramePr>
        <p:xfrm>
          <a:off x="685800" y="1045752"/>
          <a:ext cx="11209680" cy="5429868"/>
        </p:xfrm>
        <a:graphic>
          <a:graphicData uri="http://schemas.openxmlformats.org/drawingml/2006/table">
            <a:tbl>
              <a:tblPr firstRow="1" bandRow="1">
                <a:tableStyleId>{5940675A-B579-460E-94D1-54222C63F5DA}</a:tableStyleId>
              </a:tblPr>
              <a:tblGrid>
                <a:gridCol w="2009280">
                  <a:extLst>
                    <a:ext uri="{9D8B030D-6E8A-4147-A177-3AD203B41FA5}">
                      <a16:colId xmlns:a16="http://schemas.microsoft.com/office/drawing/2014/main" val="20000"/>
                    </a:ext>
                  </a:extLst>
                </a:gridCol>
                <a:gridCol w="1586275">
                  <a:extLst>
                    <a:ext uri="{9D8B030D-6E8A-4147-A177-3AD203B41FA5}">
                      <a16:colId xmlns:a16="http://schemas.microsoft.com/office/drawing/2014/main" val="20001"/>
                    </a:ext>
                  </a:extLst>
                </a:gridCol>
                <a:gridCol w="7614125">
                  <a:extLst>
                    <a:ext uri="{9D8B030D-6E8A-4147-A177-3AD203B41FA5}">
                      <a16:colId xmlns:a16="http://schemas.microsoft.com/office/drawing/2014/main" val="20002"/>
                    </a:ext>
                  </a:extLst>
                </a:gridCol>
              </a:tblGrid>
              <a:tr h="1247844">
                <a:tc>
                  <a:txBody>
                    <a:bodyPr/>
                    <a:lstStyle/>
                    <a:p>
                      <a:pPr algn="ctr"/>
                      <a:r>
                        <a:rPr lang="en-US" sz="2200" dirty="0" err="1">
                          <a:solidFill>
                            <a:schemeClr val="tx1"/>
                          </a:solidFill>
                          <a:latin typeface="Arial" panose="020B0604020202020204" pitchFamily="34" charset="0"/>
                          <a:cs typeface="Arial" panose="020B0604020202020204" pitchFamily="34" charset="0"/>
                        </a:rPr>
                        <a:t>Yếu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phần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cứng</a:t>
                      </a:r>
                      <a:r>
                        <a:rPr lang="en-US" sz="2200" baseline="0" dirty="0">
                          <a:solidFill>
                            <a:schemeClr val="tx1"/>
                          </a:solidFill>
                          <a:latin typeface="Arial" panose="020B0604020202020204" pitchFamily="34" charset="0"/>
                          <a:cs typeface="Arial" panose="020B0604020202020204" pitchFamily="34" charset="0"/>
                        </a:rPr>
                        <a:t>/</a:t>
                      </a:r>
                      <a:r>
                        <a:rPr lang="en-US" sz="2200" baseline="0" dirty="0" err="1">
                          <a:solidFill>
                            <a:schemeClr val="tx1"/>
                          </a:solidFill>
                          <a:latin typeface="Arial" panose="020B0604020202020204" pitchFamily="34" charset="0"/>
                          <a:cs typeface="Arial" panose="020B0604020202020204" pitchFamily="34" charset="0"/>
                        </a:rPr>
                        <a:t>phần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mềm</a:t>
                      </a:r>
                      <a:endParaRPr lang="en-US" sz="2200" dirty="0">
                        <a:solidFill>
                          <a:schemeClr val="tx1"/>
                        </a:solidFill>
                        <a:latin typeface="Arial" panose="020B0604020202020204" pitchFamily="34" charset="0"/>
                        <a:cs typeface="Arial" panose="020B0604020202020204" pitchFamily="34" charset="0"/>
                      </a:endParaRPr>
                    </a:p>
                  </a:txBody>
                  <a:tcPr>
                    <a:solidFill>
                      <a:srgbClr val="00B0F0"/>
                    </a:solidFill>
                  </a:tcPr>
                </a:tc>
                <a:tc>
                  <a:txBody>
                    <a:bodyPr/>
                    <a:lstStyle/>
                    <a:p>
                      <a:pPr algn="ctr"/>
                      <a:r>
                        <a:rPr lang="en-US" sz="2200" dirty="0" err="1">
                          <a:solidFill>
                            <a:schemeClr val="tx1"/>
                          </a:solidFill>
                          <a:latin typeface="Arial" panose="020B0604020202020204" pitchFamily="34" charset="0"/>
                          <a:cs typeface="Arial" panose="020B0604020202020204" pitchFamily="34" charset="0"/>
                        </a:rPr>
                        <a:t>Tác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động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vào</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gì</a:t>
                      </a:r>
                      <a:r>
                        <a:rPr lang="en-US" sz="2200" baseline="0" dirty="0">
                          <a:solidFill>
                            <a:schemeClr val="tx1"/>
                          </a:solidFill>
                          <a:latin typeface="Arial" panose="020B0604020202020204" pitchFamily="34" charset="0"/>
                          <a:cs typeface="Arial" panose="020B0604020202020204" pitchFamily="34" charset="0"/>
                        </a:rPr>
                        <a:t>?</a:t>
                      </a:r>
                      <a:endParaRPr lang="en-US" sz="2200" dirty="0">
                        <a:solidFill>
                          <a:schemeClr val="tx1"/>
                        </a:solidFill>
                        <a:latin typeface="Arial" panose="020B0604020202020204" pitchFamily="34" charset="0"/>
                        <a:cs typeface="Arial" panose="020B0604020202020204" pitchFamily="34" charset="0"/>
                      </a:endParaRPr>
                    </a:p>
                  </a:txBody>
                  <a:tcPr>
                    <a:solidFill>
                      <a:srgbClr val="00B0F0"/>
                    </a:solidFill>
                  </a:tcPr>
                </a:tc>
                <a:tc>
                  <a:txBody>
                    <a:bodyPr/>
                    <a:lstStyle/>
                    <a:p>
                      <a:pPr algn="ctr"/>
                      <a:r>
                        <a:rPr lang="en-US" sz="2200" dirty="0" err="1">
                          <a:solidFill>
                            <a:schemeClr val="tx1"/>
                          </a:solidFill>
                          <a:latin typeface="Arial" panose="020B0604020202020204" pitchFamily="34" charset="0"/>
                          <a:cs typeface="Arial" panose="020B0604020202020204" pitchFamily="34" charset="0"/>
                        </a:rPr>
                        <a:t>Như</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thế</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nào</a:t>
                      </a:r>
                      <a:r>
                        <a:rPr lang="en-US" sz="2200" baseline="0" dirty="0">
                          <a:solidFill>
                            <a:schemeClr val="tx1"/>
                          </a:solidFill>
                          <a:latin typeface="Arial" panose="020B0604020202020204" pitchFamily="34" charset="0"/>
                          <a:cs typeface="Arial" panose="020B0604020202020204" pitchFamily="34" charset="0"/>
                        </a:rPr>
                        <a:t>?</a:t>
                      </a:r>
                      <a:endParaRPr lang="en-US" sz="2200" dirty="0">
                        <a:solidFill>
                          <a:schemeClr val="tx1"/>
                        </a:solidFill>
                        <a:latin typeface="Arial" panose="020B0604020202020204" pitchFamily="34" charset="0"/>
                        <a:cs typeface="Arial" panose="020B0604020202020204" pitchFamily="34" charset="0"/>
                      </a:endParaRPr>
                    </a:p>
                  </a:txBody>
                  <a:tcPr>
                    <a:solidFill>
                      <a:srgbClr val="00B0F0"/>
                    </a:solidFill>
                  </a:tcPr>
                </a:tc>
                <a:extLst>
                  <a:ext uri="{0D108BD9-81ED-4DB2-BD59-A6C34878D82A}">
                    <a16:rowId xmlns:a16="http://schemas.microsoft.com/office/drawing/2014/main" val="10000"/>
                  </a:ext>
                </a:extLst>
              </a:tr>
              <a:tr h="2010416">
                <a:tc>
                  <a:txBody>
                    <a:bodyPr/>
                    <a:lstStyle/>
                    <a:p>
                      <a:r>
                        <a:rPr lang="en-US" sz="2200" dirty="0" err="1">
                          <a:solidFill>
                            <a:schemeClr val="tx1"/>
                          </a:solidFill>
                          <a:latin typeface="Arial" panose="020B0604020202020204" pitchFamily="34" charset="0"/>
                          <a:cs typeface="Arial" panose="020B0604020202020204" pitchFamily="34" charset="0"/>
                        </a:rPr>
                        <a:t>Trình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biên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dịch</a:t>
                      </a:r>
                      <a:endParaRPr lang="en-US" sz="2200" dirty="0">
                        <a:solidFill>
                          <a:schemeClr val="tx1"/>
                        </a:solidFill>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kern="1200" dirty="0" err="1">
                          <a:solidFill>
                            <a:schemeClr val="tx1"/>
                          </a:solidFill>
                          <a:latin typeface="Arial" panose="020B0604020202020204" pitchFamily="34" charset="0"/>
                          <a:ea typeface="+mn-ea"/>
                          <a:cs typeface="Arial" panose="020B0604020202020204" pitchFamily="34" charset="0"/>
                        </a:rPr>
                        <a:t>Số</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lượng</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lệnh</a:t>
                      </a:r>
                      <a:r>
                        <a:rPr lang="en-US" sz="2200" kern="1200" baseline="0" dirty="0">
                          <a:solidFill>
                            <a:schemeClr val="tx1"/>
                          </a:solidFill>
                          <a:latin typeface="Arial" panose="020B0604020202020204" pitchFamily="34" charset="0"/>
                          <a:ea typeface="+mn-ea"/>
                          <a:cs typeface="Arial" panose="020B0604020202020204" pitchFamily="34" charset="0"/>
                        </a:rPr>
                        <a:t>, CPI</a:t>
                      </a:r>
                      <a:endParaRPr lang="en-US" sz="2200" kern="1200" dirty="0">
                        <a:solidFill>
                          <a:schemeClr val="tx1"/>
                        </a:solidFill>
                        <a:latin typeface="Arial" panose="020B0604020202020204" pitchFamily="34" charset="0"/>
                        <a:ea typeface="+mn-ea"/>
                        <a:cs typeface="Arial" panose="020B0604020202020204" pitchFamily="34" charset="0"/>
                      </a:endParaRPr>
                    </a:p>
                  </a:txBody>
                  <a:tcPr/>
                </a:tc>
                <a:tc>
                  <a:txBody>
                    <a:bodyPr/>
                    <a:lstStyle/>
                    <a:p>
                      <a:pPr algn="just"/>
                      <a:r>
                        <a:rPr lang="en-US" sz="2200" dirty="0" err="1">
                          <a:solidFill>
                            <a:schemeClr val="tx1"/>
                          </a:solidFill>
                          <a:latin typeface="Arial" panose="020B0604020202020204" pitchFamily="34" charset="0"/>
                          <a:cs typeface="Arial" panose="020B0604020202020204" pitchFamily="34" charset="0"/>
                        </a:rPr>
                        <a:t>Vì</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trình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biên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dịch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thực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hiện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việc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chuyển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các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từ</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ngôn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ngữ</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cấp</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cao</a:t>
                      </a:r>
                      <a:r>
                        <a:rPr lang="en-US" sz="2200" baseline="0" dirty="0">
                          <a:solidFill>
                            <a:schemeClr val="tx1"/>
                          </a:solidFill>
                          <a:latin typeface="Arial" panose="020B0604020202020204" pitchFamily="34" charset="0"/>
                          <a:cs typeface="Arial" panose="020B0604020202020204" pitchFamily="34" charset="0"/>
                        </a:rPr>
                        <a:t> sang </a:t>
                      </a:r>
                      <a:r>
                        <a:rPr lang="en-US" sz="2200" baseline="0" dirty="0" err="1">
                          <a:solidFill>
                            <a:schemeClr val="tx1"/>
                          </a:solidFill>
                          <a:latin typeface="Arial" panose="020B0604020202020204" pitchFamily="34" charset="0"/>
                          <a:cs typeface="Arial" panose="020B0604020202020204" pitchFamily="34" charset="0"/>
                        </a:rPr>
                        <a:t>ngôn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ngữ</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máy</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nên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chắc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chắn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tác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động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đến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lượng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và</a:t>
                      </a:r>
                      <a:r>
                        <a:rPr lang="en-US" sz="2200" baseline="0" dirty="0">
                          <a:solidFill>
                            <a:schemeClr val="tx1"/>
                          </a:solidFill>
                          <a:latin typeface="Arial" panose="020B0604020202020204" pitchFamily="34" charset="0"/>
                          <a:cs typeface="Arial" panose="020B0604020202020204" pitchFamily="34" charset="0"/>
                        </a:rPr>
                        <a:t> CPI. </a:t>
                      </a:r>
                      <a:r>
                        <a:rPr lang="en-US" sz="2200" baseline="0" dirty="0" err="1">
                          <a:solidFill>
                            <a:schemeClr val="tx1"/>
                          </a:solidFill>
                          <a:latin typeface="Arial" panose="020B0604020202020204" pitchFamily="34" charset="0"/>
                          <a:cs typeface="Arial" panose="020B0604020202020204" pitchFamily="34" charset="0"/>
                        </a:rPr>
                        <a:t>Vai</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trò</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của</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trình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biên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dịch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rất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phức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tạp</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và</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ảnh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hưởng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đến</a:t>
                      </a:r>
                      <a:r>
                        <a:rPr lang="en-US" sz="2200" baseline="0" dirty="0">
                          <a:solidFill>
                            <a:schemeClr val="tx1"/>
                          </a:solidFill>
                          <a:latin typeface="Arial" panose="020B0604020202020204" pitchFamily="34" charset="0"/>
                          <a:cs typeface="Arial" panose="020B0604020202020204" pitchFamily="34" charset="0"/>
                        </a:rPr>
                        <a:t> CPI </a:t>
                      </a:r>
                      <a:r>
                        <a:rPr lang="en-US" sz="2200" baseline="0" dirty="0" err="1">
                          <a:solidFill>
                            <a:schemeClr val="tx1"/>
                          </a:solidFill>
                          <a:latin typeface="Arial" panose="020B0604020202020204" pitchFamily="34" charset="0"/>
                          <a:cs typeface="Arial" panose="020B0604020202020204" pitchFamily="34" charset="0"/>
                        </a:rPr>
                        <a:t>theo</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một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cách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phức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tạp</a:t>
                      </a:r>
                      <a:r>
                        <a:rPr lang="en-US" sz="2200" baseline="0" dirty="0">
                          <a:solidFill>
                            <a:schemeClr val="tx1"/>
                          </a:solidFill>
                          <a:latin typeface="Arial" panose="020B0604020202020204" pitchFamily="34" charset="0"/>
                          <a:cs typeface="Arial" panose="020B0604020202020204" pitchFamily="34" charset="0"/>
                        </a:rPr>
                        <a:t>.</a:t>
                      </a:r>
                      <a:endParaRPr lang="en-US" sz="2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2171608">
                <a:tc>
                  <a:txBody>
                    <a:bodyPr/>
                    <a:lstStyle/>
                    <a:p>
                      <a:r>
                        <a:rPr lang="en-US" sz="2200" dirty="0" err="1">
                          <a:solidFill>
                            <a:schemeClr val="tx1"/>
                          </a:solidFill>
                          <a:latin typeface="Arial" panose="020B0604020202020204" pitchFamily="34" charset="0"/>
                          <a:cs typeface="Arial" panose="020B0604020202020204" pitchFamily="34" charset="0"/>
                        </a:rPr>
                        <a:t>Kiến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trúc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tập</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endParaRPr lang="en-US" sz="2200" dirty="0">
                        <a:solidFill>
                          <a:schemeClr val="tx1"/>
                        </a:solidFill>
                        <a:latin typeface="Arial" panose="020B0604020202020204" pitchFamily="34" charset="0"/>
                        <a:cs typeface="Arial" panose="020B0604020202020204" pitchFamily="34" charset="0"/>
                      </a:endParaRPr>
                    </a:p>
                  </a:txBody>
                  <a:tcPr/>
                </a:tc>
                <a:tc>
                  <a:txBody>
                    <a:bodyPr/>
                    <a:lstStyle/>
                    <a:p>
                      <a:r>
                        <a:rPr lang="en-US" sz="220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lượng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tần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xung</a:t>
                      </a:r>
                      <a:r>
                        <a:rPr lang="en-US" sz="2200" baseline="0" dirty="0">
                          <a:solidFill>
                            <a:schemeClr val="tx1"/>
                          </a:solidFill>
                          <a:latin typeface="Arial" panose="020B0604020202020204" pitchFamily="34" charset="0"/>
                          <a:cs typeface="Arial" panose="020B0604020202020204" pitchFamily="34" charset="0"/>
                        </a:rPr>
                        <a:t> clock, CPI</a:t>
                      </a:r>
                      <a:endParaRPr lang="en-US" sz="2200" dirty="0">
                        <a:solidFill>
                          <a:schemeClr val="tx1"/>
                        </a:solidFill>
                        <a:latin typeface="Arial" panose="020B0604020202020204" pitchFamily="34" charset="0"/>
                        <a:cs typeface="Arial" panose="020B0604020202020204" pitchFamily="34" charset="0"/>
                      </a:endParaRPr>
                    </a:p>
                  </a:txBody>
                  <a:tcPr/>
                </a:tc>
                <a:tc>
                  <a:txBody>
                    <a:bodyPr/>
                    <a:lstStyle/>
                    <a:p>
                      <a:r>
                        <a:rPr lang="en-US" sz="2200" dirty="0" err="1">
                          <a:solidFill>
                            <a:schemeClr val="tx1"/>
                          </a:solidFill>
                          <a:latin typeface="Arial" panose="020B0604020202020204" pitchFamily="34" charset="0"/>
                          <a:cs typeface="Arial" panose="020B0604020202020204" pitchFamily="34" charset="0"/>
                        </a:rPr>
                        <a:t>Kiến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trúc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tập</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tác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động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đến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cả</a:t>
                      </a:r>
                      <a:r>
                        <a:rPr lang="en-US" sz="2200" baseline="0" dirty="0">
                          <a:solidFill>
                            <a:schemeClr val="tx1"/>
                          </a:solidFill>
                          <a:latin typeface="Arial" panose="020B0604020202020204" pitchFamily="34" charset="0"/>
                          <a:cs typeface="Arial" panose="020B0604020202020204" pitchFamily="34" charset="0"/>
                        </a:rPr>
                        <a:t> 3 </a:t>
                      </a:r>
                      <a:r>
                        <a:rPr lang="en-US" sz="2200" baseline="0" dirty="0" err="1">
                          <a:solidFill>
                            <a:schemeClr val="tx1"/>
                          </a:solidFill>
                          <a:latin typeface="Arial" panose="020B0604020202020204" pitchFamily="34" charset="0"/>
                          <a:cs typeface="Arial" panose="020B0604020202020204" pitchFamily="34" charset="0"/>
                        </a:rPr>
                        <a:t>yếu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của</a:t>
                      </a:r>
                      <a:r>
                        <a:rPr lang="en-US" sz="2200" baseline="0" dirty="0">
                          <a:solidFill>
                            <a:schemeClr val="tx1"/>
                          </a:solidFill>
                          <a:latin typeface="Arial" panose="020B0604020202020204" pitchFamily="34" charset="0"/>
                          <a:cs typeface="Arial" panose="020B0604020202020204" pitchFamily="34" charset="0"/>
                        </a:rPr>
                        <a:t> hiệu </a:t>
                      </a:r>
                      <a:r>
                        <a:rPr lang="en-US" sz="2200" baseline="0" dirty="0" err="1">
                          <a:solidFill>
                            <a:schemeClr val="tx1"/>
                          </a:solidFill>
                          <a:latin typeface="Arial" panose="020B0604020202020204" pitchFamily="34" charset="0"/>
                          <a:cs typeface="Arial" panose="020B0604020202020204" pitchFamily="34" charset="0"/>
                        </a:rPr>
                        <a:t>năng</a:t>
                      </a:r>
                      <a:r>
                        <a:rPr lang="en-US" sz="2200" baseline="0" dirty="0">
                          <a:solidFill>
                            <a:schemeClr val="tx1"/>
                          </a:solidFill>
                          <a:latin typeface="Arial" panose="020B0604020202020204" pitchFamily="34" charset="0"/>
                          <a:cs typeface="Arial" panose="020B0604020202020204" pitchFamily="34" charset="0"/>
                        </a:rPr>
                        <a:t> CPU, </a:t>
                      </a:r>
                      <a:r>
                        <a:rPr lang="en-US" sz="2200" baseline="0" dirty="0" err="1">
                          <a:solidFill>
                            <a:schemeClr val="tx1"/>
                          </a:solidFill>
                          <a:latin typeface="Arial" panose="020B0604020202020204" pitchFamily="34" charset="0"/>
                          <a:cs typeface="Arial" panose="020B0604020202020204" pitchFamily="34" charset="0"/>
                        </a:rPr>
                        <a:t>v</a:t>
                      </a:r>
                      <a:r>
                        <a:rPr lang="en-US" sz="2200" dirty="0" err="1">
                          <a:solidFill>
                            <a:schemeClr val="tx1"/>
                          </a:solidFill>
                          <a:latin typeface="Arial" panose="020B0604020202020204" pitchFamily="34" charset="0"/>
                          <a:cs typeface="Arial" panose="020B0604020202020204" pitchFamily="34" charset="0"/>
                        </a:rPr>
                        <a:t>ì</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quyết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định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các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cần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để</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thực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hiện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một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chức</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năng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lượng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chu</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kỳ</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cho</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một</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lệnh</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và</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tần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số</a:t>
                      </a:r>
                      <a:r>
                        <a:rPr lang="en-US" sz="2200" baseline="0" dirty="0">
                          <a:solidFill>
                            <a:schemeClr val="tx1"/>
                          </a:solidFill>
                          <a:latin typeface="Arial" panose="020B0604020202020204" pitchFamily="34" charset="0"/>
                          <a:cs typeface="Arial" panose="020B0604020202020204" pitchFamily="34" charset="0"/>
                        </a:rPr>
                        <a:t> clock </a:t>
                      </a:r>
                      <a:r>
                        <a:rPr lang="en-US" sz="2200" baseline="0" dirty="0" err="1">
                          <a:solidFill>
                            <a:schemeClr val="tx1"/>
                          </a:solidFill>
                          <a:latin typeface="Arial" panose="020B0604020202020204" pitchFamily="34" charset="0"/>
                          <a:cs typeface="Arial" panose="020B0604020202020204" pitchFamily="34" charset="0"/>
                        </a:rPr>
                        <a:t>tổng</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quan</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của</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bộ</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xử</a:t>
                      </a:r>
                      <a:r>
                        <a:rPr lang="en-US" sz="2200" baseline="0" dirty="0">
                          <a:solidFill>
                            <a:schemeClr val="tx1"/>
                          </a:solidFill>
                          <a:latin typeface="Arial" panose="020B0604020202020204" pitchFamily="34" charset="0"/>
                          <a:cs typeface="Arial" panose="020B0604020202020204" pitchFamily="34" charset="0"/>
                        </a:rPr>
                        <a:t> </a:t>
                      </a:r>
                      <a:r>
                        <a:rPr lang="en-US" sz="2200" baseline="0" dirty="0" err="1">
                          <a:solidFill>
                            <a:schemeClr val="tx1"/>
                          </a:solidFill>
                          <a:latin typeface="Arial" panose="020B0604020202020204" pitchFamily="34" charset="0"/>
                          <a:cs typeface="Arial" panose="020B0604020202020204" pitchFamily="34" charset="0"/>
                        </a:rPr>
                        <a:t>lý</a:t>
                      </a:r>
                      <a:r>
                        <a:rPr lang="en-US" sz="2200" baseline="0" dirty="0">
                          <a:solidFill>
                            <a:schemeClr val="tx1"/>
                          </a:solidFill>
                          <a:latin typeface="Arial" panose="020B0604020202020204" pitchFamily="34" charset="0"/>
                          <a:cs typeface="Arial" panose="020B0604020202020204" pitchFamily="34" charset="0"/>
                        </a:rPr>
                        <a:t>.</a:t>
                      </a:r>
                      <a:endParaRPr lang="en-US" sz="2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21866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vi-VN" dirty="0"/>
              <a:t>Các kỹ thuật nâng cao hiệu suất – Giảm thời gian thực thi</a:t>
            </a:r>
            <a:endParaRPr lang="en-US" dirty="0"/>
          </a:p>
        </p:txBody>
      </p:sp>
      <p:sp>
        <p:nvSpPr>
          <p:cNvPr id="6" name="Content Placeholder 5">
            <a:extLst>
              <a:ext uri="{FF2B5EF4-FFF2-40B4-BE49-F238E27FC236}">
                <a16:creationId xmlns:a16="http://schemas.microsoft.com/office/drawing/2014/main" id="{DDB64DCB-381E-FBEC-2100-2B3EAA7BCAEC}"/>
              </a:ext>
            </a:extLst>
          </p:cNvPr>
          <p:cNvSpPr>
            <a:spLocks noGrp="1"/>
          </p:cNvSpPr>
          <p:nvPr>
            <p:ph idx="1"/>
          </p:nvPr>
        </p:nvSpPr>
        <p:spPr/>
        <p:txBody>
          <a:bodyPr>
            <a:normAutofit fontScale="85000" lnSpcReduction="20000"/>
          </a:bodyPr>
          <a:lstStyle/>
          <a:p>
            <a:r>
              <a:rPr lang="en-US" dirty="0" err="1"/>
              <a:t>Tăng</a:t>
            </a:r>
            <a:r>
              <a:rPr lang="en-US" dirty="0"/>
              <a:t> </a:t>
            </a:r>
            <a:r>
              <a:rPr lang="en-US" dirty="0" err="1"/>
              <a:t>tần</a:t>
            </a:r>
            <a:r>
              <a:rPr lang="en-US" dirty="0"/>
              <a:t> </a:t>
            </a:r>
            <a:r>
              <a:rPr lang="en-US" dirty="0" err="1"/>
              <a:t>số</a:t>
            </a:r>
            <a:r>
              <a:rPr lang="en-US" dirty="0"/>
              <a:t> clock (</a:t>
            </a:r>
            <a:r>
              <a:rPr lang="en-US" dirty="0" err="1"/>
              <a:t>Bị</a:t>
            </a:r>
            <a:r>
              <a:rPr lang="en-US" dirty="0"/>
              <a:t> </a:t>
            </a:r>
            <a:r>
              <a:rPr lang="en-US" dirty="0" err="1"/>
              <a:t>giới</a:t>
            </a:r>
            <a:r>
              <a:rPr lang="en-US" dirty="0"/>
              <a:t> </a:t>
            </a:r>
            <a:r>
              <a:rPr lang="en-US" dirty="0" err="1"/>
              <a:t>hạn</a:t>
            </a:r>
            <a:r>
              <a:rPr lang="en-US" dirty="0"/>
              <a:t> </a:t>
            </a:r>
            <a:r>
              <a:rPr lang="en-US" dirty="0" err="1"/>
              <a:t>bởi</a:t>
            </a:r>
            <a:r>
              <a:rPr lang="en-US" dirty="0"/>
              <a:t> </a:t>
            </a:r>
            <a:r>
              <a:rPr lang="en-US" dirty="0" err="1"/>
              <a:t>phần</a:t>
            </a:r>
            <a:r>
              <a:rPr lang="en-US" dirty="0"/>
              <a:t> </a:t>
            </a:r>
            <a:r>
              <a:rPr lang="en-US" dirty="0" err="1"/>
              <a:t>cứng</a:t>
            </a:r>
            <a:r>
              <a:rPr lang="en-US" dirty="0"/>
              <a:t>)</a:t>
            </a:r>
          </a:p>
          <a:p>
            <a:pPr algn="just"/>
            <a:r>
              <a:rPr lang="vi-VN" dirty="0"/>
              <a:t>Pipeline</a:t>
            </a:r>
            <a:r>
              <a:rPr lang="en-US" dirty="0"/>
              <a:t>: </a:t>
            </a:r>
            <a:r>
              <a:rPr lang="en-US" dirty="0" err="1"/>
              <a:t>Thực</a:t>
            </a:r>
            <a:r>
              <a:rPr lang="en-US" dirty="0"/>
              <a:t> </a:t>
            </a:r>
            <a:r>
              <a:rPr lang="en-US" dirty="0" err="1"/>
              <a:t>thi</a:t>
            </a:r>
            <a:r>
              <a:rPr lang="en-US" dirty="0"/>
              <a:t> </a:t>
            </a:r>
            <a:r>
              <a:rPr lang="en-US" dirty="0" err="1"/>
              <a:t>đồng</a:t>
            </a:r>
            <a:r>
              <a:rPr lang="en-US" dirty="0"/>
              <a:t> </a:t>
            </a:r>
            <a:r>
              <a:rPr lang="en-US" dirty="0" err="1"/>
              <a:t>thời</a:t>
            </a:r>
            <a:r>
              <a:rPr lang="en-US" dirty="0"/>
              <a:t> </a:t>
            </a:r>
            <a:r>
              <a:rPr lang="en-US" b="1" dirty="0" err="1"/>
              <a:t>nhiều</a:t>
            </a:r>
            <a:r>
              <a:rPr lang="en-US" b="1" dirty="0"/>
              <a:t> </a:t>
            </a:r>
            <a:r>
              <a:rPr lang="en-US" b="1" dirty="0" err="1"/>
              <a:t>lệnh</a:t>
            </a:r>
            <a:r>
              <a:rPr lang="en-US" b="1" dirty="0"/>
              <a:t> </a:t>
            </a:r>
            <a:r>
              <a:rPr lang="en-US" dirty="0" err="1"/>
              <a:t>bằng</a:t>
            </a:r>
            <a:r>
              <a:rPr lang="en-US" dirty="0"/>
              <a:t> </a:t>
            </a:r>
            <a:r>
              <a:rPr lang="en-US" dirty="0" err="1"/>
              <a:t>cách</a:t>
            </a:r>
            <a:r>
              <a:rPr lang="en-US" dirty="0"/>
              <a:t> chia chu </a:t>
            </a:r>
            <a:r>
              <a:rPr lang="en-US" dirty="0" err="1"/>
              <a:t>kỳ</a:t>
            </a:r>
            <a:r>
              <a:rPr lang="en-US" dirty="0"/>
              <a:t> </a:t>
            </a:r>
            <a:r>
              <a:rPr lang="en-US" dirty="0" err="1"/>
              <a:t>thực</a:t>
            </a:r>
            <a:r>
              <a:rPr lang="en-US" dirty="0"/>
              <a:t> </a:t>
            </a:r>
            <a:r>
              <a:rPr lang="en-US" dirty="0" err="1"/>
              <a:t>thi</a:t>
            </a:r>
            <a:r>
              <a:rPr lang="en-US" dirty="0"/>
              <a:t> </a:t>
            </a:r>
            <a:r>
              <a:rPr lang="en-US" dirty="0" err="1"/>
              <a:t>lệnh</a:t>
            </a:r>
            <a:r>
              <a:rPr lang="en-US" dirty="0"/>
              <a:t> </a:t>
            </a:r>
            <a:r>
              <a:rPr lang="en-US" dirty="0" err="1"/>
              <a:t>thành</a:t>
            </a:r>
            <a:r>
              <a:rPr lang="en-US" dirty="0"/>
              <a:t> </a:t>
            </a:r>
            <a:r>
              <a:rPr lang="en-US" dirty="0" err="1"/>
              <a:t>các</a:t>
            </a:r>
            <a:r>
              <a:rPr lang="en-US" dirty="0"/>
              <a:t> stage. </a:t>
            </a:r>
            <a:r>
              <a:rPr lang="en-US" dirty="0" err="1"/>
              <a:t>Tại</a:t>
            </a:r>
            <a:r>
              <a:rPr lang="en-US" dirty="0"/>
              <a:t> </a:t>
            </a:r>
            <a:r>
              <a:rPr lang="en-US" dirty="0" err="1"/>
              <a:t>một</a:t>
            </a:r>
            <a:r>
              <a:rPr lang="en-US" dirty="0"/>
              <a:t> </a:t>
            </a:r>
            <a:r>
              <a:rPr lang="en-US" dirty="0" err="1"/>
              <a:t>thời</a:t>
            </a:r>
            <a:r>
              <a:rPr lang="en-US" dirty="0"/>
              <a:t> </a:t>
            </a:r>
            <a:r>
              <a:rPr lang="en-US" dirty="0" err="1"/>
              <a:t>điểm</a:t>
            </a:r>
            <a:r>
              <a:rPr lang="en-US" dirty="0"/>
              <a:t>, </a:t>
            </a:r>
            <a:r>
              <a:rPr lang="en-US" dirty="0" err="1"/>
              <a:t>một</a:t>
            </a:r>
            <a:r>
              <a:rPr lang="en-US" dirty="0"/>
              <a:t> </a:t>
            </a:r>
            <a:r>
              <a:rPr lang="en-US" dirty="0" err="1"/>
              <a:t>lệnh</a:t>
            </a:r>
            <a:r>
              <a:rPr lang="en-US" dirty="0"/>
              <a:t> </a:t>
            </a:r>
            <a:r>
              <a:rPr lang="en-US" dirty="0" err="1"/>
              <a:t>chỉ</a:t>
            </a:r>
            <a:r>
              <a:rPr lang="en-US" dirty="0"/>
              <a:t> </a:t>
            </a:r>
            <a:r>
              <a:rPr lang="en-US" dirty="0" err="1"/>
              <a:t>được</a:t>
            </a:r>
            <a:r>
              <a:rPr lang="en-US" dirty="0"/>
              <a:t> </a:t>
            </a:r>
            <a:r>
              <a:rPr lang="en-US" dirty="0" err="1"/>
              <a:t>thực</a:t>
            </a:r>
            <a:r>
              <a:rPr lang="en-US" dirty="0"/>
              <a:t> </a:t>
            </a:r>
            <a:r>
              <a:rPr lang="en-US" dirty="0" err="1"/>
              <a:t>thi</a:t>
            </a:r>
            <a:r>
              <a:rPr lang="en-US" dirty="0"/>
              <a:t> </a:t>
            </a:r>
            <a:r>
              <a:rPr lang="en-US" dirty="0" err="1"/>
              <a:t>một</a:t>
            </a:r>
            <a:r>
              <a:rPr lang="en-US" dirty="0"/>
              <a:t> stage</a:t>
            </a:r>
          </a:p>
          <a:p>
            <a:r>
              <a:rPr lang="en-US" dirty="0" err="1"/>
              <a:t>Tiên</a:t>
            </a:r>
            <a:r>
              <a:rPr lang="en-US" dirty="0"/>
              <a:t> </a:t>
            </a:r>
            <a:r>
              <a:rPr lang="en-US" dirty="0" err="1"/>
              <a:t>đoán</a:t>
            </a:r>
            <a:r>
              <a:rPr lang="en-US" dirty="0"/>
              <a:t>: </a:t>
            </a:r>
            <a:r>
              <a:rPr lang="en-US" dirty="0" err="1"/>
              <a:t>Dự</a:t>
            </a:r>
            <a:r>
              <a:rPr lang="en-US" dirty="0"/>
              <a:t> </a:t>
            </a:r>
            <a:r>
              <a:rPr lang="en-US" dirty="0" err="1"/>
              <a:t>đoán</a:t>
            </a:r>
            <a:r>
              <a:rPr lang="en-US" dirty="0"/>
              <a:t> </a:t>
            </a:r>
            <a:r>
              <a:rPr lang="en-US" dirty="0" err="1"/>
              <a:t>việc</a:t>
            </a:r>
            <a:r>
              <a:rPr lang="en-US" dirty="0"/>
              <a:t> </a:t>
            </a:r>
            <a:r>
              <a:rPr lang="en-US" dirty="0" err="1"/>
              <a:t>nhảy</a:t>
            </a:r>
            <a:r>
              <a:rPr lang="en-US" dirty="0"/>
              <a:t> (</a:t>
            </a:r>
            <a:r>
              <a:rPr lang="en-US" dirty="0" err="1"/>
              <a:t>các</a:t>
            </a:r>
            <a:r>
              <a:rPr lang="en-US" dirty="0"/>
              <a:t> </a:t>
            </a:r>
            <a:r>
              <a:rPr lang="en-US" dirty="0" err="1"/>
              <a:t>lệnh</a:t>
            </a:r>
            <a:r>
              <a:rPr lang="en-US" dirty="0"/>
              <a:t> </a:t>
            </a:r>
            <a:r>
              <a:rPr lang="en-US" dirty="0" err="1"/>
              <a:t>nhảy</a:t>
            </a:r>
            <a:r>
              <a:rPr lang="en-US" dirty="0"/>
              <a:t>) </a:t>
            </a:r>
            <a:r>
              <a:rPr lang="en-US" dirty="0" err="1"/>
              <a:t>có</a:t>
            </a:r>
            <a:r>
              <a:rPr lang="en-US" dirty="0"/>
              <a:t> </a:t>
            </a:r>
            <a:r>
              <a:rPr lang="en-US" dirty="0" err="1"/>
              <a:t>xảy</a:t>
            </a:r>
            <a:r>
              <a:rPr lang="en-US" dirty="0"/>
              <a:t> </a:t>
            </a:r>
            <a:r>
              <a:rPr lang="en-US" dirty="0" err="1"/>
              <a:t>ra</a:t>
            </a:r>
            <a:r>
              <a:rPr lang="en-US" dirty="0"/>
              <a:t> hay </a:t>
            </a:r>
            <a:r>
              <a:rPr lang="en-US" dirty="0" err="1"/>
              <a:t>không</a:t>
            </a:r>
            <a:endParaRPr lang="en-US" dirty="0"/>
          </a:p>
          <a:p>
            <a:r>
              <a:rPr lang="vi-VN" dirty="0"/>
              <a:t>Multicore</a:t>
            </a:r>
            <a:r>
              <a:rPr lang="en-US" dirty="0"/>
              <a:t>: </a:t>
            </a:r>
            <a:r>
              <a:rPr lang="en-US" dirty="0" err="1"/>
              <a:t>Thực</a:t>
            </a:r>
            <a:r>
              <a:rPr lang="en-US" dirty="0"/>
              <a:t> </a:t>
            </a:r>
            <a:r>
              <a:rPr lang="en-US" dirty="0" err="1"/>
              <a:t>thi</a:t>
            </a:r>
            <a:r>
              <a:rPr lang="en-US" dirty="0"/>
              <a:t> </a:t>
            </a:r>
            <a:r>
              <a:rPr lang="en-US" dirty="0" err="1"/>
              <a:t>đồng</a:t>
            </a:r>
            <a:r>
              <a:rPr lang="en-US" dirty="0"/>
              <a:t> </a:t>
            </a:r>
            <a:r>
              <a:rPr lang="en-US" dirty="0" err="1"/>
              <a:t>thời</a:t>
            </a:r>
            <a:r>
              <a:rPr lang="en-US" dirty="0"/>
              <a:t> </a:t>
            </a:r>
            <a:r>
              <a:rPr lang="en-US" b="1" dirty="0" err="1"/>
              <a:t>nhiều</a:t>
            </a:r>
            <a:r>
              <a:rPr lang="en-US" b="1" dirty="0"/>
              <a:t> </a:t>
            </a:r>
            <a:r>
              <a:rPr lang="en-US" b="1" dirty="0" err="1"/>
              <a:t>chương</a:t>
            </a:r>
            <a:r>
              <a:rPr lang="en-US" b="1" dirty="0"/>
              <a:t> </a:t>
            </a:r>
            <a:r>
              <a:rPr lang="en-US" b="1" dirty="0" err="1"/>
              <a:t>trình</a:t>
            </a:r>
            <a:r>
              <a:rPr lang="en-US" b="1" dirty="0"/>
              <a:t> </a:t>
            </a:r>
            <a:r>
              <a:rPr lang="en-US" dirty="0" err="1"/>
              <a:t>bằng</a:t>
            </a:r>
            <a:r>
              <a:rPr lang="en-US" dirty="0"/>
              <a:t> </a:t>
            </a:r>
            <a:r>
              <a:rPr lang="en-US" dirty="0" err="1"/>
              <a:t>cách</a:t>
            </a:r>
            <a:r>
              <a:rPr lang="en-US" dirty="0"/>
              <a:t> </a:t>
            </a:r>
            <a:r>
              <a:rPr lang="en-US" dirty="0" err="1"/>
              <a:t>tăng</a:t>
            </a:r>
            <a:r>
              <a:rPr lang="en-US" dirty="0"/>
              <a:t> </a:t>
            </a:r>
            <a:r>
              <a:rPr lang="en-US" dirty="0" err="1"/>
              <a:t>số</a:t>
            </a:r>
            <a:r>
              <a:rPr lang="en-US" dirty="0"/>
              <a:t> </a:t>
            </a:r>
            <a:r>
              <a:rPr lang="en-US" dirty="0" err="1"/>
              <a:t>lượng</a:t>
            </a:r>
            <a:r>
              <a:rPr lang="en-US" dirty="0"/>
              <a:t> bộ </a:t>
            </a:r>
            <a:r>
              <a:rPr lang="en-US" dirty="0" err="1"/>
              <a:t>xử</a:t>
            </a:r>
            <a:r>
              <a:rPr lang="en-US" dirty="0"/>
              <a:t> </a:t>
            </a:r>
            <a:r>
              <a:rPr lang="en-US" dirty="0" err="1"/>
              <a:t>lý</a:t>
            </a:r>
            <a:endParaRPr lang="en-US" dirty="0"/>
          </a:p>
          <a:p>
            <a:r>
              <a:rPr lang="vi-VN" dirty="0"/>
              <a:t>Multithread</a:t>
            </a:r>
            <a:r>
              <a:rPr lang="en-US" dirty="0"/>
              <a:t>: </a:t>
            </a:r>
            <a:r>
              <a:rPr lang="en-US" dirty="0" err="1"/>
              <a:t>Thực</a:t>
            </a:r>
            <a:r>
              <a:rPr lang="en-US" dirty="0"/>
              <a:t> </a:t>
            </a:r>
            <a:r>
              <a:rPr lang="en-US" dirty="0" err="1"/>
              <a:t>thi</a:t>
            </a:r>
            <a:r>
              <a:rPr lang="en-US" dirty="0"/>
              <a:t> </a:t>
            </a:r>
            <a:r>
              <a:rPr lang="en-US" dirty="0" err="1"/>
              <a:t>đồng</a:t>
            </a:r>
            <a:r>
              <a:rPr lang="en-US" dirty="0"/>
              <a:t> </a:t>
            </a:r>
            <a:r>
              <a:rPr lang="en-US" dirty="0" err="1"/>
              <a:t>thời</a:t>
            </a:r>
            <a:r>
              <a:rPr lang="en-US" dirty="0"/>
              <a:t> </a:t>
            </a:r>
            <a:r>
              <a:rPr lang="en-US" b="1" dirty="0" err="1"/>
              <a:t>nhiều</a:t>
            </a:r>
            <a:r>
              <a:rPr lang="en-US" b="1" dirty="0"/>
              <a:t> </a:t>
            </a:r>
            <a:r>
              <a:rPr lang="en-US" b="1" dirty="0" err="1"/>
              <a:t>tác</a:t>
            </a:r>
            <a:r>
              <a:rPr lang="en-US" b="1" dirty="0"/>
              <a:t> </a:t>
            </a:r>
            <a:r>
              <a:rPr lang="en-US" b="1" dirty="0" err="1"/>
              <a:t>vụ</a:t>
            </a:r>
            <a:r>
              <a:rPr lang="en-US" b="1" dirty="0"/>
              <a:t> </a:t>
            </a:r>
            <a:r>
              <a:rPr lang="en-US" dirty="0" err="1"/>
              <a:t>bằng</a:t>
            </a:r>
            <a:r>
              <a:rPr lang="en-US" dirty="0"/>
              <a:t> </a:t>
            </a:r>
            <a:r>
              <a:rPr lang="en-US" dirty="0" err="1"/>
              <a:t>cách</a:t>
            </a:r>
            <a:r>
              <a:rPr lang="en-US" dirty="0"/>
              <a:t> </a:t>
            </a:r>
            <a:r>
              <a:rPr lang="en-US" dirty="0" err="1"/>
              <a:t>tăng</a:t>
            </a:r>
            <a:r>
              <a:rPr lang="en-US" dirty="0"/>
              <a:t> </a:t>
            </a:r>
            <a:r>
              <a:rPr lang="en-US" dirty="0" err="1"/>
              <a:t>số</a:t>
            </a:r>
            <a:r>
              <a:rPr lang="en-US" dirty="0"/>
              <a:t> </a:t>
            </a:r>
            <a:r>
              <a:rPr lang="en-US" dirty="0" err="1"/>
              <a:t>lượng</a:t>
            </a:r>
            <a:r>
              <a:rPr lang="en-US" dirty="0"/>
              <a:t> </a:t>
            </a:r>
            <a:r>
              <a:rPr lang="en-US" dirty="0" err="1"/>
              <a:t>đơn</a:t>
            </a:r>
            <a:r>
              <a:rPr lang="en-US" dirty="0"/>
              <a:t> </a:t>
            </a:r>
            <a:r>
              <a:rPr lang="en-US" dirty="0" err="1"/>
              <a:t>vị</a:t>
            </a:r>
            <a:r>
              <a:rPr lang="en-US" dirty="0"/>
              <a:t> </a:t>
            </a:r>
            <a:r>
              <a:rPr lang="en-US" dirty="0" err="1"/>
              <a:t>xử</a:t>
            </a:r>
            <a:r>
              <a:rPr lang="en-US" dirty="0"/>
              <a:t> </a:t>
            </a:r>
            <a:r>
              <a:rPr lang="en-US" dirty="0" err="1"/>
              <a:t>lý</a:t>
            </a:r>
            <a:endParaRPr lang="en-US" dirty="0"/>
          </a:p>
          <a:p>
            <a:r>
              <a:rPr lang="en-US" dirty="0" err="1"/>
              <a:t>Phân</a:t>
            </a:r>
            <a:r>
              <a:rPr lang="en-US" dirty="0"/>
              <a:t> </a:t>
            </a:r>
            <a:r>
              <a:rPr lang="en-US" dirty="0" err="1"/>
              <a:t>cấp</a:t>
            </a:r>
            <a:r>
              <a:rPr lang="en-US" dirty="0"/>
              <a:t> bộ </a:t>
            </a:r>
            <a:r>
              <a:rPr lang="en-US" dirty="0" err="1"/>
              <a:t>nhớ</a:t>
            </a:r>
            <a:r>
              <a:rPr lang="en-US" dirty="0"/>
              <a:t>: </a:t>
            </a:r>
            <a:r>
              <a:rPr lang="en-US" dirty="0" err="1"/>
              <a:t>Sử</a:t>
            </a:r>
            <a:r>
              <a:rPr lang="en-US" dirty="0"/>
              <a:t> </a:t>
            </a:r>
            <a:r>
              <a:rPr lang="en-US" dirty="0" err="1"/>
              <a:t>dụng</a:t>
            </a:r>
            <a:r>
              <a:rPr lang="en-US" dirty="0"/>
              <a:t> </a:t>
            </a:r>
            <a:r>
              <a:rPr lang="en-US" dirty="0" err="1"/>
              <a:t>các</a:t>
            </a:r>
            <a:r>
              <a:rPr lang="en-US" dirty="0"/>
              <a:t> bộ </a:t>
            </a:r>
            <a:r>
              <a:rPr lang="en-US" dirty="0" err="1"/>
              <a:t>nhớ</a:t>
            </a:r>
            <a:r>
              <a:rPr lang="en-US" dirty="0"/>
              <a:t> </a:t>
            </a:r>
            <a:r>
              <a:rPr lang="en-US" dirty="0" err="1"/>
              <a:t>nhanh</a:t>
            </a:r>
            <a:r>
              <a:rPr lang="en-US" dirty="0"/>
              <a:t> </a:t>
            </a:r>
            <a:r>
              <a:rPr lang="en-US" dirty="0" err="1"/>
              <a:t>cho</a:t>
            </a:r>
            <a:r>
              <a:rPr lang="en-US" dirty="0"/>
              <a:t> </a:t>
            </a:r>
            <a:r>
              <a:rPr lang="en-US" dirty="0" err="1"/>
              <a:t>việc</a:t>
            </a:r>
            <a:r>
              <a:rPr lang="en-US" dirty="0"/>
              <a:t> </a:t>
            </a:r>
            <a:r>
              <a:rPr lang="en-US" dirty="0" err="1"/>
              <a:t>thao</a:t>
            </a:r>
            <a:r>
              <a:rPr lang="en-US" dirty="0"/>
              <a:t> </a:t>
            </a:r>
            <a:r>
              <a:rPr lang="en-US" dirty="0" err="1"/>
              <a:t>tác</a:t>
            </a:r>
            <a:r>
              <a:rPr lang="en-US" dirty="0"/>
              <a:t> </a:t>
            </a:r>
            <a:r>
              <a:rPr lang="en-US" dirty="0" err="1"/>
              <a:t>với</a:t>
            </a:r>
            <a:r>
              <a:rPr lang="en-US" dirty="0"/>
              <a:t> </a:t>
            </a:r>
            <a:r>
              <a:rPr lang="en-US" dirty="0" err="1"/>
              <a:t>dữ</a:t>
            </a:r>
            <a:r>
              <a:rPr lang="en-US" dirty="0"/>
              <a:t> </a:t>
            </a:r>
            <a:r>
              <a:rPr lang="en-US" dirty="0" err="1"/>
              <a:t>liệu</a:t>
            </a:r>
            <a:r>
              <a:rPr lang="en-US" dirty="0"/>
              <a:t>, </a:t>
            </a:r>
            <a:r>
              <a:rPr lang="en-US" dirty="0" err="1"/>
              <a:t>sử</a:t>
            </a:r>
            <a:r>
              <a:rPr lang="en-US" dirty="0"/>
              <a:t> </a:t>
            </a:r>
            <a:r>
              <a:rPr lang="en-US" dirty="0" err="1"/>
              <a:t>dụng</a:t>
            </a:r>
            <a:r>
              <a:rPr lang="en-US" dirty="0"/>
              <a:t> </a:t>
            </a:r>
            <a:r>
              <a:rPr lang="en-US" dirty="0" err="1"/>
              <a:t>các</a:t>
            </a:r>
            <a:r>
              <a:rPr lang="en-US" dirty="0"/>
              <a:t> bộ </a:t>
            </a:r>
            <a:r>
              <a:rPr lang="en-US" dirty="0" err="1"/>
              <a:t>nhớ</a:t>
            </a:r>
            <a:r>
              <a:rPr lang="en-US" dirty="0"/>
              <a:t> </a:t>
            </a:r>
            <a:r>
              <a:rPr lang="en-US" dirty="0" err="1"/>
              <a:t>chậm</a:t>
            </a:r>
            <a:r>
              <a:rPr lang="en-US" dirty="0"/>
              <a:t> </a:t>
            </a:r>
            <a:r>
              <a:rPr lang="en-US" dirty="0" err="1"/>
              <a:t>cho</a:t>
            </a:r>
            <a:r>
              <a:rPr lang="en-US" dirty="0"/>
              <a:t> </a:t>
            </a:r>
            <a:r>
              <a:rPr lang="en-US" dirty="0" err="1"/>
              <a:t>việc</a:t>
            </a:r>
            <a:r>
              <a:rPr lang="en-US" dirty="0"/>
              <a:t> </a:t>
            </a:r>
            <a:r>
              <a:rPr lang="en-US" dirty="0" err="1"/>
              <a:t>lưu</a:t>
            </a:r>
            <a:r>
              <a:rPr lang="en-US" dirty="0"/>
              <a:t> </a:t>
            </a:r>
            <a:r>
              <a:rPr lang="en-US" dirty="0" err="1"/>
              <a:t>trữ</a:t>
            </a:r>
            <a:r>
              <a:rPr lang="en-US" dirty="0"/>
              <a:t> </a:t>
            </a:r>
            <a:r>
              <a:rPr lang="en-US" dirty="0" err="1"/>
              <a:t>dữ</a:t>
            </a:r>
            <a:r>
              <a:rPr lang="en-US" dirty="0"/>
              <a:t> </a:t>
            </a:r>
            <a:r>
              <a:rPr lang="en-US" dirty="0" err="1"/>
              <a:t>liệu</a:t>
            </a:r>
            <a:r>
              <a:rPr lang="en-US" dirty="0"/>
              <a:t>, …</a:t>
            </a:r>
            <a:endParaRPr lang="vi-VN" dirty="0"/>
          </a:p>
          <a:p>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28</a:t>
            </a:fld>
            <a:endParaRPr lang="en-VN" dirty="0"/>
          </a:p>
        </p:txBody>
      </p:sp>
    </p:spTree>
    <p:extLst>
      <p:ext uri="{BB962C8B-B14F-4D97-AF65-F5344CB8AC3E}">
        <p14:creationId xmlns:p14="http://schemas.microsoft.com/office/powerpoint/2010/main" val="100067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tập (1/4)</a:t>
            </a:r>
            <a:endParaRPr lang="en-US"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pPr marL="0" indent="0">
              <a:lnSpc>
                <a:spcPct val="150000"/>
              </a:lnSpc>
              <a:buNone/>
            </a:pPr>
            <a:r>
              <a:rPr lang="en-US"/>
              <a:t>Giả sử rằng 1 lệnh toán học cần 1 chu kỳ; 1 lệnh nạp dữ liệu từ bộ nhớ hoặc ghi dữ liệu vào bộ nhớ cần 5 chu kỳ; 1 lệnh rẽ nhánh cần 2 chu kỳ. Tìm thời gian thực thi của một chương trình chạy trên bộ xử lý 2 GHz? Biết số lệnh từng loại là: 500 lệnh toán học, 100 lệnh nạp, 50 lệnh ghi và 50 lệnh rẽ nhánh.</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Tree>
    <p:extLst>
      <p:ext uri="{BB962C8B-B14F-4D97-AF65-F5344CB8AC3E}">
        <p14:creationId xmlns:p14="http://schemas.microsoft.com/office/powerpoint/2010/main" val="4274243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tập (2/4)</a:t>
            </a:r>
            <a:endParaRPr lang="en-US"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195821"/>
            <a:ext cx="10068128" cy="5160527"/>
          </a:xfrm>
        </p:spPr>
        <p:txBody>
          <a:bodyPr>
            <a:noAutofit/>
          </a:bodyPr>
          <a:lstStyle/>
          <a:p>
            <a:pPr marL="0" indent="0">
              <a:lnSpc>
                <a:spcPct val="150000"/>
              </a:lnSpc>
              <a:buNone/>
            </a:pPr>
            <a:r>
              <a:rPr lang="vi-VN"/>
              <a:t>Cho 3 bộ xử lý P1, P2 và P3 cùng chạy một </a:t>
            </a:r>
            <a:r>
              <a:rPr lang="en-US"/>
              <a:t>chương trình</a:t>
            </a:r>
            <a:r>
              <a:rPr lang="vi-VN"/>
              <a:t> với các tần số xung clock và CPI</a:t>
            </a:r>
            <a:r>
              <a:rPr lang="en-US"/>
              <a:t> </a:t>
            </a:r>
            <a:r>
              <a:rPr lang="vi-VN"/>
              <a:t>được cho như bảng bên dưới</a:t>
            </a:r>
            <a:r>
              <a:rPr lang="en-US"/>
              <a:t>:</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a:t>Bộ xử lý nào có hiệu xuất cao nhất?</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30</a:t>
            </a:fld>
            <a:endParaRPr lang="en-VN" dirty="0"/>
          </a:p>
        </p:txBody>
      </p:sp>
      <p:graphicFrame>
        <p:nvGraphicFramePr>
          <p:cNvPr id="6" name="Table 9">
            <a:extLst>
              <a:ext uri="{FF2B5EF4-FFF2-40B4-BE49-F238E27FC236}">
                <a16:creationId xmlns:a16="http://schemas.microsoft.com/office/drawing/2014/main" id="{1179F089-D561-93DF-14F7-45A8A6E26D65}"/>
              </a:ext>
            </a:extLst>
          </p:cNvPr>
          <p:cNvGraphicFramePr>
            <a:graphicFrameLocks noGrp="1"/>
          </p:cNvGraphicFramePr>
          <p:nvPr>
            <p:extLst>
              <p:ext uri="{D42A27DB-BD31-4B8C-83A1-F6EECF244321}">
                <p14:modId xmlns:p14="http://schemas.microsoft.com/office/powerpoint/2010/main" val="3549119283"/>
              </p:ext>
            </p:extLst>
          </p:nvPr>
        </p:nvGraphicFramePr>
        <p:xfrm>
          <a:off x="2647950" y="2863661"/>
          <a:ext cx="6896100" cy="2133600"/>
        </p:xfrm>
        <a:graphic>
          <a:graphicData uri="http://schemas.openxmlformats.org/drawingml/2006/table">
            <a:tbl>
              <a:tblPr firstRow="1" bandRow="1">
                <a:tableStyleId>{5940675A-B579-460E-94D1-54222C63F5DA}</a:tableStyleId>
              </a:tblPr>
              <a:tblGrid>
                <a:gridCol w="2298700">
                  <a:extLst>
                    <a:ext uri="{9D8B030D-6E8A-4147-A177-3AD203B41FA5}">
                      <a16:colId xmlns:a16="http://schemas.microsoft.com/office/drawing/2014/main" val="2164088813"/>
                    </a:ext>
                  </a:extLst>
                </a:gridCol>
                <a:gridCol w="2298700">
                  <a:extLst>
                    <a:ext uri="{9D8B030D-6E8A-4147-A177-3AD203B41FA5}">
                      <a16:colId xmlns:a16="http://schemas.microsoft.com/office/drawing/2014/main" val="1428008774"/>
                    </a:ext>
                  </a:extLst>
                </a:gridCol>
                <a:gridCol w="2298700">
                  <a:extLst>
                    <a:ext uri="{9D8B030D-6E8A-4147-A177-3AD203B41FA5}">
                      <a16:colId xmlns:a16="http://schemas.microsoft.com/office/drawing/2014/main" val="438794484"/>
                    </a:ext>
                  </a:extLst>
                </a:gridCol>
              </a:tblGrid>
              <a:tr h="533400">
                <a:tc>
                  <a:txBody>
                    <a:bodyPr/>
                    <a:lstStyle/>
                    <a:p>
                      <a:pPr algn="ctr"/>
                      <a:r>
                        <a:rPr lang="en-US" sz="2100" b="1" dirty="0" err="1">
                          <a:latin typeface="Times New Roman" panose="02020603050405020304" pitchFamily="18" charset="0"/>
                          <a:cs typeface="Times New Roman" panose="02020603050405020304" pitchFamily="18" charset="0"/>
                        </a:rPr>
                        <a:t>Bộ</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xử</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lý</a:t>
                      </a:r>
                      <a:endParaRPr lang="en-US" sz="21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b="1" dirty="0" err="1">
                          <a:latin typeface="Times New Roman" panose="02020603050405020304" pitchFamily="18" charset="0"/>
                          <a:cs typeface="Times New Roman" panose="02020603050405020304" pitchFamily="18" charset="0"/>
                        </a:rPr>
                        <a:t>Tần</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số</a:t>
                      </a:r>
                      <a:endParaRPr lang="en-US" sz="21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b="1" dirty="0">
                          <a:latin typeface="Times New Roman" panose="02020603050405020304" pitchFamily="18" charset="0"/>
                          <a:cs typeface="Times New Roman" panose="02020603050405020304" pitchFamily="18" charset="0"/>
                        </a:rPr>
                        <a:t>CPI</a:t>
                      </a:r>
                    </a:p>
                  </a:txBody>
                  <a:tcPr marL="68580" marR="68580" marT="34290" marB="34290"/>
                </a:tc>
                <a:extLst>
                  <a:ext uri="{0D108BD9-81ED-4DB2-BD59-A6C34878D82A}">
                    <a16:rowId xmlns:a16="http://schemas.microsoft.com/office/drawing/2014/main" val="869779566"/>
                  </a:ext>
                </a:extLst>
              </a:tr>
              <a:tr h="533400">
                <a:tc>
                  <a:txBody>
                    <a:bodyPr/>
                    <a:lstStyle/>
                    <a:p>
                      <a:pPr algn="ctr"/>
                      <a:r>
                        <a:rPr lang="en-US" sz="2100" dirty="0">
                          <a:latin typeface="Times New Roman" panose="02020603050405020304" pitchFamily="18" charset="0"/>
                          <a:cs typeface="Times New Roman" panose="02020603050405020304" pitchFamily="18" charset="0"/>
                        </a:rPr>
                        <a:t>P1</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 </a:t>
                      </a:r>
                      <a:r>
                        <a:rPr lang="en-US" sz="2100" dirty="0" err="1">
                          <a:latin typeface="Times New Roman" panose="02020603050405020304" pitchFamily="18" charset="0"/>
                          <a:cs typeface="Times New Roman" panose="02020603050405020304" pitchFamily="18" charset="0"/>
                        </a:rPr>
                        <a:t>Ghz</a:t>
                      </a:r>
                      <a:endParaRPr lang="en-US" sz="21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1.5</a:t>
                      </a:r>
                    </a:p>
                  </a:txBody>
                  <a:tcPr marL="68580" marR="68580" marT="34290" marB="34290"/>
                </a:tc>
                <a:extLst>
                  <a:ext uri="{0D108BD9-81ED-4DB2-BD59-A6C34878D82A}">
                    <a16:rowId xmlns:a16="http://schemas.microsoft.com/office/drawing/2014/main" val="3539730091"/>
                  </a:ext>
                </a:extLst>
              </a:tr>
              <a:tr h="533400">
                <a:tc>
                  <a:txBody>
                    <a:bodyPr/>
                    <a:lstStyle/>
                    <a:p>
                      <a:pPr algn="ctr"/>
                      <a:r>
                        <a:rPr lang="en-US" sz="2100" dirty="0">
                          <a:latin typeface="Times New Roman" panose="02020603050405020304" pitchFamily="18" charset="0"/>
                          <a:cs typeface="Times New Roman" panose="02020603050405020304" pitchFamily="18" charset="0"/>
                        </a:rPr>
                        <a:t>P2</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1.5 </a:t>
                      </a:r>
                      <a:r>
                        <a:rPr lang="en-US" sz="2100" dirty="0" err="1">
                          <a:latin typeface="Times New Roman" panose="02020603050405020304" pitchFamily="18" charset="0"/>
                          <a:cs typeface="Times New Roman" panose="02020603050405020304" pitchFamily="18" charset="0"/>
                        </a:rPr>
                        <a:t>Ghz</a:t>
                      </a:r>
                      <a:endParaRPr lang="en-US" sz="21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1</a:t>
                      </a:r>
                    </a:p>
                  </a:txBody>
                  <a:tcPr marL="68580" marR="68580" marT="34290" marB="34290"/>
                </a:tc>
                <a:extLst>
                  <a:ext uri="{0D108BD9-81ED-4DB2-BD59-A6C34878D82A}">
                    <a16:rowId xmlns:a16="http://schemas.microsoft.com/office/drawing/2014/main" val="1137565054"/>
                  </a:ext>
                </a:extLst>
              </a:tr>
              <a:tr h="533400">
                <a:tc>
                  <a:txBody>
                    <a:bodyPr/>
                    <a:lstStyle/>
                    <a:p>
                      <a:pPr algn="ctr"/>
                      <a:r>
                        <a:rPr lang="en-US" sz="2100" dirty="0">
                          <a:latin typeface="Times New Roman" panose="02020603050405020304" pitchFamily="18" charset="0"/>
                          <a:cs typeface="Times New Roman" panose="02020603050405020304" pitchFamily="18" charset="0"/>
                        </a:rPr>
                        <a:t>P3</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3 </a:t>
                      </a:r>
                      <a:r>
                        <a:rPr lang="en-US" sz="2100" dirty="0" err="1">
                          <a:latin typeface="Times New Roman" panose="02020603050405020304" pitchFamily="18" charset="0"/>
                          <a:cs typeface="Times New Roman" panose="02020603050405020304" pitchFamily="18" charset="0"/>
                        </a:rPr>
                        <a:t>Ghz</a:t>
                      </a:r>
                      <a:endParaRPr lang="en-US" sz="21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2.5</a:t>
                      </a:r>
                    </a:p>
                  </a:txBody>
                  <a:tcPr marL="68580" marR="68580" marT="34290" marB="34290"/>
                </a:tc>
                <a:extLst>
                  <a:ext uri="{0D108BD9-81ED-4DB2-BD59-A6C34878D82A}">
                    <a16:rowId xmlns:a16="http://schemas.microsoft.com/office/drawing/2014/main" val="1780021917"/>
                  </a:ext>
                </a:extLst>
              </a:tr>
            </a:tbl>
          </a:graphicData>
        </a:graphic>
      </p:graphicFrame>
    </p:spTree>
    <p:extLst>
      <p:ext uri="{BB962C8B-B14F-4D97-AF65-F5344CB8AC3E}">
        <p14:creationId xmlns:p14="http://schemas.microsoft.com/office/powerpoint/2010/main" val="580113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tập (3/4)</a:t>
            </a:r>
            <a:endParaRPr lang="en-US"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1045751"/>
            <a:ext cx="10068128" cy="5160527"/>
          </a:xfrm>
        </p:spPr>
        <p:txBody>
          <a:bodyPr>
            <a:noAutofit/>
          </a:bodyPr>
          <a:lstStyle/>
          <a:p>
            <a:pPr marL="0" indent="0">
              <a:lnSpc>
                <a:spcPct val="150000"/>
              </a:lnSpc>
              <a:buNone/>
            </a:pPr>
            <a:r>
              <a:rPr lang="vi-VN"/>
              <a:t>Cho 3 bộ xử lý P1, P2 và P3 cùng chạy một </a:t>
            </a:r>
            <a:r>
              <a:rPr lang="en-US"/>
              <a:t>chương trình</a:t>
            </a:r>
            <a:r>
              <a:rPr lang="vi-VN"/>
              <a:t> với các tần số xung clock và CPI</a:t>
            </a:r>
            <a:r>
              <a:rPr lang="en-US"/>
              <a:t> </a:t>
            </a:r>
            <a:r>
              <a:rPr lang="vi-VN"/>
              <a:t>được cho như bảng bên dưới</a:t>
            </a:r>
            <a:r>
              <a:rPr lang="en-US"/>
              <a:t>:</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lnSpc>
                <a:spcPct val="150000"/>
              </a:lnSpc>
              <a:buNone/>
            </a:pPr>
            <a:r>
              <a:rPr lang="en-US"/>
              <a:t>Bộ xử lý P1 cần 10 (s) để thực thi ch</a:t>
            </a:r>
            <a:r>
              <a:rPr lang="vi-VN"/>
              <a:t>ư</a:t>
            </a:r>
            <a:r>
              <a:rPr lang="en-US"/>
              <a:t>ơng trình. Tìm thời gian thực thi của Bộ xử lý P2?</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31</a:t>
            </a:fld>
            <a:endParaRPr lang="en-VN" dirty="0"/>
          </a:p>
        </p:txBody>
      </p:sp>
      <p:graphicFrame>
        <p:nvGraphicFramePr>
          <p:cNvPr id="6" name="Table 7">
            <a:extLst>
              <a:ext uri="{FF2B5EF4-FFF2-40B4-BE49-F238E27FC236}">
                <a16:creationId xmlns:a16="http://schemas.microsoft.com/office/drawing/2014/main" id="{24FD0F30-87C1-D64F-ECCC-C35712928EAB}"/>
              </a:ext>
            </a:extLst>
          </p:cNvPr>
          <p:cNvGraphicFramePr>
            <a:graphicFrameLocks noGrp="1"/>
          </p:cNvGraphicFramePr>
          <p:nvPr>
            <p:extLst>
              <p:ext uri="{D42A27DB-BD31-4B8C-83A1-F6EECF244321}">
                <p14:modId xmlns:p14="http://schemas.microsoft.com/office/powerpoint/2010/main" val="2618503187"/>
              </p:ext>
            </p:extLst>
          </p:nvPr>
        </p:nvGraphicFramePr>
        <p:xfrm>
          <a:off x="2176077" y="2861684"/>
          <a:ext cx="7528560" cy="1828800"/>
        </p:xfrm>
        <a:graphic>
          <a:graphicData uri="http://schemas.openxmlformats.org/drawingml/2006/table">
            <a:tbl>
              <a:tblPr firstRow="1" bandRow="1">
                <a:tableStyleId>{5940675A-B579-460E-94D1-54222C63F5DA}</a:tableStyleId>
              </a:tblPr>
              <a:tblGrid>
                <a:gridCol w="2509520">
                  <a:extLst>
                    <a:ext uri="{9D8B030D-6E8A-4147-A177-3AD203B41FA5}">
                      <a16:colId xmlns:a16="http://schemas.microsoft.com/office/drawing/2014/main" val="583866748"/>
                    </a:ext>
                  </a:extLst>
                </a:gridCol>
                <a:gridCol w="2509520">
                  <a:extLst>
                    <a:ext uri="{9D8B030D-6E8A-4147-A177-3AD203B41FA5}">
                      <a16:colId xmlns:a16="http://schemas.microsoft.com/office/drawing/2014/main" val="3696645363"/>
                    </a:ext>
                  </a:extLst>
                </a:gridCol>
                <a:gridCol w="2509520">
                  <a:extLst>
                    <a:ext uri="{9D8B030D-6E8A-4147-A177-3AD203B41FA5}">
                      <a16:colId xmlns:a16="http://schemas.microsoft.com/office/drawing/2014/main" val="2734353764"/>
                    </a:ext>
                  </a:extLst>
                </a:gridCol>
              </a:tblGrid>
              <a:tr h="457200">
                <a:tc>
                  <a:txBody>
                    <a:bodyPr/>
                    <a:lstStyle/>
                    <a:p>
                      <a:pPr algn="ctr"/>
                      <a:r>
                        <a:rPr lang="en-US" sz="2100" b="1" dirty="0" err="1">
                          <a:latin typeface="Times New Roman" panose="02020603050405020304" pitchFamily="18" charset="0"/>
                          <a:cs typeface="Times New Roman" panose="02020603050405020304" pitchFamily="18" charset="0"/>
                        </a:rPr>
                        <a:t>Bộ</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xử</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lý</a:t>
                      </a:r>
                      <a:endParaRPr lang="en-US" sz="21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b="1" dirty="0" err="1">
                          <a:latin typeface="Times New Roman" panose="02020603050405020304" pitchFamily="18" charset="0"/>
                          <a:cs typeface="Times New Roman" panose="02020603050405020304" pitchFamily="18" charset="0"/>
                        </a:rPr>
                        <a:t>Tần</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số</a:t>
                      </a:r>
                      <a:endParaRPr lang="en-US" sz="21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b="1" dirty="0">
                          <a:latin typeface="Times New Roman" panose="02020603050405020304" pitchFamily="18" charset="0"/>
                          <a:cs typeface="Times New Roman" panose="02020603050405020304" pitchFamily="18" charset="0"/>
                        </a:rPr>
                        <a:t>CPI</a:t>
                      </a:r>
                    </a:p>
                  </a:txBody>
                  <a:tcPr marL="68580" marR="68580" marT="34290" marB="34290"/>
                </a:tc>
                <a:extLst>
                  <a:ext uri="{0D108BD9-81ED-4DB2-BD59-A6C34878D82A}">
                    <a16:rowId xmlns:a16="http://schemas.microsoft.com/office/drawing/2014/main" val="1909201981"/>
                  </a:ext>
                </a:extLst>
              </a:tr>
              <a:tr h="457200">
                <a:tc>
                  <a:txBody>
                    <a:bodyPr/>
                    <a:lstStyle/>
                    <a:p>
                      <a:pPr algn="ctr"/>
                      <a:r>
                        <a:rPr lang="en-US" sz="2100" dirty="0">
                          <a:latin typeface="Times New Roman" panose="02020603050405020304" pitchFamily="18" charset="0"/>
                          <a:cs typeface="Times New Roman" panose="02020603050405020304" pitchFamily="18" charset="0"/>
                        </a:rPr>
                        <a:t>P1</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 </a:t>
                      </a:r>
                      <a:r>
                        <a:rPr lang="en-US" sz="2100" dirty="0" err="1">
                          <a:latin typeface="Times New Roman" panose="02020603050405020304" pitchFamily="18" charset="0"/>
                          <a:cs typeface="Times New Roman" panose="02020603050405020304" pitchFamily="18" charset="0"/>
                        </a:rPr>
                        <a:t>Ghz</a:t>
                      </a:r>
                      <a:endParaRPr lang="en-US" sz="21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1.5</a:t>
                      </a:r>
                    </a:p>
                  </a:txBody>
                  <a:tcPr marL="68580" marR="68580" marT="34290" marB="34290"/>
                </a:tc>
                <a:extLst>
                  <a:ext uri="{0D108BD9-81ED-4DB2-BD59-A6C34878D82A}">
                    <a16:rowId xmlns:a16="http://schemas.microsoft.com/office/drawing/2014/main" val="588147773"/>
                  </a:ext>
                </a:extLst>
              </a:tr>
              <a:tr h="457200">
                <a:tc>
                  <a:txBody>
                    <a:bodyPr/>
                    <a:lstStyle/>
                    <a:p>
                      <a:pPr algn="ctr"/>
                      <a:r>
                        <a:rPr lang="en-US" sz="2100" dirty="0">
                          <a:latin typeface="Times New Roman" panose="02020603050405020304" pitchFamily="18" charset="0"/>
                          <a:cs typeface="Times New Roman" panose="02020603050405020304" pitchFamily="18" charset="0"/>
                        </a:rPr>
                        <a:t>P2</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1.5 </a:t>
                      </a:r>
                      <a:r>
                        <a:rPr lang="en-US" sz="2100" dirty="0" err="1">
                          <a:latin typeface="Times New Roman" panose="02020603050405020304" pitchFamily="18" charset="0"/>
                          <a:cs typeface="Times New Roman" panose="02020603050405020304" pitchFamily="18" charset="0"/>
                        </a:rPr>
                        <a:t>Ghz</a:t>
                      </a:r>
                      <a:endParaRPr lang="en-US" sz="21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1</a:t>
                      </a:r>
                    </a:p>
                  </a:txBody>
                  <a:tcPr marL="68580" marR="68580" marT="34290" marB="34290"/>
                </a:tc>
                <a:extLst>
                  <a:ext uri="{0D108BD9-81ED-4DB2-BD59-A6C34878D82A}">
                    <a16:rowId xmlns:a16="http://schemas.microsoft.com/office/drawing/2014/main" val="3379870685"/>
                  </a:ext>
                </a:extLst>
              </a:tr>
              <a:tr h="457200">
                <a:tc>
                  <a:txBody>
                    <a:bodyPr/>
                    <a:lstStyle/>
                    <a:p>
                      <a:pPr algn="ctr"/>
                      <a:r>
                        <a:rPr lang="en-US" sz="2100" dirty="0">
                          <a:latin typeface="Times New Roman" panose="02020603050405020304" pitchFamily="18" charset="0"/>
                          <a:cs typeface="Times New Roman" panose="02020603050405020304" pitchFamily="18" charset="0"/>
                        </a:rPr>
                        <a:t>P3</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3 </a:t>
                      </a:r>
                      <a:r>
                        <a:rPr lang="en-US" sz="2100" dirty="0" err="1">
                          <a:latin typeface="Times New Roman" panose="02020603050405020304" pitchFamily="18" charset="0"/>
                          <a:cs typeface="Times New Roman" panose="02020603050405020304" pitchFamily="18" charset="0"/>
                        </a:rPr>
                        <a:t>Ghz</a:t>
                      </a:r>
                      <a:endParaRPr lang="en-US" sz="21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2.5</a:t>
                      </a:r>
                    </a:p>
                  </a:txBody>
                  <a:tcPr marL="68580" marR="68580" marT="34290" marB="34290"/>
                </a:tc>
                <a:extLst>
                  <a:ext uri="{0D108BD9-81ED-4DB2-BD59-A6C34878D82A}">
                    <a16:rowId xmlns:a16="http://schemas.microsoft.com/office/drawing/2014/main" val="3747542453"/>
                  </a:ext>
                </a:extLst>
              </a:tr>
            </a:tbl>
          </a:graphicData>
        </a:graphic>
      </p:graphicFrame>
    </p:spTree>
    <p:extLst>
      <p:ext uri="{BB962C8B-B14F-4D97-AF65-F5344CB8AC3E}">
        <p14:creationId xmlns:p14="http://schemas.microsoft.com/office/powerpoint/2010/main" val="3130184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gn="just">
              <a:spcAft>
                <a:spcPts val="1000"/>
              </a:spcAft>
              <a:defRPr/>
            </a:pPr>
            <a:r>
              <a:rPr lang="en-US"/>
              <a:t>Bài tập (4/4)</a:t>
            </a:r>
            <a:endParaRPr lang="en-US"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a:xfrm>
            <a:off x="1142797" y="817123"/>
            <a:ext cx="10068128" cy="5539225"/>
          </a:xfrm>
        </p:spPr>
        <p:txBody>
          <a:bodyPr>
            <a:noAutofit/>
          </a:bodyPr>
          <a:lstStyle/>
          <a:p>
            <a:pPr marL="0" indent="0">
              <a:lnSpc>
                <a:spcPct val="150000"/>
              </a:lnSpc>
              <a:buNone/>
            </a:pPr>
            <a:r>
              <a:rPr lang="vi-VN"/>
              <a:t>Xét 2 cách hiện thực khác nhau của cùng kiến trúc tập lệnh lên hai bộ xử lý P1 và P2. Có</a:t>
            </a:r>
            <a:r>
              <a:rPr lang="en-US"/>
              <a:t> 3</a:t>
            </a:r>
            <a:r>
              <a:rPr lang="vi-VN"/>
              <a:t> lớp lệnh: A, B</a:t>
            </a:r>
            <a:r>
              <a:rPr lang="en-US"/>
              <a:t> và</a:t>
            </a:r>
            <a:r>
              <a:rPr lang="vi-VN"/>
              <a:t> C. Tần số xung clock và CPI của mỗi cách thiết kế được cho như</a:t>
            </a:r>
            <a:r>
              <a:rPr lang="en-US"/>
              <a:t> </a:t>
            </a:r>
            <a:r>
              <a:rPr lang="vi-VN"/>
              <a:t>bảng bên dưới</a:t>
            </a:r>
            <a:r>
              <a:rPr lang="en-US"/>
              <a:t>:</a:t>
            </a:r>
          </a:p>
          <a:p>
            <a:pPr marL="0" indent="0">
              <a:buNone/>
            </a:pPr>
            <a:endParaRPr lang="en-US"/>
          </a:p>
          <a:p>
            <a:pPr marL="0" indent="0">
              <a:buNone/>
            </a:pPr>
            <a:endParaRPr lang="en-US"/>
          </a:p>
          <a:p>
            <a:pPr marL="0" indent="0">
              <a:buNone/>
            </a:pPr>
            <a:endParaRPr lang="en-US"/>
          </a:p>
          <a:p>
            <a:pPr marL="0" indent="0">
              <a:lnSpc>
                <a:spcPct val="150000"/>
              </a:lnSpc>
              <a:buNone/>
            </a:pPr>
            <a:r>
              <a:rPr lang="en-US"/>
              <a:t>Bộ xử lý nào sẽ chạy nhanh h</a:t>
            </a:r>
            <a:r>
              <a:rPr lang="vi-VN"/>
              <a:t>ơ</a:t>
            </a:r>
            <a:r>
              <a:rPr lang="en-US"/>
              <a:t>n với một ch</a:t>
            </a:r>
            <a:r>
              <a:rPr lang="vi-VN"/>
              <a:t>ư</a:t>
            </a:r>
            <a:r>
              <a:rPr lang="en-US"/>
              <a:t>ơng trình có 500 lệnh lớp A, 200 lệnh lớp B và 100 lệnh lớp C?</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32</a:t>
            </a:fld>
            <a:endParaRPr lang="en-VN" dirty="0"/>
          </a:p>
        </p:txBody>
      </p:sp>
      <p:graphicFrame>
        <p:nvGraphicFramePr>
          <p:cNvPr id="6" name="Table 7">
            <a:extLst>
              <a:ext uri="{FF2B5EF4-FFF2-40B4-BE49-F238E27FC236}">
                <a16:creationId xmlns:a16="http://schemas.microsoft.com/office/drawing/2014/main" id="{40AB44C6-B60D-9448-912E-46925FFF06BB}"/>
              </a:ext>
            </a:extLst>
          </p:cNvPr>
          <p:cNvGraphicFramePr>
            <a:graphicFrameLocks noGrp="1"/>
          </p:cNvGraphicFramePr>
          <p:nvPr>
            <p:extLst>
              <p:ext uri="{D42A27DB-BD31-4B8C-83A1-F6EECF244321}">
                <p14:modId xmlns:p14="http://schemas.microsoft.com/office/powerpoint/2010/main" val="2010353902"/>
              </p:ext>
            </p:extLst>
          </p:nvPr>
        </p:nvGraphicFramePr>
        <p:xfrm>
          <a:off x="2197316" y="3506820"/>
          <a:ext cx="7959090" cy="1476972"/>
        </p:xfrm>
        <a:graphic>
          <a:graphicData uri="http://schemas.openxmlformats.org/drawingml/2006/table">
            <a:tbl>
              <a:tblPr firstRow="1" bandRow="1">
                <a:tableStyleId>{5940675A-B579-460E-94D1-54222C63F5DA}</a:tableStyleId>
              </a:tblPr>
              <a:tblGrid>
                <a:gridCol w="1513759">
                  <a:extLst>
                    <a:ext uri="{9D8B030D-6E8A-4147-A177-3AD203B41FA5}">
                      <a16:colId xmlns:a16="http://schemas.microsoft.com/office/drawing/2014/main" val="1217370890"/>
                    </a:ext>
                  </a:extLst>
                </a:gridCol>
                <a:gridCol w="1513759">
                  <a:extLst>
                    <a:ext uri="{9D8B030D-6E8A-4147-A177-3AD203B41FA5}">
                      <a16:colId xmlns:a16="http://schemas.microsoft.com/office/drawing/2014/main" val="125080069"/>
                    </a:ext>
                  </a:extLst>
                </a:gridCol>
                <a:gridCol w="1667530">
                  <a:extLst>
                    <a:ext uri="{9D8B030D-6E8A-4147-A177-3AD203B41FA5}">
                      <a16:colId xmlns:a16="http://schemas.microsoft.com/office/drawing/2014/main" val="3177248703"/>
                    </a:ext>
                  </a:extLst>
                </a:gridCol>
                <a:gridCol w="1632021">
                  <a:extLst>
                    <a:ext uri="{9D8B030D-6E8A-4147-A177-3AD203B41FA5}">
                      <a16:colId xmlns:a16="http://schemas.microsoft.com/office/drawing/2014/main" val="4123905313"/>
                    </a:ext>
                  </a:extLst>
                </a:gridCol>
                <a:gridCol w="1632021">
                  <a:extLst>
                    <a:ext uri="{9D8B030D-6E8A-4147-A177-3AD203B41FA5}">
                      <a16:colId xmlns:a16="http://schemas.microsoft.com/office/drawing/2014/main" val="701501731"/>
                    </a:ext>
                  </a:extLst>
                </a:gridCol>
              </a:tblGrid>
              <a:tr h="492324">
                <a:tc>
                  <a:txBody>
                    <a:bodyPr/>
                    <a:lstStyle/>
                    <a:p>
                      <a:pPr algn="ctr"/>
                      <a:r>
                        <a:rPr lang="en-US" sz="2100" b="1" dirty="0" err="1">
                          <a:latin typeface="Times New Roman" panose="02020603050405020304" pitchFamily="18" charset="0"/>
                          <a:cs typeface="Times New Roman" panose="02020603050405020304" pitchFamily="18" charset="0"/>
                        </a:rPr>
                        <a:t>Bộ</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xử</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lý</a:t>
                      </a:r>
                      <a:endParaRPr lang="en-US" sz="21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b="1" dirty="0" err="1">
                          <a:latin typeface="Times New Roman" panose="02020603050405020304" pitchFamily="18" charset="0"/>
                          <a:cs typeface="Times New Roman" panose="02020603050405020304" pitchFamily="18" charset="0"/>
                        </a:rPr>
                        <a:t>Tần</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số</a:t>
                      </a:r>
                      <a:endParaRPr lang="en-US" sz="2100" b="1"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b="1" dirty="0">
                          <a:latin typeface="Times New Roman" panose="02020603050405020304" pitchFamily="18" charset="0"/>
                          <a:cs typeface="Times New Roman" panose="02020603050405020304" pitchFamily="18" charset="0"/>
                        </a:rPr>
                        <a:t>CPI </a:t>
                      </a:r>
                      <a:r>
                        <a:rPr lang="en-US" sz="2100" b="1" dirty="0" err="1">
                          <a:latin typeface="Times New Roman" panose="02020603050405020304" pitchFamily="18" charset="0"/>
                          <a:cs typeface="Times New Roman" panose="02020603050405020304" pitchFamily="18" charset="0"/>
                        </a:rPr>
                        <a:t>lớp</a:t>
                      </a:r>
                      <a:r>
                        <a:rPr lang="en-US" sz="2100" b="1" dirty="0">
                          <a:latin typeface="Times New Roman" panose="02020603050405020304" pitchFamily="18" charset="0"/>
                          <a:cs typeface="Times New Roman" panose="02020603050405020304" pitchFamily="18" charset="0"/>
                        </a:rPr>
                        <a:t> A</a:t>
                      </a:r>
                    </a:p>
                  </a:txBody>
                  <a:tcPr marL="68580" marR="68580" marT="34290" marB="34290"/>
                </a:tc>
                <a:tc>
                  <a:txBody>
                    <a:bodyPr/>
                    <a:lstStyle/>
                    <a:p>
                      <a:pPr algn="ctr"/>
                      <a:r>
                        <a:rPr lang="en-US" sz="2100" b="1" dirty="0">
                          <a:latin typeface="Times New Roman" panose="02020603050405020304" pitchFamily="18" charset="0"/>
                          <a:cs typeface="Times New Roman" panose="02020603050405020304" pitchFamily="18" charset="0"/>
                        </a:rPr>
                        <a:t>CPI </a:t>
                      </a:r>
                      <a:r>
                        <a:rPr lang="en-US" sz="2100" b="1" dirty="0" err="1">
                          <a:latin typeface="Times New Roman" panose="02020603050405020304" pitchFamily="18" charset="0"/>
                          <a:cs typeface="Times New Roman" panose="02020603050405020304" pitchFamily="18" charset="0"/>
                        </a:rPr>
                        <a:t>lớp</a:t>
                      </a:r>
                      <a:r>
                        <a:rPr lang="en-US" sz="2100" b="1" dirty="0">
                          <a:latin typeface="Times New Roman" panose="02020603050405020304" pitchFamily="18" charset="0"/>
                          <a:cs typeface="Times New Roman" panose="02020603050405020304" pitchFamily="18" charset="0"/>
                        </a:rPr>
                        <a:t> B</a:t>
                      </a:r>
                    </a:p>
                  </a:txBody>
                  <a:tcPr marL="68580" marR="68580" marT="34290" marB="34290"/>
                </a:tc>
                <a:tc>
                  <a:txBody>
                    <a:bodyPr/>
                    <a:lstStyle/>
                    <a:p>
                      <a:pPr algn="ctr"/>
                      <a:r>
                        <a:rPr lang="en-US" sz="2100" b="1" dirty="0">
                          <a:latin typeface="Times New Roman" panose="02020603050405020304" pitchFamily="18" charset="0"/>
                          <a:cs typeface="Times New Roman" panose="02020603050405020304" pitchFamily="18" charset="0"/>
                        </a:rPr>
                        <a:t>CPI </a:t>
                      </a:r>
                      <a:r>
                        <a:rPr lang="en-US" sz="2100" b="1" dirty="0" err="1">
                          <a:latin typeface="Times New Roman" panose="02020603050405020304" pitchFamily="18" charset="0"/>
                          <a:cs typeface="Times New Roman" panose="02020603050405020304" pitchFamily="18" charset="0"/>
                        </a:rPr>
                        <a:t>lớp</a:t>
                      </a:r>
                      <a:r>
                        <a:rPr lang="en-US" sz="2100" b="1" dirty="0">
                          <a:latin typeface="Times New Roman" panose="02020603050405020304" pitchFamily="18" charset="0"/>
                          <a:cs typeface="Times New Roman" panose="02020603050405020304" pitchFamily="18" charset="0"/>
                        </a:rPr>
                        <a:t> C</a:t>
                      </a:r>
                    </a:p>
                  </a:txBody>
                  <a:tcPr marL="68580" marR="68580" marT="34290" marB="34290"/>
                </a:tc>
                <a:extLst>
                  <a:ext uri="{0D108BD9-81ED-4DB2-BD59-A6C34878D82A}">
                    <a16:rowId xmlns:a16="http://schemas.microsoft.com/office/drawing/2014/main" val="90951290"/>
                  </a:ext>
                </a:extLst>
              </a:tr>
              <a:tr h="492324">
                <a:tc>
                  <a:txBody>
                    <a:bodyPr/>
                    <a:lstStyle/>
                    <a:p>
                      <a:pPr algn="ctr"/>
                      <a:r>
                        <a:rPr lang="en-US" sz="2100" dirty="0">
                          <a:latin typeface="Times New Roman" panose="02020603050405020304" pitchFamily="18" charset="0"/>
                          <a:cs typeface="Times New Roman" panose="02020603050405020304" pitchFamily="18" charset="0"/>
                        </a:rPr>
                        <a:t>P1</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1.5 </a:t>
                      </a:r>
                      <a:r>
                        <a:rPr lang="en-US" sz="2100" dirty="0" err="1">
                          <a:latin typeface="Times New Roman" panose="02020603050405020304" pitchFamily="18" charset="0"/>
                          <a:cs typeface="Times New Roman" panose="02020603050405020304" pitchFamily="18" charset="0"/>
                        </a:rPr>
                        <a:t>Ghz</a:t>
                      </a:r>
                      <a:endParaRPr lang="en-US" sz="21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1</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3</a:t>
                      </a:r>
                    </a:p>
                  </a:txBody>
                  <a:tcPr marL="68580" marR="68580" marT="34290" marB="34290"/>
                </a:tc>
                <a:extLst>
                  <a:ext uri="{0D108BD9-81ED-4DB2-BD59-A6C34878D82A}">
                    <a16:rowId xmlns:a16="http://schemas.microsoft.com/office/drawing/2014/main" val="1081345835"/>
                  </a:ext>
                </a:extLst>
              </a:tr>
              <a:tr h="492324">
                <a:tc>
                  <a:txBody>
                    <a:bodyPr/>
                    <a:lstStyle/>
                    <a:p>
                      <a:pPr algn="ctr"/>
                      <a:r>
                        <a:rPr lang="en-US" sz="2100" dirty="0">
                          <a:latin typeface="Times New Roman" panose="02020603050405020304" pitchFamily="18" charset="0"/>
                          <a:cs typeface="Times New Roman" panose="02020603050405020304" pitchFamily="18" charset="0"/>
                        </a:rPr>
                        <a:t>P2</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 </a:t>
                      </a:r>
                      <a:r>
                        <a:rPr lang="en-US" sz="2100" dirty="0" err="1">
                          <a:latin typeface="Times New Roman" panose="02020603050405020304" pitchFamily="18" charset="0"/>
                          <a:cs typeface="Times New Roman" panose="02020603050405020304" pitchFamily="18" charset="0"/>
                        </a:rPr>
                        <a:t>Ghz</a:t>
                      </a:r>
                      <a:endParaRPr lang="en-US" sz="21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a:t>
                      </a:r>
                    </a:p>
                  </a:txBody>
                  <a:tcPr marL="68580" marR="68580" marT="34290" marB="34290"/>
                </a:tc>
                <a:tc>
                  <a:txBody>
                    <a:bodyPr/>
                    <a:lstStyle/>
                    <a:p>
                      <a:pPr algn="ctr"/>
                      <a:r>
                        <a:rPr lang="en-US" sz="2100" dirty="0">
                          <a:latin typeface="Times New Roman" panose="02020603050405020304" pitchFamily="18" charset="0"/>
                          <a:cs typeface="Times New Roman" panose="02020603050405020304" pitchFamily="18" charset="0"/>
                        </a:rPr>
                        <a:t>2</a:t>
                      </a:r>
                    </a:p>
                  </a:txBody>
                  <a:tcPr marL="68580" marR="68580" marT="34290" marB="34290"/>
                </a:tc>
                <a:extLst>
                  <a:ext uri="{0D108BD9-81ED-4DB2-BD59-A6C34878D82A}">
                    <a16:rowId xmlns:a16="http://schemas.microsoft.com/office/drawing/2014/main" val="2658924616"/>
                  </a:ext>
                </a:extLst>
              </a:tr>
            </a:tbl>
          </a:graphicData>
        </a:graphic>
      </p:graphicFrame>
    </p:spTree>
    <p:extLst>
      <p:ext uri="{BB962C8B-B14F-4D97-AF65-F5344CB8AC3E}">
        <p14:creationId xmlns:p14="http://schemas.microsoft.com/office/powerpoint/2010/main" val="999934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ltLang="ja-JP" dirty="0" err="1"/>
              <a:t>Tóm</a:t>
            </a:r>
            <a:r>
              <a:rPr lang="en-US" altLang="ja-JP" dirty="0"/>
              <a:t> </a:t>
            </a:r>
            <a:r>
              <a:rPr lang="en-US" altLang="ja-JP" dirty="0" err="1"/>
              <a:t>tắt</a:t>
            </a:r>
            <a:r>
              <a:rPr lang="en-US" altLang="ja-JP" dirty="0"/>
              <a:t> </a:t>
            </a:r>
            <a:r>
              <a:rPr lang="en-US" altLang="ja-JP" dirty="0" err="1"/>
              <a:t>lại</a:t>
            </a:r>
            <a:r>
              <a:rPr lang="en-US" altLang="ja-JP" dirty="0"/>
              <a:t> </a:t>
            </a:r>
            <a:r>
              <a:rPr lang="en-US" altLang="ja-JP" dirty="0" err="1"/>
              <a:t>nội</a:t>
            </a:r>
            <a:r>
              <a:rPr lang="en-US" altLang="ja-JP" dirty="0"/>
              <a:t> dung </a:t>
            </a:r>
            <a:r>
              <a:rPr lang="en-US" altLang="ja-JP" dirty="0" err="1"/>
              <a:t>buổi</a:t>
            </a:r>
            <a:r>
              <a:rPr lang="en-US" altLang="ja-JP" dirty="0"/>
              <a:t> </a:t>
            </a:r>
            <a:r>
              <a:rPr lang="en-US" altLang="ja-JP" dirty="0" err="1"/>
              <a:t>học</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pPr marL="514350" indent="-514350">
              <a:lnSpc>
                <a:spcPct val="150000"/>
              </a:lnSpc>
              <a:buFont typeface="+mj-lt"/>
              <a:buAutoNum type="arabicPeriod"/>
            </a:pPr>
            <a:r>
              <a:rPr lang="en-US" sz="2800"/>
              <a:t>Thời gian thực thi và hiệu suất</a:t>
            </a:r>
          </a:p>
          <a:p>
            <a:pPr marL="514350" indent="-514350">
              <a:lnSpc>
                <a:spcPct val="150000"/>
              </a:lnSpc>
              <a:buFont typeface="+mj-lt"/>
              <a:buAutoNum type="arabicPeriod"/>
            </a:pPr>
            <a:r>
              <a:rPr lang="en-US" sz="2800"/>
              <a:t>Clock</a:t>
            </a:r>
          </a:p>
          <a:p>
            <a:pPr marL="514350" indent="-514350">
              <a:lnSpc>
                <a:spcPct val="150000"/>
              </a:lnSpc>
              <a:buFont typeface="+mj-lt"/>
              <a:buAutoNum type="arabicPeriod"/>
            </a:pPr>
            <a:r>
              <a:rPr lang="en-US" sz="2800"/>
              <a:t>CPI</a:t>
            </a:r>
          </a:p>
          <a:p>
            <a:pPr marL="514350" indent="-514350">
              <a:lnSpc>
                <a:spcPct val="150000"/>
              </a:lnSpc>
              <a:buFont typeface="+mj-lt"/>
              <a:buAutoNum type="arabicPeriod"/>
            </a:pPr>
            <a:r>
              <a:rPr lang="en-US"/>
              <a:t>Tính hiệu suất theo IPS/MIPS</a:t>
            </a:r>
            <a:endParaRPr lang="en-US" sz="2800"/>
          </a:p>
          <a:p>
            <a:pPr marL="514350" indent="-514350">
              <a:lnSpc>
                <a:spcPct val="150000"/>
              </a:lnSpc>
              <a:buFont typeface="+mj-lt"/>
              <a:buAutoNum type="arabicPeriod"/>
            </a:pPr>
            <a:r>
              <a:rPr lang="en-US" sz="2800"/>
              <a:t>Các kỹ thuật nâng cao hiệu suất</a:t>
            </a:r>
            <a:endParaRPr lang="en-US" sz="2800"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Tree>
    <p:extLst>
      <p:ext uri="{BB962C8B-B14F-4D97-AF65-F5344CB8AC3E}">
        <p14:creationId xmlns:p14="http://schemas.microsoft.com/office/powerpoint/2010/main" val="206479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1000C4-9A2E-05A2-1818-684E7F99594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1D8756CC-FF80-6915-444D-795BAF1CD5A1}"/>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
        <p:nvSpPr>
          <p:cNvPr id="4" name="Title 1">
            <a:extLst>
              <a:ext uri="{FF2B5EF4-FFF2-40B4-BE49-F238E27FC236}">
                <a16:creationId xmlns:a16="http://schemas.microsoft.com/office/drawing/2014/main" id="{7A14E97F-0DB8-D467-8B0C-A879824FD45F}"/>
              </a:ext>
            </a:extLst>
          </p:cNvPr>
          <p:cNvSpPr txBox="1">
            <a:spLocks/>
          </p:cNvSpPr>
          <p:nvPr/>
        </p:nvSpPr>
        <p:spPr>
          <a:xfrm>
            <a:off x="4684910" y="1918010"/>
            <a:ext cx="4012558" cy="1100921"/>
          </a:xfrm>
          <a:prstGeom prst="rect">
            <a:avLst/>
          </a:prstGeom>
        </p:spPr>
        <p:txBody>
          <a:bodyPr/>
          <a:lst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dirty="0"/>
              <a:t>THẢO LUẬN</a:t>
            </a:r>
          </a:p>
        </p:txBody>
      </p:sp>
      <p:pic>
        <p:nvPicPr>
          <p:cNvPr id="5" name="Picture 4" descr="http://data.sinhvienit.net/2013/T09/img/SinhVienIT.Net---suy-nghi.jpg">
            <a:extLst>
              <a:ext uri="{FF2B5EF4-FFF2-40B4-BE49-F238E27FC236}">
                <a16:creationId xmlns:a16="http://schemas.microsoft.com/office/drawing/2014/main" id="{91D62A03-02AF-AB7F-80A0-89E3D2490D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5842" y="3018931"/>
            <a:ext cx="3211551" cy="240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60971"/>
      </p:ext>
    </p:extLst>
  </p:cSld>
  <p:clrMapOvr>
    <a:masterClrMapping/>
  </p:clrMapOvr>
</p:sld>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C6FF"/>
            </a:gs>
            <a:gs pos="100000">
              <a:srgbClr val="0072FF"/>
            </a:gs>
          </a:gsLst>
          <a:lin ang="5400000" scaled="1"/>
        </a:gradFill>
        <a:ln>
          <a:gradFill>
            <a:gsLst>
              <a:gs pos="0">
                <a:srgbClr val="00C6FF"/>
              </a:gs>
              <a:gs pos="100000">
                <a:srgbClr val="0072FF"/>
              </a:gs>
            </a:gsLst>
            <a:lin ang="5400000" scaled="1"/>
          </a:gradFill>
        </a:ln>
      </a:spPr>
      <a:bodyPr rtlCol="0" anchor="ctr"/>
      <a:lstStyle>
        <a:defPPr algn="ctr">
          <a:defRPr dirty="0"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just">
          <a:lnSpc>
            <a:spcPct val="120000"/>
          </a:lnSpc>
          <a:spcBef>
            <a:spcPts val="200"/>
          </a:spcBef>
          <a:spcAft>
            <a:spcPts val="200"/>
          </a:spcAft>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 Bai giang so UIT update</Template>
  <TotalTime>1182</TotalTime>
  <Words>2601</Words>
  <Application>Microsoft Office PowerPoint</Application>
  <PresentationFormat>Widescreen</PresentationFormat>
  <Paragraphs>315</Paragraphs>
  <Slides>34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Thời gian thực thi và hiệu suất</vt:lpstr>
      <vt:lpstr>Thời gian thực thi và hiệu suất (tt)</vt:lpstr>
      <vt:lpstr>Quiz 1</vt:lpstr>
      <vt:lpstr>PowerPoint Presentation</vt:lpstr>
      <vt:lpstr>Clock</vt:lpstr>
      <vt:lpstr>Clock (tt)</vt:lpstr>
      <vt:lpstr>Clock (tt)</vt:lpstr>
      <vt:lpstr>Quiz 2</vt:lpstr>
      <vt:lpstr>Quiz 2 - Đáp án</vt:lpstr>
      <vt:lpstr>PowerPoint Presentation</vt:lpstr>
      <vt:lpstr>CPI (Clock cycle Per Instruction)</vt:lpstr>
      <vt:lpstr>Quiz 3</vt:lpstr>
      <vt:lpstr>Quiz 3 - Đáp án</vt:lpstr>
      <vt:lpstr>CPI (tt)</vt:lpstr>
      <vt:lpstr>Quiz 4</vt:lpstr>
      <vt:lpstr>Quiz 4 - đáp án</vt:lpstr>
      <vt:lpstr>PowerPoint Presentation</vt:lpstr>
      <vt:lpstr>Hiệu suất</vt:lpstr>
      <vt:lpstr>Quiz 3</vt:lpstr>
      <vt:lpstr>PowerPoint Presentation</vt:lpstr>
      <vt:lpstr>Các yếu tố ảnh hưởng tới hiệu suất</vt:lpstr>
      <vt:lpstr>Các yếu tố ảnh hưởng tới hiệu suất (tt)</vt:lpstr>
      <vt:lpstr>Các yếu tố ảnh hưởng tới hiệu suất (tt)</vt:lpstr>
      <vt:lpstr>Các kỹ thuật nâng cao hiệu suất – Giảm thời gian thực thi</vt:lpstr>
      <vt:lpstr>Bài tập (1/4)</vt:lpstr>
      <vt:lpstr>Bài tập (2/4)</vt:lpstr>
      <vt:lpstr>Bài tập (3/4)</vt:lpstr>
      <vt:lpstr>Bài tập (4/4)</vt:lpstr>
      <vt:lpstr>Tóm tắt lại nội dung buổi học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Trần Hoàng Lộc</dc:creator>
  <cp:lastModifiedBy>Phan Đình Duy</cp:lastModifiedBy>
  <cp:revision>116</cp:revision>
  <dcterms:created xsi:type="dcterms:W3CDTF">2023-03-03T01:55:04Z</dcterms:created>
  <dcterms:modified xsi:type="dcterms:W3CDTF">2023-09-06T04:41:46Z</dcterms:modified>
</cp:coreProperties>
</file>