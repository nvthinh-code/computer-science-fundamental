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64"/>
  </p:notesMasterIdLst>
  <p:sldIdLst>
    <p:sldId id="314" r:id="rId2"/>
    <p:sldId id="262" r:id="rId3"/>
    <p:sldId id="269" r:id="rId4"/>
    <p:sldId id="261" r:id="rId5"/>
    <p:sldId id="263" r:id="rId6"/>
    <p:sldId id="378" r:id="rId7"/>
    <p:sldId id="379" r:id="rId8"/>
    <p:sldId id="384" r:id="rId9"/>
    <p:sldId id="380" r:id="rId10"/>
    <p:sldId id="402" r:id="rId11"/>
    <p:sldId id="381" r:id="rId12"/>
    <p:sldId id="382" r:id="rId13"/>
    <p:sldId id="383" r:id="rId14"/>
    <p:sldId id="295" r:id="rId15"/>
    <p:sldId id="296" r:id="rId16"/>
    <p:sldId id="328" r:id="rId17"/>
    <p:sldId id="327" r:id="rId18"/>
    <p:sldId id="329" r:id="rId19"/>
    <p:sldId id="330" r:id="rId20"/>
    <p:sldId id="331" r:id="rId21"/>
    <p:sldId id="369" r:id="rId22"/>
    <p:sldId id="332" r:id="rId23"/>
    <p:sldId id="403" r:id="rId24"/>
    <p:sldId id="301" r:id="rId25"/>
    <p:sldId id="398" r:id="rId26"/>
    <p:sldId id="399" r:id="rId27"/>
    <p:sldId id="400" r:id="rId28"/>
    <p:sldId id="401" r:id="rId29"/>
    <p:sldId id="273" r:id="rId30"/>
    <p:sldId id="385" r:id="rId31"/>
    <p:sldId id="415" r:id="rId32"/>
    <p:sldId id="302" r:id="rId33"/>
    <p:sldId id="274" r:id="rId34"/>
    <p:sldId id="405" r:id="rId35"/>
    <p:sldId id="406" r:id="rId36"/>
    <p:sldId id="386" r:id="rId37"/>
    <p:sldId id="387" r:id="rId38"/>
    <p:sldId id="407" r:id="rId39"/>
    <p:sldId id="408" r:id="rId40"/>
    <p:sldId id="404" r:id="rId41"/>
    <p:sldId id="348" r:id="rId42"/>
    <p:sldId id="349" r:id="rId43"/>
    <p:sldId id="350" r:id="rId44"/>
    <p:sldId id="368" r:id="rId45"/>
    <p:sldId id="409" r:id="rId46"/>
    <p:sldId id="410" r:id="rId47"/>
    <p:sldId id="411" r:id="rId48"/>
    <p:sldId id="346" r:id="rId49"/>
    <p:sldId id="347" r:id="rId50"/>
    <p:sldId id="275" r:id="rId51"/>
    <p:sldId id="388" r:id="rId52"/>
    <p:sldId id="351" r:id="rId53"/>
    <p:sldId id="352" r:id="rId54"/>
    <p:sldId id="389" r:id="rId55"/>
    <p:sldId id="390" r:id="rId56"/>
    <p:sldId id="392" r:id="rId57"/>
    <p:sldId id="413" r:id="rId58"/>
    <p:sldId id="391" r:id="rId59"/>
    <p:sldId id="412" r:id="rId60"/>
    <p:sldId id="414" r:id="rId61"/>
    <p:sldId id="371" r:id="rId62"/>
    <p:sldId id="268" r:id="rId63"/>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84" autoAdjust="0"/>
    <p:restoredTop sz="93083" autoAdjust="0"/>
  </p:normalViewPr>
  <p:slideViewPr>
    <p:cSldViewPr snapToGrid="0">
      <p:cViewPr varScale="1">
        <p:scale>
          <a:sx n="58" d="100"/>
          <a:sy n="58" d="100"/>
        </p:scale>
        <p:origin x="401"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08/21/2023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a:t>
            </a:fld>
            <a:endParaRPr lang="en-VN"/>
          </a:p>
        </p:txBody>
      </p:sp>
    </p:spTree>
    <p:extLst>
      <p:ext uri="{BB962C8B-B14F-4D97-AF65-F5344CB8AC3E}">
        <p14:creationId xmlns:p14="http://schemas.microsoft.com/office/powerpoint/2010/main" val="734621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https://ir.vnulib.edu.vn/flowpaper/simple_document.php?subfolder=65/99/43/&amp;doc=65994368643908198925626668997758671060&amp;bitsid=8cedcb95-db17-47af-a7bb-08091008d6aa&amp;uid=7bf8767d-d666-47d0-a04f-9fdb180ebb17</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5</a:t>
            </a:fld>
            <a:endParaRPr lang="en-VN"/>
          </a:p>
        </p:txBody>
      </p:sp>
    </p:spTree>
    <p:extLst>
      <p:ext uri="{BB962C8B-B14F-4D97-AF65-F5344CB8AC3E}">
        <p14:creationId xmlns:p14="http://schemas.microsoft.com/office/powerpoint/2010/main" val="487500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dirty="0"/>
          </a:p>
        </p:txBody>
      </p:sp>
    </p:spTree>
    <p:extLst>
      <p:ext uri="{BB962C8B-B14F-4D97-AF65-F5344CB8AC3E}">
        <p14:creationId xmlns:p14="http://schemas.microsoft.com/office/powerpoint/2010/main" val="2625953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25</a:t>
            </a:fld>
            <a:endParaRPr lang="en-VN"/>
          </a:p>
        </p:txBody>
      </p:sp>
    </p:spTree>
    <p:extLst>
      <p:ext uri="{BB962C8B-B14F-4D97-AF65-F5344CB8AC3E}">
        <p14:creationId xmlns:p14="http://schemas.microsoft.com/office/powerpoint/2010/main" val="1815465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26</a:t>
            </a:fld>
            <a:endParaRPr lang="en-VN"/>
          </a:p>
        </p:txBody>
      </p:sp>
    </p:spTree>
    <p:extLst>
      <p:ext uri="{BB962C8B-B14F-4D97-AF65-F5344CB8AC3E}">
        <p14:creationId xmlns:p14="http://schemas.microsoft.com/office/powerpoint/2010/main" val="1945750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27</a:t>
            </a:fld>
            <a:endParaRPr lang="en-VN"/>
          </a:p>
        </p:txBody>
      </p:sp>
    </p:spTree>
    <p:extLst>
      <p:ext uri="{BB962C8B-B14F-4D97-AF65-F5344CB8AC3E}">
        <p14:creationId xmlns:p14="http://schemas.microsoft.com/office/powerpoint/2010/main" val="1323655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28</a:t>
            </a:fld>
            <a:endParaRPr lang="en-VN"/>
          </a:p>
        </p:txBody>
      </p:sp>
    </p:spTree>
    <p:extLst>
      <p:ext uri="{BB962C8B-B14F-4D97-AF65-F5344CB8AC3E}">
        <p14:creationId xmlns:p14="http://schemas.microsoft.com/office/powerpoint/2010/main" val="1556196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p>
        </p:txBody>
      </p:sp>
      <p:sp>
        <p:nvSpPr>
          <p:cNvPr id="4" name="Slide Number Placeholder 3"/>
          <p:cNvSpPr>
            <a:spLocks noGrp="1"/>
          </p:cNvSpPr>
          <p:nvPr>
            <p:ph type="sldNum" sz="quarter" idx="10"/>
          </p:nvPr>
        </p:nvSpPr>
        <p:spPr/>
        <p:txBody>
          <a:bodyPr/>
          <a:lstStyle/>
          <a:p>
            <a:fld id="{D4F08593-9999-46B0-AA2F-E39338DD28D8}" type="slidenum">
              <a:rPr lang="en-US" smtClean="0"/>
              <a:pPr/>
              <a:t>41</a:t>
            </a:fld>
            <a:endParaRPr lang="en-US"/>
          </a:p>
        </p:txBody>
      </p:sp>
    </p:spTree>
    <p:extLst>
      <p:ext uri="{BB962C8B-B14F-4D97-AF65-F5344CB8AC3E}">
        <p14:creationId xmlns:p14="http://schemas.microsoft.com/office/powerpoint/2010/main" val="457123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F08593-9999-46B0-AA2F-E39338DD28D8}" type="slidenum">
              <a:rPr lang="en-US" smtClean="0"/>
              <a:pPr/>
              <a:t>42</a:t>
            </a:fld>
            <a:endParaRPr lang="en-US"/>
          </a:p>
        </p:txBody>
      </p:sp>
    </p:spTree>
    <p:extLst>
      <p:ext uri="{BB962C8B-B14F-4D97-AF65-F5344CB8AC3E}">
        <p14:creationId xmlns:p14="http://schemas.microsoft.com/office/powerpoint/2010/main" val="4261891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10"/>
          </p:nvPr>
        </p:nvSpPr>
        <p:spPr/>
        <p:txBody>
          <a:bodyPr/>
          <a:lstStyle/>
          <a:p>
            <a:fld id="{D4F08593-9999-46B0-AA2F-E39338DD28D8}" type="slidenum">
              <a:rPr lang="en-US" smtClean="0"/>
              <a:pPr/>
              <a:t>43</a:t>
            </a:fld>
            <a:endParaRPr lang="en-US"/>
          </a:p>
        </p:txBody>
      </p:sp>
    </p:spTree>
    <p:extLst>
      <p:ext uri="{BB962C8B-B14F-4D97-AF65-F5344CB8AC3E}">
        <p14:creationId xmlns:p14="http://schemas.microsoft.com/office/powerpoint/2010/main" val="1116949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F08593-9999-46B0-AA2F-E39338DD28D8}" type="slidenum">
              <a:rPr lang="en-US" smtClean="0"/>
              <a:pPr/>
              <a:t>49</a:t>
            </a:fld>
            <a:endParaRPr lang="en-US"/>
          </a:p>
        </p:txBody>
      </p:sp>
    </p:spTree>
    <p:extLst>
      <p:ext uri="{BB962C8B-B14F-4D97-AF65-F5344CB8AC3E}">
        <p14:creationId xmlns:p14="http://schemas.microsoft.com/office/powerpoint/2010/main" val="4007595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F08593-9999-46B0-AA2F-E39338DD28D8}" type="slidenum">
              <a:rPr lang="en-US" smtClean="0"/>
              <a:pPr/>
              <a:t>52</a:t>
            </a:fld>
            <a:endParaRPr lang="en-US"/>
          </a:p>
        </p:txBody>
      </p:sp>
    </p:spTree>
    <p:extLst>
      <p:ext uri="{BB962C8B-B14F-4D97-AF65-F5344CB8AC3E}">
        <p14:creationId xmlns:p14="http://schemas.microsoft.com/office/powerpoint/2010/main" val="2812523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Tuần</a:t>
            </a:r>
            <a:r>
              <a:rPr lang="en-US" dirty="0"/>
              <a:t> </a:t>
            </a:r>
            <a:r>
              <a:rPr lang="en-US" dirty="0" err="1"/>
              <a:t>sau</a:t>
            </a:r>
            <a:r>
              <a:rPr lang="en-US" dirty="0"/>
              <a:t> </a:t>
            </a:r>
            <a:r>
              <a:rPr lang="en-US" dirty="0" err="1"/>
              <a:t>bắt</a:t>
            </a:r>
            <a:r>
              <a:rPr lang="en-US" dirty="0"/>
              <a:t> </a:t>
            </a:r>
            <a:r>
              <a:rPr lang="en-US" dirty="0" err="1"/>
              <a:t>dâdu</a:t>
            </a:r>
            <a:r>
              <a:rPr lang="en-US" dirty="0"/>
              <a:t> </a:t>
            </a:r>
            <a:r>
              <a:rPr lang="en-US" dirty="0" err="1"/>
              <a:t>từ</a:t>
            </a:r>
            <a:r>
              <a:rPr lang="en-US" dirty="0"/>
              <a:t> </a:t>
            </a:r>
            <a:r>
              <a:rPr lang="en-US" dirty="0" err="1"/>
              <a:t>đây</a:t>
            </a:r>
            <a:r>
              <a:rPr lang="en-US"/>
              <a:t>!</a:t>
            </a:r>
          </a:p>
        </p:txBody>
      </p:sp>
      <p:sp>
        <p:nvSpPr>
          <p:cNvPr id="4" name="Slide Number Placeholder 3"/>
          <p:cNvSpPr>
            <a:spLocks noGrp="1"/>
          </p:cNvSpPr>
          <p:nvPr>
            <p:ph type="sldNum" sz="quarter" idx="10"/>
          </p:nvPr>
        </p:nvSpPr>
        <p:spPr/>
        <p:txBody>
          <a:bodyPr/>
          <a:lstStyle/>
          <a:p>
            <a:fld id="{D4F08593-9999-46B0-AA2F-E39338DD28D8}" type="slidenum">
              <a:rPr lang="en-US" smtClean="0"/>
              <a:pPr/>
              <a:t>53</a:t>
            </a:fld>
            <a:endParaRPr lang="en-US"/>
          </a:p>
        </p:txBody>
      </p:sp>
    </p:spTree>
    <p:extLst>
      <p:ext uri="{BB962C8B-B14F-4D97-AF65-F5344CB8AC3E}">
        <p14:creationId xmlns:p14="http://schemas.microsoft.com/office/powerpoint/2010/main" val="35594061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
        <p:nvSpPr>
          <p:cNvPr id="3" name="Freeform 6">
            <a:extLst>
              <a:ext uri="{FF2B5EF4-FFF2-40B4-BE49-F238E27FC236}">
                <a16:creationId xmlns:a16="http://schemas.microsoft.com/office/drawing/2014/main" id="{21C2EBFF-FEBC-DAA5-3813-1E528F662301}"/>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Isosceles Triangle 12">
            <a:extLst>
              <a:ext uri="{FF2B5EF4-FFF2-40B4-BE49-F238E27FC236}">
                <a16:creationId xmlns:a16="http://schemas.microsoft.com/office/drawing/2014/main" id="{E7D7C84E-C149-115F-6ADB-BF049E5FCADA}"/>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0EB585BA-420E-35DE-96FA-56942ADC6446}"/>
              </a:ext>
            </a:extLst>
          </p:cNvPr>
          <p:cNvGrpSpPr/>
          <p:nvPr userDrawn="1"/>
        </p:nvGrpSpPr>
        <p:grpSpPr>
          <a:xfrm>
            <a:off x="58527" y="40944"/>
            <a:ext cx="2869771" cy="1563379"/>
            <a:chOff x="44879" y="27296"/>
            <a:chExt cx="2869771" cy="1563379"/>
          </a:xfrm>
          <a:solidFill>
            <a:srgbClr val="0072FF"/>
          </a:solidFill>
        </p:grpSpPr>
        <p:cxnSp>
          <p:nvCxnSpPr>
            <p:cNvPr id="21" name="Straight Connector 20">
              <a:extLst>
                <a:ext uri="{FF2B5EF4-FFF2-40B4-BE49-F238E27FC236}">
                  <a16:creationId xmlns:a16="http://schemas.microsoft.com/office/drawing/2014/main" id="{566DEB1A-38A1-55B4-6EB6-4CA1B869B7C9}"/>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A9192C9-A78E-4A46-D19C-5A8C43BE0133}"/>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E617CA0-C5A8-EED9-A2AB-1C56E27D4C2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7" name="Isosceles Triangle 26">
            <a:extLst>
              <a:ext uri="{FF2B5EF4-FFF2-40B4-BE49-F238E27FC236}">
                <a16:creationId xmlns:a16="http://schemas.microsoft.com/office/drawing/2014/main" id="{D1299A9A-279B-9D84-C2AD-E57E65DC6DBE}"/>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B88D80A6-2C34-30BE-7748-358A29E68585}"/>
              </a:ext>
            </a:extLst>
          </p:cNvPr>
          <p:cNvGrpSpPr/>
          <p:nvPr userDrawn="1"/>
        </p:nvGrpSpPr>
        <p:grpSpPr>
          <a:xfrm flipH="1" flipV="1">
            <a:off x="9263702" y="5253677"/>
            <a:ext cx="2869771" cy="1563379"/>
            <a:chOff x="44879" y="27296"/>
            <a:chExt cx="2869771" cy="1563379"/>
          </a:xfrm>
          <a:solidFill>
            <a:srgbClr val="0072FF"/>
          </a:solidFill>
        </p:grpSpPr>
        <p:cxnSp>
          <p:nvCxnSpPr>
            <p:cNvPr id="29" name="Straight Connector 28">
              <a:extLst>
                <a:ext uri="{FF2B5EF4-FFF2-40B4-BE49-F238E27FC236}">
                  <a16:creationId xmlns:a16="http://schemas.microsoft.com/office/drawing/2014/main" id="{4D04BC71-2E27-55F6-DA18-A92AD9A27403}"/>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83ED3E7-4145-768B-994D-A4508017E2C7}"/>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41200B3-CB97-0F77-CE09-FB6876B1DB1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32" name="Freeform 17">
            <a:extLst>
              <a:ext uri="{FF2B5EF4-FFF2-40B4-BE49-F238E27FC236}">
                <a16:creationId xmlns:a16="http://schemas.microsoft.com/office/drawing/2014/main" id="{4FA0DFAE-8493-E114-CB8C-545BB0E070AD}"/>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33" name="Freeform 18">
            <a:extLst>
              <a:ext uri="{FF2B5EF4-FFF2-40B4-BE49-F238E27FC236}">
                <a16:creationId xmlns:a16="http://schemas.microsoft.com/office/drawing/2014/main" id="{B957EB42-9484-A265-5E56-0BC59A41D28B}"/>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35" name="Picture 34" descr="A picture containing clipart, vector graphics&#10;&#10;Description automatically generated">
            <a:extLst>
              <a:ext uri="{FF2B5EF4-FFF2-40B4-BE49-F238E27FC236}">
                <a16:creationId xmlns:a16="http://schemas.microsoft.com/office/drawing/2014/main" id="{607B4D69-4601-945C-590D-E9B7C67C2DF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37" name="TextBox 36">
            <a:extLst>
              <a:ext uri="{FF2B5EF4-FFF2-40B4-BE49-F238E27FC236}">
                <a16:creationId xmlns:a16="http://schemas.microsoft.com/office/drawing/2014/main" id="{65FA2641-06D3-669C-A6ED-8281598D0596}"/>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Tree>
    <p:extLst>
      <p:ext uri="{BB962C8B-B14F-4D97-AF65-F5344CB8AC3E}">
        <p14:creationId xmlns:p14="http://schemas.microsoft.com/office/powerpoint/2010/main" val="907242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158410944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grpSp>
        <p:nvGrpSpPr>
          <p:cNvPr id="36" name="Group 35">
            <a:extLst>
              <a:ext uri="{FF2B5EF4-FFF2-40B4-BE49-F238E27FC236}">
                <a16:creationId xmlns:a16="http://schemas.microsoft.com/office/drawing/2014/main" id="{11E5AAB4-F14E-4F9C-E123-7635A7EF6275}"/>
              </a:ext>
            </a:extLst>
          </p:cNvPr>
          <p:cNvGrpSpPr/>
          <p:nvPr/>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0" name="TextBox 69">
            <a:extLst>
              <a:ext uri="{FF2B5EF4-FFF2-40B4-BE49-F238E27FC236}">
                <a16:creationId xmlns:a16="http://schemas.microsoft.com/office/drawing/2014/main" id="{03E32705-3D72-A324-09E4-62DB4F73E8B8}"/>
              </a:ext>
            </a:extLst>
          </p:cNvPr>
          <p:cNvSpPr txBox="1"/>
          <p:nvPr/>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2819896782"/>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pic>
        <p:nvPicPr>
          <p:cNvPr id="8" name="Picture 7" descr="Background pattern&#10;&#10;Description automatically generated">
            <a:extLst>
              <a:ext uri="{FF2B5EF4-FFF2-40B4-BE49-F238E27FC236}">
                <a16:creationId xmlns:a16="http://schemas.microsoft.com/office/drawing/2014/main" id="{007C1B70-2937-6A93-C825-9357034C5BF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9" name="Rectangle 8">
            <a:extLst>
              <a:ext uri="{FF2B5EF4-FFF2-40B4-BE49-F238E27FC236}">
                <a16:creationId xmlns:a16="http://schemas.microsoft.com/office/drawing/2014/main" id="{74B2F334-472D-3B1F-B406-B0B6EA23BA4F}"/>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4807DCBB-9071-39E5-0CF6-2F9760CD4FA4}"/>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FF2829-34F5-1106-E58C-A80194E479CC}"/>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2BC849-A210-5CB7-8C96-C55FD5517730}"/>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B6877A-1226-334D-0056-FAC11BC6296B}"/>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25AC5E9-5A5C-1E74-2B0A-2CB14CD44DCB}"/>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39A26C7-71B5-ECC9-EE13-98FE3639583B}"/>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2">
            <a:extLst>
              <a:ext uri="{FF2B5EF4-FFF2-40B4-BE49-F238E27FC236}">
                <a16:creationId xmlns:a16="http://schemas.microsoft.com/office/drawing/2014/main" id="{0B446128-CF5C-1B80-4B62-554551FF1AA2}"/>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BA980E81-A419-4472-C480-DAC8C2CEDE05}"/>
              </a:ext>
            </a:extLst>
          </p:cNvPr>
          <p:cNvGrpSpPr/>
          <p:nvPr userDrawn="1"/>
        </p:nvGrpSpPr>
        <p:grpSpPr>
          <a:xfrm>
            <a:off x="58527" y="40944"/>
            <a:ext cx="2869771" cy="1563379"/>
            <a:chOff x="44879" y="27296"/>
            <a:chExt cx="2869771" cy="1563379"/>
          </a:xfrm>
          <a:solidFill>
            <a:srgbClr val="0072FF"/>
          </a:solidFill>
        </p:grpSpPr>
        <p:cxnSp>
          <p:nvCxnSpPr>
            <p:cNvPr id="40" name="Straight Connector 39">
              <a:extLst>
                <a:ext uri="{FF2B5EF4-FFF2-40B4-BE49-F238E27FC236}">
                  <a16:creationId xmlns:a16="http://schemas.microsoft.com/office/drawing/2014/main" id="{D15E39D8-CB66-4765-2BDD-ABD318394245}"/>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1D0450F-C244-5191-8AB1-C7A79CAB4924}"/>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1CF709E-0F92-30F0-A7B0-1E1895DEF80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44" name="Isosceles Triangle 12">
            <a:extLst>
              <a:ext uri="{FF2B5EF4-FFF2-40B4-BE49-F238E27FC236}">
                <a16:creationId xmlns:a16="http://schemas.microsoft.com/office/drawing/2014/main" id="{34C6C17D-20AE-BC7E-2E51-13D8311F3FF4}"/>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20B29E22-990A-61AE-0EF6-72C9E0BE695D}"/>
              </a:ext>
            </a:extLst>
          </p:cNvPr>
          <p:cNvGrpSpPr/>
          <p:nvPr userDrawn="1"/>
        </p:nvGrpSpPr>
        <p:grpSpPr>
          <a:xfrm flipH="1" flipV="1">
            <a:off x="9263702" y="5253677"/>
            <a:ext cx="2869771" cy="1563379"/>
            <a:chOff x="44879" y="27296"/>
            <a:chExt cx="2869771" cy="1563379"/>
          </a:xfrm>
          <a:solidFill>
            <a:srgbClr val="0072FF"/>
          </a:solidFill>
        </p:grpSpPr>
        <p:cxnSp>
          <p:nvCxnSpPr>
            <p:cNvPr id="46" name="Straight Connector 45">
              <a:extLst>
                <a:ext uri="{FF2B5EF4-FFF2-40B4-BE49-F238E27FC236}">
                  <a16:creationId xmlns:a16="http://schemas.microsoft.com/office/drawing/2014/main" id="{094E232E-A59F-4D50-0CA4-0E33BD774706}"/>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C903388-A258-4704-C57C-554952314806}"/>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E6214D2-0C0E-0D6A-55FD-A742179AEF02}"/>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49" name="Freeform 30">
            <a:extLst>
              <a:ext uri="{FF2B5EF4-FFF2-40B4-BE49-F238E27FC236}">
                <a16:creationId xmlns:a16="http://schemas.microsoft.com/office/drawing/2014/main" id="{77A7B655-0FBA-4C57-F357-6B6DC703500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0" name="Slide Number Placeholder 4">
            <a:extLst>
              <a:ext uri="{FF2B5EF4-FFF2-40B4-BE49-F238E27FC236}">
                <a16:creationId xmlns:a16="http://schemas.microsoft.com/office/drawing/2014/main" id="{5BD52E04-FD88-2ED1-73CC-D92941170C81}"/>
              </a:ext>
            </a:extLst>
          </p:cNvPr>
          <p:cNvSpPr>
            <a:spLocks noGrp="1"/>
          </p:cNvSpPr>
          <p:nvPr>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1" name="Text Placeholder 32">
            <a:extLst>
              <a:ext uri="{FF2B5EF4-FFF2-40B4-BE49-F238E27FC236}">
                <a16:creationId xmlns:a16="http://schemas.microsoft.com/office/drawing/2014/main" id="{072034C4-CD4F-2359-FAD2-CA4447A22F1D}"/>
              </a:ext>
            </a:extLst>
          </p:cNvPr>
          <p:cNvSpPr>
            <a:spLocks noGrp="1"/>
          </p:cNvSpPr>
          <p:nvPr>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52" name="Text Placeholder 34">
            <a:extLst>
              <a:ext uri="{FF2B5EF4-FFF2-40B4-BE49-F238E27FC236}">
                <a16:creationId xmlns:a16="http://schemas.microsoft.com/office/drawing/2014/main" id="{346A3E76-002C-78F5-0DD7-D255B50C1EA3}"/>
              </a:ext>
            </a:extLst>
          </p:cNvPr>
          <p:cNvSpPr>
            <a:spLocks noGrp="1"/>
          </p:cNvSpPr>
          <p:nvPr>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53" name="Text Placeholder 36">
            <a:extLst>
              <a:ext uri="{FF2B5EF4-FFF2-40B4-BE49-F238E27FC236}">
                <a16:creationId xmlns:a16="http://schemas.microsoft.com/office/drawing/2014/main" id="{681B9CEA-9540-F14F-B8B8-0E02FD7AB618}"/>
              </a:ext>
            </a:extLst>
          </p:cNvPr>
          <p:cNvSpPr>
            <a:spLocks noGrp="1"/>
          </p:cNvSpPr>
          <p:nvPr>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cxnSp>
        <p:nvCxnSpPr>
          <p:cNvPr id="54" name="Straight Connector 53">
            <a:extLst>
              <a:ext uri="{FF2B5EF4-FFF2-40B4-BE49-F238E27FC236}">
                <a16:creationId xmlns:a16="http://schemas.microsoft.com/office/drawing/2014/main" id="{030CFC42-D746-40E0-0A03-34CECBFEC08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US" smtClean="0"/>
              <a:pPr/>
              <a:t>‹#›</a:t>
            </a:fld>
            <a:endParaRPr lang="en-US" dirty="0"/>
          </a:p>
        </p:txBody>
      </p:sp>
    </p:spTree>
    <p:extLst>
      <p:ext uri="{BB962C8B-B14F-4D97-AF65-F5344CB8AC3E}">
        <p14:creationId xmlns:p14="http://schemas.microsoft.com/office/powerpoint/2010/main" val="2458978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565961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691637029"/>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2193752331"/>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247405894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9088043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August 21, 2023</a:t>
            </a:fld>
            <a:endParaRPr lang="en-VN"/>
          </a:p>
        </p:txBody>
      </p:sp>
    </p:spTree>
    <p:extLst>
      <p:ext uri="{BB962C8B-B14F-4D97-AF65-F5344CB8AC3E}">
        <p14:creationId xmlns:p14="http://schemas.microsoft.com/office/powerpoint/2010/main" val="63235009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03887993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Tree>
    <p:extLst>
      <p:ext uri="{BB962C8B-B14F-4D97-AF65-F5344CB8AC3E}">
        <p14:creationId xmlns:p14="http://schemas.microsoft.com/office/powerpoint/2010/main" val="583297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3835991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Tree>
    <p:extLst>
      <p:ext uri="{BB962C8B-B14F-4D97-AF65-F5344CB8AC3E}">
        <p14:creationId xmlns:p14="http://schemas.microsoft.com/office/powerpoint/2010/main" val="31135536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August 21, 2023</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August 21, 2023</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72038902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49" r:id="rId15"/>
    <p:sldLayoutId id="2147483664" r:id="rId16"/>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90.png"/></Relationships>
</file>

<file path=ppt/slides/_rels/slide1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 Id="rId4" Type="http://schemas.openxmlformats.org/officeDocument/2006/relationships/image" Target="../media/image230.png"/></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dirty="0"/>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a:xfrm>
            <a:off x="876990" y="3062315"/>
            <a:ext cx="10438019" cy="459447"/>
          </a:xfrm>
        </p:spPr>
        <p:txBody>
          <a:bodyPr/>
          <a:lstStyle/>
          <a:p>
            <a:r>
              <a:rPr lang="en-US" dirty="0"/>
              <a:t>CHƯƠNG 3: ĐẠI </a:t>
            </a:r>
            <a:r>
              <a:rPr lang="en-US"/>
              <a:t>SỐ BOOLE</a:t>
            </a:r>
            <a:endParaRPr lang="en-VN" dirty="0"/>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dirty="0" err="1"/>
              <a:t>Trình</a:t>
            </a:r>
            <a:r>
              <a:rPr lang="en-US" dirty="0"/>
              <a:t> </a:t>
            </a:r>
            <a:r>
              <a:rPr lang="en-US" dirty="0" err="1"/>
              <a:t>bày</a:t>
            </a:r>
            <a:r>
              <a:rPr lang="en-US" dirty="0"/>
              <a:t> </a:t>
            </a:r>
            <a:r>
              <a:rPr lang="en-US" dirty="0" err="1"/>
              <a:t>các</a:t>
            </a:r>
            <a:r>
              <a:rPr lang="en-US" dirty="0"/>
              <a:t> </a:t>
            </a:r>
            <a:r>
              <a:rPr lang="en-US" dirty="0" err="1"/>
              <a:t>thông</a:t>
            </a:r>
            <a:r>
              <a:rPr lang="en-US" dirty="0"/>
              <a:t> tin </a:t>
            </a:r>
            <a:r>
              <a:rPr lang="en-US" dirty="0" err="1"/>
              <a:t>giới</a:t>
            </a:r>
            <a:r>
              <a:rPr lang="en-US" dirty="0"/>
              <a:t> </a:t>
            </a:r>
            <a:r>
              <a:rPr lang="en-US" dirty="0" err="1"/>
              <a:t>thiệu</a:t>
            </a:r>
            <a:r>
              <a:rPr lang="en-US" dirty="0"/>
              <a:t> </a:t>
            </a:r>
            <a:r>
              <a:rPr lang="en-US" dirty="0" err="1"/>
              <a:t>chung</a:t>
            </a:r>
            <a:r>
              <a:rPr lang="en-US" dirty="0"/>
              <a:t> </a:t>
            </a:r>
            <a:r>
              <a:rPr lang="en-US" dirty="0" err="1"/>
              <a:t>về</a:t>
            </a:r>
            <a:r>
              <a:rPr lang="en-US" dirty="0"/>
              <a:t> </a:t>
            </a:r>
            <a:r>
              <a:rPr lang="en-US" dirty="0" err="1"/>
              <a:t>đại</a:t>
            </a:r>
            <a:r>
              <a:rPr lang="en-US" dirty="0"/>
              <a:t> </a:t>
            </a:r>
            <a:r>
              <a:rPr lang="en-US" dirty="0" err="1"/>
              <a:t>số</a:t>
            </a:r>
            <a:r>
              <a:rPr lang="en-US" dirty="0"/>
              <a:t> Boole, </a:t>
            </a:r>
            <a:r>
              <a:rPr lang="en-US" dirty="0" err="1"/>
              <a:t>các</a:t>
            </a:r>
            <a:r>
              <a:rPr lang="en-US" dirty="0"/>
              <a:t> </a:t>
            </a:r>
            <a:r>
              <a:rPr lang="en-US" dirty="0" err="1"/>
              <a:t>cổng</a:t>
            </a:r>
            <a:r>
              <a:rPr lang="en-US" dirty="0"/>
              <a:t> </a:t>
            </a:r>
            <a:r>
              <a:rPr lang="en-US" dirty="0" err="1"/>
              <a:t>luận</a:t>
            </a:r>
            <a:r>
              <a:rPr lang="en-US" dirty="0"/>
              <a:t> </a:t>
            </a:r>
            <a:r>
              <a:rPr lang="en-US" dirty="0" err="1"/>
              <a:t>lý</a:t>
            </a:r>
            <a:r>
              <a:rPr lang="en-US" dirty="0"/>
              <a:t> </a:t>
            </a:r>
            <a:r>
              <a:rPr lang="en-US" dirty="0" err="1"/>
              <a:t>cơ</a:t>
            </a:r>
            <a:r>
              <a:rPr lang="en-US" dirty="0"/>
              <a:t> </a:t>
            </a:r>
            <a:r>
              <a:rPr lang="en-US" dirty="0" err="1"/>
              <a:t>bản</a:t>
            </a:r>
            <a:r>
              <a:rPr lang="en-US" dirty="0"/>
              <a:t>, </a:t>
            </a:r>
            <a:r>
              <a:rPr lang="en-US" dirty="0" err="1"/>
              <a:t>các</a:t>
            </a:r>
            <a:r>
              <a:rPr lang="en-US" dirty="0"/>
              <a:t> </a:t>
            </a:r>
            <a:r>
              <a:rPr lang="en-US" dirty="0" err="1"/>
              <a:t>phương</a:t>
            </a:r>
            <a:r>
              <a:rPr lang="en-US" dirty="0"/>
              <a:t> </a:t>
            </a:r>
            <a:r>
              <a:rPr lang="en-US" dirty="0" err="1"/>
              <a:t>pháp</a:t>
            </a:r>
            <a:r>
              <a:rPr lang="en-US" dirty="0"/>
              <a:t> </a:t>
            </a:r>
            <a:r>
              <a:rPr lang="en-US" dirty="0" err="1"/>
              <a:t>rút</a:t>
            </a:r>
            <a:r>
              <a:rPr lang="en-US" dirty="0"/>
              <a:t> </a:t>
            </a:r>
            <a:r>
              <a:rPr lang="en-US" dirty="0" err="1"/>
              <a:t>gọn</a:t>
            </a:r>
            <a:r>
              <a:rPr lang="en-US" dirty="0"/>
              <a:t> </a:t>
            </a:r>
            <a:r>
              <a:rPr lang="en-US" dirty="0" err="1"/>
              <a:t>biểu</a:t>
            </a:r>
            <a:r>
              <a:rPr lang="en-US" dirty="0"/>
              <a:t> </a:t>
            </a:r>
            <a:r>
              <a:rPr lang="en-US" dirty="0" err="1"/>
              <a:t>thức</a:t>
            </a:r>
            <a:r>
              <a:rPr lang="en-US" dirty="0"/>
              <a:t> </a:t>
            </a:r>
            <a:r>
              <a:rPr lang="en-US" err="1"/>
              <a:t>luận</a:t>
            </a:r>
            <a:r>
              <a:rPr lang="en-US"/>
              <a:t> lý sử dụng </a:t>
            </a:r>
            <a:r>
              <a:rPr lang="en-US" dirty="0" err="1"/>
              <a:t>đại</a:t>
            </a:r>
            <a:r>
              <a:rPr lang="en-US" dirty="0"/>
              <a:t> </a:t>
            </a:r>
            <a:r>
              <a:rPr lang="en-US" dirty="0" err="1"/>
              <a:t>số</a:t>
            </a:r>
            <a:r>
              <a:rPr lang="en-US" dirty="0"/>
              <a:t> Boole </a:t>
            </a:r>
            <a:r>
              <a:rPr lang="en-US" dirty="0" err="1"/>
              <a:t>và</a:t>
            </a:r>
            <a:r>
              <a:rPr lang="en-US" dirty="0"/>
              <a:t> </a:t>
            </a:r>
            <a:r>
              <a:rPr lang="en-US" dirty="0" err="1"/>
              <a:t>bản</a:t>
            </a:r>
            <a:r>
              <a:rPr lang="en-US" dirty="0"/>
              <a:t> </a:t>
            </a:r>
            <a:r>
              <a:rPr lang="en-US" dirty="0" err="1"/>
              <a:t>đồ</a:t>
            </a:r>
            <a:r>
              <a:rPr lang="en-US" dirty="0"/>
              <a:t> Karnaugh</a:t>
            </a:r>
            <a:endParaRPr lang="en-VN" dirty="0"/>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lstStyle/>
          <a:p>
            <a:r>
              <a:rPr lang="en-US" sz="2800" dirty="0" err="1"/>
              <a:t>Nắm</a:t>
            </a:r>
            <a:r>
              <a:rPr lang="en-US" sz="2800" dirty="0"/>
              <a:t> </a:t>
            </a:r>
            <a:r>
              <a:rPr lang="en-US" sz="2800" dirty="0" err="1"/>
              <a:t>được</a:t>
            </a:r>
            <a:r>
              <a:rPr lang="en-US" sz="2800" dirty="0"/>
              <a:t> </a:t>
            </a:r>
            <a:r>
              <a:rPr lang="en-US" sz="2800" dirty="0" err="1"/>
              <a:t>các</a:t>
            </a:r>
            <a:r>
              <a:rPr lang="en-US" sz="2800" dirty="0"/>
              <a:t> </a:t>
            </a:r>
            <a:r>
              <a:rPr lang="en-US" sz="2800" dirty="0" err="1"/>
              <a:t>tiên</a:t>
            </a:r>
            <a:r>
              <a:rPr lang="en-US" sz="2800" dirty="0"/>
              <a:t> </a:t>
            </a:r>
            <a:r>
              <a:rPr lang="en-US" sz="2800" dirty="0" err="1"/>
              <a:t>đề</a:t>
            </a:r>
            <a:r>
              <a:rPr lang="en-US" sz="2800" dirty="0"/>
              <a:t> </a:t>
            </a:r>
            <a:r>
              <a:rPr lang="en-US" sz="2800" dirty="0" err="1"/>
              <a:t>và</a:t>
            </a:r>
            <a:r>
              <a:rPr lang="en-US" sz="2800" dirty="0"/>
              <a:t> </a:t>
            </a:r>
            <a:r>
              <a:rPr lang="en-US" sz="2800" dirty="0" err="1"/>
              <a:t>định</a:t>
            </a:r>
            <a:r>
              <a:rPr lang="en-US" sz="2800" dirty="0"/>
              <a:t> </a:t>
            </a:r>
            <a:r>
              <a:rPr lang="en-US" sz="2800" dirty="0" err="1"/>
              <a:t>lý</a:t>
            </a:r>
            <a:r>
              <a:rPr lang="en-US" sz="2800" dirty="0"/>
              <a:t> </a:t>
            </a:r>
            <a:r>
              <a:rPr lang="en-US" sz="2800" dirty="0" err="1"/>
              <a:t>của</a:t>
            </a:r>
            <a:r>
              <a:rPr lang="en-US" sz="2800" dirty="0"/>
              <a:t> </a:t>
            </a:r>
            <a:r>
              <a:rPr lang="en-US" sz="2800" dirty="0" err="1"/>
              <a:t>đại</a:t>
            </a:r>
            <a:r>
              <a:rPr lang="en-US" sz="2800" dirty="0"/>
              <a:t> </a:t>
            </a:r>
            <a:r>
              <a:rPr lang="en-US" sz="2800" err="1"/>
              <a:t>số</a:t>
            </a:r>
            <a:r>
              <a:rPr lang="en-US" sz="2800"/>
              <a:t> Boole</a:t>
            </a:r>
            <a:endParaRPr lang="en-US" sz="2800" dirty="0"/>
          </a:p>
          <a:p>
            <a:r>
              <a:rPr lang="en-US" sz="2800" dirty="0" err="1"/>
              <a:t>Biết</a:t>
            </a:r>
            <a:r>
              <a:rPr lang="en-US" sz="2800" dirty="0"/>
              <a:t> </a:t>
            </a:r>
            <a:r>
              <a:rPr lang="en-US" sz="2800" dirty="0" err="1"/>
              <a:t>được</a:t>
            </a:r>
            <a:r>
              <a:rPr lang="en-US" sz="2800" dirty="0"/>
              <a:t> </a:t>
            </a:r>
            <a:r>
              <a:rPr lang="en-US" sz="2800" dirty="0" err="1"/>
              <a:t>các</a:t>
            </a:r>
            <a:r>
              <a:rPr lang="en-US" sz="2800" dirty="0"/>
              <a:t> </a:t>
            </a:r>
            <a:r>
              <a:rPr lang="en-US" sz="2800" dirty="0" err="1"/>
              <a:t>cổng</a:t>
            </a:r>
            <a:r>
              <a:rPr lang="en-US" sz="2800" dirty="0"/>
              <a:t> </a:t>
            </a:r>
            <a:r>
              <a:rPr lang="en-US" sz="2800" err="1"/>
              <a:t>luận</a:t>
            </a:r>
            <a:r>
              <a:rPr lang="en-US" sz="2800"/>
              <a:t> lý cơ bản</a:t>
            </a:r>
            <a:endParaRPr lang="en-US" sz="2800" dirty="0"/>
          </a:p>
          <a:p>
            <a:r>
              <a:rPr lang="en-US" sz="2800" dirty="0" err="1"/>
              <a:t>Có</a:t>
            </a:r>
            <a:r>
              <a:rPr lang="en-US" sz="2800" dirty="0"/>
              <a:t> </a:t>
            </a:r>
            <a:r>
              <a:rPr lang="en-US" sz="2800" dirty="0" err="1"/>
              <a:t>thể</a:t>
            </a:r>
            <a:r>
              <a:rPr lang="en-US" sz="2800" dirty="0"/>
              <a:t> </a:t>
            </a:r>
            <a:r>
              <a:rPr lang="en-US" sz="2800" dirty="0" err="1"/>
              <a:t>tối</a:t>
            </a:r>
            <a:r>
              <a:rPr lang="en-US" sz="2800" dirty="0"/>
              <a:t> </a:t>
            </a:r>
            <a:r>
              <a:rPr lang="en-US" sz="2800" dirty="0" err="1"/>
              <a:t>ưu</a:t>
            </a:r>
            <a:r>
              <a:rPr lang="en-US" sz="2800" dirty="0"/>
              <a:t> </a:t>
            </a:r>
            <a:r>
              <a:rPr lang="en-US" sz="2800" dirty="0" err="1"/>
              <a:t>luận</a:t>
            </a:r>
            <a:r>
              <a:rPr lang="en-US" sz="2800" dirty="0"/>
              <a:t> </a:t>
            </a:r>
            <a:r>
              <a:rPr lang="en-US" sz="2800" dirty="0" err="1"/>
              <a:t>lý</a:t>
            </a:r>
            <a:r>
              <a:rPr lang="en-US" sz="2800" dirty="0"/>
              <a:t> </a:t>
            </a:r>
            <a:r>
              <a:rPr lang="en-US" sz="2800" dirty="0" err="1"/>
              <a:t>bằng</a:t>
            </a:r>
            <a:r>
              <a:rPr lang="en-US" sz="2800" dirty="0"/>
              <a:t> </a:t>
            </a:r>
            <a:r>
              <a:rPr lang="en-US" sz="2800" dirty="0" err="1"/>
              <a:t>Phương</a:t>
            </a:r>
            <a:r>
              <a:rPr lang="en-US" sz="2800" dirty="0"/>
              <a:t> </a:t>
            </a:r>
            <a:r>
              <a:rPr lang="en-US" sz="2800" dirty="0" err="1"/>
              <a:t>pháp</a:t>
            </a:r>
            <a:r>
              <a:rPr lang="en-US" sz="2800" dirty="0"/>
              <a:t> </a:t>
            </a:r>
            <a:r>
              <a:rPr lang="en-US" sz="2800" dirty="0" err="1"/>
              <a:t>đại</a:t>
            </a:r>
            <a:r>
              <a:rPr lang="en-US" sz="2800" dirty="0"/>
              <a:t> </a:t>
            </a:r>
            <a:r>
              <a:rPr lang="en-US" sz="2800" err="1"/>
              <a:t>số</a:t>
            </a:r>
            <a:r>
              <a:rPr lang="en-US" sz="2800"/>
              <a:t> Boole</a:t>
            </a:r>
            <a:endParaRPr lang="en-US" sz="2800" dirty="0"/>
          </a:p>
          <a:p>
            <a:r>
              <a:rPr lang="en-US" sz="2800" dirty="0" err="1"/>
              <a:t>Có</a:t>
            </a:r>
            <a:r>
              <a:rPr lang="en-US" sz="2800" dirty="0"/>
              <a:t> </a:t>
            </a:r>
            <a:r>
              <a:rPr lang="en-US" sz="2800" dirty="0" err="1"/>
              <a:t>thể</a:t>
            </a:r>
            <a:r>
              <a:rPr lang="en-US" sz="2800" dirty="0"/>
              <a:t> </a:t>
            </a:r>
            <a:r>
              <a:rPr lang="en-US" sz="2800" dirty="0" err="1"/>
              <a:t>tối</a:t>
            </a:r>
            <a:r>
              <a:rPr lang="en-US" sz="2800" dirty="0"/>
              <a:t> </a:t>
            </a:r>
            <a:r>
              <a:rPr lang="en-US" sz="2800" dirty="0" err="1"/>
              <a:t>ưu</a:t>
            </a:r>
            <a:r>
              <a:rPr lang="en-US" sz="2800" dirty="0"/>
              <a:t> </a:t>
            </a:r>
            <a:r>
              <a:rPr lang="en-US" sz="2800" dirty="0" err="1"/>
              <a:t>luận</a:t>
            </a:r>
            <a:r>
              <a:rPr lang="en-US" sz="2800" dirty="0"/>
              <a:t> </a:t>
            </a:r>
            <a:r>
              <a:rPr lang="en-US" sz="2800" dirty="0" err="1"/>
              <a:t>lý</a:t>
            </a:r>
            <a:r>
              <a:rPr lang="en-US" sz="2800" dirty="0"/>
              <a:t> </a:t>
            </a:r>
            <a:r>
              <a:rPr lang="en-US" sz="2800" dirty="0" err="1"/>
              <a:t>bằng</a:t>
            </a:r>
            <a:r>
              <a:rPr lang="en-US" sz="2800" dirty="0"/>
              <a:t> </a:t>
            </a:r>
            <a:r>
              <a:rPr lang="en-US" sz="2800" dirty="0" err="1"/>
              <a:t>Phương</a:t>
            </a:r>
            <a:r>
              <a:rPr lang="en-US" sz="2800" dirty="0"/>
              <a:t> </a:t>
            </a:r>
            <a:r>
              <a:rPr lang="en-US" sz="2800" dirty="0" err="1"/>
              <a:t>pháp</a:t>
            </a:r>
            <a:r>
              <a:rPr lang="en-US" sz="2800" dirty="0"/>
              <a:t> Karnaugh</a:t>
            </a:r>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lnSpc>
                <a:spcPct val="150000"/>
              </a:lnSpc>
            </a:pPr>
            <a:r>
              <a:rPr lang="en-US" sz="2800" dirty="0" err="1"/>
              <a:t>Đại</a:t>
            </a:r>
            <a:r>
              <a:rPr lang="en-US" sz="2800" dirty="0"/>
              <a:t> </a:t>
            </a:r>
            <a:r>
              <a:rPr lang="en-US" sz="2800" err="1"/>
              <a:t>số</a:t>
            </a:r>
            <a:r>
              <a:rPr lang="en-US" sz="2800"/>
              <a:t> Boole</a:t>
            </a:r>
            <a:endParaRPr lang="en-US" sz="2800" dirty="0"/>
          </a:p>
          <a:p>
            <a:pPr>
              <a:lnSpc>
                <a:spcPct val="150000"/>
              </a:lnSpc>
            </a:pPr>
            <a:r>
              <a:rPr lang="en-US" sz="2800" dirty="0" err="1"/>
              <a:t>Cổng</a:t>
            </a:r>
            <a:r>
              <a:rPr lang="en-US" sz="2800" dirty="0"/>
              <a:t> </a:t>
            </a:r>
            <a:r>
              <a:rPr lang="en-US" sz="2800" dirty="0" err="1"/>
              <a:t>luận</a:t>
            </a:r>
            <a:r>
              <a:rPr lang="en-US" sz="2800" dirty="0"/>
              <a:t> </a:t>
            </a:r>
            <a:r>
              <a:rPr lang="en-US" sz="2800" dirty="0" err="1"/>
              <a:t>lý</a:t>
            </a:r>
            <a:endParaRPr lang="en-US" sz="2800" dirty="0"/>
          </a:p>
          <a:p>
            <a:pPr>
              <a:lnSpc>
                <a:spcPct val="150000"/>
              </a:lnSpc>
            </a:pPr>
            <a:r>
              <a:rPr lang="en-US" sz="2800" dirty="0" err="1"/>
              <a:t>Tối</a:t>
            </a:r>
            <a:r>
              <a:rPr lang="en-US" sz="2800" dirty="0"/>
              <a:t> </a:t>
            </a:r>
            <a:r>
              <a:rPr lang="en-US" sz="2800" dirty="0" err="1"/>
              <a:t>ưu</a:t>
            </a:r>
            <a:r>
              <a:rPr lang="en-US" sz="2800" dirty="0"/>
              <a:t> </a:t>
            </a:r>
            <a:r>
              <a:rPr lang="en-US" sz="2800" dirty="0" err="1"/>
              <a:t>luận</a:t>
            </a:r>
            <a:r>
              <a:rPr lang="en-US" sz="2800" dirty="0"/>
              <a:t> </a:t>
            </a:r>
            <a:r>
              <a:rPr lang="en-US" sz="2800" dirty="0" err="1"/>
              <a:t>lý</a:t>
            </a:r>
            <a:endParaRPr lang="en-US" sz="2800" dirty="0"/>
          </a:p>
          <a:p>
            <a:pPr>
              <a:lnSpc>
                <a:spcPct val="150000"/>
              </a:lnSpc>
            </a:pPr>
            <a:r>
              <a:rPr lang="en-US" sz="2800" dirty="0" err="1"/>
              <a:t>Phương</a:t>
            </a:r>
            <a:r>
              <a:rPr lang="en-US" sz="2800" dirty="0"/>
              <a:t> </a:t>
            </a:r>
            <a:r>
              <a:rPr lang="en-US" sz="2800" dirty="0" err="1"/>
              <a:t>pháp</a:t>
            </a:r>
            <a:r>
              <a:rPr lang="en-US" sz="2800" dirty="0"/>
              <a:t> Karnaugh</a:t>
            </a:r>
          </a:p>
          <a:p>
            <a:pPr>
              <a:lnSpc>
                <a:spcPct val="150000"/>
              </a:lnSpc>
            </a:pPr>
            <a:r>
              <a:rPr lang="en-US" sz="2800"/>
              <a:t>Bài </a:t>
            </a:r>
            <a:r>
              <a:rPr lang="en-US" sz="2800" dirty="0" err="1"/>
              <a:t>tập</a:t>
            </a:r>
            <a:endParaRPr lang="en-US" sz="2800" dirty="0"/>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74B5FA61-C506-1C63-23CD-30FA982ED939}"/>
              </a:ext>
            </a:extLst>
          </p:cNvPr>
          <p:cNvSpPr>
            <a:spLocks noGrp="1"/>
          </p:cNvSpPr>
          <p:nvPr>
            <p:ph type="body" sz="quarter" idx="16"/>
          </p:nvPr>
        </p:nvSpPr>
        <p:spPr/>
        <p:txBody>
          <a:bodyPr>
            <a:normAutofit lnSpcReduction="10000"/>
          </a:bodyPr>
          <a:lstStyle/>
          <a:p>
            <a:r>
              <a:rPr lang="en-US" dirty="0"/>
              <a:t>1</a:t>
            </a:r>
          </a:p>
        </p:txBody>
      </p:sp>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14" name="Text Placeholder 13">
            <a:extLst>
              <a:ext uri="{FF2B5EF4-FFF2-40B4-BE49-F238E27FC236}">
                <a16:creationId xmlns:a16="http://schemas.microsoft.com/office/drawing/2014/main" id="{938D266F-71BD-8963-1B23-8EDBD5A4F2F3}"/>
              </a:ext>
            </a:extLst>
          </p:cNvPr>
          <p:cNvSpPr>
            <a:spLocks noGrp="1"/>
          </p:cNvSpPr>
          <p:nvPr>
            <p:ph type="body" sz="quarter" idx="15"/>
          </p:nvPr>
        </p:nvSpPr>
        <p:spPr/>
        <p:txBody>
          <a:bodyPr/>
          <a:lstStyle/>
          <a:p>
            <a:endParaRPr lang="en-US"/>
          </a:p>
        </p:txBody>
      </p:sp>
      <p:sp>
        <p:nvSpPr>
          <p:cNvPr id="12" name="Text Placeholder 11">
            <a:extLst>
              <a:ext uri="{FF2B5EF4-FFF2-40B4-BE49-F238E27FC236}">
                <a16:creationId xmlns:a16="http://schemas.microsoft.com/office/drawing/2014/main" id="{9CAF6E14-FC5A-A28C-75A4-CBD718547738}"/>
              </a:ext>
            </a:extLst>
          </p:cNvPr>
          <p:cNvSpPr>
            <a:spLocks noGrp="1"/>
          </p:cNvSpPr>
          <p:nvPr>
            <p:ph type="body" sz="quarter" idx="13"/>
          </p:nvPr>
        </p:nvSpPr>
        <p:spPr>
          <a:xfrm>
            <a:off x="1558395" y="2095027"/>
            <a:ext cx="6264164" cy="884656"/>
          </a:xfrm>
        </p:spPr>
        <p:txBody>
          <a:bodyPr/>
          <a:lstStyle/>
          <a:p>
            <a:r>
              <a:rPr lang="en-US" dirty="0" err="1"/>
              <a:t>Đại</a:t>
            </a:r>
            <a:r>
              <a:rPr lang="en-US" dirty="0"/>
              <a:t> </a:t>
            </a:r>
            <a:r>
              <a:rPr lang="en-US" err="1"/>
              <a:t>số</a:t>
            </a:r>
            <a:r>
              <a:rPr lang="en-US"/>
              <a:t> Boole</a:t>
            </a:r>
            <a:endParaRPr lang="en-US" dirty="0"/>
          </a:p>
        </p:txBody>
      </p:sp>
      <p:sp>
        <p:nvSpPr>
          <p:cNvPr id="15" name="Text Placeholder 14">
            <a:extLst>
              <a:ext uri="{FF2B5EF4-FFF2-40B4-BE49-F238E27FC236}">
                <a16:creationId xmlns:a16="http://schemas.microsoft.com/office/drawing/2014/main" id="{3A9EDEA5-7F31-E524-E382-B731028B7DDF}"/>
              </a:ext>
            </a:extLst>
          </p:cNvPr>
          <p:cNvSpPr>
            <a:spLocks noGrp="1"/>
          </p:cNvSpPr>
          <p:nvPr>
            <p:ph type="body" sz="quarter" idx="15"/>
          </p:nvPr>
        </p:nvSpPr>
        <p:spPr/>
        <p:txBody>
          <a:bodyPr/>
          <a:lstStyle/>
          <a:p>
            <a:endParaRPr lang="en-US" dirty="0"/>
          </a:p>
        </p:txBody>
      </p:sp>
      <p:sp>
        <p:nvSpPr>
          <p:cNvPr id="4" name="Text Placeholder 3">
            <a:extLst>
              <a:ext uri="{FF2B5EF4-FFF2-40B4-BE49-F238E27FC236}">
                <a16:creationId xmlns:a16="http://schemas.microsoft.com/office/drawing/2014/main" id="{6D6A42A3-4F33-4108-FD6D-A675F0089008}"/>
              </a:ext>
            </a:extLst>
          </p:cNvPr>
          <p:cNvSpPr>
            <a:spLocks noGrp="1"/>
          </p:cNvSpPr>
          <p:nvPr>
            <p:ph type="body" sz="quarter" idx="14"/>
          </p:nvPr>
        </p:nvSpPr>
        <p:spPr/>
        <p:txBody>
          <a:bodyPr/>
          <a:lstStyle/>
          <a:p>
            <a:endParaRPr lang="en-VN"/>
          </a:p>
        </p:txBody>
      </p:sp>
    </p:spTree>
    <p:extLst>
      <p:ext uri="{BB962C8B-B14F-4D97-AF65-F5344CB8AC3E}">
        <p14:creationId xmlns:p14="http://schemas.microsoft.com/office/powerpoint/2010/main" val="1704568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sz="4000" dirty="0"/>
              <a:t>- </a:t>
            </a:r>
            <a:r>
              <a:rPr lang="en-US" dirty="0" err="1"/>
              <a:t>Định</a:t>
            </a:r>
            <a:r>
              <a:rPr lang="en-US" dirty="0"/>
              <a:t> </a:t>
            </a:r>
            <a:r>
              <a:rPr lang="en-US" dirty="0" err="1"/>
              <a:t>nghĩa</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en-US" dirty="0"/>
                  <a:t>Đại </a:t>
                </a:r>
                <a:r>
                  <a:rPr lang="en-US" err="1"/>
                  <a:t>số</a:t>
                </a:r>
                <a:r>
                  <a:rPr lang="en-US"/>
                  <a:t> Boole </a:t>
                </a:r>
                <a:r>
                  <a:rPr lang="en-US" dirty="0"/>
                  <a:t>(</a:t>
                </a:r>
                <a:r>
                  <a:rPr lang="en-US" dirty="0" err="1"/>
                  <a:t>luận</a:t>
                </a:r>
                <a:r>
                  <a:rPr lang="en-US" dirty="0"/>
                  <a:t> </a:t>
                </a:r>
                <a:r>
                  <a:rPr lang="en-US" dirty="0" err="1"/>
                  <a:t>lý</a:t>
                </a:r>
                <a:r>
                  <a:rPr lang="en-US" dirty="0"/>
                  <a:t> </a:t>
                </a:r>
                <a:r>
                  <a:rPr lang="en-US" dirty="0" err="1"/>
                  <a:t>nhị</a:t>
                </a:r>
                <a:r>
                  <a:rPr lang="en-US" dirty="0"/>
                  <a:t> </a:t>
                </a:r>
                <a:r>
                  <a:rPr lang="en-US" dirty="0" err="1"/>
                  <a:t>phân</a:t>
                </a:r>
                <a:r>
                  <a:rPr lang="en-US" dirty="0"/>
                  <a:t>) </a:t>
                </a:r>
                <a:r>
                  <a:rPr lang="en-US" dirty="0" err="1"/>
                  <a:t>là</a:t>
                </a:r>
                <a:r>
                  <a:rPr lang="en-US" dirty="0"/>
                  <a:t> </a:t>
                </a:r>
                <a:r>
                  <a:rPr lang="en-US" dirty="0" err="1"/>
                  <a:t>một</a:t>
                </a:r>
                <a:r>
                  <a:rPr lang="en-US" dirty="0"/>
                  <a:t> </a:t>
                </a:r>
                <a:r>
                  <a:rPr lang="en-US" dirty="0" err="1"/>
                  <a:t>cấu</a:t>
                </a:r>
                <a:r>
                  <a:rPr lang="en-US" dirty="0"/>
                  <a:t> </a:t>
                </a:r>
                <a:r>
                  <a:rPr lang="en-US" dirty="0" err="1"/>
                  <a:t>trúc</a:t>
                </a:r>
                <a:r>
                  <a:rPr lang="en-US" dirty="0"/>
                  <a:t> </a:t>
                </a:r>
                <a:r>
                  <a:rPr lang="en-US" dirty="0" err="1"/>
                  <a:t>đại</a:t>
                </a:r>
                <a:r>
                  <a:rPr lang="en-US" dirty="0"/>
                  <a:t> </a:t>
                </a:r>
                <a:r>
                  <a:rPr lang="en-US" dirty="0" err="1"/>
                  <a:t>số</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việc</a:t>
                </a:r>
                <a:r>
                  <a:rPr lang="en-US" dirty="0"/>
                  <a:t> </a:t>
                </a:r>
                <a:r>
                  <a:rPr lang="en-US" dirty="0" err="1"/>
                  <a:t>thao</a:t>
                </a:r>
                <a:r>
                  <a:rPr lang="en-US" dirty="0"/>
                  <a:t> </a:t>
                </a:r>
                <a:r>
                  <a:rPr lang="en-US" dirty="0" err="1"/>
                  <a:t>tác</a:t>
                </a:r>
                <a:r>
                  <a:rPr lang="en-US" dirty="0"/>
                  <a:t> </a:t>
                </a:r>
                <a:r>
                  <a:rPr lang="en-US" dirty="0" err="1"/>
                  <a:t>với</a:t>
                </a:r>
                <a:r>
                  <a:rPr lang="en-US" dirty="0"/>
                  <a:t> </a:t>
                </a:r>
                <a:r>
                  <a:rPr lang="en-US" dirty="0" err="1"/>
                  <a:t>các</a:t>
                </a:r>
                <a:r>
                  <a:rPr lang="en-US" dirty="0"/>
                  <a:t> </a:t>
                </a:r>
                <a:r>
                  <a:rPr lang="en-US" dirty="0" err="1"/>
                  <a:t>biến</a:t>
                </a:r>
                <a:r>
                  <a:rPr lang="en-US" dirty="0"/>
                  <a:t> </a:t>
                </a:r>
                <a:r>
                  <a:rPr lang="en-US" dirty="0" err="1"/>
                  <a:t>luận</a:t>
                </a:r>
                <a:r>
                  <a:rPr lang="en-US" dirty="0"/>
                  <a:t> </a:t>
                </a:r>
                <a:r>
                  <a:rPr lang="en-US" dirty="0" err="1"/>
                  <a:t>lý</a:t>
                </a:r>
                <a:r>
                  <a:rPr lang="en-US" dirty="0"/>
                  <a:t> </a:t>
                </a:r>
                <a:r>
                  <a:rPr lang="en-US" dirty="0" err="1"/>
                  <a:t>nhị</a:t>
                </a:r>
                <a:r>
                  <a:rPr lang="en-US" dirty="0"/>
                  <a:t> </a:t>
                </a:r>
                <a:r>
                  <a:rPr lang="en-US" dirty="0" err="1"/>
                  <a:t>phân</a:t>
                </a:r>
                <a:r>
                  <a:rPr lang="en-US" dirty="0"/>
                  <a:t> (</a:t>
                </a:r>
                <a:r>
                  <a:rPr lang="en-US" dirty="0" err="1"/>
                  <a:t>biến</a:t>
                </a:r>
                <a:r>
                  <a:rPr lang="en-US" dirty="0"/>
                  <a:t> </a:t>
                </a:r>
                <a:r>
                  <a:rPr lang="en-US" dirty="0" err="1"/>
                  <a:t>luận</a:t>
                </a:r>
                <a:r>
                  <a:rPr lang="en-US" dirty="0"/>
                  <a:t> </a:t>
                </a:r>
                <a:r>
                  <a:rPr lang="en-US" dirty="0" err="1"/>
                  <a:t>lý</a:t>
                </a:r>
                <a:r>
                  <a:rPr lang="en-US" dirty="0"/>
                  <a:t>)</a:t>
                </a:r>
              </a:p>
              <a:p>
                <a:pPr lvl="1"/>
                <a:r>
                  <a:rPr lang="en-US" dirty="0" err="1"/>
                  <a:t>Biến</a:t>
                </a:r>
                <a:r>
                  <a:rPr lang="en-US" dirty="0"/>
                  <a:t> </a:t>
                </a:r>
                <a:r>
                  <a:rPr lang="en-US" dirty="0" err="1"/>
                  <a:t>luận</a:t>
                </a:r>
                <a:r>
                  <a:rPr lang="en-US" dirty="0"/>
                  <a:t> </a:t>
                </a:r>
                <a:r>
                  <a:rPr lang="en-US" dirty="0" err="1"/>
                  <a:t>lý</a:t>
                </a:r>
                <a:r>
                  <a:rPr lang="en-US" dirty="0"/>
                  <a:t> </a:t>
                </a:r>
                <a:r>
                  <a:rPr lang="en-US" dirty="0" err="1"/>
                  <a:t>chỉ</a:t>
                </a:r>
                <a:r>
                  <a:rPr lang="en-US" dirty="0"/>
                  <a:t> </a:t>
                </a:r>
                <a:r>
                  <a:rPr lang="en-US" dirty="0" err="1"/>
                  <a:t>mang</a:t>
                </a:r>
                <a:r>
                  <a:rPr lang="en-US" dirty="0"/>
                  <a:t> 2 </a:t>
                </a:r>
                <a:r>
                  <a:rPr lang="en-US" dirty="0" err="1"/>
                  <a:t>giá</a:t>
                </a:r>
                <a:r>
                  <a:rPr lang="en-US" dirty="0"/>
                  <a:t> </a:t>
                </a:r>
                <a:r>
                  <a:rPr lang="en-US" dirty="0" err="1"/>
                  <a:t>trị</a:t>
                </a:r>
                <a:r>
                  <a:rPr lang="en-US" dirty="0"/>
                  <a:t>: 0 </a:t>
                </a:r>
                <a:r>
                  <a:rPr lang="en-US" dirty="0" err="1"/>
                  <a:t>và</a:t>
                </a:r>
                <a:r>
                  <a:rPr lang="en-US" dirty="0"/>
                  <a:t> 1, </a:t>
                </a:r>
                <a:r>
                  <a:rPr lang="en-US" dirty="0" err="1"/>
                  <a:t>cao</a:t>
                </a:r>
                <a:r>
                  <a:rPr lang="en-US" dirty="0"/>
                  <a:t> </a:t>
                </a:r>
                <a:r>
                  <a:rPr lang="en-US" dirty="0" err="1"/>
                  <a:t>và</a:t>
                </a:r>
                <a:r>
                  <a:rPr lang="en-US" dirty="0"/>
                  <a:t> </a:t>
                </a:r>
                <a:r>
                  <a:rPr lang="en-US" dirty="0" err="1"/>
                  <a:t>thấp</a:t>
                </a:r>
                <a:r>
                  <a:rPr lang="en-US" dirty="0"/>
                  <a:t>, </a:t>
                </a:r>
                <a:r>
                  <a:rPr lang="en-US" dirty="0" err="1"/>
                  <a:t>đúng</a:t>
                </a:r>
                <a:r>
                  <a:rPr lang="en-US" dirty="0"/>
                  <a:t> </a:t>
                </a:r>
                <a:r>
                  <a:rPr lang="en-US" dirty="0" err="1"/>
                  <a:t>và</a:t>
                </a:r>
                <a:r>
                  <a:rPr lang="en-US" dirty="0"/>
                  <a:t> </a:t>
                </a:r>
                <a:r>
                  <a:rPr lang="en-US" dirty="0" err="1"/>
                  <a:t>sai</a:t>
                </a:r>
                <a:r>
                  <a:rPr lang="en-US" dirty="0"/>
                  <a:t>, …</a:t>
                </a:r>
              </a:p>
              <a:p>
                <a:pPr lvl="1"/>
                <a:r>
                  <a:rPr lang="en-US" dirty="0"/>
                  <a:t>Thao </a:t>
                </a:r>
                <a:r>
                  <a:rPr lang="en-US" dirty="0" err="1"/>
                  <a:t>tác</a:t>
                </a:r>
                <a:r>
                  <a:rPr lang="en-US" dirty="0"/>
                  <a:t> </a:t>
                </a:r>
                <a:r>
                  <a:rPr lang="en-US" dirty="0" err="1"/>
                  <a:t>luận</a:t>
                </a:r>
                <a:r>
                  <a:rPr lang="en-US" dirty="0"/>
                  <a:t> </a:t>
                </a:r>
                <a:r>
                  <a:rPr lang="en-US" dirty="0" err="1"/>
                  <a:t>lý</a:t>
                </a:r>
                <a:r>
                  <a:rPr lang="en-US" dirty="0"/>
                  <a:t>: AND (∙, &amp;), OR (+, |), NOT (~, </a:t>
                </a:r>
                <a:r>
                  <a:rPr lang="vi-VN" dirty="0"/>
                  <a:t>¯</a:t>
                </a:r>
                <a:r>
                  <a:rPr lang="en-US" dirty="0"/>
                  <a:t>)</a:t>
                </a:r>
              </a:p>
              <a:p>
                <a:r>
                  <a:rPr lang="en-US" dirty="0" err="1"/>
                  <a:t>Ví</a:t>
                </a:r>
                <a:r>
                  <a:rPr lang="en-US" dirty="0"/>
                  <a:t> </a:t>
                </a:r>
                <a:r>
                  <a:rPr lang="en-US" dirty="0" err="1"/>
                  <a:t>dụ</a:t>
                </a:r>
                <a:r>
                  <a:rPr lang="en-US" dirty="0"/>
                  <a:t>: A </a:t>
                </a:r>
                <a:r>
                  <a:rPr lang="en-US" dirty="0" err="1"/>
                  <a:t>và</a:t>
                </a:r>
                <a:r>
                  <a:rPr lang="en-US" dirty="0"/>
                  <a:t> B </a:t>
                </a:r>
                <a:r>
                  <a:rPr lang="en-US" dirty="0" err="1"/>
                  <a:t>là</a:t>
                </a:r>
                <a:r>
                  <a:rPr lang="en-US" dirty="0"/>
                  <a:t> 2 </a:t>
                </a:r>
                <a:r>
                  <a:rPr lang="en-US" dirty="0" err="1"/>
                  <a:t>biến</a:t>
                </a:r>
                <a:r>
                  <a:rPr lang="en-US" dirty="0"/>
                  <a:t> </a:t>
                </a:r>
                <a:r>
                  <a:rPr lang="en-US" dirty="0" err="1"/>
                  <a:t>luận</a:t>
                </a:r>
                <a:r>
                  <a:rPr lang="en-US" dirty="0"/>
                  <a:t> </a:t>
                </a:r>
                <a:r>
                  <a:rPr lang="en-US" dirty="0" err="1"/>
                  <a:t>lý</a:t>
                </a:r>
                <a:r>
                  <a:rPr lang="en-US" dirty="0"/>
                  <a:t> </a:t>
                </a:r>
                <a:r>
                  <a:rPr lang="en-US" dirty="0" err="1"/>
                  <a:t>nhị</a:t>
                </a:r>
                <a:r>
                  <a:rPr lang="en-US" dirty="0"/>
                  <a:t> </a:t>
                </a:r>
                <a:r>
                  <a:rPr lang="en-US" dirty="0" err="1"/>
                  <a:t>phân</a:t>
                </a:r>
                <a:r>
                  <a:rPr lang="en-US" dirty="0"/>
                  <a:t>:</a:t>
                </a:r>
              </a:p>
              <a:p>
                <a:pPr lvl="1"/>
                <a:r>
                  <a:rPr lang="en-US" dirty="0"/>
                  <a:t>A ∙ B = A &amp; B = AND(A, B) = AB</a:t>
                </a:r>
              </a:p>
              <a:p>
                <a:pPr lvl="1"/>
                <a:r>
                  <a:rPr lang="en-US" dirty="0"/>
                  <a:t>A + B = A | B = OR(A, B)</a:t>
                </a:r>
              </a:p>
              <a:p>
                <a:pPr lvl="1"/>
                <a:r>
                  <a:rPr lang="en-US" dirty="0"/>
                  <a:t>~A = </a:t>
                </a:r>
                <a14:m>
                  <m:oMath xmlns:m="http://schemas.openxmlformats.org/officeDocument/2006/math">
                    <m:acc>
                      <m:accPr>
                        <m:chr m:val="̅"/>
                        <m:ctrlPr>
                          <a:rPr lang="en-US" i="1">
                            <a:latin typeface="Cambria Math" panose="02040503050406030204" pitchFamily="18" charset="0"/>
                          </a:rPr>
                        </m:ctrlPr>
                      </m:accPr>
                      <m:e>
                        <m:r>
                          <m:rPr>
                            <m:nor/>
                          </m:rPr>
                          <a:rPr lang="en-US"/>
                          <m:t>A</m:t>
                        </m:r>
                      </m:e>
                    </m:acc>
                  </m:oMath>
                </a14:m>
                <a:r>
                  <a:rPr lang="en-US" dirty="0"/>
                  <a:t> </a:t>
                </a:r>
                <a:r>
                  <a:rPr lang="en-US"/>
                  <a:t>= A’</a:t>
                </a:r>
                <a:endParaRPr lang="en-VN"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blipFill>
                <a:blip r:embed="rId3"/>
                <a:stretch>
                  <a:fillRect l="-1037" r="-115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sz="4000" dirty="0"/>
              <a:t>- </a:t>
            </a:r>
            <a:r>
              <a:rPr lang="en-US" dirty="0" err="1"/>
              <a:t>Định</a:t>
            </a:r>
            <a:r>
              <a:rPr lang="en-US" dirty="0"/>
              <a:t> </a:t>
            </a:r>
            <a:r>
              <a:rPr lang="en-US" dirty="0" err="1"/>
              <a:t>nghĩa</a:t>
            </a:r>
            <a:r>
              <a:rPr lang="en-US" dirty="0"/>
              <a:t> (</a:t>
            </a:r>
            <a:r>
              <a:rPr lang="en-US" dirty="0" err="1"/>
              <a:t>tt</a:t>
            </a:r>
            <a:r>
              <a:rPr lang="en-US" dirty="0"/>
              <a:t>)</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dirty="0"/>
                  <a:t>Một tập </a:t>
                </a:r>
                <a:r>
                  <a:rPr lang="vi-VN" i="1" dirty="0"/>
                  <a:t>B</a:t>
                </a:r>
                <a:r>
                  <a:rPr lang="vi-VN" dirty="0"/>
                  <a:t> khác rỗng cùng với các thao tác (phép toán) AND (∙), OR (+) và NOT (¯) được gọi là một đại </a:t>
                </a:r>
                <a:r>
                  <a:rPr lang="vi-VN"/>
                  <a:t>số Boole </a:t>
                </a:r>
                <a:r>
                  <a:rPr lang="vi-VN" dirty="0"/>
                  <a:t>nếu các tiên đề sau đây được thỏa mãn với mọi </a:t>
                </a:r>
                <a:r>
                  <a:rPr lang="vi-VN" i="1" dirty="0"/>
                  <a:t>x, y, z</a:t>
                </a:r>
                <a14:m>
                  <m:oMath xmlns:m="http://schemas.openxmlformats.org/officeDocument/2006/math">
                    <m:r>
                      <a:rPr lang="en-US" i="1">
                        <a:latin typeface="Cambria Math" panose="02040503050406030204" pitchFamily="18" charset="0"/>
                      </a:rPr>
                      <m:t> </m:t>
                    </m:r>
                    <m:r>
                      <m:rPr>
                        <m:nor/>
                      </m:rPr>
                      <a:rPr lang="vi-VN"/>
                      <m:t>∈</m:t>
                    </m:r>
                  </m:oMath>
                </a14:m>
                <a:r>
                  <a:rPr lang="en-US" i="1" dirty="0"/>
                  <a:t> </a:t>
                </a:r>
                <a:r>
                  <a:rPr lang="vi-VN" i="1" dirty="0"/>
                  <a:t>B</a:t>
                </a:r>
                <a:endParaRPr lang="en-US" dirty="0"/>
              </a:p>
              <a:p>
                <a:pPr lvl="1"/>
                <a:r>
                  <a:rPr lang="vi-VN" dirty="0"/>
                  <a:t>Tiên đề 1: Cấu trúc đóng với các phép toán ∙ </a:t>
                </a:r>
                <a:r>
                  <a:rPr lang="vi-VN"/>
                  <a:t>và +.</a:t>
                </a:r>
                <a:r>
                  <a:rPr lang="en-US"/>
                  <a:t> Tức là n</a:t>
                </a:r>
                <a:r>
                  <a:rPr lang="vi-VN"/>
                  <a:t>ếu </a:t>
                </a:r>
                <a:r>
                  <a:rPr lang="vi-VN" i="1" dirty="0"/>
                  <a:t>x, y </a:t>
                </a:r>
                <a14:m>
                  <m:oMath xmlns:m="http://schemas.openxmlformats.org/officeDocument/2006/math">
                    <m:r>
                      <m:rPr>
                        <m:nor/>
                      </m:rPr>
                      <a:rPr lang="vi-VN"/>
                      <m:t>∈</m:t>
                    </m:r>
                  </m:oMath>
                </a14:m>
                <a:r>
                  <a:rPr lang="vi-VN" i="1" dirty="0"/>
                  <a:t> B</a:t>
                </a:r>
                <a:r>
                  <a:rPr lang="vi-VN" dirty="0"/>
                  <a:t> thì: (</a:t>
                </a:r>
                <a:r>
                  <a:rPr lang="vi-VN" i="1" dirty="0"/>
                  <a:t>x + y</a:t>
                </a:r>
                <a:r>
                  <a:rPr lang="vi-VN" dirty="0"/>
                  <a:t>) </a:t>
                </a:r>
                <a14:m>
                  <m:oMath xmlns:m="http://schemas.openxmlformats.org/officeDocument/2006/math">
                    <m:r>
                      <m:rPr>
                        <m:nor/>
                      </m:rPr>
                      <a:rPr lang="vi-VN"/>
                      <m:t>∈</m:t>
                    </m:r>
                  </m:oMath>
                </a14:m>
                <a:r>
                  <a:rPr lang="vi-VN" dirty="0"/>
                  <a:t> </a:t>
                </a:r>
                <a:r>
                  <a:rPr lang="vi-VN" i="1" dirty="0"/>
                  <a:t>B</a:t>
                </a:r>
                <a:r>
                  <a:rPr lang="vi-VN" dirty="0"/>
                  <a:t> và </a:t>
                </a:r>
                <a:r>
                  <a:rPr lang="vi-VN" i="1" dirty="0"/>
                  <a:t>x </a:t>
                </a:r>
                <a:r>
                  <a:rPr lang="vi-VN" dirty="0"/>
                  <a:t>∙</a:t>
                </a:r>
                <a:r>
                  <a:rPr lang="vi-VN" i="1" dirty="0"/>
                  <a:t> y</a:t>
                </a:r>
                <a:r>
                  <a:rPr lang="vi-VN" dirty="0"/>
                  <a:t> </a:t>
                </a:r>
                <a14:m>
                  <m:oMath xmlns:m="http://schemas.openxmlformats.org/officeDocument/2006/math">
                    <m:r>
                      <m:rPr>
                        <m:nor/>
                      </m:rPr>
                      <a:rPr lang="vi-VN"/>
                      <m:t>∈</m:t>
                    </m:r>
                  </m:oMath>
                </a14:m>
                <a:r>
                  <a:rPr lang="vi-VN" dirty="0"/>
                  <a:t> </a:t>
                </a:r>
                <a:r>
                  <a:rPr lang="vi-VN" i="1" dirty="0"/>
                  <a:t>B</a:t>
                </a:r>
                <a:endParaRPr lang="en-US" dirty="0"/>
              </a:p>
              <a:p>
                <a:pPr lvl="1"/>
                <a:r>
                  <a:rPr lang="vi-VN" dirty="0"/>
                  <a:t>Tiên đề 2: Tồn tại phần tử trung hòa. Tồn tại 2 phần tử trung hòa khác nhau thuộc </a:t>
                </a:r>
                <a:r>
                  <a:rPr lang="vi-VN" i="1" dirty="0"/>
                  <a:t>B</a:t>
                </a:r>
                <a:r>
                  <a:rPr lang="vi-VN" dirty="0"/>
                  <a:t>, ký hiệu là 0 và 1 sao cho:</a:t>
                </a:r>
                <a:endParaRPr lang="en-US" dirty="0"/>
              </a:p>
              <a:p>
                <a:pPr lvl="2"/>
                <a:r>
                  <a:rPr lang="vi-VN" i="1" dirty="0"/>
                  <a:t>x</a:t>
                </a:r>
                <a:r>
                  <a:rPr lang="vi-VN" dirty="0"/>
                  <a:t> ∙ 1 = 1 ∙ </a:t>
                </a:r>
                <a:r>
                  <a:rPr lang="vi-VN" i="1" dirty="0"/>
                  <a:t>x</a:t>
                </a:r>
                <a:r>
                  <a:rPr lang="vi-VN" dirty="0"/>
                  <a:t> = </a:t>
                </a:r>
                <a:r>
                  <a:rPr lang="vi-VN" i="1" dirty="0"/>
                  <a:t>x</a:t>
                </a:r>
                <a:endParaRPr lang="en-US" dirty="0"/>
              </a:p>
              <a:p>
                <a:pPr lvl="2"/>
                <a:r>
                  <a:rPr lang="vi-VN" i="1" dirty="0"/>
                  <a:t>x</a:t>
                </a:r>
                <a:r>
                  <a:rPr lang="vi-VN" dirty="0"/>
                  <a:t> + 0 = 0 + </a:t>
                </a:r>
                <a:r>
                  <a:rPr lang="vi-VN" i="1" dirty="0"/>
                  <a:t>x</a:t>
                </a:r>
                <a:r>
                  <a:rPr lang="vi-VN" dirty="0"/>
                  <a:t> = </a:t>
                </a:r>
                <a:r>
                  <a:rPr lang="vi-VN" i="1" dirty="0"/>
                  <a:t>x</a:t>
                </a:r>
                <a:endParaRPr lang="en-US"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blipFill>
                <a:blip r:embed="rId2"/>
                <a:stretch>
                  <a:fillRect l="-1037" r="-115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extLst>
      <p:ext uri="{BB962C8B-B14F-4D97-AF65-F5344CB8AC3E}">
        <p14:creationId xmlns:p14="http://schemas.microsoft.com/office/powerpoint/2010/main" val="92964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sz="4000" dirty="0"/>
              <a:t>- </a:t>
            </a:r>
            <a:r>
              <a:rPr lang="en-US" dirty="0" err="1"/>
              <a:t>Định</a:t>
            </a:r>
            <a:r>
              <a:rPr lang="en-US" dirty="0"/>
              <a:t> </a:t>
            </a:r>
            <a:r>
              <a:rPr lang="en-US" dirty="0" err="1"/>
              <a:t>nghĩa</a:t>
            </a:r>
            <a:r>
              <a:rPr lang="en-US" dirty="0"/>
              <a:t> (</a:t>
            </a:r>
            <a:r>
              <a:rPr lang="en-US" dirty="0" err="1"/>
              <a:t>tt</a:t>
            </a:r>
            <a:r>
              <a:rPr lang="en-US" dirty="0"/>
              <a:t>)</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fontScale="92500" lnSpcReduction="10000"/>
              </a:bodyPr>
              <a:lstStyle/>
              <a:p>
                <a:pPr lvl="1"/>
                <a:r>
                  <a:rPr lang="vi-VN" dirty="0"/>
                  <a:t>Tiên đề 3: Tính giao hoán</a:t>
                </a:r>
                <a:endParaRPr lang="en-US" dirty="0"/>
              </a:p>
              <a:p>
                <a:pPr lvl="2"/>
                <a:r>
                  <a:rPr lang="vi-VN" i="1" dirty="0"/>
                  <a:t>x</a:t>
                </a:r>
                <a:r>
                  <a:rPr lang="vi-VN" dirty="0"/>
                  <a:t> ∙ </a:t>
                </a:r>
                <a:r>
                  <a:rPr lang="vi-VN" i="1" dirty="0"/>
                  <a:t>y</a:t>
                </a:r>
                <a:r>
                  <a:rPr lang="vi-VN" dirty="0"/>
                  <a:t> = </a:t>
                </a:r>
                <a:r>
                  <a:rPr lang="vi-VN" i="1" dirty="0"/>
                  <a:t>y</a:t>
                </a:r>
                <a:r>
                  <a:rPr lang="vi-VN" dirty="0"/>
                  <a:t> ∙ </a:t>
                </a:r>
                <a:r>
                  <a:rPr lang="vi-VN" i="1" dirty="0"/>
                  <a:t>x</a:t>
                </a:r>
                <a:endParaRPr lang="en-US" dirty="0"/>
              </a:p>
              <a:p>
                <a:pPr lvl="2"/>
                <a:r>
                  <a:rPr lang="vi-VN" i="1" dirty="0"/>
                  <a:t>x</a:t>
                </a:r>
                <a:r>
                  <a:rPr lang="vi-VN" dirty="0"/>
                  <a:t> + </a:t>
                </a:r>
                <a:r>
                  <a:rPr lang="vi-VN" i="1" dirty="0"/>
                  <a:t>y</a:t>
                </a:r>
                <a:r>
                  <a:rPr lang="vi-VN" dirty="0"/>
                  <a:t> = </a:t>
                </a:r>
                <a:r>
                  <a:rPr lang="vi-VN" i="1" dirty="0"/>
                  <a:t>y</a:t>
                </a:r>
                <a:r>
                  <a:rPr lang="vi-VN" dirty="0"/>
                  <a:t> + </a:t>
                </a:r>
                <a:r>
                  <a:rPr lang="vi-VN" i="1" dirty="0"/>
                  <a:t>x</a:t>
                </a:r>
                <a:endParaRPr lang="en-US" dirty="0"/>
              </a:p>
              <a:p>
                <a:pPr lvl="1"/>
                <a:r>
                  <a:rPr lang="vi-VN" dirty="0"/>
                  <a:t>Tiên đề 4: Tính phân phối</a:t>
                </a:r>
                <a:endParaRPr lang="en-US" dirty="0"/>
              </a:p>
              <a:p>
                <a:pPr lvl="2"/>
                <a:r>
                  <a:rPr lang="vi-VN" i="1" dirty="0"/>
                  <a:t>x</a:t>
                </a:r>
                <a:r>
                  <a:rPr lang="vi-VN" dirty="0"/>
                  <a:t> ∙ (</a:t>
                </a:r>
                <a:r>
                  <a:rPr lang="vi-VN" i="1" dirty="0"/>
                  <a:t>y</a:t>
                </a:r>
                <a:r>
                  <a:rPr lang="vi-VN" dirty="0"/>
                  <a:t> + </a:t>
                </a:r>
                <a:r>
                  <a:rPr lang="vi-VN" i="1" dirty="0"/>
                  <a:t>z</a:t>
                </a:r>
                <a:r>
                  <a:rPr lang="vi-VN" dirty="0"/>
                  <a:t>) = </a:t>
                </a:r>
                <a:r>
                  <a:rPr lang="vi-VN" i="1" dirty="0"/>
                  <a:t>x</a:t>
                </a:r>
                <a:r>
                  <a:rPr lang="vi-VN" dirty="0"/>
                  <a:t> ∙ </a:t>
                </a:r>
                <a:r>
                  <a:rPr lang="vi-VN" i="1" dirty="0"/>
                  <a:t>y</a:t>
                </a:r>
                <a:r>
                  <a:rPr lang="vi-VN" dirty="0"/>
                  <a:t> + </a:t>
                </a:r>
                <a:r>
                  <a:rPr lang="vi-VN" i="1" dirty="0"/>
                  <a:t>x</a:t>
                </a:r>
                <a:r>
                  <a:rPr lang="vi-VN" dirty="0"/>
                  <a:t> ∙ </a:t>
                </a:r>
                <a:r>
                  <a:rPr lang="vi-VN" i="1" dirty="0"/>
                  <a:t>z</a:t>
                </a:r>
                <a:endParaRPr lang="en-US" dirty="0"/>
              </a:p>
              <a:p>
                <a:pPr lvl="2"/>
                <a:r>
                  <a:rPr lang="vi-VN" i="1" dirty="0"/>
                  <a:t>x</a:t>
                </a:r>
                <a:r>
                  <a:rPr lang="vi-VN" dirty="0"/>
                  <a:t> + </a:t>
                </a:r>
                <a:r>
                  <a:rPr lang="vi-VN" i="1" dirty="0"/>
                  <a:t>y</a:t>
                </a:r>
                <a:r>
                  <a:rPr lang="vi-VN" dirty="0"/>
                  <a:t> ∙ </a:t>
                </a:r>
                <a:r>
                  <a:rPr lang="vi-VN" i="1" dirty="0"/>
                  <a:t>z</a:t>
                </a:r>
                <a:r>
                  <a:rPr lang="vi-VN" dirty="0"/>
                  <a:t> = (</a:t>
                </a:r>
                <a:r>
                  <a:rPr lang="vi-VN" i="1" dirty="0"/>
                  <a:t>x</a:t>
                </a:r>
                <a:r>
                  <a:rPr lang="vi-VN" dirty="0"/>
                  <a:t> + </a:t>
                </a:r>
                <a:r>
                  <a:rPr lang="vi-VN" i="1" dirty="0"/>
                  <a:t>y</a:t>
                </a:r>
                <a:r>
                  <a:rPr lang="vi-VN" dirty="0"/>
                  <a:t>)(</a:t>
                </a:r>
                <a:r>
                  <a:rPr lang="vi-VN" i="1" dirty="0"/>
                  <a:t>x</a:t>
                </a:r>
                <a:r>
                  <a:rPr lang="vi-VN" dirty="0"/>
                  <a:t> + </a:t>
                </a:r>
                <a:r>
                  <a:rPr lang="vi-VN" i="1" dirty="0"/>
                  <a:t>z</a:t>
                </a:r>
                <a:r>
                  <a:rPr lang="vi-VN" dirty="0"/>
                  <a:t>)</a:t>
                </a:r>
                <a:endParaRPr lang="en-US" dirty="0"/>
              </a:p>
              <a:p>
                <a:pPr lvl="1"/>
                <a:r>
                  <a:rPr lang="vi-VN" dirty="0"/>
                  <a:t>Tiên đề 5: Tồn tại phần tử bù. Với mọi </a:t>
                </a:r>
                <a:r>
                  <a:rPr lang="vi-VN" i="1" dirty="0"/>
                  <a:t>x </a:t>
                </a:r>
                <a14:m>
                  <m:oMath xmlns:m="http://schemas.openxmlformats.org/officeDocument/2006/math">
                    <m:r>
                      <a:rPr lang="vi-VN" i="1">
                        <a:latin typeface="Cambria Math" panose="02040503050406030204" pitchFamily="18" charset="0"/>
                      </a:rPr>
                      <m:t>∈</m:t>
                    </m:r>
                  </m:oMath>
                </a14:m>
                <a:r>
                  <a:rPr lang="vi-VN" i="1" dirty="0"/>
                  <a:t> B</a:t>
                </a:r>
                <a:r>
                  <a:rPr lang="vi-VN" dirty="0"/>
                  <a:t>, tồn tại duy nhất </a:t>
                </a:r>
                <a14:m>
                  <m:oMath xmlns:m="http://schemas.openxmlformats.org/officeDocument/2006/math">
                    <m:acc>
                      <m:accPr>
                        <m:chr m:val="̅"/>
                        <m:ctrlPr>
                          <a:rPr lang="en-US" i="1">
                            <a:latin typeface="Cambria Math" panose="02040503050406030204" pitchFamily="18" charset="0"/>
                          </a:rPr>
                        </m:ctrlPr>
                      </m:accPr>
                      <m:e>
                        <m:r>
                          <m:rPr>
                            <m:nor/>
                          </m:rPr>
                          <a:rPr lang="vi-VN" i="1"/>
                          <m:t>x</m:t>
                        </m:r>
                      </m:e>
                    </m:acc>
                    <m:r>
                      <a:rPr lang="vi-VN" i="1">
                        <a:latin typeface="Cambria Math" panose="02040503050406030204" pitchFamily="18" charset="0"/>
                      </a:rPr>
                      <m:t> </m:t>
                    </m:r>
                    <m:r>
                      <m:rPr>
                        <m:nor/>
                      </m:rPr>
                      <a:rPr lang="vi-VN"/>
                      <m:t>∈</m:t>
                    </m:r>
                  </m:oMath>
                </a14:m>
                <a:r>
                  <a:rPr lang="vi-VN" dirty="0"/>
                  <a:t> </a:t>
                </a:r>
                <a:r>
                  <a:rPr lang="vi-VN" i="1" dirty="0"/>
                  <a:t>B</a:t>
                </a:r>
                <a:r>
                  <a:rPr lang="vi-VN" dirty="0"/>
                  <a:t> sao cho:</a:t>
                </a:r>
                <a:endParaRPr lang="en-US" dirty="0"/>
              </a:p>
              <a:p>
                <a:pPr lvl="2"/>
                <a:r>
                  <a:rPr lang="vi-VN" i="1" dirty="0"/>
                  <a:t>x</a:t>
                </a:r>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r>
                  <a:rPr lang="vi-VN" i="1" dirty="0"/>
                  <a:t>x</a:t>
                </a:r>
                <a:r>
                  <a:rPr lang="vi-VN" dirty="0"/>
                  <a:t> = 0</a:t>
                </a:r>
                <a:endParaRPr lang="en-US" dirty="0"/>
              </a:p>
              <a:p>
                <a:pPr lvl="2"/>
                <a:r>
                  <a:rPr lang="vi-VN" i="1" dirty="0"/>
                  <a:t>x</a:t>
                </a:r>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r>
                  <a:rPr lang="vi-VN" i="1" dirty="0"/>
                  <a:t>x</a:t>
                </a:r>
                <a:r>
                  <a:rPr lang="vi-VN" dirty="0"/>
                  <a:t> = 1</a:t>
                </a:r>
                <a:endParaRPr lang="en-US" dirty="0"/>
              </a:p>
              <a:p>
                <a:pPr marL="914400" lvl="2" indent="0">
                  <a:buNone/>
                </a:pP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được gọi là phần tử bù của </a:t>
                </a:r>
                <a:r>
                  <a:rPr lang="vi-VN" i="1" dirty="0"/>
                  <a:t>x</a:t>
                </a:r>
                <a:endParaRPr lang="en-US" i="1" dirty="0"/>
              </a:p>
              <a:p>
                <a:pPr marL="747713" lvl="2" indent="-231775"/>
                <a:r>
                  <a:rPr lang="vi-VN" sz="2400" dirty="0"/>
                  <a:t>Tiên đề 6: Tồn tại ít nhất 2 phần tử x, y </a:t>
                </a:r>
                <a14:m>
                  <m:oMath xmlns:m="http://schemas.openxmlformats.org/officeDocument/2006/math">
                    <m:r>
                      <m:rPr>
                        <m:nor/>
                      </m:rPr>
                      <a:rPr lang="vi-VN" sz="2400"/>
                      <m:t>∈</m:t>
                    </m:r>
                  </m:oMath>
                </a14:m>
                <a:r>
                  <a:rPr lang="vi-VN" sz="2400" dirty="0"/>
                  <a:t> B sao cho x ≠ y</a:t>
                </a:r>
                <a:endParaRPr lang="en-US" sz="2400"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blipFill>
                <a:blip r:embed="rId2"/>
                <a:stretch>
                  <a:fillRect b="-98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Tree>
    <p:extLst>
      <p:ext uri="{BB962C8B-B14F-4D97-AF65-F5344CB8AC3E}">
        <p14:creationId xmlns:p14="http://schemas.microsoft.com/office/powerpoint/2010/main" val="303021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dirty="0"/>
              <a:t>-</a:t>
            </a:r>
            <a:r>
              <a:rPr lang="en-US" sz="4000" dirty="0"/>
              <a:t> </a:t>
            </a:r>
            <a:r>
              <a:rPr lang="en-US" sz="4000" dirty="0" err="1"/>
              <a:t>Định</a:t>
            </a:r>
            <a:r>
              <a:rPr lang="en-US" sz="4000" dirty="0"/>
              <a:t> </a:t>
            </a:r>
            <a:r>
              <a:rPr lang="en-US" sz="4000" err="1"/>
              <a:t>lý</a:t>
            </a:r>
            <a:r>
              <a:rPr lang="en-US" sz="4000"/>
              <a:t> Boole</a:t>
            </a:r>
            <a:endParaRPr lang="en-US" sz="4000" dirty="0"/>
          </a:p>
        </p:txBody>
      </p:sp>
      <p:sp>
        <p:nvSpPr>
          <p:cNvPr id="8" name="Content Placeholder 2">
            <a:extLst>
              <a:ext uri="{FF2B5EF4-FFF2-40B4-BE49-F238E27FC236}">
                <a16:creationId xmlns:a16="http://schemas.microsoft.com/office/drawing/2014/main" id="{53CEB4E4-6EEC-0484-3209-A7F7F6C9D142}"/>
              </a:ext>
            </a:extLst>
          </p:cNvPr>
          <p:cNvSpPr>
            <a:spLocks noGrp="1"/>
          </p:cNvSpPr>
          <p:nvPr>
            <p:ph idx="1"/>
          </p:nvPr>
        </p:nvSpPr>
        <p:spPr>
          <a:xfrm>
            <a:off x="562665" y="1557050"/>
            <a:ext cx="5702300" cy="4013626"/>
          </a:xfrm>
        </p:spPr>
        <p:txBody>
          <a:bodyPr>
            <a:normAutofit fontScale="85000" lnSpcReduction="20000"/>
          </a:bodyPr>
          <a:lstStyle/>
          <a:p>
            <a:pPr lvl="0"/>
            <a:r>
              <a:rPr lang="vi-VN" dirty="0"/>
              <a:t>Định lý 1: Tính lũy đẳng</a:t>
            </a:r>
            <a:endParaRPr lang="en-US" dirty="0"/>
          </a:p>
          <a:p>
            <a:pPr lvl="1"/>
            <a:r>
              <a:rPr lang="vi-VN" i="1" dirty="0"/>
              <a:t>x</a:t>
            </a:r>
            <a:r>
              <a:rPr lang="vi-VN" dirty="0"/>
              <a:t> + </a:t>
            </a:r>
            <a:r>
              <a:rPr lang="vi-VN" i="1" dirty="0"/>
              <a:t>x</a:t>
            </a:r>
            <a:r>
              <a:rPr lang="vi-VN" dirty="0"/>
              <a:t> = </a:t>
            </a:r>
            <a:r>
              <a:rPr lang="vi-VN" i="1" dirty="0"/>
              <a:t>x</a:t>
            </a:r>
            <a:endParaRPr lang="en-US" dirty="0"/>
          </a:p>
          <a:p>
            <a:pPr lvl="1"/>
            <a:r>
              <a:rPr lang="vi-VN" i="1" dirty="0"/>
              <a:t>x</a:t>
            </a:r>
            <a:r>
              <a:rPr lang="vi-VN" dirty="0"/>
              <a:t> ∙ </a:t>
            </a:r>
            <a:r>
              <a:rPr lang="vi-VN" i="1" dirty="0"/>
              <a:t>x</a:t>
            </a:r>
            <a:r>
              <a:rPr lang="vi-VN" dirty="0"/>
              <a:t> = </a:t>
            </a:r>
            <a:r>
              <a:rPr lang="vi-VN" i="1" dirty="0"/>
              <a:t>x</a:t>
            </a:r>
            <a:endParaRPr lang="en-US" dirty="0"/>
          </a:p>
          <a:p>
            <a:pPr lvl="0"/>
            <a:r>
              <a:rPr lang="vi-VN" dirty="0"/>
              <a:t>Định lý 2: Tính nuốt</a:t>
            </a:r>
            <a:endParaRPr lang="en-US" dirty="0"/>
          </a:p>
          <a:p>
            <a:pPr lvl="1"/>
            <a:r>
              <a:rPr lang="vi-VN" i="1" dirty="0"/>
              <a:t>x</a:t>
            </a:r>
            <a:r>
              <a:rPr lang="vi-VN" dirty="0"/>
              <a:t> + 1 = 1</a:t>
            </a:r>
            <a:endParaRPr lang="en-US" dirty="0"/>
          </a:p>
          <a:p>
            <a:pPr lvl="1"/>
            <a:r>
              <a:rPr lang="vi-VN" i="1" dirty="0"/>
              <a:t>x</a:t>
            </a:r>
            <a:r>
              <a:rPr lang="vi-VN" dirty="0"/>
              <a:t> ∙ 0 = 0</a:t>
            </a:r>
            <a:endParaRPr lang="en-US" dirty="0"/>
          </a:p>
          <a:p>
            <a:pPr lvl="0"/>
            <a:r>
              <a:rPr lang="vi-VN" dirty="0"/>
              <a:t>Định lý 3: Tính hấp thụ</a:t>
            </a:r>
            <a:endParaRPr lang="en-US" dirty="0"/>
          </a:p>
          <a:p>
            <a:pPr lvl="1"/>
            <a:r>
              <a:rPr lang="vi-VN" i="1" dirty="0"/>
              <a:t>x</a:t>
            </a:r>
            <a:r>
              <a:rPr lang="vi-VN" dirty="0"/>
              <a:t> + </a:t>
            </a:r>
            <a:r>
              <a:rPr lang="vi-VN" i="1" dirty="0"/>
              <a:t>x</a:t>
            </a:r>
            <a:r>
              <a:rPr lang="vi-VN" dirty="0"/>
              <a:t> ∙ </a:t>
            </a:r>
            <a:r>
              <a:rPr lang="vi-VN" i="1" dirty="0"/>
              <a:t>y</a:t>
            </a:r>
            <a:r>
              <a:rPr lang="vi-VN" dirty="0"/>
              <a:t> = </a:t>
            </a:r>
            <a:r>
              <a:rPr lang="vi-VN" i="1" dirty="0"/>
              <a:t>x</a:t>
            </a:r>
            <a:endParaRPr lang="en-US" dirty="0"/>
          </a:p>
          <a:p>
            <a:pPr lvl="1"/>
            <a:r>
              <a:rPr lang="vi-VN" i="1" dirty="0"/>
              <a:t>x</a:t>
            </a:r>
            <a:r>
              <a:rPr lang="vi-VN" dirty="0"/>
              <a:t>(</a:t>
            </a:r>
            <a:r>
              <a:rPr lang="vi-VN" i="1" dirty="0"/>
              <a:t>x</a:t>
            </a:r>
            <a:r>
              <a:rPr lang="vi-VN" dirty="0"/>
              <a:t> + </a:t>
            </a:r>
            <a:r>
              <a:rPr lang="vi-VN" i="1" dirty="0"/>
              <a:t>y</a:t>
            </a:r>
            <a:r>
              <a:rPr lang="vi-VN" dirty="0"/>
              <a:t>) = </a:t>
            </a:r>
            <a:r>
              <a:rPr lang="vi-VN" i="1" dirty="0"/>
              <a:t>x</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8</a:t>
            </a:fld>
            <a:endParaRPr lang="en-VN" dirty="0"/>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7114EFF-CBCC-E848-F708-F35B0A461638}"/>
                  </a:ext>
                </a:extLst>
              </p:cNvPr>
              <p:cNvSpPr txBox="1">
                <a:spLocks/>
              </p:cNvSpPr>
              <p:nvPr/>
            </p:nvSpPr>
            <p:spPr>
              <a:xfrm>
                <a:off x="5336498" y="1572040"/>
                <a:ext cx="6630767" cy="40136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0000"/>
                  </a:lnSpc>
                </a:pPr>
                <a:r>
                  <a:rPr lang="vi-VN" sz="2800" dirty="0">
                    <a:latin typeface="+mn-lt"/>
                  </a:rPr>
                  <a:t>Định lý 4: Tính phủ định của phủ định</a:t>
                </a:r>
                <a:endParaRPr lang="en-US" sz="2800" i="1" dirty="0">
                  <a:latin typeface="+mn-lt"/>
                </a:endParaRPr>
              </a:p>
              <a:p>
                <a:pPr lvl="1">
                  <a:lnSpc>
                    <a:spcPct val="100000"/>
                  </a:lnSpc>
                  <a:buFont typeface="Arial" panose="020B0604020202020204" pitchFamily="34" charset="0"/>
                  <a:buChar char="•"/>
                </a:pPr>
                <a14:m>
                  <m:oMath xmlns:m="http://schemas.openxmlformats.org/officeDocument/2006/math">
                    <m:acc>
                      <m:accPr>
                        <m:chr m:val="̅"/>
                        <m:ctrlPr>
                          <a:rPr lang="en-US" sz="2400" i="1">
                            <a:latin typeface="Cambria Math" panose="02040503050406030204" pitchFamily="18" charset="0"/>
                          </a:rPr>
                        </m:ctrlPr>
                      </m:accPr>
                      <m:e>
                        <m:acc>
                          <m:accPr>
                            <m:chr m:val="̅"/>
                            <m:ctrlPr>
                              <a:rPr lang="en-US" sz="2400" i="1">
                                <a:latin typeface="Cambria Math" panose="02040503050406030204" pitchFamily="18" charset="0"/>
                              </a:rPr>
                            </m:ctrlPr>
                          </m:accPr>
                          <m:e>
                            <m:r>
                              <m:rPr>
                                <m:nor/>
                              </m:rPr>
                              <a:rPr lang="vi-VN" sz="2400" i="1">
                                <a:latin typeface="+mn-lt"/>
                              </a:rPr>
                              <m:t>x</m:t>
                            </m:r>
                          </m:e>
                        </m:acc>
                      </m:e>
                    </m:acc>
                  </m:oMath>
                </a14:m>
                <a:r>
                  <a:rPr lang="vi-VN" sz="2400" dirty="0">
                    <a:latin typeface="+mn-lt"/>
                  </a:rPr>
                  <a:t> = </a:t>
                </a:r>
                <a:r>
                  <a:rPr lang="vi-VN" sz="2400" i="1" dirty="0">
                    <a:latin typeface="+mn-lt"/>
                  </a:rPr>
                  <a:t>x</a:t>
                </a:r>
                <a:endParaRPr lang="en-US" sz="2400" dirty="0">
                  <a:latin typeface="+mn-lt"/>
                </a:endParaRPr>
              </a:p>
              <a:p>
                <a:pPr lvl="0">
                  <a:lnSpc>
                    <a:spcPct val="100000"/>
                  </a:lnSpc>
                </a:pPr>
                <a:r>
                  <a:rPr lang="vi-VN" sz="2800" dirty="0">
                    <a:latin typeface="+mn-lt"/>
                  </a:rPr>
                  <a:t>Định lý 5: Tính kết hợp</a:t>
                </a:r>
                <a:endParaRPr lang="en-US" sz="2800" dirty="0">
                  <a:latin typeface="+mn-lt"/>
                </a:endParaRPr>
              </a:p>
              <a:p>
                <a:pPr lvl="1">
                  <a:lnSpc>
                    <a:spcPct val="100000"/>
                  </a:lnSpc>
                  <a:buFont typeface="Arial" panose="020B0604020202020204" pitchFamily="34" charset="0"/>
                  <a:buChar char="•"/>
                </a:pPr>
                <a:r>
                  <a:rPr lang="vi-VN" sz="2400" dirty="0">
                    <a:latin typeface="+mn-lt"/>
                    <a:cs typeface="+mn-cs"/>
                  </a:rPr>
                  <a:t>x + (y + z) = (x + y) + z</a:t>
                </a:r>
                <a:endParaRPr lang="en-US" sz="2400" dirty="0">
                  <a:latin typeface="+mn-lt"/>
                  <a:cs typeface="+mn-cs"/>
                </a:endParaRPr>
              </a:p>
              <a:p>
                <a:pPr lvl="1">
                  <a:lnSpc>
                    <a:spcPct val="100000"/>
                  </a:lnSpc>
                  <a:buFont typeface="Arial" panose="020B0604020202020204" pitchFamily="34" charset="0"/>
                  <a:buChar char="•"/>
                </a:pPr>
                <a:r>
                  <a:rPr lang="vi-VN" sz="2400" dirty="0">
                    <a:latin typeface="+mn-lt"/>
                    <a:cs typeface="+mn-cs"/>
                  </a:rPr>
                  <a:t>x(y ∙ z) = (x ∙ y)z</a:t>
                </a:r>
                <a:endParaRPr lang="en-US" sz="2400" dirty="0">
                  <a:latin typeface="+mn-lt"/>
                  <a:cs typeface="+mn-cs"/>
                </a:endParaRPr>
              </a:p>
              <a:p>
                <a:pPr lvl="0">
                  <a:lnSpc>
                    <a:spcPct val="100000"/>
                  </a:lnSpc>
                </a:pPr>
                <a:r>
                  <a:rPr lang="vi-VN" sz="2800" dirty="0">
                    <a:latin typeface="+mn-lt"/>
                  </a:rPr>
                  <a:t>Định lý 6: Định lý De-Morgan</a:t>
                </a:r>
                <a:endParaRPr lang="en-US" sz="2800" dirty="0">
                  <a:latin typeface="+mn-lt"/>
                </a:endParaRPr>
              </a:p>
              <a:p>
                <a:pPr lvl="1">
                  <a:lnSpc>
                    <a:spcPct val="100000"/>
                  </a:lnSpc>
                  <a:buFont typeface="Arial" panose="020B0604020202020204" pitchFamily="34" charset="0"/>
                  <a:buChar char="•"/>
                </a:pPr>
                <a14:m>
                  <m:oMath xmlns:m="http://schemas.openxmlformats.org/officeDocument/2006/math">
                    <m:acc>
                      <m:accPr>
                        <m:chr m:val="̅"/>
                        <m:ctrlPr>
                          <a:rPr lang="en-US" sz="2400" i="1">
                            <a:latin typeface="Cambria Math" panose="02040503050406030204" pitchFamily="18" charset="0"/>
                            <a:cs typeface="+mn-cs"/>
                          </a:rPr>
                        </m:ctrlPr>
                      </m:accPr>
                      <m:e>
                        <m:r>
                          <m:rPr>
                            <m:nor/>
                          </m:rPr>
                          <a:rPr lang="vi-VN" sz="2400">
                            <a:latin typeface="+mn-lt"/>
                            <a:cs typeface="+mn-cs"/>
                          </a:rPr>
                          <m:t>x</m:t>
                        </m:r>
                        <m:r>
                          <m:rPr>
                            <m:nor/>
                          </m:rPr>
                          <a:rPr lang="vi-VN" sz="2400">
                            <a:latin typeface="+mn-lt"/>
                            <a:cs typeface="+mn-cs"/>
                          </a:rPr>
                          <m:t> + </m:t>
                        </m:r>
                        <m:r>
                          <m:rPr>
                            <m:nor/>
                          </m:rPr>
                          <a:rPr lang="vi-VN" sz="2400">
                            <a:latin typeface="+mn-lt"/>
                            <a:cs typeface="+mn-cs"/>
                          </a:rPr>
                          <m:t>y</m:t>
                        </m:r>
                      </m:e>
                    </m:acc>
                    <m:r>
                      <m:rPr>
                        <m:nor/>
                      </m:rPr>
                      <a:rPr lang="vi-VN" sz="2400">
                        <a:latin typeface="+mn-lt"/>
                        <a:cs typeface="+mn-cs"/>
                      </a:rPr>
                      <m:t> = </m:t>
                    </m:r>
                    <m:acc>
                      <m:accPr>
                        <m:chr m:val="̅"/>
                        <m:ctrlPr>
                          <a:rPr lang="en-US" sz="2400" i="1">
                            <a:latin typeface="Cambria Math" panose="02040503050406030204" pitchFamily="18" charset="0"/>
                            <a:cs typeface="+mn-cs"/>
                          </a:rPr>
                        </m:ctrlPr>
                      </m:accPr>
                      <m:e>
                        <m:r>
                          <m:rPr>
                            <m:nor/>
                          </m:rPr>
                          <a:rPr lang="vi-VN" sz="2400">
                            <a:latin typeface="+mn-lt"/>
                            <a:cs typeface="+mn-cs"/>
                          </a:rPr>
                          <m:t>x</m:t>
                        </m:r>
                        <m:r>
                          <m:rPr>
                            <m:nor/>
                          </m:rPr>
                          <a:rPr lang="vi-VN" sz="2400">
                            <a:latin typeface="+mn-lt"/>
                            <a:cs typeface="+mn-cs"/>
                          </a:rPr>
                          <m:t> </m:t>
                        </m:r>
                      </m:e>
                    </m:acc>
                    <m:r>
                      <m:rPr>
                        <m:nor/>
                      </m:rPr>
                      <a:rPr lang="vi-VN" sz="2400">
                        <a:latin typeface="+mn-lt"/>
                        <a:cs typeface="+mn-cs"/>
                      </a:rPr>
                      <m:t> ∙  </m:t>
                    </m:r>
                    <m:acc>
                      <m:accPr>
                        <m:chr m:val="̅"/>
                        <m:ctrlPr>
                          <a:rPr lang="en-US" sz="2400" i="1">
                            <a:latin typeface="Cambria Math" panose="02040503050406030204" pitchFamily="18" charset="0"/>
                            <a:cs typeface="+mn-cs"/>
                          </a:rPr>
                        </m:ctrlPr>
                      </m:accPr>
                      <m:e>
                        <m:r>
                          <m:rPr>
                            <m:nor/>
                          </m:rPr>
                          <a:rPr lang="vi-VN" sz="2400">
                            <a:latin typeface="+mn-lt"/>
                            <a:cs typeface="+mn-cs"/>
                          </a:rPr>
                          <m:t>y</m:t>
                        </m:r>
                      </m:e>
                    </m:acc>
                  </m:oMath>
                </a14:m>
                <a:endParaRPr lang="en-US" sz="2400" dirty="0">
                  <a:latin typeface="+mn-lt"/>
                  <a:cs typeface="+mn-cs"/>
                </a:endParaRPr>
              </a:p>
              <a:p>
                <a:pPr lvl="1">
                  <a:lnSpc>
                    <a:spcPct val="100000"/>
                  </a:lnSpc>
                  <a:buFont typeface="Arial" panose="020B0604020202020204" pitchFamily="34" charset="0"/>
                  <a:buChar char="•"/>
                </a:pPr>
                <a14:m>
                  <m:oMath xmlns:m="http://schemas.openxmlformats.org/officeDocument/2006/math">
                    <m:acc>
                      <m:accPr>
                        <m:chr m:val="̅"/>
                        <m:ctrlPr>
                          <a:rPr lang="en-US" sz="2400" i="1">
                            <a:latin typeface="Cambria Math" panose="02040503050406030204" pitchFamily="18" charset="0"/>
                            <a:cs typeface="+mn-cs"/>
                          </a:rPr>
                        </m:ctrlPr>
                      </m:accPr>
                      <m:e>
                        <m:r>
                          <m:rPr>
                            <m:nor/>
                          </m:rPr>
                          <a:rPr lang="vi-VN" sz="2400">
                            <a:latin typeface="+mn-lt"/>
                            <a:cs typeface="+mn-cs"/>
                          </a:rPr>
                          <m:t>x</m:t>
                        </m:r>
                        <m:r>
                          <m:rPr>
                            <m:nor/>
                          </m:rPr>
                          <a:rPr lang="vi-VN" sz="2400">
                            <a:latin typeface="+mn-lt"/>
                            <a:cs typeface="+mn-cs"/>
                          </a:rPr>
                          <m:t> ∙ </m:t>
                        </m:r>
                        <m:r>
                          <m:rPr>
                            <m:nor/>
                          </m:rPr>
                          <a:rPr lang="vi-VN" sz="2400">
                            <a:latin typeface="+mn-lt"/>
                            <a:cs typeface="+mn-cs"/>
                          </a:rPr>
                          <m:t>y</m:t>
                        </m:r>
                      </m:e>
                    </m:acc>
                    <m:r>
                      <m:rPr>
                        <m:nor/>
                      </m:rPr>
                      <a:rPr lang="vi-VN" sz="2400">
                        <a:latin typeface="+mn-lt"/>
                        <a:cs typeface="+mn-cs"/>
                      </a:rPr>
                      <m:t> = </m:t>
                    </m:r>
                    <m:acc>
                      <m:accPr>
                        <m:chr m:val="̅"/>
                        <m:ctrlPr>
                          <a:rPr lang="en-US" sz="2400" i="1">
                            <a:latin typeface="Cambria Math" panose="02040503050406030204" pitchFamily="18" charset="0"/>
                            <a:cs typeface="+mn-cs"/>
                          </a:rPr>
                        </m:ctrlPr>
                      </m:accPr>
                      <m:e>
                        <m:r>
                          <m:rPr>
                            <m:nor/>
                          </m:rPr>
                          <a:rPr lang="vi-VN" sz="2400">
                            <a:latin typeface="+mn-lt"/>
                            <a:cs typeface="+mn-cs"/>
                          </a:rPr>
                          <m:t>x</m:t>
                        </m:r>
                        <m:r>
                          <m:rPr>
                            <m:nor/>
                          </m:rPr>
                          <a:rPr lang="vi-VN" sz="2400">
                            <a:latin typeface="+mn-lt"/>
                            <a:cs typeface="+mn-cs"/>
                          </a:rPr>
                          <m:t> </m:t>
                        </m:r>
                      </m:e>
                    </m:acc>
                    <m:r>
                      <m:rPr>
                        <m:nor/>
                      </m:rPr>
                      <a:rPr lang="vi-VN" sz="2400">
                        <a:latin typeface="+mn-lt"/>
                        <a:cs typeface="+mn-cs"/>
                      </a:rPr>
                      <m:t> +  </m:t>
                    </m:r>
                    <m:acc>
                      <m:accPr>
                        <m:chr m:val="̅"/>
                        <m:ctrlPr>
                          <a:rPr lang="en-US" sz="2400" i="1">
                            <a:latin typeface="Cambria Math" panose="02040503050406030204" pitchFamily="18" charset="0"/>
                            <a:cs typeface="+mn-cs"/>
                          </a:rPr>
                        </m:ctrlPr>
                      </m:accPr>
                      <m:e>
                        <m:r>
                          <m:rPr>
                            <m:nor/>
                          </m:rPr>
                          <a:rPr lang="vi-VN" sz="2400">
                            <a:latin typeface="+mn-lt"/>
                            <a:cs typeface="+mn-cs"/>
                          </a:rPr>
                          <m:t>y</m:t>
                        </m:r>
                      </m:e>
                    </m:acc>
                  </m:oMath>
                </a14:m>
                <a:endParaRPr lang="en-US" sz="2400" dirty="0">
                  <a:latin typeface="+mn-lt"/>
                  <a:cs typeface="+mn-cs"/>
                </a:endParaRPr>
              </a:p>
            </p:txBody>
          </p:sp>
        </mc:Choice>
        <mc:Fallback xmlns="">
          <p:sp>
            <p:nvSpPr>
              <p:cNvPr id="10" name="Content Placeholder 2">
                <a:extLst>
                  <a:ext uri="{FF2B5EF4-FFF2-40B4-BE49-F238E27FC236}">
                    <a16:creationId xmlns:a16="http://schemas.microsoft.com/office/drawing/2014/main" id="{47114EFF-CBCC-E848-F708-F35B0A461638}"/>
                  </a:ext>
                </a:extLst>
              </p:cNvPr>
              <p:cNvSpPr txBox="1">
                <a:spLocks noRot="1" noChangeAspect="1" noMove="1" noResize="1" noEditPoints="1" noAdjustHandles="1" noChangeArrowheads="1" noChangeShapeType="1" noTextEdit="1"/>
              </p:cNvSpPr>
              <p:nvPr/>
            </p:nvSpPr>
            <p:spPr>
              <a:xfrm>
                <a:off x="5336498" y="1572040"/>
                <a:ext cx="6630767" cy="4013626"/>
              </a:xfrm>
              <a:prstGeom prst="rect">
                <a:avLst/>
              </a:prstGeom>
              <a:blipFill>
                <a:blip r:embed="rId2"/>
                <a:stretch>
                  <a:fillRect l="-1654" t="-1976"/>
                </a:stretch>
              </a:blipFill>
            </p:spPr>
            <p:txBody>
              <a:bodyPr/>
              <a:lstStyle/>
              <a:p>
                <a:r>
                  <a:rPr lang="en-US">
                    <a:noFill/>
                  </a:rPr>
                  <a:t> </a:t>
                </a:r>
              </a:p>
            </p:txBody>
          </p:sp>
        </mc:Fallback>
      </mc:AlternateContent>
    </p:spTree>
    <p:extLst>
      <p:ext uri="{BB962C8B-B14F-4D97-AF65-F5344CB8AC3E}">
        <p14:creationId xmlns:p14="http://schemas.microsoft.com/office/powerpoint/2010/main" val="192664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 calcmode="lin" valueType="num">
                                      <p:cBhvr additive="base">
                                        <p:cTn id="2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 calcmode="lin" valueType="num">
                                      <p:cBhvr additive="base">
                                        <p:cTn id="2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anim calcmode="lin" valueType="num">
                                      <p:cBhvr additive="base">
                                        <p:cTn id="4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 calcmode="lin" valueType="num">
                                      <p:cBhvr additive="base">
                                        <p:cTn id="4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0">
                                            <p:txEl>
                                              <p:pRg st="1" end="1"/>
                                            </p:txEl>
                                          </p:spTgt>
                                        </p:tgtEl>
                                        <p:attrNameLst>
                                          <p:attrName>style.visibility</p:attrName>
                                        </p:attrNameLst>
                                      </p:cBhvr>
                                      <p:to>
                                        <p:strVal val="visible"/>
                                      </p:to>
                                    </p:set>
                                    <p:anim calcmode="lin" valueType="num">
                                      <p:cBhvr additive="base">
                                        <p:cTn id="5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
                                            <p:txEl>
                                              <p:pRg st="2" end="2"/>
                                            </p:txEl>
                                          </p:spTgt>
                                        </p:tgtEl>
                                        <p:attrNameLst>
                                          <p:attrName>style.visibility</p:attrName>
                                        </p:attrNameLst>
                                      </p:cBhvr>
                                      <p:to>
                                        <p:strVal val="visible"/>
                                      </p:to>
                                    </p:set>
                                    <p:anim calcmode="lin" valueType="num">
                                      <p:cBhvr additive="base">
                                        <p:cTn id="5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0">
                                            <p:txEl>
                                              <p:pRg st="3" end="3"/>
                                            </p:txEl>
                                          </p:spTgt>
                                        </p:tgtEl>
                                        <p:attrNameLst>
                                          <p:attrName>style.visibility</p:attrName>
                                        </p:attrNameLst>
                                      </p:cBhvr>
                                      <p:to>
                                        <p:strVal val="visible"/>
                                      </p:to>
                                    </p:set>
                                    <p:anim calcmode="lin" valueType="num">
                                      <p:cBhvr additive="base">
                                        <p:cTn id="6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0">
                                            <p:txEl>
                                              <p:pRg st="4" end="4"/>
                                            </p:txEl>
                                          </p:spTgt>
                                        </p:tgtEl>
                                        <p:attrNameLst>
                                          <p:attrName>style.visibility</p:attrName>
                                        </p:attrNameLst>
                                      </p:cBhvr>
                                      <p:to>
                                        <p:strVal val="visible"/>
                                      </p:to>
                                    </p:set>
                                    <p:anim calcmode="lin" valueType="num">
                                      <p:cBhvr additive="base">
                                        <p:cTn id="6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0">
                                            <p:txEl>
                                              <p:pRg st="5" end="5"/>
                                            </p:txEl>
                                          </p:spTgt>
                                        </p:tgtEl>
                                        <p:attrNameLst>
                                          <p:attrName>style.visibility</p:attrName>
                                        </p:attrNameLst>
                                      </p:cBhvr>
                                      <p:to>
                                        <p:strVal val="visible"/>
                                      </p:to>
                                    </p:set>
                                    <p:anim calcmode="lin" valueType="num">
                                      <p:cBhvr additive="base">
                                        <p:cTn id="7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0">
                                            <p:txEl>
                                              <p:pRg st="6" end="6"/>
                                            </p:txEl>
                                          </p:spTgt>
                                        </p:tgtEl>
                                        <p:attrNameLst>
                                          <p:attrName>style.visibility</p:attrName>
                                        </p:attrNameLst>
                                      </p:cBhvr>
                                      <p:to>
                                        <p:strVal val="visible"/>
                                      </p:to>
                                    </p:set>
                                    <p:anim calcmode="lin" valueType="num">
                                      <p:cBhvr additive="base">
                                        <p:cTn id="77"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0">
                                            <p:txEl>
                                              <p:pRg st="7" end="7"/>
                                            </p:txEl>
                                          </p:spTgt>
                                        </p:tgtEl>
                                        <p:attrNameLst>
                                          <p:attrName>style.visibility</p:attrName>
                                        </p:attrNameLst>
                                      </p:cBhvr>
                                      <p:to>
                                        <p:strVal val="visible"/>
                                      </p:to>
                                    </p:set>
                                    <p:anim calcmode="lin" valueType="num">
                                      <p:cBhvr additive="base">
                                        <p:cTn id="81"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sz="4000" dirty="0"/>
              <a:t>- </a:t>
            </a:r>
            <a:r>
              <a:rPr lang="en-US" sz="4000" dirty="0" err="1"/>
              <a:t>Biểu</a:t>
            </a:r>
            <a:r>
              <a:rPr lang="en-US" sz="4000" dirty="0"/>
              <a:t> </a:t>
            </a:r>
            <a:r>
              <a:rPr lang="en-US" sz="4000" err="1"/>
              <a:t>thức</a:t>
            </a:r>
            <a:r>
              <a:rPr lang="en-US" sz="4000"/>
              <a:t> Boole</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en-US" dirty="0" err="1"/>
              <a:t>Kết</a:t>
            </a:r>
            <a:r>
              <a:rPr lang="en-US" dirty="0"/>
              <a:t> </a:t>
            </a:r>
            <a:r>
              <a:rPr lang="en-US" dirty="0" err="1"/>
              <a:t>hợp</a:t>
            </a:r>
            <a:r>
              <a:rPr lang="en-US" dirty="0"/>
              <a:t> </a:t>
            </a:r>
            <a:r>
              <a:rPr lang="en-US" dirty="0" err="1"/>
              <a:t>các</a:t>
            </a:r>
            <a:r>
              <a:rPr lang="en-US" dirty="0"/>
              <a:t> </a:t>
            </a:r>
            <a:r>
              <a:rPr lang="en-US" dirty="0" err="1"/>
              <a:t>biến</a:t>
            </a:r>
            <a:r>
              <a:rPr lang="en-US" dirty="0"/>
              <a:t>, </a:t>
            </a:r>
            <a:r>
              <a:rPr lang="en-US" dirty="0" err="1"/>
              <a:t>hằng</a:t>
            </a:r>
            <a:r>
              <a:rPr lang="en-US" dirty="0"/>
              <a:t> </a:t>
            </a:r>
            <a:r>
              <a:rPr lang="en-US" dirty="0" err="1"/>
              <a:t>số</a:t>
            </a:r>
            <a:r>
              <a:rPr lang="en-US" dirty="0"/>
              <a:t>, </a:t>
            </a:r>
            <a:r>
              <a:rPr lang="en-US" dirty="0" err="1"/>
              <a:t>toán</a:t>
            </a:r>
            <a:r>
              <a:rPr lang="en-US" dirty="0"/>
              <a:t> </a:t>
            </a:r>
            <a:r>
              <a:rPr lang="en-US" dirty="0" err="1"/>
              <a:t>tử</a:t>
            </a:r>
            <a:r>
              <a:rPr lang="en-US" dirty="0"/>
              <a:t>, </a:t>
            </a:r>
            <a:r>
              <a:rPr lang="en-US" dirty="0" err="1"/>
              <a:t>dấu</a:t>
            </a:r>
            <a:r>
              <a:rPr lang="en-US" dirty="0"/>
              <a:t> </a:t>
            </a:r>
            <a:r>
              <a:rPr lang="en-US" dirty="0" err="1"/>
              <a:t>ngoặc</a:t>
            </a:r>
            <a:r>
              <a:rPr lang="en-US" dirty="0"/>
              <a:t> </a:t>
            </a:r>
            <a:r>
              <a:rPr lang="en-US" dirty="0" err="1"/>
              <a:t>tạo</a:t>
            </a:r>
            <a:r>
              <a:rPr lang="en-US" dirty="0"/>
              <a:t> </a:t>
            </a:r>
            <a:r>
              <a:rPr lang="en-US" dirty="0" err="1"/>
              <a:t>thành</a:t>
            </a:r>
            <a:r>
              <a:rPr lang="en-US" dirty="0"/>
              <a:t> </a:t>
            </a:r>
            <a:r>
              <a:rPr lang="en-US" dirty="0" err="1"/>
              <a:t>một</a:t>
            </a:r>
            <a:r>
              <a:rPr lang="en-US" dirty="0"/>
              <a:t> </a:t>
            </a:r>
            <a:r>
              <a:rPr lang="en-US" b="1" dirty="0" err="1"/>
              <a:t>Biểu</a:t>
            </a:r>
            <a:r>
              <a:rPr lang="en-US" b="1" dirty="0"/>
              <a:t> </a:t>
            </a:r>
            <a:r>
              <a:rPr lang="en-US" b="1" err="1"/>
              <a:t>thức</a:t>
            </a:r>
            <a:r>
              <a:rPr lang="en-US" b="1"/>
              <a:t> Boole</a:t>
            </a:r>
            <a:r>
              <a:rPr lang="en-US"/>
              <a:t>.</a:t>
            </a:r>
            <a:endParaRPr lang="en-US" dirty="0"/>
          </a:p>
          <a:p>
            <a:pPr lvl="1"/>
            <a:r>
              <a:rPr lang="en-US" dirty="0" err="1"/>
              <a:t>Ví</a:t>
            </a:r>
            <a:r>
              <a:rPr lang="en-US" dirty="0"/>
              <a:t> </a:t>
            </a:r>
            <a:r>
              <a:rPr lang="en-US" dirty="0" err="1"/>
              <a:t>dụ</a:t>
            </a:r>
            <a:r>
              <a:rPr lang="en-US"/>
              <a:t>: </a:t>
            </a:r>
            <a:r>
              <a:rPr lang="vi-VN" i="1"/>
              <a:t>x</a:t>
            </a:r>
            <a:r>
              <a:rPr lang="en-US" i="1" dirty="0"/>
              <a:t> </a:t>
            </a:r>
            <a:r>
              <a:rPr lang="vi-VN"/>
              <a:t>+</a:t>
            </a:r>
            <a:r>
              <a:rPr lang="vi-VN" i="1"/>
              <a:t> y</a:t>
            </a:r>
            <a:r>
              <a:rPr lang="en-US" i="1"/>
              <a:t>z</a:t>
            </a:r>
            <a:r>
              <a:rPr lang="en-US" i="1" dirty="0"/>
              <a:t>’ </a:t>
            </a:r>
            <a:r>
              <a:rPr lang="en-US" i="1"/>
              <a:t>+ xyz</a:t>
            </a:r>
            <a:endParaRPr lang="en-US" dirty="0"/>
          </a:p>
          <a:p>
            <a:pPr algn="just"/>
            <a:r>
              <a:rPr lang="en-US" spc="-20" dirty="0">
                <a:ea typeface="Times New Roman" panose="02020603050405020304" pitchFamily="18" charset="0"/>
              </a:rPr>
              <a:t>K</a:t>
            </a:r>
            <a:r>
              <a:rPr lang="vi-VN" spc="-20" dirty="0">
                <a:ea typeface="Times New Roman" panose="02020603050405020304" pitchFamily="18" charset="0"/>
              </a:rPr>
              <a:t>ết hợp theo thứ tự: 1 tên hàm, 1 dấu bằng và cuối cùng là 1 biểu </a:t>
            </a:r>
            <a:r>
              <a:rPr lang="vi-VN" spc="-20">
                <a:ea typeface="Times New Roman" panose="02020603050405020304" pitchFamily="18" charset="0"/>
              </a:rPr>
              <a:t>thức Boole </a:t>
            </a:r>
            <a:r>
              <a:rPr lang="vi-VN" spc="-20" dirty="0">
                <a:ea typeface="Times New Roman" panose="02020603050405020304" pitchFamily="18" charset="0"/>
              </a:rPr>
              <a:t>sẽ cho chúng ta được </a:t>
            </a:r>
            <a:r>
              <a:rPr lang="vi-VN" spc="-20">
                <a:ea typeface="Times New Roman" panose="02020603050405020304" pitchFamily="18" charset="0"/>
              </a:rPr>
              <a:t>một </a:t>
            </a:r>
            <a:r>
              <a:rPr lang="en-US" b="1" spc="-20">
                <a:ea typeface="Times New Roman" panose="02020603050405020304" pitchFamily="18" charset="0"/>
              </a:rPr>
              <a:t>H</a:t>
            </a:r>
            <a:r>
              <a:rPr lang="vi-VN" b="1" spc="-20">
                <a:ea typeface="Times New Roman" panose="02020603050405020304" pitchFamily="18" charset="0"/>
              </a:rPr>
              <a:t>àm Boole</a:t>
            </a:r>
            <a:r>
              <a:rPr lang="en-US" b="1" spc="-20">
                <a:ea typeface="Times New Roman" panose="02020603050405020304" pitchFamily="18" charset="0"/>
              </a:rPr>
              <a:t> </a:t>
            </a:r>
            <a:r>
              <a:rPr lang="en-US" b="1" spc="-20" dirty="0">
                <a:ea typeface="Times New Roman" panose="02020603050405020304" pitchFamily="18" charset="0"/>
              </a:rPr>
              <a:t>(</a:t>
            </a:r>
            <a:r>
              <a:rPr lang="en-US" b="1" spc="-20" err="1">
                <a:ea typeface="Times New Roman" panose="02020603050405020304" pitchFamily="18" charset="0"/>
              </a:rPr>
              <a:t>Hàm</a:t>
            </a:r>
            <a:r>
              <a:rPr lang="en-US" b="1" spc="-20">
                <a:ea typeface="Times New Roman" panose="02020603050405020304" pitchFamily="18" charset="0"/>
              </a:rPr>
              <a:t> Boole dạng </a:t>
            </a:r>
            <a:r>
              <a:rPr lang="en-US" b="1" spc="-20" dirty="0" err="1">
                <a:ea typeface="Times New Roman" panose="02020603050405020304" pitchFamily="18" charset="0"/>
              </a:rPr>
              <a:t>chuẩn</a:t>
            </a:r>
            <a:r>
              <a:rPr lang="en-US" b="1" spc="-20" dirty="0">
                <a:ea typeface="Times New Roman" panose="02020603050405020304" pitchFamily="18" charset="0"/>
              </a:rPr>
              <a:t>)</a:t>
            </a:r>
          </a:p>
          <a:p>
            <a:pPr lvl="1"/>
            <a:r>
              <a:rPr lang="en-US" spc="-20" dirty="0" err="1">
                <a:ea typeface="Times New Roman" panose="02020603050405020304" pitchFamily="18" charset="0"/>
              </a:rPr>
              <a:t>Ví</a:t>
            </a:r>
            <a:r>
              <a:rPr lang="en-US" spc="-20" dirty="0">
                <a:ea typeface="Times New Roman" panose="02020603050405020304" pitchFamily="18" charset="0"/>
              </a:rPr>
              <a:t> </a:t>
            </a:r>
            <a:r>
              <a:rPr lang="en-US" spc="-20" dirty="0" err="1">
                <a:ea typeface="Times New Roman" panose="02020603050405020304" pitchFamily="18" charset="0"/>
              </a:rPr>
              <a:t>dụ</a:t>
            </a:r>
            <a:r>
              <a:rPr lang="en-US" spc="-20" dirty="0">
                <a:ea typeface="Times New Roman" panose="02020603050405020304" pitchFamily="18" charset="0"/>
              </a:rPr>
              <a:t>: </a:t>
            </a:r>
            <a:r>
              <a:rPr lang="vi-VN" i="1" dirty="0"/>
              <a:t>f</a:t>
            </a:r>
            <a:r>
              <a:rPr lang="vi-VN" dirty="0"/>
              <a:t>(</a:t>
            </a:r>
            <a:r>
              <a:rPr lang="vi-VN" i="1" dirty="0"/>
              <a:t>x, y, z</a:t>
            </a:r>
            <a:r>
              <a:rPr lang="vi-VN" dirty="0"/>
              <a:t>)</a:t>
            </a:r>
            <a:r>
              <a:rPr lang="vi-VN" i="1" dirty="0"/>
              <a:t> </a:t>
            </a:r>
            <a:r>
              <a:rPr lang="vi-VN" i="1"/>
              <a:t>= x</a:t>
            </a:r>
            <a:r>
              <a:rPr lang="en-US" i="1"/>
              <a:t> </a:t>
            </a:r>
            <a:r>
              <a:rPr lang="vi-VN"/>
              <a:t>+</a:t>
            </a:r>
            <a:r>
              <a:rPr lang="vi-VN" i="1"/>
              <a:t> y</a:t>
            </a:r>
            <a:r>
              <a:rPr lang="en-US" i="1"/>
              <a:t>z’ + xyz</a:t>
            </a:r>
            <a:endParaRPr lang="en-US"/>
          </a:p>
          <a:p>
            <a:pPr lvl="1"/>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Tree>
    <p:extLst>
      <p:ext uri="{BB962C8B-B14F-4D97-AF65-F5344CB8AC3E}">
        <p14:creationId xmlns:p14="http://schemas.microsoft.com/office/powerpoint/2010/main" val="216675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52F06-34B1-D09A-B993-EB6CC14110C0}"/>
              </a:ext>
            </a:extLst>
          </p:cNvPr>
          <p:cNvSpPr>
            <a:spLocks noGrp="1"/>
          </p:cNvSpPr>
          <p:nvPr>
            <p:ph type="title"/>
          </p:nvPr>
        </p:nvSpPr>
        <p:spPr/>
        <p:txBody>
          <a:bodyPr>
            <a:normAutofit fontScale="90000"/>
          </a:bodyPr>
          <a:lstStyle/>
          <a:p>
            <a:r>
              <a:rPr lang="en-US" spc="-20">
                <a:ea typeface="Times New Roman" panose="02020603050405020304" pitchFamily="18" charset="0"/>
              </a:rPr>
              <a:t>Đại số Boole - </a:t>
            </a:r>
            <a:r>
              <a:rPr lang="en-US" b="1" spc="-20">
                <a:ea typeface="Times New Roman" panose="02020603050405020304" pitchFamily="18" charset="0"/>
              </a:rPr>
              <a:t>Hàm Boole dạng chuẩn</a:t>
            </a:r>
            <a:endParaRPr lang="en-US"/>
          </a:p>
        </p:txBody>
      </p:sp>
      <p:sp>
        <p:nvSpPr>
          <p:cNvPr id="3" name="Content Placeholder 2">
            <a:extLst>
              <a:ext uri="{FF2B5EF4-FFF2-40B4-BE49-F238E27FC236}">
                <a16:creationId xmlns:a16="http://schemas.microsoft.com/office/drawing/2014/main" id="{5C7709EC-D417-D48C-BC63-1B1BFE083272}"/>
              </a:ext>
            </a:extLst>
          </p:cNvPr>
          <p:cNvSpPr>
            <a:spLocks noGrp="1"/>
          </p:cNvSpPr>
          <p:nvPr>
            <p:ph idx="1"/>
          </p:nvPr>
        </p:nvSpPr>
        <p:spPr/>
        <p:txBody>
          <a:bodyPr/>
          <a:lstStyle/>
          <a:p>
            <a:pPr>
              <a:spcBef>
                <a:spcPct val="10000"/>
              </a:spcBef>
            </a:pPr>
            <a:r>
              <a:rPr lang="en-US"/>
              <a:t>Hàm Boole dạng chuẩn có ít nhóm AND/OR và các nhóm này có thể có ít biến hơn dạng chính tắc</a:t>
            </a:r>
          </a:p>
          <a:p>
            <a:pPr>
              <a:spcBef>
                <a:spcPct val="10000"/>
              </a:spcBef>
            </a:pPr>
            <a:r>
              <a:rPr lang="en-US"/>
              <a:t>Dạng tổng các tích - SoP (Sum-of-Product)</a:t>
            </a:r>
          </a:p>
          <a:p>
            <a:pPr lvl="1">
              <a:spcBef>
                <a:spcPct val="10000"/>
              </a:spcBef>
            </a:pPr>
            <a:r>
              <a:rPr lang="en-US"/>
              <a:t>Ví dụ:</a:t>
            </a:r>
          </a:p>
          <a:p>
            <a:pPr marL="457200" lvl="1" indent="0">
              <a:lnSpc>
                <a:spcPct val="200000"/>
              </a:lnSpc>
              <a:spcBef>
                <a:spcPct val="10000"/>
              </a:spcBef>
              <a:buNone/>
            </a:pPr>
            <a:endParaRPr lang="en-US" sz="1200"/>
          </a:p>
          <a:p>
            <a:pPr>
              <a:spcBef>
                <a:spcPct val="10000"/>
              </a:spcBef>
            </a:pPr>
            <a:r>
              <a:rPr lang="en-US"/>
              <a:t>Dạng tích các tổng - PoS (Product-of-Sum)</a:t>
            </a:r>
          </a:p>
          <a:p>
            <a:pPr lvl="1">
              <a:spcBef>
                <a:spcPct val="10000"/>
              </a:spcBef>
            </a:pPr>
            <a:r>
              <a:rPr lang="en-US"/>
              <a:t>Ví dụ :</a:t>
            </a:r>
          </a:p>
          <a:p>
            <a:endParaRPr lang="en-US"/>
          </a:p>
        </p:txBody>
      </p:sp>
      <p:sp>
        <p:nvSpPr>
          <p:cNvPr id="4" name="Footer Placeholder 3">
            <a:extLst>
              <a:ext uri="{FF2B5EF4-FFF2-40B4-BE49-F238E27FC236}">
                <a16:creationId xmlns:a16="http://schemas.microsoft.com/office/drawing/2014/main" id="{89715881-708C-2E8F-6127-D8ACCD38BB3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6CECC3CD-8507-8817-87B8-C56AA2E16B36}"/>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98BD757A-4967-524A-156F-40ED44621C16}"/>
              </a:ext>
            </a:extLst>
          </p:cNvPr>
          <p:cNvSpPr>
            <a:spLocks noGrp="1"/>
          </p:cNvSpPr>
          <p:nvPr>
            <p:ph type="sldNum" sz="quarter" idx="12"/>
          </p:nvPr>
        </p:nvSpPr>
        <p:spPr/>
        <p:txBody>
          <a:bodyPr/>
          <a:lstStyle/>
          <a:p>
            <a:fld id="{D8B0B3AC-44A8-D142-AAF6-9A453466E1A4}" type="slidenum">
              <a:rPr lang="en-VN" smtClean="0"/>
              <a:t>10</a:t>
            </a:fld>
            <a:endParaRPr lang="en-VN"/>
          </a:p>
        </p:txBody>
      </p:sp>
      <p:pic>
        <p:nvPicPr>
          <p:cNvPr id="7" name="Picture 4" descr="11">
            <a:extLst>
              <a:ext uri="{FF2B5EF4-FFF2-40B4-BE49-F238E27FC236}">
                <a16:creationId xmlns:a16="http://schemas.microsoft.com/office/drawing/2014/main" id="{CF9C1E17-7CE6-8104-5EC9-6474AB9C0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9200"/>
          <a:stretch>
            <a:fillRect/>
          </a:stretch>
        </p:blipFill>
        <p:spPr bwMode="auto">
          <a:xfrm>
            <a:off x="2527515" y="3080288"/>
            <a:ext cx="5269178" cy="533400"/>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5" descr="12">
            <a:extLst>
              <a:ext uri="{FF2B5EF4-FFF2-40B4-BE49-F238E27FC236}">
                <a16:creationId xmlns:a16="http://schemas.microsoft.com/office/drawing/2014/main" id="{2906842F-14AF-68EE-AECD-C5F20AB02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1244" y="4780330"/>
            <a:ext cx="6197600" cy="63374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29907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dirty="0"/>
              <a:t>-</a:t>
            </a:r>
            <a:r>
              <a:rPr lang="en-US" sz="4000" dirty="0"/>
              <a:t> </a:t>
            </a:r>
            <a:r>
              <a:rPr lang="en-US" sz="4000" dirty="0" err="1"/>
              <a:t>Bảng</a:t>
            </a:r>
            <a:r>
              <a:rPr lang="en-US" sz="4000" dirty="0"/>
              <a:t> </a:t>
            </a:r>
            <a:r>
              <a:rPr lang="en-US" sz="4000" dirty="0" err="1"/>
              <a:t>chân</a:t>
            </a:r>
            <a:r>
              <a:rPr lang="en-US" sz="4000" dirty="0"/>
              <a:t> </a:t>
            </a:r>
            <a:r>
              <a:rPr lang="en-US" sz="4000" dirty="0" err="1"/>
              <a:t>trị</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b="1" dirty="0"/>
              <a:t>Bảng chân trị</a:t>
            </a:r>
            <a:r>
              <a:rPr lang="vi-VN" dirty="0"/>
              <a:t> (hay còn gọi là bảng tổ hợp) thể hiện mối quan hệ giữa giá trị của một </a:t>
            </a:r>
            <a:r>
              <a:rPr lang="vi-VN"/>
              <a:t>hàm Boole </a:t>
            </a:r>
            <a:r>
              <a:rPr lang="vi-VN" dirty="0"/>
              <a:t>và các biến của hàm đó</a:t>
            </a:r>
            <a:endParaRPr lang="en-US" dirty="0"/>
          </a:p>
          <a:p>
            <a:pPr lvl="1"/>
            <a:r>
              <a:rPr lang="en-US" dirty="0"/>
              <a:t>2</a:t>
            </a:r>
            <a:r>
              <a:rPr lang="en-US" i="1" baseline="30000" dirty="0"/>
              <a:t>n</a:t>
            </a:r>
            <a:r>
              <a:rPr lang="en-US" dirty="0"/>
              <a:t> </a:t>
            </a:r>
            <a:r>
              <a:rPr lang="en-US" dirty="0" err="1"/>
              <a:t>hàng</a:t>
            </a:r>
            <a:r>
              <a:rPr lang="en-US" dirty="0"/>
              <a:t> (</a:t>
            </a:r>
            <a:r>
              <a:rPr lang="en-US" i="1" dirty="0"/>
              <a:t>n</a:t>
            </a:r>
            <a:r>
              <a:rPr lang="en-US" dirty="0"/>
              <a:t> </a:t>
            </a:r>
            <a:r>
              <a:rPr lang="en-US" dirty="0" err="1"/>
              <a:t>là</a:t>
            </a:r>
            <a:r>
              <a:rPr lang="en-US" dirty="0"/>
              <a:t> </a:t>
            </a:r>
            <a:r>
              <a:rPr lang="en-US" dirty="0" err="1"/>
              <a:t>số</a:t>
            </a:r>
            <a:r>
              <a:rPr lang="en-US" dirty="0"/>
              <a:t> </a:t>
            </a:r>
            <a:r>
              <a:rPr lang="en-US" dirty="0" err="1"/>
              <a:t>biến</a:t>
            </a:r>
            <a:r>
              <a:rPr lang="en-US" dirty="0"/>
              <a:t>)</a:t>
            </a:r>
          </a:p>
          <a:p>
            <a:pPr lvl="1"/>
            <a:r>
              <a:rPr lang="en-US" i="1" dirty="0"/>
              <a:t>n</a:t>
            </a:r>
            <a:r>
              <a:rPr lang="en-US" dirty="0"/>
              <a:t>+1 </a:t>
            </a:r>
            <a:r>
              <a:rPr lang="en-US" dirty="0" err="1"/>
              <a:t>cột</a:t>
            </a:r>
            <a:endParaRPr lang="en-US" dirty="0"/>
          </a:p>
          <a:p>
            <a:pPr marL="0" indent="0">
              <a:buNone/>
            </a:pPr>
            <a:r>
              <a:rPr lang="en-US" i="1" dirty="0"/>
              <a:t>                                     </a:t>
            </a:r>
            <a:endParaRPr lang="en-US" dirty="0"/>
          </a:p>
          <a:p>
            <a:pPr marL="0" indent="0">
              <a:buNone/>
            </a:pPr>
            <a:endParaRPr lang="en-US" dirty="0"/>
          </a:p>
          <a:p>
            <a:pPr marL="0" indent="0">
              <a:buNone/>
            </a:pPr>
            <a:r>
              <a:rPr lang="en-US" i="1" dirty="0"/>
              <a:t>                                     </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11</a:t>
            </a:fld>
            <a:endParaRPr lang="en-VN" dirty="0"/>
          </a:p>
        </p:txBody>
      </p:sp>
      <p:graphicFrame>
        <p:nvGraphicFramePr>
          <p:cNvPr id="6" name="Table 5">
            <a:extLst>
              <a:ext uri="{FF2B5EF4-FFF2-40B4-BE49-F238E27FC236}">
                <a16:creationId xmlns:a16="http://schemas.microsoft.com/office/drawing/2014/main" id="{CC99D17D-AC99-6637-5598-BB43B3C6C06B}"/>
              </a:ext>
            </a:extLst>
          </p:cNvPr>
          <p:cNvGraphicFramePr>
            <a:graphicFrameLocks noGrp="1"/>
          </p:cNvGraphicFramePr>
          <p:nvPr>
            <p:extLst>
              <p:ext uri="{D42A27DB-BD31-4B8C-83A1-F6EECF244321}">
                <p14:modId xmlns:p14="http://schemas.microsoft.com/office/powerpoint/2010/main" val="4280632843"/>
              </p:ext>
            </p:extLst>
          </p:nvPr>
        </p:nvGraphicFramePr>
        <p:xfrm>
          <a:off x="6166047" y="2367687"/>
          <a:ext cx="1389380" cy="3627505"/>
        </p:xfrm>
        <a:graphic>
          <a:graphicData uri="http://schemas.openxmlformats.org/drawingml/2006/table">
            <a:tbl>
              <a:tblPr firstRow="1" firstCol="1" bandRow="1">
                <a:tableStyleId>{5940675A-B579-460E-94D1-54222C63F5DA}</a:tableStyleId>
              </a:tblPr>
              <a:tblGrid>
                <a:gridCol w="347345">
                  <a:extLst>
                    <a:ext uri="{9D8B030D-6E8A-4147-A177-3AD203B41FA5}">
                      <a16:colId xmlns:a16="http://schemas.microsoft.com/office/drawing/2014/main" val="1738475070"/>
                    </a:ext>
                  </a:extLst>
                </a:gridCol>
                <a:gridCol w="347345">
                  <a:extLst>
                    <a:ext uri="{9D8B030D-6E8A-4147-A177-3AD203B41FA5}">
                      <a16:colId xmlns:a16="http://schemas.microsoft.com/office/drawing/2014/main" val="3340612718"/>
                    </a:ext>
                  </a:extLst>
                </a:gridCol>
                <a:gridCol w="347345">
                  <a:extLst>
                    <a:ext uri="{9D8B030D-6E8A-4147-A177-3AD203B41FA5}">
                      <a16:colId xmlns:a16="http://schemas.microsoft.com/office/drawing/2014/main" val="2391360668"/>
                    </a:ext>
                  </a:extLst>
                </a:gridCol>
                <a:gridCol w="347345">
                  <a:extLst>
                    <a:ext uri="{9D8B030D-6E8A-4147-A177-3AD203B41FA5}">
                      <a16:colId xmlns:a16="http://schemas.microsoft.com/office/drawing/2014/main" val="2953046647"/>
                    </a:ext>
                  </a:extLst>
                </a:gridCol>
              </a:tblGrid>
              <a:tr h="0">
                <a:tc>
                  <a:txBody>
                    <a:bodyPr/>
                    <a:lstStyle/>
                    <a:p>
                      <a:pPr marL="0" marR="0" algn="ctr">
                        <a:lnSpc>
                          <a:spcPct val="150000"/>
                        </a:lnSpc>
                        <a:spcBef>
                          <a:spcPts val="600"/>
                        </a:spcBef>
                        <a:spcAft>
                          <a:spcPts val="0"/>
                        </a:spcAft>
                      </a:pPr>
                      <a:r>
                        <a:rPr lang="vi-VN" sz="2000" b="1" spc="-20">
                          <a:effectLst/>
                          <a:latin typeface="+mj-lt"/>
                        </a:rPr>
                        <a:t>x</a:t>
                      </a:r>
                      <a:endParaRPr lang="en-US" sz="2000" b="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b="1" spc="-20">
                          <a:effectLst/>
                          <a:latin typeface="+mj-lt"/>
                        </a:rPr>
                        <a:t>y</a:t>
                      </a:r>
                      <a:endParaRPr lang="en-US" sz="2000" b="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b="1" spc="-20" dirty="0">
                          <a:effectLst/>
                          <a:latin typeface="+mj-lt"/>
                        </a:rPr>
                        <a:t>z</a:t>
                      </a:r>
                      <a:endParaRPr lang="en-US" sz="2000" b="1"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b="1" spc="-20">
                          <a:effectLst/>
                          <a:latin typeface="+mj-lt"/>
                        </a:rPr>
                        <a:t>f</a:t>
                      </a:r>
                      <a:endParaRPr lang="en-US" sz="2000" b="1">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5291536"/>
                  </a:ext>
                </a:extLst>
              </a:tr>
              <a:tr h="0">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94710309"/>
                  </a:ext>
                </a:extLst>
              </a:tr>
              <a:tr h="0">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7914313"/>
                  </a:ext>
                </a:extLst>
              </a:tr>
              <a:tr h="0">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000" dirty="0">
                          <a:effectLst/>
                          <a:latin typeface="Times New Roman (Headings)"/>
                          <a:ea typeface="Times New Roman" panose="02020603050405020304" pitchFamily="18" charset="0"/>
                        </a:rPr>
                        <a:t>0</a:t>
                      </a: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33299962"/>
                  </a:ext>
                </a:extLst>
              </a:tr>
              <a:tr h="0">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1495923"/>
                  </a:ext>
                </a:extLst>
              </a:tr>
              <a:tr h="0">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61868518"/>
                  </a:ext>
                </a:extLst>
              </a:tr>
              <a:tr h="0">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35053377"/>
                  </a:ext>
                </a:extLst>
              </a:tr>
              <a:tr h="0">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0</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8763828"/>
                  </a:ext>
                </a:extLst>
              </a:tr>
              <a:tr h="0">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a:effectLst/>
                          <a:latin typeface="Times New Roman (Headings)"/>
                        </a:rPr>
                        <a:t>1</a:t>
                      </a:r>
                      <a:endParaRPr lang="en-US" sz="20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35758285"/>
                  </a:ext>
                </a:extLst>
              </a:tr>
            </a:tbl>
          </a:graphicData>
        </a:graphic>
      </p:graphicFrame>
      <p:cxnSp>
        <p:nvCxnSpPr>
          <p:cNvPr id="7" name="Connector: Curved 23">
            <a:extLst>
              <a:ext uri="{FF2B5EF4-FFF2-40B4-BE49-F238E27FC236}">
                <a16:creationId xmlns:a16="http://schemas.microsoft.com/office/drawing/2014/main" id="{54A7C07E-8827-86B2-A362-8FC800E70022}"/>
              </a:ext>
            </a:extLst>
          </p:cNvPr>
          <p:cNvCxnSpPr>
            <a:cxnSpLocks/>
          </p:cNvCxnSpPr>
          <p:nvPr/>
        </p:nvCxnSpPr>
        <p:spPr>
          <a:xfrm>
            <a:off x="4127960" y="4158598"/>
            <a:ext cx="1640114" cy="1042108"/>
          </a:xfrm>
          <a:prstGeom prst="curvedConnector3">
            <a:avLst>
              <a:gd name="adj1" fmla="val 442"/>
            </a:avLst>
          </a:prstGeom>
          <a:ln w="12700">
            <a:tailEnd type="triangle"/>
          </a:ln>
        </p:spPr>
        <p:style>
          <a:lnRef idx="1">
            <a:schemeClr val="dk1"/>
          </a:lnRef>
          <a:fillRef idx="0">
            <a:schemeClr val="dk1"/>
          </a:fillRef>
          <a:effectRef idx="0">
            <a:schemeClr val="dk1"/>
          </a:effectRef>
          <a:fontRef idx="minor">
            <a:schemeClr val="tx1"/>
          </a:fontRef>
        </p:style>
      </p:cxnSp>
      <p:cxnSp>
        <p:nvCxnSpPr>
          <p:cNvPr id="8" name="Connector: Curved 30">
            <a:extLst>
              <a:ext uri="{FF2B5EF4-FFF2-40B4-BE49-F238E27FC236}">
                <a16:creationId xmlns:a16="http://schemas.microsoft.com/office/drawing/2014/main" id="{34EE6333-0FED-5512-BB33-840E87D5A99F}"/>
              </a:ext>
            </a:extLst>
          </p:cNvPr>
          <p:cNvCxnSpPr>
            <a:cxnSpLocks/>
          </p:cNvCxnSpPr>
          <p:nvPr/>
        </p:nvCxnSpPr>
        <p:spPr>
          <a:xfrm>
            <a:off x="5097250" y="3866210"/>
            <a:ext cx="971532" cy="392130"/>
          </a:xfrm>
          <a:prstGeom prst="curved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17F2053-F843-5179-6381-6CC6A71CD31B}"/>
              </a:ext>
            </a:extLst>
          </p:cNvPr>
          <p:cNvSpPr txBox="1"/>
          <p:nvPr/>
        </p:nvSpPr>
        <p:spPr>
          <a:xfrm>
            <a:off x="2147609" y="3573823"/>
            <a:ext cx="2949641" cy="584775"/>
          </a:xfrm>
          <a:prstGeom prst="rect">
            <a:avLst/>
          </a:prstGeom>
          <a:noFill/>
        </p:spPr>
        <p:txBody>
          <a:bodyPr wrap="square">
            <a:spAutoFit/>
          </a:bodyPr>
          <a:lstStyle/>
          <a:p>
            <a:r>
              <a:rPr lang="vi-VN" sz="3200" i="1" dirty="0">
                <a:latin typeface="+mj-lt"/>
              </a:rPr>
              <a:t>f</a:t>
            </a:r>
            <a:r>
              <a:rPr lang="vi-VN" sz="3200" dirty="0">
                <a:latin typeface="+mj-lt"/>
              </a:rPr>
              <a:t>(</a:t>
            </a:r>
            <a:r>
              <a:rPr lang="vi-VN" sz="3200" i="1" dirty="0">
                <a:latin typeface="+mj-lt"/>
              </a:rPr>
              <a:t>x, y, z</a:t>
            </a:r>
            <a:r>
              <a:rPr lang="vi-VN" sz="3200" dirty="0">
                <a:latin typeface="+mj-lt"/>
              </a:rPr>
              <a:t>)</a:t>
            </a:r>
            <a:r>
              <a:rPr lang="vi-VN" sz="3200" i="1" dirty="0">
                <a:latin typeface="+mj-lt"/>
              </a:rPr>
              <a:t> = x </a:t>
            </a:r>
            <a:r>
              <a:rPr lang="vi-VN" sz="3200" dirty="0">
                <a:latin typeface="+mj-lt"/>
              </a:rPr>
              <a:t>+</a:t>
            </a:r>
            <a:r>
              <a:rPr lang="vi-VN" sz="3200" i="1" dirty="0">
                <a:latin typeface="+mj-lt"/>
              </a:rPr>
              <a:t> yz</a:t>
            </a:r>
            <a:endParaRPr lang="en-US" sz="3200" dirty="0">
              <a:latin typeface="+mj-lt"/>
            </a:endParaRPr>
          </a:p>
        </p:txBody>
      </p:sp>
      <p:sp>
        <p:nvSpPr>
          <p:cNvPr id="10" name="Left Brace 9">
            <a:extLst>
              <a:ext uri="{FF2B5EF4-FFF2-40B4-BE49-F238E27FC236}">
                <a16:creationId xmlns:a16="http://schemas.microsoft.com/office/drawing/2014/main" id="{5C93660D-2521-B1A8-766F-3CA177CE4F99}"/>
              </a:ext>
            </a:extLst>
          </p:cNvPr>
          <p:cNvSpPr/>
          <p:nvPr/>
        </p:nvSpPr>
        <p:spPr>
          <a:xfrm>
            <a:off x="5876004" y="4459335"/>
            <a:ext cx="385556" cy="147778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E72688AA-5E42-1B97-04CB-67036D584EB3}"/>
              </a:ext>
            </a:extLst>
          </p:cNvPr>
          <p:cNvGraphicFramePr>
            <a:graphicFrameLocks noGrp="1"/>
          </p:cNvGraphicFramePr>
          <p:nvPr>
            <p:extLst>
              <p:ext uri="{D42A27DB-BD31-4B8C-83A1-F6EECF244321}">
                <p14:modId xmlns:p14="http://schemas.microsoft.com/office/powerpoint/2010/main" val="904754473"/>
              </p:ext>
            </p:extLst>
          </p:nvPr>
        </p:nvGraphicFramePr>
        <p:xfrm>
          <a:off x="7206445" y="2775992"/>
          <a:ext cx="347345" cy="3219200"/>
        </p:xfrm>
        <a:graphic>
          <a:graphicData uri="http://schemas.openxmlformats.org/drawingml/2006/table">
            <a:tbl>
              <a:tblPr firstRow="1" firstCol="1" bandRow="1">
                <a:tableStyleId>{5940675A-B579-460E-94D1-54222C63F5DA}</a:tableStyleId>
              </a:tblPr>
              <a:tblGrid>
                <a:gridCol w="347345">
                  <a:extLst>
                    <a:ext uri="{9D8B030D-6E8A-4147-A177-3AD203B41FA5}">
                      <a16:colId xmlns:a16="http://schemas.microsoft.com/office/drawing/2014/main" val="3268195587"/>
                    </a:ext>
                  </a:extLst>
                </a:gridCol>
              </a:tblGrid>
              <a:tr h="0">
                <a:tc>
                  <a:txBody>
                    <a:bodyPr/>
                    <a:lstStyle/>
                    <a:p>
                      <a:pPr marL="0" marR="0" algn="ctr">
                        <a:lnSpc>
                          <a:spcPct val="150000"/>
                        </a:lnSpc>
                        <a:spcBef>
                          <a:spcPts val="600"/>
                        </a:spcBef>
                        <a:spcAft>
                          <a:spcPts val="0"/>
                        </a:spcAft>
                      </a:pPr>
                      <a:r>
                        <a:rPr lang="vi-VN" sz="2000" spc="-20" dirty="0">
                          <a:effectLst/>
                          <a:latin typeface="Times New Roman (Headings)"/>
                        </a:rPr>
                        <a:t>0</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66215680"/>
                  </a:ext>
                </a:extLst>
              </a:tr>
              <a:tr h="0">
                <a:tc>
                  <a:txBody>
                    <a:bodyPr/>
                    <a:lstStyle/>
                    <a:p>
                      <a:pPr marL="0" marR="0" algn="ctr">
                        <a:lnSpc>
                          <a:spcPct val="150000"/>
                        </a:lnSpc>
                        <a:spcBef>
                          <a:spcPts val="600"/>
                        </a:spcBef>
                        <a:spcAft>
                          <a:spcPts val="0"/>
                        </a:spcAft>
                      </a:pPr>
                      <a:r>
                        <a:rPr lang="en-US" sz="2000" spc="-20" dirty="0">
                          <a:effectLst/>
                          <a:latin typeface="Times New Roman (Headings)"/>
                          <a:ea typeface="Times New Roman" panose="02020603050405020304" pitchFamily="18" charset="0"/>
                          <a:cs typeface="Times New Roman" panose="02020603050405020304" pitchFamily="18" charset="0"/>
                        </a:rPr>
                        <a:t>0</a:t>
                      </a:r>
                      <a:endParaRPr lang="en-US" sz="2000" dirty="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1580305"/>
                  </a:ext>
                </a:extLst>
              </a:tr>
              <a:tr h="0">
                <a:tc>
                  <a:txBody>
                    <a:bodyPr/>
                    <a:lstStyle/>
                    <a:p>
                      <a:pPr marL="0" marR="0" algn="ctr">
                        <a:lnSpc>
                          <a:spcPct val="150000"/>
                        </a:lnSpc>
                        <a:spcBef>
                          <a:spcPts val="600"/>
                        </a:spcBef>
                        <a:spcAft>
                          <a:spcPts val="0"/>
                        </a:spcAft>
                      </a:pPr>
                      <a:r>
                        <a:rPr lang="en-US" sz="2000" spc="-20" dirty="0">
                          <a:effectLst/>
                          <a:latin typeface="Times New Roman (Headings)"/>
                          <a:ea typeface="Times New Roman" panose="02020603050405020304" pitchFamily="18" charset="0"/>
                        </a:rPr>
                        <a:t>0</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4408269"/>
                  </a:ext>
                </a:extLst>
              </a:tr>
              <a:tr h="0">
                <a:tc>
                  <a:txBody>
                    <a:bodyPr/>
                    <a:lstStyle/>
                    <a:p>
                      <a:pPr marL="0" marR="0" algn="ctr">
                        <a:lnSpc>
                          <a:spcPct val="150000"/>
                        </a:lnSpc>
                        <a:spcBef>
                          <a:spcPts val="600"/>
                        </a:spcBef>
                        <a:spcAft>
                          <a:spcPts val="0"/>
                        </a:spcAft>
                      </a:pPr>
                      <a:r>
                        <a:rPr lang="vi-VN" sz="2000" spc="-20" dirty="0">
                          <a:effectLst/>
                          <a:latin typeface="Times New Roman (Headings)"/>
                        </a:rPr>
                        <a:t>1</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9088952"/>
                  </a:ext>
                </a:extLst>
              </a:tr>
              <a:tr h="0">
                <a:tc>
                  <a:txBody>
                    <a:bodyPr/>
                    <a:lstStyle/>
                    <a:p>
                      <a:pPr marL="0" marR="0" algn="ctr">
                        <a:lnSpc>
                          <a:spcPct val="150000"/>
                        </a:lnSpc>
                        <a:spcBef>
                          <a:spcPts val="600"/>
                        </a:spcBef>
                        <a:spcAft>
                          <a:spcPts val="0"/>
                        </a:spcAft>
                      </a:pPr>
                      <a:r>
                        <a:rPr lang="vi-VN" sz="2000" spc="-20" dirty="0">
                          <a:effectLst/>
                          <a:latin typeface="Times New Roman (Headings)"/>
                        </a:rPr>
                        <a:t>1</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22582926"/>
                  </a:ext>
                </a:extLst>
              </a:tr>
              <a:tr h="0">
                <a:tc>
                  <a:txBody>
                    <a:bodyPr/>
                    <a:lstStyle/>
                    <a:p>
                      <a:pPr marL="0" marR="0" algn="ctr">
                        <a:lnSpc>
                          <a:spcPct val="150000"/>
                        </a:lnSpc>
                        <a:spcBef>
                          <a:spcPts val="600"/>
                        </a:spcBef>
                        <a:spcAft>
                          <a:spcPts val="0"/>
                        </a:spcAft>
                      </a:pPr>
                      <a:r>
                        <a:rPr lang="en-US" sz="2000" spc="-20" dirty="0">
                          <a:effectLst/>
                          <a:latin typeface="Times New Roman (Headings)"/>
                          <a:ea typeface="Times New Roman" panose="02020603050405020304" pitchFamily="18" charset="0"/>
                          <a:cs typeface="Times New Roman" panose="02020603050405020304" pitchFamily="18" charset="0"/>
                        </a:rPr>
                        <a:t>1</a:t>
                      </a:r>
                      <a:endParaRPr lang="en-US" sz="2000" dirty="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00921520"/>
                  </a:ext>
                </a:extLst>
              </a:tr>
              <a:tr h="0">
                <a:tc>
                  <a:txBody>
                    <a:bodyPr/>
                    <a:lstStyle/>
                    <a:p>
                      <a:pPr marL="0" marR="0" algn="ctr">
                        <a:lnSpc>
                          <a:spcPct val="150000"/>
                        </a:lnSpc>
                        <a:spcBef>
                          <a:spcPts val="600"/>
                        </a:spcBef>
                        <a:spcAft>
                          <a:spcPts val="0"/>
                        </a:spcAft>
                      </a:pPr>
                      <a:r>
                        <a:rPr lang="vi-VN" sz="2000" spc="-20" dirty="0">
                          <a:effectLst/>
                          <a:latin typeface="Times New Roman (Headings)"/>
                        </a:rPr>
                        <a:t>1</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8367509"/>
                  </a:ext>
                </a:extLst>
              </a:tr>
              <a:tr h="0">
                <a:tc>
                  <a:txBody>
                    <a:bodyPr/>
                    <a:lstStyle/>
                    <a:p>
                      <a:pPr marL="0" marR="0" algn="ctr">
                        <a:lnSpc>
                          <a:spcPct val="150000"/>
                        </a:lnSpc>
                        <a:spcBef>
                          <a:spcPts val="600"/>
                        </a:spcBef>
                        <a:spcAft>
                          <a:spcPts val="0"/>
                        </a:spcAft>
                      </a:pPr>
                      <a:r>
                        <a:rPr lang="vi-VN" sz="2000" spc="-20" dirty="0">
                          <a:effectLst/>
                          <a:latin typeface="Times New Roman (Headings)"/>
                        </a:rPr>
                        <a:t>1</a:t>
                      </a:r>
                      <a:endParaRPr lang="en-US" sz="2000" dirty="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29726030"/>
                  </a:ext>
                </a:extLst>
              </a:tr>
            </a:tbl>
          </a:graphicData>
        </a:graphic>
      </p:graphicFrame>
      <p:sp>
        <p:nvSpPr>
          <p:cNvPr id="12" name="TextBox 11">
            <a:extLst>
              <a:ext uri="{FF2B5EF4-FFF2-40B4-BE49-F238E27FC236}">
                <a16:creationId xmlns:a16="http://schemas.microsoft.com/office/drawing/2014/main" id="{B50D4BA1-ABB8-2FDB-E8C9-0174D4F9770D}"/>
              </a:ext>
            </a:extLst>
          </p:cNvPr>
          <p:cNvSpPr txBox="1"/>
          <p:nvPr/>
        </p:nvSpPr>
        <p:spPr>
          <a:xfrm>
            <a:off x="533603" y="5289113"/>
            <a:ext cx="5288436" cy="523220"/>
          </a:xfrm>
          <a:prstGeom prst="rect">
            <a:avLst/>
          </a:prstGeom>
          <a:noFill/>
        </p:spPr>
        <p:txBody>
          <a:bodyPr wrap="square">
            <a:spAutoFit/>
          </a:bodyPr>
          <a:lstStyle/>
          <a:p>
            <a:r>
              <a:rPr lang="en-US" sz="2800" i="1" dirty="0" err="1">
                <a:cs typeface="Times New Roman" panose="02020603050405020304" pitchFamily="18" charset="0"/>
              </a:rPr>
              <a:t>Liệt</a:t>
            </a:r>
            <a:r>
              <a:rPr lang="en-US" sz="2800" i="1" dirty="0">
                <a:cs typeface="Times New Roman" panose="02020603050405020304" pitchFamily="18" charset="0"/>
              </a:rPr>
              <a:t> </a:t>
            </a:r>
            <a:r>
              <a:rPr lang="en-US" sz="2800" i="1" dirty="0" err="1">
                <a:cs typeface="Times New Roman" panose="02020603050405020304" pitchFamily="18" charset="0"/>
              </a:rPr>
              <a:t>kê</a:t>
            </a:r>
            <a:r>
              <a:rPr lang="en-US" sz="2800" i="1" dirty="0">
                <a:cs typeface="Times New Roman" panose="02020603050405020304" pitchFamily="18" charset="0"/>
              </a:rPr>
              <a:t> </a:t>
            </a:r>
            <a:r>
              <a:rPr lang="en-US" sz="2800" i="1" dirty="0" err="1">
                <a:cs typeface="Times New Roman" panose="02020603050405020304" pitchFamily="18" charset="0"/>
              </a:rPr>
              <a:t>tất</a:t>
            </a:r>
            <a:r>
              <a:rPr lang="en-US" sz="2800" i="1" dirty="0">
                <a:cs typeface="Times New Roman" panose="02020603050405020304" pitchFamily="18" charset="0"/>
              </a:rPr>
              <a:t> </a:t>
            </a:r>
            <a:r>
              <a:rPr lang="en-US" sz="2800" i="1" dirty="0" err="1">
                <a:cs typeface="Times New Roman" panose="02020603050405020304" pitchFamily="18" charset="0"/>
              </a:rPr>
              <a:t>cả</a:t>
            </a:r>
            <a:r>
              <a:rPr lang="en-US" sz="2800" i="1" dirty="0">
                <a:cs typeface="Times New Roman" panose="02020603050405020304" pitchFamily="18" charset="0"/>
              </a:rPr>
              <a:t> </a:t>
            </a:r>
            <a:r>
              <a:rPr lang="en-US" sz="2800" i="1" dirty="0" err="1">
                <a:cs typeface="Times New Roman" panose="02020603050405020304" pitchFamily="18" charset="0"/>
              </a:rPr>
              <a:t>các</a:t>
            </a:r>
            <a:r>
              <a:rPr lang="en-US" sz="2800" i="1" dirty="0">
                <a:cs typeface="Times New Roman" panose="02020603050405020304" pitchFamily="18" charset="0"/>
              </a:rPr>
              <a:t> </a:t>
            </a:r>
            <a:r>
              <a:rPr lang="en-US" sz="2800" i="1" dirty="0" err="1">
                <a:cs typeface="Times New Roman" panose="02020603050405020304" pitchFamily="18" charset="0"/>
              </a:rPr>
              <a:t>tổ</a:t>
            </a:r>
            <a:r>
              <a:rPr lang="en-US" sz="2800" i="1" dirty="0">
                <a:cs typeface="Times New Roman" panose="02020603050405020304" pitchFamily="18" charset="0"/>
              </a:rPr>
              <a:t> </a:t>
            </a:r>
            <a:r>
              <a:rPr lang="en-US" sz="2800" i="1" dirty="0" err="1">
                <a:cs typeface="Times New Roman" panose="02020603050405020304" pitchFamily="18" charset="0"/>
              </a:rPr>
              <a:t>hợp</a:t>
            </a:r>
            <a:r>
              <a:rPr lang="en-US" sz="2800" i="1" dirty="0">
                <a:cs typeface="Times New Roman" panose="02020603050405020304" pitchFamily="18" charset="0"/>
              </a:rPr>
              <a:t> </a:t>
            </a:r>
            <a:r>
              <a:rPr lang="en-US" sz="2800" i="1" dirty="0" err="1">
                <a:cs typeface="Times New Roman" panose="02020603050405020304" pitchFamily="18" charset="0"/>
              </a:rPr>
              <a:t>có</a:t>
            </a:r>
            <a:r>
              <a:rPr lang="en-US" sz="2800" i="1" dirty="0">
                <a:cs typeface="Times New Roman" panose="02020603050405020304" pitchFamily="18" charset="0"/>
              </a:rPr>
              <a:t> </a:t>
            </a:r>
            <a:r>
              <a:rPr lang="en-US" sz="2800" i="1" dirty="0" err="1">
                <a:cs typeface="Times New Roman" panose="02020603050405020304" pitchFamily="18" charset="0"/>
              </a:rPr>
              <a:t>thể</a:t>
            </a:r>
            <a:endParaRPr lang="en-US" sz="2800" i="1" dirty="0">
              <a:cs typeface="Times New Roman" panose="02020603050405020304" pitchFamily="18" charset="0"/>
            </a:endParaRPr>
          </a:p>
        </p:txBody>
      </p:sp>
      <p:cxnSp>
        <p:nvCxnSpPr>
          <p:cNvPr id="13" name="Connector: Curved 25">
            <a:extLst>
              <a:ext uri="{FF2B5EF4-FFF2-40B4-BE49-F238E27FC236}">
                <a16:creationId xmlns:a16="http://schemas.microsoft.com/office/drawing/2014/main" id="{6425E660-6FE0-3FF6-A2E8-112C4E76B3B5}"/>
              </a:ext>
            </a:extLst>
          </p:cNvPr>
          <p:cNvCxnSpPr>
            <a:cxnSpLocks/>
          </p:cNvCxnSpPr>
          <p:nvPr/>
        </p:nvCxnSpPr>
        <p:spPr>
          <a:xfrm flipV="1">
            <a:off x="3002564" y="4483587"/>
            <a:ext cx="2670999" cy="826904"/>
          </a:xfrm>
          <a:prstGeom prst="curved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3FC81012-759E-13A7-21F5-47C1D59BDCA6}"/>
              </a:ext>
            </a:extLst>
          </p:cNvPr>
          <p:cNvSpPr txBox="1"/>
          <p:nvPr/>
        </p:nvSpPr>
        <p:spPr>
          <a:xfrm>
            <a:off x="8717715" y="2347645"/>
            <a:ext cx="3246145" cy="2062103"/>
          </a:xfrm>
          <a:prstGeom prst="rect">
            <a:avLst/>
          </a:prstGeom>
          <a:noFill/>
        </p:spPr>
        <p:txBody>
          <a:bodyPr wrap="square">
            <a:spAutoFit/>
          </a:bodyPr>
          <a:lstStyle/>
          <a:p>
            <a:pPr algn="ctr"/>
            <a:r>
              <a:rPr lang="en-US" sz="3200" i="1" dirty="0" err="1">
                <a:cs typeface="Times New Roman" panose="02020603050405020304" pitchFamily="18" charset="0"/>
              </a:rPr>
              <a:t>Giá</a:t>
            </a:r>
            <a:r>
              <a:rPr lang="en-US" sz="3200" i="1" dirty="0">
                <a:cs typeface="Times New Roman" panose="02020603050405020304" pitchFamily="18" charset="0"/>
              </a:rPr>
              <a:t> </a:t>
            </a:r>
            <a:r>
              <a:rPr lang="en-US" sz="3200" i="1" dirty="0" err="1">
                <a:cs typeface="Times New Roman" panose="02020603050405020304" pitchFamily="18" charset="0"/>
              </a:rPr>
              <a:t>trị</a:t>
            </a:r>
            <a:r>
              <a:rPr lang="en-US" sz="3200" i="1" dirty="0">
                <a:cs typeface="Times New Roman" panose="02020603050405020304" pitchFamily="18" charset="0"/>
              </a:rPr>
              <a:t> </a:t>
            </a:r>
            <a:r>
              <a:rPr lang="en-US" sz="3200" i="1" dirty="0" err="1">
                <a:cs typeface="Times New Roman" panose="02020603050405020304" pitchFamily="18" charset="0"/>
              </a:rPr>
              <a:t>của</a:t>
            </a:r>
            <a:r>
              <a:rPr lang="en-US" sz="3200" i="1" dirty="0">
                <a:cs typeface="Times New Roman" panose="02020603050405020304" pitchFamily="18" charset="0"/>
              </a:rPr>
              <a:t> </a:t>
            </a:r>
            <a:r>
              <a:rPr lang="en-US" sz="3200" i="1" dirty="0" err="1">
                <a:cs typeface="Times New Roman" panose="02020603050405020304" pitchFamily="18" charset="0"/>
              </a:rPr>
              <a:t>hàm</a:t>
            </a:r>
            <a:r>
              <a:rPr lang="en-US" sz="3200" i="1" dirty="0">
                <a:cs typeface="Times New Roman" panose="02020603050405020304" pitchFamily="18" charset="0"/>
              </a:rPr>
              <a:t> </a:t>
            </a:r>
            <a:r>
              <a:rPr lang="en-US" sz="3200" i="1" dirty="0" err="1">
                <a:cs typeface="Times New Roman" panose="02020603050405020304" pitchFamily="18" charset="0"/>
              </a:rPr>
              <a:t>tương</a:t>
            </a:r>
            <a:r>
              <a:rPr lang="en-US" sz="3200" i="1" dirty="0">
                <a:cs typeface="Times New Roman" panose="02020603050405020304" pitchFamily="18" charset="0"/>
              </a:rPr>
              <a:t> </a:t>
            </a:r>
            <a:r>
              <a:rPr lang="en-US" sz="3200" i="1" dirty="0" err="1">
                <a:cs typeface="Times New Roman" panose="02020603050405020304" pitchFamily="18" charset="0"/>
              </a:rPr>
              <a:t>ứng</a:t>
            </a:r>
            <a:r>
              <a:rPr lang="en-US" sz="3200" i="1" dirty="0">
                <a:cs typeface="Times New Roman" panose="02020603050405020304" pitchFamily="18" charset="0"/>
              </a:rPr>
              <a:t> </a:t>
            </a:r>
            <a:r>
              <a:rPr lang="en-US" sz="3200" i="1" dirty="0" err="1">
                <a:cs typeface="Times New Roman" panose="02020603050405020304" pitchFamily="18" charset="0"/>
              </a:rPr>
              <a:t>với</a:t>
            </a:r>
            <a:r>
              <a:rPr lang="en-US" sz="3200" i="1" dirty="0">
                <a:cs typeface="Times New Roman" panose="02020603050405020304" pitchFamily="18" charset="0"/>
              </a:rPr>
              <a:t> </a:t>
            </a:r>
            <a:r>
              <a:rPr lang="en-US" sz="3200" i="1" dirty="0" err="1">
                <a:cs typeface="Times New Roman" panose="02020603050405020304" pitchFamily="18" charset="0"/>
              </a:rPr>
              <a:t>mỗi</a:t>
            </a:r>
            <a:r>
              <a:rPr lang="en-US" sz="3200" i="1" dirty="0">
                <a:cs typeface="Times New Roman" panose="02020603050405020304" pitchFamily="18" charset="0"/>
              </a:rPr>
              <a:t> </a:t>
            </a:r>
            <a:r>
              <a:rPr lang="en-US" sz="3200" i="1" dirty="0" err="1">
                <a:cs typeface="Times New Roman" panose="02020603050405020304" pitchFamily="18" charset="0"/>
              </a:rPr>
              <a:t>tổ</a:t>
            </a:r>
            <a:r>
              <a:rPr lang="en-US" sz="3200" i="1" dirty="0">
                <a:cs typeface="Times New Roman" panose="02020603050405020304" pitchFamily="18" charset="0"/>
              </a:rPr>
              <a:t> </a:t>
            </a:r>
            <a:r>
              <a:rPr lang="en-US" sz="3200" i="1" dirty="0" err="1">
                <a:cs typeface="Times New Roman" panose="02020603050405020304" pitchFamily="18" charset="0"/>
              </a:rPr>
              <a:t>hợp</a:t>
            </a:r>
            <a:r>
              <a:rPr lang="en-US" sz="3200" i="1" dirty="0">
                <a:cs typeface="Times New Roman" panose="02020603050405020304" pitchFamily="18" charset="0"/>
              </a:rPr>
              <a:t> </a:t>
            </a:r>
            <a:r>
              <a:rPr lang="en-US" sz="3200" i="1" dirty="0" err="1">
                <a:cs typeface="Times New Roman" panose="02020603050405020304" pitchFamily="18" charset="0"/>
              </a:rPr>
              <a:t>các</a:t>
            </a:r>
            <a:r>
              <a:rPr lang="en-US" sz="3200" i="1" dirty="0">
                <a:cs typeface="Times New Roman" panose="02020603050405020304" pitchFamily="18" charset="0"/>
              </a:rPr>
              <a:t> </a:t>
            </a:r>
            <a:r>
              <a:rPr lang="en-US" sz="3200" i="1" dirty="0" err="1">
                <a:cs typeface="Times New Roman" panose="02020603050405020304" pitchFamily="18" charset="0"/>
              </a:rPr>
              <a:t>biến</a:t>
            </a:r>
            <a:endParaRPr lang="en-US" sz="3200" i="1" dirty="0">
              <a:cs typeface="Times New Roman" panose="02020603050405020304" pitchFamily="18" charset="0"/>
            </a:endParaRPr>
          </a:p>
        </p:txBody>
      </p:sp>
      <p:cxnSp>
        <p:nvCxnSpPr>
          <p:cNvPr id="15" name="Connector: Curved 28">
            <a:extLst>
              <a:ext uri="{FF2B5EF4-FFF2-40B4-BE49-F238E27FC236}">
                <a16:creationId xmlns:a16="http://schemas.microsoft.com/office/drawing/2014/main" id="{45129A29-8F78-72F8-CD47-B5E659E4A106}"/>
              </a:ext>
            </a:extLst>
          </p:cNvPr>
          <p:cNvCxnSpPr>
            <a:cxnSpLocks/>
          </p:cNvCxnSpPr>
          <p:nvPr/>
        </p:nvCxnSpPr>
        <p:spPr>
          <a:xfrm rot="10800000" flipV="1">
            <a:off x="7953400" y="3272745"/>
            <a:ext cx="762678" cy="488452"/>
          </a:xfrm>
          <a:prstGeom prst="curved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9059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additive="base">
                                        <p:cTn id="59" dur="500" fill="hold"/>
                                        <p:tgtEl>
                                          <p:spTgt spid="8"/>
                                        </p:tgtEl>
                                        <p:attrNameLst>
                                          <p:attrName>ppt_x</p:attrName>
                                        </p:attrNameLst>
                                      </p:cBhvr>
                                      <p:tavLst>
                                        <p:tav tm="0">
                                          <p:val>
                                            <p:strVal val="#ppt_x"/>
                                          </p:val>
                                        </p:tav>
                                        <p:tav tm="100000">
                                          <p:val>
                                            <p:strVal val="#ppt_x"/>
                                          </p:val>
                                        </p:tav>
                                      </p:tavLst>
                                    </p:anim>
                                    <p:anim calcmode="lin" valueType="num">
                                      <p:cBhvr additive="base">
                                        <p:cTn id="6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animBg="1"/>
      <p:bldP spid="12"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dirty="0"/>
              <a:t>-</a:t>
            </a:r>
            <a:r>
              <a:rPr lang="en-US" sz="4000" dirty="0"/>
              <a:t> </a:t>
            </a:r>
            <a:r>
              <a:rPr lang="en-US" sz="4000" dirty="0" err="1"/>
              <a:t>Dạng</a:t>
            </a:r>
            <a:r>
              <a:rPr lang="en-US" sz="4000" dirty="0"/>
              <a:t> </a:t>
            </a:r>
            <a:r>
              <a:rPr lang="en-US" sz="4000" dirty="0" err="1"/>
              <a:t>chính</a:t>
            </a:r>
            <a:r>
              <a:rPr lang="en-US" sz="4000" dirty="0"/>
              <a:t> </a:t>
            </a:r>
            <a:r>
              <a:rPr lang="en-US" sz="4000" dirty="0" err="1"/>
              <a:t>tắc</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vi-VN" dirty="0"/>
              <a:t>Dạng chính tắc là dạng biểu diễn </a:t>
            </a:r>
            <a:r>
              <a:rPr lang="vi-VN"/>
              <a:t>hàm Boole </a:t>
            </a:r>
            <a:r>
              <a:rPr lang="vi-VN" dirty="0"/>
              <a:t>bằng tổng của các minterm khiến </a:t>
            </a:r>
            <a:r>
              <a:rPr lang="vi-VN"/>
              <a:t>hàm Boole </a:t>
            </a:r>
            <a:r>
              <a:rPr lang="vi-VN" dirty="0"/>
              <a:t>có giá trị 1 (1-minterm) hoặc tích của các maxterm khiến </a:t>
            </a:r>
            <a:r>
              <a:rPr lang="vi-VN"/>
              <a:t>hàm Boole </a:t>
            </a:r>
            <a:r>
              <a:rPr lang="vi-VN" dirty="0"/>
              <a:t>có giá trị 0 (0-maxterm)</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12</a:t>
            </a:fld>
            <a:endParaRPr lang="en-VN" dirty="0"/>
          </a:p>
        </p:txBody>
      </p:sp>
      <p:pic>
        <p:nvPicPr>
          <p:cNvPr id="6" name="Picture 5">
            <a:extLst>
              <a:ext uri="{FF2B5EF4-FFF2-40B4-BE49-F238E27FC236}">
                <a16:creationId xmlns:a16="http://schemas.microsoft.com/office/drawing/2014/main" id="{8B0573C6-C11C-AE9E-D9F6-474B7EEA469B}"/>
              </a:ext>
            </a:extLst>
          </p:cNvPr>
          <p:cNvPicPr>
            <a:picLocks noChangeAspect="1"/>
          </p:cNvPicPr>
          <p:nvPr/>
        </p:nvPicPr>
        <p:blipFill>
          <a:blip r:embed="rId2"/>
          <a:stretch>
            <a:fillRect/>
          </a:stretch>
        </p:blipFill>
        <p:spPr>
          <a:xfrm>
            <a:off x="475996" y="2981739"/>
            <a:ext cx="4944905" cy="3198424"/>
          </a:xfrm>
          <a:prstGeom prst="rect">
            <a:avLst/>
          </a:prstGeom>
        </p:spPr>
      </p:pic>
      <p:graphicFrame>
        <p:nvGraphicFramePr>
          <p:cNvPr id="7" name="Table 6">
            <a:extLst>
              <a:ext uri="{FF2B5EF4-FFF2-40B4-BE49-F238E27FC236}">
                <a16:creationId xmlns:a16="http://schemas.microsoft.com/office/drawing/2014/main" id="{A3F26413-1420-043A-5D4C-27C57D45C67D}"/>
              </a:ext>
            </a:extLst>
          </p:cNvPr>
          <p:cNvGraphicFramePr>
            <a:graphicFrameLocks noGrp="1"/>
          </p:cNvGraphicFramePr>
          <p:nvPr>
            <p:extLst>
              <p:ext uri="{D42A27DB-BD31-4B8C-83A1-F6EECF244321}">
                <p14:modId xmlns:p14="http://schemas.microsoft.com/office/powerpoint/2010/main" val="2315310555"/>
              </p:ext>
            </p:extLst>
          </p:nvPr>
        </p:nvGraphicFramePr>
        <p:xfrm>
          <a:off x="5444957" y="2862755"/>
          <a:ext cx="1389380" cy="2897505"/>
        </p:xfrm>
        <a:graphic>
          <a:graphicData uri="http://schemas.openxmlformats.org/drawingml/2006/table">
            <a:tbl>
              <a:tblPr firstRow="1" firstCol="1" bandRow="1">
                <a:tableStyleId>{5940675A-B579-460E-94D1-54222C63F5DA}</a:tableStyleId>
              </a:tblPr>
              <a:tblGrid>
                <a:gridCol w="347345">
                  <a:extLst>
                    <a:ext uri="{9D8B030D-6E8A-4147-A177-3AD203B41FA5}">
                      <a16:colId xmlns:a16="http://schemas.microsoft.com/office/drawing/2014/main" val="904752796"/>
                    </a:ext>
                  </a:extLst>
                </a:gridCol>
                <a:gridCol w="347345">
                  <a:extLst>
                    <a:ext uri="{9D8B030D-6E8A-4147-A177-3AD203B41FA5}">
                      <a16:colId xmlns:a16="http://schemas.microsoft.com/office/drawing/2014/main" val="2171537569"/>
                    </a:ext>
                  </a:extLst>
                </a:gridCol>
                <a:gridCol w="347345">
                  <a:extLst>
                    <a:ext uri="{9D8B030D-6E8A-4147-A177-3AD203B41FA5}">
                      <a16:colId xmlns:a16="http://schemas.microsoft.com/office/drawing/2014/main" val="1271107522"/>
                    </a:ext>
                  </a:extLst>
                </a:gridCol>
                <a:gridCol w="347345">
                  <a:extLst>
                    <a:ext uri="{9D8B030D-6E8A-4147-A177-3AD203B41FA5}">
                      <a16:colId xmlns:a16="http://schemas.microsoft.com/office/drawing/2014/main" val="1179536224"/>
                    </a:ext>
                  </a:extLst>
                </a:gridCol>
              </a:tblGrid>
              <a:tr h="0">
                <a:tc>
                  <a:txBody>
                    <a:bodyPr/>
                    <a:lstStyle/>
                    <a:p>
                      <a:pPr marL="0" marR="0" algn="ctr">
                        <a:lnSpc>
                          <a:spcPct val="150000"/>
                        </a:lnSpc>
                        <a:spcBef>
                          <a:spcPts val="600"/>
                        </a:spcBef>
                        <a:spcAft>
                          <a:spcPts val="0"/>
                        </a:spcAft>
                      </a:pPr>
                      <a:r>
                        <a:rPr lang="vi-VN" sz="1600" b="1" spc="-20">
                          <a:effectLst/>
                          <a:latin typeface="Times New Roman (Headings)"/>
                        </a:rPr>
                        <a:t>x</a:t>
                      </a:r>
                      <a:endParaRPr lang="en-US" sz="1600" b="1">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b="1" spc="-20">
                          <a:effectLst/>
                          <a:latin typeface="Times New Roman (Headings)"/>
                        </a:rPr>
                        <a:t>y</a:t>
                      </a:r>
                      <a:endParaRPr lang="en-US" sz="1600" b="1">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b="1" spc="-20">
                          <a:effectLst/>
                          <a:latin typeface="Times New Roman (Headings)"/>
                        </a:rPr>
                        <a:t>z</a:t>
                      </a:r>
                      <a:endParaRPr lang="en-US" sz="1600" b="1">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b="1" spc="-20">
                          <a:effectLst/>
                          <a:latin typeface="Times New Roman (Headings)"/>
                        </a:rPr>
                        <a:t>f</a:t>
                      </a:r>
                      <a:endParaRPr lang="en-US" sz="1600" b="1">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233270"/>
                  </a:ext>
                </a:extLst>
              </a:tr>
              <a:tr h="0">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14835132"/>
                  </a:ext>
                </a:extLst>
              </a:tr>
              <a:tr h="0">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1600" spc="-20">
                          <a:effectLst/>
                          <a:latin typeface="Times New Roman (Headings)"/>
                          <a:ea typeface="Times New Roman" panose="02020603050405020304" pitchFamily="18" charset="0"/>
                          <a:cs typeface="Times New Roman" panose="02020603050405020304" pitchFamily="18" charset="0"/>
                        </a:rPr>
                        <a:t>1</a:t>
                      </a:r>
                      <a:endParaRPr lang="en-US" sz="160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02798860"/>
                  </a:ext>
                </a:extLst>
              </a:tr>
              <a:tr h="0">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22938224"/>
                  </a:ext>
                </a:extLst>
              </a:tr>
              <a:tr h="0">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76719902"/>
                  </a:ext>
                </a:extLst>
              </a:tr>
              <a:tr h="0">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81598176"/>
                  </a:ext>
                </a:extLst>
              </a:tr>
              <a:tr h="0">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1600" spc="-20">
                          <a:effectLst/>
                          <a:latin typeface="Times New Roman (Headings)"/>
                          <a:ea typeface="Times New Roman" panose="02020603050405020304" pitchFamily="18" charset="0"/>
                          <a:cs typeface="Times New Roman" panose="02020603050405020304" pitchFamily="18" charset="0"/>
                        </a:rPr>
                        <a:t>0</a:t>
                      </a:r>
                      <a:endParaRPr lang="en-US" sz="1600">
                        <a:effectLst/>
                        <a:latin typeface="Times New Roman (Headings)"/>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95831271"/>
                  </a:ext>
                </a:extLst>
              </a:tr>
              <a:tr h="0">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0</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58524018"/>
                  </a:ext>
                </a:extLst>
              </a:tr>
              <a:tr h="0">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1600" spc="-20">
                          <a:effectLst/>
                          <a:latin typeface="Times New Roman (Headings)"/>
                        </a:rPr>
                        <a:t>1</a:t>
                      </a:r>
                      <a:endParaRPr lang="en-US" sz="1600">
                        <a:effectLst/>
                        <a:latin typeface="Times New Roman (Headings)"/>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9846782"/>
                  </a:ext>
                </a:extLst>
              </a:tr>
            </a:tbl>
          </a:graphicData>
        </a:graphic>
      </p:graphicFrame>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4B43AB0-0E78-B54B-C9CD-D26475376ADC}"/>
                  </a:ext>
                </a:extLst>
              </p:cNvPr>
              <p:cNvSpPr/>
              <p:nvPr/>
            </p:nvSpPr>
            <p:spPr>
              <a:xfrm>
                <a:off x="7015382" y="3129254"/>
                <a:ext cx="5151218" cy="430887"/>
              </a:xfrm>
              <a:prstGeom prst="rect">
                <a:avLst/>
              </a:prstGeom>
            </p:spPr>
            <p:txBody>
              <a:bodyPr wrap="none">
                <a:spAutoFit/>
              </a:bodyPr>
              <a:lstStyle/>
              <a:p>
                <a:r>
                  <a:rPr lang="vi-VN" sz="2200" i="1" dirty="0">
                    <a:latin typeface="+mj-lt"/>
                  </a:rPr>
                  <a:t>f</a:t>
                </a:r>
                <a:r>
                  <a:rPr lang="vi-VN" sz="2200" dirty="0">
                    <a:latin typeface="+mj-lt"/>
                  </a:rPr>
                  <a:t>(</a:t>
                </a:r>
                <a:r>
                  <a:rPr lang="vi-VN" sz="2200" i="1" dirty="0">
                    <a:latin typeface="+mj-lt"/>
                  </a:rPr>
                  <a:t>x, y, z</a:t>
                </a:r>
                <a:r>
                  <a:rPr lang="vi-VN" sz="2200" dirty="0">
                    <a:latin typeface="+mj-lt"/>
                  </a:rPr>
                  <a:t>)</a:t>
                </a:r>
                <a:r>
                  <a:rPr lang="vi-VN" sz="2200" i="1" dirty="0">
                    <a:latin typeface="+mj-lt"/>
                  </a:rPr>
                  <a:t> =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x</m:t>
                        </m:r>
                      </m:e>
                    </m:acc>
                    <m:r>
                      <a:rPr lang="vi-VN" sz="2200" i="1">
                        <a:latin typeface="Cambria Math" panose="02040503050406030204" pitchFamily="18" charset="0"/>
                      </a:rPr>
                      <m:t> </m:t>
                    </m:r>
                    <m:acc>
                      <m:accPr>
                        <m:chr m:val="̅"/>
                        <m:ctrlPr>
                          <a:rPr lang="en-US" sz="2200" i="1">
                            <a:latin typeface="Cambria Math" panose="02040503050406030204" pitchFamily="18" charset="0"/>
                          </a:rPr>
                        </m:ctrlPr>
                      </m:accPr>
                      <m:e>
                        <m:r>
                          <m:rPr>
                            <m:nor/>
                          </m:rPr>
                          <a:rPr lang="vi-VN" sz="2200">
                            <a:latin typeface="+mj-lt"/>
                          </a:rPr>
                          <m:t>y</m:t>
                        </m:r>
                      </m:e>
                    </m:acc>
                    <m:r>
                      <m:rPr>
                        <m:nor/>
                      </m:rPr>
                      <a:rPr lang="vi-VN" sz="2200" i="1">
                        <a:latin typeface="+mj-lt"/>
                      </a:rPr>
                      <m:t> </m:t>
                    </m:r>
                    <m:r>
                      <m:rPr>
                        <m:nor/>
                      </m:rPr>
                      <a:rPr lang="vi-VN" sz="2200" i="1">
                        <a:latin typeface="+mj-lt"/>
                      </a:rPr>
                      <m:t>z</m:t>
                    </m:r>
                  </m:oMath>
                </a14:m>
                <a:r>
                  <a:rPr lang="en-US" sz="2200" dirty="0">
                    <a:latin typeface="+mj-lt"/>
                  </a:rPr>
                  <a:t> +</a:t>
                </a:r>
                <a:r>
                  <a:rPr lang="en-US" sz="2200" i="1" dirty="0">
                    <a:latin typeface="+mj-lt"/>
                  </a:rPr>
                  <a:t>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x</m:t>
                        </m:r>
                      </m:e>
                    </m:acc>
                    <m:r>
                      <m:rPr>
                        <m:nor/>
                      </m:rPr>
                      <a:rPr lang="vi-VN" sz="2200" i="1">
                        <a:latin typeface="+mj-lt"/>
                      </a:rPr>
                      <m:t> </m:t>
                    </m:r>
                    <m:r>
                      <m:rPr>
                        <m:nor/>
                      </m:rPr>
                      <a:rPr lang="vi-VN" sz="2200" i="1">
                        <a:latin typeface="+mj-lt"/>
                      </a:rPr>
                      <m:t>y</m:t>
                    </m:r>
                    <m:r>
                      <m:rPr>
                        <m:nor/>
                      </m:rPr>
                      <a:rPr lang="vi-VN" sz="2200" i="1">
                        <a:latin typeface="+mj-lt"/>
                      </a:rPr>
                      <m:t> </m:t>
                    </m:r>
                    <m:r>
                      <m:rPr>
                        <m:nor/>
                      </m:rPr>
                      <a:rPr lang="vi-VN" sz="2200" i="1">
                        <a:latin typeface="+mj-lt"/>
                      </a:rPr>
                      <m:t>z</m:t>
                    </m:r>
                  </m:oMath>
                </a14:m>
                <a:r>
                  <a:rPr lang="vi-VN" sz="2200" dirty="0">
                    <a:latin typeface="+mj-lt"/>
                  </a:rPr>
                  <a:t> + </a:t>
                </a:r>
                <a14:m>
                  <m:oMath xmlns:m="http://schemas.openxmlformats.org/officeDocument/2006/math">
                    <m:r>
                      <m:rPr>
                        <m:nor/>
                      </m:rPr>
                      <a:rPr lang="vi-VN" sz="2200" i="1">
                        <a:latin typeface="+mj-lt"/>
                      </a:rPr>
                      <m:t>x</m:t>
                    </m:r>
                    <m:r>
                      <m:rPr>
                        <m:nor/>
                      </m:rPr>
                      <a:rPr lang="vi-VN" sz="2200">
                        <a:latin typeface="+mj-lt"/>
                      </a:rPr>
                      <m:t> </m:t>
                    </m:r>
                    <m:acc>
                      <m:accPr>
                        <m:chr m:val="̅"/>
                        <m:ctrlPr>
                          <a:rPr lang="en-US" sz="2200" i="1">
                            <a:latin typeface="Cambria Math" panose="02040503050406030204" pitchFamily="18" charset="0"/>
                          </a:rPr>
                        </m:ctrlPr>
                      </m:accPr>
                      <m:e>
                        <m:r>
                          <m:rPr>
                            <m:nor/>
                          </m:rPr>
                          <a:rPr lang="vi-VN" sz="2200" i="1">
                            <a:latin typeface="+mj-lt"/>
                          </a:rPr>
                          <m:t>y</m:t>
                        </m:r>
                      </m:e>
                    </m:acc>
                    <m:r>
                      <m:rPr>
                        <m:nor/>
                      </m:rPr>
                      <a:rPr lang="vi-VN" sz="2200">
                        <a:latin typeface="+mj-lt"/>
                      </a:rPr>
                      <m:t> </m:t>
                    </m:r>
                    <m:acc>
                      <m:accPr>
                        <m:chr m:val="̅"/>
                        <m:ctrlPr>
                          <a:rPr lang="en-US" sz="2200" i="1">
                            <a:latin typeface="Cambria Math" panose="02040503050406030204" pitchFamily="18" charset="0"/>
                          </a:rPr>
                        </m:ctrlPr>
                      </m:accPr>
                      <m:e>
                        <m:r>
                          <m:rPr>
                            <m:nor/>
                          </m:rPr>
                          <a:rPr lang="vi-VN" sz="2200" i="1">
                            <a:latin typeface="+mj-lt"/>
                          </a:rPr>
                          <m:t>z</m:t>
                        </m:r>
                      </m:e>
                    </m:acc>
                  </m:oMath>
                </a14:m>
                <a:r>
                  <a:rPr lang="vi-VN" sz="2200" dirty="0">
                    <a:latin typeface="+mj-lt"/>
                  </a:rPr>
                  <a:t> </a:t>
                </a:r>
                <a:r>
                  <a:rPr lang="vi-VN" sz="2200" i="1" dirty="0">
                    <a:latin typeface="+mj-lt"/>
                  </a:rPr>
                  <a:t>+ x y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z</m:t>
                        </m:r>
                      </m:e>
                    </m:acc>
                  </m:oMath>
                </a14:m>
                <a:r>
                  <a:rPr lang="vi-VN" sz="2200" i="1" dirty="0">
                    <a:latin typeface="+mj-lt"/>
                  </a:rPr>
                  <a:t> + x y z</a:t>
                </a:r>
                <a:endParaRPr lang="en-US" sz="2200" dirty="0">
                  <a:latin typeface="+mj-lt"/>
                </a:endParaRPr>
              </a:p>
            </p:txBody>
          </p:sp>
        </mc:Choice>
        <mc:Fallback xmlns="">
          <p:sp>
            <p:nvSpPr>
              <p:cNvPr id="8" name="Rectangle 7">
                <a:extLst>
                  <a:ext uri="{FF2B5EF4-FFF2-40B4-BE49-F238E27FC236}">
                    <a16:creationId xmlns:a16="http://schemas.microsoft.com/office/drawing/2014/main" id="{74B43AB0-0E78-B54B-C9CD-D26475376ADC}"/>
                  </a:ext>
                </a:extLst>
              </p:cNvPr>
              <p:cNvSpPr>
                <a:spLocks noRot="1" noChangeAspect="1" noMove="1" noResize="1" noEditPoints="1" noAdjustHandles="1" noChangeArrowheads="1" noChangeShapeType="1" noTextEdit="1"/>
              </p:cNvSpPr>
              <p:nvPr/>
            </p:nvSpPr>
            <p:spPr>
              <a:xfrm>
                <a:off x="7015382" y="3129254"/>
                <a:ext cx="5151218" cy="430887"/>
              </a:xfrm>
              <a:prstGeom prst="rect">
                <a:avLst/>
              </a:prstGeom>
              <a:blipFill>
                <a:blip r:embed="rId3"/>
                <a:stretch>
                  <a:fillRect l="-1474" t="-8571" r="-491" b="-28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0F00AF7-4060-6A42-1ADD-271FD94A6AE3}"/>
                  </a:ext>
                </a:extLst>
              </p:cNvPr>
              <p:cNvSpPr/>
              <p:nvPr/>
            </p:nvSpPr>
            <p:spPr>
              <a:xfrm>
                <a:off x="7056812" y="5185002"/>
                <a:ext cx="5135188" cy="430887"/>
              </a:xfrm>
              <a:prstGeom prst="rect">
                <a:avLst/>
              </a:prstGeom>
            </p:spPr>
            <p:txBody>
              <a:bodyPr wrap="none">
                <a:spAutoFit/>
              </a:bodyPr>
              <a:lstStyle/>
              <a:p>
                <a:r>
                  <a:rPr lang="vi-VN" sz="2200" i="1" dirty="0">
                    <a:latin typeface="+mj-lt"/>
                  </a:rPr>
                  <a:t>f</a:t>
                </a:r>
                <a:r>
                  <a:rPr lang="vi-VN" sz="2200" dirty="0">
                    <a:latin typeface="+mj-lt"/>
                  </a:rPr>
                  <a:t>(</a:t>
                </a:r>
                <a:r>
                  <a:rPr lang="vi-VN" sz="2200" i="1" dirty="0">
                    <a:latin typeface="+mj-lt"/>
                  </a:rPr>
                  <a:t>x, y, z</a:t>
                </a:r>
                <a:r>
                  <a:rPr lang="vi-VN" sz="2200" dirty="0">
                    <a:latin typeface="+mj-lt"/>
                  </a:rPr>
                  <a:t>)</a:t>
                </a:r>
                <a:r>
                  <a:rPr lang="vi-VN" sz="2200" i="1" dirty="0">
                    <a:latin typeface="+mj-lt"/>
                  </a:rPr>
                  <a:t> = </a:t>
                </a:r>
                <a:r>
                  <a:rPr lang="vi-VN" sz="2200" dirty="0">
                    <a:latin typeface="+mj-lt"/>
                  </a:rPr>
                  <a:t>(</a:t>
                </a:r>
                <a:r>
                  <a:rPr lang="vi-VN" sz="2200" i="1" dirty="0">
                    <a:latin typeface="+mj-lt"/>
                  </a:rPr>
                  <a:t>x </a:t>
                </a:r>
                <a:r>
                  <a:rPr lang="vi-VN" sz="2200" dirty="0">
                    <a:latin typeface="+mj-lt"/>
                  </a:rPr>
                  <a:t>+</a:t>
                </a:r>
                <a:r>
                  <a:rPr lang="vi-VN" sz="2200" i="1" dirty="0">
                    <a:latin typeface="+mj-lt"/>
                  </a:rPr>
                  <a:t> y </a:t>
                </a:r>
                <a:r>
                  <a:rPr lang="vi-VN" sz="2200" dirty="0">
                    <a:latin typeface="+mj-lt"/>
                  </a:rPr>
                  <a:t>+</a:t>
                </a:r>
                <a:r>
                  <a:rPr lang="vi-VN" sz="2200" i="1" dirty="0">
                    <a:latin typeface="+mj-lt"/>
                  </a:rPr>
                  <a:t> z</a:t>
                </a:r>
                <a:r>
                  <a:rPr lang="vi-VN" sz="2200" dirty="0">
                    <a:latin typeface="+mj-lt"/>
                  </a:rPr>
                  <a:t>) (</a:t>
                </a:r>
                <a:r>
                  <a:rPr lang="vi-VN" sz="2200" i="1" dirty="0">
                    <a:latin typeface="+mj-lt"/>
                  </a:rPr>
                  <a:t> x </a:t>
                </a:r>
                <a:r>
                  <a:rPr lang="vi-VN" sz="2200" dirty="0">
                    <a:latin typeface="+mj-lt"/>
                  </a:rPr>
                  <a:t>+</a:t>
                </a:r>
                <a:r>
                  <a:rPr lang="vi-VN" sz="2200" i="1" dirty="0">
                    <a:latin typeface="+mj-lt"/>
                  </a:rPr>
                  <a:t>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y</m:t>
                        </m:r>
                      </m:e>
                    </m:acc>
                  </m:oMath>
                </a14:m>
                <a:r>
                  <a:rPr lang="vi-VN" sz="2200" i="1" dirty="0">
                    <a:latin typeface="+mj-lt"/>
                  </a:rPr>
                  <a:t> </a:t>
                </a:r>
                <a:r>
                  <a:rPr lang="vi-VN" sz="2200" dirty="0">
                    <a:latin typeface="+mj-lt"/>
                  </a:rPr>
                  <a:t>+</a:t>
                </a:r>
                <a:r>
                  <a:rPr lang="vi-VN" sz="2200" i="1" dirty="0">
                    <a:latin typeface="+mj-lt"/>
                  </a:rPr>
                  <a:t> z</a:t>
                </a:r>
                <a:r>
                  <a:rPr lang="vi-VN" sz="2200" dirty="0">
                    <a:latin typeface="+mj-lt"/>
                  </a:rPr>
                  <a:t>) (</a:t>
                </a:r>
                <a:r>
                  <a:rPr lang="vi-VN" sz="2200" i="1" dirty="0">
                    <a:latin typeface="+mj-lt"/>
                  </a:rPr>
                  <a:t>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x</m:t>
                        </m:r>
                      </m:e>
                    </m:acc>
                  </m:oMath>
                </a14:m>
                <a:r>
                  <a:rPr lang="vi-VN" sz="2200" i="1" dirty="0">
                    <a:latin typeface="+mj-lt"/>
                  </a:rPr>
                  <a:t> </a:t>
                </a:r>
                <a:r>
                  <a:rPr lang="vi-VN" sz="2200" dirty="0">
                    <a:latin typeface="+mj-lt"/>
                  </a:rPr>
                  <a:t>+</a:t>
                </a:r>
                <a:r>
                  <a:rPr lang="vi-VN" sz="2200" i="1" dirty="0">
                    <a:latin typeface="+mj-lt"/>
                  </a:rPr>
                  <a:t> y </a:t>
                </a:r>
                <a:r>
                  <a:rPr lang="vi-VN" sz="2200" dirty="0">
                    <a:latin typeface="+mj-lt"/>
                  </a:rPr>
                  <a:t>+</a:t>
                </a:r>
                <a:r>
                  <a:rPr lang="vi-VN" sz="2200" i="1" dirty="0">
                    <a:latin typeface="+mj-lt"/>
                  </a:rPr>
                  <a:t> </a:t>
                </a:r>
                <a14:m>
                  <m:oMath xmlns:m="http://schemas.openxmlformats.org/officeDocument/2006/math">
                    <m:acc>
                      <m:accPr>
                        <m:chr m:val="̅"/>
                        <m:ctrlPr>
                          <a:rPr lang="en-US" sz="2200" i="1">
                            <a:latin typeface="Cambria Math" panose="02040503050406030204" pitchFamily="18" charset="0"/>
                          </a:rPr>
                        </m:ctrlPr>
                      </m:accPr>
                      <m:e>
                        <m:r>
                          <m:rPr>
                            <m:nor/>
                          </m:rPr>
                          <a:rPr lang="vi-VN" sz="2200" i="1">
                            <a:latin typeface="+mj-lt"/>
                          </a:rPr>
                          <m:t>z</m:t>
                        </m:r>
                      </m:e>
                    </m:acc>
                  </m:oMath>
                </a14:m>
                <a:r>
                  <a:rPr lang="vi-VN" sz="2200" dirty="0">
                    <a:latin typeface="+mj-lt"/>
                  </a:rPr>
                  <a:t>)</a:t>
                </a:r>
                <a:endParaRPr lang="en-US" sz="2200" dirty="0">
                  <a:latin typeface="+mj-lt"/>
                </a:endParaRPr>
              </a:p>
            </p:txBody>
          </p:sp>
        </mc:Choice>
        <mc:Fallback xmlns="">
          <p:sp>
            <p:nvSpPr>
              <p:cNvPr id="9" name="Rectangle 8">
                <a:extLst>
                  <a:ext uri="{FF2B5EF4-FFF2-40B4-BE49-F238E27FC236}">
                    <a16:creationId xmlns:a16="http://schemas.microsoft.com/office/drawing/2014/main" id="{C0F00AF7-4060-6A42-1ADD-271FD94A6AE3}"/>
                  </a:ext>
                </a:extLst>
              </p:cNvPr>
              <p:cNvSpPr>
                <a:spLocks noRot="1" noChangeAspect="1" noMove="1" noResize="1" noEditPoints="1" noAdjustHandles="1" noChangeArrowheads="1" noChangeShapeType="1" noTextEdit="1"/>
              </p:cNvSpPr>
              <p:nvPr/>
            </p:nvSpPr>
            <p:spPr>
              <a:xfrm>
                <a:off x="7056812" y="5185002"/>
                <a:ext cx="5135188" cy="430887"/>
              </a:xfrm>
              <a:prstGeom prst="rect">
                <a:avLst/>
              </a:prstGeom>
              <a:blipFill>
                <a:blip r:embed="rId4"/>
                <a:stretch>
                  <a:fillRect l="-1478" t="-8571" r="-246" b="-25714"/>
                </a:stretch>
              </a:blipFill>
            </p:spPr>
            <p:txBody>
              <a:bodyPr/>
              <a:lstStyle/>
              <a:p>
                <a:r>
                  <a:rPr lang="en-VN">
                    <a:noFill/>
                  </a:rPr>
                  <a:t> </a:t>
                </a:r>
              </a:p>
            </p:txBody>
          </p:sp>
        </mc:Fallback>
      </mc:AlternateContent>
      <p:cxnSp>
        <p:nvCxnSpPr>
          <p:cNvPr id="10" name="Connector: Curved 8">
            <a:extLst>
              <a:ext uri="{FF2B5EF4-FFF2-40B4-BE49-F238E27FC236}">
                <a16:creationId xmlns:a16="http://schemas.microsoft.com/office/drawing/2014/main" id="{F52F39A1-3639-E006-F658-0AD6305D38C0}"/>
              </a:ext>
            </a:extLst>
          </p:cNvPr>
          <p:cNvCxnSpPr>
            <a:cxnSpLocks/>
          </p:cNvCxnSpPr>
          <p:nvPr/>
        </p:nvCxnSpPr>
        <p:spPr>
          <a:xfrm flipV="1">
            <a:off x="6834337" y="3560141"/>
            <a:ext cx="1598463" cy="146151"/>
          </a:xfrm>
          <a:prstGeom prst="curvedConnector3">
            <a:avLst>
              <a:gd name="adj1" fmla="val 96082"/>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Connector: Curved 21">
            <a:extLst>
              <a:ext uri="{FF2B5EF4-FFF2-40B4-BE49-F238E27FC236}">
                <a16:creationId xmlns:a16="http://schemas.microsoft.com/office/drawing/2014/main" id="{0A92FF00-253B-9B55-66AE-8F4A836307F9}"/>
              </a:ext>
            </a:extLst>
          </p:cNvPr>
          <p:cNvCxnSpPr>
            <a:cxnSpLocks/>
          </p:cNvCxnSpPr>
          <p:nvPr/>
        </p:nvCxnSpPr>
        <p:spPr>
          <a:xfrm flipV="1">
            <a:off x="6834337" y="3584575"/>
            <a:ext cx="2360463" cy="809852"/>
          </a:xfrm>
          <a:prstGeom prst="curvedConnector3">
            <a:avLst>
              <a:gd name="adj1" fmla="val 100037"/>
            </a:avLst>
          </a:prstGeom>
          <a:ln w="12700">
            <a:tailEnd type="triangle"/>
          </a:ln>
        </p:spPr>
        <p:style>
          <a:lnRef idx="1">
            <a:schemeClr val="dk1"/>
          </a:lnRef>
          <a:fillRef idx="0">
            <a:schemeClr val="dk1"/>
          </a:fillRef>
          <a:effectRef idx="0">
            <a:schemeClr val="dk1"/>
          </a:effectRef>
          <a:fontRef idx="minor">
            <a:schemeClr val="tx1"/>
          </a:fontRef>
        </p:style>
      </p:cxnSp>
      <p:cxnSp>
        <p:nvCxnSpPr>
          <p:cNvPr id="12" name="Connector: Curved 24">
            <a:extLst>
              <a:ext uri="{FF2B5EF4-FFF2-40B4-BE49-F238E27FC236}">
                <a16:creationId xmlns:a16="http://schemas.microsoft.com/office/drawing/2014/main" id="{5F8D51EF-09DE-B2F8-BE04-B9EE8537BFCB}"/>
              </a:ext>
            </a:extLst>
          </p:cNvPr>
          <p:cNvCxnSpPr>
            <a:cxnSpLocks/>
          </p:cNvCxnSpPr>
          <p:nvPr/>
        </p:nvCxnSpPr>
        <p:spPr>
          <a:xfrm flipV="1">
            <a:off x="6834337" y="3633216"/>
            <a:ext cx="3274863" cy="1029237"/>
          </a:xfrm>
          <a:prstGeom prst="curvedConnector3">
            <a:avLst>
              <a:gd name="adj1" fmla="val 100027"/>
            </a:avLst>
          </a:prstGeom>
          <a:ln w="12700">
            <a:tailEnd type="triangle"/>
          </a:ln>
        </p:spPr>
        <p:style>
          <a:lnRef idx="1">
            <a:schemeClr val="dk1"/>
          </a:lnRef>
          <a:fillRef idx="0">
            <a:schemeClr val="dk1"/>
          </a:fillRef>
          <a:effectRef idx="0">
            <a:schemeClr val="dk1"/>
          </a:effectRef>
          <a:fontRef idx="minor">
            <a:schemeClr val="tx1"/>
          </a:fontRef>
        </p:style>
      </p:cxnSp>
      <p:cxnSp>
        <p:nvCxnSpPr>
          <p:cNvPr id="13" name="Connector: Curved 27">
            <a:extLst>
              <a:ext uri="{FF2B5EF4-FFF2-40B4-BE49-F238E27FC236}">
                <a16:creationId xmlns:a16="http://schemas.microsoft.com/office/drawing/2014/main" id="{98EADDBA-2A7F-E0FE-55AA-18DFA67D7503}"/>
              </a:ext>
            </a:extLst>
          </p:cNvPr>
          <p:cNvCxnSpPr>
            <a:cxnSpLocks/>
          </p:cNvCxnSpPr>
          <p:nvPr/>
        </p:nvCxnSpPr>
        <p:spPr>
          <a:xfrm flipV="1">
            <a:off x="6834337" y="3608782"/>
            <a:ext cx="4036863" cy="1690440"/>
          </a:xfrm>
          <a:prstGeom prst="curvedConnector3">
            <a:avLst>
              <a:gd name="adj1" fmla="val 100022"/>
            </a:avLst>
          </a:prstGeom>
          <a:ln w="12700">
            <a:tailEnd type="triangle"/>
          </a:ln>
        </p:spPr>
        <p:style>
          <a:lnRef idx="1">
            <a:schemeClr val="dk1"/>
          </a:lnRef>
          <a:fillRef idx="0">
            <a:schemeClr val="dk1"/>
          </a:fillRef>
          <a:effectRef idx="0">
            <a:schemeClr val="dk1"/>
          </a:effectRef>
          <a:fontRef idx="minor">
            <a:schemeClr val="tx1"/>
          </a:fontRef>
        </p:style>
      </p:cxnSp>
      <p:cxnSp>
        <p:nvCxnSpPr>
          <p:cNvPr id="14" name="Connector: Curved 30">
            <a:extLst>
              <a:ext uri="{FF2B5EF4-FFF2-40B4-BE49-F238E27FC236}">
                <a16:creationId xmlns:a16="http://schemas.microsoft.com/office/drawing/2014/main" id="{CCE2B183-BC47-1277-F3B0-346797E87AEF}"/>
              </a:ext>
            </a:extLst>
          </p:cNvPr>
          <p:cNvCxnSpPr>
            <a:cxnSpLocks/>
          </p:cNvCxnSpPr>
          <p:nvPr/>
        </p:nvCxnSpPr>
        <p:spPr>
          <a:xfrm flipV="1">
            <a:off x="6834336" y="3584348"/>
            <a:ext cx="4837833" cy="2149615"/>
          </a:xfrm>
          <a:prstGeom prst="curvedConnector3">
            <a:avLst>
              <a:gd name="adj1" fmla="val 100140"/>
            </a:avLst>
          </a:prstGeom>
          <a:ln w="12700">
            <a:tailEnd type="triangle"/>
          </a:ln>
        </p:spPr>
        <p:style>
          <a:lnRef idx="1">
            <a:schemeClr val="dk1"/>
          </a:lnRef>
          <a:fillRef idx="0">
            <a:schemeClr val="dk1"/>
          </a:fillRef>
          <a:effectRef idx="0">
            <a:schemeClr val="dk1"/>
          </a:effectRef>
          <a:fontRef idx="minor">
            <a:schemeClr val="tx1"/>
          </a:fontRef>
        </p:style>
      </p:cxnSp>
      <p:cxnSp>
        <p:nvCxnSpPr>
          <p:cNvPr id="15" name="Connector: Curved 33">
            <a:extLst>
              <a:ext uri="{FF2B5EF4-FFF2-40B4-BE49-F238E27FC236}">
                <a16:creationId xmlns:a16="http://schemas.microsoft.com/office/drawing/2014/main" id="{4BF000DE-F943-4FC1-3B14-157E759FBEF2}"/>
              </a:ext>
            </a:extLst>
          </p:cNvPr>
          <p:cNvCxnSpPr>
            <a:cxnSpLocks/>
          </p:cNvCxnSpPr>
          <p:nvPr/>
        </p:nvCxnSpPr>
        <p:spPr>
          <a:xfrm>
            <a:off x="6808936" y="3481124"/>
            <a:ext cx="2043832" cy="1677597"/>
          </a:xfrm>
          <a:prstGeom prst="curvedConnector3">
            <a:avLst>
              <a:gd name="adj1" fmla="val 9971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 name="Connector: Curved 36">
            <a:extLst>
              <a:ext uri="{FF2B5EF4-FFF2-40B4-BE49-F238E27FC236}">
                <a16:creationId xmlns:a16="http://schemas.microsoft.com/office/drawing/2014/main" id="{4EABBC41-9FD2-88DF-1D9C-AB164C3FC80D}"/>
              </a:ext>
            </a:extLst>
          </p:cNvPr>
          <p:cNvCxnSpPr>
            <a:cxnSpLocks/>
          </p:cNvCxnSpPr>
          <p:nvPr/>
        </p:nvCxnSpPr>
        <p:spPr>
          <a:xfrm>
            <a:off x="6808935" y="4031137"/>
            <a:ext cx="3316523" cy="1151791"/>
          </a:xfrm>
          <a:prstGeom prst="curvedConnector3">
            <a:avLst>
              <a:gd name="adj1" fmla="val 100164"/>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Connector: Curved 41">
            <a:extLst>
              <a:ext uri="{FF2B5EF4-FFF2-40B4-BE49-F238E27FC236}">
                <a16:creationId xmlns:a16="http://schemas.microsoft.com/office/drawing/2014/main" id="{56EBD1A8-8B4B-D9AD-5990-30DD6B7FDE84}"/>
              </a:ext>
            </a:extLst>
          </p:cNvPr>
          <p:cNvCxnSpPr>
            <a:cxnSpLocks/>
          </p:cNvCxnSpPr>
          <p:nvPr/>
        </p:nvCxnSpPr>
        <p:spPr>
          <a:xfrm>
            <a:off x="6808934" y="5021138"/>
            <a:ext cx="4680502" cy="240807"/>
          </a:xfrm>
          <a:prstGeom prst="curvedConnector3">
            <a:avLst>
              <a:gd name="adj1" fmla="val 99655"/>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916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nodeType="clickEffect">
                                  <p:stCondLst>
                                    <p:cond delay="0"/>
                                  </p:stCondLst>
                                  <p:childTnLst>
                                    <p:anim calcmode="lin" valueType="num">
                                      <p:cBhvr additive="base">
                                        <p:cTn id="46" dur="500"/>
                                        <p:tgtEl>
                                          <p:spTgt spid="10"/>
                                        </p:tgtEl>
                                        <p:attrNameLst>
                                          <p:attrName>ppt_x</p:attrName>
                                        </p:attrNameLst>
                                      </p:cBhvr>
                                      <p:tavLst>
                                        <p:tav tm="0">
                                          <p:val>
                                            <p:strVal val="ppt_x"/>
                                          </p:val>
                                        </p:tav>
                                        <p:tav tm="100000">
                                          <p:val>
                                            <p:strVal val="ppt_x"/>
                                          </p:val>
                                        </p:tav>
                                      </p:tavLst>
                                    </p:anim>
                                    <p:anim calcmode="lin" valueType="num">
                                      <p:cBhvr additive="base">
                                        <p:cTn id="47" dur="500"/>
                                        <p:tgtEl>
                                          <p:spTgt spid="10"/>
                                        </p:tgtEl>
                                        <p:attrNameLst>
                                          <p:attrName>ppt_y</p:attrName>
                                        </p:attrNameLst>
                                      </p:cBhvr>
                                      <p:tavLst>
                                        <p:tav tm="0">
                                          <p:val>
                                            <p:strVal val="ppt_y"/>
                                          </p:val>
                                        </p:tav>
                                        <p:tav tm="100000">
                                          <p:val>
                                            <p:strVal val="1+ppt_h/2"/>
                                          </p:val>
                                        </p:tav>
                                      </p:tavLst>
                                    </p:anim>
                                    <p:set>
                                      <p:cBhvr>
                                        <p:cTn id="48" dur="1" fill="hold">
                                          <p:stCondLst>
                                            <p:cond delay="499"/>
                                          </p:stCondLst>
                                        </p:cTn>
                                        <p:tgtEl>
                                          <p:spTgt spid="10"/>
                                        </p:tgtEl>
                                        <p:attrNameLst>
                                          <p:attrName>style.visibility</p:attrName>
                                        </p:attrNameLst>
                                      </p:cBhvr>
                                      <p:to>
                                        <p:strVal val="hidden"/>
                                      </p:to>
                                    </p:set>
                                  </p:childTnLst>
                                </p:cTn>
                              </p:par>
                              <p:par>
                                <p:cTn id="49" presetID="2" presetClass="exit" presetSubtype="4" fill="hold" nodeType="withEffect">
                                  <p:stCondLst>
                                    <p:cond delay="0"/>
                                  </p:stCondLst>
                                  <p:childTnLst>
                                    <p:anim calcmode="lin" valueType="num">
                                      <p:cBhvr additive="base">
                                        <p:cTn id="50" dur="500"/>
                                        <p:tgtEl>
                                          <p:spTgt spid="11"/>
                                        </p:tgtEl>
                                        <p:attrNameLst>
                                          <p:attrName>ppt_x</p:attrName>
                                        </p:attrNameLst>
                                      </p:cBhvr>
                                      <p:tavLst>
                                        <p:tav tm="0">
                                          <p:val>
                                            <p:strVal val="ppt_x"/>
                                          </p:val>
                                        </p:tav>
                                        <p:tav tm="100000">
                                          <p:val>
                                            <p:strVal val="ppt_x"/>
                                          </p:val>
                                        </p:tav>
                                      </p:tavLst>
                                    </p:anim>
                                    <p:anim calcmode="lin" valueType="num">
                                      <p:cBhvr additive="base">
                                        <p:cTn id="51" dur="500"/>
                                        <p:tgtEl>
                                          <p:spTgt spid="11"/>
                                        </p:tgtEl>
                                        <p:attrNameLst>
                                          <p:attrName>ppt_y</p:attrName>
                                        </p:attrNameLst>
                                      </p:cBhvr>
                                      <p:tavLst>
                                        <p:tav tm="0">
                                          <p:val>
                                            <p:strVal val="ppt_y"/>
                                          </p:val>
                                        </p:tav>
                                        <p:tav tm="100000">
                                          <p:val>
                                            <p:strVal val="1+ppt_h/2"/>
                                          </p:val>
                                        </p:tav>
                                      </p:tavLst>
                                    </p:anim>
                                    <p:set>
                                      <p:cBhvr>
                                        <p:cTn id="52" dur="1" fill="hold">
                                          <p:stCondLst>
                                            <p:cond delay="499"/>
                                          </p:stCondLst>
                                        </p:cTn>
                                        <p:tgtEl>
                                          <p:spTgt spid="11"/>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500"/>
                                        <p:tgtEl>
                                          <p:spTgt spid="12"/>
                                        </p:tgtEl>
                                        <p:attrNameLst>
                                          <p:attrName>ppt_x</p:attrName>
                                        </p:attrNameLst>
                                      </p:cBhvr>
                                      <p:tavLst>
                                        <p:tav tm="0">
                                          <p:val>
                                            <p:strVal val="ppt_x"/>
                                          </p:val>
                                        </p:tav>
                                        <p:tav tm="100000">
                                          <p:val>
                                            <p:strVal val="ppt_x"/>
                                          </p:val>
                                        </p:tav>
                                      </p:tavLst>
                                    </p:anim>
                                    <p:anim calcmode="lin" valueType="num">
                                      <p:cBhvr additive="base">
                                        <p:cTn id="55" dur="500"/>
                                        <p:tgtEl>
                                          <p:spTgt spid="12"/>
                                        </p:tgtEl>
                                        <p:attrNameLst>
                                          <p:attrName>ppt_y</p:attrName>
                                        </p:attrNameLst>
                                      </p:cBhvr>
                                      <p:tavLst>
                                        <p:tav tm="0">
                                          <p:val>
                                            <p:strVal val="ppt_y"/>
                                          </p:val>
                                        </p:tav>
                                        <p:tav tm="100000">
                                          <p:val>
                                            <p:strVal val="1+ppt_h/2"/>
                                          </p:val>
                                        </p:tav>
                                      </p:tavLst>
                                    </p:anim>
                                    <p:set>
                                      <p:cBhvr>
                                        <p:cTn id="56" dur="1" fill="hold">
                                          <p:stCondLst>
                                            <p:cond delay="499"/>
                                          </p:stCondLst>
                                        </p:cTn>
                                        <p:tgtEl>
                                          <p:spTgt spid="12"/>
                                        </p:tgtEl>
                                        <p:attrNameLst>
                                          <p:attrName>style.visibility</p:attrName>
                                        </p:attrNameLst>
                                      </p:cBhvr>
                                      <p:to>
                                        <p:strVal val="hidden"/>
                                      </p:to>
                                    </p:set>
                                  </p:childTnLst>
                                </p:cTn>
                              </p:par>
                              <p:par>
                                <p:cTn id="57" presetID="2" presetClass="exit" presetSubtype="4" fill="hold" nodeType="withEffect">
                                  <p:stCondLst>
                                    <p:cond delay="0"/>
                                  </p:stCondLst>
                                  <p:childTnLst>
                                    <p:anim calcmode="lin" valueType="num">
                                      <p:cBhvr additive="base">
                                        <p:cTn id="58" dur="500"/>
                                        <p:tgtEl>
                                          <p:spTgt spid="13"/>
                                        </p:tgtEl>
                                        <p:attrNameLst>
                                          <p:attrName>ppt_x</p:attrName>
                                        </p:attrNameLst>
                                      </p:cBhvr>
                                      <p:tavLst>
                                        <p:tav tm="0">
                                          <p:val>
                                            <p:strVal val="ppt_x"/>
                                          </p:val>
                                        </p:tav>
                                        <p:tav tm="100000">
                                          <p:val>
                                            <p:strVal val="ppt_x"/>
                                          </p:val>
                                        </p:tav>
                                      </p:tavLst>
                                    </p:anim>
                                    <p:anim calcmode="lin" valueType="num">
                                      <p:cBhvr additive="base">
                                        <p:cTn id="59" dur="500"/>
                                        <p:tgtEl>
                                          <p:spTgt spid="13"/>
                                        </p:tgtEl>
                                        <p:attrNameLst>
                                          <p:attrName>ppt_y</p:attrName>
                                        </p:attrNameLst>
                                      </p:cBhvr>
                                      <p:tavLst>
                                        <p:tav tm="0">
                                          <p:val>
                                            <p:strVal val="ppt_y"/>
                                          </p:val>
                                        </p:tav>
                                        <p:tav tm="100000">
                                          <p:val>
                                            <p:strVal val="1+ppt_h/2"/>
                                          </p:val>
                                        </p:tav>
                                      </p:tavLst>
                                    </p:anim>
                                    <p:set>
                                      <p:cBhvr>
                                        <p:cTn id="60" dur="1" fill="hold">
                                          <p:stCondLst>
                                            <p:cond delay="499"/>
                                          </p:stCondLst>
                                        </p:cTn>
                                        <p:tgtEl>
                                          <p:spTgt spid="13"/>
                                        </p:tgtEl>
                                        <p:attrNameLst>
                                          <p:attrName>style.visibility</p:attrName>
                                        </p:attrNameLst>
                                      </p:cBhvr>
                                      <p:to>
                                        <p:strVal val="hidden"/>
                                      </p:to>
                                    </p:set>
                                  </p:childTnLst>
                                </p:cTn>
                              </p:par>
                              <p:par>
                                <p:cTn id="61" presetID="2" presetClass="exit" presetSubtype="4" fill="hold" nodeType="withEffect">
                                  <p:stCondLst>
                                    <p:cond delay="0"/>
                                  </p:stCondLst>
                                  <p:childTnLst>
                                    <p:anim calcmode="lin" valueType="num">
                                      <p:cBhvr additive="base">
                                        <p:cTn id="62" dur="500"/>
                                        <p:tgtEl>
                                          <p:spTgt spid="14"/>
                                        </p:tgtEl>
                                        <p:attrNameLst>
                                          <p:attrName>ppt_x</p:attrName>
                                        </p:attrNameLst>
                                      </p:cBhvr>
                                      <p:tavLst>
                                        <p:tav tm="0">
                                          <p:val>
                                            <p:strVal val="ppt_x"/>
                                          </p:val>
                                        </p:tav>
                                        <p:tav tm="100000">
                                          <p:val>
                                            <p:strVal val="ppt_x"/>
                                          </p:val>
                                        </p:tav>
                                      </p:tavLst>
                                    </p:anim>
                                    <p:anim calcmode="lin" valueType="num">
                                      <p:cBhvr additive="base">
                                        <p:cTn id="63" dur="500"/>
                                        <p:tgtEl>
                                          <p:spTgt spid="14"/>
                                        </p:tgtEl>
                                        <p:attrNameLst>
                                          <p:attrName>ppt_y</p:attrName>
                                        </p:attrNameLst>
                                      </p:cBhvr>
                                      <p:tavLst>
                                        <p:tav tm="0">
                                          <p:val>
                                            <p:strVal val="ppt_y"/>
                                          </p:val>
                                        </p:tav>
                                        <p:tav tm="100000">
                                          <p:val>
                                            <p:strVal val="1+ppt_h/2"/>
                                          </p:val>
                                        </p:tav>
                                      </p:tavLst>
                                    </p:anim>
                                    <p:set>
                                      <p:cBhvr>
                                        <p:cTn id="64" dur="1" fill="hold">
                                          <p:stCondLst>
                                            <p:cond delay="499"/>
                                          </p:stCondLst>
                                        </p:cTn>
                                        <p:tgtEl>
                                          <p:spTgt spid="14"/>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anim calcmode="lin" valueType="num">
                                      <p:cBhvr additive="base">
                                        <p:cTn id="69" dur="500" fill="hold"/>
                                        <p:tgtEl>
                                          <p:spTgt spid="9"/>
                                        </p:tgtEl>
                                        <p:attrNameLst>
                                          <p:attrName>ppt_x</p:attrName>
                                        </p:attrNameLst>
                                      </p:cBhvr>
                                      <p:tavLst>
                                        <p:tav tm="0">
                                          <p:val>
                                            <p:strVal val="#ppt_x"/>
                                          </p:val>
                                        </p:tav>
                                        <p:tav tm="100000">
                                          <p:val>
                                            <p:strVal val="#ppt_x"/>
                                          </p:val>
                                        </p:tav>
                                      </p:tavLst>
                                    </p:anim>
                                    <p:anim calcmode="lin" valueType="num">
                                      <p:cBhvr additive="base">
                                        <p:cTn id="7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additive="base">
                                        <p:cTn id="81" dur="500" fill="hold"/>
                                        <p:tgtEl>
                                          <p:spTgt spid="16"/>
                                        </p:tgtEl>
                                        <p:attrNameLst>
                                          <p:attrName>ppt_x</p:attrName>
                                        </p:attrNameLst>
                                      </p:cBhvr>
                                      <p:tavLst>
                                        <p:tav tm="0">
                                          <p:val>
                                            <p:strVal val="#ppt_x"/>
                                          </p:val>
                                        </p:tav>
                                        <p:tav tm="100000">
                                          <p:val>
                                            <p:strVal val="#ppt_x"/>
                                          </p:val>
                                        </p:tav>
                                      </p:tavLst>
                                    </p:anim>
                                    <p:anim calcmode="lin" valueType="num">
                                      <p:cBhvr additive="base">
                                        <p:cTn id="82" dur="500" fill="hold"/>
                                        <p:tgtEl>
                                          <p:spTgt spid="1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additive="base">
                                        <p:cTn id="85" dur="500" fill="hold"/>
                                        <p:tgtEl>
                                          <p:spTgt spid="17"/>
                                        </p:tgtEl>
                                        <p:attrNameLst>
                                          <p:attrName>ppt_x</p:attrName>
                                        </p:attrNameLst>
                                      </p:cBhvr>
                                      <p:tavLst>
                                        <p:tav tm="0">
                                          <p:val>
                                            <p:strVal val="#ppt_x"/>
                                          </p:val>
                                        </p:tav>
                                        <p:tav tm="100000">
                                          <p:val>
                                            <p:strVal val="#ppt_x"/>
                                          </p:val>
                                        </p:tav>
                                      </p:tavLst>
                                    </p:anim>
                                    <p:anim calcmode="lin" valueType="num">
                                      <p:cBhvr additive="base">
                                        <p:cTn id="8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nodeType="clickEffect">
                                  <p:stCondLst>
                                    <p:cond delay="0"/>
                                  </p:stCondLst>
                                  <p:childTnLst>
                                    <p:anim calcmode="lin" valueType="num">
                                      <p:cBhvr additive="base">
                                        <p:cTn id="90" dur="500"/>
                                        <p:tgtEl>
                                          <p:spTgt spid="15"/>
                                        </p:tgtEl>
                                        <p:attrNameLst>
                                          <p:attrName>ppt_x</p:attrName>
                                        </p:attrNameLst>
                                      </p:cBhvr>
                                      <p:tavLst>
                                        <p:tav tm="0">
                                          <p:val>
                                            <p:strVal val="ppt_x"/>
                                          </p:val>
                                        </p:tav>
                                        <p:tav tm="100000">
                                          <p:val>
                                            <p:strVal val="ppt_x"/>
                                          </p:val>
                                        </p:tav>
                                      </p:tavLst>
                                    </p:anim>
                                    <p:anim calcmode="lin" valueType="num">
                                      <p:cBhvr additive="base">
                                        <p:cTn id="91" dur="500"/>
                                        <p:tgtEl>
                                          <p:spTgt spid="15"/>
                                        </p:tgtEl>
                                        <p:attrNameLst>
                                          <p:attrName>ppt_y</p:attrName>
                                        </p:attrNameLst>
                                      </p:cBhvr>
                                      <p:tavLst>
                                        <p:tav tm="0">
                                          <p:val>
                                            <p:strVal val="ppt_y"/>
                                          </p:val>
                                        </p:tav>
                                        <p:tav tm="100000">
                                          <p:val>
                                            <p:strVal val="1+ppt_h/2"/>
                                          </p:val>
                                        </p:tav>
                                      </p:tavLst>
                                    </p:anim>
                                    <p:set>
                                      <p:cBhvr>
                                        <p:cTn id="92" dur="1" fill="hold">
                                          <p:stCondLst>
                                            <p:cond delay="499"/>
                                          </p:stCondLst>
                                        </p:cTn>
                                        <p:tgtEl>
                                          <p:spTgt spid="15"/>
                                        </p:tgtEl>
                                        <p:attrNameLst>
                                          <p:attrName>style.visibility</p:attrName>
                                        </p:attrNameLst>
                                      </p:cBhvr>
                                      <p:to>
                                        <p:strVal val="hidden"/>
                                      </p:to>
                                    </p:set>
                                  </p:childTnLst>
                                </p:cTn>
                              </p:par>
                              <p:par>
                                <p:cTn id="93" presetID="2" presetClass="exit" presetSubtype="4" fill="hold" nodeType="withEffect">
                                  <p:stCondLst>
                                    <p:cond delay="0"/>
                                  </p:stCondLst>
                                  <p:childTnLst>
                                    <p:anim calcmode="lin" valueType="num">
                                      <p:cBhvr additive="base">
                                        <p:cTn id="94" dur="500"/>
                                        <p:tgtEl>
                                          <p:spTgt spid="16"/>
                                        </p:tgtEl>
                                        <p:attrNameLst>
                                          <p:attrName>ppt_x</p:attrName>
                                        </p:attrNameLst>
                                      </p:cBhvr>
                                      <p:tavLst>
                                        <p:tav tm="0">
                                          <p:val>
                                            <p:strVal val="ppt_x"/>
                                          </p:val>
                                        </p:tav>
                                        <p:tav tm="100000">
                                          <p:val>
                                            <p:strVal val="ppt_x"/>
                                          </p:val>
                                        </p:tav>
                                      </p:tavLst>
                                    </p:anim>
                                    <p:anim calcmode="lin" valueType="num">
                                      <p:cBhvr additive="base">
                                        <p:cTn id="95" dur="500"/>
                                        <p:tgtEl>
                                          <p:spTgt spid="16"/>
                                        </p:tgtEl>
                                        <p:attrNameLst>
                                          <p:attrName>ppt_y</p:attrName>
                                        </p:attrNameLst>
                                      </p:cBhvr>
                                      <p:tavLst>
                                        <p:tav tm="0">
                                          <p:val>
                                            <p:strVal val="ppt_y"/>
                                          </p:val>
                                        </p:tav>
                                        <p:tav tm="100000">
                                          <p:val>
                                            <p:strVal val="1+ppt_h/2"/>
                                          </p:val>
                                        </p:tav>
                                      </p:tavLst>
                                    </p:anim>
                                    <p:set>
                                      <p:cBhvr>
                                        <p:cTn id="96" dur="1" fill="hold">
                                          <p:stCondLst>
                                            <p:cond delay="499"/>
                                          </p:stCondLst>
                                        </p:cTn>
                                        <p:tgtEl>
                                          <p:spTgt spid="16"/>
                                        </p:tgtEl>
                                        <p:attrNameLst>
                                          <p:attrName>style.visibility</p:attrName>
                                        </p:attrNameLst>
                                      </p:cBhvr>
                                      <p:to>
                                        <p:strVal val="hidden"/>
                                      </p:to>
                                    </p:set>
                                  </p:childTnLst>
                                </p:cTn>
                              </p:par>
                              <p:par>
                                <p:cTn id="97" presetID="2" presetClass="exit" presetSubtype="4" fill="hold" nodeType="withEffect">
                                  <p:stCondLst>
                                    <p:cond delay="0"/>
                                  </p:stCondLst>
                                  <p:childTnLst>
                                    <p:anim calcmode="lin" valueType="num">
                                      <p:cBhvr additive="base">
                                        <p:cTn id="98" dur="500"/>
                                        <p:tgtEl>
                                          <p:spTgt spid="17"/>
                                        </p:tgtEl>
                                        <p:attrNameLst>
                                          <p:attrName>ppt_x</p:attrName>
                                        </p:attrNameLst>
                                      </p:cBhvr>
                                      <p:tavLst>
                                        <p:tav tm="0">
                                          <p:val>
                                            <p:strVal val="ppt_x"/>
                                          </p:val>
                                        </p:tav>
                                        <p:tav tm="100000">
                                          <p:val>
                                            <p:strVal val="ppt_x"/>
                                          </p:val>
                                        </p:tav>
                                      </p:tavLst>
                                    </p:anim>
                                    <p:anim calcmode="lin" valueType="num">
                                      <p:cBhvr additive="base">
                                        <p:cTn id="99" dur="500"/>
                                        <p:tgtEl>
                                          <p:spTgt spid="17"/>
                                        </p:tgtEl>
                                        <p:attrNameLst>
                                          <p:attrName>ppt_y</p:attrName>
                                        </p:attrNameLst>
                                      </p:cBhvr>
                                      <p:tavLst>
                                        <p:tav tm="0">
                                          <p:val>
                                            <p:strVal val="ppt_y"/>
                                          </p:val>
                                        </p:tav>
                                        <p:tav tm="100000">
                                          <p:val>
                                            <p:strVal val="1+ppt_h/2"/>
                                          </p:val>
                                        </p:tav>
                                      </p:tavLst>
                                    </p:anim>
                                    <p:set>
                                      <p:cBhvr>
                                        <p:cTn id="100"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000" dirty="0" err="1"/>
              <a:t>Đại</a:t>
            </a:r>
            <a:r>
              <a:rPr lang="en-US" sz="4000" dirty="0"/>
              <a:t> </a:t>
            </a:r>
            <a:r>
              <a:rPr lang="en-US" sz="4000" err="1"/>
              <a:t>số</a:t>
            </a:r>
            <a:r>
              <a:rPr lang="en-US" sz="4000"/>
              <a:t> Boole </a:t>
            </a:r>
            <a:r>
              <a:rPr lang="en-US" sz="4000" dirty="0"/>
              <a:t>- </a:t>
            </a:r>
            <a:r>
              <a:rPr lang="en-US" sz="4000" dirty="0" err="1"/>
              <a:t>Tính</a:t>
            </a:r>
            <a:r>
              <a:rPr lang="en-US" sz="4000" dirty="0"/>
              <a:t> </a:t>
            </a:r>
            <a:r>
              <a:rPr lang="en-US" sz="4000" dirty="0" err="1"/>
              <a:t>đối</a:t>
            </a:r>
            <a:r>
              <a:rPr lang="en-US" sz="4000" dirty="0"/>
              <a:t> </a:t>
            </a:r>
            <a:r>
              <a:rPr lang="en-US" sz="4000" dirty="0" err="1"/>
              <a:t>ngẫu</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lnSpcReduction="10000"/>
              </a:bodyPr>
              <a:lstStyle/>
              <a:p>
                <a:r>
                  <a:rPr lang="en-US" dirty="0"/>
                  <a:t>Biểu </a:t>
                </a:r>
                <a:r>
                  <a:rPr lang="en-US" dirty="0" err="1"/>
                  <a:t>thức</a:t>
                </a:r>
                <a:r>
                  <a:rPr lang="en-US" dirty="0"/>
                  <a:t>: </a:t>
                </a:r>
                <a:r>
                  <a:rPr lang="vi-VN" i="1" dirty="0"/>
                  <a:t>x </a:t>
                </a:r>
                <a:r>
                  <a:rPr lang="vi-VN" dirty="0"/>
                  <a:t>+</a:t>
                </a:r>
                <a:r>
                  <a:rPr lang="vi-VN" i="1" dirty="0"/>
                  <a:t> yz</a:t>
                </a:r>
                <a:endParaRPr lang="en-US" dirty="0"/>
              </a:p>
              <a:p>
                <a:r>
                  <a:rPr lang="en-US" dirty="0" err="1"/>
                  <a:t>Hàm</a:t>
                </a:r>
                <a:r>
                  <a:rPr lang="en-US" dirty="0"/>
                  <a:t>: </a:t>
                </a:r>
                <a:r>
                  <a:rPr lang="vi-VN" i="1" dirty="0"/>
                  <a:t>f</a:t>
                </a:r>
                <a:r>
                  <a:rPr lang="vi-VN" dirty="0"/>
                  <a:t>(</a:t>
                </a:r>
                <a:r>
                  <a:rPr lang="vi-VN" i="1" dirty="0"/>
                  <a:t>x, y, z</a:t>
                </a:r>
                <a:r>
                  <a:rPr lang="vi-VN" dirty="0"/>
                  <a:t>)</a:t>
                </a:r>
                <a:r>
                  <a:rPr lang="vi-VN" i="1" dirty="0"/>
                  <a:t> = x </a:t>
                </a:r>
                <a:r>
                  <a:rPr lang="vi-VN" dirty="0"/>
                  <a:t>+</a:t>
                </a:r>
                <a:r>
                  <a:rPr lang="vi-VN" i="1" dirty="0"/>
                  <a:t> yz</a:t>
                </a:r>
                <a:endParaRPr lang="en-US" dirty="0"/>
              </a:p>
              <a:p>
                <a:r>
                  <a:rPr lang="vi-VN" dirty="0"/>
                  <a:t>Nếu</a:t>
                </a:r>
                <a:r>
                  <a:rPr lang="en-US" dirty="0"/>
                  <a:t> </a:t>
                </a:r>
                <a:r>
                  <a:rPr lang="en-US" dirty="0" err="1"/>
                  <a:t>một</a:t>
                </a:r>
                <a:r>
                  <a:rPr lang="en-US" dirty="0"/>
                  <a:t> </a:t>
                </a:r>
                <a:r>
                  <a:rPr lang="en-US" dirty="0" err="1"/>
                  <a:t>biểu</a:t>
                </a:r>
                <a:r>
                  <a:rPr lang="en-US" dirty="0"/>
                  <a:t> </a:t>
                </a:r>
                <a:r>
                  <a:rPr lang="en-US" err="1"/>
                  <a:t>thức</a:t>
                </a:r>
                <a:r>
                  <a:rPr lang="en-US"/>
                  <a:t> Boole </a:t>
                </a:r>
                <a:r>
                  <a:rPr lang="en-US" dirty="0" err="1"/>
                  <a:t>là</a:t>
                </a:r>
                <a:r>
                  <a:rPr lang="en-US" dirty="0"/>
                  <a:t> </a:t>
                </a:r>
                <a:r>
                  <a:rPr lang="en-US" dirty="0" err="1"/>
                  <a:t>đúng</a:t>
                </a:r>
                <a:r>
                  <a:rPr lang="en-US" dirty="0"/>
                  <a:t> </a:t>
                </a:r>
                <a:r>
                  <a:rPr lang="en-US" dirty="0" err="1"/>
                  <a:t>thì</a:t>
                </a:r>
                <a:r>
                  <a:rPr lang="en-US" dirty="0"/>
                  <a:t> </a:t>
                </a:r>
                <a:r>
                  <a:rPr lang="en-US" dirty="0" err="1"/>
                  <a:t>biểu</a:t>
                </a:r>
                <a:r>
                  <a:rPr lang="en-US" dirty="0"/>
                  <a:t> </a:t>
                </a:r>
                <a:r>
                  <a:rPr lang="en-US" dirty="0" err="1"/>
                  <a:t>thức</a:t>
                </a:r>
                <a:r>
                  <a:rPr lang="en-US" dirty="0"/>
                  <a:t> </a:t>
                </a:r>
                <a:r>
                  <a:rPr lang="en-US" dirty="0" err="1"/>
                  <a:t>đối</a:t>
                </a:r>
                <a:r>
                  <a:rPr lang="en-US" dirty="0"/>
                  <a:t> </a:t>
                </a:r>
                <a:r>
                  <a:rPr lang="en-US" dirty="0" err="1"/>
                  <a:t>ngẫu</a:t>
                </a:r>
                <a:r>
                  <a:rPr lang="en-US" dirty="0"/>
                  <a:t> </a:t>
                </a:r>
                <a:r>
                  <a:rPr lang="en-US" dirty="0" err="1"/>
                  <a:t>của</a:t>
                </a:r>
                <a:r>
                  <a:rPr lang="en-US" dirty="0"/>
                  <a:t> </a:t>
                </a:r>
                <a:r>
                  <a:rPr lang="en-US" dirty="0" err="1"/>
                  <a:t>nó</a:t>
                </a:r>
                <a:r>
                  <a:rPr lang="en-US" dirty="0"/>
                  <a:t> </a:t>
                </a:r>
                <a:r>
                  <a:rPr lang="en-US" dirty="0" err="1"/>
                  <a:t>cũng</a:t>
                </a:r>
                <a:r>
                  <a:rPr lang="en-US" dirty="0"/>
                  <a:t> </a:t>
                </a:r>
                <a:r>
                  <a:rPr lang="en-US" dirty="0" err="1"/>
                  <a:t>đúng</a:t>
                </a:r>
                <a:r>
                  <a:rPr lang="en-US" dirty="0"/>
                  <a:t>:</a:t>
                </a:r>
              </a:p>
              <a:p>
                <a:pPr lvl="1"/>
                <a:r>
                  <a:rPr lang="vi-VN" dirty="0"/>
                  <a:t>0</a:t>
                </a:r>
                <a:r>
                  <a:rPr lang="en-US" dirty="0"/>
                  <a:t> ↔ 1</a:t>
                </a:r>
              </a:p>
              <a:p>
                <a:pPr lvl="1"/>
                <a:r>
                  <a:rPr lang="en-US" dirty="0"/>
                  <a:t>AND ↔ OR</a:t>
                </a:r>
              </a:p>
              <a:p>
                <a:r>
                  <a:rPr lang="en-US" dirty="0" err="1"/>
                  <a:t>Ví</a:t>
                </a:r>
                <a:r>
                  <a:rPr lang="en-US" dirty="0"/>
                  <a:t> </a:t>
                </a:r>
                <a:r>
                  <a:rPr lang="en-US" dirty="0" err="1"/>
                  <a:t>dụ</a:t>
                </a:r>
                <a:r>
                  <a:rPr lang="en-US" dirty="0"/>
                  <a:t>:</a:t>
                </a:r>
              </a:p>
              <a:p>
                <a:pPr lvl="1"/>
                <a:r>
                  <a:rPr lang="vi-VN" i="1" dirty="0">
                    <a:highlight>
                      <a:srgbClr val="FFFF00"/>
                    </a:highlight>
                  </a:rPr>
                  <a:t>x</a:t>
                </a:r>
                <a:r>
                  <a:rPr lang="vi-VN" dirty="0">
                    <a:highlight>
                      <a:srgbClr val="FFFF00"/>
                    </a:highlight>
                  </a:rPr>
                  <a:t> ∙ (</a:t>
                </a:r>
                <a:r>
                  <a:rPr lang="vi-VN" i="1" dirty="0">
                    <a:highlight>
                      <a:srgbClr val="FFFF00"/>
                    </a:highlight>
                  </a:rPr>
                  <a:t>y</a:t>
                </a:r>
                <a:r>
                  <a:rPr lang="vi-VN" dirty="0">
                    <a:highlight>
                      <a:srgbClr val="FFFF00"/>
                    </a:highlight>
                  </a:rPr>
                  <a:t> + </a:t>
                </a:r>
                <a:r>
                  <a:rPr lang="vi-VN" i="1" dirty="0">
                    <a:highlight>
                      <a:srgbClr val="FFFF00"/>
                    </a:highlight>
                  </a:rPr>
                  <a:t>z</a:t>
                </a:r>
                <a:r>
                  <a:rPr lang="vi-VN" dirty="0">
                    <a:highlight>
                      <a:srgbClr val="FFFF00"/>
                    </a:highlight>
                  </a:rPr>
                  <a:t>) = </a:t>
                </a:r>
                <a:r>
                  <a:rPr lang="vi-VN" i="1" dirty="0">
                    <a:highlight>
                      <a:srgbClr val="FFFF00"/>
                    </a:highlight>
                  </a:rPr>
                  <a:t>x</a:t>
                </a:r>
                <a:r>
                  <a:rPr lang="vi-VN" dirty="0">
                    <a:highlight>
                      <a:srgbClr val="FFFF00"/>
                    </a:highlight>
                  </a:rPr>
                  <a:t> ∙ </a:t>
                </a:r>
                <a:r>
                  <a:rPr lang="vi-VN" i="1" dirty="0">
                    <a:highlight>
                      <a:srgbClr val="FFFF00"/>
                    </a:highlight>
                  </a:rPr>
                  <a:t>y</a:t>
                </a:r>
                <a:r>
                  <a:rPr lang="vi-VN" dirty="0">
                    <a:highlight>
                      <a:srgbClr val="FFFF00"/>
                    </a:highlight>
                  </a:rPr>
                  <a:t> + </a:t>
                </a:r>
                <a:r>
                  <a:rPr lang="vi-VN" i="1" dirty="0">
                    <a:highlight>
                      <a:srgbClr val="FFFF00"/>
                    </a:highlight>
                  </a:rPr>
                  <a:t>x</a:t>
                </a:r>
                <a:r>
                  <a:rPr lang="vi-VN" dirty="0">
                    <a:highlight>
                      <a:srgbClr val="FFFF00"/>
                    </a:highlight>
                  </a:rPr>
                  <a:t> ∙ </a:t>
                </a:r>
                <a:r>
                  <a:rPr lang="vi-VN" i="1" dirty="0">
                    <a:highlight>
                      <a:srgbClr val="FFFF00"/>
                    </a:highlight>
                  </a:rPr>
                  <a:t>z</a:t>
                </a:r>
                <a:r>
                  <a:rPr lang="en-US" i="1" dirty="0"/>
                  <a:t> </a:t>
                </a:r>
                <a:r>
                  <a:rPr lang="en-US" dirty="0" err="1"/>
                  <a:t>đối</a:t>
                </a:r>
                <a:r>
                  <a:rPr lang="en-US" dirty="0"/>
                  <a:t> </a:t>
                </a:r>
                <a:r>
                  <a:rPr lang="en-US" dirty="0" err="1"/>
                  <a:t>ngẫu</a:t>
                </a:r>
                <a:r>
                  <a:rPr lang="en-US" dirty="0"/>
                  <a:t> </a:t>
                </a:r>
                <a:r>
                  <a:rPr lang="vi-VN" i="1" dirty="0">
                    <a:highlight>
                      <a:srgbClr val="FFFF00"/>
                    </a:highlight>
                  </a:rPr>
                  <a:t>x</a:t>
                </a:r>
                <a:r>
                  <a:rPr lang="vi-VN" dirty="0">
                    <a:highlight>
                      <a:srgbClr val="FFFF00"/>
                    </a:highlight>
                  </a:rPr>
                  <a:t> + </a:t>
                </a:r>
                <a:r>
                  <a:rPr lang="vi-VN" i="1" dirty="0">
                    <a:highlight>
                      <a:srgbClr val="FFFF00"/>
                    </a:highlight>
                  </a:rPr>
                  <a:t>y</a:t>
                </a:r>
                <a:r>
                  <a:rPr lang="vi-VN" dirty="0">
                    <a:highlight>
                      <a:srgbClr val="FFFF00"/>
                    </a:highlight>
                  </a:rPr>
                  <a:t> ∙ </a:t>
                </a:r>
                <a:r>
                  <a:rPr lang="vi-VN" i="1" dirty="0">
                    <a:highlight>
                      <a:srgbClr val="FFFF00"/>
                    </a:highlight>
                  </a:rPr>
                  <a:t>z</a:t>
                </a:r>
                <a:r>
                  <a:rPr lang="vi-VN" dirty="0">
                    <a:highlight>
                      <a:srgbClr val="FFFF00"/>
                    </a:highlight>
                  </a:rPr>
                  <a:t> = (</a:t>
                </a:r>
                <a:r>
                  <a:rPr lang="vi-VN" i="1" dirty="0">
                    <a:highlight>
                      <a:srgbClr val="FFFF00"/>
                    </a:highlight>
                  </a:rPr>
                  <a:t>x</a:t>
                </a:r>
                <a:r>
                  <a:rPr lang="vi-VN" dirty="0">
                    <a:highlight>
                      <a:srgbClr val="FFFF00"/>
                    </a:highlight>
                  </a:rPr>
                  <a:t> + </a:t>
                </a:r>
                <a:r>
                  <a:rPr lang="vi-VN" i="1" dirty="0">
                    <a:highlight>
                      <a:srgbClr val="FFFF00"/>
                    </a:highlight>
                  </a:rPr>
                  <a:t>y</a:t>
                </a:r>
                <a:r>
                  <a:rPr lang="vi-VN" dirty="0">
                    <a:highlight>
                      <a:srgbClr val="FFFF00"/>
                    </a:highlight>
                  </a:rPr>
                  <a:t>)(</a:t>
                </a:r>
                <a:r>
                  <a:rPr lang="vi-VN" i="1" dirty="0">
                    <a:highlight>
                      <a:srgbClr val="FFFF00"/>
                    </a:highlight>
                  </a:rPr>
                  <a:t>x</a:t>
                </a:r>
                <a:r>
                  <a:rPr lang="vi-VN" dirty="0">
                    <a:highlight>
                      <a:srgbClr val="FFFF00"/>
                    </a:highlight>
                  </a:rPr>
                  <a:t> + </a:t>
                </a:r>
                <a:r>
                  <a:rPr lang="vi-VN" i="1" dirty="0">
                    <a:highlight>
                      <a:srgbClr val="FFFF00"/>
                    </a:highlight>
                  </a:rPr>
                  <a:t>z</a:t>
                </a:r>
                <a:r>
                  <a:rPr lang="vi-VN" dirty="0">
                    <a:highlight>
                      <a:srgbClr val="FFFF00"/>
                    </a:highlight>
                  </a:rPr>
                  <a:t>)</a:t>
                </a:r>
                <a:endParaRPr lang="en-US" dirty="0">
                  <a:highlight>
                    <a:srgbClr val="FFFF00"/>
                  </a:highlight>
                </a:endParaRPr>
              </a:p>
              <a:p>
                <a:pPr lvl="1"/>
                <a:r>
                  <a:rPr lang="vi-VN" i="1" dirty="0">
                    <a:highlight>
                      <a:srgbClr val="FFFF00"/>
                    </a:highlight>
                  </a:rPr>
                  <a:t>x</a:t>
                </a:r>
                <a:r>
                  <a:rPr lang="vi-VN" dirty="0">
                    <a:highlight>
                      <a:srgbClr val="FFFF00"/>
                    </a:highlight>
                  </a:rPr>
                  <a:t> ∙ </a:t>
                </a:r>
                <a14:m>
                  <m:oMath xmlns:m="http://schemas.openxmlformats.org/officeDocument/2006/math">
                    <m:acc>
                      <m:accPr>
                        <m:chr m:val="̅"/>
                        <m:ctrlPr>
                          <a:rPr lang="en-US" i="1">
                            <a:highlight>
                              <a:srgbClr val="FFFF00"/>
                            </a:highlight>
                            <a:latin typeface="Cambria Math" panose="02040503050406030204" pitchFamily="18" charset="0"/>
                          </a:rPr>
                        </m:ctrlPr>
                      </m:accPr>
                      <m:e>
                        <m:r>
                          <m:rPr>
                            <m:nor/>
                          </m:rPr>
                          <a:rPr lang="vi-VN" i="1">
                            <a:highlight>
                              <a:srgbClr val="FFFF00"/>
                            </a:highlight>
                          </a:rPr>
                          <m:t>x</m:t>
                        </m:r>
                      </m:e>
                    </m:acc>
                  </m:oMath>
                </a14:m>
                <a:r>
                  <a:rPr lang="vi-VN" dirty="0">
                    <a:highlight>
                      <a:srgbClr val="FFFF00"/>
                    </a:highlight>
                  </a:rPr>
                  <a:t> = </a:t>
                </a:r>
                <a14:m>
                  <m:oMath xmlns:m="http://schemas.openxmlformats.org/officeDocument/2006/math">
                    <m:acc>
                      <m:accPr>
                        <m:chr m:val="̅"/>
                        <m:ctrlPr>
                          <a:rPr lang="en-US" i="1">
                            <a:highlight>
                              <a:srgbClr val="FFFF00"/>
                            </a:highlight>
                            <a:latin typeface="Cambria Math" panose="02040503050406030204" pitchFamily="18" charset="0"/>
                          </a:rPr>
                        </m:ctrlPr>
                      </m:accPr>
                      <m:e>
                        <m:r>
                          <m:rPr>
                            <m:nor/>
                          </m:rPr>
                          <a:rPr lang="vi-VN" i="1">
                            <a:highlight>
                              <a:srgbClr val="FFFF00"/>
                            </a:highlight>
                          </a:rPr>
                          <m:t>x</m:t>
                        </m:r>
                      </m:e>
                    </m:acc>
                  </m:oMath>
                </a14:m>
                <a:r>
                  <a:rPr lang="vi-VN" dirty="0">
                    <a:highlight>
                      <a:srgbClr val="FFFF00"/>
                    </a:highlight>
                  </a:rPr>
                  <a:t> ∙ </a:t>
                </a:r>
                <a:r>
                  <a:rPr lang="vi-VN" i="1" dirty="0">
                    <a:highlight>
                      <a:srgbClr val="FFFF00"/>
                    </a:highlight>
                  </a:rPr>
                  <a:t>x</a:t>
                </a:r>
                <a:r>
                  <a:rPr lang="vi-VN" dirty="0">
                    <a:highlight>
                      <a:srgbClr val="FFFF00"/>
                    </a:highlight>
                  </a:rPr>
                  <a:t> = 0</a:t>
                </a:r>
                <a:r>
                  <a:rPr lang="en-US" dirty="0"/>
                  <a:t> </a:t>
                </a:r>
                <a:r>
                  <a:rPr lang="en-US" dirty="0" err="1"/>
                  <a:t>đối</a:t>
                </a:r>
                <a:r>
                  <a:rPr lang="en-US" dirty="0"/>
                  <a:t> </a:t>
                </a:r>
                <a:r>
                  <a:rPr lang="en-US" dirty="0" err="1"/>
                  <a:t>ngẫu</a:t>
                </a:r>
                <a:r>
                  <a:rPr lang="en-US" dirty="0"/>
                  <a:t> </a:t>
                </a:r>
                <a:r>
                  <a:rPr lang="vi-VN" i="1" dirty="0">
                    <a:highlight>
                      <a:srgbClr val="FFFF00"/>
                    </a:highlight>
                  </a:rPr>
                  <a:t>x</a:t>
                </a:r>
                <a:r>
                  <a:rPr lang="vi-VN" dirty="0">
                    <a:highlight>
                      <a:srgbClr val="FFFF00"/>
                    </a:highlight>
                  </a:rPr>
                  <a:t> + </a:t>
                </a:r>
                <a14:m>
                  <m:oMath xmlns:m="http://schemas.openxmlformats.org/officeDocument/2006/math">
                    <m:acc>
                      <m:accPr>
                        <m:chr m:val="̅"/>
                        <m:ctrlPr>
                          <a:rPr lang="en-US" i="1">
                            <a:highlight>
                              <a:srgbClr val="FFFF00"/>
                            </a:highlight>
                            <a:latin typeface="Cambria Math" panose="02040503050406030204" pitchFamily="18" charset="0"/>
                          </a:rPr>
                        </m:ctrlPr>
                      </m:accPr>
                      <m:e>
                        <m:r>
                          <m:rPr>
                            <m:nor/>
                          </m:rPr>
                          <a:rPr lang="vi-VN" i="1">
                            <a:highlight>
                              <a:srgbClr val="FFFF00"/>
                            </a:highlight>
                          </a:rPr>
                          <m:t>x</m:t>
                        </m:r>
                      </m:e>
                    </m:acc>
                  </m:oMath>
                </a14:m>
                <a:r>
                  <a:rPr lang="vi-VN" dirty="0">
                    <a:highlight>
                      <a:srgbClr val="FFFF00"/>
                    </a:highlight>
                  </a:rPr>
                  <a:t> = </a:t>
                </a:r>
                <a14:m>
                  <m:oMath xmlns:m="http://schemas.openxmlformats.org/officeDocument/2006/math">
                    <m:acc>
                      <m:accPr>
                        <m:chr m:val="̅"/>
                        <m:ctrlPr>
                          <a:rPr lang="en-US" i="1">
                            <a:highlight>
                              <a:srgbClr val="FFFF00"/>
                            </a:highlight>
                            <a:latin typeface="Cambria Math" panose="02040503050406030204" pitchFamily="18" charset="0"/>
                          </a:rPr>
                        </m:ctrlPr>
                      </m:accPr>
                      <m:e>
                        <m:r>
                          <m:rPr>
                            <m:nor/>
                          </m:rPr>
                          <a:rPr lang="vi-VN" i="1">
                            <a:highlight>
                              <a:srgbClr val="FFFF00"/>
                            </a:highlight>
                          </a:rPr>
                          <m:t>x</m:t>
                        </m:r>
                      </m:e>
                    </m:acc>
                  </m:oMath>
                </a14:m>
                <a:r>
                  <a:rPr lang="vi-VN" dirty="0">
                    <a:highlight>
                      <a:srgbClr val="FFFF00"/>
                    </a:highlight>
                  </a:rPr>
                  <a:t> + </a:t>
                </a:r>
                <a:r>
                  <a:rPr lang="vi-VN" i="1" dirty="0">
                    <a:highlight>
                      <a:srgbClr val="FFFF00"/>
                    </a:highlight>
                  </a:rPr>
                  <a:t>x</a:t>
                </a:r>
                <a:r>
                  <a:rPr lang="vi-VN" dirty="0">
                    <a:highlight>
                      <a:srgbClr val="FFFF00"/>
                    </a:highlight>
                  </a:rPr>
                  <a:t> = 1</a:t>
                </a:r>
                <a:endParaRPr lang="en-US" dirty="0">
                  <a:highlight>
                    <a:srgbClr val="FFFF00"/>
                  </a:highlight>
                </a:endParaRPr>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blipFill>
                <a:blip r:embed="rId2"/>
                <a:stretch>
                  <a:fillRect l="-1037" t="-493" r="-1153" b="-209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Tree>
    <p:extLst>
      <p:ext uri="{BB962C8B-B14F-4D97-AF65-F5344CB8AC3E}">
        <p14:creationId xmlns:p14="http://schemas.microsoft.com/office/powerpoint/2010/main" val="223045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B4CB417-D96A-5B49-0280-977F6229EB0F}"/>
              </a:ext>
            </a:extLst>
          </p:cNvPr>
          <p:cNvSpPr>
            <a:spLocks noGrp="1"/>
          </p:cNvSpPr>
          <p:nvPr>
            <p:ph type="body" sz="quarter" idx="16"/>
          </p:nvPr>
        </p:nvSpPr>
        <p:spPr/>
        <p:txBody>
          <a:bodyPr>
            <a:normAutofit lnSpcReduction="10000"/>
          </a:bodyPr>
          <a:lstStyle/>
          <a:p>
            <a:r>
              <a:rPr lang="en-US"/>
              <a:t>2</a:t>
            </a:r>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p:txBody>
          <a:bodyPr>
            <a:normAutofit/>
          </a:bodyPr>
          <a:lstStyle/>
          <a:p>
            <a:r>
              <a:rPr lang="en-US" dirty="0" err="1"/>
              <a:t>Cổng</a:t>
            </a:r>
            <a:r>
              <a:rPr lang="en-US" dirty="0"/>
              <a:t> </a:t>
            </a:r>
            <a:r>
              <a:rPr lang="en-US" dirty="0" err="1"/>
              <a:t>luận</a:t>
            </a:r>
            <a:r>
              <a:rPr lang="en-US" dirty="0"/>
              <a:t> </a:t>
            </a:r>
            <a:r>
              <a:rPr lang="en-US" dirty="0" err="1"/>
              <a:t>lý</a:t>
            </a:r>
            <a:endParaRPr lang="en-US" dirty="0"/>
          </a:p>
        </p:txBody>
      </p:sp>
      <p:sp>
        <p:nvSpPr>
          <p:cNvPr id="5" name="Text Placeholder 4">
            <a:extLst>
              <a:ext uri="{FF2B5EF4-FFF2-40B4-BE49-F238E27FC236}">
                <a16:creationId xmlns:a16="http://schemas.microsoft.com/office/drawing/2014/main" id="{B10C1191-495C-0126-4CFE-1FC41FD7A14E}"/>
              </a:ext>
            </a:extLst>
          </p:cNvPr>
          <p:cNvSpPr>
            <a:spLocks noGrp="1"/>
          </p:cNvSpPr>
          <p:nvPr>
            <p:ph type="body" sz="quarter" idx="15"/>
          </p:nvPr>
        </p:nvSpPr>
        <p:spPr/>
        <p:txBody>
          <a:bodyPr/>
          <a:lstStyle/>
          <a:p>
            <a:endParaRPr lang="en-US"/>
          </a:p>
        </p:txBody>
      </p:sp>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Tree>
    <p:extLst>
      <p:ext uri="{BB962C8B-B14F-4D97-AF65-F5344CB8AC3E}">
        <p14:creationId xmlns:p14="http://schemas.microsoft.com/office/powerpoint/2010/main" val="3705844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err="1"/>
              <a:t>Cổng</a:t>
            </a:r>
            <a:r>
              <a:rPr lang="en-US" dirty="0"/>
              <a:t> </a:t>
            </a:r>
            <a:r>
              <a:rPr lang="en-US" dirty="0" err="1"/>
              <a:t>luận</a:t>
            </a:r>
            <a:r>
              <a:rPr lang="en-US" dirty="0"/>
              <a:t> </a:t>
            </a:r>
            <a:r>
              <a:rPr lang="en-US" dirty="0" err="1"/>
              <a:t>lý</a:t>
            </a:r>
            <a:endParaRPr lang="en-US" b="1"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748838" y="991823"/>
            <a:ext cx="10843463" cy="2416059"/>
          </a:xfrm>
        </p:spPr>
        <p:txBody>
          <a:bodyPr>
            <a:normAutofit/>
          </a:bodyPr>
          <a:lstStyle/>
          <a:p>
            <a:r>
              <a:rPr lang="en-US" dirty="0" err="1"/>
              <a:t>Cổng</a:t>
            </a:r>
            <a:r>
              <a:rPr lang="en-US" dirty="0"/>
              <a:t> </a:t>
            </a:r>
            <a:r>
              <a:rPr lang="en-US" b="0" i="0" dirty="0" err="1">
                <a:solidFill>
                  <a:srgbClr val="000000"/>
                </a:solidFill>
                <a:effectLst/>
              </a:rPr>
              <a:t>luận</a:t>
            </a:r>
            <a:r>
              <a:rPr lang="en-US" b="0" i="0" dirty="0">
                <a:solidFill>
                  <a:srgbClr val="000000"/>
                </a:solidFill>
                <a:effectLst/>
              </a:rPr>
              <a:t> </a:t>
            </a:r>
            <a:r>
              <a:rPr lang="en-US" b="0" i="0" dirty="0" err="1">
                <a:solidFill>
                  <a:srgbClr val="000000"/>
                </a:solidFill>
                <a:effectLst/>
              </a:rPr>
              <a:t>lý</a:t>
            </a:r>
            <a:r>
              <a:rPr lang="en-US" b="0" i="0" dirty="0">
                <a:solidFill>
                  <a:srgbClr val="000000"/>
                </a:solidFill>
                <a:effectLst/>
              </a:rPr>
              <a:t> </a:t>
            </a:r>
            <a:r>
              <a:rPr lang="en-US" b="0" i="0" dirty="0" err="1">
                <a:solidFill>
                  <a:srgbClr val="000000"/>
                </a:solidFill>
                <a:effectLst/>
              </a:rPr>
              <a:t>là</a:t>
            </a:r>
            <a:r>
              <a:rPr lang="en-US" b="0" i="0" dirty="0">
                <a:solidFill>
                  <a:srgbClr val="000000"/>
                </a:solidFill>
                <a:effectLst/>
              </a:rPr>
              <a:t> </a:t>
            </a:r>
            <a:r>
              <a:rPr lang="en-US" b="0" i="0" dirty="0" err="1">
                <a:solidFill>
                  <a:srgbClr val="000000"/>
                </a:solidFill>
                <a:effectLst/>
              </a:rPr>
              <a:t>thiết</a:t>
            </a:r>
            <a:r>
              <a:rPr lang="en-US" b="0" i="0" dirty="0">
                <a:solidFill>
                  <a:srgbClr val="000000"/>
                </a:solidFill>
                <a:effectLst/>
              </a:rPr>
              <a:t> </a:t>
            </a:r>
            <a:r>
              <a:rPr lang="en-US" b="0" i="0" dirty="0" err="1">
                <a:solidFill>
                  <a:srgbClr val="000000"/>
                </a:solidFill>
                <a:effectLst/>
              </a:rPr>
              <a:t>bị</a:t>
            </a:r>
            <a:r>
              <a:rPr lang="en-US" b="0" i="0" dirty="0">
                <a:solidFill>
                  <a:srgbClr val="000000"/>
                </a:solidFill>
                <a:effectLst/>
              </a:rPr>
              <a:t> </a:t>
            </a:r>
            <a:r>
              <a:rPr lang="en-US" b="0" i="0" dirty="0" err="1">
                <a:solidFill>
                  <a:srgbClr val="000000"/>
                </a:solidFill>
                <a:effectLst/>
              </a:rPr>
              <a:t>điện</a:t>
            </a:r>
            <a:r>
              <a:rPr lang="en-US" b="0" i="0" dirty="0">
                <a:solidFill>
                  <a:srgbClr val="000000"/>
                </a:solidFill>
                <a:effectLst/>
              </a:rPr>
              <a:t> </a:t>
            </a:r>
            <a:r>
              <a:rPr lang="en-US" b="0" i="0" dirty="0" err="1">
                <a:solidFill>
                  <a:srgbClr val="000000"/>
                </a:solidFill>
                <a:effectLst/>
              </a:rPr>
              <a:t>tử</a:t>
            </a:r>
            <a:r>
              <a:rPr lang="en-US" b="0" i="0" dirty="0">
                <a:solidFill>
                  <a:srgbClr val="000000"/>
                </a:solidFill>
                <a:effectLst/>
              </a:rPr>
              <a:t> </a:t>
            </a:r>
            <a:r>
              <a:rPr lang="en-US" b="0" i="0" dirty="0" err="1">
                <a:solidFill>
                  <a:srgbClr val="000000"/>
                </a:solidFill>
                <a:effectLst/>
              </a:rPr>
              <a:t>có</a:t>
            </a:r>
            <a:r>
              <a:rPr lang="en-US" b="0" i="0" dirty="0">
                <a:solidFill>
                  <a:srgbClr val="000000"/>
                </a:solidFill>
                <a:effectLst/>
              </a:rPr>
              <a:t> </a:t>
            </a:r>
            <a:r>
              <a:rPr lang="en-US" b="0" i="0" dirty="0" err="1">
                <a:solidFill>
                  <a:srgbClr val="000000"/>
                </a:solidFill>
                <a:effectLst/>
              </a:rPr>
              <a:t>đặc</a:t>
            </a:r>
            <a:r>
              <a:rPr lang="en-US" b="0" i="0" dirty="0">
                <a:solidFill>
                  <a:srgbClr val="000000"/>
                </a:solidFill>
                <a:effectLst/>
              </a:rPr>
              <a:t> </a:t>
            </a:r>
            <a:r>
              <a:rPr lang="en-US" b="0" i="0" dirty="0" err="1">
                <a:solidFill>
                  <a:srgbClr val="000000"/>
                </a:solidFill>
                <a:effectLst/>
              </a:rPr>
              <a:t>điểm</a:t>
            </a:r>
            <a:r>
              <a:rPr lang="en-US" b="0" i="0" dirty="0">
                <a:solidFill>
                  <a:srgbClr val="000000"/>
                </a:solidFill>
                <a:effectLst/>
              </a:rPr>
              <a:t> </a:t>
            </a:r>
            <a:r>
              <a:rPr lang="en-US" b="0" i="0" dirty="0" err="1">
                <a:solidFill>
                  <a:srgbClr val="000000"/>
                </a:solidFill>
                <a:effectLst/>
              </a:rPr>
              <a:t>sau</a:t>
            </a:r>
            <a:r>
              <a:rPr lang="en-US" b="0" i="0" dirty="0">
                <a:solidFill>
                  <a:srgbClr val="000000"/>
                </a:solidFill>
                <a:effectLst/>
              </a:rPr>
              <a:t>:</a:t>
            </a:r>
          </a:p>
          <a:p>
            <a:pPr lvl="1"/>
            <a:r>
              <a:rPr lang="en-US" dirty="0" err="1">
                <a:solidFill>
                  <a:srgbClr val="000000"/>
                </a:solidFill>
              </a:rPr>
              <a:t>C</a:t>
            </a:r>
            <a:r>
              <a:rPr lang="en-US" b="0" i="0" dirty="0" err="1">
                <a:solidFill>
                  <a:srgbClr val="000000"/>
                </a:solidFill>
                <a:effectLst/>
              </a:rPr>
              <a:t>hức</a:t>
            </a:r>
            <a:r>
              <a:rPr lang="en-US" b="0" i="0" dirty="0">
                <a:solidFill>
                  <a:srgbClr val="000000"/>
                </a:solidFill>
                <a:effectLst/>
              </a:rPr>
              <a:t> </a:t>
            </a:r>
            <a:r>
              <a:rPr lang="en-US" b="0" i="0" dirty="0" err="1">
                <a:solidFill>
                  <a:srgbClr val="000000"/>
                </a:solidFill>
                <a:effectLst/>
              </a:rPr>
              <a:t>năng</a:t>
            </a:r>
            <a:r>
              <a:rPr lang="en-US" b="0" i="0" dirty="0">
                <a:solidFill>
                  <a:srgbClr val="000000"/>
                </a:solidFill>
                <a:effectLst/>
              </a:rPr>
              <a:t>: </a:t>
            </a:r>
            <a:r>
              <a:rPr lang="en-US" b="0" i="0" dirty="0" err="1">
                <a:solidFill>
                  <a:srgbClr val="000000"/>
                </a:solidFill>
                <a:effectLst/>
              </a:rPr>
              <a:t>Thực</a:t>
            </a:r>
            <a:r>
              <a:rPr lang="en-US" b="0" i="0" dirty="0">
                <a:solidFill>
                  <a:srgbClr val="000000"/>
                </a:solidFill>
                <a:effectLst/>
              </a:rPr>
              <a:t> </a:t>
            </a:r>
            <a:r>
              <a:rPr lang="en-US" b="0" i="0" dirty="0" err="1">
                <a:solidFill>
                  <a:srgbClr val="000000"/>
                </a:solidFill>
                <a:effectLst/>
              </a:rPr>
              <a:t>hiện</a:t>
            </a:r>
            <a:r>
              <a:rPr lang="en-US" b="0" i="0" dirty="0">
                <a:solidFill>
                  <a:srgbClr val="000000"/>
                </a:solidFill>
                <a:effectLst/>
              </a:rPr>
              <a:t> </a:t>
            </a:r>
            <a:r>
              <a:rPr lang="en-US" b="0" i="0" dirty="0" err="1">
                <a:solidFill>
                  <a:srgbClr val="000000"/>
                </a:solidFill>
                <a:effectLst/>
              </a:rPr>
              <a:t>một</a:t>
            </a:r>
            <a:r>
              <a:rPr lang="en-US" b="0" i="0" dirty="0">
                <a:solidFill>
                  <a:srgbClr val="000000"/>
                </a:solidFill>
                <a:effectLst/>
              </a:rPr>
              <a:t> </a:t>
            </a:r>
            <a:r>
              <a:rPr lang="en-US" b="0" i="0" dirty="0" err="1">
                <a:solidFill>
                  <a:srgbClr val="000000"/>
                </a:solidFill>
                <a:effectLst/>
              </a:rPr>
              <a:t>phép</a:t>
            </a:r>
            <a:r>
              <a:rPr lang="en-US" b="0" i="0" dirty="0">
                <a:solidFill>
                  <a:srgbClr val="000000"/>
                </a:solidFill>
                <a:effectLst/>
              </a:rPr>
              <a:t> </a:t>
            </a:r>
            <a:r>
              <a:rPr lang="en-US" b="0" i="0" dirty="0" err="1">
                <a:solidFill>
                  <a:srgbClr val="000000"/>
                </a:solidFill>
                <a:effectLst/>
              </a:rPr>
              <a:t>toán</a:t>
            </a:r>
            <a:r>
              <a:rPr lang="en-US" b="0" i="0" dirty="0">
                <a:solidFill>
                  <a:srgbClr val="000000"/>
                </a:solidFill>
                <a:effectLst/>
              </a:rPr>
              <a:t> </a:t>
            </a:r>
            <a:r>
              <a:rPr lang="en-US" b="0" i="0" dirty="0" err="1">
                <a:solidFill>
                  <a:srgbClr val="000000"/>
                </a:solidFill>
                <a:effectLst/>
              </a:rPr>
              <a:t>luận</a:t>
            </a:r>
            <a:r>
              <a:rPr lang="en-US" b="0" i="0" dirty="0">
                <a:solidFill>
                  <a:srgbClr val="000000"/>
                </a:solidFill>
                <a:effectLst/>
              </a:rPr>
              <a:t> </a:t>
            </a:r>
            <a:r>
              <a:rPr lang="en-US" b="0" i="0" dirty="0" err="1">
                <a:solidFill>
                  <a:srgbClr val="000000"/>
                </a:solidFill>
                <a:effectLst/>
              </a:rPr>
              <a:t>lý</a:t>
            </a:r>
            <a:endParaRPr lang="en-US" b="0" i="0" dirty="0">
              <a:solidFill>
                <a:srgbClr val="000000"/>
              </a:solidFill>
              <a:effectLst/>
            </a:endParaRPr>
          </a:p>
          <a:p>
            <a:pPr lvl="1"/>
            <a:r>
              <a:rPr lang="en-US" dirty="0" err="1">
                <a:solidFill>
                  <a:srgbClr val="000000"/>
                </a:solidFill>
              </a:rPr>
              <a:t>Cấu</a:t>
            </a:r>
            <a:r>
              <a:rPr lang="en-US" dirty="0">
                <a:solidFill>
                  <a:srgbClr val="000000"/>
                </a:solidFill>
              </a:rPr>
              <a:t> </a:t>
            </a:r>
            <a:r>
              <a:rPr lang="en-US" dirty="0" err="1">
                <a:solidFill>
                  <a:srgbClr val="000000"/>
                </a:solidFill>
              </a:rPr>
              <a:t>tạo</a:t>
            </a:r>
            <a:r>
              <a:rPr lang="en-US" dirty="0">
                <a:solidFill>
                  <a:srgbClr val="000000"/>
                </a:solidFill>
              </a:rPr>
              <a:t>:</a:t>
            </a:r>
            <a:r>
              <a:rPr lang="en-US" b="0" i="0" dirty="0">
                <a:solidFill>
                  <a:srgbClr val="000000"/>
                </a:solidFill>
                <a:effectLst/>
              </a:rPr>
              <a:t> </a:t>
            </a:r>
            <a:r>
              <a:rPr lang="en-US" b="0" i="0" dirty="0" err="1">
                <a:solidFill>
                  <a:srgbClr val="000000"/>
                </a:solidFill>
                <a:effectLst/>
              </a:rPr>
              <a:t>Có</a:t>
            </a:r>
            <a:r>
              <a:rPr lang="en-US" b="0" i="0" dirty="0">
                <a:solidFill>
                  <a:srgbClr val="000000"/>
                </a:solidFill>
                <a:effectLst/>
              </a:rPr>
              <a:t> </a:t>
            </a:r>
            <a:r>
              <a:rPr lang="en-US" b="0" i="0" dirty="0" err="1">
                <a:solidFill>
                  <a:srgbClr val="FF0000"/>
                </a:solidFill>
                <a:effectLst/>
              </a:rPr>
              <a:t>ít</a:t>
            </a:r>
            <a:r>
              <a:rPr lang="en-US" b="0" i="0" dirty="0">
                <a:solidFill>
                  <a:srgbClr val="FF0000"/>
                </a:solidFill>
                <a:effectLst/>
              </a:rPr>
              <a:t> </a:t>
            </a:r>
            <a:r>
              <a:rPr lang="en-US" b="0" i="0" dirty="0" err="1">
                <a:solidFill>
                  <a:srgbClr val="FF0000"/>
                </a:solidFill>
                <a:effectLst/>
              </a:rPr>
              <a:t>nhất</a:t>
            </a:r>
            <a:r>
              <a:rPr lang="en-US" b="0" i="0" dirty="0">
                <a:solidFill>
                  <a:srgbClr val="FF0000"/>
                </a:solidFill>
                <a:effectLst/>
              </a:rPr>
              <a:t> 1 </a:t>
            </a:r>
            <a:r>
              <a:rPr lang="en-US" b="0" i="0" dirty="0" err="1">
                <a:solidFill>
                  <a:srgbClr val="FF0000"/>
                </a:solidFill>
                <a:effectLst/>
              </a:rPr>
              <a:t>ngõ</a:t>
            </a:r>
            <a:r>
              <a:rPr lang="en-US" b="0" i="0" dirty="0">
                <a:solidFill>
                  <a:srgbClr val="FF0000"/>
                </a:solidFill>
                <a:effectLst/>
              </a:rPr>
              <a:t> </a:t>
            </a:r>
            <a:r>
              <a:rPr lang="en-US" b="0" i="0" dirty="0" err="1">
                <a:solidFill>
                  <a:srgbClr val="FF0000"/>
                </a:solidFill>
                <a:effectLst/>
              </a:rPr>
              <a:t>vào</a:t>
            </a:r>
            <a:r>
              <a:rPr lang="en-US" b="0" i="0" dirty="0">
                <a:solidFill>
                  <a:srgbClr val="000000"/>
                </a:solidFill>
                <a:effectLst/>
              </a:rPr>
              <a:t> </a:t>
            </a:r>
            <a:r>
              <a:rPr lang="en-US" b="0" i="0" dirty="0" err="1">
                <a:solidFill>
                  <a:srgbClr val="000000"/>
                </a:solidFill>
                <a:effectLst/>
              </a:rPr>
              <a:t>và</a:t>
            </a:r>
            <a:r>
              <a:rPr lang="en-US" b="0" i="0" dirty="0">
                <a:solidFill>
                  <a:srgbClr val="000000"/>
                </a:solidFill>
                <a:effectLst/>
              </a:rPr>
              <a:t> </a:t>
            </a:r>
            <a:r>
              <a:rPr lang="en-US" b="0" i="0" dirty="0" err="1">
                <a:solidFill>
                  <a:srgbClr val="000000"/>
                </a:solidFill>
                <a:effectLst/>
              </a:rPr>
              <a:t>có</a:t>
            </a:r>
            <a:r>
              <a:rPr lang="en-US" b="0" i="0" dirty="0">
                <a:solidFill>
                  <a:srgbClr val="000000"/>
                </a:solidFill>
                <a:effectLst/>
              </a:rPr>
              <a:t> </a:t>
            </a:r>
            <a:r>
              <a:rPr lang="en-US" b="0" i="0" dirty="0" err="1">
                <a:solidFill>
                  <a:srgbClr val="FF0000"/>
                </a:solidFill>
                <a:effectLst/>
              </a:rPr>
              <a:t>duy</a:t>
            </a:r>
            <a:r>
              <a:rPr lang="en-US" b="0" i="0" dirty="0">
                <a:solidFill>
                  <a:srgbClr val="FF0000"/>
                </a:solidFill>
                <a:effectLst/>
              </a:rPr>
              <a:t> </a:t>
            </a:r>
            <a:r>
              <a:rPr lang="en-US" b="0" i="0" dirty="0" err="1">
                <a:solidFill>
                  <a:srgbClr val="FF0000"/>
                </a:solidFill>
                <a:effectLst/>
              </a:rPr>
              <a:t>nhất</a:t>
            </a:r>
            <a:r>
              <a:rPr lang="en-US" b="0" i="0" dirty="0">
                <a:solidFill>
                  <a:srgbClr val="FF0000"/>
                </a:solidFill>
                <a:effectLst/>
              </a:rPr>
              <a:t> 1 </a:t>
            </a:r>
            <a:r>
              <a:rPr lang="en-US" b="0" i="0" dirty="0" err="1">
                <a:solidFill>
                  <a:srgbClr val="FF0000"/>
                </a:solidFill>
                <a:effectLst/>
              </a:rPr>
              <a:t>ngõ</a:t>
            </a:r>
            <a:r>
              <a:rPr lang="en-US" b="0" i="0" dirty="0">
                <a:solidFill>
                  <a:srgbClr val="FF0000"/>
                </a:solidFill>
                <a:effectLst/>
              </a:rPr>
              <a:t> </a:t>
            </a:r>
            <a:r>
              <a:rPr lang="en-US" b="0" i="0" dirty="0" err="1">
                <a:solidFill>
                  <a:srgbClr val="FF0000"/>
                </a:solidFill>
                <a:effectLst/>
              </a:rPr>
              <a:t>ra</a:t>
            </a:r>
            <a:endParaRPr lang="en-US" dirty="0">
              <a:solidFill>
                <a:srgbClr val="FF0000"/>
              </a:solidFill>
            </a:endParaRPr>
          </a:p>
          <a:p>
            <a:endParaRPr lang="vi-VN"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15</a:t>
            </a:fld>
            <a:endParaRPr lang="en-VN" dirty="0"/>
          </a:p>
        </p:txBody>
      </p:sp>
      <p:pic>
        <p:nvPicPr>
          <p:cNvPr id="6" name="Picture 5">
            <a:extLst>
              <a:ext uri="{FF2B5EF4-FFF2-40B4-BE49-F238E27FC236}">
                <a16:creationId xmlns:a16="http://schemas.microsoft.com/office/drawing/2014/main" id="{66FF6D57-6E00-4183-746A-FCC30F26C4D7}"/>
              </a:ext>
            </a:extLst>
          </p:cNvPr>
          <p:cNvPicPr>
            <a:picLocks noChangeAspect="1"/>
          </p:cNvPicPr>
          <p:nvPr/>
        </p:nvPicPr>
        <p:blipFill>
          <a:blip r:embed="rId2"/>
          <a:stretch>
            <a:fillRect/>
          </a:stretch>
        </p:blipFill>
        <p:spPr>
          <a:xfrm>
            <a:off x="1853352" y="2719761"/>
            <a:ext cx="4168080" cy="2716042"/>
          </a:xfrm>
          <a:prstGeom prst="rect">
            <a:avLst/>
          </a:prstGeom>
        </p:spPr>
      </p:pic>
      <p:pic>
        <p:nvPicPr>
          <p:cNvPr id="7" name="Picture 6">
            <a:extLst>
              <a:ext uri="{FF2B5EF4-FFF2-40B4-BE49-F238E27FC236}">
                <a16:creationId xmlns:a16="http://schemas.microsoft.com/office/drawing/2014/main" id="{D5DCAB67-7E1F-A46F-3B0A-F3425D97304F}"/>
              </a:ext>
            </a:extLst>
          </p:cNvPr>
          <p:cNvPicPr>
            <a:picLocks noChangeAspect="1"/>
          </p:cNvPicPr>
          <p:nvPr/>
        </p:nvPicPr>
        <p:blipFill rotWithShape="1">
          <a:blip r:embed="rId3"/>
          <a:srcRect/>
          <a:stretch/>
        </p:blipFill>
        <p:spPr>
          <a:xfrm>
            <a:off x="1853352" y="5386762"/>
            <a:ext cx="4168080" cy="773027"/>
          </a:xfrm>
          <a:prstGeom prst="rect">
            <a:avLst/>
          </a:prstGeom>
        </p:spPr>
      </p:pic>
      <p:pic>
        <p:nvPicPr>
          <p:cNvPr id="8" name="Picture 7">
            <a:extLst>
              <a:ext uri="{FF2B5EF4-FFF2-40B4-BE49-F238E27FC236}">
                <a16:creationId xmlns:a16="http://schemas.microsoft.com/office/drawing/2014/main" id="{911A371E-F8AF-6AA7-FDC1-944D7E294AAF}"/>
              </a:ext>
            </a:extLst>
          </p:cNvPr>
          <p:cNvPicPr>
            <a:picLocks noChangeAspect="1"/>
          </p:cNvPicPr>
          <p:nvPr/>
        </p:nvPicPr>
        <p:blipFill>
          <a:blip r:embed="rId4"/>
          <a:stretch>
            <a:fillRect/>
          </a:stretch>
        </p:blipFill>
        <p:spPr>
          <a:xfrm>
            <a:off x="6096000" y="2719761"/>
            <a:ext cx="4323744" cy="3428970"/>
          </a:xfrm>
          <a:prstGeom prst="rect">
            <a:avLst/>
          </a:prstGeom>
        </p:spPr>
      </p:pic>
    </p:spTree>
    <p:extLst>
      <p:ext uri="{BB962C8B-B14F-4D97-AF65-F5344CB8AC3E}">
        <p14:creationId xmlns:p14="http://schemas.microsoft.com/office/powerpoint/2010/main" val="2384781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err="1"/>
              <a:t>Cổng</a:t>
            </a:r>
            <a:r>
              <a:rPr lang="en-US"/>
              <a:t> luận lý </a:t>
            </a:r>
            <a:r>
              <a:rPr lang="en-US" dirty="0"/>
              <a:t>AND</a:t>
            </a:r>
          </a:p>
        </p:txBody>
      </p:sp>
      <p:sp>
        <p:nvSpPr>
          <p:cNvPr id="3" name="Content Placeholder 2"/>
          <p:cNvSpPr>
            <a:spLocks noGrp="1"/>
          </p:cNvSpPr>
          <p:nvPr>
            <p:ph idx="1"/>
          </p:nvPr>
        </p:nvSpPr>
        <p:spPr/>
        <p:txBody>
          <a:bodyPr/>
          <a:lstStyle/>
          <a:p>
            <a:r>
              <a:rPr lang="en-US" b="1" err="1"/>
              <a:t>Cổng</a:t>
            </a:r>
            <a:r>
              <a:rPr lang="en-US" b="1"/>
              <a:t> luận lý </a:t>
            </a:r>
            <a:r>
              <a:rPr lang="en-US" b="1" dirty="0"/>
              <a:t>AND</a:t>
            </a:r>
            <a:r>
              <a:rPr lang="en-US" dirty="0"/>
              <a:t> </a:t>
            </a:r>
            <a:r>
              <a:rPr lang="en-US" dirty="0" err="1"/>
              <a:t>thực</a:t>
            </a:r>
            <a:r>
              <a:rPr lang="en-US" dirty="0"/>
              <a:t> </a:t>
            </a:r>
            <a:r>
              <a:rPr lang="en-US" dirty="0" err="1"/>
              <a:t>hiện</a:t>
            </a:r>
            <a:r>
              <a:rPr lang="en-US" dirty="0"/>
              <a:t> </a:t>
            </a:r>
            <a:r>
              <a:rPr lang="en-US" dirty="0" err="1"/>
              <a:t>tương</a:t>
            </a:r>
            <a:r>
              <a:rPr lang="en-US" dirty="0"/>
              <a:t> </a:t>
            </a:r>
            <a:r>
              <a:rPr lang="en-US" dirty="0" err="1"/>
              <a:t>tự</a:t>
            </a:r>
            <a:r>
              <a:rPr lang="en-US" dirty="0"/>
              <a:t> </a:t>
            </a:r>
            <a:r>
              <a:rPr lang="en-US" dirty="0" err="1"/>
              <a:t>như</a:t>
            </a:r>
            <a:r>
              <a:rPr lang="en-US" dirty="0"/>
              <a:t> </a:t>
            </a:r>
            <a:r>
              <a:rPr lang="en-US" dirty="0" err="1"/>
              <a:t>phép</a:t>
            </a:r>
            <a:r>
              <a:rPr lang="en-US" dirty="0"/>
              <a:t> </a:t>
            </a:r>
            <a:r>
              <a:rPr lang="en-US" dirty="0" err="1"/>
              <a:t>nhân</a:t>
            </a:r>
            <a:r>
              <a:rPr lang="en-US" dirty="0"/>
              <a:t>:</a:t>
            </a:r>
          </a:p>
          <a:p>
            <a:pPr marL="457200" lvl="1" indent="0" algn="ctr">
              <a:buNone/>
            </a:pPr>
            <a:r>
              <a:rPr lang="en-US" dirty="0"/>
              <a:t>X = A </a:t>
            </a:r>
            <a:r>
              <a:rPr lang="en-US" dirty="0">
                <a:sym typeface="Symbol"/>
              </a:rPr>
              <a:t></a:t>
            </a:r>
            <a:r>
              <a:rPr lang="en-US" dirty="0"/>
              <a:t> B </a:t>
            </a:r>
            <a:r>
              <a:rPr lang="en-US" i="1" dirty="0">
                <a:ea typeface="ＭＳ Ｐゴシック" pitchFamily="34" charset="-128"/>
              </a:rPr>
              <a:t>—  </a:t>
            </a:r>
            <a:r>
              <a:rPr lang="en-US" dirty="0" err="1">
                <a:ea typeface="ＭＳ Ｐゴシック" pitchFamily="34" charset="-128"/>
              </a:rPr>
              <a:t>Đọc</a:t>
            </a:r>
            <a:r>
              <a:rPr lang="en-US" dirty="0">
                <a:ea typeface="ＭＳ Ｐゴシック" pitchFamily="34" charset="-128"/>
              </a:rPr>
              <a:t> </a:t>
            </a:r>
            <a:r>
              <a:rPr lang="en-US" dirty="0" err="1">
                <a:ea typeface="ＭＳ Ｐゴシック" pitchFamily="34" charset="-128"/>
              </a:rPr>
              <a:t>là</a:t>
            </a:r>
            <a:r>
              <a:rPr lang="en-US" dirty="0">
                <a:ea typeface="ＭＳ Ｐゴシック" pitchFamily="34" charset="-128"/>
              </a:rPr>
              <a:t> “</a:t>
            </a:r>
            <a:r>
              <a:rPr lang="en-US" i="1" dirty="0">
                <a:ea typeface="ＭＳ Ｐゴシック" pitchFamily="34" charset="-128"/>
              </a:rPr>
              <a:t>X</a:t>
            </a:r>
            <a:r>
              <a:rPr lang="en-US" dirty="0">
                <a:ea typeface="ＭＳ Ｐゴシック" pitchFamily="34" charset="-128"/>
              </a:rPr>
              <a:t> </a:t>
            </a:r>
            <a:r>
              <a:rPr lang="en-US" dirty="0" err="1">
                <a:ea typeface="ＭＳ Ｐゴシック" pitchFamily="34" charset="-128"/>
              </a:rPr>
              <a:t>bằng</a:t>
            </a:r>
            <a:r>
              <a:rPr lang="en-US" dirty="0">
                <a:ea typeface="ＭＳ Ｐゴシック" pitchFamily="34" charset="-128"/>
              </a:rPr>
              <a:t> </a:t>
            </a:r>
            <a:r>
              <a:rPr lang="en-US" i="1" dirty="0">
                <a:ea typeface="ＭＳ Ｐゴシック" pitchFamily="34" charset="-128"/>
              </a:rPr>
              <a:t>A</a:t>
            </a:r>
            <a:r>
              <a:rPr lang="en-US" dirty="0">
                <a:ea typeface="ＭＳ Ｐゴシック" pitchFamily="34" charset="-128"/>
              </a:rPr>
              <a:t> AND </a:t>
            </a:r>
            <a:r>
              <a:rPr lang="en-US" i="1" dirty="0">
                <a:ea typeface="ＭＳ Ｐゴシック" pitchFamily="34" charset="-128"/>
              </a:rPr>
              <a:t>B</a:t>
            </a:r>
            <a:r>
              <a:rPr lang="en-US" dirty="0">
                <a:ea typeface="ＭＳ Ｐゴシック" pitchFamily="34" charset="-128"/>
              </a:rPr>
              <a:t>”</a:t>
            </a:r>
            <a:endParaRPr lang="en-US" dirty="0"/>
          </a:p>
          <a:p>
            <a:pPr lvl="1"/>
            <a:endParaRPr lang="en-US" dirty="0"/>
          </a:p>
          <a:p>
            <a:pPr marL="400050"/>
            <a:endParaRPr lang="en-US" sz="900" dirty="0"/>
          </a:p>
          <a:p>
            <a:r>
              <a:rPr lang="en-US" dirty="0" err="1">
                <a:ea typeface="ＭＳ Ｐゴシック" pitchFamily="34" charset="-128"/>
              </a:rPr>
              <a:t>Bảng</a:t>
            </a:r>
            <a:r>
              <a:rPr lang="en-US" dirty="0">
                <a:ea typeface="ＭＳ Ｐゴシック" pitchFamily="34" charset="-128"/>
              </a:rPr>
              <a:t> </a:t>
            </a:r>
            <a:r>
              <a:rPr lang="en-US" dirty="0" err="1">
                <a:ea typeface="ＭＳ Ｐゴシック" pitchFamily="34" charset="-128"/>
              </a:rPr>
              <a:t>sự</a:t>
            </a:r>
            <a:r>
              <a:rPr lang="en-US" dirty="0">
                <a:ea typeface="ＭＳ Ｐゴシック" pitchFamily="34" charset="-128"/>
              </a:rPr>
              <a:t> </a:t>
            </a:r>
            <a:r>
              <a:rPr lang="en-US" dirty="0" err="1">
                <a:ea typeface="ＭＳ Ｐゴシック" pitchFamily="34" charset="-128"/>
              </a:rPr>
              <a:t>thật</a:t>
            </a:r>
            <a:r>
              <a:rPr lang="en-US" dirty="0">
                <a:ea typeface="ＭＳ Ｐゴシック" pitchFamily="34" charset="-128"/>
              </a:rPr>
              <a:t> </a:t>
            </a:r>
            <a:r>
              <a:rPr lang="en-US" err="1">
                <a:ea typeface="ＭＳ Ｐゴシック" pitchFamily="34" charset="-128"/>
              </a:rPr>
              <a:t>và</a:t>
            </a:r>
            <a:r>
              <a:rPr lang="en-US">
                <a:ea typeface="ＭＳ Ｐゴシック" pitchFamily="34" charset="-128"/>
              </a:rPr>
              <a:t> ký hiệu mạch cổng AND </a:t>
            </a:r>
            <a:r>
              <a:rPr lang="en-US" dirty="0" err="1">
                <a:ea typeface="ＭＳ Ｐゴシック" pitchFamily="34" charset="-128"/>
              </a:rPr>
              <a:t>có</a:t>
            </a:r>
            <a:r>
              <a:rPr lang="en-US" dirty="0">
                <a:ea typeface="ＭＳ Ｐゴシック" pitchFamily="34" charset="-128"/>
              </a:rPr>
              <a:t> 2 inputs</a:t>
            </a:r>
            <a:r>
              <a:rPr lang="en-US" dirty="0"/>
              <a:t>:</a:t>
            </a:r>
          </a:p>
        </p:txBody>
      </p:sp>
      <p:sp>
        <p:nvSpPr>
          <p:cNvPr id="10" name="Slide Number Placeholder 9"/>
          <p:cNvSpPr>
            <a:spLocks noGrp="1"/>
          </p:cNvSpPr>
          <p:nvPr>
            <p:ph type="sldNum" sz="quarter" idx="12"/>
          </p:nvPr>
        </p:nvSpPr>
        <p:spPr/>
        <p:txBody>
          <a:bodyPr/>
          <a:lstStyle/>
          <a:p>
            <a:fld id="{800C8475-47C1-49C9-BEE5-594F8CF4D71F}" type="slidenum">
              <a:rPr kumimoji="1" lang="ja-JP" altLang="en-US" smtClean="0"/>
              <a:pPr/>
              <a:t>16</a:t>
            </a:fld>
            <a:endParaRPr kumimoji="1" lang="ja-JP" altLang="en-US" dirty="0"/>
          </a:p>
        </p:txBody>
      </p:sp>
      <p:pic>
        <p:nvPicPr>
          <p:cNvPr id="7" name="Picture 29" descr="fg03_00000_AAGTNLC0"/>
          <p:cNvPicPr>
            <a:picLocks noChangeAspect="1" noChangeArrowheads="1"/>
          </p:cNvPicPr>
          <p:nvPr>
            <p:custDataLst>
              <p:tags r:id="rId1"/>
            </p:custDataLst>
          </p:nvPr>
        </p:nvPicPr>
        <p:blipFill>
          <a:blip r:embed="rId3" cstate="print"/>
          <a:srcRect/>
          <a:stretch>
            <a:fillRect/>
          </a:stretch>
        </p:blipFill>
        <p:spPr bwMode="auto">
          <a:xfrm>
            <a:off x="3171825" y="4070304"/>
            <a:ext cx="6326188" cy="2412392"/>
          </a:xfrm>
          <a:prstGeom prst="rect">
            <a:avLst/>
          </a:prstGeom>
          <a:noFill/>
          <a:ln w="9525">
            <a:noFill/>
            <a:miter lim="800000"/>
            <a:headEnd/>
            <a:tailEnd/>
          </a:ln>
          <a:effectLst/>
        </p:spPr>
      </p:pic>
      <p:sp>
        <p:nvSpPr>
          <p:cNvPr id="12" name="Rectangle 22"/>
          <p:cNvSpPr>
            <a:spLocks noChangeArrowheads="1"/>
          </p:cNvSpPr>
          <p:nvPr/>
        </p:nvSpPr>
        <p:spPr bwMode="auto">
          <a:xfrm>
            <a:off x="2776648" y="2376106"/>
            <a:ext cx="6721365" cy="776998"/>
          </a:xfrm>
          <a:prstGeom prst="rect">
            <a:avLst/>
          </a:prstGeom>
          <a:solidFill>
            <a:srgbClr val="92D050"/>
          </a:solidFill>
          <a:ln w="9525">
            <a:solidFill>
              <a:schemeClr val="tx1"/>
            </a:solidFill>
            <a:miter lim="800000"/>
            <a:headEnd/>
            <a:tailEnd/>
          </a:ln>
        </p:spPr>
        <p:txBody>
          <a:bodyPr/>
          <a:lstStyle/>
          <a:p>
            <a:pPr algn="ctr">
              <a:spcBef>
                <a:spcPct val="30000"/>
              </a:spcBef>
            </a:pPr>
            <a:r>
              <a:rPr lang="en-US" sz="2000" dirty="0" err="1">
                <a:latin typeface="Arial" panose="020B0604020202020204" pitchFamily="34" charset="0"/>
                <a:ea typeface="ＭＳ Ｐゴシック" pitchFamily="34" charset="-128"/>
                <a:cs typeface="Arial" panose="020B0604020202020204" pitchFamily="34" charset="0"/>
              </a:rPr>
              <a:t>Dấu</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a:latin typeface="Arial" panose="020B0604020202020204" pitchFamily="34" charset="0"/>
                <a:cs typeface="Arial" panose="020B0604020202020204" pitchFamily="34" charset="0"/>
                <a:sym typeface="Symbol"/>
              </a:rPr>
              <a:t></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không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có</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nghĩa</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là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phép</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nhân</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thông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thường</a:t>
            </a:r>
            <a:r>
              <a:rPr lang="en-US" sz="2000" dirty="0">
                <a:latin typeface="Arial" panose="020B0604020202020204" pitchFamily="34" charset="0"/>
                <a:ea typeface="ＭＳ Ｐゴシック" pitchFamily="34" charset="-128"/>
                <a:cs typeface="Arial" panose="020B0604020202020204" pitchFamily="34" charset="0"/>
              </a:rPr>
              <a:t> , </a:t>
            </a:r>
            <a:r>
              <a:rPr lang="en-US" sz="2000" dirty="0" err="1">
                <a:latin typeface="Arial" panose="020B0604020202020204" pitchFamily="34" charset="0"/>
                <a:ea typeface="ＭＳ Ｐゴシック" pitchFamily="34" charset="-128"/>
                <a:cs typeface="Arial" panose="020B0604020202020204" pitchFamily="34" charset="0"/>
              </a:rPr>
              <a:t>mà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là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ký</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hiệu</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cho</a:t>
            </a:r>
            <a:r>
              <a:rPr lang="en-US" sz="2000" dirty="0">
                <a:latin typeface="Arial" panose="020B0604020202020204" pitchFamily="34" charset="0"/>
                <a:ea typeface="ＭＳ Ｐゴシック" pitchFamily="34" charset="-128"/>
                <a:cs typeface="Arial" panose="020B0604020202020204" pitchFamily="34" charset="0"/>
              </a:rPr>
              <a:t> </a:t>
            </a:r>
            <a:r>
              <a:rPr lang="en-US" sz="2000" err="1">
                <a:latin typeface="Arial" panose="020B0604020202020204" pitchFamily="34" charset="0"/>
                <a:ea typeface="ＭＳ Ｐゴシック" pitchFamily="34" charset="-128"/>
                <a:cs typeface="Arial" panose="020B0604020202020204" pitchFamily="34" charset="0"/>
              </a:rPr>
              <a:t>cổng</a:t>
            </a:r>
            <a:r>
              <a:rPr lang="en-US" sz="2000">
                <a:latin typeface="Arial" panose="020B0604020202020204" pitchFamily="34" charset="0"/>
                <a:ea typeface="ＭＳ Ｐゴシック" pitchFamily="34" charset="-128"/>
                <a:cs typeface="Arial" panose="020B0604020202020204" pitchFamily="34" charset="0"/>
              </a:rPr>
              <a:t> luận lý AND</a:t>
            </a:r>
            <a:r>
              <a:rPr lang="en-US" sz="2000">
                <a:latin typeface="Times New Roman" pitchFamily="18" charset="0"/>
                <a:ea typeface="ＭＳ Ｐゴシック" pitchFamily="34" charset="-128"/>
                <a:cs typeface="Times New Roman" pitchFamily="18" charset="0"/>
              </a:rPr>
              <a:t>.</a:t>
            </a:r>
            <a:endParaRPr lang="en-US" sz="2000" dirty="0">
              <a:latin typeface="Times New Roman" pitchFamily="18" charset="0"/>
              <a:ea typeface="ＭＳ Ｐゴシック" pitchFamily="34" charset="-128"/>
              <a:cs typeface="Times New Roman" pitchFamily="18" charset="0"/>
            </a:endParaRPr>
          </a:p>
        </p:txBody>
      </p:sp>
      <p:sp>
        <p:nvSpPr>
          <p:cNvPr id="2" name="Footer Placeholder 4">
            <a:extLst>
              <a:ext uri="{FF2B5EF4-FFF2-40B4-BE49-F238E27FC236}">
                <a16:creationId xmlns:a16="http://schemas.microsoft.com/office/drawing/2014/main" id="{5393F79C-08DB-1896-0ABD-8D9BC7EAFF55}"/>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94189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err="1"/>
              <a:t>Cổng</a:t>
            </a:r>
            <a:r>
              <a:rPr lang="en-US"/>
              <a:t> luận lý </a:t>
            </a:r>
            <a:r>
              <a:rPr lang="en-US" dirty="0"/>
              <a:t>OR</a:t>
            </a:r>
          </a:p>
        </p:txBody>
      </p:sp>
      <p:sp>
        <p:nvSpPr>
          <p:cNvPr id="3" name="Content Placeholder 2"/>
          <p:cNvSpPr>
            <a:spLocks noGrp="1"/>
          </p:cNvSpPr>
          <p:nvPr>
            <p:ph idx="1"/>
          </p:nvPr>
        </p:nvSpPr>
        <p:spPr/>
        <p:txBody>
          <a:bodyPr/>
          <a:lstStyle/>
          <a:p>
            <a:r>
              <a:rPr lang="en-US" dirty="0" err="1"/>
              <a:t>Biểu</a:t>
            </a:r>
            <a:r>
              <a:rPr lang="en-US" dirty="0"/>
              <a:t> </a:t>
            </a:r>
            <a:r>
              <a:rPr lang="en-US" err="1"/>
              <a:t>thức</a:t>
            </a:r>
            <a:r>
              <a:rPr lang="en-US"/>
              <a:t> Boole </a:t>
            </a:r>
            <a:r>
              <a:rPr lang="en-US" dirty="0" err="1"/>
              <a:t>cho</a:t>
            </a:r>
            <a:r>
              <a:rPr lang="en-US" dirty="0"/>
              <a:t> </a:t>
            </a:r>
            <a:r>
              <a:rPr lang="en-US" dirty="0" err="1"/>
              <a:t>cổng</a:t>
            </a:r>
            <a:r>
              <a:rPr lang="en-US" dirty="0"/>
              <a:t> logic </a:t>
            </a:r>
            <a:r>
              <a:rPr lang="en-US" b="1" dirty="0"/>
              <a:t>OR</a:t>
            </a:r>
            <a:r>
              <a:rPr lang="en-US" dirty="0"/>
              <a:t>:</a:t>
            </a:r>
          </a:p>
          <a:p>
            <a:pPr marL="457200" lvl="1" indent="0" algn="ctr">
              <a:buNone/>
            </a:pPr>
            <a:r>
              <a:rPr lang="en-US" dirty="0"/>
              <a:t>X = A + B </a:t>
            </a:r>
            <a:r>
              <a:rPr lang="en-US" i="1" dirty="0">
                <a:ea typeface="ＭＳ Ｐゴシック" pitchFamily="34" charset="-128"/>
              </a:rPr>
              <a:t>—  </a:t>
            </a:r>
            <a:r>
              <a:rPr lang="en-US" dirty="0" err="1">
                <a:ea typeface="ＭＳ Ｐゴシック" pitchFamily="34" charset="-128"/>
              </a:rPr>
              <a:t>Đọc</a:t>
            </a:r>
            <a:r>
              <a:rPr lang="en-US" dirty="0">
                <a:ea typeface="ＭＳ Ｐゴシック" pitchFamily="34" charset="-128"/>
              </a:rPr>
              <a:t> </a:t>
            </a:r>
            <a:r>
              <a:rPr lang="en-US" dirty="0" err="1">
                <a:ea typeface="ＭＳ Ｐゴシック" pitchFamily="34" charset="-128"/>
              </a:rPr>
              <a:t>là</a:t>
            </a:r>
            <a:r>
              <a:rPr lang="en-US" dirty="0">
                <a:ea typeface="ＭＳ Ｐゴシック" pitchFamily="34" charset="-128"/>
              </a:rPr>
              <a:t> “</a:t>
            </a:r>
            <a:r>
              <a:rPr lang="en-US" i="1" dirty="0">
                <a:ea typeface="ＭＳ Ｐゴシック" pitchFamily="34" charset="-128"/>
              </a:rPr>
              <a:t>X</a:t>
            </a:r>
            <a:r>
              <a:rPr lang="en-US" dirty="0">
                <a:ea typeface="ＭＳ Ｐゴシック" pitchFamily="34" charset="-128"/>
              </a:rPr>
              <a:t> </a:t>
            </a:r>
            <a:r>
              <a:rPr lang="en-US" dirty="0" err="1">
                <a:ea typeface="ＭＳ Ｐゴシック" pitchFamily="34" charset="-128"/>
              </a:rPr>
              <a:t>bằng</a:t>
            </a:r>
            <a:r>
              <a:rPr lang="en-US" dirty="0">
                <a:ea typeface="ＭＳ Ｐゴシック" pitchFamily="34" charset="-128"/>
              </a:rPr>
              <a:t> </a:t>
            </a:r>
            <a:r>
              <a:rPr lang="en-US" i="1" dirty="0">
                <a:ea typeface="ＭＳ Ｐゴシック" pitchFamily="34" charset="-128"/>
              </a:rPr>
              <a:t>A</a:t>
            </a:r>
            <a:r>
              <a:rPr lang="en-US" dirty="0">
                <a:ea typeface="ＭＳ Ｐゴシック" pitchFamily="34" charset="-128"/>
              </a:rPr>
              <a:t> OR </a:t>
            </a:r>
            <a:r>
              <a:rPr lang="en-US" i="1" dirty="0">
                <a:ea typeface="ＭＳ Ｐゴシック" pitchFamily="34" charset="-128"/>
              </a:rPr>
              <a:t>B</a:t>
            </a:r>
            <a:r>
              <a:rPr lang="en-US" dirty="0">
                <a:ea typeface="ＭＳ Ｐゴシック" pitchFamily="34" charset="-128"/>
              </a:rPr>
              <a:t>”</a:t>
            </a:r>
            <a:endParaRPr lang="en-US" dirty="0"/>
          </a:p>
          <a:p>
            <a:pPr lvl="1"/>
            <a:endParaRPr lang="en-US" dirty="0"/>
          </a:p>
          <a:p>
            <a:endParaRPr lang="en-US" sz="1000" dirty="0"/>
          </a:p>
          <a:p>
            <a:r>
              <a:rPr lang="en-US" dirty="0" err="1">
                <a:ea typeface="ＭＳ Ｐゴシック" pitchFamily="34" charset="-128"/>
              </a:rPr>
              <a:t>Bảng</a:t>
            </a:r>
            <a:r>
              <a:rPr lang="en-US" dirty="0">
                <a:ea typeface="ＭＳ Ｐゴシック" pitchFamily="34" charset="-128"/>
              </a:rPr>
              <a:t> </a:t>
            </a:r>
            <a:r>
              <a:rPr lang="en-US" dirty="0" err="1">
                <a:ea typeface="ＭＳ Ｐゴシック" pitchFamily="34" charset="-128"/>
              </a:rPr>
              <a:t>sự</a:t>
            </a:r>
            <a:r>
              <a:rPr lang="en-US" dirty="0">
                <a:ea typeface="ＭＳ Ｐゴシック" pitchFamily="34" charset="-128"/>
              </a:rPr>
              <a:t> </a:t>
            </a:r>
            <a:r>
              <a:rPr lang="en-US" dirty="0" err="1">
                <a:ea typeface="ＭＳ Ｐゴシック" pitchFamily="34" charset="-128"/>
              </a:rPr>
              <a:t>thật</a:t>
            </a:r>
            <a:r>
              <a:rPr lang="en-US" dirty="0">
                <a:ea typeface="ＭＳ Ｐゴシック" pitchFamily="34" charset="-128"/>
              </a:rPr>
              <a:t> </a:t>
            </a:r>
            <a:r>
              <a:rPr lang="en-US" dirty="0" err="1">
                <a:ea typeface="ＭＳ Ｐゴシック" pitchFamily="34" charset="-128"/>
              </a:rPr>
              <a:t>và</a:t>
            </a:r>
            <a:r>
              <a:rPr lang="en-US" dirty="0">
                <a:ea typeface="ＭＳ Ｐゴシック" pitchFamily="34" charset="-128"/>
              </a:rPr>
              <a:t> </a:t>
            </a:r>
            <a:r>
              <a:rPr lang="en-US" dirty="0" err="1">
                <a:ea typeface="ＭＳ Ｐゴシック" pitchFamily="34" charset="-128"/>
              </a:rPr>
              <a:t>ký</a:t>
            </a:r>
            <a:r>
              <a:rPr lang="en-US" dirty="0">
                <a:ea typeface="ＭＳ Ｐゴシック" pitchFamily="34" charset="-128"/>
              </a:rPr>
              <a:t> </a:t>
            </a:r>
            <a:r>
              <a:rPr lang="en-US" dirty="0" err="1">
                <a:ea typeface="ＭＳ Ｐゴシック" pitchFamily="34" charset="-128"/>
              </a:rPr>
              <a:t>hiệu</a:t>
            </a:r>
            <a:r>
              <a:rPr lang="en-US" dirty="0">
                <a:ea typeface="ＭＳ Ｐゴシック" pitchFamily="34" charset="-128"/>
              </a:rPr>
              <a:t> </a:t>
            </a:r>
            <a:r>
              <a:rPr lang="en-US" dirty="0" err="1">
                <a:ea typeface="ＭＳ Ｐゴシック" pitchFamily="34" charset="-128"/>
              </a:rPr>
              <a:t>mạch</a:t>
            </a:r>
            <a:r>
              <a:rPr lang="en-US" dirty="0">
                <a:ea typeface="ＭＳ Ｐゴシック" pitchFamily="34" charset="-128"/>
              </a:rPr>
              <a:t> </a:t>
            </a:r>
            <a:r>
              <a:rPr lang="en-US" dirty="0" err="1">
                <a:ea typeface="ＭＳ Ｐゴシック" pitchFamily="34" charset="-128"/>
              </a:rPr>
              <a:t>của</a:t>
            </a:r>
            <a:r>
              <a:rPr lang="en-US" dirty="0">
                <a:ea typeface="ＭＳ Ｐゴシック" pitchFamily="34" charset="-128"/>
              </a:rPr>
              <a:t> </a:t>
            </a:r>
            <a:r>
              <a:rPr lang="en-US" dirty="0" err="1">
                <a:ea typeface="ＭＳ Ｐゴシック" pitchFamily="34" charset="-128"/>
              </a:rPr>
              <a:t>cổng</a:t>
            </a:r>
            <a:r>
              <a:rPr lang="en-US" dirty="0">
                <a:ea typeface="ＭＳ Ｐゴシック" pitchFamily="34" charset="-128"/>
              </a:rPr>
              <a:t> OR </a:t>
            </a:r>
            <a:r>
              <a:rPr lang="en-US" dirty="0" err="1">
                <a:ea typeface="ＭＳ Ｐゴシック" pitchFamily="34" charset="-128"/>
              </a:rPr>
              <a:t>có</a:t>
            </a:r>
            <a:r>
              <a:rPr lang="en-US" dirty="0">
                <a:ea typeface="ＭＳ Ｐゴシック" pitchFamily="34" charset="-128"/>
              </a:rPr>
              <a:t> 2 inputs</a:t>
            </a:r>
            <a:r>
              <a:rPr lang="en-US" dirty="0"/>
              <a:t>:</a:t>
            </a:r>
          </a:p>
        </p:txBody>
      </p:sp>
      <p:sp>
        <p:nvSpPr>
          <p:cNvPr id="11" name="Slide Number Placeholder 10"/>
          <p:cNvSpPr>
            <a:spLocks noGrp="1"/>
          </p:cNvSpPr>
          <p:nvPr>
            <p:ph type="sldNum" sz="quarter" idx="12"/>
          </p:nvPr>
        </p:nvSpPr>
        <p:spPr/>
        <p:txBody>
          <a:bodyPr/>
          <a:lstStyle/>
          <a:p>
            <a:fld id="{800C8475-47C1-49C9-BEE5-594F8CF4D71F}" type="slidenum">
              <a:rPr kumimoji="1" lang="ja-JP" altLang="en-US" smtClean="0"/>
              <a:pPr/>
              <a:t>17</a:t>
            </a:fld>
            <a:endParaRPr kumimoji="1" lang="ja-JP" altLang="en-US" dirty="0"/>
          </a:p>
        </p:txBody>
      </p:sp>
      <p:pic>
        <p:nvPicPr>
          <p:cNvPr id="7" name="Picture 4" descr="fg03_00000_AAGTNKW0"/>
          <p:cNvPicPr>
            <a:picLocks noChangeAspect="1" noChangeArrowheads="1"/>
          </p:cNvPicPr>
          <p:nvPr>
            <p:custDataLst>
              <p:tags r:id="rId1"/>
            </p:custDataLst>
          </p:nvPr>
        </p:nvPicPr>
        <p:blipFill>
          <a:blip r:embed="rId4" cstate="print"/>
          <a:srcRect/>
          <a:stretch>
            <a:fillRect/>
          </a:stretch>
        </p:blipFill>
        <p:spPr bwMode="auto">
          <a:xfrm>
            <a:off x="3704896" y="3832395"/>
            <a:ext cx="5519099" cy="2174267"/>
          </a:xfrm>
          <a:prstGeom prst="rect">
            <a:avLst/>
          </a:prstGeom>
          <a:noFill/>
          <a:ln w="9525">
            <a:noFill/>
            <a:miter lim="800000"/>
            <a:headEnd/>
            <a:tailEnd/>
          </a:ln>
          <a:effectLst/>
        </p:spPr>
      </p:pic>
      <p:sp>
        <p:nvSpPr>
          <p:cNvPr id="9" name="Rectangle 12"/>
          <p:cNvSpPr>
            <a:spLocks noChangeArrowheads="1"/>
          </p:cNvSpPr>
          <p:nvPr/>
        </p:nvSpPr>
        <p:spPr bwMode="auto">
          <a:xfrm>
            <a:off x="1915511" y="2512669"/>
            <a:ext cx="6478118" cy="765335"/>
          </a:xfrm>
          <a:prstGeom prst="rect">
            <a:avLst/>
          </a:prstGeom>
          <a:solidFill>
            <a:srgbClr val="92D050"/>
          </a:solidFill>
          <a:ln w="9525">
            <a:solidFill>
              <a:schemeClr val="tx1"/>
            </a:solidFill>
            <a:miter lim="800000"/>
            <a:headEnd/>
            <a:tailEnd/>
          </a:ln>
        </p:spPr>
        <p:txBody>
          <a:bodyPr/>
          <a:lstStyle/>
          <a:p>
            <a:pPr algn="ctr">
              <a:spcBef>
                <a:spcPct val="30000"/>
              </a:spcBef>
            </a:pPr>
            <a:r>
              <a:rPr lang="en-US" sz="2000" dirty="0" err="1">
                <a:latin typeface="Arial" panose="020B0604020202020204" pitchFamily="34" charset="0"/>
                <a:ea typeface="ＭＳ Ｐゴシック" pitchFamily="34" charset="-128"/>
                <a:cs typeface="Arial" panose="020B0604020202020204" pitchFamily="34" charset="0"/>
              </a:rPr>
              <a:t>Dấu</a:t>
            </a:r>
            <a:r>
              <a:rPr lang="en-US" sz="2000" dirty="0">
                <a:latin typeface="Arial" panose="020B0604020202020204" pitchFamily="34" charset="0"/>
                <a:ea typeface="ＭＳ Ｐゴシック" pitchFamily="34" charset="-128"/>
                <a:cs typeface="Arial" panose="020B0604020202020204" pitchFamily="34" charset="0"/>
              </a:rPr>
              <a:t> </a:t>
            </a:r>
            <a:r>
              <a:rPr lang="en-US" sz="2000" b="1" dirty="0">
                <a:latin typeface="Arial" panose="020B0604020202020204" pitchFamily="34" charset="0"/>
                <a:ea typeface="ＭＳ Ｐゴシック" pitchFamily="34" charset="-128"/>
                <a:cs typeface="Arial" panose="020B0604020202020204" pitchFamily="34" charset="0"/>
              </a:rPr>
              <a:t>+</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không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có</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nghĩa</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là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phép</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cộng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thông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thường</a:t>
            </a:r>
            <a:r>
              <a:rPr lang="en-US" sz="2000" dirty="0">
                <a:latin typeface="Arial" panose="020B0604020202020204" pitchFamily="34" charset="0"/>
                <a:ea typeface="ＭＳ Ｐゴシック" pitchFamily="34" charset="-128"/>
                <a:cs typeface="Arial" panose="020B0604020202020204" pitchFamily="34" charset="0"/>
              </a:rPr>
              <a:t> , </a:t>
            </a:r>
            <a:r>
              <a:rPr lang="en-US" sz="2000" dirty="0" err="1">
                <a:latin typeface="Arial" panose="020B0604020202020204" pitchFamily="34" charset="0"/>
                <a:ea typeface="ＭＳ Ｐゴシック" pitchFamily="34" charset="-128"/>
                <a:cs typeface="Arial" panose="020B0604020202020204" pitchFamily="34" charset="0"/>
              </a:rPr>
              <a:t>mà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là</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ký</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hiệu</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cho</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cổng</a:t>
            </a:r>
            <a:r>
              <a:rPr lang="en-US" sz="2000" dirty="0">
                <a:latin typeface="Arial" panose="020B0604020202020204" pitchFamily="34" charset="0"/>
                <a:ea typeface="ＭＳ Ｐゴシック" pitchFamily="34" charset="-128"/>
                <a:cs typeface="Arial" panose="020B0604020202020204" pitchFamily="34" charset="0"/>
              </a:rPr>
              <a:t> logic OR</a:t>
            </a:r>
          </a:p>
        </p:txBody>
      </p:sp>
      <p:sp>
        <p:nvSpPr>
          <p:cNvPr id="2" name="Footer Placeholder 4">
            <a:extLst>
              <a:ext uri="{FF2B5EF4-FFF2-40B4-BE49-F238E27FC236}">
                <a16:creationId xmlns:a16="http://schemas.microsoft.com/office/drawing/2014/main" id="{BB2C9247-D864-6FD0-88B6-0EE4AFEA0CE1}"/>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71242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auto">
          <a:xfrm>
            <a:off x="1998023" y="3921455"/>
            <a:ext cx="8305800" cy="1324471"/>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latinLnBrk="1">
              <a:spcBef>
                <a:spcPct val="0"/>
              </a:spcBef>
              <a:spcAft>
                <a:spcPct val="0"/>
              </a:spcAft>
            </a:pPr>
            <a:endParaRPr kumimoji="1" lang="en-US" sz="2400">
              <a:latin typeface="굴림" pitchFamily="34" charset="-127"/>
              <a:ea typeface="굴림" pitchFamily="34" charset="-127"/>
            </a:endParaRPr>
          </a:p>
        </p:txBody>
      </p:sp>
      <p:sp>
        <p:nvSpPr>
          <p:cNvPr id="10" name="Rectangle 9"/>
          <p:cNvSpPr/>
          <p:nvPr/>
        </p:nvSpPr>
        <p:spPr bwMode="auto">
          <a:xfrm>
            <a:off x="1970314" y="1763661"/>
            <a:ext cx="8305800" cy="1219200"/>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latinLnBrk="1">
              <a:spcBef>
                <a:spcPct val="0"/>
              </a:spcBef>
              <a:spcAft>
                <a:spcPct val="0"/>
              </a:spcAft>
            </a:pPr>
            <a:endParaRPr kumimoji="1" lang="en-US" sz="2400">
              <a:latin typeface="굴림" pitchFamily="34" charset="-127"/>
              <a:ea typeface="굴림" pitchFamily="34" charset="-127"/>
            </a:endParaRPr>
          </a:p>
        </p:txBody>
      </p:sp>
      <p:sp>
        <p:nvSpPr>
          <p:cNvPr id="3" name="Content Placeholder 2"/>
          <p:cNvSpPr>
            <a:spLocks noGrp="1"/>
          </p:cNvSpPr>
          <p:nvPr>
            <p:ph idx="1"/>
          </p:nvPr>
        </p:nvSpPr>
        <p:spPr>
          <a:xfrm>
            <a:off x="4800600" y="1828800"/>
            <a:ext cx="5403273" cy="1066800"/>
          </a:xfrm>
        </p:spPr>
        <p:txBody>
          <a:bodyPr>
            <a:normAutofit fontScale="77500" lnSpcReduction="20000"/>
          </a:bodyPr>
          <a:lstStyle/>
          <a:p>
            <a:pPr marL="0" indent="0">
              <a:buNone/>
            </a:pPr>
            <a:r>
              <a:rPr lang="en-US" sz="2400" dirty="0" err="1"/>
              <a:t>Ký</a:t>
            </a:r>
            <a:r>
              <a:rPr lang="en-US" sz="2400" dirty="0"/>
              <a:t> </a:t>
            </a:r>
            <a:r>
              <a:rPr lang="en-US" sz="2400" dirty="0" err="1"/>
              <a:t>hiệu</a:t>
            </a:r>
            <a:r>
              <a:rPr lang="en-US" sz="2400" dirty="0"/>
              <a:t> </a:t>
            </a:r>
            <a:r>
              <a:rPr lang="en-US" sz="2400" dirty="0" err="1"/>
              <a:t>của</a:t>
            </a:r>
            <a:r>
              <a:rPr lang="en-US" sz="2400" dirty="0"/>
              <a:t> </a:t>
            </a:r>
            <a:r>
              <a:rPr lang="en-US" sz="2400" err="1"/>
              <a:t>cổng</a:t>
            </a:r>
            <a:r>
              <a:rPr lang="en-US" sz="2400"/>
              <a:t> luận lý </a:t>
            </a:r>
            <a:r>
              <a:rPr lang="en-US" sz="2400" dirty="0"/>
              <a:t>OR </a:t>
            </a:r>
            <a:r>
              <a:rPr lang="en-US" sz="2400" dirty="0" err="1"/>
              <a:t>có</a:t>
            </a:r>
            <a:r>
              <a:rPr lang="en-US" sz="2400" dirty="0"/>
              <a:t> </a:t>
            </a:r>
            <a:r>
              <a:rPr lang="en-US" sz="2400" dirty="0" err="1"/>
              <a:t>nghĩa</a:t>
            </a:r>
            <a:r>
              <a:rPr lang="en-US" sz="2400" dirty="0"/>
              <a:t> </a:t>
            </a:r>
            <a:r>
              <a:rPr lang="en-US" sz="2400" dirty="0" err="1"/>
              <a:t>là</a:t>
            </a:r>
            <a:r>
              <a:rPr lang="en-US" sz="2400" dirty="0"/>
              <a:t> output </a:t>
            </a:r>
            <a:r>
              <a:rPr lang="en-US" sz="2400" dirty="0" err="1"/>
              <a:t>sẽ</a:t>
            </a:r>
            <a:r>
              <a:rPr lang="en-US" sz="2400" dirty="0"/>
              <a:t> </a:t>
            </a:r>
            <a:r>
              <a:rPr lang="en-US" sz="2400" dirty="0" err="1"/>
              <a:t>có</a:t>
            </a:r>
            <a:r>
              <a:rPr lang="en-US" sz="2400" dirty="0"/>
              <a:t> </a:t>
            </a:r>
            <a:r>
              <a:rPr lang="en-US" sz="2400" dirty="0" err="1"/>
              <a:t>trạng</a:t>
            </a:r>
            <a:r>
              <a:rPr lang="en-US" sz="2400" dirty="0"/>
              <a:t> </a:t>
            </a:r>
            <a:r>
              <a:rPr lang="en-US" sz="2400" dirty="0" err="1"/>
              <a:t>thái</a:t>
            </a:r>
            <a:r>
              <a:rPr lang="en-US" sz="2400" dirty="0"/>
              <a:t> </a:t>
            </a:r>
            <a:r>
              <a:rPr lang="en-US" sz="2400" dirty="0" err="1"/>
              <a:t>là</a:t>
            </a:r>
            <a:r>
              <a:rPr lang="en-US" sz="2400" dirty="0"/>
              <a:t> HIGH </a:t>
            </a:r>
            <a:r>
              <a:rPr lang="en-US" sz="2400" dirty="0" err="1"/>
              <a:t>khi</a:t>
            </a:r>
            <a:r>
              <a:rPr lang="en-US" sz="2400" dirty="0"/>
              <a:t> </a:t>
            </a:r>
            <a:r>
              <a:rPr lang="en-US" sz="2400" dirty="0" err="1"/>
              <a:t>có</a:t>
            </a:r>
            <a:r>
              <a:rPr lang="en-US" sz="2400" dirty="0"/>
              <a:t> </a:t>
            </a:r>
            <a:r>
              <a:rPr lang="en-US" sz="2400" dirty="0" err="1"/>
              <a:t>bất</a:t>
            </a:r>
            <a:r>
              <a:rPr lang="en-US" sz="2400" dirty="0"/>
              <a:t> </a:t>
            </a:r>
            <a:r>
              <a:rPr lang="en-US" sz="2400" dirty="0" err="1"/>
              <a:t>kỳ</a:t>
            </a:r>
            <a:r>
              <a:rPr lang="en-US" sz="2400" dirty="0"/>
              <a:t> input </a:t>
            </a:r>
            <a:r>
              <a:rPr lang="en-US" sz="2400" dirty="0" err="1"/>
              <a:t>nào</a:t>
            </a:r>
            <a:r>
              <a:rPr lang="en-US" sz="2400" dirty="0"/>
              <a:t> </a:t>
            </a:r>
            <a:r>
              <a:rPr lang="en-US" sz="2400" dirty="0" err="1"/>
              <a:t>có</a:t>
            </a:r>
            <a:r>
              <a:rPr lang="en-US" sz="2400" dirty="0"/>
              <a:t> </a:t>
            </a:r>
            <a:r>
              <a:rPr lang="en-US" sz="2400" dirty="0" err="1"/>
              <a:t>trạng</a:t>
            </a:r>
            <a:r>
              <a:rPr lang="en-US" sz="2400" dirty="0"/>
              <a:t> </a:t>
            </a:r>
            <a:r>
              <a:rPr lang="en-US" sz="2400" dirty="0" err="1"/>
              <a:t>thái</a:t>
            </a:r>
            <a:r>
              <a:rPr lang="en-US" sz="2400" dirty="0"/>
              <a:t> </a:t>
            </a:r>
            <a:r>
              <a:rPr lang="en-US" sz="2400" dirty="0" err="1"/>
              <a:t>là</a:t>
            </a:r>
            <a:r>
              <a:rPr lang="en-US" sz="2400" dirty="0"/>
              <a:t> HIGH</a:t>
            </a:r>
          </a:p>
        </p:txBody>
      </p:sp>
      <p:pic>
        <p:nvPicPr>
          <p:cNvPr id="12" name="Picture 4" descr="ua03_0000b"/>
          <p:cNvPicPr>
            <a:picLocks noChangeAspect="1" noChangeArrowheads="1"/>
          </p:cNvPicPr>
          <p:nvPr/>
        </p:nvPicPr>
        <p:blipFill>
          <a:blip r:embed="rId2" cstate="print"/>
          <a:srcRect/>
          <a:stretch>
            <a:fillRect/>
          </a:stretch>
        </p:blipFill>
        <p:spPr bwMode="auto">
          <a:xfrm>
            <a:off x="7620000" y="4114800"/>
            <a:ext cx="2438400" cy="936622"/>
          </a:xfrm>
          <a:prstGeom prst="rect">
            <a:avLst/>
          </a:prstGeom>
          <a:noFill/>
        </p:spPr>
      </p:pic>
      <p:pic>
        <p:nvPicPr>
          <p:cNvPr id="14" name="Picture 5" descr="ua03_0000a"/>
          <p:cNvPicPr>
            <a:picLocks noChangeAspect="1" noChangeArrowheads="1"/>
          </p:cNvPicPr>
          <p:nvPr/>
        </p:nvPicPr>
        <p:blipFill>
          <a:blip r:embed="rId3" cstate="print"/>
          <a:srcRect/>
          <a:stretch>
            <a:fillRect/>
          </a:stretch>
        </p:blipFill>
        <p:spPr bwMode="auto">
          <a:xfrm>
            <a:off x="2133600" y="1905001"/>
            <a:ext cx="2519648" cy="914400"/>
          </a:xfrm>
          <a:prstGeom prst="rect">
            <a:avLst/>
          </a:prstGeom>
          <a:noFill/>
        </p:spPr>
      </p:pic>
      <p:sp>
        <p:nvSpPr>
          <p:cNvPr id="5" name="TextBox 4"/>
          <p:cNvSpPr txBox="1"/>
          <p:nvPr/>
        </p:nvSpPr>
        <p:spPr>
          <a:xfrm>
            <a:off x="2133600" y="4098101"/>
            <a:ext cx="5257800" cy="969496"/>
          </a:xfrm>
          <a:prstGeom prst="rect">
            <a:avLst/>
          </a:prstGeom>
          <a:noFill/>
        </p:spPr>
        <p:txBody>
          <a:bodyPr wrap="square" rtlCol="0">
            <a:spAutoFit/>
          </a:bodyPr>
          <a:lstStyle/>
          <a:p>
            <a:pPr algn="just"/>
            <a:r>
              <a:rPr lang="en-US" sz="1900" dirty="0" err="1">
                <a:latin typeface="Arial" panose="020B0604020202020204" pitchFamily="34" charset="0"/>
                <a:cs typeface="Arial" panose="020B0604020202020204" pitchFamily="34" charset="0"/>
              </a:rPr>
              <a:t>Ký</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hiệu</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của</a:t>
            </a:r>
            <a:r>
              <a:rPr lang="en-US" sz="1900" dirty="0">
                <a:latin typeface="Arial" panose="020B0604020202020204" pitchFamily="34" charset="0"/>
                <a:cs typeface="Arial" panose="020B0604020202020204" pitchFamily="34" charset="0"/>
              </a:rPr>
              <a:t> </a:t>
            </a:r>
            <a:r>
              <a:rPr lang="en-US" sz="1900" err="1">
                <a:latin typeface="Arial" panose="020B0604020202020204" pitchFamily="34" charset="0"/>
                <a:cs typeface="Arial" panose="020B0604020202020204" pitchFamily="34" charset="0"/>
              </a:rPr>
              <a:t>cổng</a:t>
            </a:r>
            <a:r>
              <a:rPr lang="en-US" sz="1900">
                <a:latin typeface="Arial" panose="020B0604020202020204" pitchFamily="34" charset="0"/>
                <a:cs typeface="Arial" panose="020B0604020202020204" pitchFamily="34" charset="0"/>
              </a:rPr>
              <a:t> luận lý </a:t>
            </a:r>
            <a:r>
              <a:rPr lang="en-US" sz="1900" dirty="0">
                <a:latin typeface="Arial" panose="020B0604020202020204" pitchFamily="34" charset="0"/>
                <a:cs typeface="Arial" panose="020B0604020202020204" pitchFamily="34" charset="0"/>
              </a:rPr>
              <a:t>AND </a:t>
            </a:r>
            <a:r>
              <a:rPr lang="en-US" sz="1900" dirty="0" err="1">
                <a:latin typeface="Arial" panose="020B0604020202020204" pitchFamily="34" charset="0"/>
                <a:cs typeface="Arial" panose="020B0604020202020204" pitchFamily="34" charset="0"/>
              </a:rPr>
              <a:t>có</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nghĩa</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là</a:t>
            </a:r>
            <a:r>
              <a:rPr lang="en-US" sz="1900" dirty="0">
                <a:latin typeface="Arial" panose="020B0604020202020204" pitchFamily="34" charset="0"/>
                <a:cs typeface="Arial" panose="020B0604020202020204" pitchFamily="34" charset="0"/>
              </a:rPr>
              <a:t> output </a:t>
            </a:r>
            <a:r>
              <a:rPr lang="en-US" sz="1900" dirty="0" err="1">
                <a:latin typeface="Arial" panose="020B0604020202020204" pitchFamily="34" charset="0"/>
                <a:cs typeface="Arial" panose="020B0604020202020204" pitchFamily="34" charset="0"/>
              </a:rPr>
              <a:t>sẽ</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có</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trạng</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thái</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là</a:t>
            </a:r>
            <a:r>
              <a:rPr lang="en-US" sz="1900" dirty="0">
                <a:latin typeface="Arial" panose="020B0604020202020204" pitchFamily="34" charset="0"/>
                <a:cs typeface="Arial" panose="020B0604020202020204" pitchFamily="34" charset="0"/>
              </a:rPr>
              <a:t> HIGH </a:t>
            </a:r>
            <a:r>
              <a:rPr lang="en-US" sz="1900" dirty="0" err="1">
                <a:latin typeface="Arial" panose="020B0604020202020204" pitchFamily="34" charset="0"/>
                <a:cs typeface="Arial" panose="020B0604020202020204" pitchFamily="34" charset="0"/>
              </a:rPr>
              <a:t>khi</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tất</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cả</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các</a:t>
            </a:r>
            <a:r>
              <a:rPr lang="en-US" sz="1900" dirty="0">
                <a:latin typeface="Arial" panose="020B0604020202020204" pitchFamily="34" charset="0"/>
                <a:cs typeface="Arial" panose="020B0604020202020204" pitchFamily="34" charset="0"/>
              </a:rPr>
              <a:t> input </a:t>
            </a:r>
            <a:r>
              <a:rPr lang="en-US" sz="1900" dirty="0" err="1">
                <a:latin typeface="Arial" panose="020B0604020202020204" pitchFamily="34" charset="0"/>
                <a:cs typeface="Arial" panose="020B0604020202020204" pitchFamily="34" charset="0"/>
              </a:rPr>
              <a:t>đều</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có</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trạng</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thái</a:t>
            </a:r>
            <a:r>
              <a:rPr lang="en-US" sz="1900" dirty="0">
                <a:latin typeface="Arial" panose="020B0604020202020204" pitchFamily="34" charset="0"/>
                <a:cs typeface="Arial" panose="020B0604020202020204" pitchFamily="34" charset="0"/>
              </a:rPr>
              <a:t> </a:t>
            </a:r>
            <a:r>
              <a:rPr lang="en-US" sz="1900" dirty="0" err="1">
                <a:latin typeface="Arial" panose="020B0604020202020204" pitchFamily="34" charset="0"/>
                <a:cs typeface="Arial" panose="020B0604020202020204" pitchFamily="34" charset="0"/>
              </a:rPr>
              <a:t>là</a:t>
            </a:r>
            <a:r>
              <a:rPr lang="en-US" sz="1900" dirty="0">
                <a:latin typeface="Arial" panose="020B0604020202020204" pitchFamily="34" charset="0"/>
                <a:cs typeface="Arial" panose="020B0604020202020204" pitchFamily="34" charset="0"/>
              </a:rPr>
              <a:t> HIGH</a:t>
            </a:r>
          </a:p>
        </p:txBody>
      </p:sp>
      <p:sp>
        <p:nvSpPr>
          <p:cNvPr id="8" name="Title 7"/>
          <p:cNvSpPr>
            <a:spLocks noGrp="1"/>
          </p:cNvSpPr>
          <p:nvPr>
            <p:ph type="title"/>
          </p:nvPr>
        </p:nvSpPr>
        <p:spPr/>
        <p:txBody>
          <a:bodyPr>
            <a:normAutofit fontScale="90000"/>
          </a:bodyPr>
          <a:lstStyle/>
          <a:p>
            <a:r>
              <a:rPr lang="en-US"/>
              <a:t>OR và </a:t>
            </a:r>
            <a:r>
              <a:rPr lang="en-US" dirty="0"/>
              <a:t>AND</a:t>
            </a:r>
          </a:p>
        </p:txBody>
      </p:sp>
      <p:sp>
        <p:nvSpPr>
          <p:cNvPr id="11" name="Slide Number Placeholder 10"/>
          <p:cNvSpPr>
            <a:spLocks noGrp="1"/>
          </p:cNvSpPr>
          <p:nvPr>
            <p:ph type="sldNum" sz="quarter" idx="12"/>
          </p:nvPr>
        </p:nvSpPr>
        <p:spPr/>
        <p:txBody>
          <a:bodyPr/>
          <a:lstStyle/>
          <a:p>
            <a:fld id="{800C8475-47C1-49C9-BEE5-594F8CF4D71F}" type="slidenum">
              <a:rPr kumimoji="1" lang="ja-JP" altLang="en-US" smtClean="0"/>
              <a:pPr/>
              <a:t>18</a:t>
            </a:fld>
            <a:endParaRPr kumimoji="1" lang="ja-JP" altLang="en-US" dirty="0"/>
          </a:p>
        </p:txBody>
      </p:sp>
      <p:sp>
        <p:nvSpPr>
          <p:cNvPr id="2" name="Footer Placeholder 4">
            <a:extLst>
              <a:ext uri="{FF2B5EF4-FFF2-40B4-BE49-F238E27FC236}">
                <a16:creationId xmlns:a16="http://schemas.microsoft.com/office/drawing/2014/main" id="{20FD059D-F8CD-7089-64E0-C66BBEB2F4BC}"/>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407846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err="1"/>
              <a:t>Cổng</a:t>
            </a:r>
            <a:r>
              <a:rPr lang="en-US"/>
              <a:t> luận lý </a:t>
            </a:r>
            <a:r>
              <a:rPr lang="en-US" dirty="0"/>
              <a:t>NOT</a:t>
            </a:r>
          </a:p>
        </p:txBody>
      </p:sp>
      <p:sp>
        <p:nvSpPr>
          <p:cNvPr id="3" name="Content Placeholder 2"/>
          <p:cNvSpPr>
            <a:spLocks noGrp="1"/>
          </p:cNvSpPr>
          <p:nvPr>
            <p:ph idx="1"/>
          </p:nvPr>
        </p:nvSpPr>
        <p:spPr/>
        <p:txBody>
          <a:bodyPr/>
          <a:lstStyle/>
          <a:p>
            <a:r>
              <a:rPr lang="en-US" dirty="0" err="1"/>
              <a:t>Biểu</a:t>
            </a:r>
            <a:r>
              <a:rPr lang="en-US" dirty="0"/>
              <a:t> </a:t>
            </a:r>
            <a:r>
              <a:rPr lang="en-US" err="1"/>
              <a:t>thức</a:t>
            </a:r>
            <a:r>
              <a:rPr lang="en-US"/>
              <a:t> Boole </a:t>
            </a:r>
            <a:r>
              <a:rPr lang="en-US" dirty="0" err="1"/>
              <a:t>đối</a:t>
            </a:r>
            <a:r>
              <a:rPr lang="en-US" dirty="0"/>
              <a:t> </a:t>
            </a:r>
            <a:r>
              <a:rPr lang="en-US" dirty="0" err="1"/>
              <a:t>với</a:t>
            </a:r>
            <a:r>
              <a:rPr lang="en-US" dirty="0"/>
              <a:t> </a:t>
            </a:r>
            <a:r>
              <a:rPr lang="en-US" err="1"/>
              <a:t>cổng</a:t>
            </a:r>
            <a:r>
              <a:rPr lang="en-US"/>
              <a:t> luận lý </a:t>
            </a:r>
            <a:r>
              <a:rPr lang="en-US" b="1" dirty="0"/>
              <a:t>NOT</a:t>
            </a:r>
            <a:endParaRPr lang="en-US" dirty="0"/>
          </a:p>
          <a:p>
            <a:pPr lvl="1"/>
            <a:endParaRPr lang="en-US" dirty="0"/>
          </a:p>
          <a:p>
            <a:pPr marL="457200" lvl="1" indent="0">
              <a:buNone/>
            </a:pPr>
            <a:r>
              <a:rPr lang="en-US" dirty="0"/>
              <a:t>		</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US" dirty="0"/>
              <a:t>		</a:t>
            </a:r>
          </a:p>
        </p:txBody>
      </p:sp>
      <p:sp>
        <p:nvSpPr>
          <p:cNvPr id="8" name="Slide Number Placeholder 7"/>
          <p:cNvSpPr>
            <a:spLocks noGrp="1"/>
          </p:cNvSpPr>
          <p:nvPr>
            <p:ph type="sldNum" sz="quarter" idx="12"/>
          </p:nvPr>
        </p:nvSpPr>
        <p:spPr/>
        <p:txBody>
          <a:bodyPr/>
          <a:lstStyle/>
          <a:p>
            <a:fld id="{800C8475-47C1-49C9-BEE5-594F8CF4D71F}" type="slidenum">
              <a:rPr kumimoji="1" lang="ja-JP" altLang="en-US" smtClean="0"/>
              <a:pPr/>
              <a:t>19</a:t>
            </a:fld>
            <a:endParaRPr kumimoji="1" lang="ja-JP" altLang="en-US" dirty="0"/>
          </a:p>
        </p:txBody>
      </p:sp>
      <p:sp>
        <p:nvSpPr>
          <p:cNvPr id="54" name="Rectangle 19"/>
          <p:cNvSpPr>
            <a:spLocks noChangeArrowheads="1"/>
          </p:cNvSpPr>
          <p:nvPr/>
        </p:nvSpPr>
        <p:spPr bwMode="auto">
          <a:xfrm>
            <a:off x="6317292" y="2221405"/>
            <a:ext cx="4033837" cy="12477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spcBef>
                <a:spcPct val="30000"/>
              </a:spcBef>
            </a:pPr>
            <a:r>
              <a:rPr lang="en-US" sz="2100" dirty="0">
                <a:latin typeface="Arial" panose="020B0604020202020204" pitchFamily="34" charset="0"/>
                <a:ea typeface="ＭＳ Ｐゴシック" pitchFamily="34" charset="-128"/>
                <a:cs typeface="Arial" panose="020B0604020202020204" pitchFamily="34" charset="0"/>
              </a:rPr>
              <a:t>“</a:t>
            </a:r>
            <a:r>
              <a:rPr lang="en-US" sz="2100" i="1" dirty="0">
                <a:latin typeface="Arial" panose="020B0604020202020204" pitchFamily="34" charset="0"/>
                <a:ea typeface="ＭＳ Ｐゴシック" pitchFamily="34" charset="-128"/>
                <a:cs typeface="Arial" panose="020B0604020202020204" pitchFamily="34" charset="0"/>
              </a:rPr>
              <a:t>X</a:t>
            </a:r>
            <a:r>
              <a:rPr lang="en-US" sz="2100" dirty="0">
                <a:latin typeface="Arial" panose="020B0604020202020204" pitchFamily="34" charset="0"/>
                <a:ea typeface="ＭＳ Ｐゴシック" pitchFamily="34" charset="-128"/>
                <a:cs typeface="Arial" panose="020B0604020202020204" pitchFamily="34" charset="0"/>
              </a:rPr>
              <a:t>  </a:t>
            </a:r>
            <a:r>
              <a:rPr lang="en-US" sz="2100" dirty="0" err="1">
                <a:latin typeface="Arial" panose="020B0604020202020204" pitchFamily="34" charset="0"/>
                <a:ea typeface="ＭＳ Ｐゴシック" pitchFamily="34" charset="-128"/>
                <a:cs typeface="Arial" panose="020B0604020202020204" pitchFamily="34" charset="0"/>
              </a:rPr>
              <a:t>bằng</a:t>
            </a:r>
            <a:r>
              <a:rPr lang="en-US" sz="2100" dirty="0">
                <a:latin typeface="Arial" panose="020B0604020202020204" pitchFamily="34" charset="0"/>
                <a:ea typeface="ＭＳ Ｐゴシック" pitchFamily="34" charset="-128"/>
                <a:cs typeface="Arial" panose="020B0604020202020204" pitchFamily="34" charset="0"/>
              </a:rPr>
              <a:t>  NOT </a:t>
            </a:r>
            <a:r>
              <a:rPr lang="en-US" sz="2100" i="1" dirty="0">
                <a:latin typeface="Arial" panose="020B0604020202020204" pitchFamily="34" charset="0"/>
                <a:ea typeface="ＭＳ Ｐゴシック" pitchFamily="34" charset="-128"/>
                <a:cs typeface="Arial" panose="020B0604020202020204" pitchFamily="34" charset="0"/>
              </a:rPr>
              <a:t>A</a:t>
            </a:r>
            <a:r>
              <a:rPr lang="en-US" sz="2100" dirty="0">
                <a:latin typeface="Arial" panose="020B0604020202020204" pitchFamily="34" charset="0"/>
                <a:ea typeface="ＭＳ Ｐゴシック" pitchFamily="34" charset="-128"/>
                <a:cs typeface="Arial" panose="020B0604020202020204" pitchFamily="34" charset="0"/>
              </a:rPr>
              <a:t>”</a:t>
            </a:r>
          </a:p>
          <a:p>
            <a:pPr marL="342900" indent="-342900">
              <a:spcBef>
                <a:spcPct val="30000"/>
              </a:spcBef>
            </a:pPr>
            <a:r>
              <a:rPr lang="en-US" sz="2100" dirty="0">
                <a:latin typeface="Arial" panose="020B0604020202020204" pitchFamily="34" charset="0"/>
                <a:ea typeface="ＭＳ Ｐゴシック" pitchFamily="34" charset="-128"/>
                <a:cs typeface="Arial" panose="020B0604020202020204" pitchFamily="34" charset="0"/>
              </a:rPr>
              <a:t>“</a:t>
            </a:r>
            <a:r>
              <a:rPr lang="en-US" sz="2100" i="1" dirty="0">
                <a:latin typeface="Arial" panose="020B0604020202020204" pitchFamily="34" charset="0"/>
                <a:ea typeface="ＭＳ Ｐゴシック" pitchFamily="34" charset="-128"/>
                <a:cs typeface="Arial" panose="020B0604020202020204" pitchFamily="34" charset="0"/>
              </a:rPr>
              <a:t>X</a:t>
            </a:r>
            <a:r>
              <a:rPr lang="en-US" sz="2100" dirty="0">
                <a:latin typeface="Arial" panose="020B0604020202020204" pitchFamily="34" charset="0"/>
                <a:ea typeface="ＭＳ Ｐゴシック" pitchFamily="34" charset="-128"/>
                <a:cs typeface="Arial" panose="020B0604020202020204" pitchFamily="34" charset="0"/>
              </a:rPr>
              <a:t>  </a:t>
            </a:r>
            <a:r>
              <a:rPr lang="en-US" sz="2100" err="1">
                <a:latin typeface="Arial" panose="020B0604020202020204" pitchFamily="34" charset="0"/>
                <a:ea typeface="ＭＳ Ｐゴシック" pitchFamily="34" charset="-128"/>
                <a:cs typeface="Arial" panose="020B0604020202020204" pitchFamily="34" charset="0"/>
              </a:rPr>
              <a:t>là</a:t>
            </a:r>
            <a:r>
              <a:rPr lang="en-US" sz="2100">
                <a:latin typeface="Arial" panose="020B0604020202020204" pitchFamily="34" charset="0"/>
                <a:ea typeface="ＭＳ Ｐゴシック" pitchFamily="34" charset="-128"/>
                <a:cs typeface="Arial" panose="020B0604020202020204" pitchFamily="34" charset="0"/>
              </a:rPr>
              <a:t> nghịch </a:t>
            </a:r>
            <a:r>
              <a:rPr lang="en-US" sz="2100" err="1">
                <a:latin typeface="Arial" panose="020B0604020202020204" pitchFamily="34" charset="0"/>
                <a:ea typeface="ＭＳ Ｐゴシック" pitchFamily="34" charset="-128"/>
                <a:cs typeface="Arial" panose="020B0604020202020204" pitchFamily="34" charset="0"/>
              </a:rPr>
              <a:t>đảo</a:t>
            </a:r>
            <a:r>
              <a:rPr lang="en-US" sz="2100">
                <a:latin typeface="Arial" panose="020B0604020202020204" pitchFamily="34" charset="0"/>
                <a:ea typeface="ＭＳ Ｐゴシック" pitchFamily="34" charset="-128"/>
                <a:cs typeface="Arial" panose="020B0604020202020204" pitchFamily="34" charset="0"/>
              </a:rPr>
              <a:t> của </a:t>
            </a:r>
            <a:r>
              <a:rPr lang="en-US" sz="2100" i="1" dirty="0">
                <a:latin typeface="Arial" panose="020B0604020202020204" pitchFamily="34" charset="0"/>
                <a:ea typeface="ＭＳ Ｐゴシック" pitchFamily="34" charset="-128"/>
                <a:cs typeface="Arial" panose="020B0604020202020204" pitchFamily="34" charset="0"/>
              </a:rPr>
              <a:t>A</a:t>
            </a:r>
            <a:r>
              <a:rPr lang="en-US" sz="2100" dirty="0">
                <a:latin typeface="Arial" panose="020B0604020202020204" pitchFamily="34" charset="0"/>
                <a:ea typeface="ＭＳ Ｐゴシック" pitchFamily="34" charset="-128"/>
                <a:cs typeface="Arial" panose="020B0604020202020204" pitchFamily="34" charset="0"/>
              </a:rPr>
              <a:t>”</a:t>
            </a:r>
          </a:p>
          <a:p>
            <a:pPr marL="342900" indent="-342900">
              <a:spcBef>
                <a:spcPct val="30000"/>
              </a:spcBef>
            </a:pPr>
            <a:r>
              <a:rPr lang="en-US" sz="2100" dirty="0">
                <a:latin typeface="Arial" panose="020B0604020202020204" pitchFamily="34" charset="0"/>
                <a:ea typeface="ＭＳ Ｐゴシック" pitchFamily="34" charset="-128"/>
                <a:cs typeface="Arial" panose="020B0604020202020204" pitchFamily="34" charset="0"/>
              </a:rPr>
              <a:t>“</a:t>
            </a:r>
            <a:r>
              <a:rPr lang="en-US" sz="2100" i="1" dirty="0">
                <a:latin typeface="Arial" panose="020B0604020202020204" pitchFamily="34" charset="0"/>
                <a:ea typeface="ＭＳ Ｐゴシック" pitchFamily="34" charset="-128"/>
                <a:cs typeface="Arial" panose="020B0604020202020204" pitchFamily="34" charset="0"/>
              </a:rPr>
              <a:t>X</a:t>
            </a:r>
            <a:r>
              <a:rPr lang="en-US" sz="2100" dirty="0">
                <a:latin typeface="Arial" panose="020B0604020202020204" pitchFamily="34" charset="0"/>
                <a:ea typeface="ＭＳ Ｐゴシック" pitchFamily="34" charset="-128"/>
                <a:cs typeface="Arial" panose="020B0604020202020204" pitchFamily="34" charset="0"/>
              </a:rPr>
              <a:t>  </a:t>
            </a:r>
            <a:r>
              <a:rPr lang="en-US" sz="2100" err="1">
                <a:latin typeface="Arial" panose="020B0604020202020204" pitchFamily="34" charset="0"/>
                <a:ea typeface="ＭＳ Ｐゴシック" pitchFamily="34" charset="-128"/>
                <a:cs typeface="Arial" panose="020B0604020202020204" pitchFamily="34" charset="0"/>
              </a:rPr>
              <a:t>là</a:t>
            </a:r>
            <a:r>
              <a:rPr lang="en-US" sz="2100">
                <a:latin typeface="Arial" panose="020B0604020202020204" pitchFamily="34" charset="0"/>
                <a:ea typeface="ＭＳ Ｐゴシック" pitchFamily="34" charset="-128"/>
                <a:cs typeface="Arial" panose="020B0604020202020204" pitchFamily="34" charset="0"/>
              </a:rPr>
              <a:t> bù </a:t>
            </a:r>
            <a:r>
              <a:rPr lang="en-US" sz="2100" dirty="0" err="1">
                <a:latin typeface="Arial" panose="020B0604020202020204" pitchFamily="34" charset="0"/>
                <a:ea typeface="ＭＳ Ｐゴシック" pitchFamily="34" charset="-128"/>
                <a:cs typeface="Arial" panose="020B0604020202020204" pitchFamily="34" charset="0"/>
              </a:rPr>
              <a:t>của</a:t>
            </a:r>
            <a:r>
              <a:rPr lang="en-US" sz="2100" dirty="0">
                <a:latin typeface="Arial" panose="020B0604020202020204" pitchFamily="34" charset="0"/>
                <a:ea typeface="ＭＳ Ｐゴシック" pitchFamily="34" charset="-128"/>
                <a:cs typeface="Arial" panose="020B0604020202020204" pitchFamily="34" charset="0"/>
              </a:rPr>
              <a:t> </a:t>
            </a:r>
            <a:r>
              <a:rPr lang="en-US" sz="2100" i="1" dirty="0">
                <a:latin typeface="Arial" panose="020B0604020202020204" pitchFamily="34" charset="0"/>
                <a:ea typeface="ＭＳ Ｐゴシック" pitchFamily="34" charset="-128"/>
                <a:cs typeface="Arial" panose="020B0604020202020204" pitchFamily="34" charset="0"/>
              </a:rPr>
              <a:t>A</a:t>
            </a:r>
            <a:r>
              <a:rPr lang="en-US" sz="2100" dirty="0">
                <a:latin typeface="Arial" panose="020B0604020202020204" pitchFamily="34" charset="0"/>
                <a:ea typeface="ＭＳ Ｐゴシック" pitchFamily="34" charset="-128"/>
                <a:cs typeface="Arial" panose="020B0604020202020204" pitchFamily="34" charset="0"/>
              </a:rPr>
              <a:t>”</a:t>
            </a:r>
          </a:p>
        </p:txBody>
      </p:sp>
      <p:sp>
        <p:nvSpPr>
          <p:cNvPr id="55" name="Rectangle 4"/>
          <p:cNvSpPr>
            <a:spLocks noChangeArrowheads="1"/>
          </p:cNvSpPr>
          <p:nvPr/>
        </p:nvSpPr>
        <p:spPr bwMode="auto">
          <a:xfrm>
            <a:off x="4861553" y="2218230"/>
            <a:ext cx="1701800" cy="5429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spcBef>
                <a:spcPct val="30000"/>
              </a:spcBef>
            </a:pPr>
            <a:r>
              <a:rPr lang="en-US" sz="2100" dirty="0">
                <a:latin typeface="Arial" panose="020B0604020202020204" pitchFamily="34" charset="0"/>
                <a:ea typeface="ＭＳ Ｐゴシック" pitchFamily="34" charset="-128"/>
                <a:cs typeface="Arial" panose="020B0604020202020204" pitchFamily="34" charset="0"/>
              </a:rPr>
              <a:t>-</a:t>
            </a:r>
            <a:r>
              <a:rPr lang="en-US" sz="2100">
                <a:latin typeface="Arial" panose="020B0604020202020204" pitchFamily="34" charset="0"/>
                <a:ea typeface="ＭＳ Ｐゴシック" pitchFamily="34" charset="-128"/>
                <a:cs typeface="Arial" panose="020B0604020202020204" pitchFamily="34" charset="0"/>
              </a:rPr>
              <a:t> </a:t>
            </a:r>
            <a:r>
              <a:rPr lang="en-US" sz="2100" dirty="0" err="1">
                <a:latin typeface="Arial" panose="020B0604020202020204" pitchFamily="34" charset="0"/>
                <a:ea typeface="ＭＳ Ｐゴシック" pitchFamily="34" charset="-128"/>
                <a:cs typeface="Arial" panose="020B0604020202020204" pitchFamily="34" charset="0"/>
              </a:rPr>
              <a:t>Đọc</a:t>
            </a:r>
            <a:r>
              <a:rPr lang="en-US" sz="2100" dirty="0">
                <a:latin typeface="Arial" panose="020B0604020202020204" pitchFamily="34" charset="0"/>
                <a:ea typeface="ＭＳ Ｐゴシック" pitchFamily="34" charset="-128"/>
                <a:cs typeface="Arial" panose="020B0604020202020204" pitchFamily="34" charset="0"/>
              </a:rPr>
              <a:t> </a:t>
            </a:r>
            <a:r>
              <a:rPr lang="en-US" sz="2100" dirty="0" err="1">
                <a:latin typeface="Arial" panose="020B0604020202020204" pitchFamily="34" charset="0"/>
                <a:ea typeface="ＭＳ Ｐゴシック" pitchFamily="34" charset="-128"/>
                <a:cs typeface="Arial" panose="020B0604020202020204" pitchFamily="34" charset="0"/>
              </a:rPr>
              <a:t>là</a:t>
            </a:r>
            <a:r>
              <a:rPr lang="en-US" sz="2100" dirty="0">
                <a:latin typeface="Arial" panose="020B0604020202020204" pitchFamily="34" charset="0"/>
                <a:ea typeface="ＭＳ Ｐゴシック" pitchFamily="34" charset="-128"/>
                <a:cs typeface="Arial" panose="020B0604020202020204" pitchFamily="34" charset="0"/>
              </a:rPr>
              <a:t>:</a:t>
            </a:r>
          </a:p>
        </p:txBody>
      </p:sp>
      <p:grpSp>
        <p:nvGrpSpPr>
          <p:cNvPr id="56" name="Group 27"/>
          <p:cNvGrpSpPr>
            <a:grpSpLocks/>
          </p:cNvGrpSpPr>
          <p:nvPr/>
        </p:nvGrpSpPr>
        <p:grpSpPr bwMode="auto">
          <a:xfrm>
            <a:off x="3909053" y="2157905"/>
            <a:ext cx="1138238" cy="542925"/>
            <a:chOff x="867" y="1754"/>
            <a:chExt cx="717" cy="342"/>
          </a:xfrm>
        </p:grpSpPr>
        <p:sp>
          <p:nvSpPr>
            <p:cNvPr id="57" name="Rectangle 28"/>
            <p:cNvSpPr>
              <a:spLocks noChangeArrowheads="1"/>
            </p:cNvSpPr>
            <p:nvPr/>
          </p:nvSpPr>
          <p:spPr bwMode="auto">
            <a:xfrm>
              <a:off x="867" y="1754"/>
              <a:ext cx="717" cy="3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spcBef>
                  <a:spcPct val="30000"/>
                </a:spcBef>
              </a:pPr>
              <a:r>
                <a:rPr lang="en-US" sz="2600" i="1" dirty="0">
                  <a:latin typeface="Arial" charset="0"/>
                  <a:ea typeface="ＭＳ Ｐゴシック" pitchFamily="34" charset="-128"/>
                </a:rPr>
                <a:t>X = A</a:t>
              </a:r>
              <a:endParaRPr lang="en-US" sz="2100" dirty="0">
                <a:latin typeface="Arial" charset="0"/>
                <a:ea typeface="ＭＳ Ｐゴシック" pitchFamily="34" charset="-128"/>
              </a:endParaRPr>
            </a:p>
          </p:txBody>
        </p:sp>
        <p:sp>
          <p:nvSpPr>
            <p:cNvPr id="58" name="Line 29"/>
            <p:cNvSpPr>
              <a:spLocks noChangeShapeType="1"/>
            </p:cNvSpPr>
            <p:nvPr/>
          </p:nvSpPr>
          <p:spPr bwMode="auto">
            <a:xfrm>
              <a:off x="1310" y="1798"/>
              <a:ext cx="1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grpSp>
      <p:grpSp>
        <p:nvGrpSpPr>
          <p:cNvPr id="59" name="Group 53"/>
          <p:cNvGrpSpPr>
            <a:grpSpLocks/>
          </p:cNvGrpSpPr>
          <p:nvPr/>
        </p:nvGrpSpPr>
        <p:grpSpPr bwMode="auto">
          <a:xfrm>
            <a:off x="2369180" y="1929305"/>
            <a:ext cx="2576513" cy="3605213"/>
            <a:chOff x="286" y="814"/>
            <a:chExt cx="1623" cy="2271"/>
          </a:xfrm>
        </p:grpSpPr>
        <p:grpSp>
          <p:nvGrpSpPr>
            <p:cNvPr id="60" name="Group 30"/>
            <p:cNvGrpSpPr>
              <a:grpSpLocks/>
            </p:cNvGrpSpPr>
            <p:nvPr/>
          </p:nvGrpSpPr>
          <p:grpSpPr bwMode="auto">
            <a:xfrm>
              <a:off x="1192" y="2112"/>
              <a:ext cx="717" cy="342"/>
              <a:chOff x="812" y="1754"/>
              <a:chExt cx="717" cy="342"/>
            </a:xfrm>
          </p:grpSpPr>
          <p:sp>
            <p:nvSpPr>
              <p:cNvPr id="77" name="Rectangle 24"/>
              <p:cNvSpPr>
                <a:spLocks noChangeArrowheads="1"/>
              </p:cNvSpPr>
              <p:nvPr/>
            </p:nvSpPr>
            <p:spPr bwMode="auto">
              <a:xfrm>
                <a:off x="812" y="1754"/>
                <a:ext cx="717" cy="3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spcBef>
                    <a:spcPct val="30000"/>
                  </a:spcBef>
                </a:pPr>
                <a:r>
                  <a:rPr lang="en-US" sz="2800" i="1" dirty="0">
                    <a:latin typeface="Times New Roman" pitchFamily="18" charset="0"/>
                    <a:ea typeface="ＭＳ Ｐゴシック" pitchFamily="34" charset="-128"/>
                    <a:cs typeface="Times New Roman" pitchFamily="18" charset="0"/>
                  </a:rPr>
                  <a:t>A</a:t>
                </a:r>
                <a:r>
                  <a:rPr lang="en-US" sz="3200" i="1" dirty="0">
                    <a:latin typeface="Times New Roman" pitchFamily="18" charset="0"/>
                    <a:ea typeface="ＭＳ Ｐゴシック" pitchFamily="34" charset="-128"/>
                    <a:cs typeface="Times New Roman" pitchFamily="18" charset="0"/>
                  </a:rPr>
                  <a:t>'</a:t>
                </a:r>
                <a:r>
                  <a:rPr lang="en-US" sz="2800" i="1" dirty="0">
                    <a:latin typeface="Times New Roman" pitchFamily="18" charset="0"/>
                    <a:ea typeface="ＭＳ Ｐゴシック" pitchFamily="34" charset="-128"/>
                    <a:cs typeface="Times New Roman" pitchFamily="18" charset="0"/>
                  </a:rPr>
                  <a:t> = A</a:t>
                </a:r>
              </a:p>
            </p:txBody>
          </p:sp>
          <p:sp>
            <p:nvSpPr>
              <p:cNvPr id="78" name="Line 25"/>
              <p:cNvSpPr>
                <a:spLocks noChangeShapeType="1"/>
              </p:cNvSpPr>
              <p:nvPr/>
            </p:nvSpPr>
            <p:spPr bwMode="auto">
              <a:xfrm>
                <a:off x="1310" y="1798"/>
                <a:ext cx="1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grpSp>
        <p:grpSp>
          <p:nvGrpSpPr>
            <p:cNvPr id="61" name="Group 41"/>
            <p:cNvGrpSpPr>
              <a:grpSpLocks/>
            </p:cNvGrpSpPr>
            <p:nvPr/>
          </p:nvGrpSpPr>
          <p:grpSpPr bwMode="auto">
            <a:xfrm>
              <a:off x="339" y="814"/>
              <a:ext cx="1527" cy="1089"/>
              <a:chOff x="339" y="814"/>
              <a:chExt cx="1527" cy="1089"/>
            </a:xfrm>
          </p:grpSpPr>
          <p:sp>
            <p:nvSpPr>
              <p:cNvPr id="70" name="Line 33"/>
              <p:cNvSpPr>
                <a:spLocks noChangeShapeType="1"/>
              </p:cNvSpPr>
              <p:nvPr/>
            </p:nvSpPr>
            <p:spPr bwMode="auto">
              <a:xfrm flipV="1">
                <a:off x="782" y="815"/>
                <a:ext cx="0" cy="75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grpSp>
            <p:nvGrpSpPr>
              <p:cNvPr id="71" name="Group 39"/>
              <p:cNvGrpSpPr>
                <a:grpSpLocks/>
              </p:cNvGrpSpPr>
              <p:nvPr/>
            </p:nvGrpSpPr>
            <p:grpSpPr bwMode="auto">
              <a:xfrm>
                <a:off x="783" y="814"/>
                <a:ext cx="993" cy="168"/>
                <a:chOff x="912" y="814"/>
                <a:chExt cx="864" cy="168"/>
              </a:xfrm>
            </p:grpSpPr>
            <p:sp>
              <p:nvSpPr>
                <p:cNvPr id="75" name="Line 34"/>
                <p:cNvSpPr>
                  <a:spLocks noChangeShapeType="1"/>
                </p:cNvSpPr>
                <p:nvPr/>
              </p:nvSpPr>
              <p:spPr bwMode="auto">
                <a:xfrm>
                  <a:off x="912" y="814"/>
                  <a:ext cx="86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sp>
              <p:nvSpPr>
                <p:cNvPr id="76" name="Line 38"/>
                <p:cNvSpPr>
                  <a:spLocks noChangeShapeType="1"/>
                </p:cNvSpPr>
                <p:nvPr/>
              </p:nvSpPr>
              <p:spPr bwMode="auto">
                <a:xfrm>
                  <a:off x="1776" y="814"/>
                  <a:ext cx="0" cy="168"/>
                </a:xfrm>
                <a:prstGeom prst="line">
                  <a:avLst/>
                </a:prstGeom>
                <a:noFill/>
                <a:ln w="9525">
                  <a:solidFill>
                    <a:schemeClr val="tx1"/>
                  </a:solidFill>
                  <a:round/>
                  <a:headEnd/>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grpSp>
          <p:grpSp>
            <p:nvGrpSpPr>
              <p:cNvPr id="72" name="Group 32"/>
              <p:cNvGrpSpPr>
                <a:grpSpLocks/>
              </p:cNvGrpSpPr>
              <p:nvPr/>
            </p:nvGrpSpPr>
            <p:grpSpPr bwMode="auto">
              <a:xfrm>
                <a:off x="339" y="1338"/>
                <a:ext cx="1527" cy="565"/>
                <a:chOff x="339" y="1568"/>
                <a:chExt cx="1527" cy="565"/>
              </a:xfrm>
            </p:grpSpPr>
            <p:sp>
              <p:nvSpPr>
                <p:cNvPr id="73" name="Rectangle 8"/>
                <p:cNvSpPr>
                  <a:spLocks noChangeArrowheads="1"/>
                </p:cNvSpPr>
                <p:nvPr/>
              </p:nvSpPr>
              <p:spPr bwMode="auto">
                <a:xfrm>
                  <a:off x="378" y="1578"/>
                  <a:ext cx="1440" cy="35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sz="2000">
                    <a:latin typeface="Times New Roman" pitchFamily="18" charset="0"/>
                    <a:cs typeface="Times New Roman" pitchFamily="18" charset="0"/>
                  </a:endParaRPr>
                </a:p>
              </p:txBody>
            </p:sp>
            <p:sp>
              <p:nvSpPr>
                <p:cNvPr id="74" name="Rectangle 9"/>
                <p:cNvSpPr>
                  <a:spLocks noChangeArrowheads="1"/>
                </p:cNvSpPr>
                <p:nvPr/>
              </p:nvSpPr>
              <p:spPr bwMode="auto">
                <a:xfrm>
                  <a:off x="339" y="1568"/>
                  <a:ext cx="1527" cy="565"/>
                </a:xfrm>
                <a:prstGeom prst="rect">
                  <a:avLst/>
                </a:prstGeom>
                <a:solidFill>
                  <a:schemeClr val="bg1"/>
                </a:solidFill>
                <a:ln w="9525">
                  <a:solidFill>
                    <a:schemeClr val="tx1"/>
                  </a:solidFill>
                  <a:miter lim="800000"/>
                  <a:headEnd/>
                  <a:tailEnd/>
                </a:ln>
              </p:spPr>
              <p:txBody>
                <a:bodyPr/>
                <a:lstStyle/>
                <a:p>
                  <a:pPr algn="ctr">
                    <a:spcBef>
                      <a:spcPct val="30000"/>
                    </a:spcBef>
                  </a:pPr>
                  <a:r>
                    <a:rPr lang="en-US" dirty="0" err="1">
                      <a:latin typeface="Arial" panose="020B0604020202020204" pitchFamily="34" charset="0"/>
                      <a:ea typeface="ＭＳ Ｐゴシック" pitchFamily="34" charset="-128"/>
                      <a:cs typeface="Arial" panose="020B0604020202020204" pitchFamily="34" charset="0"/>
                    </a:rPr>
                    <a:t>Dấu</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thanh</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ngang</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phía</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trên</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là</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ký</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hiệu</a:t>
                  </a:r>
                  <a:r>
                    <a:rPr lang="en-US" dirty="0">
                      <a:latin typeface="Arial" panose="020B0604020202020204" pitchFamily="34" charset="0"/>
                      <a:ea typeface="ＭＳ Ｐゴシック" pitchFamily="34" charset="-128"/>
                      <a:cs typeface="Arial" panose="020B0604020202020204" pitchFamily="34" charset="0"/>
                    </a:rPr>
                    <a:t> </a:t>
                  </a:r>
                  <a:r>
                    <a:rPr lang="en-US" dirty="0" err="1">
                      <a:latin typeface="Arial" panose="020B0604020202020204" pitchFamily="34" charset="0"/>
                      <a:ea typeface="ＭＳ Ｐゴシック" pitchFamily="34" charset="-128"/>
                      <a:cs typeface="Arial" panose="020B0604020202020204" pitchFamily="34" charset="0"/>
                    </a:rPr>
                    <a:t>cho</a:t>
                  </a:r>
                  <a:r>
                    <a:rPr lang="en-US" dirty="0">
                      <a:latin typeface="Arial" panose="020B0604020202020204" pitchFamily="34" charset="0"/>
                      <a:ea typeface="ＭＳ Ｐゴシック" pitchFamily="34" charset="-128"/>
                      <a:cs typeface="Arial" panose="020B0604020202020204" pitchFamily="34" charset="0"/>
                    </a:rPr>
                    <a:t> </a:t>
                  </a:r>
                  <a:r>
                    <a:rPr lang="en-US" err="1">
                      <a:latin typeface="Arial" panose="020B0604020202020204" pitchFamily="34" charset="0"/>
                      <a:ea typeface="ＭＳ Ｐゴシック" pitchFamily="34" charset="-128"/>
                      <a:cs typeface="Arial" panose="020B0604020202020204" pitchFamily="34" charset="0"/>
                    </a:rPr>
                    <a:t>cổng</a:t>
                  </a:r>
                  <a:r>
                    <a:rPr lang="en-US">
                      <a:latin typeface="Arial" panose="020B0604020202020204" pitchFamily="34" charset="0"/>
                      <a:ea typeface="ＭＳ Ｐゴシック" pitchFamily="34" charset="-128"/>
                      <a:cs typeface="Arial" panose="020B0604020202020204" pitchFamily="34" charset="0"/>
                    </a:rPr>
                    <a:t> luận lý </a:t>
                  </a:r>
                  <a:r>
                    <a:rPr lang="en-US" dirty="0">
                      <a:latin typeface="Arial" panose="020B0604020202020204" pitchFamily="34" charset="0"/>
                      <a:ea typeface="ＭＳ Ｐゴシック" pitchFamily="34" charset="-128"/>
                      <a:cs typeface="Arial" panose="020B0604020202020204" pitchFamily="34" charset="0"/>
                    </a:rPr>
                    <a:t>NOT</a:t>
                  </a:r>
                </a:p>
              </p:txBody>
            </p:sp>
          </p:grpSp>
        </p:grpSp>
        <p:grpSp>
          <p:nvGrpSpPr>
            <p:cNvPr id="62" name="Group 50"/>
            <p:cNvGrpSpPr>
              <a:grpSpLocks/>
            </p:cNvGrpSpPr>
            <p:nvPr/>
          </p:nvGrpSpPr>
          <p:grpSpPr bwMode="auto">
            <a:xfrm>
              <a:off x="286" y="1960"/>
              <a:ext cx="1580" cy="1125"/>
              <a:chOff x="286" y="1960"/>
              <a:chExt cx="1580" cy="1125"/>
            </a:xfrm>
          </p:grpSpPr>
          <p:sp>
            <p:nvSpPr>
              <p:cNvPr id="63" name="Line 43"/>
              <p:cNvSpPr>
                <a:spLocks noChangeShapeType="1"/>
              </p:cNvSpPr>
              <p:nvPr/>
            </p:nvSpPr>
            <p:spPr bwMode="auto">
              <a:xfrm flipV="1">
                <a:off x="782" y="1961"/>
                <a:ext cx="0" cy="75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grpSp>
            <p:nvGrpSpPr>
              <p:cNvPr id="64" name="Group 44"/>
              <p:cNvGrpSpPr>
                <a:grpSpLocks/>
              </p:cNvGrpSpPr>
              <p:nvPr/>
            </p:nvGrpSpPr>
            <p:grpSpPr bwMode="auto">
              <a:xfrm>
                <a:off x="782" y="1960"/>
                <a:ext cx="666" cy="168"/>
                <a:chOff x="912" y="814"/>
                <a:chExt cx="864" cy="168"/>
              </a:xfrm>
            </p:grpSpPr>
            <p:sp>
              <p:nvSpPr>
                <p:cNvPr id="68" name="Line 45"/>
                <p:cNvSpPr>
                  <a:spLocks noChangeShapeType="1"/>
                </p:cNvSpPr>
                <p:nvPr/>
              </p:nvSpPr>
              <p:spPr bwMode="auto">
                <a:xfrm>
                  <a:off x="912" y="814"/>
                  <a:ext cx="86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sp>
              <p:nvSpPr>
                <p:cNvPr id="69" name="Line 46"/>
                <p:cNvSpPr>
                  <a:spLocks noChangeShapeType="1"/>
                </p:cNvSpPr>
                <p:nvPr/>
              </p:nvSpPr>
              <p:spPr bwMode="auto">
                <a:xfrm>
                  <a:off x="1776" y="814"/>
                  <a:ext cx="0" cy="168"/>
                </a:xfrm>
                <a:prstGeom prst="line">
                  <a:avLst/>
                </a:prstGeom>
                <a:noFill/>
                <a:ln w="9525">
                  <a:solidFill>
                    <a:schemeClr val="tx1"/>
                  </a:solidFill>
                  <a:round/>
                  <a:headEnd/>
                  <a:tailEnd type="stealth" w="med"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sz="2000">
                    <a:latin typeface="Times New Roman" pitchFamily="18" charset="0"/>
                    <a:cs typeface="Times New Roman" pitchFamily="18" charset="0"/>
                  </a:endParaRPr>
                </a:p>
              </p:txBody>
            </p:sp>
          </p:grpSp>
          <p:grpSp>
            <p:nvGrpSpPr>
              <p:cNvPr id="65" name="Group 47"/>
              <p:cNvGrpSpPr>
                <a:grpSpLocks/>
              </p:cNvGrpSpPr>
              <p:nvPr/>
            </p:nvGrpSpPr>
            <p:grpSpPr bwMode="auto">
              <a:xfrm>
                <a:off x="286" y="2486"/>
                <a:ext cx="1580" cy="599"/>
                <a:chOff x="286" y="1568"/>
                <a:chExt cx="1580" cy="399"/>
              </a:xfrm>
            </p:grpSpPr>
            <p:sp>
              <p:nvSpPr>
                <p:cNvPr id="66" name="Rectangle 48"/>
                <p:cNvSpPr>
                  <a:spLocks noChangeArrowheads="1"/>
                </p:cNvSpPr>
                <p:nvPr/>
              </p:nvSpPr>
              <p:spPr bwMode="auto">
                <a:xfrm>
                  <a:off x="378" y="1578"/>
                  <a:ext cx="1440" cy="35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sz="2000">
                    <a:latin typeface="Times New Roman" pitchFamily="18" charset="0"/>
                    <a:cs typeface="Times New Roman" pitchFamily="18" charset="0"/>
                  </a:endParaRPr>
                </a:p>
              </p:txBody>
            </p:sp>
            <p:sp>
              <p:nvSpPr>
                <p:cNvPr id="67" name="Rectangle 49"/>
                <p:cNvSpPr>
                  <a:spLocks noChangeArrowheads="1"/>
                </p:cNvSpPr>
                <p:nvPr/>
              </p:nvSpPr>
              <p:spPr bwMode="auto">
                <a:xfrm>
                  <a:off x="286" y="1568"/>
                  <a:ext cx="1580" cy="399"/>
                </a:xfrm>
                <a:prstGeom prst="rect">
                  <a:avLst/>
                </a:prstGeom>
                <a:solidFill>
                  <a:schemeClr val="bg1"/>
                </a:solidFill>
                <a:ln w="9525">
                  <a:solidFill>
                    <a:schemeClr val="tx1"/>
                  </a:solidFill>
                  <a:miter lim="800000"/>
                  <a:headEnd/>
                  <a:tailEnd/>
                </a:ln>
              </p:spPr>
              <p:txBody>
                <a:bodyPr/>
                <a:lstStyle/>
                <a:p>
                  <a:pPr algn="ctr">
                    <a:spcBef>
                      <a:spcPct val="30000"/>
                    </a:spcBef>
                  </a:pPr>
                  <a:r>
                    <a:rPr lang="en-US" i="1" dirty="0" err="1">
                      <a:latin typeface="Arial" panose="020B0604020202020204" pitchFamily="34" charset="0"/>
                      <a:ea typeface="ＭＳ Ｐゴシック" pitchFamily="34" charset="-128"/>
                      <a:cs typeface="Arial" panose="020B0604020202020204" pitchFamily="34" charset="0"/>
                    </a:rPr>
                    <a:t>Có</a:t>
                  </a:r>
                  <a:r>
                    <a:rPr lang="en-US" i="1" dirty="0">
                      <a:latin typeface="Arial" panose="020B0604020202020204" pitchFamily="34" charset="0"/>
                      <a:ea typeface="ＭＳ Ｐゴシック" pitchFamily="34" charset="-128"/>
                      <a:cs typeface="Arial" panose="020B0604020202020204" pitchFamily="34" charset="0"/>
                    </a:rPr>
                    <a:t> </a:t>
                  </a:r>
                  <a:r>
                    <a:rPr lang="en-US" i="1" dirty="0" err="1">
                      <a:latin typeface="Arial" panose="020B0604020202020204" pitchFamily="34" charset="0"/>
                      <a:ea typeface="ＭＳ Ｐゴシック" pitchFamily="34" charset="-128"/>
                      <a:cs typeface="Arial" panose="020B0604020202020204" pitchFamily="34" charset="0"/>
                    </a:rPr>
                    <a:t>thể</a:t>
                  </a:r>
                  <a:r>
                    <a:rPr lang="en-US" i="1" dirty="0">
                      <a:latin typeface="Arial" panose="020B0604020202020204" pitchFamily="34" charset="0"/>
                      <a:ea typeface="ＭＳ Ｐゴシック" pitchFamily="34" charset="-128"/>
                      <a:cs typeface="Arial" panose="020B0604020202020204" pitchFamily="34" charset="0"/>
                    </a:rPr>
                    <a:t> </a:t>
                  </a:r>
                  <a:r>
                    <a:rPr lang="en-US" i="1" dirty="0" err="1">
                      <a:latin typeface="Arial" panose="020B0604020202020204" pitchFamily="34" charset="0"/>
                      <a:ea typeface="ＭＳ Ｐゴシック" pitchFamily="34" charset="-128"/>
                      <a:cs typeface="Arial" panose="020B0604020202020204" pitchFamily="34" charset="0"/>
                    </a:rPr>
                    <a:t>thay</a:t>
                  </a:r>
                  <a:r>
                    <a:rPr lang="en-US" i="1" dirty="0">
                      <a:latin typeface="Arial" panose="020B0604020202020204" pitchFamily="34" charset="0"/>
                      <a:ea typeface="ＭＳ Ｐゴシック" pitchFamily="34" charset="-128"/>
                      <a:cs typeface="Arial" panose="020B0604020202020204" pitchFamily="34" charset="0"/>
                    </a:rPr>
                    <a:t> </a:t>
                  </a:r>
                  <a:r>
                    <a:rPr lang="en-US" i="1" dirty="0" err="1">
                      <a:latin typeface="Arial" panose="020B0604020202020204" pitchFamily="34" charset="0"/>
                      <a:ea typeface="ＭＳ Ｐゴシック" pitchFamily="34" charset="-128"/>
                      <a:cs typeface="Arial" panose="020B0604020202020204" pitchFamily="34" charset="0"/>
                    </a:rPr>
                    <a:t>thế</a:t>
                  </a:r>
                  <a:r>
                    <a:rPr lang="en-US" i="1" dirty="0">
                      <a:latin typeface="Arial" panose="020B0604020202020204" pitchFamily="34" charset="0"/>
                      <a:ea typeface="ＭＳ Ｐゴシック" pitchFamily="34" charset="-128"/>
                      <a:cs typeface="Arial" panose="020B0604020202020204" pitchFamily="34" charset="0"/>
                    </a:rPr>
                    <a:t> </a:t>
                  </a:r>
                  <a:r>
                    <a:rPr lang="en-US" i="1" dirty="0" err="1">
                      <a:latin typeface="Arial" panose="020B0604020202020204" pitchFamily="34" charset="0"/>
                      <a:ea typeface="ＭＳ Ｐゴシック" pitchFamily="34" charset="-128"/>
                      <a:cs typeface="Arial" panose="020B0604020202020204" pitchFamily="34" charset="0"/>
                    </a:rPr>
                    <a:t>ký</a:t>
                  </a:r>
                  <a:r>
                    <a:rPr lang="en-US" i="1" dirty="0">
                      <a:latin typeface="Arial" panose="020B0604020202020204" pitchFamily="34" charset="0"/>
                      <a:ea typeface="ＭＳ Ｐゴシック" pitchFamily="34" charset="-128"/>
                      <a:cs typeface="Arial" panose="020B0604020202020204" pitchFamily="34" charset="0"/>
                    </a:rPr>
                    <a:t> </a:t>
                  </a:r>
                  <a:r>
                    <a:rPr lang="en-US" i="1" dirty="0" err="1">
                      <a:latin typeface="Arial" panose="020B0604020202020204" pitchFamily="34" charset="0"/>
                      <a:ea typeface="ＭＳ Ｐゴシック" pitchFamily="34" charset="-128"/>
                      <a:cs typeface="Arial" panose="020B0604020202020204" pitchFamily="34" charset="0"/>
                    </a:rPr>
                    <a:t>hiệu</a:t>
                  </a:r>
                  <a:r>
                    <a:rPr lang="en-US" i="1" dirty="0">
                      <a:latin typeface="Arial" panose="020B0604020202020204" pitchFamily="34" charset="0"/>
                      <a:ea typeface="ＭＳ Ｐゴシック" pitchFamily="34" charset="-128"/>
                      <a:cs typeface="Arial" panose="020B0604020202020204" pitchFamily="34" charset="0"/>
                    </a:rPr>
                    <a:t> </a:t>
                  </a:r>
                  <a:r>
                    <a:rPr lang="en-US" i="1" err="1">
                      <a:latin typeface="Arial" panose="020B0604020202020204" pitchFamily="34" charset="0"/>
                      <a:ea typeface="ＭＳ Ｐゴシック" pitchFamily="34" charset="-128"/>
                      <a:cs typeface="Arial" panose="020B0604020202020204" pitchFamily="34" charset="0"/>
                    </a:rPr>
                    <a:t>cổng</a:t>
                  </a:r>
                  <a:r>
                    <a:rPr lang="en-US" i="1">
                      <a:latin typeface="Arial" panose="020B0604020202020204" pitchFamily="34" charset="0"/>
                      <a:ea typeface="ＭＳ Ｐゴシック" pitchFamily="34" charset="-128"/>
                      <a:cs typeface="Arial" panose="020B0604020202020204" pitchFamily="34" charset="0"/>
                    </a:rPr>
                    <a:t> luận lý </a:t>
                  </a:r>
                  <a:r>
                    <a:rPr lang="en-US" i="1" dirty="0">
                      <a:latin typeface="Arial" panose="020B0604020202020204" pitchFamily="34" charset="0"/>
                      <a:ea typeface="ＭＳ Ｐゴシック" pitchFamily="34" charset="-128"/>
                      <a:cs typeface="Arial" panose="020B0604020202020204" pitchFamily="34" charset="0"/>
                    </a:rPr>
                    <a:t>NOT </a:t>
                  </a:r>
                  <a:r>
                    <a:rPr lang="en-US" i="1" dirty="0" err="1">
                      <a:latin typeface="Arial" panose="020B0604020202020204" pitchFamily="34" charset="0"/>
                      <a:ea typeface="ＭＳ Ｐゴシック" pitchFamily="34" charset="-128"/>
                      <a:cs typeface="Arial" panose="020B0604020202020204" pitchFamily="34" charset="0"/>
                    </a:rPr>
                    <a:t>bằng</a:t>
                  </a:r>
                  <a:r>
                    <a:rPr lang="en-US" i="1" dirty="0">
                      <a:latin typeface="Arial" panose="020B0604020202020204" pitchFamily="34" charset="0"/>
                      <a:ea typeface="ＭＳ Ｐゴシック" pitchFamily="34" charset="-128"/>
                      <a:cs typeface="Arial" panose="020B0604020202020204" pitchFamily="34" charset="0"/>
                    </a:rPr>
                    <a:t> </a:t>
                  </a:r>
                  <a:r>
                    <a:rPr lang="en-US" b="1" i="1" dirty="0" err="1">
                      <a:latin typeface="Arial" panose="020B0604020202020204" pitchFamily="34" charset="0"/>
                      <a:ea typeface="ＭＳ Ｐゴシック" pitchFamily="34" charset="-128"/>
                      <a:cs typeface="Arial" panose="020B0604020202020204" pitchFamily="34" charset="0"/>
                    </a:rPr>
                    <a:t>dấu</a:t>
                  </a:r>
                  <a:r>
                    <a:rPr lang="en-US" b="1" i="1" dirty="0">
                      <a:latin typeface="Arial" panose="020B0604020202020204" pitchFamily="34" charset="0"/>
                      <a:ea typeface="ＭＳ Ｐゴシック" pitchFamily="34" charset="-128"/>
                      <a:cs typeface="Arial" panose="020B0604020202020204" pitchFamily="34" charset="0"/>
                    </a:rPr>
                    <a:t> </a:t>
                  </a:r>
                  <a:r>
                    <a:rPr lang="en-US" b="1" i="1" dirty="0" err="1">
                      <a:latin typeface="Arial" panose="020B0604020202020204" pitchFamily="34" charset="0"/>
                      <a:ea typeface="ＭＳ Ｐゴシック" pitchFamily="34" charset="-128"/>
                      <a:cs typeface="Arial" panose="020B0604020202020204" pitchFamily="34" charset="0"/>
                    </a:rPr>
                    <a:t>phẩy</a:t>
                  </a:r>
                  <a:r>
                    <a:rPr lang="en-US" b="1" i="1" dirty="0">
                      <a:latin typeface="Arial" panose="020B0604020202020204" pitchFamily="34" charset="0"/>
                      <a:ea typeface="ＭＳ Ｐゴシック" pitchFamily="34" charset="-128"/>
                      <a:cs typeface="Arial" panose="020B0604020202020204" pitchFamily="34" charset="0"/>
                    </a:rPr>
                    <a:t> (')</a:t>
                  </a:r>
                </a:p>
              </p:txBody>
            </p:sp>
          </p:grpSp>
        </p:grpSp>
      </p:grpSp>
      <p:grpSp>
        <p:nvGrpSpPr>
          <p:cNvPr id="79" name="Group 52"/>
          <p:cNvGrpSpPr>
            <a:grpSpLocks/>
          </p:cNvGrpSpPr>
          <p:nvPr/>
        </p:nvGrpSpPr>
        <p:grpSpPr bwMode="auto">
          <a:xfrm>
            <a:off x="6858000" y="3682832"/>
            <a:ext cx="2285724" cy="2409572"/>
            <a:chOff x="2971" y="2123"/>
            <a:chExt cx="1888" cy="1801"/>
          </a:xfrm>
        </p:grpSpPr>
        <p:sp>
          <p:nvSpPr>
            <p:cNvPr id="80" name="Rectangle 6"/>
            <p:cNvSpPr>
              <a:spLocks noChangeArrowheads="1"/>
            </p:cNvSpPr>
            <p:nvPr/>
          </p:nvSpPr>
          <p:spPr bwMode="auto">
            <a:xfrm>
              <a:off x="2971" y="3626"/>
              <a:ext cx="1888" cy="29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228600" lvl="2" algn="ctr">
                <a:spcBef>
                  <a:spcPct val="10000"/>
                </a:spcBef>
              </a:pPr>
              <a:r>
                <a:rPr lang="en-US" sz="2000" dirty="0" err="1">
                  <a:latin typeface="Arial" panose="020B0604020202020204" pitchFamily="34" charset="0"/>
                  <a:ea typeface="ＭＳ Ｐゴシック" pitchFamily="34" charset="-128"/>
                  <a:cs typeface="Arial" panose="020B0604020202020204" pitchFamily="34" charset="0"/>
                </a:rPr>
                <a:t>Bảng</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sự</a:t>
              </a:r>
              <a:r>
                <a:rPr lang="en-US" sz="2000" dirty="0">
                  <a:latin typeface="Arial" panose="020B0604020202020204" pitchFamily="34" charset="0"/>
                  <a:ea typeface="ＭＳ Ｐゴシック" pitchFamily="34" charset="-128"/>
                  <a:cs typeface="Arial" panose="020B0604020202020204" pitchFamily="34" charset="0"/>
                </a:rPr>
                <a:t> </a:t>
              </a:r>
              <a:r>
                <a:rPr lang="en-US" sz="2000" dirty="0" err="1">
                  <a:latin typeface="Arial" panose="020B0604020202020204" pitchFamily="34" charset="0"/>
                  <a:ea typeface="ＭＳ Ｐゴシック" pitchFamily="34" charset="-128"/>
                  <a:cs typeface="Arial" panose="020B0604020202020204" pitchFamily="34" charset="0"/>
                </a:rPr>
                <a:t>thật</a:t>
              </a:r>
              <a:r>
                <a:rPr lang="en-US" sz="2000" dirty="0">
                  <a:latin typeface="Arial" panose="020B0604020202020204" pitchFamily="34" charset="0"/>
                  <a:ea typeface="ＭＳ Ｐゴシック" pitchFamily="34" charset="-128"/>
                  <a:cs typeface="Arial" panose="020B0604020202020204" pitchFamily="34" charset="0"/>
                </a:rPr>
                <a:t> </a:t>
              </a:r>
              <a:r>
                <a:rPr lang="en-US" sz="2000" err="1">
                  <a:latin typeface="Arial" panose="020B0604020202020204" pitchFamily="34" charset="0"/>
                  <a:ea typeface="ＭＳ Ｐゴシック" pitchFamily="34" charset="-128"/>
                  <a:cs typeface="Arial" panose="020B0604020202020204" pitchFamily="34" charset="0"/>
                </a:rPr>
                <a:t>cổng</a:t>
              </a:r>
              <a:r>
                <a:rPr lang="en-US" sz="2000">
                  <a:latin typeface="Arial" panose="020B0604020202020204" pitchFamily="34" charset="0"/>
                  <a:ea typeface="ＭＳ Ｐゴシック" pitchFamily="34" charset="-128"/>
                  <a:cs typeface="Arial" panose="020B0604020202020204" pitchFamily="34" charset="0"/>
                </a:rPr>
                <a:t> luận lý </a:t>
              </a:r>
              <a:r>
                <a:rPr lang="en-US" sz="2000" dirty="0">
                  <a:latin typeface="Arial" panose="020B0604020202020204" pitchFamily="34" charset="0"/>
                  <a:ea typeface="ＭＳ Ｐゴシック" pitchFamily="34" charset="-128"/>
                  <a:cs typeface="Arial" panose="020B0604020202020204" pitchFamily="34" charset="0"/>
                </a:rPr>
                <a:t>NOT</a:t>
              </a:r>
            </a:p>
          </p:txBody>
        </p:sp>
        <p:pic>
          <p:nvPicPr>
            <p:cNvPr id="81" name="Picture 51" descr="fg03_0110a_AAGTNLD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6" y="2123"/>
              <a:ext cx="1642" cy="1471"/>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2" name="Footer Placeholder 4">
            <a:extLst>
              <a:ext uri="{FF2B5EF4-FFF2-40B4-BE49-F238E27FC236}">
                <a16:creationId xmlns:a16="http://schemas.microsoft.com/office/drawing/2014/main" id="{93C9E3D8-7ECB-6F39-864F-C31B64AF997F}"/>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60937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500"/>
                                        <p:tgtEl>
                                          <p:spTgt spid="5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wipe(up)">
                                      <p:cBhvr>
                                        <p:cTn id="15" dur="500"/>
                                        <p:tgtEl>
                                          <p:spTgt spid="5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wipe(left)">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wipe(up)">
                                      <p:cBhvr>
                                        <p:cTn id="25"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fontScale="90000"/>
          </a:bodyPr>
          <a:lstStyle/>
          <a:p>
            <a:r>
              <a:rPr lang="en-US" err="1"/>
              <a:t>Cổng</a:t>
            </a:r>
            <a:r>
              <a:rPr lang="en-US"/>
              <a:t> luận lý </a:t>
            </a:r>
            <a:r>
              <a:rPr lang="en-US" dirty="0"/>
              <a:t>NOT</a:t>
            </a:r>
          </a:p>
        </p:txBody>
      </p:sp>
      <p:sp>
        <p:nvSpPr>
          <p:cNvPr id="3" name="Content Placeholder 2"/>
          <p:cNvSpPr>
            <a:spLocks noGrp="1"/>
          </p:cNvSpPr>
          <p:nvPr>
            <p:ph idx="1"/>
          </p:nvPr>
        </p:nvSpPr>
        <p:spPr/>
        <p:txBody>
          <a:bodyPr/>
          <a:lstStyle/>
          <a:p>
            <a:r>
              <a:rPr lang="en-US" err="1">
                <a:ea typeface="ＭＳ Ｐゴシック" pitchFamily="34" charset="-128"/>
              </a:rPr>
              <a:t>Cổng</a:t>
            </a:r>
            <a:r>
              <a:rPr lang="en-US">
                <a:ea typeface="ＭＳ Ｐゴシック" pitchFamily="34" charset="-128"/>
              </a:rPr>
              <a:t> luận lý </a:t>
            </a:r>
            <a:r>
              <a:rPr lang="en-US" dirty="0">
                <a:ea typeface="ＭＳ Ｐゴシック" pitchFamily="34" charset="-128"/>
              </a:rPr>
              <a:t>NOT </a:t>
            </a:r>
            <a:r>
              <a:rPr lang="en-US" dirty="0" err="1">
                <a:ea typeface="ＭＳ Ｐゴシック" pitchFamily="34" charset="-128"/>
              </a:rPr>
              <a:t>có</a:t>
            </a:r>
            <a:r>
              <a:rPr lang="en-US" dirty="0">
                <a:ea typeface="ＭＳ Ｐゴシック" pitchFamily="34" charset="-128"/>
              </a:rPr>
              <a:t> </a:t>
            </a:r>
            <a:r>
              <a:rPr lang="en-US" dirty="0" err="1">
                <a:ea typeface="ＭＳ Ｐゴシック" pitchFamily="34" charset="-128"/>
              </a:rPr>
              <a:t>thể</a:t>
            </a:r>
            <a:r>
              <a:rPr lang="en-US" dirty="0">
                <a:ea typeface="ＭＳ Ｐゴシック" pitchFamily="34" charset="-128"/>
              </a:rPr>
              <a:t> </a:t>
            </a:r>
            <a:r>
              <a:rPr lang="en-US" dirty="0" err="1">
                <a:ea typeface="ＭＳ Ｐゴシック" pitchFamily="34" charset="-128"/>
              </a:rPr>
              <a:t>gọi</a:t>
            </a:r>
            <a:r>
              <a:rPr lang="en-US" dirty="0">
                <a:ea typeface="ＭＳ Ｐゴシック" pitchFamily="34" charset="-128"/>
              </a:rPr>
              <a:t> </a:t>
            </a:r>
            <a:r>
              <a:rPr lang="en-US" err="1">
                <a:ea typeface="ＭＳ Ｐゴシック" pitchFamily="34" charset="-128"/>
              </a:rPr>
              <a:t>chung</a:t>
            </a:r>
            <a:r>
              <a:rPr lang="en-US">
                <a:ea typeface="ＭＳ Ｐゴシック" pitchFamily="34" charset="-128"/>
              </a:rPr>
              <a:t> là cổng </a:t>
            </a:r>
            <a:r>
              <a:rPr lang="en-US" b="1" i="1" u="sng">
                <a:ea typeface="ＭＳ Ｐゴシック" pitchFamily="34" charset="-128"/>
              </a:rPr>
              <a:t>INVERTER</a:t>
            </a:r>
            <a:endParaRPr lang="en-US" b="1" i="1" u="sng" dirty="0"/>
          </a:p>
        </p:txBody>
      </p:sp>
      <p:sp>
        <p:nvSpPr>
          <p:cNvPr id="5" name="Footer Placeholder 4"/>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10" name="Slide Number Placeholder 9"/>
          <p:cNvSpPr>
            <a:spLocks noGrp="1"/>
          </p:cNvSpPr>
          <p:nvPr>
            <p:ph type="sldNum" sz="quarter" idx="12"/>
          </p:nvPr>
        </p:nvSpPr>
        <p:spPr/>
        <p:txBody>
          <a:bodyPr/>
          <a:lstStyle/>
          <a:p>
            <a:fld id="{800C8475-47C1-49C9-BEE5-594F8CF4D71F}" type="slidenum">
              <a:rPr kumimoji="1" lang="ja-JP" altLang="en-US" smtClean="0"/>
              <a:pPr/>
              <a:t>20</a:t>
            </a:fld>
            <a:endParaRPr kumimoji="1" lang="ja-JP" altLang="en-US" dirty="0"/>
          </a:p>
        </p:txBody>
      </p:sp>
      <p:sp>
        <p:nvSpPr>
          <p:cNvPr id="4" name="Date Placeholder 3"/>
          <p:cNvSpPr>
            <a:spLocks noGrp="1"/>
          </p:cNvSpPr>
          <p:nvPr>
            <p:ph type="dt" sz="half" idx="4294967295"/>
          </p:nvPr>
        </p:nvSpPr>
        <p:spPr bwMode="auto">
          <a:xfrm>
            <a:off x="0" y="6524625"/>
            <a:ext cx="2133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6E8AA5F7-EA5F-433C-A847-B52E06708DE5}" type="datetime1">
              <a:rPr lang="en-US" altLang="ja-JP" smtClean="0"/>
              <a:pPr/>
              <a:t>8/21/2023</a:t>
            </a:fld>
            <a:endParaRPr kumimoji="1" lang="ja-JP" altLang="en-US"/>
          </a:p>
        </p:txBody>
      </p:sp>
      <p:sp>
        <p:nvSpPr>
          <p:cNvPr id="8" name="TextBox 7"/>
          <p:cNvSpPr txBox="1"/>
          <p:nvPr/>
        </p:nvSpPr>
        <p:spPr>
          <a:xfrm>
            <a:off x="2372711" y="4794458"/>
            <a:ext cx="6781800" cy="1384995"/>
          </a:xfrm>
          <a:prstGeom prst="rect">
            <a:avLst/>
          </a:prstGeom>
          <a:solidFill>
            <a:srgbClr val="92D050"/>
          </a:solidFill>
          <a:ln>
            <a:solidFill>
              <a:schemeClr val="tx1"/>
            </a:solidFill>
          </a:ln>
        </p:spPr>
        <p:txBody>
          <a:bodyPr wrap="square" rtlCol="0">
            <a:spAutoFit/>
          </a:bodyPr>
          <a:lstStyle/>
          <a:p>
            <a:pPr algn="ctr">
              <a:spcBef>
                <a:spcPct val="30000"/>
              </a:spcBef>
            </a:pPr>
            <a:r>
              <a:rPr lang="en-US" sz="2800" err="1">
                <a:latin typeface="Arial" panose="020B0604020202020204" pitchFamily="34" charset="0"/>
                <a:ea typeface="ＭＳ Ｐゴシック" pitchFamily="34" charset="-128"/>
                <a:cs typeface="Arial" panose="020B0604020202020204" pitchFamily="34" charset="0"/>
              </a:rPr>
              <a:t>Cổng</a:t>
            </a:r>
            <a:r>
              <a:rPr lang="en-US" sz="2800">
                <a:latin typeface="Arial" panose="020B0604020202020204" pitchFamily="34" charset="0"/>
                <a:ea typeface="ＭＳ Ｐゴシック" pitchFamily="34" charset="-128"/>
                <a:cs typeface="Arial" panose="020B0604020202020204" pitchFamily="34" charset="0"/>
              </a:rPr>
              <a:t> luận lý </a:t>
            </a:r>
            <a:r>
              <a:rPr lang="en-US" sz="2800" dirty="0" err="1">
                <a:latin typeface="Arial" panose="020B0604020202020204" pitchFamily="34" charset="0"/>
                <a:ea typeface="ＭＳ Ｐゴシック" pitchFamily="34" charset="-128"/>
                <a:cs typeface="Arial" panose="020B0604020202020204" pitchFamily="34" charset="0"/>
              </a:rPr>
              <a:t>này</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luôn</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luôn</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chỉ</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có</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duy</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nhất</a:t>
            </a:r>
            <a:r>
              <a:rPr lang="en-US" sz="2800" dirty="0">
                <a:latin typeface="Arial" panose="020B0604020202020204" pitchFamily="34" charset="0"/>
                <a:ea typeface="ＭＳ Ｐゴシック" pitchFamily="34" charset="-128"/>
                <a:cs typeface="Arial" panose="020B0604020202020204" pitchFamily="34" charset="0"/>
              </a:rPr>
              <a:t> 1 input, </a:t>
            </a:r>
            <a:r>
              <a:rPr lang="en-US" sz="2800" dirty="0" err="1">
                <a:latin typeface="Arial" panose="020B0604020202020204" pitchFamily="34" charset="0"/>
                <a:ea typeface="ＭＳ Ｐゴシック" pitchFamily="34" charset="-128"/>
                <a:cs typeface="Arial" panose="020B0604020202020204" pitchFamily="34" charset="0"/>
              </a:rPr>
              <a:t>và</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trạng</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thái</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của</a:t>
            </a:r>
            <a:r>
              <a:rPr lang="en-US" sz="2800" dirty="0">
                <a:latin typeface="Arial" panose="020B0604020202020204" pitchFamily="34" charset="0"/>
                <a:ea typeface="ＭＳ Ｐゴシック" pitchFamily="34" charset="-128"/>
                <a:cs typeface="Arial" panose="020B0604020202020204" pitchFamily="34" charset="0"/>
              </a:rPr>
              <a:t> output </a:t>
            </a:r>
            <a:r>
              <a:rPr lang="en-US" sz="2800" dirty="0" err="1">
                <a:latin typeface="Arial" panose="020B0604020202020204" pitchFamily="34" charset="0"/>
                <a:ea typeface="ＭＳ Ｐゴシック" pitchFamily="34" charset="-128"/>
                <a:cs typeface="Arial" panose="020B0604020202020204" pitchFamily="34" charset="0"/>
              </a:rPr>
              <a:t>sẽ</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đối</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nghịch</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với</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trạng</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thái</a:t>
            </a:r>
            <a:r>
              <a:rPr lang="en-US" sz="2800" dirty="0">
                <a:latin typeface="Arial" panose="020B0604020202020204" pitchFamily="34" charset="0"/>
                <a:ea typeface="ＭＳ Ｐゴシック" pitchFamily="34" charset="-128"/>
                <a:cs typeface="Arial" panose="020B0604020202020204" pitchFamily="34" charset="0"/>
              </a:rPr>
              <a:t> </a:t>
            </a:r>
            <a:r>
              <a:rPr lang="en-US" sz="2800" dirty="0" err="1">
                <a:latin typeface="Arial" panose="020B0604020202020204" pitchFamily="34" charset="0"/>
                <a:ea typeface="ＭＳ Ｐゴシック" pitchFamily="34" charset="-128"/>
                <a:cs typeface="Arial" panose="020B0604020202020204" pitchFamily="34" charset="0"/>
              </a:rPr>
              <a:t>của</a:t>
            </a:r>
            <a:r>
              <a:rPr lang="en-US" sz="2800" dirty="0">
                <a:latin typeface="Arial" panose="020B0604020202020204" pitchFamily="34" charset="0"/>
                <a:ea typeface="ＭＳ Ｐゴシック" pitchFamily="34" charset="-128"/>
                <a:cs typeface="Arial" panose="020B0604020202020204" pitchFamily="34" charset="0"/>
              </a:rPr>
              <a:t> input</a:t>
            </a:r>
          </a:p>
        </p:txBody>
      </p:sp>
      <p:sp useBgFill="1">
        <p:nvSpPr>
          <p:cNvPr id="6" name="TextBox 5"/>
          <p:cNvSpPr txBox="1"/>
          <p:nvPr/>
        </p:nvSpPr>
        <p:spPr>
          <a:xfrm>
            <a:off x="5410201" y="4034136"/>
            <a:ext cx="3086099" cy="461665"/>
          </a:xfrm>
          <a:prstGeom prst="rect">
            <a:avLst/>
          </a:prstGeom>
        </p:spPr>
        <p:txBody>
          <a:bodyPr wrap="square" rtlCol="0">
            <a:spAutoFit/>
          </a:bodyPr>
          <a:lstStyle/>
          <a:p>
            <a:r>
              <a:rPr lang="en-GB" sz="2400" b="1" err="1">
                <a:latin typeface="Arial" panose="020B0604020202020204" pitchFamily="34" charset="0"/>
                <a:cs typeface="Arial" panose="020B0604020202020204" pitchFamily="34" charset="0"/>
              </a:rPr>
              <a:t>Dấu</a:t>
            </a:r>
            <a:r>
              <a:rPr lang="en-GB" sz="2400" b="1">
                <a:latin typeface="Arial" panose="020B0604020202020204" pitchFamily="34" charset="0"/>
                <a:cs typeface="Arial" panose="020B0604020202020204" pitchFamily="34" charset="0"/>
              </a:rPr>
              <a:t> bù/đảo ngược</a:t>
            </a:r>
            <a:endParaRPr lang="en-US" sz="2400" b="1"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047876"/>
            <a:ext cx="5143500" cy="1990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892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6059" name="Group 11"/>
          <p:cNvGrpSpPr>
            <a:grpSpLocks/>
          </p:cNvGrpSpPr>
          <p:nvPr/>
        </p:nvGrpSpPr>
        <p:grpSpPr bwMode="auto">
          <a:xfrm>
            <a:off x="2209801" y="5851522"/>
            <a:ext cx="7848601" cy="549405"/>
            <a:chOff x="432" y="3335"/>
            <a:chExt cx="4944" cy="435"/>
          </a:xfrm>
          <a:solidFill>
            <a:srgbClr val="92D050"/>
          </a:solidFill>
        </p:grpSpPr>
        <p:sp>
          <p:nvSpPr>
            <p:cNvPr id="386061" name="Rectangle 13"/>
            <p:cNvSpPr>
              <a:spLocks noChangeArrowheads="1"/>
            </p:cNvSpPr>
            <p:nvPr/>
          </p:nvSpPr>
          <p:spPr bwMode="auto">
            <a:xfrm>
              <a:off x="432" y="3450"/>
              <a:ext cx="4944" cy="320"/>
            </a:xfrm>
            <a:prstGeom prst="rect">
              <a:avLst/>
            </a:prstGeom>
            <a:grp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sz="2400">
                <a:latin typeface="Times New Roman" pitchFamily="18" charset="0"/>
                <a:cs typeface="Times New Roman" pitchFamily="18" charset="0"/>
              </a:endParaRPr>
            </a:p>
          </p:txBody>
        </p:sp>
        <p:sp>
          <p:nvSpPr>
            <p:cNvPr id="386060" name="Rectangle 12"/>
            <p:cNvSpPr>
              <a:spLocks noChangeArrowheads="1"/>
            </p:cNvSpPr>
            <p:nvPr/>
          </p:nvSpPr>
          <p:spPr bwMode="auto">
            <a:xfrm>
              <a:off x="432" y="3335"/>
              <a:ext cx="4944" cy="320"/>
            </a:xfrm>
            <a:prstGeom prst="rect">
              <a:avLst/>
            </a:prstGeom>
            <a:grpFill/>
            <a:ln>
              <a:noFill/>
            </a:ln>
            <a:extLs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lgn="ctr">
                <a:spcBef>
                  <a:spcPct val="30000"/>
                </a:spcBef>
              </a:pPr>
              <a:r>
                <a:rPr lang="en-US" sz="2800" dirty="0" err="1">
                  <a:latin typeface="Times New Roman" pitchFamily="18" charset="0"/>
                  <a:ea typeface="ＭＳ Ｐゴシック" pitchFamily="34" charset="-128"/>
                  <a:cs typeface="Times New Roman" pitchFamily="18" charset="0"/>
                </a:rPr>
                <a:t>Bất</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cứ</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khi</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nào</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có</a:t>
              </a:r>
              <a:r>
                <a:rPr lang="en-US" sz="2800" dirty="0">
                  <a:latin typeface="Times New Roman" pitchFamily="18" charset="0"/>
                  <a:ea typeface="ＭＳ Ｐゴシック" pitchFamily="34" charset="-128"/>
                  <a:cs typeface="Times New Roman" pitchFamily="18" charset="0"/>
                </a:rPr>
                <a:t>: input = 0, output = 1, </a:t>
              </a:r>
              <a:r>
                <a:rPr lang="en-US" sz="2800" dirty="0" err="1">
                  <a:latin typeface="Times New Roman" pitchFamily="18" charset="0"/>
                  <a:ea typeface="ＭＳ Ｐゴシック" pitchFamily="34" charset="-128"/>
                  <a:cs typeface="Times New Roman" pitchFamily="18" charset="0"/>
                </a:rPr>
                <a:t>và</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ngược</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lại</a:t>
              </a:r>
              <a:endParaRPr lang="en-US" sz="2800" dirty="0">
                <a:latin typeface="Times New Roman" pitchFamily="18" charset="0"/>
                <a:ea typeface="ＭＳ Ｐゴシック" pitchFamily="34" charset="-128"/>
                <a:cs typeface="Times New Roman" pitchFamily="18" charset="0"/>
              </a:endParaRPr>
            </a:p>
          </p:txBody>
        </p:sp>
      </p:grpSp>
      <p:pic>
        <p:nvPicPr>
          <p:cNvPr id="386057" name="Picture 9" descr="fg03_0110c_AAGTNLD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78264" y="2314575"/>
            <a:ext cx="4389437" cy="3402012"/>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itle 6"/>
          <p:cNvSpPr>
            <a:spLocks noGrp="1"/>
          </p:cNvSpPr>
          <p:nvPr>
            <p:ph type="title"/>
          </p:nvPr>
        </p:nvSpPr>
        <p:spPr/>
        <p:txBody>
          <a:bodyPr>
            <a:normAutofit fontScale="90000"/>
          </a:bodyPr>
          <a:lstStyle/>
          <a:p>
            <a:r>
              <a:rPr lang="en-US" err="1"/>
              <a:t>Cổng</a:t>
            </a:r>
            <a:r>
              <a:rPr lang="en-US"/>
              <a:t> luận lý </a:t>
            </a:r>
            <a:r>
              <a:rPr lang="en-US" dirty="0"/>
              <a:t>NOT</a:t>
            </a:r>
          </a:p>
        </p:txBody>
      </p:sp>
      <p:sp>
        <p:nvSpPr>
          <p:cNvPr id="5" name="Content Placeholder 4">
            <a:extLst>
              <a:ext uri="{FF2B5EF4-FFF2-40B4-BE49-F238E27FC236}">
                <a16:creationId xmlns:a16="http://schemas.microsoft.com/office/drawing/2014/main" id="{7E79C7BB-BD26-5907-E17E-12EDBF98B187}"/>
              </a:ext>
            </a:extLst>
          </p:cNvPr>
          <p:cNvSpPr>
            <a:spLocks noGrp="1"/>
          </p:cNvSpPr>
          <p:nvPr>
            <p:ph idx="1"/>
          </p:nvPr>
        </p:nvSpPr>
        <p:spPr/>
        <p:txBody>
          <a:bodyPr/>
          <a:lstStyle/>
          <a:p>
            <a:r>
              <a:rPr lang="vi-VN"/>
              <a:t>Cổng INVERTER nghịch đảo (lấy bù) tín hiệu ngõ vào tại tất cả các thời điểm để tạo ra tín hiệu ngõ ra tương ứng</a:t>
            </a:r>
          </a:p>
          <a:p>
            <a:endParaRPr lang="en-US"/>
          </a:p>
        </p:txBody>
      </p:sp>
      <p:sp>
        <p:nvSpPr>
          <p:cNvPr id="3" name="Footer Placeholder 2"/>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2" name="Date Placeholder 1"/>
          <p:cNvSpPr>
            <a:spLocks noGrp="1"/>
          </p:cNvSpPr>
          <p:nvPr>
            <p:ph type="dt" sz="half" idx="13"/>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6E8AA5F7-EA5F-433C-A847-B52E06708DE5}" type="datetime1">
              <a:rPr lang="en-US" altLang="ja-JP" smtClean="0"/>
              <a:pPr/>
              <a:t>8/21/2023</a:t>
            </a:fld>
            <a:endParaRPr kumimoji="1" lang="ja-JP" altLang="en-US"/>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21</a:t>
            </a:fld>
            <a:endParaRPr kumimoji="1" lang="ja-JP" altLang="en-US" dirty="0"/>
          </a:p>
        </p:txBody>
      </p:sp>
    </p:spTree>
    <p:extLst>
      <p:ext uri="{BB962C8B-B14F-4D97-AF65-F5344CB8AC3E}">
        <p14:creationId xmlns:p14="http://schemas.microsoft.com/office/powerpoint/2010/main" val="3531312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95601" y="5029201"/>
            <a:ext cx="6313585" cy="954107"/>
          </a:xfrm>
          <a:prstGeom prst="rect">
            <a:avLst/>
          </a:prstGeom>
          <a:solidFill>
            <a:srgbClr val="92D050"/>
          </a:solidFill>
          <a:ln>
            <a:solidFill>
              <a:schemeClr val="tx1"/>
            </a:solidFill>
          </a:ln>
        </p:spPr>
        <p:txBody>
          <a:bodyPr wrap="square" rtlCol="0">
            <a:spAutoFit/>
          </a:bodyPr>
          <a:lstStyle/>
          <a:p>
            <a:pPr algn="ctr"/>
            <a:r>
              <a:rPr lang="en-US" sz="2800" dirty="0" err="1">
                <a:latin typeface="Times New Roman" pitchFamily="18" charset="0"/>
                <a:ea typeface="ＭＳ Ｐゴシック" pitchFamily="34" charset="-128"/>
                <a:cs typeface="Times New Roman" pitchFamily="18" charset="0"/>
              </a:rPr>
              <a:t>Ba</a:t>
            </a:r>
            <a:r>
              <a:rPr lang="en-US" sz="2800" dirty="0">
                <a:latin typeface="Times New Roman" pitchFamily="18" charset="0"/>
                <a:ea typeface="ＭＳ Ｐゴシック" pitchFamily="34" charset="-128"/>
                <a:cs typeface="Times New Roman" pitchFamily="18" charset="0"/>
              </a:rPr>
              <a:t> </a:t>
            </a:r>
            <a:r>
              <a:rPr lang="en-US" sz="2800" err="1">
                <a:latin typeface="Times New Roman" pitchFamily="18" charset="0"/>
                <a:ea typeface="ＭＳ Ｐゴシック" pitchFamily="34" charset="-128"/>
                <a:cs typeface="Times New Roman" pitchFamily="18" charset="0"/>
              </a:rPr>
              <a:t>cổng</a:t>
            </a:r>
            <a:r>
              <a:rPr lang="en-US" sz="2800">
                <a:latin typeface="Times New Roman" pitchFamily="18" charset="0"/>
                <a:ea typeface="ＭＳ Ｐゴシック" pitchFamily="34" charset="-128"/>
                <a:cs typeface="Times New Roman" pitchFamily="18" charset="0"/>
              </a:rPr>
              <a:t> luận lý Boole </a:t>
            </a:r>
            <a:r>
              <a:rPr lang="en-US" sz="2800" dirty="0" err="1">
                <a:latin typeface="Times New Roman" pitchFamily="18" charset="0"/>
                <a:ea typeface="ＭＳ Ｐゴシック" pitchFamily="34" charset="-128"/>
                <a:cs typeface="Times New Roman" pitchFamily="18" charset="0"/>
              </a:rPr>
              <a:t>cơ</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bản</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có</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thể</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mô</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tả</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được</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bất</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kỳ</a:t>
            </a:r>
            <a:r>
              <a:rPr lang="en-US" sz="2800" dirty="0">
                <a:latin typeface="Times New Roman" pitchFamily="18" charset="0"/>
                <a:ea typeface="ＭＳ Ｐゴシック" pitchFamily="34" charset="-128"/>
                <a:cs typeface="Times New Roman" pitchFamily="18" charset="0"/>
              </a:rPr>
              <a:t> </a:t>
            </a:r>
            <a:r>
              <a:rPr lang="en-US" sz="2800" dirty="0" err="1">
                <a:latin typeface="Times New Roman" pitchFamily="18" charset="0"/>
                <a:ea typeface="ＭＳ Ｐゴシック" pitchFamily="34" charset="-128"/>
                <a:cs typeface="Times New Roman" pitchFamily="18" charset="0"/>
              </a:rPr>
              <a:t>mạch</a:t>
            </a:r>
            <a:r>
              <a:rPr lang="en-US" sz="2800" dirty="0">
                <a:latin typeface="Times New Roman" pitchFamily="18" charset="0"/>
                <a:ea typeface="ＭＳ Ｐゴシック" pitchFamily="34" charset="-128"/>
                <a:cs typeface="Times New Roman" pitchFamily="18" charset="0"/>
              </a:rPr>
              <a:t> logic </a:t>
            </a:r>
            <a:r>
              <a:rPr lang="en-US" sz="2800" dirty="0" err="1">
                <a:latin typeface="Times New Roman" pitchFamily="18" charset="0"/>
                <a:ea typeface="ＭＳ Ｐゴシック" pitchFamily="34" charset="-128"/>
                <a:cs typeface="Times New Roman" pitchFamily="18" charset="0"/>
              </a:rPr>
              <a:t>nào</a:t>
            </a:r>
            <a:endParaRPr lang="en-US" sz="2800" dirty="0">
              <a:latin typeface="Times New Roman" pitchFamily="18" charset="0"/>
              <a:cs typeface="Times New Roman" pitchFamily="18" charset="0"/>
            </a:endParaRPr>
          </a:p>
        </p:txBody>
      </p:sp>
      <p:grpSp>
        <p:nvGrpSpPr>
          <p:cNvPr id="9" name="Group 10"/>
          <p:cNvGrpSpPr>
            <a:grpSpLocks/>
          </p:cNvGrpSpPr>
          <p:nvPr/>
        </p:nvGrpSpPr>
        <p:grpSpPr bwMode="auto">
          <a:xfrm>
            <a:off x="2590801" y="1447801"/>
            <a:ext cx="6938963" cy="3284537"/>
            <a:chOff x="812" y="1057"/>
            <a:chExt cx="4371" cy="2069"/>
          </a:xfrm>
        </p:grpSpPr>
        <p:pic>
          <p:nvPicPr>
            <p:cNvPr id="10" name="Picture 8" descr="ua03_0000c"/>
            <p:cNvPicPr>
              <a:picLocks noChangeAspect="1" noChangeArrowheads="1"/>
            </p:cNvPicPr>
            <p:nvPr/>
          </p:nvPicPr>
          <p:blipFill>
            <a:blip r:embed="rId2" cstate="print"/>
            <a:srcRect/>
            <a:stretch>
              <a:fillRect/>
            </a:stretch>
          </p:blipFill>
          <p:spPr bwMode="auto">
            <a:xfrm>
              <a:off x="879" y="1082"/>
              <a:ext cx="4304" cy="2016"/>
            </a:xfrm>
            <a:prstGeom prst="rect">
              <a:avLst/>
            </a:prstGeom>
            <a:noFill/>
          </p:spPr>
        </p:pic>
        <p:sp>
          <p:nvSpPr>
            <p:cNvPr id="11" name="Rectangle 9"/>
            <p:cNvSpPr>
              <a:spLocks noChangeArrowheads="1"/>
            </p:cNvSpPr>
            <p:nvPr/>
          </p:nvSpPr>
          <p:spPr bwMode="auto">
            <a:xfrm>
              <a:off x="812" y="1057"/>
              <a:ext cx="4336" cy="2069"/>
            </a:xfrm>
            <a:prstGeom prst="rect">
              <a:avLst/>
            </a:prstGeom>
            <a:noFill/>
            <a:ln w="9525">
              <a:solidFill>
                <a:schemeClr val="tx1"/>
              </a:solidFill>
              <a:miter lim="800000"/>
              <a:headEnd/>
              <a:tailEnd/>
            </a:ln>
            <a:effectLst/>
          </p:spPr>
          <p:txBody>
            <a:bodyPr wrap="none" anchor="ctr"/>
            <a:lstStyle/>
            <a:p>
              <a:endParaRPr lang="en-US"/>
            </a:p>
          </p:txBody>
        </p:sp>
      </p:grpSp>
      <p:sp>
        <p:nvSpPr>
          <p:cNvPr id="12" name="Title 11"/>
          <p:cNvSpPr>
            <a:spLocks noGrp="1"/>
          </p:cNvSpPr>
          <p:nvPr>
            <p:ph type="title"/>
          </p:nvPr>
        </p:nvSpPr>
        <p:spPr/>
        <p:txBody>
          <a:bodyPr>
            <a:normAutofit fontScale="90000"/>
          </a:bodyPr>
          <a:lstStyle/>
          <a:p>
            <a:r>
              <a:rPr lang="en-US" dirty="0"/>
              <a:t>OR vs AND vs NOT</a:t>
            </a:r>
          </a:p>
        </p:txBody>
      </p:sp>
      <p:sp>
        <p:nvSpPr>
          <p:cNvPr id="4" name="Footer Placeholder 3"/>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8" name="Slide Number Placeholder 7"/>
          <p:cNvSpPr>
            <a:spLocks noGrp="1"/>
          </p:cNvSpPr>
          <p:nvPr>
            <p:ph type="sldNum" sz="quarter" idx="12"/>
          </p:nvPr>
        </p:nvSpPr>
        <p:spPr/>
        <p:txBody>
          <a:bodyPr/>
          <a:lstStyle/>
          <a:p>
            <a:fld id="{800C8475-47C1-49C9-BEE5-594F8CF4D71F}" type="slidenum">
              <a:rPr kumimoji="1" lang="ja-JP" altLang="en-US" smtClean="0"/>
              <a:pPr/>
              <a:t>22</a:t>
            </a:fld>
            <a:endParaRPr kumimoji="1" lang="ja-JP" altLang="en-US" dirty="0"/>
          </a:p>
        </p:txBody>
      </p:sp>
      <p:sp>
        <p:nvSpPr>
          <p:cNvPr id="3" name="Date Placeholder 2"/>
          <p:cNvSpPr>
            <a:spLocks noGrp="1"/>
          </p:cNvSpPr>
          <p:nvPr>
            <p:ph type="dt" sz="half" idx="4294967295"/>
          </p:nvPr>
        </p:nvSpPr>
        <p:spPr bwMode="auto">
          <a:xfrm>
            <a:off x="0" y="6524625"/>
            <a:ext cx="2133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6E8AA5F7-EA5F-433C-A847-B52E06708DE5}" type="datetime1">
              <a:rPr lang="en-US" altLang="ja-JP" smtClean="0"/>
              <a:pPr/>
              <a:t>8/21/2023</a:t>
            </a:fld>
            <a:endParaRPr kumimoji="1" lang="ja-JP" altLang="en-US"/>
          </a:p>
        </p:txBody>
      </p:sp>
    </p:spTree>
    <p:extLst>
      <p:ext uri="{BB962C8B-B14F-4D97-AF65-F5344CB8AC3E}">
        <p14:creationId xmlns:p14="http://schemas.microsoft.com/office/powerpoint/2010/main" val="751616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D423-6F2E-95F2-83B1-212451099477}"/>
              </a:ext>
            </a:extLst>
          </p:cNvPr>
          <p:cNvSpPr>
            <a:spLocks noGrp="1"/>
          </p:cNvSpPr>
          <p:nvPr>
            <p:ph type="title"/>
          </p:nvPr>
        </p:nvSpPr>
        <p:spPr/>
        <p:txBody>
          <a:bodyPr>
            <a:normAutofit fontScale="90000"/>
          </a:bodyPr>
          <a:lstStyle/>
          <a:p>
            <a:r>
              <a:rPr lang="en-US"/>
              <a:t>Một số cổng luận lý khác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0B57D0-5EE6-1509-F0E8-B31C055BC8DB}"/>
                  </a:ext>
                </a:extLst>
              </p:cNvPr>
              <p:cNvSpPr>
                <a:spLocks noGrp="1"/>
              </p:cNvSpPr>
              <p:nvPr>
                <p:ph idx="1"/>
              </p:nvPr>
            </p:nvSpPr>
            <p:spPr/>
            <p:txBody>
              <a:bodyPr>
                <a:normAutofit fontScale="92500" lnSpcReduction="20000"/>
              </a:bodyPr>
              <a:lstStyle/>
              <a:p>
                <a:r>
                  <a:rPr lang="en-US" dirty="0"/>
                  <a:t>NAND = NOT AND</a:t>
                </a:r>
              </a:p>
              <a:p>
                <a:pPr lvl="1"/>
                <a:r>
                  <a:rPr lang="en-US" dirty="0"/>
                  <a:t>X = </a:t>
                </a:r>
                <a14:m>
                  <m:oMath xmlns:m="http://schemas.openxmlformats.org/officeDocument/2006/math">
                    <m:bar>
                      <m:barPr>
                        <m:pos m:val="top"/>
                        <m:ctrlPr>
                          <a:rPr lang="en-US" i="1" smtClean="0">
                            <a:latin typeface="Cambria Math" panose="02040503050406030204" pitchFamily="18" charset="0"/>
                          </a:rPr>
                        </m:ctrlPr>
                      </m:barPr>
                      <m:e>
                        <m:r>
                          <m:rPr>
                            <m:sty m:val="p"/>
                          </m:rPr>
                          <a:rPr lang="en-US" b="0" i="0" smtClean="0">
                            <a:latin typeface="Cambria Math"/>
                          </a:rPr>
                          <m:t>A</m:t>
                        </m:r>
                        <m:r>
                          <a:rPr lang="en-US" b="0" i="0" smtClean="0">
                            <a:latin typeface="Cambria Math"/>
                          </a:rPr>
                          <m:t> </m:t>
                        </m:r>
                        <m:r>
                          <m:rPr>
                            <m:nor/>
                          </m:rPr>
                          <a:rPr lang="en-US" dirty="0" smtClean="0">
                            <a:sym typeface="Symbol"/>
                          </a:rPr>
                          <m:t></m:t>
                        </m:r>
                        <m:r>
                          <a:rPr lang="en-US" b="0" i="0" dirty="0" smtClean="0">
                            <a:latin typeface="Cambria Math"/>
                            <a:sym typeface="Symbol"/>
                          </a:rPr>
                          <m:t> </m:t>
                        </m:r>
                        <m:r>
                          <m:rPr>
                            <m:sty m:val="p"/>
                          </m:rPr>
                          <a:rPr lang="en-US" b="0" i="0" smtClean="0">
                            <a:latin typeface="Cambria Math"/>
                          </a:rPr>
                          <m:t>B</m:t>
                        </m:r>
                      </m:e>
                    </m:bar>
                  </m:oMath>
                </a14:m>
                <a:endParaRPr lang="en-US" dirty="0"/>
              </a:p>
              <a:p>
                <a:r>
                  <a:rPr lang="en-US" dirty="0"/>
                  <a:t>NOR = NOT OR</a:t>
                </a:r>
              </a:p>
              <a:p>
                <a:pPr lvl="1">
                  <a:buFont typeface="Wingdings" panose="05000000000000000000" pitchFamily="2" charset="2"/>
                  <a:buChar char="q"/>
                </a:pPr>
                <a:r>
                  <a:rPr lang="en-US" dirty="0"/>
                  <a:t>X = </a:t>
                </a:r>
                <a14:m>
                  <m:oMath xmlns:m="http://schemas.openxmlformats.org/officeDocument/2006/math">
                    <m:bar>
                      <m:barPr>
                        <m:pos m:val="top"/>
                        <m:ctrlPr>
                          <a:rPr lang="en-US" i="1" smtClean="0">
                            <a:latin typeface="Cambria Math" panose="02040503050406030204" pitchFamily="18" charset="0"/>
                          </a:rPr>
                        </m:ctrlPr>
                      </m:barPr>
                      <m:e>
                        <m:r>
                          <m:rPr>
                            <m:sty m:val="p"/>
                          </m:rPr>
                          <a:rPr lang="en-US" b="0" i="0" smtClean="0">
                            <a:latin typeface="Cambria Math"/>
                          </a:rPr>
                          <m:t>A</m:t>
                        </m:r>
                        <m:r>
                          <a:rPr lang="en-US" b="0" i="0" smtClean="0">
                            <a:latin typeface="Cambria Math"/>
                          </a:rPr>
                          <m:t>+</m:t>
                        </m:r>
                        <m:r>
                          <m:rPr>
                            <m:sty m:val="p"/>
                          </m:rPr>
                          <a:rPr lang="en-US" b="0" i="0" smtClean="0">
                            <a:latin typeface="Cambria Math"/>
                          </a:rPr>
                          <m:t>B</m:t>
                        </m:r>
                      </m:e>
                    </m:bar>
                  </m:oMath>
                </a14:m>
                <a:endParaRPr lang="en-US" dirty="0"/>
              </a:p>
              <a:p>
                <a:r>
                  <a:rPr lang="en-US"/>
                  <a:t>XOR = Exclusive OR</a:t>
                </a:r>
              </a:p>
              <a:p>
                <a:pPr lvl="1">
                  <a:buFont typeface="Wingdings" panose="05000000000000000000" pitchFamily="2" charset="2"/>
                  <a:buChar char="q"/>
                </a:pPr>
                <a:r>
                  <a:rPr lang="en-US"/>
                  <a:t>Ngõ ra bằng 1 khi số ngõ vào bằng 1 là lẻ</a:t>
                </a:r>
              </a:p>
              <a:p>
                <a:pPr lvl="1">
                  <a:buFont typeface="Wingdings" panose="05000000000000000000" pitchFamily="2" charset="2"/>
                  <a:buChar char="q"/>
                </a:pPr>
                <a:r>
                  <a:rPr lang="en-US"/>
                  <a:t>X = A    B</a:t>
                </a:r>
              </a:p>
              <a:p>
                <a:r>
                  <a:rPr lang="en-US"/>
                  <a:t>XNOR = Exclusive NOR</a:t>
                </a:r>
              </a:p>
              <a:p>
                <a:pPr lvl="1">
                  <a:buFont typeface="Wingdings" panose="05000000000000000000" pitchFamily="2" charset="2"/>
                  <a:buChar char="q"/>
                </a:pPr>
                <a:r>
                  <a:rPr lang="en-US"/>
                  <a:t>Ngõ ra bằng 1 khi số ngõ vào bằng 1 là chẵn</a:t>
                </a:r>
              </a:p>
              <a:p>
                <a:pPr lvl="1">
                  <a:buFont typeface="Wingdings" panose="05000000000000000000" pitchFamily="2" charset="2"/>
                  <a:buChar char="q"/>
                </a:pPr>
                <a:r>
                  <a:rPr lang="en-US"/>
                  <a:t>X = A    B</a:t>
                </a:r>
              </a:p>
              <a:p>
                <a:endParaRPr lang="en-US"/>
              </a:p>
            </p:txBody>
          </p:sp>
        </mc:Choice>
        <mc:Fallback xmlns="">
          <p:sp>
            <p:nvSpPr>
              <p:cNvPr id="3" name="Content Placeholder 2">
                <a:extLst>
                  <a:ext uri="{FF2B5EF4-FFF2-40B4-BE49-F238E27FC236}">
                    <a16:creationId xmlns:a16="http://schemas.microsoft.com/office/drawing/2014/main" id="{660B57D0-5EE6-1509-F0E8-B31C055BC8DB}"/>
                  </a:ext>
                </a:extLst>
              </p:cNvPr>
              <p:cNvSpPr>
                <a:spLocks noGrp="1" noRot="1" noChangeAspect="1" noMove="1" noResize="1" noEditPoints="1" noAdjustHandles="1" noChangeArrowheads="1" noChangeShapeType="1" noTextEdit="1"/>
              </p:cNvSpPr>
              <p:nvPr>
                <p:ph idx="1"/>
              </p:nvPr>
            </p:nvSpPr>
            <p:spPr>
              <a:blipFill>
                <a:blip r:embed="rId2"/>
                <a:stretch>
                  <a:fillRect l="-922" t="-98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AFC51AF-089C-8E9E-556E-76989CAF0AAC}"/>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D80029D7-E251-A09F-E7E0-C5D493DB78CE}"/>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769A1A94-491A-EEE6-5BE3-FF0A920E95FF}"/>
              </a:ext>
            </a:extLst>
          </p:cNvPr>
          <p:cNvSpPr>
            <a:spLocks noGrp="1"/>
          </p:cNvSpPr>
          <p:nvPr>
            <p:ph type="sldNum" sz="quarter" idx="12"/>
          </p:nvPr>
        </p:nvSpPr>
        <p:spPr/>
        <p:txBody>
          <a:bodyPr/>
          <a:lstStyle/>
          <a:p>
            <a:fld id="{D8B0B3AC-44A8-D142-AAF6-9A453466E1A4}" type="slidenum">
              <a:rPr lang="en-VN" smtClean="0"/>
              <a:t>23</a:t>
            </a:fld>
            <a:endParaRPr lang="en-VN"/>
          </a:p>
        </p:txBody>
      </p:sp>
      <p:grpSp>
        <p:nvGrpSpPr>
          <p:cNvPr id="7" name="Group 6">
            <a:extLst>
              <a:ext uri="{FF2B5EF4-FFF2-40B4-BE49-F238E27FC236}">
                <a16:creationId xmlns:a16="http://schemas.microsoft.com/office/drawing/2014/main" id="{1A00AD93-527A-9A84-EFE7-2A8540964289}"/>
              </a:ext>
            </a:extLst>
          </p:cNvPr>
          <p:cNvGrpSpPr/>
          <p:nvPr/>
        </p:nvGrpSpPr>
        <p:grpSpPr>
          <a:xfrm>
            <a:off x="2346702" y="4327902"/>
            <a:ext cx="152400" cy="152400"/>
            <a:chOff x="1866900" y="2133600"/>
            <a:chExt cx="228600" cy="228600"/>
          </a:xfrm>
        </p:grpSpPr>
        <p:sp>
          <p:nvSpPr>
            <p:cNvPr id="8" name="Oval 7">
              <a:extLst>
                <a:ext uri="{FF2B5EF4-FFF2-40B4-BE49-F238E27FC236}">
                  <a16:creationId xmlns:a16="http://schemas.microsoft.com/office/drawing/2014/main" id="{247D25F1-470B-ED8F-75D1-8B3F62ED2CE3}"/>
                </a:ext>
              </a:extLst>
            </p:cNvPr>
            <p:cNvSpPr/>
            <p:nvPr/>
          </p:nvSpPr>
          <p:spPr>
            <a:xfrm>
              <a:off x="1866900" y="2133600"/>
              <a:ext cx="228600" cy="2286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cxnSp>
          <p:nvCxnSpPr>
            <p:cNvPr id="9" name="Straight Connector 8">
              <a:extLst>
                <a:ext uri="{FF2B5EF4-FFF2-40B4-BE49-F238E27FC236}">
                  <a16:creationId xmlns:a16="http://schemas.microsoft.com/office/drawing/2014/main" id="{1037EE6A-B8DD-3C8B-EE70-D59CC513D465}"/>
                </a:ext>
              </a:extLst>
            </p:cNvPr>
            <p:cNvCxnSpPr>
              <a:stCxn id="8" idx="2"/>
              <a:endCxn id="8" idx="6"/>
            </p:cNvCxnSpPr>
            <p:nvPr/>
          </p:nvCxnSpPr>
          <p:spPr>
            <a:xfrm>
              <a:off x="1866900" y="2247900"/>
              <a:ext cx="22860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DD12E2-CD86-1FD3-DDC9-6EC24EDB2070}"/>
                </a:ext>
              </a:extLst>
            </p:cNvPr>
            <p:cNvCxnSpPr>
              <a:endCxn id="8" idx="4"/>
            </p:cNvCxnSpPr>
            <p:nvPr/>
          </p:nvCxnSpPr>
          <p:spPr>
            <a:xfrm>
              <a:off x="1981200" y="2133600"/>
              <a:ext cx="0" cy="22860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FD0A9E6C-D140-E5F6-D0C4-3C589CA1B64A}"/>
              </a:ext>
            </a:extLst>
          </p:cNvPr>
          <p:cNvGrpSpPr/>
          <p:nvPr/>
        </p:nvGrpSpPr>
        <p:grpSpPr>
          <a:xfrm>
            <a:off x="2297142" y="5739540"/>
            <a:ext cx="152400" cy="152400"/>
            <a:chOff x="1866900" y="2133600"/>
            <a:chExt cx="228600" cy="228600"/>
          </a:xfrm>
        </p:grpSpPr>
        <p:sp>
          <p:nvSpPr>
            <p:cNvPr id="12" name="Oval 11">
              <a:extLst>
                <a:ext uri="{FF2B5EF4-FFF2-40B4-BE49-F238E27FC236}">
                  <a16:creationId xmlns:a16="http://schemas.microsoft.com/office/drawing/2014/main" id="{01E41DED-89E7-BAB2-AFCE-527F07E9150D}"/>
                </a:ext>
              </a:extLst>
            </p:cNvPr>
            <p:cNvSpPr/>
            <p:nvPr/>
          </p:nvSpPr>
          <p:spPr>
            <a:xfrm>
              <a:off x="1866900" y="2133600"/>
              <a:ext cx="228600" cy="2286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cxnSp>
          <p:nvCxnSpPr>
            <p:cNvPr id="13" name="Straight Connector 12">
              <a:extLst>
                <a:ext uri="{FF2B5EF4-FFF2-40B4-BE49-F238E27FC236}">
                  <a16:creationId xmlns:a16="http://schemas.microsoft.com/office/drawing/2014/main" id="{C3FFE62E-4D1A-7E0B-D777-0ED67F5DA13E}"/>
                </a:ext>
              </a:extLst>
            </p:cNvPr>
            <p:cNvCxnSpPr>
              <a:stCxn id="12" idx="2"/>
              <a:endCxn id="12" idx="6"/>
            </p:cNvCxnSpPr>
            <p:nvPr/>
          </p:nvCxnSpPr>
          <p:spPr>
            <a:xfrm>
              <a:off x="1866900" y="2247900"/>
              <a:ext cx="22860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9F40BA9-EA60-419C-6269-03E25B9BF59A}"/>
                </a:ext>
              </a:extLst>
            </p:cNvPr>
            <p:cNvCxnSpPr>
              <a:endCxn id="12" idx="4"/>
            </p:cNvCxnSpPr>
            <p:nvPr/>
          </p:nvCxnSpPr>
          <p:spPr>
            <a:xfrm>
              <a:off x="1981200" y="2133600"/>
              <a:ext cx="0" cy="22860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619C1F44-968B-3A1C-FC39-95115F836897}"/>
              </a:ext>
            </a:extLst>
          </p:cNvPr>
          <p:cNvCxnSpPr/>
          <p:nvPr/>
        </p:nvCxnSpPr>
        <p:spPr>
          <a:xfrm>
            <a:off x="2068542" y="5663340"/>
            <a:ext cx="70872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100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6629707-F35B-DC98-ED35-B5F0E58A7A77}"/>
              </a:ext>
            </a:extLst>
          </p:cNvPr>
          <p:cNvSpPr>
            <a:spLocks noGrp="1"/>
          </p:cNvSpPr>
          <p:nvPr>
            <p:ph type="body" sz="quarter" idx="16"/>
          </p:nvPr>
        </p:nvSpPr>
        <p:spPr/>
        <p:txBody>
          <a:bodyPr>
            <a:normAutofit lnSpcReduction="10000"/>
          </a:bodyPr>
          <a:lstStyle/>
          <a:p>
            <a:r>
              <a:rPr lang="en-US"/>
              <a:t>3</a:t>
            </a:r>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p:txBody>
          <a:bodyPr>
            <a:normAutofit/>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endParaRPr lang="en-VN" dirty="0"/>
          </a:p>
        </p:txBody>
      </p:sp>
      <p:sp>
        <p:nvSpPr>
          <p:cNvPr id="18" name="Text Placeholder 17">
            <a:extLst>
              <a:ext uri="{FF2B5EF4-FFF2-40B4-BE49-F238E27FC236}">
                <a16:creationId xmlns:a16="http://schemas.microsoft.com/office/drawing/2014/main" id="{D9C078A1-1089-4088-DB4F-6C6D38485D1B}"/>
              </a:ext>
            </a:extLst>
          </p:cNvPr>
          <p:cNvSpPr>
            <a:spLocks noGrp="1"/>
          </p:cNvSpPr>
          <p:nvPr>
            <p:ph type="body" sz="quarter" idx="15"/>
          </p:nvPr>
        </p:nvSpPr>
        <p:spPr/>
        <p:txBody>
          <a:bodyPr/>
          <a:lstStyle/>
          <a:p>
            <a:endParaRPr lang="en-US"/>
          </a:p>
        </p:txBody>
      </p:sp>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
        <p:nvSpPr>
          <p:cNvPr id="22" name="Text Placeholder 21">
            <a:extLst>
              <a:ext uri="{FF2B5EF4-FFF2-40B4-BE49-F238E27FC236}">
                <a16:creationId xmlns:a16="http://schemas.microsoft.com/office/drawing/2014/main" id="{26CEBA1D-8D6C-B04A-25A5-1D372DFA19E6}"/>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088766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CE8C-48DE-85CD-C91C-D3AB7F710251}"/>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endParaRPr lang="en-VN" dirty="0"/>
          </a:p>
        </p:txBody>
      </p:sp>
      <p:sp>
        <p:nvSpPr>
          <p:cNvPr id="3" name="Content Placeholder 2">
            <a:extLst>
              <a:ext uri="{FF2B5EF4-FFF2-40B4-BE49-F238E27FC236}">
                <a16:creationId xmlns:a16="http://schemas.microsoft.com/office/drawing/2014/main" id="{F6D7115D-EA19-C0CD-65D9-9189E66C0FB3}"/>
              </a:ext>
            </a:extLst>
          </p:cNvPr>
          <p:cNvSpPr>
            <a:spLocks noGrp="1"/>
          </p:cNvSpPr>
          <p:nvPr>
            <p:ph idx="1"/>
          </p:nvPr>
        </p:nvSpPr>
        <p:spPr/>
        <p:txBody>
          <a:bodyPr>
            <a:normAutofit fontScale="92500" lnSpcReduction="10000"/>
          </a:bodyPr>
          <a:lstStyle/>
          <a:p>
            <a:r>
              <a:rPr lang="vi-VN" dirty="0"/>
              <a:t>Tối ưu luận lý là làm giảm số lượng tổng/tích hoặc số lượng biến hoặc phần bù của nó trong mỗi tổng/tích</a:t>
            </a:r>
          </a:p>
          <a:p>
            <a:r>
              <a:rPr lang="vi-VN" dirty="0"/>
              <a:t>Tối ưu luận lý còn gọi là đơn giản biểu thức luận lý, có thể thông qua biến đổi đại </a:t>
            </a:r>
            <a:r>
              <a:rPr lang="vi-VN"/>
              <a:t>số </a:t>
            </a:r>
            <a:r>
              <a:rPr lang="en-US"/>
              <a:t>Boole </a:t>
            </a:r>
            <a:r>
              <a:rPr lang="vi-VN"/>
              <a:t>hoặc </a:t>
            </a:r>
            <a:r>
              <a:rPr lang="en-US"/>
              <a:t>bìa </a:t>
            </a:r>
            <a:r>
              <a:rPr lang="vi-VN"/>
              <a:t>Karnaugh </a:t>
            </a:r>
            <a:r>
              <a:rPr lang="vi-VN" dirty="0"/>
              <a:t>nhằm giảm số cổng luận lý cần sử dụng (nhằm làm giảm chi phí thiết kế)</a:t>
            </a:r>
          </a:p>
          <a:p>
            <a:r>
              <a:rPr lang="vi-VN" dirty="0"/>
              <a:t>Ví dụ nếu cho hàm: x = A’BC + AB’C + ABC’ + ABC chúng ta cần 4 cổng AND3 và 1 cổng OR4</a:t>
            </a:r>
          </a:p>
          <a:p>
            <a:r>
              <a:rPr lang="vi-VN" dirty="0"/>
              <a:t>Nếu tối ưu thành: x = BC + AC + AB thì chỉ cần 3 cổng AND2 và 1 cổng OR3</a:t>
            </a:r>
          </a:p>
          <a:p>
            <a:endParaRPr lang="en-VN" dirty="0"/>
          </a:p>
        </p:txBody>
      </p:sp>
      <p:sp>
        <p:nvSpPr>
          <p:cNvPr id="4" name="Footer Placeholder 3">
            <a:extLst>
              <a:ext uri="{FF2B5EF4-FFF2-40B4-BE49-F238E27FC236}">
                <a16:creationId xmlns:a16="http://schemas.microsoft.com/office/drawing/2014/main" id="{8DADEF72-7660-DF48-82D1-48934F27BDF4}"/>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6520FA9E-5ECC-4BBF-7671-A1C9EDA54F82}"/>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F7765A5C-9878-5FEA-CD94-CE46C0076267}"/>
              </a:ext>
            </a:extLst>
          </p:cNvPr>
          <p:cNvSpPr>
            <a:spLocks noGrp="1"/>
          </p:cNvSpPr>
          <p:nvPr>
            <p:ph type="sldNum" sz="quarter" idx="12"/>
          </p:nvPr>
        </p:nvSpPr>
        <p:spPr/>
        <p:txBody>
          <a:bodyPr/>
          <a:lstStyle/>
          <a:p>
            <a:fld id="{D8B0B3AC-44A8-D142-AAF6-9A453466E1A4}" type="slidenum">
              <a:rPr lang="en-VN" smtClean="0"/>
              <a:t>25</a:t>
            </a:fld>
            <a:endParaRPr lang="en-VN"/>
          </a:p>
        </p:txBody>
      </p:sp>
    </p:spTree>
    <p:extLst>
      <p:ext uri="{BB962C8B-B14F-4D97-AF65-F5344CB8AC3E}">
        <p14:creationId xmlns:p14="http://schemas.microsoft.com/office/powerpoint/2010/main" val="329257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CE8C-48DE-85CD-C91C-D3AB7F710251}"/>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tt</a:t>
            </a:r>
            <a:r>
              <a:rPr lang="en-US" dirty="0"/>
              <a:t>)</a:t>
            </a:r>
            <a:endParaRPr lang="en-VN" dirty="0"/>
          </a:p>
        </p:txBody>
      </p:sp>
      <p:sp>
        <p:nvSpPr>
          <p:cNvPr id="3" name="Content Placeholder 2">
            <a:extLst>
              <a:ext uri="{FF2B5EF4-FFF2-40B4-BE49-F238E27FC236}">
                <a16:creationId xmlns:a16="http://schemas.microsoft.com/office/drawing/2014/main" id="{F6D7115D-EA19-C0CD-65D9-9189E66C0FB3}"/>
              </a:ext>
            </a:extLst>
          </p:cNvPr>
          <p:cNvSpPr>
            <a:spLocks noGrp="1"/>
          </p:cNvSpPr>
          <p:nvPr>
            <p:ph idx="1"/>
          </p:nvPr>
        </p:nvSpPr>
        <p:spPr/>
        <p:txBody>
          <a:bodyPr>
            <a:normAutofit/>
          </a:bodyPr>
          <a:lstStyle/>
          <a:p>
            <a:r>
              <a:rPr lang="vi-VN" dirty="0"/>
              <a:t>Chi phí (cost) để tạo ra một mạch luận lý số liên quan đến:</a:t>
            </a:r>
          </a:p>
          <a:p>
            <a:pPr lvl="1"/>
            <a:r>
              <a:rPr lang="vi-VN" dirty="0"/>
              <a:t>Số cổng (gates) được sử dụng</a:t>
            </a:r>
          </a:p>
          <a:p>
            <a:pPr lvl="1"/>
            <a:r>
              <a:rPr lang="vi-VN" dirty="0"/>
              <a:t>Số đầu vào của mỗi cổng</a:t>
            </a:r>
          </a:p>
          <a:p>
            <a:r>
              <a:rPr lang="vi-VN" dirty="0"/>
              <a:t>Chi phí của một biểu thức Boolean B được biểu diễn dưới dạng tổng của các tích (Sum-of-Product) như sau:</a:t>
            </a:r>
          </a:p>
          <a:p>
            <a:endParaRPr lang="vi-VN" dirty="0"/>
          </a:p>
          <a:p>
            <a:endParaRPr lang="vi-VN" dirty="0"/>
          </a:p>
          <a:p>
            <a:endParaRPr lang="en-VN" dirty="0"/>
          </a:p>
        </p:txBody>
      </p:sp>
      <p:sp>
        <p:nvSpPr>
          <p:cNvPr id="4" name="Footer Placeholder 3">
            <a:extLst>
              <a:ext uri="{FF2B5EF4-FFF2-40B4-BE49-F238E27FC236}">
                <a16:creationId xmlns:a16="http://schemas.microsoft.com/office/drawing/2014/main" id="{8DADEF72-7660-DF48-82D1-48934F27BDF4}"/>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6520FA9E-5ECC-4BBF-7671-A1C9EDA54F82}"/>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F7765A5C-9878-5FEA-CD94-CE46C0076267}"/>
              </a:ext>
            </a:extLst>
          </p:cNvPr>
          <p:cNvSpPr>
            <a:spLocks noGrp="1"/>
          </p:cNvSpPr>
          <p:nvPr>
            <p:ph type="sldNum" sz="quarter" idx="12"/>
          </p:nvPr>
        </p:nvSpPr>
        <p:spPr/>
        <p:txBody>
          <a:bodyPr/>
          <a:lstStyle/>
          <a:p>
            <a:fld id="{D8B0B3AC-44A8-D142-AAF6-9A453466E1A4}" type="slidenum">
              <a:rPr lang="en-VN" smtClean="0"/>
              <a:t>26</a:t>
            </a:fld>
            <a:endParaRPr lang="en-V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4BDC6D-FFFE-FF1D-993C-191438531D33}"/>
                  </a:ext>
                </a:extLst>
              </p:cNvPr>
              <p:cNvSpPr txBox="1"/>
              <p:nvPr/>
            </p:nvSpPr>
            <p:spPr>
              <a:xfrm>
                <a:off x="3843467" y="4227671"/>
                <a:ext cx="3679552" cy="9003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r>
                        <a:rPr lang="en-US" sz="2000" b="0" i="1" smtClean="0">
                          <a:latin typeface="Cambria Math" panose="02040503050406030204" pitchFamily="18" charset="0"/>
                        </a:rPr>
                        <m:t>𝑂</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=0</m:t>
                          </m:r>
                        </m:sub>
                        <m:sup>
                          <m:r>
                            <a:rPr lang="en-US" sz="2000" b="0" i="1" smtClean="0">
                              <a:latin typeface="Cambria Math" panose="02040503050406030204" pitchFamily="18" charset="0"/>
                            </a:rPr>
                            <m:t>𝐾</m:t>
                          </m:r>
                          <m:r>
                            <a:rPr lang="en-US" sz="2000" b="0" i="1" smtClean="0">
                              <a:latin typeface="Cambria Math" panose="02040503050406030204" pitchFamily="18" charset="0"/>
                            </a:rPr>
                            <m:t>−1</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𝑗</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e>
                      </m:nary>
                    </m:oMath>
                  </m:oMathPara>
                </a14:m>
                <a:endParaRPr lang="en-US" sz="2000" dirty="0">
                  <a:latin typeface="+mj-lt"/>
                </a:endParaRPr>
              </a:p>
            </p:txBody>
          </p:sp>
        </mc:Choice>
        <mc:Fallback xmlns="">
          <p:sp>
            <p:nvSpPr>
              <p:cNvPr id="7" name="TextBox 6">
                <a:extLst>
                  <a:ext uri="{FF2B5EF4-FFF2-40B4-BE49-F238E27FC236}">
                    <a16:creationId xmlns:a16="http://schemas.microsoft.com/office/drawing/2014/main" id="{894BDC6D-FFFE-FF1D-993C-191438531D33}"/>
                  </a:ext>
                </a:extLst>
              </p:cNvPr>
              <p:cNvSpPr txBox="1">
                <a:spLocks noRot="1" noChangeAspect="1" noMove="1" noResize="1" noEditPoints="1" noAdjustHandles="1" noChangeArrowheads="1" noChangeShapeType="1" noTextEdit="1"/>
              </p:cNvSpPr>
              <p:nvPr/>
            </p:nvSpPr>
            <p:spPr>
              <a:xfrm>
                <a:off x="3843467" y="4227671"/>
                <a:ext cx="3679552" cy="900311"/>
              </a:xfrm>
              <a:prstGeom prst="rect">
                <a:avLst/>
              </a:prstGeom>
              <a:blipFill>
                <a:blip r:embed="rId3"/>
                <a:stretch>
                  <a:fillRect t="-111268" b="-166197"/>
                </a:stretch>
              </a:blipFill>
            </p:spPr>
            <p:txBody>
              <a:bodyPr/>
              <a:lstStyle/>
              <a:p>
                <a:r>
                  <a:rPr lang="en-VN">
                    <a:noFill/>
                  </a:rPr>
                  <a:t> </a:t>
                </a:r>
              </a:p>
            </p:txBody>
          </p:sp>
        </mc:Fallback>
      </mc:AlternateContent>
    </p:spTree>
    <p:extLst>
      <p:ext uri="{BB962C8B-B14F-4D97-AF65-F5344CB8AC3E}">
        <p14:creationId xmlns:p14="http://schemas.microsoft.com/office/powerpoint/2010/main" val="352103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CE8C-48DE-85CD-C91C-D3AB7F710251}"/>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tt</a:t>
            </a:r>
            <a:r>
              <a:rPr lang="en-US" dirty="0"/>
              <a:t>)</a:t>
            </a:r>
            <a:endParaRPr lang="en-VN" dirty="0"/>
          </a:p>
        </p:txBody>
      </p:sp>
      <p:sp>
        <p:nvSpPr>
          <p:cNvPr id="3" name="Content Placeholder 2">
            <a:extLst>
              <a:ext uri="{FF2B5EF4-FFF2-40B4-BE49-F238E27FC236}">
                <a16:creationId xmlns:a16="http://schemas.microsoft.com/office/drawing/2014/main" id="{F6D7115D-EA19-C0CD-65D9-9189E66C0FB3}"/>
              </a:ext>
            </a:extLst>
          </p:cNvPr>
          <p:cNvSpPr>
            <a:spLocks noGrp="1"/>
          </p:cNvSpPr>
          <p:nvPr>
            <p:ph idx="1"/>
          </p:nvPr>
        </p:nvSpPr>
        <p:spPr/>
        <p:txBody>
          <a:bodyPr>
            <a:normAutofit/>
          </a:bodyPr>
          <a:lstStyle/>
          <a:p>
            <a:endParaRPr lang="vi-VN" dirty="0"/>
          </a:p>
          <a:p>
            <a:endParaRPr lang="vi-VN" dirty="0"/>
          </a:p>
          <a:p>
            <a:r>
              <a:rPr lang="vi-VN" dirty="0"/>
              <a:t>Trong đó K là số các term (thành phần tích) trong biểu thức B</a:t>
            </a:r>
          </a:p>
          <a:p>
            <a:pPr lvl="1"/>
            <a:r>
              <a:rPr lang="vi-VN" dirty="0"/>
              <a:t>O(B) : số các term trong biểu thức B</a:t>
            </a:r>
          </a:p>
          <a:p>
            <a:pPr lvl="1"/>
            <a:r>
              <a:rPr lang="vi-VN" dirty="0"/>
              <a:t>P</a:t>
            </a:r>
            <a:r>
              <a:rPr lang="vi-VN" baseline="-25000" dirty="0"/>
              <a:t>J</a:t>
            </a:r>
            <a:r>
              <a:rPr lang="vi-VN" dirty="0"/>
              <a:t>(B): số các literal (biến) trong term thứ j của biểu thức B</a:t>
            </a:r>
          </a:p>
          <a:p>
            <a:endParaRPr lang="vi-VN" dirty="0"/>
          </a:p>
          <a:p>
            <a:endParaRPr lang="vi-VN" dirty="0"/>
          </a:p>
          <a:p>
            <a:endParaRPr lang="en-VN" dirty="0"/>
          </a:p>
        </p:txBody>
      </p:sp>
      <p:sp>
        <p:nvSpPr>
          <p:cNvPr id="4" name="Footer Placeholder 3">
            <a:extLst>
              <a:ext uri="{FF2B5EF4-FFF2-40B4-BE49-F238E27FC236}">
                <a16:creationId xmlns:a16="http://schemas.microsoft.com/office/drawing/2014/main" id="{8DADEF72-7660-DF48-82D1-48934F27BDF4}"/>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6520FA9E-5ECC-4BBF-7671-A1C9EDA54F82}"/>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F7765A5C-9878-5FEA-CD94-CE46C0076267}"/>
              </a:ext>
            </a:extLst>
          </p:cNvPr>
          <p:cNvSpPr>
            <a:spLocks noGrp="1"/>
          </p:cNvSpPr>
          <p:nvPr>
            <p:ph type="sldNum" sz="quarter" idx="12"/>
          </p:nvPr>
        </p:nvSpPr>
        <p:spPr/>
        <p:txBody>
          <a:bodyPr/>
          <a:lstStyle/>
          <a:p>
            <a:fld id="{D8B0B3AC-44A8-D142-AAF6-9A453466E1A4}" type="slidenum">
              <a:rPr lang="en-VN" smtClean="0"/>
              <a:t>27</a:t>
            </a:fld>
            <a:endParaRPr lang="en-V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4BDC6D-FFFE-FF1D-993C-191438531D33}"/>
                  </a:ext>
                </a:extLst>
              </p:cNvPr>
              <p:cNvSpPr txBox="1"/>
              <p:nvPr/>
            </p:nvSpPr>
            <p:spPr>
              <a:xfrm>
                <a:off x="3483249" y="1308517"/>
                <a:ext cx="3679552" cy="9003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r>
                        <a:rPr lang="en-US" sz="2000" b="0" i="1" smtClean="0">
                          <a:latin typeface="Cambria Math" panose="02040503050406030204" pitchFamily="18" charset="0"/>
                        </a:rPr>
                        <m:t>𝑂</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=0</m:t>
                          </m:r>
                        </m:sub>
                        <m:sup>
                          <m:r>
                            <a:rPr lang="en-US" sz="2000" b="0" i="1" smtClean="0">
                              <a:latin typeface="Cambria Math" panose="02040503050406030204" pitchFamily="18" charset="0"/>
                            </a:rPr>
                            <m:t>𝐾</m:t>
                          </m:r>
                          <m:r>
                            <a:rPr lang="en-US" sz="2000" b="0" i="1" smtClean="0">
                              <a:latin typeface="Cambria Math" panose="02040503050406030204" pitchFamily="18" charset="0"/>
                            </a:rPr>
                            <m:t>−1</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𝑗</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e>
                      </m:nary>
                    </m:oMath>
                  </m:oMathPara>
                </a14:m>
                <a:endParaRPr lang="en-US" sz="2000" dirty="0">
                  <a:latin typeface="+mj-lt"/>
                </a:endParaRPr>
              </a:p>
            </p:txBody>
          </p:sp>
        </mc:Choice>
        <mc:Fallback xmlns="">
          <p:sp>
            <p:nvSpPr>
              <p:cNvPr id="7" name="TextBox 6">
                <a:extLst>
                  <a:ext uri="{FF2B5EF4-FFF2-40B4-BE49-F238E27FC236}">
                    <a16:creationId xmlns:a16="http://schemas.microsoft.com/office/drawing/2014/main" id="{894BDC6D-FFFE-FF1D-993C-191438531D33}"/>
                  </a:ext>
                </a:extLst>
              </p:cNvPr>
              <p:cNvSpPr txBox="1">
                <a:spLocks noRot="1" noChangeAspect="1" noMove="1" noResize="1" noEditPoints="1" noAdjustHandles="1" noChangeArrowheads="1" noChangeShapeType="1" noTextEdit="1"/>
              </p:cNvSpPr>
              <p:nvPr/>
            </p:nvSpPr>
            <p:spPr>
              <a:xfrm>
                <a:off x="3483249" y="1308517"/>
                <a:ext cx="3679552" cy="900311"/>
              </a:xfrm>
              <a:prstGeom prst="rect">
                <a:avLst/>
              </a:prstGeom>
              <a:blipFill>
                <a:blip r:embed="rId3"/>
                <a:stretch>
                  <a:fillRect t="-111268" b="-16619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1A3E9D-05BD-6047-4EE8-129878A5FE84}"/>
                  </a:ext>
                </a:extLst>
              </p:cNvPr>
              <p:cNvSpPr txBox="1"/>
              <p:nvPr/>
            </p:nvSpPr>
            <p:spPr>
              <a:xfrm>
                <a:off x="1349649" y="4305905"/>
                <a:ext cx="4267200"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m:t>
                              </m:r>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𝑡𝑒𝑟𝑚</m:t>
                              </m:r>
                            </m:e>
                            <m:e>
                              <m:r>
                                <a:rPr lang="en-US" sz="2000" b="0" i="1" smtClean="0">
                                  <a:latin typeface="Cambria Math" panose="02040503050406030204" pitchFamily="18" charset="0"/>
                                </a:rPr>
                                <m:t>0   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1 </m:t>
                              </m:r>
                              <m:r>
                                <a:rPr lang="en-US" sz="2000" b="0" i="1" smtClean="0">
                                  <a:latin typeface="Cambria Math" panose="02040503050406030204" pitchFamily="18" charset="0"/>
                                </a:rPr>
                                <m:t>𝑡𝑒𝑟𝑚</m:t>
                              </m:r>
                            </m:e>
                          </m:eqArr>
                        </m:e>
                      </m:d>
                    </m:oMath>
                  </m:oMathPara>
                </a14:m>
                <a:endParaRPr lang="en-US" sz="2000" b="0" dirty="0">
                  <a:latin typeface="+mj-lt"/>
                </a:endParaRPr>
              </a:p>
            </p:txBody>
          </p:sp>
        </mc:Choice>
        <mc:Fallback xmlns="">
          <p:sp>
            <p:nvSpPr>
              <p:cNvPr id="8" name="TextBox 7">
                <a:extLst>
                  <a:ext uri="{FF2B5EF4-FFF2-40B4-BE49-F238E27FC236}">
                    <a16:creationId xmlns:a16="http://schemas.microsoft.com/office/drawing/2014/main" id="{B21A3E9D-05BD-6047-4EE8-129878A5FE84}"/>
                  </a:ext>
                </a:extLst>
              </p:cNvPr>
              <p:cNvSpPr txBox="1">
                <a:spLocks noRot="1" noChangeAspect="1" noMove="1" noResize="1" noEditPoints="1" noAdjustHandles="1" noChangeArrowheads="1" noChangeShapeType="1" noTextEdit="1"/>
              </p:cNvSpPr>
              <p:nvPr/>
            </p:nvSpPr>
            <p:spPr>
              <a:xfrm>
                <a:off x="1349649" y="4305905"/>
                <a:ext cx="4267200" cy="686535"/>
              </a:xfrm>
              <a:prstGeom prst="rect">
                <a:avLst/>
              </a:prstGeom>
              <a:blipFill>
                <a:blip r:embed="rId4"/>
                <a:stretch>
                  <a:fillRect t="-219643" b="-31964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284C796-BBF9-3E9F-48E0-DF36C577A0B7}"/>
                  </a:ext>
                </a:extLst>
              </p:cNvPr>
              <p:cNvSpPr txBox="1"/>
              <p:nvPr/>
            </p:nvSpPr>
            <p:spPr>
              <a:xfrm>
                <a:off x="1304781" y="5296489"/>
                <a:ext cx="6187714"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𝑗</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𝑡𝑒𝑟𝑚</m:t>
                              </m:r>
                              <m:r>
                                <a:rPr lang="en-US" sz="2000" b="0" i="1" smtClean="0">
                                  <a:latin typeface="Cambria Math" panose="02040503050406030204" pitchFamily="18" charset="0"/>
                                </a:rPr>
                                <m:t> </m:t>
                              </m:r>
                              <m:r>
                                <a:rPr lang="en-US" sz="2000" b="0" i="1" smtClean="0">
                                  <a:latin typeface="Cambria Math" panose="02040503050406030204" pitchFamily="18" charset="0"/>
                                </a:rPr>
                                <m:t>𝑡h</m:t>
                              </m:r>
                              <m:r>
                                <a:rPr lang="en-US" sz="2000" b="0" i="1" smtClean="0">
                                  <a:latin typeface="Cambria Math" panose="02040503050406030204" pitchFamily="18" charset="0"/>
                                </a:rPr>
                                <m:t>ứ </m:t>
                              </m:r>
                              <m:r>
                                <a:rPr lang="en-US" sz="2000" b="0" i="1" smtClean="0">
                                  <a:latin typeface="Cambria Math" panose="02040503050406030204" pitchFamily="18" charset="0"/>
                                </a:rPr>
                                <m:t>𝑗</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ủ</m:t>
                              </m:r>
                              <m:r>
                                <a:rPr lang="en-US" sz="2000" b="0" i="1" smtClean="0">
                                  <a:latin typeface="Cambria Math" panose="02040503050406030204" pitchFamily="18" charset="0"/>
                                </a:rPr>
                                <m:t>𝑎</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m:t>
                              </m:r>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𝑙𝑖𝑡𝑒𝑟𝑎𝑙</m:t>
                              </m:r>
                            </m:e>
                            <m:e>
                              <m:r>
                                <a:rPr lang="en-US" sz="2000" b="0" i="1" smtClean="0">
                                  <a:latin typeface="Cambria Math" panose="02040503050406030204" pitchFamily="18" charset="0"/>
                                </a:rPr>
                                <m:t>0   </m:t>
                              </m:r>
                              <m:r>
                                <a:rPr lang="en-US" sz="2000" i="1">
                                  <a:latin typeface="Cambria Math" panose="02040503050406030204" pitchFamily="18" charset="0"/>
                                </a:rPr>
                                <m:t>𝑛</m:t>
                              </m:r>
                              <m:r>
                                <a:rPr lang="en-US" sz="2000" i="1">
                                  <a:latin typeface="Cambria Math" panose="02040503050406030204" pitchFamily="18" charset="0"/>
                                </a:rPr>
                                <m:t>ế</m:t>
                              </m:r>
                              <m:r>
                                <a:rPr lang="en-US" sz="2000" i="1">
                                  <a:latin typeface="Cambria Math" panose="02040503050406030204" pitchFamily="18" charset="0"/>
                                </a:rPr>
                                <m:t>𝑢</m:t>
                              </m:r>
                              <m:r>
                                <a:rPr lang="en-US" sz="2000" i="1">
                                  <a:latin typeface="Cambria Math" panose="02040503050406030204" pitchFamily="18" charset="0"/>
                                </a:rPr>
                                <m:t> </m:t>
                              </m:r>
                              <m:r>
                                <a:rPr lang="en-US" sz="2000" i="1">
                                  <a:latin typeface="Cambria Math" panose="02040503050406030204" pitchFamily="18" charset="0"/>
                                </a:rPr>
                                <m:t>𝑡𝑒𝑟𝑚</m:t>
                              </m:r>
                              <m:r>
                                <a:rPr lang="en-US" sz="2000" i="1">
                                  <a:latin typeface="Cambria Math" panose="02040503050406030204" pitchFamily="18" charset="0"/>
                                </a:rPr>
                                <m:t> </m:t>
                              </m:r>
                              <m:r>
                                <a:rPr lang="en-US" sz="2000" i="1">
                                  <a:latin typeface="Cambria Math" panose="02040503050406030204" pitchFamily="18" charset="0"/>
                                </a:rPr>
                                <m:t>𝑡h</m:t>
                              </m:r>
                              <m:r>
                                <a:rPr lang="en-US" sz="2000" i="1">
                                  <a:latin typeface="Cambria Math" panose="02040503050406030204" pitchFamily="18" charset="0"/>
                                </a:rPr>
                                <m:t>ứ </m:t>
                              </m:r>
                              <m:r>
                                <a:rPr lang="en-US" sz="2000" i="1">
                                  <a:latin typeface="Cambria Math" panose="02040503050406030204" pitchFamily="18" charset="0"/>
                                </a:rPr>
                                <m:t>𝑗</m:t>
                              </m:r>
                              <m:r>
                                <a:rPr lang="en-US" sz="2000" i="1">
                                  <a:latin typeface="Cambria Math" panose="02040503050406030204" pitchFamily="18" charset="0"/>
                                </a:rPr>
                                <m:t> </m:t>
                              </m:r>
                              <m:r>
                                <a:rPr lang="en-US" sz="2000" i="1">
                                  <a:latin typeface="Cambria Math" panose="02040503050406030204" pitchFamily="18" charset="0"/>
                                </a:rPr>
                                <m:t>𝑐</m:t>
                              </m:r>
                              <m:r>
                                <a:rPr lang="en-US" sz="2000" i="1">
                                  <a:latin typeface="Cambria Math" panose="02040503050406030204" pitchFamily="18" charset="0"/>
                                </a:rPr>
                                <m:t>ủ</m:t>
                              </m:r>
                              <m:r>
                                <a:rPr lang="en-US" sz="2000" i="1">
                                  <a:latin typeface="Cambria Math" panose="02040503050406030204" pitchFamily="18" charset="0"/>
                                </a:rPr>
                                <m:t>𝑎</m:t>
                              </m:r>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 </m:t>
                              </m:r>
                              <m:r>
                                <a:rPr lang="en-US" sz="2000" i="1">
                                  <a:latin typeface="Cambria Math" panose="02040503050406030204" pitchFamily="18" charset="0"/>
                                </a:rPr>
                                <m:t>𝑐</m:t>
                              </m:r>
                              <m:r>
                                <a:rPr lang="en-US" sz="2000" i="1">
                                  <a:latin typeface="Cambria Math" panose="02040503050406030204" pitchFamily="18" charset="0"/>
                                </a:rPr>
                                <m:t>ó 1 </m:t>
                              </m:r>
                              <m:r>
                                <a:rPr lang="en-US" sz="2000" i="1">
                                  <a:latin typeface="Cambria Math" panose="02040503050406030204" pitchFamily="18" charset="0"/>
                                </a:rPr>
                                <m:t>𝑙𝑖𝑡𝑒𝑟𝑎𝑙</m:t>
                              </m:r>
                            </m:e>
                          </m:eqArr>
                        </m:e>
                      </m:d>
                    </m:oMath>
                  </m:oMathPara>
                </a14:m>
                <a:endParaRPr lang="en-US" sz="2000" b="0" dirty="0">
                  <a:latin typeface="+mj-lt"/>
                </a:endParaRPr>
              </a:p>
            </p:txBody>
          </p:sp>
        </mc:Choice>
        <mc:Fallback xmlns="">
          <p:sp>
            <p:nvSpPr>
              <p:cNvPr id="9" name="TextBox 8">
                <a:extLst>
                  <a:ext uri="{FF2B5EF4-FFF2-40B4-BE49-F238E27FC236}">
                    <a16:creationId xmlns:a16="http://schemas.microsoft.com/office/drawing/2014/main" id="{1284C796-BBF9-3E9F-48E0-DF36C577A0B7}"/>
                  </a:ext>
                </a:extLst>
              </p:cNvPr>
              <p:cNvSpPr txBox="1">
                <a:spLocks noRot="1" noChangeAspect="1" noMove="1" noResize="1" noEditPoints="1" noAdjustHandles="1" noChangeArrowheads="1" noChangeShapeType="1" noTextEdit="1"/>
              </p:cNvSpPr>
              <p:nvPr/>
            </p:nvSpPr>
            <p:spPr>
              <a:xfrm>
                <a:off x="1304781" y="5296489"/>
                <a:ext cx="6187714" cy="686535"/>
              </a:xfrm>
              <a:prstGeom prst="rect">
                <a:avLst/>
              </a:prstGeom>
              <a:blipFill>
                <a:blip r:embed="rId5"/>
                <a:stretch>
                  <a:fillRect t="-231481" b="-333333"/>
                </a:stretch>
              </a:blipFill>
            </p:spPr>
            <p:txBody>
              <a:bodyPr/>
              <a:lstStyle/>
              <a:p>
                <a:r>
                  <a:rPr lang="en-VN">
                    <a:noFill/>
                  </a:rPr>
                  <a:t> </a:t>
                </a:r>
              </a:p>
            </p:txBody>
          </p:sp>
        </mc:Fallback>
      </mc:AlternateContent>
    </p:spTree>
    <p:extLst>
      <p:ext uri="{BB962C8B-B14F-4D97-AF65-F5344CB8AC3E}">
        <p14:creationId xmlns:p14="http://schemas.microsoft.com/office/powerpoint/2010/main" val="2733727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CE8C-48DE-85CD-C91C-D3AB7F710251}"/>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tt</a:t>
            </a:r>
            <a:r>
              <a:rPr lang="en-US" dirty="0"/>
              <a:t>)</a:t>
            </a:r>
            <a:endParaRPr lang="en-VN" dirty="0"/>
          </a:p>
        </p:txBody>
      </p:sp>
      <p:sp>
        <p:nvSpPr>
          <p:cNvPr id="3" name="Content Placeholder 2">
            <a:extLst>
              <a:ext uri="{FF2B5EF4-FFF2-40B4-BE49-F238E27FC236}">
                <a16:creationId xmlns:a16="http://schemas.microsoft.com/office/drawing/2014/main" id="{F6D7115D-EA19-C0CD-65D9-9189E66C0FB3}"/>
              </a:ext>
            </a:extLst>
          </p:cNvPr>
          <p:cNvSpPr>
            <a:spLocks noGrp="1"/>
          </p:cNvSpPr>
          <p:nvPr>
            <p:ph idx="1"/>
          </p:nvPr>
        </p:nvSpPr>
        <p:spPr/>
        <p:txBody>
          <a:bodyPr>
            <a:normAutofit/>
          </a:bodyPr>
          <a:lstStyle/>
          <a:p>
            <a:endParaRPr lang="vi-VN" dirty="0"/>
          </a:p>
          <a:p>
            <a:endParaRPr lang="vi-VN" dirty="0"/>
          </a:p>
          <a:p>
            <a:r>
              <a:rPr lang="vi-VN" dirty="0"/>
              <a:t>Ví dụ hàm: x = A’BC + AB’C + ABC’ + ABC có chi phí C(B) = 4 + 3 + 3 + 3 + 3 = 16</a:t>
            </a:r>
          </a:p>
          <a:p>
            <a:r>
              <a:rPr lang="vi-VN" dirty="0"/>
              <a:t>Nếu tối ưu thành: x = BC + AC + AB thì chi phí C(B) = 3 + 2 + 2 + 2 = 9</a:t>
            </a:r>
          </a:p>
          <a:p>
            <a:endParaRPr lang="vi-VN" dirty="0"/>
          </a:p>
          <a:p>
            <a:endParaRPr lang="vi-VN" dirty="0"/>
          </a:p>
          <a:p>
            <a:endParaRPr lang="vi-VN" dirty="0"/>
          </a:p>
          <a:p>
            <a:endParaRPr lang="en-VN" dirty="0"/>
          </a:p>
        </p:txBody>
      </p:sp>
      <p:sp>
        <p:nvSpPr>
          <p:cNvPr id="4" name="Footer Placeholder 3">
            <a:extLst>
              <a:ext uri="{FF2B5EF4-FFF2-40B4-BE49-F238E27FC236}">
                <a16:creationId xmlns:a16="http://schemas.microsoft.com/office/drawing/2014/main" id="{8DADEF72-7660-DF48-82D1-48934F27BDF4}"/>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6520FA9E-5ECC-4BBF-7671-A1C9EDA54F82}"/>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F7765A5C-9878-5FEA-CD94-CE46C0076267}"/>
              </a:ext>
            </a:extLst>
          </p:cNvPr>
          <p:cNvSpPr>
            <a:spLocks noGrp="1"/>
          </p:cNvSpPr>
          <p:nvPr>
            <p:ph type="sldNum" sz="quarter" idx="12"/>
          </p:nvPr>
        </p:nvSpPr>
        <p:spPr/>
        <p:txBody>
          <a:bodyPr/>
          <a:lstStyle/>
          <a:p>
            <a:fld id="{D8B0B3AC-44A8-D142-AAF6-9A453466E1A4}" type="slidenum">
              <a:rPr lang="en-VN" smtClean="0"/>
              <a:t>28</a:t>
            </a:fld>
            <a:endParaRPr lang="en-V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94BDC6D-FFFE-FF1D-993C-191438531D33}"/>
                  </a:ext>
                </a:extLst>
              </p:cNvPr>
              <p:cNvSpPr txBox="1"/>
              <p:nvPr/>
            </p:nvSpPr>
            <p:spPr>
              <a:xfrm>
                <a:off x="1406382" y="1328354"/>
                <a:ext cx="3679552" cy="9003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r>
                        <a:rPr lang="en-US" sz="2000" b="0" i="1" smtClean="0">
                          <a:latin typeface="Cambria Math" panose="02040503050406030204" pitchFamily="18" charset="0"/>
                        </a:rPr>
                        <m:t>𝑂</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=0</m:t>
                          </m:r>
                        </m:sub>
                        <m:sup>
                          <m:r>
                            <a:rPr lang="en-US" sz="2000" b="0" i="1" smtClean="0">
                              <a:latin typeface="Cambria Math" panose="02040503050406030204" pitchFamily="18" charset="0"/>
                            </a:rPr>
                            <m:t>𝐾</m:t>
                          </m:r>
                          <m:r>
                            <a:rPr lang="en-US" sz="2000" b="0" i="1" smtClean="0">
                              <a:latin typeface="Cambria Math" panose="02040503050406030204" pitchFamily="18" charset="0"/>
                            </a:rPr>
                            <m:t>−1</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𝑗</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e>
                      </m:nary>
                    </m:oMath>
                  </m:oMathPara>
                </a14:m>
                <a:endParaRPr lang="en-US" sz="2000" dirty="0">
                  <a:latin typeface="+mj-lt"/>
                </a:endParaRPr>
              </a:p>
            </p:txBody>
          </p:sp>
        </mc:Choice>
        <mc:Fallback xmlns="">
          <p:sp>
            <p:nvSpPr>
              <p:cNvPr id="7" name="TextBox 6">
                <a:extLst>
                  <a:ext uri="{FF2B5EF4-FFF2-40B4-BE49-F238E27FC236}">
                    <a16:creationId xmlns:a16="http://schemas.microsoft.com/office/drawing/2014/main" id="{894BDC6D-FFFE-FF1D-993C-191438531D33}"/>
                  </a:ext>
                </a:extLst>
              </p:cNvPr>
              <p:cNvSpPr txBox="1">
                <a:spLocks noRot="1" noChangeAspect="1" noMove="1" noResize="1" noEditPoints="1" noAdjustHandles="1" noChangeArrowheads="1" noChangeShapeType="1" noTextEdit="1"/>
              </p:cNvSpPr>
              <p:nvPr/>
            </p:nvSpPr>
            <p:spPr>
              <a:xfrm>
                <a:off x="1406382" y="1328354"/>
                <a:ext cx="3679552" cy="900311"/>
              </a:xfrm>
              <a:prstGeom prst="rect">
                <a:avLst/>
              </a:prstGeom>
              <a:blipFill>
                <a:blip r:embed="rId3"/>
                <a:stretch>
                  <a:fillRect t="-108333" b="-1625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1A3E9D-05BD-6047-4EE8-129878A5FE84}"/>
                  </a:ext>
                </a:extLst>
              </p:cNvPr>
              <p:cNvSpPr txBox="1"/>
              <p:nvPr/>
            </p:nvSpPr>
            <p:spPr>
              <a:xfrm>
                <a:off x="5085934" y="435307"/>
                <a:ext cx="4267200"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m:t>
                              </m:r>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𝑡𝑒𝑟𝑚</m:t>
                              </m:r>
                            </m:e>
                            <m:e>
                              <m:r>
                                <a:rPr lang="en-US" sz="2000" b="0" i="1" smtClean="0">
                                  <a:latin typeface="Cambria Math" panose="02040503050406030204" pitchFamily="18" charset="0"/>
                                </a:rPr>
                                <m:t>0   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1 </m:t>
                              </m:r>
                              <m:r>
                                <a:rPr lang="en-US" sz="2000" b="0" i="1" smtClean="0">
                                  <a:latin typeface="Cambria Math" panose="02040503050406030204" pitchFamily="18" charset="0"/>
                                </a:rPr>
                                <m:t>𝑡𝑒𝑟𝑚</m:t>
                              </m:r>
                            </m:e>
                          </m:eqArr>
                        </m:e>
                      </m:d>
                    </m:oMath>
                  </m:oMathPara>
                </a14:m>
                <a:endParaRPr lang="en-US" sz="2000" b="0" dirty="0">
                  <a:latin typeface="+mj-lt"/>
                </a:endParaRPr>
              </a:p>
            </p:txBody>
          </p:sp>
        </mc:Choice>
        <mc:Fallback xmlns="">
          <p:sp>
            <p:nvSpPr>
              <p:cNvPr id="8" name="TextBox 7">
                <a:extLst>
                  <a:ext uri="{FF2B5EF4-FFF2-40B4-BE49-F238E27FC236}">
                    <a16:creationId xmlns:a16="http://schemas.microsoft.com/office/drawing/2014/main" id="{B21A3E9D-05BD-6047-4EE8-129878A5FE84}"/>
                  </a:ext>
                </a:extLst>
              </p:cNvPr>
              <p:cNvSpPr txBox="1">
                <a:spLocks noRot="1" noChangeAspect="1" noMove="1" noResize="1" noEditPoints="1" noAdjustHandles="1" noChangeArrowheads="1" noChangeShapeType="1" noTextEdit="1"/>
              </p:cNvSpPr>
              <p:nvPr/>
            </p:nvSpPr>
            <p:spPr>
              <a:xfrm>
                <a:off x="5085934" y="435307"/>
                <a:ext cx="4267200" cy="686535"/>
              </a:xfrm>
              <a:prstGeom prst="rect">
                <a:avLst/>
              </a:prstGeom>
              <a:blipFill>
                <a:blip r:embed="rId4"/>
                <a:stretch>
                  <a:fillRect t="-225455" b="-32545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284C796-BBF9-3E9F-48E0-DF36C577A0B7}"/>
                  </a:ext>
                </a:extLst>
              </p:cNvPr>
              <p:cNvSpPr txBox="1"/>
              <p:nvPr/>
            </p:nvSpPr>
            <p:spPr>
              <a:xfrm>
                <a:off x="5085934" y="1308517"/>
                <a:ext cx="6187714"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𝑗</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ế</m:t>
                              </m:r>
                              <m:r>
                                <a:rPr lang="en-US" sz="2000" b="0" i="1" smtClean="0">
                                  <a:latin typeface="Cambria Math" panose="02040503050406030204" pitchFamily="18" charset="0"/>
                                </a:rPr>
                                <m:t>𝑢</m:t>
                              </m:r>
                              <m:r>
                                <a:rPr lang="en-US" sz="2000" b="0" i="1" smtClean="0">
                                  <a:latin typeface="Cambria Math" panose="02040503050406030204" pitchFamily="18" charset="0"/>
                                </a:rPr>
                                <m:t> </m:t>
                              </m:r>
                              <m:r>
                                <a:rPr lang="en-US" sz="2000" b="0" i="1" smtClean="0">
                                  <a:latin typeface="Cambria Math" panose="02040503050406030204" pitchFamily="18" charset="0"/>
                                </a:rPr>
                                <m:t>𝑡𝑒𝑟𝑚</m:t>
                              </m:r>
                              <m:r>
                                <a:rPr lang="en-US" sz="2000" b="0" i="1" smtClean="0">
                                  <a:latin typeface="Cambria Math" panose="02040503050406030204" pitchFamily="18" charset="0"/>
                                </a:rPr>
                                <m:t> </m:t>
                              </m:r>
                              <m:r>
                                <a:rPr lang="en-US" sz="2000" b="0" i="1" smtClean="0">
                                  <a:latin typeface="Cambria Math" panose="02040503050406030204" pitchFamily="18" charset="0"/>
                                </a:rPr>
                                <m:t>𝑡h</m:t>
                              </m:r>
                              <m:r>
                                <a:rPr lang="en-US" sz="2000" b="0" i="1" smtClean="0">
                                  <a:latin typeface="Cambria Math" panose="02040503050406030204" pitchFamily="18" charset="0"/>
                                </a:rPr>
                                <m:t>ứ </m:t>
                              </m:r>
                              <m:r>
                                <a:rPr lang="en-US" sz="2000" b="0" i="1" smtClean="0">
                                  <a:latin typeface="Cambria Math" panose="02040503050406030204" pitchFamily="18" charset="0"/>
                                </a:rPr>
                                <m:t>𝑗</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ủ</m:t>
                              </m:r>
                              <m:r>
                                <a:rPr lang="en-US" sz="2000" b="0" i="1" smtClean="0">
                                  <a:latin typeface="Cambria Math" panose="02040503050406030204" pitchFamily="18" charset="0"/>
                                </a:rPr>
                                <m:t>𝑎</m:t>
                              </m:r>
                              <m:r>
                                <a:rPr lang="en-US" sz="2000" b="0" i="1" smtClean="0">
                                  <a:latin typeface="Cambria Math" panose="02040503050406030204" pitchFamily="18" charset="0"/>
                                </a:rPr>
                                <m:t> </m:t>
                              </m:r>
                              <m:r>
                                <a:rPr lang="en-US" sz="2000" b="0" i="1" smtClean="0">
                                  <a:latin typeface="Cambria Math" panose="02040503050406030204" pitchFamily="18" charset="0"/>
                                </a:rPr>
                                <m:t>𝐵</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ó </m:t>
                              </m:r>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𝑙𝑖𝑡𝑒𝑟𝑎𝑙</m:t>
                              </m:r>
                            </m:e>
                            <m:e>
                              <m:r>
                                <a:rPr lang="en-US" sz="2000" b="0" i="1" smtClean="0">
                                  <a:latin typeface="Cambria Math" panose="02040503050406030204" pitchFamily="18" charset="0"/>
                                </a:rPr>
                                <m:t>0   </m:t>
                              </m:r>
                              <m:r>
                                <a:rPr lang="en-US" sz="2000" i="1">
                                  <a:latin typeface="Cambria Math" panose="02040503050406030204" pitchFamily="18" charset="0"/>
                                </a:rPr>
                                <m:t>𝑛</m:t>
                              </m:r>
                              <m:r>
                                <a:rPr lang="en-US" sz="2000" i="1">
                                  <a:latin typeface="Cambria Math" panose="02040503050406030204" pitchFamily="18" charset="0"/>
                                </a:rPr>
                                <m:t>ế</m:t>
                              </m:r>
                              <m:r>
                                <a:rPr lang="en-US" sz="2000" i="1">
                                  <a:latin typeface="Cambria Math" panose="02040503050406030204" pitchFamily="18" charset="0"/>
                                </a:rPr>
                                <m:t>𝑢</m:t>
                              </m:r>
                              <m:r>
                                <a:rPr lang="en-US" sz="2000" i="1">
                                  <a:latin typeface="Cambria Math" panose="02040503050406030204" pitchFamily="18" charset="0"/>
                                </a:rPr>
                                <m:t> </m:t>
                              </m:r>
                              <m:r>
                                <a:rPr lang="en-US" sz="2000" i="1">
                                  <a:latin typeface="Cambria Math" panose="02040503050406030204" pitchFamily="18" charset="0"/>
                                </a:rPr>
                                <m:t>𝑡𝑒𝑟𝑚</m:t>
                              </m:r>
                              <m:r>
                                <a:rPr lang="en-US" sz="2000" i="1">
                                  <a:latin typeface="Cambria Math" panose="02040503050406030204" pitchFamily="18" charset="0"/>
                                </a:rPr>
                                <m:t> </m:t>
                              </m:r>
                              <m:r>
                                <a:rPr lang="en-US" sz="2000" i="1">
                                  <a:latin typeface="Cambria Math" panose="02040503050406030204" pitchFamily="18" charset="0"/>
                                </a:rPr>
                                <m:t>𝑡h</m:t>
                              </m:r>
                              <m:r>
                                <a:rPr lang="en-US" sz="2000" i="1">
                                  <a:latin typeface="Cambria Math" panose="02040503050406030204" pitchFamily="18" charset="0"/>
                                </a:rPr>
                                <m:t>ứ </m:t>
                              </m:r>
                              <m:r>
                                <a:rPr lang="en-US" sz="2000" i="1">
                                  <a:latin typeface="Cambria Math" panose="02040503050406030204" pitchFamily="18" charset="0"/>
                                </a:rPr>
                                <m:t>𝑗</m:t>
                              </m:r>
                              <m:r>
                                <a:rPr lang="en-US" sz="2000" i="1">
                                  <a:latin typeface="Cambria Math" panose="02040503050406030204" pitchFamily="18" charset="0"/>
                                </a:rPr>
                                <m:t> </m:t>
                              </m:r>
                              <m:r>
                                <a:rPr lang="en-US" sz="2000" i="1">
                                  <a:latin typeface="Cambria Math" panose="02040503050406030204" pitchFamily="18" charset="0"/>
                                </a:rPr>
                                <m:t>𝑐</m:t>
                              </m:r>
                              <m:r>
                                <a:rPr lang="en-US" sz="2000" i="1">
                                  <a:latin typeface="Cambria Math" panose="02040503050406030204" pitchFamily="18" charset="0"/>
                                </a:rPr>
                                <m:t>ủ</m:t>
                              </m:r>
                              <m:r>
                                <a:rPr lang="en-US" sz="2000" i="1">
                                  <a:latin typeface="Cambria Math" panose="02040503050406030204" pitchFamily="18" charset="0"/>
                                </a:rPr>
                                <m:t>𝑎</m:t>
                              </m:r>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 </m:t>
                              </m:r>
                              <m:r>
                                <a:rPr lang="en-US" sz="2000" i="1">
                                  <a:latin typeface="Cambria Math" panose="02040503050406030204" pitchFamily="18" charset="0"/>
                                </a:rPr>
                                <m:t>𝑐</m:t>
                              </m:r>
                              <m:r>
                                <a:rPr lang="en-US" sz="2000" i="1">
                                  <a:latin typeface="Cambria Math" panose="02040503050406030204" pitchFamily="18" charset="0"/>
                                </a:rPr>
                                <m:t>ó 1 </m:t>
                              </m:r>
                              <m:r>
                                <a:rPr lang="en-US" sz="2000" i="1">
                                  <a:latin typeface="Cambria Math" panose="02040503050406030204" pitchFamily="18" charset="0"/>
                                </a:rPr>
                                <m:t>𝑙𝑖𝑡𝑒𝑟𝑎𝑙</m:t>
                              </m:r>
                            </m:e>
                          </m:eqArr>
                        </m:e>
                      </m:d>
                    </m:oMath>
                  </m:oMathPara>
                </a14:m>
                <a:endParaRPr lang="en-US" sz="2000" b="0" dirty="0">
                  <a:latin typeface="+mj-lt"/>
                </a:endParaRPr>
              </a:p>
            </p:txBody>
          </p:sp>
        </mc:Choice>
        <mc:Fallback xmlns="">
          <p:sp>
            <p:nvSpPr>
              <p:cNvPr id="9" name="TextBox 8">
                <a:extLst>
                  <a:ext uri="{FF2B5EF4-FFF2-40B4-BE49-F238E27FC236}">
                    <a16:creationId xmlns:a16="http://schemas.microsoft.com/office/drawing/2014/main" id="{1284C796-BBF9-3E9F-48E0-DF36C577A0B7}"/>
                  </a:ext>
                </a:extLst>
              </p:cNvPr>
              <p:cNvSpPr txBox="1">
                <a:spLocks noRot="1" noChangeAspect="1" noMove="1" noResize="1" noEditPoints="1" noAdjustHandles="1" noChangeArrowheads="1" noChangeShapeType="1" noTextEdit="1"/>
              </p:cNvSpPr>
              <p:nvPr/>
            </p:nvSpPr>
            <p:spPr>
              <a:xfrm>
                <a:off x="5085934" y="1308517"/>
                <a:ext cx="6187714" cy="686535"/>
              </a:xfrm>
              <a:prstGeom prst="rect">
                <a:avLst/>
              </a:prstGeom>
              <a:blipFill>
                <a:blip r:embed="rId5"/>
                <a:stretch>
                  <a:fillRect t="-231481" b="-333333"/>
                </a:stretch>
              </a:blipFill>
            </p:spPr>
            <p:txBody>
              <a:bodyPr/>
              <a:lstStyle/>
              <a:p>
                <a:r>
                  <a:rPr lang="en-VN">
                    <a:noFill/>
                  </a:rPr>
                  <a:t> </a:t>
                </a:r>
              </a:p>
            </p:txBody>
          </p:sp>
        </mc:Fallback>
      </mc:AlternateContent>
    </p:spTree>
    <p:extLst>
      <p:ext uri="{BB962C8B-B14F-4D97-AF65-F5344CB8AC3E}">
        <p14:creationId xmlns:p14="http://schemas.microsoft.com/office/powerpoint/2010/main" val="300184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tt</a:t>
            </a:r>
            <a:r>
              <a:rPr lang="en-US" dirty="0"/>
              <a:t>)</a:t>
            </a:r>
            <a:endParaRPr lang="en-VN"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0E563B90-89CA-6AF0-E4C4-93B25ACD3962}"/>
                  </a:ext>
                </a:extLst>
              </p:cNvPr>
              <p:cNvSpPr>
                <a:spLocks noGrp="1"/>
              </p:cNvSpPr>
              <p:nvPr>
                <p:ph idx="1"/>
              </p:nvPr>
            </p:nvSpPr>
            <p:spPr>
              <a:xfrm>
                <a:off x="552726" y="1482352"/>
                <a:ext cx="6544512" cy="2987007"/>
              </a:xfrm>
            </p:spPr>
            <p:txBody>
              <a:bodyPr>
                <a:normAutofit fontScale="92500" lnSpcReduction="20000"/>
              </a:bodyPr>
              <a:lstStyle/>
              <a:p>
                <a:r>
                  <a:rPr lang="vi-VN" dirty="0"/>
                  <a:t>Tiên đề 2: Tồn tại phần tử trung hòa</a:t>
                </a:r>
                <a:endParaRPr lang="en-US" dirty="0"/>
              </a:p>
              <a:p>
                <a:pPr lvl="1"/>
                <a:r>
                  <a:rPr lang="vi-VN" i="1" dirty="0"/>
                  <a:t>x</a:t>
                </a:r>
                <a:r>
                  <a:rPr lang="vi-VN" dirty="0"/>
                  <a:t> ∙ 1 = 1 ∙ </a:t>
                </a:r>
                <a:r>
                  <a:rPr lang="vi-VN" i="1" dirty="0"/>
                  <a:t>x</a:t>
                </a:r>
                <a:r>
                  <a:rPr lang="vi-VN" dirty="0"/>
                  <a:t> = </a:t>
                </a:r>
                <a:r>
                  <a:rPr lang="vi-VN" i="1" dirty="0"/>
                  <a:t>x</a:t>
                </a:r>
                <a:endParaRPr lang="en-US" dirty="0"/>
              </a:p>
              <a:p>
                <a:pPr lvl="1"/>
                <a:r>
                  <a:rPr lang="vi-VN" i="1" dirty="0"/>
                  <a:t>x</a:t>
                </a:r>
                <a:r>
                  <a:rPr lang="vi-VN" dirty="0"/>
                  <a:t> + 0 = 0 + </a:t>
                </a:r>
                <a:r>
                  <a:rPr lang="vi-VN" i="1" dirty="0"/>
                  <a:t>x</a:t>
                </a:r>
                <a:r>
                  <a:rPr lang="vi-VN" dirty="0"/>
                  <a:t> = </a:t>
                </a:r>
                <a:r>
                  <a:rPr lang="vi-VN" i="1" dirty="0"/>
                  <a:t>x</a:t>
                </a:r>
                <a:endParaRPr lang="en-US" dirty="0"/>
              </a:p>
              <a:p>
                <a:r>
                  <a:rPr lang="en-US" dirty="0" err="1"/>
                  <a:t>Tiên</a:t>
                </a:r>
                <a:r>
                  <a:rPr lang="en-US" dirty="0"/>
                  <a:t> </a:t>
                </a:r>
                <a:r>
                  <a:rPr lang="en-US" dirty="0" err="1"/>
                  <a:t>đề</a:t>
                </a:r>
                <a:r>
                  <a:rPr lang="en-US" dirty="0"/>
                  <a:t> 5: </a:t>
                </a:r>
                <a:r>
                  <a:rPr lang="en-US" dirty="0" err="1"/>
                  <a:t>Tồn</a:t>
                </a:r>
                <a:r>
                  <a:rPr lang="en-US" dirty="0"/>
                  <a:t> </a:t>
                </a:r>
                <a:r>
                  <a:rPr lang="en-US" dirty="0" err="1"/>
                  <a:t>tại</a:t>
                </a:r>
                <a:r>
                  <a:rPr lang="en-US" dirty="0"/>
                  <a:t> </a:t>
                </a:r>
                <a:r>
                  <a:rPr lang="en-US" dirty="0" err="1"/>
                  <a:t>phần</a:t>
                </a:r>
                <a:r>
                  <a:rPr lang="en-US" dirty="0"/>
                  <a:t> </a:t>
                </a:r>
                <a:r>
                  <a:rPr lang="en-US" dirty="0" err="1"/>
                  <a:t>tử</a:t>
                </a:r>
                <a:r>
                  <a:rPr lang="en-US" dirty="0"/>
                  <a:t> </a:t>
                </a:r>
                <a:r>
                  <a:rPr lang="en-US" dirty="0" err="1"/>
                  <a:t>bù</a:t>
                </a:r>
                <a:endParaRPr lang="en-US" dirty="0"/>
              </a:p>
              <a:p>
                <a:pPr lvl="1"/>
                <a:r>
                  <a:rPr lang="vi-VN" i="1" dirty="0"/>
                  <a:t>x</a:t>
                </a:r>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r>
                  <a:rPr lang="vi-VN" i="1" dirty="0"/>
                  <a:t>x</a:t>
                </a:r>
                <a:r>
                  <a:rPr lang="vi-VN" dirty="0"/>
                  <a:t> = 0</a:t>
                </a:r>
                <a:endParaRPr lang="en-US" dirty="0"/>
              </a:p>
              <a:p>
                <a:pPr lvl="1"/>
                <a:r>
                  <a:rPr lang="vi-VN" i="1" dirty="0"/>
                  <a:t>x</a:t>
                </a:r>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i="1"/>
                          <m:t>x</m:t>
                        </m:r>
                      </m:e>
                    </m:acc>
                  </m:oMath>
                </a14:m>
                <a:r>
                  <a:rPr lang="vi-VN" dirty="0"/>
                  <a:t> + </a:t>
                </a:r>
                <a:r>
                  <a:rPr lang="vi-VN" i="1" dirty="0"/>
                  <a:t>x</a:t>
                </a:r>
                <a:r>
                  <a:rPr lang="vi-VN" dirty="0"/>
                  <a:t> = 1</a:t>
                </a:r>
                <a:endParaRPr lang="en-US" dirty="0"/>
              </a:p>
            </p:txBody>
          </p:sp>
        </mc:Choice>
        <mc:Fallback xmlns="">
          <p:sp>
            <p:nvSpPr>
              <p:cNvPr id="8" name="Content Placeholder 2">
                <a:extLst>
                  <a:ext uri="{FF2B5EF4-FFF2-40B4-BE49-F238E27FC236}">
                    <a16:creationId xmlns:a16="http://schemas.microsoft.com/office/drawing/2014/main" id="{0E563B90-89CA-6AF0-E4C4-93B25ACD3962}"/>
                  </a:ext>
                </a:extLst>
              </p:cNvPr>
              <p:cNvSpPr>
                <a:spLocks noGrp="1" noRot="1" noChangeAspect="1" noMove="1" noResize="1" noEditPoints="1" noAdjustHandles="1" noChangeArrowheads="1" noChangeShapeType="1" noTextEdit="1"/>
              </p:cNvSpPr>
              <p:nvPr>
                <p:ph idx="1"/>
              </p:nvPr>
            </p:nvSpPr>
            <p:spPr>
              <a:xfrm>
                <a:off x="552726" y="1482352"/>
                <a:ext cx="6544512" cy="2987007"/>
              </a:xfrm>
              <a:blipFill>
                <a:blip r:embed="rId2"/>
                <a:stretch>
                  <a:fillRect l="-1491" t="-163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9" name="Content Placeholder 2">
            <a:extLst>
              <a:ext uri="{FF2B5EF4-FFF2-40B4-BE49-F238E27FC236}">
                <a16:creationId xmlns:a16="http://schemas.microsoft.com/office/drawing/2014/main" id="{3B20892D-BA34-CFD0-DAB4-47E3698F92AD}"/>
              </a:ext>
            </a:extLst>
          </p:cNvPr>
          <p:cNvSpPr txBox="1">
            <a:spLocks/>
          </p:cNvSpPr>
          <p:nvPr/>
        </p:nvSpPr>
        <p:spPr>
          <a:xfrm>
            <a:off x="7284656" y="1136666"/>
            <a:ext cx="46980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vi-VN" sz="2800" dirty="0">
                <a:latin typeface="+mn-lt"/>
              </a:rPr>
              <a:t>Định lý 1: Tính lũy đẳng</a:t>
            </a:r>
            <a:endParaRPr lang="en-US" sz="2800" dirty="0">
              <a:latin typeface="+mn-lt"/>
            </a:endParaRPr>
          </a:p>
          <a:p>
            <a:pPr lvl="1">
              <a:buFont typeface="Arial" panose="020B0604020202020204" pitchFamily="34" charset="0"/>
              <a:buChar char="•"/>
            </a:pPr>
            <a:r>
              <a:rPr lang="vi-VN" sz="2400" i="1" dirty="0">
                <a:latin typeface="+mn-lt"/>
              </a:rPr>
              <a:t>x</a:t>
            </a:r>
            <a:r>
              <a:rPr lang="vi-VN" sz="2400" dirty="0">
                <a:latin typeface="+mn-lt"/>
              </a:rPr>
              <a:t> + </a:t>
            </a:r>
            <a:r>
              <a:rPr lang="vi-VN" sz="2400" i="1" dirty="0">
                <a:latin typeface="+mn-lt"/>
              </a:rPr>
              <a:t>x</a:t>
            </a:r>
            <a:r>
              <a:rPr lang="vi-VN" sz="2400" dirty="0">
                <a:latin typeface="+mn-lt"/>
              </a:rPr>
              <a:t> = </a:t>
            </a:r>
            <a:r>
              <a:rPr lang="vi-VN" sz="2400" i="1" dirty="0">
                <a:latin typeface="+mn-lt"/>
              </a:rPr>
              <a:t>x</a:t>
            </a:r>
            <a:endParaRPr lang="en-US" sz="2400" dirty="0">
              <a:latin typeface="+mn-lt"/>
            </a:endParaRPr>
          </a:p>
          <a:p>
            <a:pPr lvl="1">
              <a:buFont typeface="Arial" panose="020B0604020202020204" pitchFamily="34" charset="0"/>
              <a:buChar char="•"/>
            </a:pPr>
            <a:r>
              <a:rPr lang="vi-VN" sz="2400" i="1" dirty="0">
                <a:latin typeface="+mn-lt"/>
              </a:rPr>
              <a:t>x</a:t>
            </a:r>
            <a:r>
              <a:rPr lang="vi-VN" sz="2400" dirty="0">
                <a:latin typeface="+mn-lt"/>
              </a:rPr>
              <a:t> ∙ </a:t>
            </a:r>
            <a:r>
              <a:rPr lang="vi-VN" sz="2400" i="1" dirty="0">
                <a:latin typeface="+mn-lt"/>
              </a:rPr>
              <a:t>x</a:t>
            </a:r>
            <a:r>
              <a:rPr lang="vi-VN" sz="2400" dirty="0">
                <a:latin typeface="+mn-lt"/>
              </a:rPr>
              <a:t> = </a:t>
            </a:r>
            <a:r>
              <a:rPr lang="vi-VN" sz="2400" i="1" dirty="0">
                <a:latin typeface="+mn-lt"/>
              </a:rPr>
              <a:t>x</a:t>
            </a:r>
            <a:endParaRPr lang="en-US" sz="2400" dirty="0">
              <a:latin typeface="+mn-lt"/>
            </a:endParaRPr>
          </a:p>
          <a:p>
            <a:pPr lvl="0"/>
            <a:r>
              <a:rPr lang="vi-VN" sz="2800" dirty="0">
                <a:latin typeface="+mn-lt"/>
              </a:rPr>
              <a:t>Định lý 2: Tính nuốt</a:t>
            </a:r>
            <a:endParaRPr lang="en-US" sz="2800" dirty="0">
              <a:latin typeface="+mn-lt"/>
            </a:endParaRPr>
          </a:p>
          <a:p>
            <a:pPr lvl="1">
              <a:buFont typeface="Arial" panose="020B0604020202020204" pitchFamily="34" charset="0"/>
              <a:buChar char="•"/>
            </a:pPr>
            <a:r>
              <a:rPr lang="vi-VN" sz="2400" i="1" dirty="0">
                <a:latin typeface="+mn-lt"/>
              </a:rPr>
              <a:t>x</a:t>
            </a:r>
            <a:r>
              <a:rPr lang="vi-VN" sz="2400" dirty="0">
                <a:latin typeface="+mn-lt"/>
              </a:rPr>
              <a:t> + 1 = 1</a:t>
            </a:r>
            <a:endParaRPr lang="en-US" sz="2400" dirty="0">
              <a:latin typeface="+mn-lt"/>
            </a:endParaRPr>
          </a:p>
          <a:p>
            <a:pPr lvl="1">
              <a:buFont typeface="Arial" panose="020B0604020202020204" pitchFamily="34" charset="0"/>
              <a:buChar char="•"/>
            </a:pPr>
            <a:r>
              <a:rPr lang="vi-VN" sz="2400" i="1" dirty="0">
                <a:latin typeface="+mn-lt"/>
              </a:rPr>
              <a:t>x</a:t>
            </a:r>
            <a:r>
              <a:rPr lang="vi-VN" sz="2400" dirty="0">
                <a:latin typeface="+mn-lt"/>
              </a:rPr>
              <a:t> ∙ 0 = 0</a:t>
            </a:r>
            <a:endParaRPr lang="en-US" sz="2400" dirty="0">
              <a:latin typeface="+mn-lt"/>
            </a:endParaRPr>
          </a:p>
          <a:p>
            <a:pPr lvl="0"/>
            <a:r>
              <a:rPr lang="vi-VN" sz="2800" dirty="0">
                <a:latin typeface="+mn-lt"/>
              </a:rPr>
              <a:t>Định lý 3: Tính hấp thụ</a:t>
            </a:r>
            <a:endParaRPr lang="en-US" sz="2800" dirty="0">
              <a:latin typeface="+mn-lt"/>
            </a:endParaRPr>
          </a:p>
          <a:p>
            <a:pPr lvl="1">
              <a:buFont typeface="Arial" panose="020B0604020202020204" pitchFamily="34" charset="0"/>
              <a:buChar char="•"/>
            </a:pPr>
            <a:r>
              <a:rPr lang="vi-VN" sz="2400" i="1" dirty="0">
                <a:latin typeface="+mn-lt"/>
              </a:rPr>
              <a:t>x</a:t>
            </a:r>
            <a:r>
              <a:rPr lang="vi-VN" sz="2400" dirty="0">
                <a:latin typeface="+mn-lt"/>
              </a:rPr>
              <a:t> + </a:t>
            </a:r>
            <a:r>
              <a:rPr lang="vi-VN" sz="2400" i="1" dirty="0">
                <a:latin typeface="+mn-lt"/>
              </a:rPr>
              <a:t>x</a:t>
            </a:r>
            <a:r>
              <a:rPr lang="vi-VN" sz="2400" dirty="0">
                <a:latin typeface="+mn-lt"/>
              </a:rPr>
              <a:t> ∙ </a:t>
            </a:r>
            <a:r>
              <a:rPr lang="vi-VN" sz="2400" i="1" dirty="0">
                <a:latin typeface="+mn-lt"/>
              </a:rPr>
              <a:t>y</a:t>
            </a:r>
            <a:r>
              <a:rPr lang="vi-VN" sz="2400" dirty="0">
                <a:latin typeface="+mn-lt"/>
              </a:rPr>
              <a:t> = </a:t>
            </a:r>
            <a:r>
              <a:rPr lang="vi-VN" sz="2400" i="1" dirty="0">
                <a:latin typeface="+mn-lt"/>
              </a:rPr>
              <a:t>x</a:t>
            </a:r>
            <a:endParaRPr lang="en-US" sz="2400" dirty="0">
              <a:latin typeface="+mn-lt"/>
            </a:endParaRPr>
          </a:p>
          <a:p>
            <a:pPr lvl="1">
              <a:buFont typeface="Arial" panose="020B0604020202020204" pitchFamily="34" charset="0"/>
              <a:buChar char="•"/>
            </a:pPr>
            <a:r>
              <a:rPr lang="vi-VN" sz="2400" i="1" dirty="0">
                <a:latin typeface="+mn-lt"/>
              </a:rPr>
              <a:t>x</a:t>
            </a:r>
            <a:r>
              <a:rPr lang="vi-VN" sz="2400" dirty="0">
                <a:latin typeface="+mn-lt"/>
              </a:rPr>
              <a:t>(</a:t>
            </a:r>
            <a:r>
              <a:rPr lang="vi-VN" sz="2400" i="1" dirty="0">
                <a:latin typeface="+mn-lt"/>
              </a:rPr>
              <a:t>x</a:t>
            </a:r>
            <a:r>
              <a:rPr lang="vi-VN" sz="2400" dirty="0">
                <a:latin typeface="+mn-lt"/>
              </a:rPr>
              <a:t> + </a:t>
            </a:r>
            <a:r>
              <a:rPr lang="vi-VN" sz="2400" i="1" dirty="0">
                <a:latin typeface="+mn-lt"/>
              </a:rPr>
              <a:t>y</a:t>
            </a:r>
            <a:r>
              <a:rPr lang="vi-VN" sz="2400" dirty="0">
                <a:latin typeface="+mn-lt"/>
              </a:rPr>
              <a:t>) = </a:t>
            </a:r>
            <a:r>
              <a:rPr lang="vi-VN" sz="2400" i="1" dirty="0">
                <a:latin typeface="+mn-lt"/>
              </a:rPr>
              <a:t>x</a:t>
            </a:r>
            <a:endParaRPr lang="en-US" sz="2400" dirty="0">
              <a:latin typeface="+mn-lt"/>
            </a:endParaRPr>
          </a:p>
        </p:txBody>
      </p:sp>
    </p:spTree>
    <p:extLst>
      <p:ext uri="{BB962C8B-B14F-4D97-AF65-F5344CB8AC3E}">
        <p14:creationId xmlns:p14="http://schemas.microsoft.com/office/powerpoint/2010/main" val="962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 calcmode="lin" valueType="num">
                                      <p:cBhvr additive="base">
                                        <p:cTn id="2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 calcmode="lin" valueType="num">
                                      <p:cBhvr additive="base">
                                        <p:cTn id="2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tt</a:t>
            </a:r>
            <a:r>
              <a:rPr lang="en-US" dirty="0"/>
              <a:t>)</a:t>
            </a:r>
            <a:endParaRPr lang="en-VN"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1F7AE18-3B48-4DA2-0461-18AEA287E96E}"/>
                  </a:ext>
                </a:extLst>
              </p:cNvPr>
              <p:cNvSpPr>
                <a:spLocks noGrp="1"/>
              </p:cNvSpPr>
              <p:nvPr>
                <p:ph idx="1"/>
              </p:nvPr>
            </p:nvSpPr>
            <p:spPr>
              <a:xfrm>
                <a:off x="478181" y="1464293"/>
                <a:ext cx="5702300" cy="3042589"/>
              </a:xfrm>
            </p:spPr>
            <p:txBody>
              <a:bodyPr>
                <a:normAutofit lnSpcReduction="10000"/>
              </a:bodyPr>
              <a:lstStyle/>
              <a:p>
                <a:pPr marL="0" indent="0">
                  <a:buNone/>
                </a:pPr>
                <a14:m>
                  <m:oMathPara xmlns:m="http://schemas.openxmlformats.org/officeDocument/2006/math">
                    <m:oMathParaPr>
                      <m:jc m:val="left"/>
                    </m:oMathParaPr>
                    <m:oMath xmlns:m="http://schemas.openxmlformats.org/officeDocument/2006/math">
                      <m:r>
                        <m:rPr>
                          <m:nor/>
                        </m:rPr>
                        <a:rPr lang="vi-VN" i="1"/>
                        <m:t>f</m:t>
                      </m:r>
                      <m:r>
                        <m:rPr>
                          <m:nor/>
                        </m:rPr>
                        <a:rPr lang="vi-VN" i="1"/>
                        <m:t>(</m:t>
                      </m:r>
                      <m:r>
                        <m:rPr>
                          <m:nor/>
                        </m:rPr>
                        <a:rPr lang="vi-VN" i="1"/>
                        <m:t>x</m:t>
                      </m:r>
                      <m:r>
                        <m:rPr>
                          <m:nor/>
                        </m:rPr>
                        <a:rPr lang="vi-VN" i="1"/>
                        <m:t>, </m:t>
                      </m:r>
                      <m:r>
                        <m:rPr>
                          <m:nor/>
                        </m:rPr>
                        <a:rPr lang="vi-VN" i="1"/>
                        <m:t>y</m:t>
                      </m:r>
                      <m:r>
                        <m:rPr>
                          <m:nor/>
                        </m:rPr>
                        <a:rPr lang="vi-VN" i="1"/>
                        <m:t>, </m:t>
                      </m:r>
                      <m:r>
                        <m:rPr>
                          <m:nor/>
                        </m:rPr>
                        <a:rPr lang="vi-VN" i="1"/>
                        <m:t>z</m:t>
                      </m:r>
                      <m:r>
                        <m:rPr>
                          <m:nor/>
                        </m:rPr>
                        <a:rPr lang="vi-VN" i="1"/>
                        <m:t>)</m:t>
                      </m:r>
                      <m:r>
                        <m:rPr>
                          <m:nor/>
                        </m:rPr>
                        <a:rPr lang="en-US" i="1"/>
                        <m:t> = </m:t>
                      </m:r>
                      <m:r>
                        <m:rPr>
                          <m:nor/>
                        </m:rPr>
                        <a:rPr lang="vi-VN" i="1"/>
                        <m:t>x</m:t>
                      </m:r>
                      <m:r>
                        <m:rPr>
                          <m:nor/>
                        </m:rPr>
                        <a:rPr lang="vi-VN" i="1"/>
                        <m:t> + </m:t>
                      </m:r>
                      <m:r>
                        <m:rPr>
                          <m:nor/>
                        </m:rPr>
                        <a:rPr lang="vi-VN" i="1"/>
                        <m:t>y</m:t>
                      </m:r>
                      <m:acc>
                        <m:accPr>
                          <m:chr m:val="̅"/>
                          <m:ctrlPr>
                            <a:rPr lang="en-US" i="1">
                              <a:latin typeface="Cambria Math" panose="02040503050406030204" pitchFamily="18" charset="0"/>
                            </a:rPr>
                          </m:ctrlPr>
                        </m:accPr>
                        <m:e>
                          <m:r>
                            <m:rPr>
                              <m:nor/>
                            </m:rPr>
                            <a:rPr lang="en-US" i="1"/>
                            <m:t>z</m:t>
                          </m:r>
                        </m:e>
                      </m:acc>
                      <m:r>
                        <m:rPr>
                          <m:nor/>
                        </m:rPr>
                        <a:rPr lang="vi-VN" i="1"/>
                        <m:t>+ </m:t>
                      </m:r>
                      <m:r>
                        <m:rPr>
                          <m:nor/>
                        </m:rPr>
                        <a:rPr lang="vi-VN" i="1"/>
                        <m:t>xy</m:t>
                      </m:r>
                    </m:oMath>
                  </m:oMathPara>
                </a14:m>
                <a:endParaRPr lang="en-US" dirty="0"/>
              </a:p>
              <a:p>
                <a:pPr marL="0" indent="0">
                  <a:buNone/>
                </a:pPr>
                <a:r>
                  <a:rPr lang="en-US"/>
                  <a:t>              = </a:t>
                </a:r>
                <a14:m>
                  <m:oMath xmlns:m="http://schemas.openxmlformats.org/officeDocument/2006/math">
                    <m:r>
                      <m:rPr>
                        <m:nor/>
                      </m:rPr>
                      <a:rPr lang="vi-VN" i="1"/>
                      <m:t>x</m:t>
                    </m:r>
                    <m:r>
                      <m:rPr>
                        <m:nor/>
                      </m:rPr>
                      <a:rPr lang="vi-VN" i="1"/>
                      <m:t> + </m:t>
                    </m:r>
                    <m:r>
                      <m:rPr>
                        <m:nor/>
                      </m:rPr>
                      <a:rPr lang="vi-VN" i="1"/>
                      <m:t>xy</m:t>
                    </m:r>
                  </m:oMath>
                </a14:m>
                <a:r>
                  <a:rPr lang="en-US"/>
                  <a:t> </a:t>
                </a:r>
                <a14:m>
                  <m:oMath xmlns:m="http://schemas.openxmlformats.org/officeDocument/2006/math">
                    <m:r>
                      <m:rPr>
                        <m:nor/>
                      </m:rPr>
                      <a:rPr lang="vi-VN" i="1"/>
                      <m:t>+ </m:t>
                    </m:r>
                    <m:r>
                      <m:rPr>
                        <m:nor/>
                      </m:rPr>
                      <a:rPr lang="vi-VN" i="1"/>
                      <m:t>y</m:t>
                    </m:r>
                    <m:acc>
                      <m:accPr>
                        <m:chr m:val="̅"/>
                        <m:ctrlPr>
                          <a:rPr lang="en-US" i="1">
                            <a:latin typeface="Cambria Math" panose="02040503050406030204" pitchFamily="18" charset="0"/>
                          </a:rPr>
                        </m:ctrlPr>
                      </m:accPr>
                      <m:e>
                        <m:r>
                          <m:rPr>
                            <m:nor/>
                          </m:rPr>
                          <a:rPr lang="en-US" i="1"/>
                          <m:t>z</m:t>
                        </m:r>
                      </m:e>
                    </m:acc>
                  </m:oMath>
                </a14:m>
                <a:endParaRPr lang="en-US"/>
              </a:p>
              <a:p>
                <a:pPr marL="0" indent="0">
                  <a:buNone/>
                </a:pPr>
                <a:r>
                  <a:rPr lang="en-US"/>
                  <a:t>	    = x (1 + y) + </a:t>
                </a:r>
                <a14:m>
                  <m:oMath xmlns:m="http://schemas.openxmlformats.org/officeDocument/2006/math">
                    <m:r>
                      <m:rPr>
                        <m:nor/>
                      </m:rPr>
                      <a:rPr lang="vi-VN" i="1"/>
                      <m:t>y</m:t>
                    </m:r>
                    <m:acc>
                      <m:accPr>
                        <m:chr m:val="̅"/>
                        <m:ctrlPr>
                          <a:rPr lang="en-US" i="1">
                            <a:latin typeface="Cambria Math" panose="02040503050406030204" pitchFamily="18" charset="0"/>
                          </a:rPr>
                        </m:ctrlPr>
                      </m:accPr>
                      <m:e>
                        <m:r>
                          <m:rPr>
                            <m:nor/>
                          </m:rPr>
                          <a:rPr lang="en-US" i="1"/>
                          <m:t>z</m:t>
                        </m:r>
                      </m:e>
                    </m:acc>
                  </m:oMath>
                </a14:m>
                <a:endParaRPr lang="en-US" dirty="0"/>
              </a:p>
              <a:p>
                <a:pPr marL="0" indent="0">
                  <a:buNone/>
                </a:pPr>
                <a:r>
                  <a:rPr lang="en-US"/>
                  <a:t>	    = x1 + </a:t>
                </a:r>
                <a14:m>
                  <m:oMath xmlns:m="http://schemas.openxmlformats.org/officeDocument/2006/math">
                    <m:r>
                      <m:rPr>
                        <m:nor/>
                      </m:rPr>
                      <a:rPr lang="vi-VN" i="1"/>
                      <m:t>y</m:t>
                    </m:r>
                    <m:acc>
                      <m:accPr>
                        <m:chr m:val="̅"/>
                        <m:ctrlPr>
                          <a:rPr lang="en-US" i="1">
                            <a:latin typeface="Cambria Math" panose="02040503050406030204" pitchFamily="18" charset="0"/>
                          </a:rPr>
                        </m:ctrlPr>
                      </m:accPr>
                      <m:e>
                        <m:r>
                          <m:rPr>
                            <m:nor/>
                          </m:rPr>
                          <a:rPr lang="en-US" i="1"/>
                          <m:t>z</m:t>
                        </m:r>
                      </m:e>
                    </m:acc>
                  </m:oMath>
                </a14:m>
                <a:endParaRPr lang="en-US" dirty="0"/>
              </a:p>
              <a:p>
                <a:pPr marL="0" indent="0">
                  <a:buNone/>
                </a:pPr>
                <a:r>
                  <a:rPr lang="en-US"/>
                  <a:t>	    = x + </a:t>
                </a:r>
                <a14:m>
                  <m:oMath xmlns:m="http://schemas.openxmlformats.org/officeDocument/2006/math">
                    <m:r>
                      <m:rPr>
                        <m:nor/>
                      </m:rPr>
                      <a:rPr lang="vi-VN" i="1"/>
                      <m:t>y</m:t>
                    </m:r>
                    <m:acc>
                      <m:accPr>
                        <m:chr m:val="̅"/>
                        <m:ctrlPr>
                          <a:rPr lang="en-US" i="1">
                            <a:latin typeface="Cambria Math" panose="02040503050406030204" pitchFamily="18" charset="0"/>
                          </a:rPr>
                        </m:ctrlPr>
                      </m:accPr>
                      <m:e>
                        <m:r>
                          <m:rPr>
                            <m:nor/>
                          </m:rPr>
                          <a:rPr lang="en-US" i="1"/>
                          <m:t>z</m:t>
                        </m:r>
                      </m:e>
                    </m:acc>
                  </m:oMath>
                </a14:m>
                <a:endParaRPr lang="en-US" dirty="0"/>
              </a:p>
              <a:p>
                <a:pPr marL="0" indent="0">
                  <a:buNone/>
                </a:pPr>
                <a:endParaRPr lang="en-US" dirty="0"/>
              </a:p>
            </p:txBody>
          </p:sp>
        </mc:Choice>
        <mc:Fallback xmlns="">
          <p:sp>
            <p:nvSpPr>
              <p:cNvPr id="7" name="Content Placeholder 2">
                <a:extLst>
                  <a:ext uri="{FF2B5EF4-FFF2-40B4-BE49-F238E27FC236}">
                    <a16:creationId xmlns:a16="http://schemas.microsoft.com/office/drawing/2014/main" id="{A1F7AE18-3B48-4DA2-0461-18AEA287E96E}"/>
                  </a:ext>
                </a:extLst>
              </p:cNvPr>
              <p:cNvSpPr>
                <a:spLocks noGrp="1" noRot="1" noChangeAspect="1" noMove="1" noResize="1" noEditPoints="1" noAdjustHandles="1" noChangeArrowheads="1" noChangeShapeType="1" noTextEdit="1"/>
              </p:cNvSpPr>
              <p:nvPr>
                <p:ph idx="1"/>
              </p:nvPr>
            </p:nvSpPr>
            <p:spPr>
              <a:xfrm>
                <a:off x="478181" y="1464293"/>
                <a:ext cx="5702300" cy="3042589"/>
              </a:xfrm>
              <a:blipFill>
                <a:blip r:embed="rId2"/>
                <a:stretch>
                  <a:fillRect b="-2605"/>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30</a:t>
            </a:fld>
            <a:endParaRPr lang="en-VN" dirty="0"/>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FE483AEE-9545-8909-CCB9-71C358A77B7E}"/>
                  </a:ext>
                </a:extLst>
              </p:cNvPr>
              <p:cNvSpPr txBox="1">
                <a:spLocks/>
              </p:cNvSpPr>
              <p:nvPr/>
            </p:nvSpPr>
            <p:spPr>
              <a:xfrm>
                <a:off x="6155081" y="1464293"/>
                <a:ext cx="5702300" cy="2617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xmlns:m="http://schemas.openxmlformats.org/officeDocument/2006/math">
                      <m:r>
                        <m:rPr>
                          <m:nor/>
                        </m:rPr>
                        <a:rPr lang="vi-VN" i="1" smtClean="0">
                          <a:latin typeface="+mn-lt"/>
                        </a:rPr>
                        <m:t>f</m:t>
                      </m:r>
                      <m:r>
                        <m:rPr>
                          <m:nor/>
                        </m:rPr>
                        <a:rPr lang="vi-VN" i="1" smtClean="0">
                          <a:latin typeface="+mn-lt"/>
                        </a:rPr>
                        <m:t>(</m:t>
                      </m:r>
                      <m:r>
                        <m:rPr>
                          <m:nor/>
                        </m:rPr>
                        <a:rPr lang="vi-VN" i="1" smtClean="0">
                          <a:latin typeface="+mn-lt"/>
                        </a:rPr>
                        <m:t>x</m:t>
                      </m:r>
                      <m:r>
                        <m:rPr>
                          <m:nor/>
                        </m:rPr>
                        <a:rPr lang="vi-VN" i="1" smtClean="0">
                          <a:latin typeface="+mn-lt"/>
                        </a:rPr>
                        <m:t>, </m:t>
                      </m:r>
                      <m:r>
                        <m:rPr>
                          <m:nor/>
                        </m:rPr>
                        <a:rPr lang="vi-VN" i="1" smtClean="0">
                          <a:latin typeface="+mn-lt"/>
                        </a:rPr>
                        <m:t>y</m:t>
                      </m:r>
                      <m:r>
                        <m:rPr>
                          <m:nor/>
                        </m:rPr>
                        <a:rPr lang="vi-VN" i="1" smtClean="0">
                          <a:latin typeface="+mn-lt"/>
                        </a:rPr>
                        <m:t>, </m:t>
                      </m:r>
                      <m:r>
                        <m:rPr>
                          <m:nor/>
                        </m:rPr>
                        <a:rPr lang="vi-VN" i="1" smtClean="0">
                          <a:latin typeface="+mn-lt"/>
                        </a:rPr>
                        <m:t>z</m:t>
                      </m:r>
                      <m:r>
                        <m:rPr>
                          <m:nor/>
                        </m:rPr>
                        <a:rPr lang="vi-VN" i="1" smtClean="0">
                          <a:latin typeface="+mn-lt"/>
                        </a:rPr>
                        <m:t>)</m:t>
                      </m:r>
                      <m:r>
                        <m:rPr>
                          <m:nor/>
                        </m:rPr>
                        <a:rPr lang="en-US" i="1" smtClean="0">
                          <a:latin typeface="+mn-lt"/>
                        </a:rPr>
                        <m:t> = </m:t>
                      </m:r>
                      <m:r>
                        <m:rPr>
                          <m:nor/>
                        </m:rPr>
                        <a:rPr lang="en-US" b="0" smtClean="0">
                          <a:latin typeface="+mn-lt"/>
                        </a:rPr>
                        <m:t>(</m:t>
                      </m:r>
                      <m:r>
                        <m:rPr>
                          <m:nor/>
                        </m:rPr>
                        <a:rPr lang="vi-VN" i="1" smtClean="0">
                          <a:latin typeface="+mn-lt"/>
                        </a:rPr>
                        <m:t>x</m:t>
                      </m:r>
                      <m:r>
                        <m:rPr>
                          <m:nor/>
                        </m:rPr>
                        <a:rPr lang="vi-VN" i="1" smtClean="0">
                          <a:latin typeface="+mn-lt"/>
                        </a:rPr>
                        <m:t> + </m:t>
                      </m:r>
                      <m:r>
                        <m:rPr>
                          <m:nor/>
                        </m:rPr>
                        <a:rPr lang="vi-VN" i="1" smtClean="0">
                          <a:latin typeface="+mn-lt"/>
                        </a:rPr>
                        <m:t>y</m:t>
                      </m:r>
                      <m:r>
                        <m:rPr>
                          <m:nor/>
                        </m:rPr>
                        <a:rPr lang="en-US" b="0" smtClean="0">
                          <a:latin typeface="+mn-lt"/>
                        </a:rPr>
                        <m:t>)(</m:t>
                      </m:r>
                      <m:acc>
                        <m:accPr>
                          <m:chr m:val="̅"/>
                          <m:ctrlPr>
                            <a:rPr lang="en-US" i="1">
                              <a:latin typeface="Cambria Math" panose="02040503050406030204" pitchFamily="18" charset="0"/>
                            </a:rPr>
                          </m:ctrlPr>
                        </m:accPr>
                        <m:e>
                          <m:r>
                            <m:rPr>
                              <m:nor/>
                            </m:rPr>
                            <a:rPr lang="en-US" b="0" i="1" smtClean="0">
                              <a:latin typeface="+mn-lt"/>
                            </a:rPr>
                            <m:t>z</m:t>
                          </m:r>
                        </m:e>
                      </m:acc>
                      <m:r>
                        <m:rPr>
                          <m:nor/>
                        </m:rPr>
                        <a:rPr lang="en-US" b="0" i="1" smtClean="0">
                          <a:latin typeface="+mn-lt"/>
                        </a:rPr>
                        <m:t> </m:t>
                      </m:r>
                      <m:r>
                        <m:rPr>
                          <m:nor/>
                        </m:rPr>
                        <a:rPr lang="vi-VN" i="1" smtClean="0">
                          <a:latin typeface="+mn-lt"/>
                        </a:rPr>
                        <m:t>+ </m:t>
                      </m:r>
                      <m:r>
                        <m:rPr>
                          <m:nor/>
                        </m:rPr>
                        <a:rPr lang="vi-VN" i="1" smtClean="0">
                          <a:latin typeface="+mn-lt"/>
                        </a:rPr>
                        <m:t>x</m:t>
                      </m:r>
                      <m:r>
                        <m:rPr>
                          <m:nor/>
                        </m:rPr>
                        <a:rPr lang="en-US" b="0" i="1" smtClean="0">
                          <a:latin typeface="+mn-lt"/>
                        </a:rPr>
                        <m:t> + </m:t>
                      </m:r>
                      <m:r>
                        <m:rPr>
                          <m:nor/>
                        </m:rPr>
                        <a:rPr lang="vi-VN" i="1" smtClean="0">
                          <a:latin typeface="+mn-lt"/>
                        </a:rPr>
                        <m:t>y</m:t>
                      </m:r>
                      <m:r>
                        <m:rPr>
                          <m:nor/>
                        </m:rPr>
                        <a:rPr lang="en-US" b="0" smtClean="0">
                          <a:latin typeface="+mn-lt"/>
                        </a:rPr>
                        <m:t>)</m:t>
                      </m:r>
                    </m:oMath>
                  </m:oMathPara>
                </a14:m>
                <a:endParaRPr lang="en-US" dirty="0">
                  <a:latin typeface="+mn-lt"/>
                </a:endParaRPr>
              </a:p>
              <a:p>
                <a:pPr marL="0" indent="0">
                  <a:buNone/>
                </a:pPr>
                <a:r>
                  <a:rPr lang="en-US">
                    <a:latin typeface="+mn-lt"/>
                  </a:rPr>
                  <a:t>	       = (x + y)  	</a:t>
                </a:r>
                <a:endParaRPr lang="en-US" dirty="0">
                  <a:latin typeface="+mn-lt"/>
                </a:endParaRPr>
              </a:p>
            </p:txBody>
          </p:sp>
        </mc:Choice>
        <mc:Fallback xmlns="">
          <p:sp>
            <p:nvSpPr>
              <p:cNvPr id="11" name="Content Placeholder 2">
                <a:extLst>
                  <a:ext uri="{FF2B5EF4-FFF2-40B4-BE49-F238E27FC236}">
                    <a16:creationId xmlns:a16="http://schemas.microsoft.com/office/drawing/2014/main" id="{FE483AEE-9545-8909-CCB9-71C358A77B7E}"/>
                  </a:ext>
                </a:extLst>
              </p:cNvPr>
              <p:cNvSpPr txBox="1">
                <a:spLocks noRot="1" noChangeAspect="1" noMove="1" noResize="1" noEditPoints="1" noAdjustHandles="1" noChangeArrowheads="1" noChangeShapeType="1" noTextEdit="1"/>
              </p:cNvSpPr>
              <p:nvPr/>
            </p:nvSpPr>
            <p:spPr>
              <a:xfrm>
                <a:off x="6155081" y="1464293"/>
                <a:ext cx="5702300" cy="2617586"/>
              </a:xfrm>
              <a:prstGeom prst="rect">
                <a:avLst/>
              </a:prstGeom>
              <a:blipFill>
                <a:blip r:embed="rId3"/>
                <a:stretch>
                  <a:fillRect/>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F55C1AE8-4333-C35C-5EC9-A61475A25F07}"/>
              </a:ext>
            </a:extLst>
          </p:cNvPr>
          <p:cNvSpPr txBox="1">
            <a:spLocks/>
          </p:cNvSpPr>
          <p:nvPr/>
        </p:nvSpPr>
        <p:spPr>
          <a:xfrm>
            <a:off x="523288" y="4426877"/>
            <a:ext cx="11430000" cy="2081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ü"/>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solidFill>
                  <a:srgbClr val="FF0000"/>
                </a:solidFill>
                <a:latin typeface="+mn-lt"/>
              </a:rPr>
              <a:t>Có nhiều định lý </a:t>
            </a:r>
            <a:r>
              <a:rPr lang="en-US" dirty="0" err="1">
                <a:solidFill>
                  <a:srgbClr val="FF0000"/>
                </a:solidFill>
                <a:latin typeface="+mn-lt"/>
              </a:rPr>
              <a:t>và</a:t>
            </a:r>
            <a:r>
              <a:rPr lang="en-US" dirty="0">
                <a:solidFill>
                  <a:srgbClr val="FF0000"/>
                </a:solidFill>
                <a:latin typeface="+mn-lt"/>
              </a:rPr>
              <a:t> </a:t>
            </a:r>
            <a:r>
              <a:rPr lang="en-US" dirty="0" err="1">
                <a:solidFill>
                  <a:srgbClr val="FF0000"/>
                </a:solidFill>
                <a:latin typeface="+mn-lt"/>
              </a:rPr>
              <a:t>tiên</a:t>
            </a:r>
            <a:r>
              <a:rPr lang="en-US" dirty="0">
                <a:solidFill>
                  <a:srgbClr val="FF0000"/>
                </a:solidFill>
                <a:latin typeface="+mn-lt"/>
              </a:rPr>
              <a:t> </a:t>
            </a:r>
            <a:r>
              <a:rPr lang="en-US" dirty="0" err="1">
                <a:solidFill>
                  <a:srgbClr val="FF0000"/>
                </a:solidFill>
                <a:latin typeface="+mn-lt"/>
              </a:rPr>
              <a:t>đề</a:t>
            </a:r>
            <a:endParaRPr lang="en-US" dirty="0">
              <a:solidFill>
                <a:srgbClr val="FF0000"/>
              </a:solidFill>
              <a:latin typeface="+mn-lt"/>
            </a:endParaRPr>
          </a:p>
          <a:p>
            <a:pPr lvl="1"/>
            <a:r>
              <a:rPr lang="en-US" dirty="0" err="1">
                <a:solidFill>
                  <a:srgbClr val="FF0000"/>
                </a:solidFill>
                <a:latin typeface="+mn-lt"/>
              </a:rPr>
              <a:t>Nên</a:t>
            </a:r>
            <a:r>
              <a:rPr lang="en-US" dirty="0">
                <a:solidFill>
                  <a:srgbClr val="FF0000"/>
                </a:solidFill>
                <a:latin typeface="+mn-lt"/>
              </a:rPr>
              <a:t> </a:t>
            </a:r>
            <a:r>
              <a:rPr lang="en-US" dirty="0" err="1">
                <a:solidFill>
                  <a:srgbClr val="FF0000"/>
                </a:solidFill>
                <a:latin typeface="+mn-lt"/>
              </a:rPr>
              <a:t>sử</a:t>
            </a:r>
            <a:r>
              <a:rPr lang="en-US" dirty="0">
                <a:solidFill>
                  <a:srgbClr val="FF0000"/>
                </a:solidFill>
                <a:latin typeface="+mn-lt"/>
              </a:rPr>
              <a:t> </a:t>
            </a:r>
            <a:r>
              <a:rPr lang="en-US" dirty="0" err="1">
                <a:solidFill>
                  <a:srgbClr val="FF0000"/>
                </a:solidFill>
                <a:latin typeface="+mn-lt"/>
              </a:rPr>
              <a:t>dụng</a:t>
            </a:r>
            <a:r>
              <a:rPr lang="en-US" dirty="0">
                <a:solidFill>
                  <a:srgbClr val="FF0000"/>
                </a:solidFill>
                <a:latin typeface="+mn-lt"/>
              </a:rPr>
              <a:t> </a:t>
            </a:r>
            <a:r>
              <a:rPr lang="en-US" dirty="0" err="1">
                <a:solidFill>
                  <a:srgbClr val="FF0000"/>
                </a:solidFill>
                <a:latin typeface="+mn-lt"/>
              </a:rPr>
              <a:t>định</a:t>
            </a:r>
            <a:r>
              <a:rPr lang="en-US" dirty="0">
                <a:solidFill>
                  <a:srgbClr val="FF0000"/>
                </a:solidFill>
                <a:latin typeface="+mn-lt"/>
              </a:rPr>
              <a:t> </a:t>
            </a:r>
            <a:r>
              <a:rPr lang="en-US" dirty="0" err="1">
                <a:solidFill>
                  <a:srgbClr val="FF0000"/>
                </a:solidFill>
                <a:latin typeface="+mn-lt"/>
              </a:rPr>
              <a:t>lý</a:t>
            </a:r>
            <a:r>
              <a:rPr lang="en-US" dirty="0">
                <a:solidFill>
                  <a:srgbClr val="FF0000"/>
                </a:solidFill>
                <a:latin typeface="+mn-lt"/>
              </a:rPr>
              <a:t> </a:t>
            </a:r>
            <a:r>
              <a:rPr lang="en-US" dirty="0" err="1">
                <a:solidFill>
                  <a:srgbClr val="FF0000"/>
                </a:solidFill>
                <a:latin typeface="+mn-lt"/>
              </a:rPr>
              <a:t>nào</a:t>
            </a:r>
            <a:r>
              <a:rPr lang="en-US" dirty="0">
                <a:solidFill>
                  <a:srgbClr val="FF0000"/>
                </a:solidFill>
                <a:latin typeface="+mn-lt"/>
              </a:rPr>
              <a:t>? </a:t>
            </a:r>
            <a:r>
              <a:rPr lang="en-US" dirty="0" err="1">
                <a:solidFill>
                  <a:srgbClr val="FF0000"/>
                </a:solidFill>
                <a:latin typeface="+mn-lt"/>
              </a:rPr>
              <a:t>Tiên</a:t>
            </a:r>
            <a:r>
              <a:rPr lang="en-US" dirty="0">
                <a:solidFill>
                  <a:srgbClr val="FF0000"/>
                </a:solidFill>
                <a:latin typeface="+mn-lt"/>
              </a:rPr>
              <a:t> </a:t>
            </a:r>
            <a:r>
              <a:rPr lang="en-US" dirty="0" err="1">
                <a:solidFill>
                  <a:srgbClr val="FF0000"/>
                </a:solidFill>
                <a:latin typeface="+mn-lt"/>
              </a:rPr>
              <a:t>đề</a:t>
            </a:r>
            <a:r>
              <a:rPr lang="en-US" dirty="0">
                <a:solidFill>
                  <a:srgbClr val="FF0000"/>
                </a:solidFill>
                <a:latin typeface="+mn-lt"/>
              </a:rPr>
              <a:t> </a:t>
            </a:r>
            <a:r>
              <a:rPr lang="en-US" dirty="0" err="1">
                <a:solidFill>
                  <a:srgbClr val="FF0000"/>
                </a:solidFill>
                <a:latin typeface="+mn-lt"/>
              </a:rPr>
              <a:t>nào</a:t>
            </a:r>
            <a:r>
              <a:rPr lang="en-US" dirty="0">
                <a:solidFill>
                  <a:srgbClr val="FF0000"/>
                </a:solidFill>
                <a:latin typeface="+mn-lt"/>
              </a:rPr>
              <a:t>?</a:t>
            </a:r>
          </a:p>
          <a:p>
            <a:r>
              <a:rPr lang="en-US" dirty="0" err="1">
                <a:solidFill>
                  <a:srgbClr val="FF0000"/>
                </a:solidFill>
                <a:latin typeface="+mn-lt"/>
              </a:rPr>
              <a:t>Biểu</a:t>
            </a:r>
            <a:r>
              <a:rPr lang="en-US" dirty="0">
                <a:solidFill>
                  <a:srgbClr val="FF0000"/>
                </a:solidFill>
                <a:latin typeface="+mn-lt"/>
              </a:rPr>
              <a:t> </a:t>
            </a:r>
            <a:r>
              <a:rPr lang="en-US" dirty="0" err="1">
                <a:solidFill>
                  <a:srgbClr val="FF0000"/>
                </a:solidFill>
                <a:latin typeface="+mn-lt"/>
              </a:rPr>
              <a:t>thức</a:t>
            </a:r>
            <a:r>
              <a:rPr lang="en-US" dirty="0">
                <a:solidFill>
                  <a:srgbClr val="FF0000"/>
                </a:solidFill>
                <a:latin typeface="+mn-lt"/>
              </a:rPr>
              <a:t> </a:t>
            </a:r>
            <a:r>
              <a:rPr lang="en-US" dirty="0" err="1">
                <a:solidFill>
                  <a:srgbClr val="FF0000"/>
                </a:solidFill>
                <a:latin typeface="+mn-lt"/>
              </a:rPr>
              <a:t>đã</a:t>
            </a:r>
            <a:r>
              <a:rPr lang="en-US" dirty="0">
                <a:solidFill>
                  <a:srgbClr val="FF0000"/>
                </a:solidFill>
                <a:latin typeface="+mn-lt"/>
              </a:rPr>
              <a:t> </a:t>
            </a:r>
            <a:r>
              <a:rPr lang="en-US" dirty="0" err="1">
                <a:solidFill>
                  <a:srgbClr val="FF0000"/>
                </a:solidFill>
                <a:latin typeface="+mn-lt"/>
              </a:rPr>
              <a:t>tối</a:t>
            </a:r>
            <a:r>
              <a:rPr lang="en-US" dirty="0">
                <a:solidFill>
                  <a:srgbClr val="FF0000"/>
                </a:solidFill>
                <a:latin typeface="+mn-lt"/>
              </a:rPr>
              <a:t> </a:t>
            </a:r>
            <a:r>
              <a:rPr lang="vi-VN" dirty="0">
                <a:solidFill>
                  <a:srgbClr val="FF0000"/>
                </a:solidFill>
                <a:latin typeface="+mn-lt"/>
              </a:rPr>
              <a:t>ư</a:t>
            </a:r>
            <a:r>
              <a:rPr lang="en-US" dirty="0">
                <a:solidFill>
                  <a:srgbClr val="FF0000"/>
                </a:solidFill>
                <a:latin typeface="+mn-lt"/>
              </a:rPr>
              <a:t>u hay </a:t>
            </a:r>
            <a:r>
              <a:rPr lang="en-US" dirty="0" err="1">
                <a:solidFill>
                  <a:srgbClr val="FF0000"/>
                </a:solidFill>
                <a:latin typeface="+mn-lt"/>
              </a:rPr>
              <a:t>ch</a:t>
            </a:r>
            <a:r>
              <a:rPr lang="vi-VN" dirty="0">
                <a:solidFill>
                  <a:srgbClr val="FF0000"/>
                </a:solidFill>
                <a:latin typeface="+mn-lt"/>
              </a:rPr>
              <a:t>ư</a:t>
            </a:r>
            <a:r>
              <a:rPr lang="en-US" dirty="0">
                <a:solidFill>
                  <a:srgbClr val="FF0000"/>
                </a:solidFill>
                <a:latin typeface="+mn-lt"/>
              </a:rPr>
              <a:t>a?</a:t>
            </a:r>
          </a:p>
          <a:p>
            <a:pPr lvl="1"/>
            <a:r>
              <a:rPr lang="en-US" dirty="0" err="1">
                <a:solidFill>
                  <a:srgbClr val="FF0000"/>
                </a:solidFill>
                <a:latin typeface="+mn-lt"/>
              </a:rPr>
              <a:t>Làm</a:t>
            </a:r>
            <a:r>
              <a:rPr lang="en-US" dirty="0">
                <a:solidFill>
                  <a:srgbClr val="FF0000"/>
                </a:solidFill>
                <a:latin typeface="+mn-lt"/>
              </a:rPr>
              <a:t> </a:t>
            </a:r>
            <a:r>
              <a:rPr lang="en-US" dirty="0" err="1">
                <a:solidFill>
                  <a:srgbClr val="FF0000"/>
                </a:solidFill>
                <a:latin typeface="+mn-lt"/>
              </a:rPr>
              <a:t>sao</a:t>
            </a:r>
            <a:r>
              <a:rPr lang="en-US" dirty="0">
                <a:solidFill>
                  <a:srgbClr val="FF0000"/>
                </a:solidFill>
                <a:latin typeface="+mn-lt"/>
              </a:rPr>
              <a:t> </a:t>
            </a:r>
            <a:r>
              <a:rPr lang="en-US" dirty="0" err="1">
                <a:solidFill>
                  <a:srgbClr val="FF0000"/>
                </a:solidFill>
                <a:latin typeface="+mn-lt"/>
              </a:rPr>
              <a:t>để</a:t>
            </a:r>
            <a:r>
              <a:rPr lang="en-US" dirty="0">
                <a:solidFill>
                  <a:srgbClr val="FF0000"/>
                </a:solidFill>
                <a:latin typeface="+mn-lt"/>
              </a:rPr>
              <a:t> </a:t>
            </a:r>
            <a:r>
              <a:rPr lang="en-US" dirty="0" err="1">
                <a:solidFill>
                  <a:srgbClr val="FF0000"/>
                </a:solidFill>
                <a:latin typeface="+mn-lt"/>
              </a:rPr>
              <a:t>phán</a:t>
            </a:r>
            <a:r>
              <a:rPr lang="en-US" dirty="0">
                <a:solidFill>
                  <a:srgbClr val="FF0000"/>
                </a:solidFill>
                <a:latin typeface="+mn-lt"/>
              </a:rPr>
              <a:t> </a:t>
            </a:r>
            <a:r>
              <a:rPr lang="en-US" dirty="0" err="1">
                <a:solidFill>
                  <a:srgbClr val="FF0000"/>
                </a:solidFill>
                <a:latin typeface="+mn-lt"/>
              </a:rPr>
              <a:t>đoán</a:t>
            </a:r>
            <a:r>
              <a:rPr lang="en-US" dirty="0">
                <a:solidFill>
                  <a:srgbClr val="FF0000"/>
                </a:solidFill>
                <a:latin typeface="+mn-lt"/>
              </a:rPr>
              <a:t> </a:t>
            </a:r>
            <a:r>
              <a:rPr lang="en-US" dirty="0" err="1">
                <a:solidFill>
                  <a:srgbClr val="FF0000"/>
                </a:solidFill>
                <a:latin typeface="+mn-lt"/>
              </a:rPr>
              <a:t>là</a:t>
            </a:r>
            <a:r>
              <a:rPr lang="en-US" dirty="0">
                <a:solidFill>
                  <a:srgbClr val="FF0000"/>
                </a:solidFill>
                <a:latin typeface="+mn-lt"/>
              </a:rPr>
              <a:t> </a:t>
            </a:r>
            <a:r>
              <a:rPr lang="en-US" dirty="0" err="1">
                <a:solidFill>
                  <a:srgbClr val="FF0000"/>
                </a:solidFill>
                <a:latin typeface="+mn-lt"/>
              </a:rPr>
              <a:t>biểu</a:t>
            </a:r>
            <a:r>
              <a:rPr lang="en-US" dirty="0">
                <a:solidFill>
                  <a:srgbClr val="FF0000"/>
                </a:solidFill>
                <a:latin typeface="+mn-lt"/>
              </a:rPr>
              <a:t> </a:t>
            </a:r>
            <a:r>
              <a:rPr lang="en-US" dirty="0" err="1">
                <a:solidFill>
                  <a:srgbClr val="FF0000"/>
                </a:solidFill>
                <a:latin typeface="+mn-lt"/>
              </a:rPr>
              <a:t>thức</a:t>
            </a:r>
            <a:r>
              <a:rPr lang="en-US" dirty="0">
                <a:solidFill>
                  <a:srgbClr val="FF0000"/>
                </a:solidFill>
                <a:latin typeface="+mn-lt"/>
              </a:rPr>
              <a:t> </a:t>
            </a:r>
            <a:r>
              <a:rPr lang="en-US" dirty="0" err="1">
                <a:solidFill>
                  <a:srgbClr val="FF0000"/>
                </a:solidFill>
                <a:latin typeface="+mn-lt"/>
              </a:rPr>
              <a:t>chưa</a:t>
            </a:r>
            <a:r>
              <a:rPr lang="en-US" dirty="0">
                <a:solidFill>
                  <a:srgbClr val="FF0000"/>
                </a:solidFill>
                <a:latin typeface="+mn-lt"/>
              </a:rPr>
              <a:t> </a:t>
            </a:r>
            <a:r>
              <a:rPr lang="en-US" dirty="0" err="1">
                <a:solidFill>
                  <a:srgbClr val="FF0000"/>
                </a:solidFill>
                <a:latin typeface="+mn-lt"/>
              </a:rPr>
              <a:t>tối</a:t>
            </a:r>
            <a:r>
              <a:rPr lang="en-US" dirty="0">
                <a:solidFill>
                  <a:srgbClr val="FF0000"/>
                </a:solidFill>
                <a:latin typeface="+mn-lt"/>
              </a:rPr>
              <a:t> </a:t>
            </a:r>
            <a:r>
              <a:rPr lang="vi-VN" dirty="0">
                <a:solidFill>
                  <a:srgbClr val="FF0000"/>
                </a:solidFill>
                <a:latin typeface="+mn-lt"/>
              </a:rPr>
              <a:t>ư</a:t>
            </a:r>
            <a:r>
              <a:rPr lang="en-US" dirty="0">
                <a:solidFill>
                  <a:srgbClr val="FF0000"/>
                </a:solidFill>
                <a:latin typeface="+mn-lt"/>
              </a:rPr>
              <a:t>u?</a:t>
            </a:r>
          </a:p>
        </p:txBody>
      </p:sp>
    </p:spTree>
    <p:extLst>
      <p:ext uri="{BB962C8B-B14F-4D97-AF65-F5344CB8AC3E}">
        <p14:creationId xmlns:p14="http://schemas.microsoft.com/office/powerpoint/2010/main" val="157901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3B3DF-7E1B-6655-2B25-78E2CF6E6B08}"/>
              </a:ext>
            </a:extLst>
          </p:cNvPr>
          <p:cNvSpPr>
            <a:spLocks noGrp="1"/>
          </p:cNvSpPr>
          <p:nvPr>
            <p:ph type="title"/>
          </p:nvPr>
        </p:nvSpPr>
        <p:spPr/>
        <p:txBody>
          <a:bodyPr>
            <a:normAutofit fontScale="90000"/>
          </a:bodyPr>
          <a:lstStyle/>
          <a:p>
            <a:r>
              <a:rPr lang="en-US"/>
              <a:t>Tối ưu luận lý - Bài tập</a:t>
            </a:r>
          </a:p>
        </p:txBody>
      </p:sp>
      <p:sp>
        <p:nvSpPr>
          <p:cNvPr id="3" name="Content Placeholder 2">
            <a:extLst>
              <a:ext uri="{FF2B5EF4-FFF2-40B4-BE49-F238E27FC236}">
                <a16:creationId xmlns:a16="http://schemas.microsoft.com/office/drawing/2014/main" id="{31CA9B92-BE4B-B28E-4179-786227E061A8}"/>
              </a:ext>
            </a:extLst>
          </p:cNvPr>
          <p:cNvSpPr>
            <a:spLocks noGrp="1"/>
          </p:cNvSpPr>
          <p:nvPr>
            <p:ph idx="1"/>
          </p:nvPr>
        </p:nvSpPr>
        <p:spPr/>
        <p:txBody>
          <a:bodyPr/>
          <a:lstStyle/>
          <a:p>
            <a:r>
              <a:rPr lang="en-US"/>
              <a:t>Đơn giản các biểu thức Boole sau:</a:t>
            </a:r>
          </a:p>
          <a:p>
            <a:pPr lvl="1"/>
            <a:r>
              <a:rPr lang="en-US"/>
              <a:t>F(A,B,C) = A’BC’ + ABC’ + BC’</a:t>
            </a:r>
          </a:p>
          <a:p>
            <a:pPr lvl="1"/>
            <a:r>
              <a:rPr lang="en-US"/>
              <a:t>F(A,B,C) = ABC + A’B + ABC’</a:t>
            </a:r>
          </a:p>
          <a:p>
            <a:pPr lvl="1"/>
            <a:r>
              <a:rPr lang="en-US"/>
              <a:t>F(A,B,C,D) = (A’ + C)(A’ + C’)(A + B + C’D)</a:t>
            </a:r>
          </a:p>
        </p:txBody>
      </p:sp>
      <p:sp>
        <p:nvSpPr>
          <p:cNvPr id="4" name="Footer Placeholder 3">
            <a:extLst>
              <a:ext uri="{FF2B5EF4-FFF2-40B4-BE49-F238E27FC236}">
                <a16:creationId xmlns:a16="http://schemas.microsoft.com/office/drawing/2014/main" id="{6769E4AC-2139-6C29-2308-B84E67BD2CEC}"/>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DFCF5FAE-9A5E-05FA-157D-47F052CBDE41}"/>
              </a:ext>
            </a:extLst>
          </p:cNvPr>
          <p:cNvSpPr>
            <a:spLocks noGrp="1"/>
          </p:cNvSpPr>
          <p:nvPr>
            <p:ph type="dt" sz="half" idx="13"/>
          </p:nvPr>
        </p:nvSpPr>
        <p:spPr/>
        <p:txBody>
          <a:bodyPr/>
          <a:lstStyle/>
          <a:p>
            <a:fld id="{46CDDB1B-AAE9-1649-A755-11FADEB7E97E}" type="datetime4">
              <a:rPr lang="en-US" smtClean="0"/>
              <a:t>August 21, 2023</a:t>
            </a:fld>
            <a:endParaRPr lang="en-VN"/>
          </a:p>
        </p:txBody>
      </p:sp>
      <p:sp>
        <p:nvSpPr>
          <p:cNvPr id="6" name="Slide Number Placeholder 5">
            <a:extLst>
              <a:ext uri="{FF2B5EF4-FFF2-40B4-BE49-F238E27FC236}">
                <a16:creationId xmlns:a16="http://schemas.microsoft.com/office/drawing/2014/main" id="{17B780DD-5D9F-4A49-D475-54C4A90006A8}"/>
              </a:ext>
            </a:extLst>
          </p:cNvPr>
          <p:cNvSpPr>
            <a:spLocks noGrp="1"/>
          </p:cNvSpPr>
          <p:nvPr>
            <p:ph type="sldNum" sz="quarter" idx="12"/>
          </p:nvPr>
        </p:nvSpPr>
        <p:spPr/>
        <p:txBody>
          <a:bodyPr/>
          <a:lstStyle/>
          <a:p>
            <a:fld id="{D8B0B3AC-44A8-D142-AAF6-9A453466E1A4}" type="slidenum">
              <a:rPr lang="en-VN" smtClean="0"/>
              <a:t>31</a:t>
            </a:fld>
            <a:endParaRPr lang="en-VN"/>
          </a:p>
        </p:txBody>
      </p:sp>
    </p:spTree>
    <p:extLst>
      <p:ext uri="{BB962C8B-B14F-4D97-AF65-F5344CB8AC3E}">
        <p14:creationId xmlns:p14="http://schemas.microsoft.com/office/powerpoint/2010/main" val="2822512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B5427413-A213-598F-FF8C-5D5DCBBE33E8}"/>
              </a:ext>
            </a:extLst>
          </p:cNvPr>
          <p:cNvSpPr>
            <a:spLocks noGrp="1"/>
          </p:cNvSpPr>
          <p:nvPr>
            <p:ph type="body" sz="quarter" idx="16"/>
          </p:nvPr>
        </p:nvSpPr>
        <p:spPr/>
        <p:txBody>
          <a:bodyPr>
            <a:normAutofit lnSpcReduction="10000"/>
          </a:bodyPr>
          <a:lstStyle/>
          <a:p>
            <a:r>
              <a:rPr lang="en-US"/>
              <a:t>4</a:t>
            </a:r>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p:txBody>
          <a:bodyPr>
            <a:normAutofit/>
          </a:bodyPr>
          <a:lstStyle/>
          <a:p>
            <a:r>
              <a:rPr lang="en-US" dirty="0"/>
              <a:t>Ph</a:t>
            </a:r>
            <a:r>
              <a:rPr lang="vi-VN" dirty="0"/>
              <a:t>ư</a:t>
            </a:r>
            <a:r>
              <a:rPr lang="en-US" dirty="0" err="1"/>
              <a:t>ơng</a:t>
            </a:r>
            <a:r>
              <a:rPr lang="en-US" dirty="0"/>
              <a:t> </a:t>
            </a:r>
            <a:r>
              <a:rPr lang="en-US" dirty="0" err="1"/>
              <a:t>pháp</a:t>
            </a:r>
            <a:r>
              <a:rPr lang="en-US" dirty="0"/>
              <a:t> Karnaugh</a:t>
            </a:r>
            <a:endParaRPr lang="en-VN" dirty="0"/>
          </a:p>
        </p:txBody>
      </p:sp>
      <p:sp>
        <p:nvSpPr>
          <p:cNvPr id="5" name="Text Placeholder 4">
            <a:extLst>
              <a:ext uri="{FF2B5EF4-FFF2-40B4-BE49-F238E27FC236}">
                <a16:creationId xmlns:a16="http://schemas.microsoft.com/office/drawing/2014/main" id="{24630C79-BC30-7911-32A9-A025AE1409D0}"/>
              </a:ext>
            </a:extLst>
          </p:cNvPr>
          <p:cNvSpPr>
            <a:spLocks noGrp="1"/>
          </p:cNvSpPr>
          <p:nvPr>
            <p:ph type="body" sz="quarter" idx="15"/>
          </p:nvPr>
        </p:nvSpPr>
        <p:spPr/>
        <p:txBody>
          <a:bodyPr/>
          <a:lstStyle/>
          <a:p>
            <a:endParaRPr lang="en-US"/>
          </a:p>
        </p:txBody>
      </p:sp>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
        <p:nvSpPr>
          <p:cNvPr id="13" name="Text Placeholder 12">
            <a:extLst>
              <a:ext uri="{FF2B5EF4-FFF2-40B4-BE49-F238E27FC236}">
                <a16:creationId xmlns:a16="http://schemas.microsoft.com/office/drawing/2014/main" id="{80D87A15-F765-E081-1A13-1AC516330C0E}"/>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329713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dirty="0" err="1"/>
              <a:t>pháp</a:t>
            </a:r>
            <a:r>
              <a:rPr lang="en-US" dirty="0"/>
              <a:t> Karnaugh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r>
              <a:rPr lang="en-US"/>
              <a:t>Bìa Karnaugh</a:t>
            </a:r>
            <a:r>
              <a:rPr lang="vi-VN"/>
              <a:t> </a:t>
            </a:r>
            <a:r>
              <a:rPr lang="vi-VN" dirty="0"/>
              <a:t>là phương pháp </a:t>
            </a:r>
            <a:r>
              <a:rPr lang="en-US" dirty="0" err="1"/>
              <a:t>tối</a:t>
            </a:r>
            <a:r>
              <a:rPr lang="en-US" dirty="0"/>
              <a:t> </a:t>
            </a:r>
            <a:r>
              <a:rPr lang="vi-VN" dirty="0"/>
              <a:t>ư</a:t>
            </a:r>
            <a:r>
              <a:rPr lang="en-US" dirty="0"/>
              <a:t>u </a:t>
            </a:r>
            <a:r>
              <a:rPr lang="vi-VN" dirty="0"/>
              <a:t>luận lý bằng hình học trực quan</a:t>
            </a:r>
            <a:r>
              <a:rPr lang="en-US" dirty="0"/>
              <a:t> </a:t>
            </a:r>
            <a:r>
              <a:rPr lang="en-US" dirty="0" err="1"/>
              <a:t>dựa</a:t>
            </a:r>
            <a:r>
              <a:rPr lang="en-US" dirty="0"/>
              <a:t> </a:t>
            </a:r>
            <a:r>
              <a:rPr lang="en-US" dirty="0" err="1"/>
              <a:t>trên</a:t>
            </a:r>
            <a:r>
              <a:rPr lang="en-US" dirty="0"/>
              <a:t> </a:t>
            </a:r>
            <a:r>
              <a:rPr lang="en-US" dirty="0" err="1"/>
              <a:t>các</a:t>
            </a:r>
            <a:r>
              <a:rPr lang="en-US" dirty="0"/>
              <a:t> </a:t>
            </a:r>
            <a:r>
              <a:rPr lang="en-US" dirty="0" err="1"/>
              <a:t>tính</a:t>
            </a:r>
            <a:r>
              <a:rPr lang="en-US" dirty="0"/>
              <a:t> </a:t>
            </a:r>
            <a:r>
              <a:rPr lang="en-US" dirty="0" err="1"/>
              <a:t>chất</a:t>
            </a:r>
            <a:r>
              <a:rPr lang="en-US" dirty="0"/>
              <a:t> </a:t>
            </a:r>
            <a:r>
              <a:rPr lang="en-US" dirty="0" err="1"/>
              <a:t>của</a:t>
            </a:r>
            <a:r>
              <a:rPr lang="en-US" dirty="0"/>
              <a:t> </a:t>
            </a:r>
            <a:r>
              <a:rPr lang="en-US" dirty="0" err="1"/>
              <a:t>đại</a:t>
            </a:r>
            <a:r>
              <a:rPr lang="en-US" dirty="0"/>
              <a:t> </a:t>
            </a:r>
            <a:r>
              <a:rPr lang="en-US" err="1"/>
              <a:t>số</a:t>
            </a:r>
            <a:r>
              <a:rPr lang="en-US"/>
              <a:t> Boole</a:t>
            </a:r>
          </a:p>
          <a:p>
            <a:pPr lvl="1"/>
            <a:r>
              <a:rPr lang="en-US"/>
              <a:t>M. Karnaugh, “The Map Method for Synthesis of combinatorial Logic Circuits”, Transactions of the American  Institute of Electrical Engineers, Communications and  Electronics, Vol. 72, pp. 593-599, November 1953</a:t>
            </a:r>
          </a:p>
          <a:p>
            <a:r>
              <a:rPr lang="vi-VN"/>
              <a:t>Bìa Karnaugh là biểu diễn của </a:t>
            </a:r>
            <a:r>
              <a:rPr lang="vi-VN" i="1"/>
              <a:t>bảng sự thật </a:t>
            </a:r>
            <a:r>
              <a:rPr lang="vi-VN"/>
              <a:t>dưới dạng một ma trận các ô</a:t>
            </a:r>
            <a:r>
              <a:rPr lang="en-US"/>
              <a:t>,</a:t>
            </a:r>
            <a:r>
              <a:rPr lang="vi-VN"/>
              <a:t> trong đó mỗi ô tương ứng với dạng tích chuẩn (Minterm) hay dạng tổng chuẩn (Maxterm).</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Tree>
    <p:extLst>
      <p:ext uri="{BB962C8B-B14F-4D97-AF65-F5344CB8AC3E}">
        <p14:creationId xmlns:p14="http://schemas.microsoft.com/office/powerpoint/2010/main" val="189995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err="1"/>
              <a:t>pháp</a:t>
            </a:r>
            <a:r>
              <a:rPr lang="en-US"/>
              <a:t> Karnaugh (tt)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r>
              <a:rPr lang="vi-VN"/>
              <a:t>Với một hàm có n biến (literal), chúng ta cần một bảng sự thật có 2</a:t>
            </a:r>
            <a:r>
              <a:rPr lang="vi-VN" baseline="30000"/>
              <a:t>n</a:t>
            </a:r>
            <a:r>
              <a:rPr lang="vi-VN"/>
              <a:t> hàng, tương ứng bìa Karnaugh có 2</a:t>
            </a:r>
            <a:r>
              <a:rPr lang="vi-VN" baseline="30000"/>
              <a:t>n</a:t>
            </a:r>
            <a:r>
              <a:rPr lang="vi-VN"/>
              <a:t> ô (cell).</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34</a:t>
            </a:fld>
            <a:endParaRPr lang="en-VN" dirty="0"/>
          </a:p>
        </p:txBody>
      </p:sp>
      <p:pic>
        <p:nvPicPr>
          <p:cNvPr id="6" name="Picture 2">
            <a:extLst>
              <a:ext uri="{FF2B5EF4-FFF2-40B4-BE49-F238E27FC236}">
                <a16:creationId xmlns:a16="http://schemas.microsoft.com/office/drawing/2014/main" id="{DF38A7C8-D584-FFC7-861B-30089F931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3040027"/>
            <a:ext cx="6667500" cy="2324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61823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err="1"/>
              <a:t>pháp</a:t>
            </a:r>
            <a:r>
              <a:rPr lang="en-US"/>
              <a:t> Karnaugh - 2 biến</a:t>
            </a:r>
            <a:endParaRPr lang="en-VN" dirty="0"/>
          </a:p>
        </p:txBody>
      </p:sp>
      <p:sp>
        <p:nvSpPr>
          <p:cNvPr id="14" name="Content Placeholder 13">
            <a:extLst>
              <a:ext uri="{FF2B5EF4-FFF2-40B4-BE49-F238E27FC236}">
                <a16:creationId xmlns:a16="http://schemas.microsoft.com/office/drawing/2014/main" id="{E2C6116F-3790-961D-36E5-89A2437BDD5D}"/>
              </a:ext>
            </a:extLst>
          </p:cNvPr>
          <p:cNvSpPr>
            <a:spLocks noGrp="1"/>
          </p:cNvSpPr>
          <p:nvPr>
            <p:ph idx="1"/>
          </p:nvPr>
        </p:nvSpPr>
        <p:spPr/>
        <p:txBody>
          <a:bodyPr/>
          <a:lstStyle/>
          <a:p>
            <a:r>
              <a:rPr lang="vi-VN"/>
              <a:t>Để biểu diễn một hàm l</a:t>
            </a:r>
            <a:r>
              <a:rPr lang="en-US"/>
              <a:t>uận lý</a:t>
            </a:r>
            <a:r>
              <a:rPr lang="vi-VN"/>
              <a:t>, một giá trị ngõ ra trong bảng sự thật sẽ là một giá trị tương ứng trong một ô (cell) trong bìa Karnaugh</a:t>
            </a:r>
            <a:r>
              <a:rPr lang="en-US"/>
              <a:t>.</a:t>
            </a:r>
            <a:endParaRPr lang="vi-VN"/>
          </a:p>
          <a:p>
            <a:endParaRPr lang="en-US"/>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pic>
        <p:nvPicPr>
          <p:cNvPr id="7" name="Picture 3">
            <a:extLst>
              <a:ext uri="{FF2B5EF4-FFF2-40B4-BE49-F238E27FC236}">
                <a16:creationId xmlns:a16="http://schemas.microsoft.com/office/drawing/2014/main" id="{5382C947-46E8-7826-224E-AF7825C2C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71" y="4162302"/>
            <a:ext cx="1066800" cy="647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D2668A2A-E723-6ABB-5CAF-20D87717D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1071" y="3667002"/>
            <a:ext cx="2705100" cy="2505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6">
            <a:extLst>
              <a:ext uri="{FF2B5EF4-FFF2-40B4-BE49-F238E27FC236}">
                <a16:creationId xmlns:a16="http://schemas.microsoft.com/office/drawing/2014/main" id="{FBF63F7B-D301-286B-F849-DBB4F80389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2071" y="5572002"/>
            <a:ext cx="4238625"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Oval 9">
            <a:extLst>
              <a:ext uri="{FF2B5EF4-FFF2-40B4-BE49-F238E27FC236}">
                <a16:creationId xmlns:a16="http://schemas.microsoft.com/office/drawing/2014/main" id="{7C5D645F-93D6-B08C-2055-D7878353D87B}"/>
              </a:ext>
            </a:extLst>
          </p:cNvPr>
          <p:cNvSpPr/>
          <p:nvPr/>
        </p:nvSpPr>
        <p:spPr>
          <a:xfrm>
            <a:off x="11122071" y="5495802"/>
            <a:ext cx="5334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B7E52F9-1EFE-A215-9664-7AEF1FE46799}"/>
              </a:ext>
            </a:extLst>
          </p:cNvPr>
          <p:cNvSpPr/>
          <p:nvPr/>
        </p:nvSpPr>
        <p:spPr>
          <a:xfrm>
            <a:off x="3121071" y="5800602"/>
            <a:ext cx="5334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urved Connector 16">
            <a:extLst>
              <a:ext uri="{FF2B5EF4-FFF2-40B4-BE49-F238E27FC236}">
                <a16:creationId xmlns:a16="http://schemas.microsoft.com/office/drawing/2014/main" id="{76964270-E62F-E1FC-1D26-291D3A70765C}"/>
              </a:ext>
            </a:extLst>
          </p:cNvPr>
          <p:cNvCxnSpPr>
            <a:stCxn id="11" idx="5"/>
            <a:endCxn id="10" idx="3"/>
          </p:cNvCxnSpPr>
          <p:nvPr/>
        </p:nvCxnSpPr>
        <p:spPr>
          <a:xfrm rot="5400000" flipH="1" flipV="1">
            <a:off x="7235871" y="2356613"/>
            <a:ext cx="304800" cy="7623830"/>
          </a:xfrm>
          <a:prstGeom prst="curvedConnector3">
            <a:avLst>
              <a:gd name="adj1" fmla="val -104289"/>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3" name="Picture 2">
            <a:extLst>
              <a:ext uri="{FF2B5EF4-FFF2-40B4-BE49-F238E27FC236}">
                <a16:creationId xmlns:a16="http://schemas.microsoft.com/office/drawing/2014/main" id="{F3CB2C28-67F5-FA8B-9622-32F4CE5DCE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471" y="2444874"/>
            <a:ext cx="4800600" cy="167335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88531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22" presetClass="entr" presetSubtype="4"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dirty="0" err="1"/>
              <a:t>pháp</a:t>
            </a:r>
            <a:r>
              <a:rPr lang="en-US" dirty="0"/>
              <a:t> Karnaugh (</a:t>
            </a:r>
            <a:r>
              <a:rPr lang="en-US" dirty="0" err="1"/>
              <a:t>tt</a:t>
            </a:r>
            <a:r>
              <a:rPr lang="en-US" dirty="0"/>
              <a: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r>
              <a:rPr lang="en-US"/>
              <a:t>Bìa Karnaugh</a:t>
            </a:r>
            <a:r>
              <a:rPr lang="vi-VN"/>
              <a:t> </a:t>
            </a:r>
            <a:r>
              <a:rPr lang="en-US" dirty="0" err="1"/>
              <a:t>là</a:t>
            </a:r>
            <a:r>
              <a:rPr lang="en-US" dirty="0"/>
              <a:t> </a:t>
            </a:r>
            <a:r>
              <a:rPr lang="vi-VN" dirty="0"/>
              <a:t>mảng 2 chiều </a:t>
            </a:r>
            <a:r>
              <a:rPr lang="vi-VN"/>
              <a:t>các ô</a:t>
            </a:r>
            <a:endParaRPr lang="en-US" dirty="0"/>
          </a:p>
          <a:p>
            <a:pPr lvl="1"/>
            <a:r>
              <a:rPr lang="en-US" dirty="0"/>
              <a:t>S</a:t>
            </a:r>
            <a:r>
              <a:rPr lang="vi-VN" dirty="0"/>
              <a:t>ố lượng ô </a:t>
            </a:r>
            <a:r>
              <a:rPr lang="en-US" dirty="0"/>
              <a:t>= </a:t>
            </a:r>
            <a:r>
              <a:rPr lang="vi-VN" dirty="0"/>
              <a:t>2</a:t>
            </a:r>
            <a:r>
              <a:rPr lang="vi-VN" i="1" baseline="30000" dirty="0"/>
              <a:t>n</a:t>
            </a:r>
            <a:r>
              <a:rPr lang="vi-VN" dirty="0"/>
              <a:t> </a:t>
            </a:r>
            <a:r>
              <a:rPr lang="en-US" dirty="0"/>
              <a:t>(</a:t>
            </a:r>
            <a:r>
              <a:rPr lang="vi-VN" i="1" dirty="0"/>
              <a:t>n</a:t>
            </a:r>
            <a:r>
              <a:rPr lang="vi-VN" dirty="0"/>
              <a:t> là số bi</a:t>
            </a:r>
            <a:r>
              <a:rPr lang="en-US" dirty="0" err="1"/>
              <a:t>ến</a:t>
            </a:r>
            <a:r>
              <a:rPr lang="en-US" dirty="0"/>
              <a:t>)</a:t>
            </a:r>
          </a:p>
          <a:p>
            <a:pPr lvl="1"/>
            <a:r>
              <a:rPr lang="vi-VN" dirty="0"/>
              <a:t>Số lượng ô trên mỗi chiều </a:t>
            </a:r>
            <a:r>
              <a:rPr lang="en-US" dirty="0"/>
              <a:t>=</a:t>
            </a:r>
            <a:r>
              <a:rPr lang="vi-VN" dirty="0"/>
              <a:t> 2</a:t>
            </a:r>
            <a:r>
              <a:rPr lang="vi-VN" i="1" baseline="30000" dirty="0"/>
              <a:t>i</a:t>
            </a:r>
            <a:r>
              <a:rPr lang="vi-VN" dirty="0"/>
              <a:t> </a:t>
            </a:r>
            <a:r>
              <a:rPr lang="en-US" dirty="0"/>
              <a:t>(</a:t>
            </a:r>
            <a:r>
              <a:rPr lang="vi-VN" i="1" dirty="0"/>
              <a:t>i</a:t>
            </a:r>
            <a:r>
              <a:rPr lang="vi-VN" dirty="0"/>
              <a:t> là số biến được gán trên mỗi chiều</a:t>
            </a:r>
            <a:r>
              <a:rPr lang="en-US" dirty="0"/>
              <a:t>)</a:t>
            </a:r>
          </a:p>
          <a:p>
            <a:pPr lvl="1"/>
            <a:r>
              <a:rPr lang="en-US" dirty="0" err="1"/>
              <a:t>Mỗi</a:t>
            </a:r>
            <a:r>
              <a:rPr lang="en-US" dirty="0"/>
              <a:t> </a:t>
            </a:r>
            <a:r>
              <a:rPr lang="en-US" dirty="0" err="1"/>
              <a:t>ô</a:t>
            </a:r>
            <a:r>
              <a:rPr lang="en-US" dirty="0"/>
              <a:t> </a:t>
            </a:r>
            <a:r>
              <a:rPr lang="en-US" dirty="0" err="1"/>
              <a:t>đ</a:t>
            </a:r>
            <a:r>
              <a:rPr lang="vi-VN" dirty="0"/>
              <a:t>ư</a:t>
            </a:r>
            <a:r>
              <a:rPr lang="en-US" dirty="0" err="1"/>
              <a:t>ợc</a:t>
            </a:r>
            <a:r>
              <a:rPr lang="en-US" dirty="0"/>
              <a:t> </a:t>
            </a:r>
            <a:r>
              <a:rPr lang="en-US" dirty="0" err="1"/>
              <a:t>gán</a:t>
            </a:r>
            <a:r>
              <a:rPr lang="en-US" dirty="0"/>
              <a:t> 1 </a:t>
            </a:r>
            <a:r>
              <a:rPr lang="en-US" dirty="0" err="1"/>
              <a:t>tổ</a:t>
            </a:r>
            <a:r>
              <a:rPr lang="en-US" dirty="0"/>
              <a:t> </a:t>
            </a:r>
            <a:r>
              <a:rPr lang="en-US" dirty="0" err="1"/>
              <a:t>hợp</a:t>
            </a:r>
            <a:r>
              <a:rPr lang="en-US" dirty="0"/>
              <a:t> </a:t>
            </a:r>
            <a:r>
              <a:rPr lang="en-US" dirty="0" err="1"/>
              <a:t>theo</a:t>
            </a:r>
            <a:r>
              <a:rPr lang="en-US" dirty="0"/>
              <a:t> </a:t>
            </a:r>
            <a:r>
              <a:rPr lang="en-US" dirty="0" err="1"/>
              <a:t>mã</a:t>
            </a:r>
            <a:r>
              <a:rPr lang="en-US" dirty="0"/>
              <a:t> Gray: 2 </a:t>
            </a:r>
            <a:r>
              <a:rPr lang="en-US" dirty="0" err="1"/>
              <a:t>chuỗi</a:t>
            </a:r>
            <a:r>
              <a:rPr lang="en-US" dirty="0"/>
              <a:t> bit </a:t>
            </a:r>
            <a:r>
              <a:rPr lang="en-US" dirty="0" err="1"/>
              <a:t>liên</a:t>
            </a:r>
            <a:r>
              <a:rPr lang="en-US" dirty="0"/>
              <a:t> </a:t>
            </a:r>
            <a:r>
              <a:rPr lang="en-US" dirty="0" err="1"/>
              <a:t>tiếp</a:t>
            </a:r>
            <a:r>
              <a:rPr lang="en-US" dirty="0"/>
              <a:t> </a:t>
            </a:r>
            <a:r>
              <a:rPr lang="en-US" dirty="0" err="1"/>
              <a:t>khác</a:t>
            </a:r>
            <a:r>
              <a:rPr lang="en-US" dirty="0"/>
              <a:t> </a:t>
            </a:r>
            <a:r>
              <a:rPr lang="en-US" dirty="0" err="1"/>
              <a:t>nhau</a:t>
            </a:r>
            <a:r>
              <a:rPr lang="en-US" dirty="0"/>
              <a:t> 1 bit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36</a:t>
            </a:fld>
            <a:endParaRPr lang="en-VN" dirty="0"/>
          </a:p>
        </p:txBody>
      </p:sp>
      <p:graphicFrame>
        <p:nvGraphicFramePr>
          <p:cNvPr id="7" name="Table 6">
            <a:extLst>
              <a:ext uri="{FF2B5EF4-FFF2-40B4-BE49-F238E27FC236}">
                <a16:creationId xmlns:a16="http://schemas.microsoft.com/office/drawing/2014/main" id="{B7B50A8B-8555-81A4-5FFB-3B81FEE8D485}"/>
              </a:ext>
            </a:extLst>
          </p:cNvPr>
          <p:cNvGraphicFramePr>
            <a:graphicFrameLocks noGrp="1"/>
          </p:cNvGraphicFramePr>
          <p:nvPr>
            <p:extLst>
              <p:ext uri="{D42A27DB-BD31-4B8C-83A1-F6EECF244321}">
                <p14:modId xmlns:p14="http://schemas.microsoft.com/office/powerpoint/2010/main" val="1012275393"/>
              </p:ext>
            </p:extLst>
          </p:nvPr>
        </p:nvGraphicFramePr>
        <p:xfrm>
          <a:off x="2994200" y="4667423"/>
          <a:ext cx="18288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98419968"/>
                    </a:ext>
                  </a:extLst>
                </a:gridCol>
                <a:gridCol w="457200">
                  <a:extLst>
                    <a:ext uri="{9D8B030D-6E8A-4147-A177-3AD203B41FA5}">
                      <a16:colId xmlns:a16="http://schemas.microsoft.com/office/drawing/2014/main" val="3507958762"/>
                    </a:ext>
                  </a:extLst>
                </a:gridCol>
                <a:gridCol w="457200">
                  <a:extLst>
                    <a:ext uri="{9D8B030D-6E8A-4147-A177-3AD203B41FA5}">
                      <a16:colId xmlns:a16="http://schemas.microsoft.com/office/drawing/2014/main" val="1305870798"/>
                    </a:ext>
                  </a:extLst>
                </a:gridCol>
                <a:gridCol w="457200">
                  <a:extLst>
                    <a:ext uri="{9D8B030D-6E8A-4147-A177-3AD203B41FA5}">
                      <a16:colId xmlns:a16="http://schemas.microsoft.com/office/drawing/2014/main" val="3047352422"/>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b</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1610071"/>
                  </a:ext>
                </a:extLst>
              </a:tr>
              <a:tr h="457200">
                <a:tc>
                  <a:txBody>
                    <a:bodyPr/>
                    <a:lstStyle/>
                    <a:p>
                      <a:pPr marL="0" marR="0" algn="ctr">
                        <a:lnSpc>
                          <a:spcPct val="150000"/>
                        </a:lnSpc>
                        <a:spcBef>
                          <a:spcPts val="600"/>
                        </a:spcBef>
                        <a:spcAft>
                          <a:spcPts val="0"/>
                        </a:spcAft>
                      </a:pPr>
                      <a:r>
                        <a:rPr lang="vi-VN" sz="2200" i="1" spc="-20">
                          <a:effectLst/>
                          <a:latin typeface="+mj-lt"/>
                        </a:rPr>
                        <a:t>a</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1450845"/>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2658900"/>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3181336"/>
                  </a:ext>
                </a:extLst>
              </a:tr>
            </a:tbl>
          </a:graphicData>
        </a:graphic>
      </p:graphicFrame>
      <p:graphicFrame>
        <p:nvGraphicFramePr>
          <p:cNvPr id="8" name="Table 7">
            <a:extLst>
              <a:ext uri="{FF2B5EF4-FFF2-40B4-BE49-F238E27FC236}">
                <a16:creationId xmlns:a16="http://schemas.microsoft.com/office/drawing/2014/main" id="{803734DC-F429-6769-3460-659BC5425CAF}"/>
              </a:ext>
            </a:extLst>
          </p:cNvPr>
          <p:cNvGraphicFramePr>
            <a:graphicFrameLocks noGrp="1"/>
          </p:cNvGraphicFramePr>
          <p:nvPr>
            <p:extLst>
              <p:ext uri="{D42A27DB-BD31-4B8C-83A1-F6EECF244321}">
                <p14:modId xmlns:p14="http://schemas.microsoft.com/office/powerpoint/2010/main" val="1559790495"/>
              </p:ext>
            </p:extLst>
          </p:nvPr>
        </p:nvGraphicFramePr>
        <p:xfrm>
          <a:off x="5135998" y="4667423"/>
          <a:ext cx="27432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2681484907"/>
                    </a:ext>
                  </a:extLst>
                </a:gridCol>
                <a:gridCol w="457200">
                  <a:extLst>
                    <a:ext uri="{9D8B030D-6E8A-4147-A177-3AD203B41FA5}">
                      <a16:colId xmlns:a16="http://schemas.microsoft.com/office/drawing/2014/main" val="255352872"/>
                    </a:ext>
                  </a:extLst>
                </a:gridCol>
                <a:gridCol w="457200">
                  <a:extLst>
                    <a:ext uri="{9D8B030D-6E8A-4147-A177-3AD203B41FA5}">
                      <a16:colId xmlns:a16="http://schemas.microsoft.com/office/drawing/2014/main" val="4095538526"/>
                    </a:ext>
                  </a:extLst>
                </a:gridCol>
                <a:gridCol w="457200">
                  <a:extLst>
                    <a:ext uri="{9D8B030D-6E8A-4147-A177-3AD203B41FA5}">
                      <a16:colId xmlns:a16="http://schemas.microsoft.com/office/drawing/2014/main" val="2120633052"/>
                    </a:ext>
                  </a:extLst>
                </a:gridCol>
                <a:gridCol w="457200">
                  <a:extLst>
                    <a:ext uri="{9D8B030D-6E8A-4147-A177-3AD203B41FA5}">
                      <a16:colId xmlns:a16="http://schemas.microsoft.com/office/drawing/2014/main" val="3877640602"/>
                    </a:ext>
                  </a:extLst>
                </a:gridCol>
                <a:gridCol w="457200">
                  <a:extLst>
                    <a:ext uri="{9D8B030D-6E8A-4147-A177-3AD203B41FA5}">
                      <a16:colId xmlns:a16="http://schemas.microsoft.com/office/drawing/2014/main" val="3733684354"/>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bc</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79126960"/>
                  </a:ext>
                </a:extLst>
              </a:tr>
              <a:tr h="457200">
                <a:tc>
                  <a:txBody>
                    <a:bodyPr/>
                    <a:lstStyle/>
                    <a:p>
                      <a:pPr marL="0" marR="0" algn="ctr">
                        <a:lnSpc>
                          <a:spcPct val="150000"/>
                        </a:lnSpc>
                        <a:spcBef>
                          <a:spcPts val="600"/>
                        </a:spcBef>
                        <a:spcAft>
                          <a:spcPts val="0"/>
                        </a:spcAft>
                      </a:pPr>
                      <a:r>
                        <a:rPr lang="vi-VN" sz="2200" i="1" spc="-20">
                          <a:effectLst/>
                          <a:latin typeface="+mj-lt"/>
                        </a:rPr>
                        <a:t>a</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00</a:t>
                      </a:r>
                      <a:endParaRPr lang="en-US" sz="2200"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10</a:t>
                      </a:r>
                      <a:endParaRPr lang="en-US" sz="2200"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1696364"/>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 </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 </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911617"/>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 </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23039393"/>
                  </a:ext>
                </a:extLst>
              </a:tr>
            </a:tbl>
          </a:graphicData>
        </a:graphic>
      </p:graphicFrame>
      <p:graphicFrame>
        <p:nvGraphicFramePr>
          <p:cNvPr id="9" name="Table 8">
            <a:extLst>
              <a:ext uri="{FF2B5EF4-FFF2-40B4-BE49-F238E27FC236}">
                <a16:creationId xmlns:a16="http://schemas.microsoft.com/office/drawing/2014/main" id="{BD696614-537D-7483-2659-222553E7B91D}"/>
              </a:ext>
            </a:extLst>
          </p:cNvPr>
          <p:cNvGraphicFramePr>
            <a:graphicFrameLocks noGrp="1"/>
          </p:cNvGraphicFramePr>
          <p:nvPr>
            <p:extLst>
              <p:ext uri="{D42A27DB-BD31-4B8C-83A1-F6EECF244321}">
                <p14:modId xmlns:p14="http://schemas.microsoft.com/office/powerpoint/2010/main" val="1002230439"/>
              </p:ext>
            </p:extLst>
          </p:nvPr>
        </p:nvGraphicFramePr>
        <p:xfrm>
          <a:off x="7887739" y="3764473"/>
          <a:ext cx="2743200" cy="2743200"/>
        </p:xfrm>
        <a:graphic>
          <a:graphicData uri="http://schemas.openxmlformats.org/drawingml/2006/table">
            <a:tbl>
              <a:tblPr firstRow="1" firstCol="1" bandRow="1">
                <a:tableStyleId>{5940675A-B579-460E-94D1-54222C63F5DA}</a:tableStyleId>
              </a:tblPr>
              <a:tblGrid>
                <a:gridCol w="456080">
                  <a:extLst>
                    <a:ext uri="{9D8B030D-6E8A-4147-A177-3AD203B41FA5}">
                      <a16:colId xmlns:a16="http://schemas.microsoft.com/office/drawing/2014/main" val="2779724648"/>
                    </a:ext>
                  </a:extLst>
                </a:gridCol>
                <a:gridCol w="456920">
                  <a:extLst>
                    <a:ext uri="{9D8B030D-6E8A-4147-A177-3AD203B41FA5}">
                      <a16:colId xmlns:a16="http://schemas.microsoft.com/office/drawing/2014/main" val="2112277759"/>
                    </a:ext>
                  </a:extLst>
                </a:gridCol>
                <a:gridCol w="456920">
                  <a:extLst>
                    <a:ext uri="{9D8B030D-6E8A-4147-A177-3AD203B41FA5}">
                      <a16:colId xmlns:a16="http://schemas.microsoft.com/office/drawing/2014/main" val="2353685596"/>
                    </a:ext>
                  </a:extLst>
                </a:gridCol>
                <a:gridCol w="457760">
                  <a:extLst>
                    <a:ext uri="{9D8B030D-6E8A-4147-A177-3AD203B41FA5}">
                      <a16:colId xmlns:a16="http://schemas.microsoft.com/office/drawing/2014/main" val="72197876"/>
                    </a:ext>
                  </a:extLst>
                </a:gridCol>
                <a:gridCol w="457760">
                  <a:extLst>
                    <a:ext uri="{9D8B030D-6E8A-4147-A177-3AD203B41FA5}">
                      <a16:colId xmlns:a16="http://schemas.microsoft.com/office/drawing/2014/main" val="3918581522"/>
                    </a:ext>
                  </a:extLst>
                </a:gridCol>
                <a:gridCol w="457760">
                  <a:extLst>
                    <a:ext uri="{9D8B030D-6E8A-4147-A177-3AD203B41FA5}">
                      <a16:colId xmlns:a16="http://schemas.microsoft.com/office/drawing/2014/main" val="2758605262"/>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cd</a:t>
                      </a:r>
                      <a:endParaRPr lang="en-US" sz="2200" i="1">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457200">
                <a:tc>
                  <a:txBody>
                    <a:bodyPr/>
                    <a:lstStyle/>
                    <a:p>
                      <a:pPr marL="0" marR="0" algn="ctr">
                        <a:lnSpc>
                          <a:spcPct val="150000"/>
                        </a:lnSpc>
                        <a:spcBef>
                          <a:spcPts val="600"/>
                        </a:spcBef>
                        <a:spcAft>
                          <a:spcPts val="0"/>
                        </a:spcAft>
                      </a:pPr>
                      <a:r>
                        <a:rPr lang="vi-VN" sz="2200" i="1" spc="-20">
                          <a:effectLst/>
                          <a:latin typeface="+mj-lt"/>
                        </a:rPr>
                        <a:t>ab</a:t>
                      </a:r>
                      <a:endParaRPr lang="en-US" sz="2200" i="1">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rPr>
                        <a:t> </a:t>
                      </a:r>
                      <a:endParaRPr lang="en-US" sz="2200" i="1" dirty="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78607" marR="78607"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78607" marR="78607"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78607" marR="78607"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78607" marR="78607"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78607" marR="78607"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78607" marR="7860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265086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dirty="0" err="1"/>
              <a:t>pháp</a:t>
            </a:r>
            <a:r>
              <a:rPr lang="en-US" dirty="0"/>
              <a:t> </a:t>
            </a:r>
            <a:r>
              <a:rPr lang="en-US"/>
              <a:t>Karnaugh - 3 biến</a:t>
            </a:r>
            <a:endParaRPr lang="en-VN" dirty="0"/>
          </a:p>
        </p:txBody>
      </p:sp>
      <p:graphicFrame>
        <p:nvGraphicFramePr>
          <p:cNvPr id="13" name="Content Placeholder 4">
            <a:extLst>
              <a:ext uri="{FF2B5EF4-FFF2-40B4-BE49-F238E27FC236}">
                <a16:creationId xmlns:a16="http://schemas.microsoft.com/office/drawing/2014/main" id="{A375BB1E-1C6F-FAC3-99D6-BB3DDB4DDBD9}"/>
              </a:ext>
            </a:extLst>
          </p:cNvPr>
          <p:cNvGraphicFramePr>
            <a:graphicFrameLocks noGrp="1"/>
          </p:cNvGraphicFramePr>
          <p:nvPr>
            <p:ph idx="1"/>
            <p:extLst>
              <p:ext uri="{D42A27DB-BD31-4B8C-83A1-F6EECF244321}">
                <p14:modId xmlns:p14="http://schemas.microsoft.com/office/powerpoint/2010/main" val="2421388675"/>
              </p:ext>
            </p:extLst>
          </p:nvPr>
        </p:nvGraphicFramePr>
        <p:xfrm>
          <a:off x="2575560" y="1165860"/>
          <a:ext cx="7040880" cy="4526280"/>
        </p:xfrm>
        <a:graphic>
          <a:graphicData uri="http://schemas.openxmlformats.org/drawingml/2006/table">
            <a:tbl>
              <a:tblPr firstRow="1" firstCol="1" bandRow="1">
                <a:tableStyleId>{5940675A-B579-460E-94D1-54222C63F5DA}</a:tableStyleId>
              </a:tblPr>
              <a:tblGrid>
                <a:gridCol w="640080">
                  <a:extLst>
                    <a:ext uri="{9D8B030D-6E8A-4147-A177-3AD203B41FA5}">
                      <a16:colId xmlns:a16="http://schemas.microsoft.com/office/drawing/2014/main" val="169635928"/>
                    </a:ext>
                  </a:extLst>
                </a:gridCol>
                <a:gridCol w="640080">
                  <a:extLst>
                    <a:ext uri="{9D8B030D-6E8A-4147-A177-3AD203B41FA5}">
                      <a16:colId xmlns:a16="http://schemas.microsoft.com/office/drawing/2014/main" val="256228807"/>
                    </a:ext>
                  </a:extLst>
                </a:gridCol>
                <a:gridCol w="640080">
                  <a:extLst>
                    <a:ext uri="{9D8B030D-6E8A-4147-A177-3AD203B41FA5}">
                      <a16:colId xmlns:a16="http://schemas.microsoft.com/office/drawing/2014/main" val="3048677375"/>
                    </a:ext>
                  </a:extLst>
                </a:gridCol>
                <a:gridCol w="988695">
                  <a:extLst>
                    <a:ext uri="{9D8B030D-6E8A-4147-A177-3AD203B41FA5}">
                      <a16:colId xmlns:a16="http://schemas.microsoft.com/office/drawing/2014/main" val="4189391712"/>
                    </a:ext>
                  </a:extLst>
                </a:gridCol>
                <a:gridCol w="291465">
                  <a:extLst>
                    <a:ext uri="{9D8B030D-6E8A-4147-A177-3AD203B41FA5}">
                      <a16:colId xmlns:a16="http://schemas.microsoft.com/office/drawing/2014/main" val="4032821289"/>
                    </a:ext>
                  </a:extLst>
                </a:gridCol>
                <a:gridCol w="640080">
                  <a:extLst>
                    <a:ext uri="{9D8B030D-6E8A-4147-A177-3AD203B41FA5}">
                      <a16:colId xmlns:a16="http://schemas.microsoft.com/office/drawing/2014/main" val="2618989029"/>
                    </a:ext>
                  </a:extLst>
                </a:gridCol>
                <a:gridCol w="640080">
                  <a:extLst>
                    <a:ext uri="{9D8B030D-6E8A-4147-A177-3AD203B41FA5}">
                      <a16:colId xmlns:a16="http://schemas.microsoft.com/office/drawing/2014/main" val="4019626144"/>
                    </a:ext>
                  </a:extLst>
                </a:gridCol>
                <a:gridCol w="640080">
                  <a:extLst>
                    <a:ext uri="{9D8B030D-6E8A-4147-A177-3AD203B41FA5}">
                      <a16:colId xmlns:a16="http://schemas.microsoft.com/office/drawing/2014/main" val="2289494938"/>
                    </a:ext>
                  </a:extLst>
                </a:gridCol>
                <a:gridCol w="640080">
                  <a:extLst>
                    <a:ext uri="{9D8B030D-6E8A-4147-A177-3AD203B41FA5}">
                      <a16:colId xmlns:a16="http://schemas.microsoft.com/office/drawing/2014/main" val="1759999053"/>
                    </a:ext>
                  </a:extLst>
                </a:gridCol>
                <a:gridCol w="640080">
                  <a:extLst>
                    <a:ext uri="{9D8B030D-6E8A-4147-A177-3AD203B41FA5}">
                      <a16:colId xmlns:a16="http://schemas.microsoft.com/office/drawing/2014/main" val="2948044610"/>
                    </a:ext>
                  </a:extLst>
                </a:gridCol>
                <a:gridCol w="640080">
                  <a:extLst>
                    <a:ext uri="{9D8B030D-6E8A-4147-A177-3AD203B41FA5}">
                      <a16:colId xmlns:a16="http://schemas.microsoft.com/office/drawing/2014/main" val="3324840120"/>
                    </a:ext>
                  </a:extLst>
                </a:gridCol>
              </a:tblGrid>
              <a:tr h="502920">
                <a:tc>
                  <a:txBody>
                    <a:bodyPr/>
                    <a:lstStyle/>
                    <a:p>
                      <a:pPr marL="0" marR="0" algn="ctr">
                        <a:lnSpc>
                          <a:spcPct val="150000"/>
                        </a:lnSpc>
                        <a:spcBef>
                          <a:spcPts val="600"/>
                        </a:spcBef>
                        <a:spcAft>
                          <a:spcPts val="0"/>
                        </a:spcAft>
                      </a:pPr>
                      <a:r>
                        <a:rPr lang="vi-VN" sz="2200" b="1" i="1" spc="-20">
                          <a:effectLst/>
                          <a:latin typeface="+mj-lt"/>
                        </a:rPr>
                        <a:t>x</a:t>
                      </a:r>
                      <a:endParaRPr lang="en-US" sz="2200" b="1" i="1">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b="1" i="1" spc="-20">
                          <a:effectLst/>
                          <a:latin typeface="+mj-lt"/>
                        </a:rPr>
                        <a:t>y</a:t>
                      </a:r>
                      <a:endParaRPr lang="en-US" sz="2200" b="1" i="1">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b="1" i="1" spc="-20">
                          <a:effectLst/>
                          <a:latin typeface="+mj-lt"/>
                        </a:rPr>
                        <a:t>z</a:t>
                      </a:r>
                      <a:endParaRPr lang="en-US" sz="2200" b="1" i="1">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b="1" i="1" spc="-20">
                          <a:effectLst/>
                          <a:latin typeface="+mj-lt"/>
                        </a:rPr>
                        <a:t>f</a:t>
                      </a:r>
                      <a:endParaRPr lang="en-US" sz="2200" b="1" i="1">
                        <a:effectLst/>
                        <a:latin typeface="+mj-lt"/>
                        <a:ea typeface="Times New Roman" panose="02020603050405020304" pitchFamily="18" charset="0"/>
                      </a:endParaRPr>
                    </a:p>
                  </a:txBody>
                  <a:tcPr marL="104582" marR="104582"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yz</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3382337"/>
                  </a:ext>
                </a:extLst>
              </a:tr>
              <a:tr h="502920">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0</a:t>
                      </a:r>
                      <a:r>
                        <a:rPr lang="vi-VN" sz="2200" spc="-20" dirty="0">
                          <a:effectLst/>
                          <a:latin typeface="+mj-lt"/>
                          <a:ea typeface="Times New Roman" panose="02020603050405020304" pitchFamily="18" charset="0"/>
                        </a:rPr>
                        <a:t>/</a:t>
                      </a: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0</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x</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3130131"/>
                  </a:ext>
                </a:extLst>
              </a:tr>
              <a:tr h="502920">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ea typeface="Times New Roman" panose="02020603050405020304" pitchFamily="18" charset="0"/>
                        </a:rPr>
                        <a:t>m</a:t>
                      </a:r>
                      <a:r>
                        <a:rPr lang="vi-VN" sz="2200" spc="-20" baseline="-25000">
                          <a:effectLst/>
                          <a:latin typeface="+mj-lt"/>
                          <a:ea typeface="Times New Roman" panose="02020603050405020304" pitchFamily="18" charset="0"/>
                        </a:rPr>
                        <a:t>1</a:t>
                      </a:r>
                      <a:r>
                        <a:rPr lang="vi-VN" sz="2200" spc="-20">
                          <a:effectLst/>
                          <a:latin typeface="+mj-lt"/>
                          <a:ea typeface="Times New Roman" panose="02020603050405020304" pitchFamily="18" charset="0"/>
                        </a:rPr>
                        <a:t>/</a:t>
                      </a:r>
                      <a:r>
                        <a:rPr lang="vi-VN" sz="2200" i="1" spc="-20">
                          <a:effectLst/>
                          <a:latin typeface="+mj-lt"/>
                          <a:ea typeface="Times New Roman" panose="02020603050405020304" pitchFamily="18" charset="0"/>
                        </a:rPr>
                        <a:t>M</a:t>
                      </a:r>
                      <a:r>
                        <a:rPr lang="vi-VN" sz="2200" i="1" spc="-20" baseline="-25000">
                          <a:effectLst/>
                          <a:latin typeface="+mj-lt"/>
                          <a:ea typeface="Times New Roman" panose="02020603050405020304" pitchFamily="18" charset="0"/>
                        </a:rPr>
                        <a:t>1</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0</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1</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3</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2</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9427875"/>
                  </a:ext>
                </a:extLst>
              </a:tr>
              <a:tr h="502920">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2</a:t>
                      </a:r>
                      <a:r>
                        <a:rPr lang="vi-VN" sz="2200" spc="-20" dirty="0">
                          <a:effectLst/>
                          <a:latin typeface="+mj-lt"/>
                          <a:ea typeface="Times New Roman" panose="02020603050405020304" pitchFamily="18" charset="0"/>
                        </a:rPr>
                        <a:t>/</a:t>
                      </a:r>
                      <a:r>
                        <a:rPr lang="vi-VN" sz="2200" i="1" spc="-20" dirty="0">
                          <a:effectLst/>
                          <a:latin typeface="+mj-lt"/>
                          <a:ea typeface="Times New Roman" panose="02020603050405020304" pitchFamily="18" charset="0"/>
                        </a:rPr>
                        <a:t>M</a:t>
                      </a:r>
                      <a:r>
                        <a:rPr lang="vi-VN" sz="2200" i="1" spc="-20" baseline="-25000" dirty="0">
                          <a:effectLst/>
                          <a:latin typeface="+mj-lt"/>
                          <a:ea typeface="Times New Roman" panose="02020603050405020304" pitchFamily="18" charset="0"/>
                        </a:rPr>
                        <a:t>2</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4</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5</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7</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6</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080622"/>
                  </a:ext>
                </a:extLst>
              </a:tr>
              <a:tr h="502920">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3</a:t>
                      </a:r>
                      <a:r>
                        <a:rPr lang="vi-VN" sz="2200" spc="-20" dirty="0">
                          <a:effectLst/>
                          <a:latin typeface="+mj-lt"/>
                          <a:ea typeface="Times New Roman" panose="02020603050405020304" pitchFamily="18" charset="0"/>
                        </a:rPr>
                        <a:t>/</a:t>
                      </a:r>
                      <a:r>
                        <a:rPr lang="vi-VN" sz="2200" i="1" spc="-20" dirty="0">
                          <a:effectLst/>
                          <a:latin typeface="+mj-lt"/>
                          <a:ea typeface="Times New Roman" panose="02020603050405020304" pitchFamily="18" charset="0"/>
                        </a:rPr>
                        <a:t>M</a:t>
                      </a:r>
                      <a:r>
                        <a:rPr lang="vi-VN" sz="2200" i="1" spc="-20" baseline="-25000" dirty="0">
                          <a:effectLst/>
                          <a:latin typeface="+mj-lt"/>
                          <a:ea typeface="Times New Roman" panose="02020603050405020304" pitchFamily="18" charset="0"/>
                        </a:rPr>
                        <a:t>3</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7701737"/>
                  </a:ext>
                </a:extLst>
              </a:tr>
              <a:tr h="502920">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4</a:t>
                      </a:r>
                      <a:r>
                        <a:rPr lang="vi-VN" sz="2200" spc="-20" dirty="0">
                          <a:effectLst/>
                          <a:latin typeface="+mj-lt"/>
                          <a:ea typeface="Times New Roman" panose="02020603050405020304" pitchFamily="18" charset="0"/>
                        </a:rPr>
                        <a:t>/</a:t>
                      </a:r>
                      <a:r>
                        <a:rPr lang="vi-VN" sz="2200" i="1" spc="-20" dirty="0">
                          <a:effectLst/>
                          <a:latin typeface="+mj-lt"/>
                          <a:ea typeface="Times New Roman" panose="02020603050405020304" pitchFamily="18" charset="0"/>
                        </a:rPr>
                        <a:t>M</a:t>
                      </a:r>
                      <a:r>
                        <a:rPr lang="vi-VN" sz="2200" i="1" spc="-20" baseline="-25000" dirty="0">
                          <a:effectLst/>
                          <a:latin typeface="+mj-lt"/>
                          <a:ea typeface="Times New Roman" panose="02020603050405020304" pitchFamily="18" charset="0"/>
                        </a:rPr>
                        <a:t>4</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yz</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3170678"/>
                  </a:ext>
                </a:extLst>
              </a:tr>
              <a:tr h="502920">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ea typeface="Times New Roman" panose="02020603050405020304" pitchFamily="18" charset="0"/>
                        </a:rPr>
                        <a:t>m</a:t>
                      </a:r>
                      <a:r>
                        <a:rPr lang="vi-VN" sz="2200" spc="-20" baseline="-25000" dirty="0">
                          <a:effectLst/>
                          <a:latin typeface="+mj-lt"/>
                          <a:ea typeface="Times New Roman" panose="02020603050405020304" pitchFamily="18" charset="0"/>
                        </a:rPr>
                        <a:t>5</a:t>
                      </a:r>
                      <a:r>
                        <a:rPr lang="vi-VN" sz="2200" spc="-20" dirty="0">
                          <a:effectLst/>
                          <a:latin typeface="+mj-lt"/>
                          <a:ea typeface="Times New Roman" panose="02020603050405020304" pitchFamily="18" charset="0"/>
                        </a:rPr>
                        <a:t>/</a:t>
                      </a:r>
                      <a:r>
                        <a:rPr lang="vi-VN" sz="2200" i="1" spc="-20" dirty="0">
                          <a:effectLst/>
                          <a:latin typeface="+mj-lt"/>
                          <a:ea typeface="Times New Roman" panose="02020603050405020304" pitchFamily="18" charset="0"/>
                        </a:rPr>
                        <a:t>M</a:t>
                      </a:r>
                      <a:r>
                        <a:rPr lang="vi-VN" sz="2200" i="1" spc="-20" baseline="-25000" dirty="0">
                          <a:effectLst/>
                          <a:latin typeface="+mj-lt"/>
                          <a:ea typeface="Times New Roman" panose="02020603050405020304" pitchFamily="18" charset="0"/>
                        </a:rPr>
                        <a:t>5</a:t>
                      </a: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x</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2106506"/>
                  </a:ext>
                </a:extLst>
              </a:tr>
              <a:tr h="502920">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ea typeface="Times New Roman" panose="02020603050405020304" pitchFamily="18" charset="0"/>
                        </a:rPr>
                        <a:t>m</a:t>
                      </a:r>
                      <a:r>
                        <a:rPr lang="vi-VN" sz="2200" spc="-20" baseline="-25000">
                          <a:effectLst/>
                          <a:latin typeface="+mj-lt"/>
                          <a:ea typeface="Times New Roman" panose="02020603050405020304" pitchFamily="18" charset="0"/>
                        </a:rPr>
                        <a:t>6</a:t>
                      </a:r>
                      <a:r>
                        <a:rPr lang="vi-VN" sz="2200" spc="-20">
                          <a:effectLst/>
                          <a:latin typeface="+mj-lt"/>
                          <a:ea typeface="Times New Roman" panose="02020603050405020304" pitchFamily="18" charset="0"/>
                        </a:rPr>
                        <a:t>/</a:t>
                      </a:r>
                      <a:r>
                        <a:rPr lang="vi-VN" sz="2200" i="1" spc="-20">
                          <a:effectLst/>
                          <a:latin typeface="+mj-lt"/>
                          <a:ea typeface="Times New Roman" panose="02020603050405020304" pitchFamily="18" charset="0"/>
                        </a:rPr>
                        <a:t>M</a:t>
                      </a:r>
                      <a:r>
                        <a:rPr lang="vi-VN" sz="2200" i="1" spc="-20" baseline="-25000">
                          <a:effectLst/>
                          <a:latin typeface="+mj-lt"/>
                          <a:ea typeface="Times New Roman" panose="02020603050405020304" pitchFamily="18" charset="0"/>
                        </a:rPr>
                        <a:t>6</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104582" marR="104582"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0</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1</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3</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2</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5877461"/>
                  </a:ext>
                </a:extLst>
              </a:tr>
              <a:tr h="502920">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ea typeface="Times New Roman" panose="02020603050405020304" pitchFamily="18" charset="0"/>
                        </a:rPr>
                        <a:t>m</a:t>
                      </a:r>
                      <a:r>
                        <a:rPr lang="vi-VN" sz="2200" spc="-20" baseline="-25000">
                          <a:effectLst/>
                          <a:latin typeface="+mj-lt"/>
                          <a:ea typeface="Times New Roman" panose="02020603050405020304" pitchFamily="18" charset="0"/>
                        </a:rPr>
                        <a:t>7</a:t>
                      </a:r>
                      <a:r>
                        <a:rPr lang="vi-VN" sz="2200" spc="-20">
                          <a:effectLst/>
                          <a:latin typeface="+mj-lt"/>
                          <a:ea typeface="Times New Roman" panose="02020603050405020304" pitchFamily="18" charset="0"/>
                        </a:rPr>
                        <a:t>/</a:t>
                      </a:r>
                      <a:r>
                        <a:rPr lang="vi-VN" sz="2200" i="1" spc="-20">
                          <a:effectLst/>
                          <a:latin typeface="+mj-lt"/>
                          <a:ea typeface="Times New Roman" panose="02020603050405020304" pitchFamily="18" charset="0"/>
                        </a:rPr>
                        <a:t>M</a:t>
                      </a:r>
                      <a:r>
                        <a:rPr lang="vi-VN" sz="2200" i="1" spc="-20" baseline="-25000">
                          <a:effectLst/>
                          <a:latin typeface="+mj-lt"/>
                          <a:ea typeface="Times New Roman" panose="02020603050405020304" pitchFamily="18" charset="0"/>
                        </a:rPr>
                        <a:t>7</a:t>
                      </a: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104582" marR="10458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104582" marR="104582"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4</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5</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a:effectLst/>
                          <a:latin typeface="+mj-lt"/>
                        </a:rPr>
                        <a:t>M</a:t>
                      </a:r>
                      <a:r>
                        <a:rPr lang="vi-VN" sz="2200" i="1" spc="-20" baseline="-25000">
                          <a:effectLst/>
                          <a:latin typeface="+mj-lt"/>
                        </a:rPr>
                        <a:t>7</a:t>
                      </a:r>
                      <a:endParaRPr lang="en-US" sz="2200" i="1">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0"/>
                        </a:spcAft>
                      </a:pPr>
                      <a:r>
                        <a:rPr lang="vi-VN" sz="2200" i="1" spc="-20" dirty="0">
                          <a:effectLst/>
                          <a:latin typeface="+mj-lt"/>
                        </a:rPr>
                        <a:t>M</a:t>
                      </a:r>
                      <a:r>
                        <a:rPr lang="vi-VN" sz="2200" i="1" spc="-20" baseline="-25000" dirty="0">
                          <a:effectLst/>
                          <a:latin typeface="+mj-lt"/>
                        </a:rPr>
                        <a:t>6</a:t>
                      </a:r>
                      <a:endParaRPr lang="en-US" sz="2200" i="1" dirty="0">
                        <a:effectLst/>
                        <a:latin typeface="+mj-lt"/>
                        <a:ea typeface="Times New Roman" panose="02020603050405020304" pitchFamily="18" charset="0"/>
                      </a:endParaRPr>
                    </a:p>
                  </a:txBody>
                  <a:tcPr marL="104582" marR="1045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5847562"/>
                  </a:ext>
                </a:extLst>
              </a:tr>
            </a:tbl>
          </a:graphicData>
        </a:graphic>
      </p:graphicFrame>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Tree>
    <p:extLst>
      <p:ext uri="{BB962C8B-B14F-4D97-AF65-F5344CB8AC3E}">
        <p14:creationId xmlns:p14="http://schemas.microsoft.com/office/powerpoint/2010/main" val="1685445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dirty="0" err="1"/>
              <a:t>pháp</a:t>
            </a:r>
            <a:r>
              <a:rPr lang="en-US" dirty="0"/>
              <a:t> </a:t>
            </a:r>
            <a:r>
              <a:rPr lang="en-US"/>
              <a:t>Karnaugh - 3 biến (tt)</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38</a:t>
            </a:fld>
            <a:endParaRPr lang="en-VN" dirty="0"/>
          </a:p>
        </p:txBody>
      </p:sp>
      <p:pic>
        <p:nvPicPr>
          <p:cNvPr id="7" name="Picture 2">
            <a:extLst>
              <a:ext uri="{FF2B5EF4-FFF2-40B4-BE49-F238E27FC236}">
                <a16:creationId xmlns:a16="http://schemas.microsoft.com/office/drawing/2014/main" id="{B2B0D2B0-3803-FC82-D63F-A1DE19843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251" y="1009860"/>
            <a:ext cx="1876425" cy="3009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3257D0C0-5BC0-B2CF-9A82-6933AC9A2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081" y="2084394"/>
            <a:ext cx="2731770" cy="15526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84191CE3-CE0B-14C8-142A-0074C327B2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8450" y="2084394"/>
            <a:ext cx="2731771" cy="15526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D65AB7BF-0F90-5199-75AD-5572B77EB76E}"/>
              </a:ext>
            </a:extLst>
          </p:cNvPr>
          <p:cNvSpPr txBox="1"/>
          <p:nvPr/>
        </p:nvSpPr>
        <p:spPr>
          <a:xfrm>
            <a:off x="2659251" y="4057860"/>
            <a:ext cx="974947" cy="430887"/>
          </a:xfrm>
          <a:prstGeom prst="rect">
            <a:avLst/>
          </a:prstGeom>
          <a:noFill/>
        </p:spPr>
        <p:txBody>
          <a:bodyPr wrap="none" rtlCol="0">
            <a:spAutoFit/>
          </a:bodyPr>
          <a:lstStyle/>
          <a:p>
            <a:r>
              <a:rPr lang="en-US" sz="2200">
                <a:latin typeface="Times New Roman" pitchFamily="18" charset="0"/>
                <a:cs typeface="Times New Roman" pitchFamily="18" charset="0"/>
              </a:rPr>
              <a:t>Cách 1</a:t>
            </a:r>
          </a:p>
        </p:txBody>
      </p:sp>
      <p:sp>
        <p:nvSpPr>
          <p:cNvPr id="11" name="TextBox 10">
            <a:extLst>
              <a:ext uri="{FF2B5EF4-FFF2-40B4-BE49-F238E27FC236}">
                <a16:creationId xmlns:a16="http://schemas.microsoft.com/office/drawing/2014/main" id="{D075EAE9-787A-D0C6-F7A3-423182975012}"/>
              </a:ext>
            </a:extLst>
          </p:cNvPr>
          <p:cNvSpPr txBox="1"/>
          <p:nvPr/>
        </p:nvSpPr>
        <p:spPr>
          <a:xfrm>
            <a:off x="5418104" y="3779373"/>
            <a:ext cx="974947" cy="430887"/>
          </a:xfrm>
          <a:prstGeom prst="rect">
            <a:avLst/>
          </a:prstGeom>
          <a:noFill/>
        </p:spPr>
        <p:txBody>
          <a:bodyPr wrap="none" rtlCol="0">
            <a:spAutoFit/>
          </a:bodyPr>
          <a:lstStyle/>
          <a:p>
            <a:r>
              <a:rPr lang="en-US" sz="2200">
                <a:latin typeface="Times New Roman" pitchFamily="18" charset="0"/>
                <a:cs typeface="Times New Roman" pitchFamily="18" charset="0"/>
              </a:rPr>
              <a:t>Cách 2</a:t>
            </a:r>
          </a:p>
        </p:txBody>
      </p:sp>
      <p:sp>
        <p:nvSpPr>
          <p:cNvPr id="12" name="TextBox 11">
            <a:extLst>
              <a:ext uri="{FF2B5EF4-FFF2-40B4-BE49-F238E27FC236}">
                <a16:creationId xmlns:a16="http://schemas.microsoft.com/office/drawing/2014/main" id="{315E88DF-9000-A810-77EC-5D3F3DBC54B4}"/>
              </a:ext>
            </a:extLst>
          </p:cNvPr>
          <p:cNvSpPr txBox="1"/>
          <p:nvPr/>
        </p:nvSpPr>
        <p:spPr>
          <a:xfrm>
            <a:off x="8755251" y="3829260"/>
            <a:ext cx="974947" cy="430887"/>
          </a:xfrm>
          <a:prstGeom prst="rect">
            <a:avLst/>
          </a:prstGeom>
          <a:noFill/>
        </p:spPr>
        <p:txBody>
          <a:bodyPr wrap="none" rtlCol="0">
            <a:spAutoFit/>
          </a:bodyPr>
          <a:lstStyle/>
          <a:p>
            <a:r>
              <a:rPr lang="en-US" sz="2200">
                <a:latin typeface="Times New Roman" pitchFamily="18" charset="0"/>
                <a:cs typeface="Times New Roman" pitchFamily="18" charset="0"/>
              </a:rPr>
              <a:t>Cách 3</a:t>
            </a:r>
          </a:p>
        </p:txBody>
      </p:sp>
      <p:sp>
        <p:nvSpPr>
          <p:cNvPr id="14" name="TextBox 13">
            <a:extLst>
              <a:ext uri="{FF2B5EF4-FFF2-40B4-BE49-F238E27FC236}">
                <a16:creationId xmlns:a16="http://schemas.microsoft.com/office/drawing/2014/main" id="{A53DA330-B46D-1A24-912C-913146519BCB}"/>
              </a:ext>
            </a:extLst>
          </p:cNvPr>
          <p:cNvSpPr txBox="1"/>
          <p:nvPr/>
        </p:nvSpPr>
        <p:spPr>
          <a:xfrm>
            <a:off x="2461802" y="4448196"/>
            <a:ext cx="8168640" cy="1553054"/>
          </a:xfrm>
          <a:prstGeom prst="rect">
            <a:avLst/>
          </a:prstGeom>
          <a:noFill/>
        </p:spPr>
        <p:txBody>
          <a:bodyPr wrap="square" rtlCol="0">
            <a:spAutoFit/>
          </a:bodyPr>
          <a:lstStyle/>
          <a:p>
            <a:pPr>
              <a:lnSpc>
                <a:spcPct val="150000"/>
              </a:lnSpc>
            </a:pPr>
            <a:r>
              <a:rPr lang="en-US" sz="2200" b="1" dirty="0" err="1">
                <a:solidFill>
                  <a:srgbClr val="0000CC"/>
                </a:solidFill>
                <a:latin typeface="Arial" panose="020B0604020202020204" pitchFamily="34" charset="0"/>
                <a:cs typeface="Arial" panose="020B0604020202020204" pitchFamily="34" charset="0"/>
              </a:rPr>
              <a:t>Lưu</a:t>
            </a:r>
            <a:r>
              <a:rPr lang="en-US" sz="2200" b="1" dirty="0">
                <a:solidFill>
                  <a:srgbClr val="0000CC"/>
                </a:solidFill>
                <a:latin typeface="Arial" panose="020B0604020202020204" pitchFamily="34" charset="0"/>
                <a:cs typeface="Arial" panose="020B0604020202020204" pitchFamily="34" charset="0"/>
              </a:rPr>
              <a:t> ý: </a:t>
            </a:r>
            <a:r>
              <a:rPr lang="en-US" sz="2200" dirty="0" err="1">
                <a:latin typeface="Arial" panose="020B0604020202020204" pitchFamily="34" charset="0"/>
                <a:cs typeface="Arial" panose="020B0604020202020204" pitchFamily="34" charset="0"/>
              </a:rPr>
              <a:t>có</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thể</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dụng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nào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để</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biểu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diễn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bìa</a:t>
            </a:r>
            <a:r>
              <a:rPr lang="en-US" sz="2200" dirty="0">
                <a:latin typeface="Arial" panose="020B0604020202020204" pitchFamily="34" charset="0"/>
                <a:cs typeface="Arial" panose="020B0604020202020204" pitchFamily="34" charset="0"/>
              </a:rPr>
              <a:t>-K </a:t>
            </a:r>
            <a:r>
              <a:rPr lang="en-US" sz="2200" dirty="0" err="1">
                <a:latin typeface="Arial" panose="020B0604020202020204" pitchFamily="34" charset="0"/>
                <a:cs typeface="Arial" panose="020B0604020202020204" pitchFamily="34" charset="0"/>
              </a:rPr>
              <a:t>cũng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được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nhưng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phải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lưu</a:t>
            </a:r>
            <a:r>
              <a:rPr lang="en-US" sz="2200" dirty="0">
                <a:latin typeface="Arial" panose="020B0604020202020204" pitchFamily="34" charset="0"/>
                <a:cs typeface="Arial" panose="020B0604020202020204" pitchFamily="34" charset="0"/>
              </a:rPr>
              <a:t> ý </a:t>
            </a:r>
            <a:r>
              <a:rPr lang="en-US" sz="2200" b="1" i="1" dirty="0" err="1">
                <a:latin typeface="Arial" panose="020B0604020202020204" pitchFamily="34" charset="0"/>
                <a:cs typeface="Arial" panose="020B0604020202020204" pitchFamily="34" charset="0"/>
              </a:rPr>
              <a:t>trọng</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số</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của</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các</a:t>
            </a:r>
            <a:r>
              <a:rPr lang="en-US" sz="2200" b="1" i="1" dirty="0">
                <a:latin typeface="Arial" panose="020B0604020202020204" pitchFamily="34" charset="0"/>
                <a:cs typeface="Arial" panose="020B0604020202020204" pitchFamily="34" charset="0"/>
              </a:rPr>
              <a:t> </a:t>
            </a:r>
            <a:r>
              <a:rPr lang="en-US" sz="2200" b="1" i="1" dirty="0" err="1">
                <a:latin typeface="Arial" panose="020B0604020202020204" pitchFamily="34" charset="0"/>
                <a:cs typeface="Arial" panose="020B0604020202020204" pitchFamily="34" charset="0"/>
              </a:rPr>
              <a:t>biến</a:t>
            </a:r>
            <a:r>
              <a:rPr lang="en-US" sz="2200" b="1" i="1"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thì</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đảm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bảo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thứ</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tự</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ô </a:t>
            </a:r>
            <a:r>
              <a:rPr lang="en-US" sz="2200" dirty="0" err="1">
                <a:latin typeface="Arial" panose="020B0604020202020204" pitchFamily="34" charset="0"/>
                <a:cs typeface="Arial" panose="020B0604020202020204" pitchFamily="34" charset="0"/>
              </a:rPr>
              <a:t>theo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trị</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thập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phân</a:t>
            </a:r>
            <a:r>
              <a:rPr lang="en-US" sz="2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61884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dirty="0"/>
              <a:t>Ph</a:t>
            </a:r>
            <a:r>
              <a:rPr lang="vi-VN" dirty="0"/>
              <a:t>ư</a:t>
            </a:r>
            <a:r>
              <a:rPr lang="en-US" dirty="0" err="1"/>
              <a:t>ơng</a:t>
            </a:r>
            <a:r>
              <a:rPr lang="en-US" dirty="0"/>
              <a:t> </a:t>
            </a:r>
            <a:r>
              <a:rPr lang="en-US" dirty="0" err="1"/>
              <a:t>pháp</a:t>
            </a:r>
            <a:r>
              <a:rPr lang="en-US" dirty="0"/>
              <a:t> </a:t>
            </a:r>
            <a:r>
              <a:rPr lang="en-US"/>
              <a:t>Karnaugh - 3 biến (tt)</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39</a:t>
            </a:fld>
            <a:endParaRPr lang="en-VN" dirty="0"/>
          </a:p>
        </p:txBody>
      </p:sp>
      <p:pic>
        <p:nvPicPr>
          <p:cNvPr id="3" name="Picture 2">
            <a:extLst>
              <a:ext uri="{FF2B5EF4-FFF2-40B4-BE49-F238E27FC236}">
                <a16:creationId xmlns:a16="http://schemas.microsoft.com/office/drawing/2014/main" id="{DD4C9DDF-DB66-5691-3291-B674597AB896}"/>
              </a:ext>
            </a:extLst>
          </p:cNvPr>
          <p:cNvPicPr>
            <a:picLocks noChangeAspect="1" noChangeArrowheads="1"/>
          </p:cNvPicPr>
          <p:nvPr/>
        </p:nvPicPr>
        <p:blipFill>
          <a:blip r:embed="rId2" cstate="print"/>
          <a:srcRect/>
          <a:stretch>
            <a:fillRect/>
          </a:stretch>
        </p:blipFill>
        <p:spPr bwMode="auto">
          <a:xfrm>
            <a:off x="1599650" y="1425279"/>
            <a:ext cx="8449709" cy="4519612"/>
          </a:xfrm>
          <a:prstGeom prst="rect">
            <a:avLst/>
          </a:prstGeom>
          <a:noFill/>
          <a:ln w="9525">
            <a:noFill/>
            <a:miter lim="800000"/>
            <a:headEnd/>
            <a:tailEnd/>
          </a:ln>
        </p:spPr>
      </p:pic>
      <p:sp>
        <p:nvSpPr>
          <p:cNvPr id="6" name="Freeform 2">
            <a:extLst>
              <a:ext uri="{FF2B5EF4-FFF2-40B4-BE49-F238E27FC236}">
                <a16:creationId xmlns:a16="http://schemas.microsoft.com/office/drawing/2014/main" id="{C6CF7FD1-E823-2CEE-0F65-4065D847584C}"/>
              </a:ext>
            </a:extLst>
          </p:cNvPr>
          <p:cNvSpPr/>
          <p:nvPr/>
        </p:nvSpPr>
        <p:spPr>
          <a:xfrm>
            <a:off x="2911959" y="5322591"/>
            <a:ext cx="292100" cy="381000"/>
          </a:xfrm>
          <a:custGeom>
            <a:avLst/>
            <a:gdLst>
              <a:gd name="connsiteX0" fmla="*/ 0 w 292100"/>
              <a:gd name="connsiteY0" fmla="*/ 0 h 381000"/>
              <a:gd name="connsiteX1" fmla="*/ 25400 w 292100"/>
              <a:gd name="connsiteY1" fmla="*/ 152400 h 381000"/>
              <a:gd name="connsiteX2" fmla="*/ 50800 w 292100"/>
              <a:gd name="connsiteY2" fmla="*/ 190500 h 381000"/>
              <a:gd name="connsiteX3" fmla="*/ 88900 w 292100"/>
              <a:gd name="connsiteY3" fmla="*/ 215900 h 381000"/>
              <a:gd name="connsiteX4" fmla="*/ 152400 w 292100"/>
              <a:gd name="connsiteY4" fmla="*/ 304800 h 381000"/>
              <a:gd name="connsiteX5" fmla="*/ 190500 w 292100"/>
              <a:gd name="connsiteY5" fmla="*/ 317500 h 381000"/>
              <a:gd name="connsiteX6" fmla="*/ 266700 w 292100"/>
              <a:gd name="connsiteY6" fmla="*/ 368300 h 381000"/>
              <a:gd name="connsiteX7" fmla="*/ 292100 w 292100"/>
              <a:gd name="connsiteY7"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100" h="381000">
                <a:moveTo>
                  <a:pt x="0" y="0"/>
                </a:moveTo>
                <a:cubicBezTo>
                  <a:pt x="4024" y="36216"/>
                  <a:pt x="4124" y="109847"/>
                  <a:pt x="25400" y="152400"/>
                </a:cubicBezTo>
                <a:cubicBezTo>
                  <a:pt x="32226" y="166052"/>
                  <a:pt x="40007" y="179707"/>
                  <a:pt x="50800" y="190500"/>
                </a:cubicBezTo>
                <a:cubicBezTo>
                  <a:pt x="61593" y="201293"/>
                  <a:pt x="76200" y="207433"/>
                  <a:pt x="88900" y="215900"/>
                </a:cubicBezTo>
                <a:cubicBezTo>
                  <a:pt x="100482" y="233274"/>
                  <a:pt x="140585" y="294955"/>
                  <a:pt x="152400" y="304800"/>
                </a:cubicBezTo>
                <a:cubicBezTo>
                  <a:pt x="162684" y="313370"/>
                  <a:pt x="178798" y="310999"/>
                  <a:pt x="190500" y="317500"/>
                </a:cubicBezTo>
                <a:cubicBezTo>
                  <a:pt x="217185" y="332325"/>
                  <a:pt x="239396" y="354648"/>
                  <a:pt x="266700" y="368300"/>
                </a:cubicBezTo>
                <a:lnTo>
                  <a:pt x="292100" y="38100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6">
            <a:extLst>
              <a:ext uri="{FF2B5EF4-FFF2-40B4-BE49-F238E27FC236}">
                <a16:creationId xmlns:a16="http://schemas.microsoft.com/office/drawing/2014/main" id="{4998D61F-3D94-A735-8196-2F84ADC1D95E}"/>
              </a:ext>
            </a:extLst>
          </p:cNvPr>
          <p:cNvSpPr/>
          <p:nvPr/>
        </p:nvSpPr>
        <p:spPr>
          <a:xfrm>
            <a:off x="5705959" y="5322591"/>
            <a:ext cx="292100" cy="381000"/>
          </a:xfrm>
          <a:custGeom>
            <a:avLst/>
            <a:gdLst>
              <a:gd name="connsiteX0" fmla="*/ 0 w 292100"/>
              <a:gd name="connsiteY0" fmla="*/ 0 h 381000"/>
              <a:gd name="connsiteX1" fmla="*/ 25400 w 292100"/>
              <a:gd name="connsiteY1" fmla="*/ 152400 h 381000"/>
              <a:gd name="connsiteX2" fmla="*/ 50800 w 292100"/>
              <a:gd name="connsiteY2" fmla="*/ 190500 h 381000"/>
              <a:gd name="connsiteX3" fmla="*/ 88900 w 292100"/>
              <a:gd name="connsiteY3" fmla="*/ 215900 h 381000"/>
              <a:gd name="connsiteX4" fmla="*/ 152400 w 292100"/>
              <a:gd name="connsiteY4" fmla="*/ 304800 h 381000"/>
              <a:gd name="connsiteX5" fmla="*/ 190500 w 292100"/>
              <a:gd name="connsiteY5" fmla="*/ 317500 h 381000"/>
              <a:gd name="connsiteX6" fmla="*/ 266700 w 292100"/>
              <a:gd name="connsiteY6" fmla="*/ 368300 h 381000"/>
              <a:gd name="connsiteX7" fmla="*/ 292100 w 292100"/>
              <a:gd name="connsiteY7"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100" h="381000">
                <a:moveTo>
                  <a:pt x="0" y="0"/>
                </a:moveTo>
                <a:cubicBezTo>
                  <a:pt x="4024" y="36216"/>
                  <a:pt x="4124" y="109847"/>
                  <a:pt x="25400" y="152400"/>
                </a:cubicBezTo>
                <a:cubicBezTo>
                  <a:pt x="32226" y="166052"/>
                  <a:pt x="40007" y="179707"/>
                  <a:pt x="50800" y="190500"/>
                </a:cubicBezTo>
                <a:cubicBezTo>
                  <a:pt x="61593" y="201293"/>
                  <a:pt x="76200" y="207433"/>
                  <a:pt x="88900" y="215900"/>
                </a:cubicBezTo>
                <a:cubicBezTo>
                  <a:pt x="100482" y="233274"/>
                  <a:pt x="140585" y="294955"/>
                  <a:pt x="152400" y="304800"/>
                </a:cubicBezTo>
                <a:cubicBezTo>
                  <a:pt x="162684" y="313370"/>
                  <a:pt x="178798" y="310999"/>
                  <a:pt x="190500" y="317500"/>
                </a:cubicBezTo>
                <a:cubicBezTo>
                  <a:pt x="217185" y="332325"/>
                  <a:pt x="239396" y="354648"/>
                  <a:pt x="266700" y="368300"/>
                </a:cubicBezTo>
                <a:lnTo>
                  <a:pt x="292100" y="38100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7">
            <a:extLst>
              <a:ext uri="{FF2B5EF4-FFF2-40B4-BE49-F238E27FC236}">
                <a16:creationId xmlns:a16="http://schemas.microsoft.com/office/drawing/2014/main" id="{CD2064EC-5F9F-CD6F-70C9-311C86D1EB04}"/>
              </a:ext>
            </a:extLst>
          </p:cNvPr>
          <p:cNvSpPr/>
          <p:nvPr/>
        </p:nvSpPr>
        <p:spPr>
          <a:xfrm flipH="1">
            <a:off x="9414359" y="5322591"/>
            <a:ext cx="317500" cy="431800"/>
          </a:xfrm>
          <a:custGeom>
            <a:avLst/>
            <a:gdLst>
              <a:gd name="connsiteX0" fmla="*/ 0 w 292100"/>
              <a:gd name="connsiteY0" fmla="*/ 0 h 381000"/>
              <a:gd name="connsiteX1" fmla="*/ 25400 w 292100"/>
              <a:gd name="connsiteY1" fmla="*/ 152400 h 381000"/>
              <a:gd name="connsiteX2" fmla="*/ 50800 w 292100"/>
              <a:gd name="connsiteY2" fmla="*/ 190500 h 381000"/>
              <a:gd name="connsiteX3" fmla="*/ 88900 w 292100"/>
              <a:gd name="connsiteY3" fmla="*/ 215900 h 381000"/>
              <a:gd name="connsiteX4" fmla="*/ 152400 w 292100"/>
              <a:gd name="connsiteY4" fmla="*/ 304800 h 381000"/>
              <a:gd name="connsiteX5" fmla="*/ 190500 w 292100"/>
              <a:gd name="connsiteY5" fmla="*/ 317500 h 381000"/>
              <a:gd name="connsiteX6" fmla="*/ 266700 w 292100"/>
              <a:gd name="connsiteY6" fmla="*/ 368300 h 381000"/>
              <a:gd name="connsiteX7" fmla="*/ 292100 w 292100"/>
              <a:gd name="connsiteY7"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100" h="381000">
                <a:moveTo>
                  <a:pt x="0" y="0"/>
                </a:moveTo>
                <a:cubicBezTo>
                  <a:pt x="4024" y="36216"/>
                  <a:pt x="4124" y="109847"/>
                  <a:pt x="25400" y="152400"/>
                </a:cubicBezTo>
                <a:cubicBezTo>
                  <a:pt x="32226" y="166052"/>
                  <a:pt x="40007" y="179707"/>
                  <a:pt x="50800" y="190500"/>
                </a:cubicBezTo>
                <a:cubicBezTo>
                  <a:pt x="61593" y="201293"/>
                  <a:pt x="76200" y="207433"/>
                  <a:pt x="88900" y="215900"/>
                </a:cubicBezTo>
                <a:cubicBezTo>
                  <a:pt x="100482" y="233274"/>
                  <a:pt x="140585" y="294955"/>
                  <a:pt x="152400" y="304800"/>
                </a:cubicBezTo>
                <a:cubicBezTo>
                  <a:pt x="162684" y="313370"/>
                  <a:pt x="178798" y="310999"/>
                  <a:pt x="190500" y="317500"/>
                </a:cubicBezTo>
                <a:cubicBezTo>
                  <a:pt x="217185" y="332325"/>
                  <a:pt x="239396" y="354648"/>
                  <a:pt x="266700" y="368300"/>
                </a:cubicBezTo>
                <a:lnTo>
                  <a:pt x="292100" y="38100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42895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sz="4000"/>
              <a:t>Ph</a:t>
            </a:r>
            <a:r>
              <a:rPr lang="vi-VN" sz="4000"/>
              <a:t>ư</a:t>
            </a:r>
            <a:r>
              <a:rPr lang="en-US" sz="4000"/>
              <a:t>ơng pháp Karnaugh - 3 biến (tt)</a:t>
            </a: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40</a:t>
            </a:fld>
            <a:endParaRPr lang="en-VN" dirty="0"/>
          </a:p>
        </p:txBody>
      </p:sp>
      <p:pic>
        <p:nvPicPr>
          <p:cNvPr id="17" name="Picture 2">
            <a:extLst>
              <a:ext uri="{FF2B5EF4-FFF2-40B4-BE49-F238E27FC236}">
                <a16:creationId xmlns:a16="http://schemas.microsoft.com/office/drawing/2014/main" id="{64A3EC32-7D0E-83E2-BD7E-E358BFC1E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1608" y="1009860"/>
            <a:ext cx="5848350" cy="502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 name="Picture 3">
            <a:extLst>
              <a:ext uri="{FF2B5EF4-FFF2-40B4-BE49-F238E27FC236}">
                <a16:creationId xmlns:a16="http://schemas.microsoft.com/office/drawing/2014/main" id="{41FAD3FC-1371-5B4B-81CA-B4F1D3588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4783" y="3553035"/>
            <a:ext cx="3124200" cy="352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Date Placeholder 3">
            <a:extLst>
              <a:ext uri="{FF2B5EF4-FFF2-40B4-BE49-F238E27FC236}">
                <a16:creationId xmlns:a16="http://schemas.microsoft.com/office/drawing/2014/main" id="{21DF4744-C79B-965A-9BA9-15BDE7BDA9F9}"/>
              </a:ext>
            </a:extLst>
          </p:cNvPr>
          <p:cNvSpPr txBox="1">
            <a:spLocks/>
          </p:cNvSpPr>
          <p:nvPr/>
        </p:nvSpPr>
        <p:spPr>
          <a:xfrm>
            <a:off x="6822483" y="1143210"/>
            <a:ext cx="6477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800" b="1">
                <a:latin typeface="Times New Roman" pitchFamily="18" charset="0"/>
                <a:cs typeface="Times New Roman" pitchFamily="18" charset="0"/>
              </a:rPr>
              <a:t>f</a:t>
            </a:r>
          </a:p>
        </p:txBody>
      </p:sp>
      <p:sp>
        <p:nvSpPr>
          <p:cNvPr id="20" name="TextBox 19">
            <a:extLst>
              <a:ext uri="{FF2B5EF4-FFF2-40B4-BE49-F238E27FC236}">
                <a16:creationId xmlns:a16="http://schemas.microsoft.com/office/drawing/2014/main" id="{AFAF5859-3D80-E1A2-DAA5-193C4C6A100C}"/>
              </a:ext>
            </a:extLst>
          </p:cNvPr>
          <p:cNvSpPr txBox="1"/>
          <p:nvPr/>
        </p:nvSpPr>
        <p:spPr>
          <a:xfrm>
            <a:off x="2364783" y="4181858"/>
            <a:ext cx="1649811" cy="430887"/>
          </a:xfrm>
          <a:prstGeom prst="rect">
            <a:avLst/>
          </a:prstGeom>
          <a:noFill/>
        </p:spPr>
        <p:txBody>
          <a:bodyPr wrap="none" rtlCol="0">
            <a:spAutoFit/>
          </a:bodyPr>
          <a:lstStyle/>
          <a:p>
            <a:r>
              <a:rPr lang="en-US" sz="2200">
                <a:latin typeface="Times New Roman" pitchFamily="18" charset="0"/>
                <a:ea typeface="Tahoma" pitchFamily="34" charset="0"/>
                <a:cs typeface="Times New Roman" pitchFamily="18" charset="0"/>
              </a:rPr>
              <a:t>(chưa tối ưu)</a:t>
            </a:r>
          </a:p>
        </p:txBody>
      </p:sp>
      <p:sp>
        <p:nvSpPr>
          <p:cNvPr id="21" name="TextBox 20">
            <a:extLst>
              <a:ext uri="{FF2B5EF4-FFF2-40B4-BE49-F238E27FC236}">
                <a16:creationId xmlns:a16="http://schemas.microsoft.com/office/drawing/2014/main" id="{768E7882-70F7-52D6-9695-995EF734D76A}"/>
              </a:ext>
            </a:extLst>
          </p:cNvPr>
          <p:cNvSpPr txBox="1"/>
          <p:nvPr/>
        </p:nvSpPr>
        <p:spPr>
          <a:xfrm>
            <a:off x="5183270" y="5832596"/>
            <a:ext cx="1035861" cy="430887"/>
          </a:xfrm>
          <a:prstGeom prst="rect">
            <a:avLst/>
          </a:prstGeom>
          <a:noFill/>
        </p:spPr>
        <p:txBody>
          <a:bodyPr wrap="none" rtlCol="0">
            <a:spAutoFit/>
          </a:bodyPr>
          <a:lstStyle/>
          <a:p>
            <a:r>
              <a:rPr lang="en-US" sz="2200">
                <a:latin typeface="Times New Roman" pitchFamily="18" charset="0"/>
                <a:ea typeface="Tahoma" pitchFamily="34" charset="0"/>
                <a:cs typeface="Times New Roman" pitchFamily="18" charset="0"/>
              </a:rPr>
              <a:t>(tối ưu)</a:t>
            </a:r>
          </a:p>
        </p:txBody>
      </p:sp>
      <p:pic>
        <p:nvPicPr>
          <p:cNvPr id="22" name="Picture 2">
            <a:extLst>
              <a:ext uri="{FF2B5EF4-FFF2-40B4-BE49-F238E27FC236}">
                <a16:creationId xmlns:a16="http://schemas.microsoft.com/office/drawing/2014/main" id="{B266B703-1405-CD8D-F3D9-206B535D62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588" y="5896185"/>
            <a:ext cx="2876550" cy="371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3" name="Rectangle 22">
            <a:extLst>
              <a:ext uri="{FF2B5EF4-FFF2-40B4-BE49-F238E27FC236}">
                <a16:creationId xmlns:a16="http://schemas.microsoft.com/office/drawing/2014/main" id="{9E61BA5F-7A82-0DBB-DF06-2007218247E0}"/>
              </a:ext>
            </a:extLst>
          </p:cNvPr>
          <p:cNvSpPr/>
          <p:nvPr/>
        </p:nvSpPr>
        <p:spPr>
          <a:xfrm>
            <a:off x="2288583" y="5900362"/>
            <a:ext cx="393054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222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- 3 biến (tt)</a:t>
            </a:r>
            <a:endParaRPr lang="en-US" dirty="0"/>
          </a:p>
        </p:txBody>
      </p:sp>
      <p:sp>
        <p:nvSpPr>
          <p:cNvPr id="7" name="Slide Number Placeholder 6"/>
          <p:cNvSpPr>
            <a:spLocks noGrp="1"/>
          </p:cNvSpPr>
          <p:nvPr>
            <p:ph type="sldNum" sz="quarter" idx="12"/>
          </p:nvPr>
        </p:nvSpPr>
        <p:spPr/>
        <p:txBody>
          <a:bodyPr/>
          <a:lstStyle/>
          <a:p>
            <a:fld id="{800C8475-47C1-49C9-BEE5-594F8CF4D71F}" type="slidenum">
              <a:rPr kumimoji="1" lang="ja-JP" altLang="en-US" smtClean="0"/>
              <a:pPr/>
              <a:t>41</a:t>
            </a:fld>
            <a:endParaRPr kumimoji="1" lang="ja-JP" alt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262064"/>
            <a:ext cx="8010525" cy="433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a:off x="2590800" y="6019801"/>
            <a:ext cx="2432076" cy="430887"/>
          </a:xfrm>
          <a:prstGeom prst="rect">
            <a:avLst/>
          </a:prstGeom>
          <a:noFill/>
        </p:spPr>
        <p:txBody>
          <a:bodyPr wrap="none" rtlCol="0">
            <a:spAutoFit/>
          </a:bodyPr>
          <a:lstStyle/>
          <a:p>
            <a:r>
              <a:rPr lang="en-US" sz="2200">
                <a:latin typeface="Times New Roman" pitchFamily="18" charset="0"/>
                <a:cs typeface="Times New Roman" pitchFamily="18" charset="0"/>
              </a:rPr>
              <a:t>Rút gọn chưa tối ưu</a:t>
            </a:r>
          </a:p>
        </p:txBody>
      </p:sp>
      <p:sp>
        <p:nvSpPr>
          <p:cNvPr id="8" name="TextBox 7"/>
          <p:cNvSpPr txBox="1"/>
          <p:nvPr/>
        </p:nvSpPr>
        <p:spPr>
          <a:xfrm>
            <a:off x="8153401" y="6021425"/>
            <a:ext cx="1888659" cy="430887"/>
          </a:xfrm>
          <a:prstGeom prst="rect">
            <a:avLst/>
          </a:prstGeom>
          <a:noFill/>
        </p:spPr>
        <p:txBody>
          <a:bodyPr wrap="none" rtlCol="0">
            <a:spAutoFit/>
          </a:bodyPr>
          <a:lstStyle/>
          <a:p>
            <a:r>
              <a:rPr lang="en-US" sz="2200">
                <a:latin typeface="Times New Roman" pitchFamily="18" charset="0"/>
                <a:cs typeface="Times New Roman" pitchFamily="18" charset="0"/>
              </a:rPr>
              <a:t>Rút gọn tối ưu</a:t>
            </a:r>
          </a:p>
        </p:txBody>
      </p:sp>
      <p:sp>
        <p:nvSpPr>
          <p:cNvPr id="9" name="TextBox 8"/>
          <p:cNvSpPr txBox="1"/>
          <p:nvPr/>
        </p:nvSpPr>
        <p:spPr>
          <a:xfrm>
            <a:off x="3836334" y="1246869"/>
            <a:ext cx="1186543" cy="553998"/>
          </a:xfrm>
          <a:prstGeom prst="rect">
            <a:avLst/>
          </a:prstGeom>
          <a:noFill/>
        </p:spPr>
        <p:txBody>
          <a:bodyPr wrap="none" rtlCol="0">
            <a:spAutoFit/>
          </a:bodyPr>
          <a:lstStyle/>
          <a:p>
            <a:r>
              <a:rPr lang="en-US" sz="3000" u="sng">
                <a:latin typeface="Tahoma" pitchFamily="34" charset="0"/>
                <a:ea typeface="Tahoma" pitchFamily="34" charset="0"/>
                <a:cs typeface="Tahoma" pitchFamily="34" charset="0"/>
              </a:rPr>
              <a:t>Ví dụ:</a:t>
            </a:r>
          </a:p>
        </p:txBody>
      </p:sp>
      <p:sp>
        <p:nvSpPr>
          <p:cNvPr id="4" name="TextBox 3"/>
          <p:cNvSpPr txBox="1"/>
          <p:nvPr/>
        </p:nvSpPr>
        <p:spPr>
          <a:xfrm>
            <a:off x="2590801" y="5607786"/>
            <a:ext cx="2327881" cy="461665"/>
          </a:xfrm>
          <a:prstGeom prst="rect">
            <a:avLst/>
          </a:prstGeom>
          <a:noFill/>
        </p:spPr>
        <p:txBody>
          <a:bodyPr wrap="none" rtlCol="0">
            <a:spAutoFit/>
          </a:bodyPr>
          <a:lstStyle/>
          <a:p>
            <a:r>
              <a:rPr lang="en-US" sz="2400">
                <a:latin typeface="Times New Roman" pitchFamily="18" charset="0"/>
                <a:cs typeface="Times New Roman" pitchFamily="18" charset="0"/>
              </a:rPr>
              <a:t>F = </a:t>
            </a:r>
            <a:r>
              <a:rPr lang="en-US" sz="2400">
                <a:solidFill>
                  <a:schemeClr val="accent3">
                    <a:lumMod val="75000"/>
                  </a:schemeClr>
                </a:solidFill>
                <a:latin typeface="Times New Roman" pitchFamily="18" charset="0"/>
                <a:cs typeface="Times New Roman" pitchFamily="18" charset="0"/>
              </a:rPr>
              <a:t>x’z </a:t>
            </a:r>
            <a:r>
              <a:rPr lang="en-US" sz="2400">
                <a:latin typeface="Times New Roman" pitchFamily="18" charset="0"/>
                <a:cs typeface="Times New Roman" pitchFamily="18" charset="0"/>
              </a:rPr>
              <a:t>+</a:t>
            </a:r>
            <a:r>
              <a:rPr lang="en-US" sz="2400">
                <a:solidFill>
                  <a:schemeClr val="accent3">
                    <a:lumMod val="75000"/>
                  </a:schemeClr>
                </a:solidFill>
                <a:latin typeface="Times New Roman" pitchFamily="18" charset="0"/>
                <a:cs typeface="Times New Roman" pitchFamily="18" charset="0"/>
              </a:rPr>
              <a:t> xy </a:t>
            </a:r>
            <a:r>
              <a:rPr lang="en-US" sz="2400">
                <a:latin typeface="Times New Roman" pitchFamily="18" charset="0"/>
                <a:cs typeface="Times New Roman" pitchFamily="18" charset="0"/>
              </a:rPr>
              <a:t>+ </a:t>
            </a:r>
            <a:r>
              <a:rPr lang="en-US" sz="2400">
                <a:solidFill>
                  <a:srgbClr val="FF0000"/>
                </a:solidFill>
                <a:latin typeface="Times New Roman" pitchFamily="18" charset="0"/>
                <a:cs typeface="Times New Roman" pitchFamily="18" charset="0"/>
              </a:rPr>
              <a:t>yz</a:t>
            </a:r>
          </a:p>
        </p:txBody>
      </p:sp>
      <p:sp>
        <p:nvSpPr>
          <p:cNvPr id="12" name="TextBox 11"/>
          <p:cNvSpPr txBox="1"/>
          <p:nvPr/>
        </p:nvSpPr>
        <p:spPr>
          <a:xfrm>
            <a:off x="8195276" y="5634336"/>
            <a:ext cx="1710725" cy="461665"/>
          </a:xfrm>
          <a:prstGeom prst="rect">
            <a:avLst/>
          </a:prstGeom>
          <a:noFill/>
        </p:spPr>
        <p:txBody>
          <a:bodyPr wrap="none" rtlCol="0">
            <a:spAutoFit/>
          </a:bodyPr>
          <a:lstStyle/>
          <a:p>
            <a:r>
              <a:rPr lang="en-US" sz="2400">
                <a:latin typeface="Times New Roman" pitchFamily="18" charset="0"/>
                <a:cs typeface="Times New Roman" pitchFamily="18" charset="0"/>
              </a:rPr>
              <a:t>F = </a:t>
            </a:r>
            <a:r>
              <a:rPr lang="en-US" sz="2400">
                <a:solidFill>
                  <a:schemeClr val="accent3">
                    <a:lumMod val="75000"/>
                  </a:schemeClr>
                </a:solidFill>
                <a:latin typeface="Times New Roman" pitchFamily="18" charset="0"/>
                <a:cs typeface="Times New Roman" pitchFamily="18" charset="0"/>
              </a:rPr>
              <a:t>x’z </a:t>
            </a:r>
            <a:r>
              <a:rPr lang="en-US" sz="2400">
                <a:latin typeface="Times New Roman" pitchFamily="18" charset="0"/>
                <a:cs typeface="Times New Roman" pitchFamily="18" charset="0"/>
              </a:rPr>
              <a:t>+</a:t>
            </a:r>
            <a:r>
              <a:rPr lang="en-US" sz="2400">
                <a:solidFill>
                  <a:schemeClr val="accent3">
                    <a:lumMod val="75000"/>
                  </a:schemeClr>
                </a:solidFill>
                <a:latin typeface="Times New Roman" pitchFamily="18" charset="0"/>
                <a:cs typeface="Times New Roman" pitchFamily="18" charset="0"/>
              </a:rPr>
              <a:t> xy</a:t>
            </a:r>
            <a:endParaRPr lang="en-US" sz="2400">
              <a:solidFill>
                <a:srgbClr val="FF0000"/>
              </a:solidFill>
              <a:latin typeface="Times New Roman" pitchFamily="18" charset="0"/>
              <a:cs typeface="Times New Roman" pitchFamily="18" charset="0"/>
            </a:endParaRPr>
          </a:p>
        </p:txBody>
      </p:sp>
      <p:sp>
        <p:nvSpPr>
          <p:cNvPr id="14" name="Rectangle 13"/>
          <p:cNvSpPr/>
          <p:nvPr/>
        </p:nvSpPr>
        <p:spPr>
          <a:xfrm>
            <a:off x="7654320" y="5616262"/>
            <a:ext cx="2556481" cy="4100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17229" y="1404938"/>
            <a:ext cx="3200400" cy="46213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47E389-1AE2-BCA7-5B31-07246CDD8789}"/>
              </a:ext>
            </a:extLst>
          </p:cNvPr>
          <p:cNvSpPr txBox="1"/>
          <p:nvPr/>
        </p:nvSpPr>
        <p:spPr>
          <a:xfrm>
            <a:off x="8186285" y="5595423"/>
            <a:ext cx="1710725" cy="461665"/>
          </a:xfrm>
          <a:prstGeom prst="rect">
            <a:avLst/>
          </a:prstGeom>
          <a:noFill/>
        </p:spPr>
        <p:txBody>
          <a:bodyPr wrap="none" rtlCol="0">
            <a:spAutoFit/>
          </a:bodyPr>
          <a:lstStyle/>
          <a:p>
            <a:r>
              <a:rPr lang="en-US" sz="2400">
                <a:latin typeface="Times New Roman" pitchFamily="18" charset="0"/>
                <a:cs typeface="Times New Roman" pitchFamily="18" charset="0"/>
              </a:rPr>
              <a:t>F = </a:t>
            </a:r>
            <a:r>
              <a:rPr lang="en-US" sz="2400">
                <a:solidFill>
                  <a:schemeClr val="accent3">
                    <a:lumMod val="75000"/>
                  </a:schemeClr>
                </a:solidFill>
                <a:latin typeface="Times New Roman" pitchFamily="18" charset="0"/>
                <a:cs typeface="Times New Roman" pitchFamily="18" charset="0"/>
              </a:rPr>
              <a:t>x’z </a:t>
            </a:r>
            <a:r>
              <a:rPr lang="en-US" sz="2400">
                <a:latin typeface="Times New Roman" pitchFamily="18" charset="0"/>
                <a:cs typeface="Times New Roman" pitchFamily="18" charset="0"/>
              </a:rPr>
              <a:t>+</a:t>
            </a:r>
            <a:r>
              <a:rPr lang="en-US" sz="2400">
                <a:solidFill>
                  <a:schemeClr val="accent3">
                    <a:lumMod val="75000"/>
                  </a:schemeClr>
                </a:solidFill>
                <a:latin typeface="Times New Roman" pitchFamily="18" charset="0"/>
                <a:cs typeface="Times New Roman" pitchFamily="18" charset="0"/>
              </a:rPr>
              <a:t> xy</a:t>
            </a:r>
            <a:endParaRPr lang="en-US" sz="2400">
              <a:solidFill>
                <a:srgbClr val="FF0000"/>
              </a:solidFill>
              <a:latin typeface="Times New Roman" pitchFamily="18" charset="0"/>
              <a:cs typeface="Times New Roman" pitchFamily="18" charset="0"/>
            </a:endParaRPr>
          </a:p>
        </p:txBody>
      </p:sp>
      <p:sp>
        <p:nvSpPr>
          <p:cNvPr id="15" name="Footer Placeholder 4">
            <a:extLst>
              <a:ext uri="{FF2B5EF4-FFF2-40B4-BE49-F238E27FC236}">
                <a16:creationId xmlns:a16="http://schemas.microsoft.com/office/drawing/2014/main" id="{8E92DA27-D7D9-D6D6-84CC-343C79EDD47E}"/>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4" grpId="0"/>
      <p:bldP spid="11" grpId="0" animBg="1"/>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- 3 biến (tt)</a:t>
            </a:r>
            <a:endParaRPr 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42</a:t>
            </a:fld>
            <a:endParaRPr kumimoji="1" lang="ja-JP" altLang="en-US"/>
          </a:p>
        </p:txBody>
      </p:sp>
      <p:pic>
        <p:nvPicPr>
          <p:cNvPr id="107522" name="Picture 2"/>
          <p:cNvPicPr>
            <a:picLocks noChangeAspect="1" noChangeArrowheads="1"/>
          </p:cNvPicPr>
          <p:nvPr/>
        </p:nvPicPr>
        <p:blipFill>
          <a:blip r:embed="rId3" cstate="print"/>
          <a:srcRect/>
          <a:stretch>
            <a:fillRect/>
          </a:stretch>
        </p:blipFill>
        <p:spPr bwMode="auto">
          <a:xfrm>
            <a:off x="1981200" y="1295400"/>
            <a:ext cx="7931070" cy="4953000"/>
          </a:xfrm>
          <a:prstGeom prst="rect">
            <a:avLst/>
          </a:prstGeom>
          <a:noFill/>
          <a:ln w="9525">
            <a:noFill/>
            <a:miter lim="800000"/>
            <a:headEnd/>
            <a:tailEnd/>
          </a:ln>
        </p:spPr>
      </p:pic>
      <p:sp>
        <p:nvSpPr>
          <p:cNvPr id="6" name="TextBox 5"/>
          <p:cNvSpPr txBox="1"/>
          <p:nvPr/>
        </p:nvSpPr>
        <p:spPr>
          <a:xfrm>
            <a:off x="3836334" y="1246869"/>
            <a:ext cx="1186543" cy="553998"/>
          </a:xfrm>
          <a:prstGeom prst="rect">
            <a:avLst/>
          </a:prstGeom>
          <a:noFill/>
        </p:spPr>
        <p:txBody>
          <a:bodyPr wrap="none" rtlCol="0">
            <a:spAutoFit/>
          </a:bodyPr>
          <a:lstStyle/>
          <a:p>
            <a:r>
              <a:rPr lang="en-US" sz="3000" u="sng">
                <a:latin typeface="Tahoma" pitchFamily="34" charset="0"/>
                <a:ea typeface="Tahoma" pitchFamily="34" charset="0"/>
                <a:cs typeface="Tahoma" pitchFamily="34" charset="0"/>
              </a:rPr>
              <a:t>Ví dụ:</a:t>
            </a:r>
          </a:p>
        </p:txBody>
      </p:sp>
      <p:sp>
        <p:nvSpPr>
          <p:cNvPr id="7" name="Rectangle 6"/>
          <p:cNvSpPr/>
          <p:nvPr/>
        </p:nvSpPr>
        <p:spPr>
          <a:xfrm>
            <a:off x="4429604" y="5820229"/>
            <a:ext cx="1742596"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324600" y="5820229"/>
            <a:ext cx="1971196"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239000" y="1557338"/>
            <a:ext cx="3200400" cy="42338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4">
            <a:extLst>
              <a:ext uri="{FF2B5EF4-FFF2-40B4-BE49-F238E27FC236}">
                <a16:creationId xmlns:a16="http://schemas.microsoft.com/office/drawing/2014/main" id="{EF38430E-FC11-6C44-D379-4AD097BC872C}"/>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- 4 biến</a:t>
            </a:r>
            <a:endParaRPr 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43</a:t>
            </a:fld>
            <a:endParaRPr kumimoji="1" lang="ja-JP" altLang="en-US"/>
          </a:p>
        </p:txBody>
      </p:sp>
      <p:grpSp>
        <p:nvGrpSpPr>
          <p:cNvPr id="7" name="Group 6"/>
          <p:cNvGrpSpPr/>
          <p:nvPr/>
        </p:nvGrpSpPr>
        <p:grpSpPr>
          <a:xfrm>
            <a:off x="6334126" y="1374401"/>
            <a:ext cx="4410075" cy="4352925"/>
            <a:chOff x="4733925" y="1880235"/>
            <a:chExt cx="4410075" cy="4352925"/>
          </a:xfrm>
        </p:grpSpPr>
        <p:pic>
          <p:nvPicPr>
            <p:cNvPr id="8" name="Picture 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3925" y="1880235"/>
              <a:ext cx="4410075" cy="43529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Rounded Rectangle 8"/>
            <p:cNvSpPr/>
            <p:nvPr/>
          </p:nvSpPr>
          <p:spPr>
            <a:xfrm>
              <a:off x="7453532" y="4543864"/>
              <a:ext cx="1371600" cy="136456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484012" y="4937760"/>
              <a:ext cx="640556" cy="2644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180173" y="4958859"/>
              <a:ext cx="605481" cy="2186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1" y="1399165"/>
            <a:ext cx="4238625" cy="4724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ight Arrow 12"/>
          <p:cNvSpPr/>
          <p:nvPr/>
        </p:nvSpPr>
        <p:spPr>
          <a:xfrm>
            <a:off x="5684520" y="3521334"/>
            <a:ext cx="1468754" cy="838200"/>
          </a:xfrm>
          <a:prstGeom prst="rightArrow">
            <a:avLst/>
          </a:prstGeom>
          <a:solidFill>
            <a:srgbClr val="A4CA3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itchFamily="18" charset="0"/>
                <a:cs typeface="Times New Roman" pitchFamily="18" charset="0"/>
              </a:rPr>
              <a:t>Simplify</a:t>
            </a:r>
          </a:p>
        </p:txBody>
      </p:sp>
      <p:sp>
        <p:nvSpPr>
          <p:cNvPr id="14" name="TextBox 13"/>
          <p:cNvSpPr txBox="1"/>
          <p:nvPr/>
        </p:nvSpPr>
        <p:spPr>
          <a:xfrm>
            <a:off x="7391401" y="1050550"/>
            <a:ext cx="2704055" cy="461665"/>
          </a:xfrm>
          <a:prstGeom prst="rect">
            <a:avLst/>
          </a:prstGeom>
          <a:noFill/>
        </p:spPr>
        <p:txBody>
          <a:bodyPr wrap="square" rtlCol="0">
            <a:spAutoFit/>
          </a:bodyPr>
          <a:lstStyle/>
          <a:p>
            <a:pPr algn="ctr"/>
            <a:r>
              <a:rPr lang="en-US" sz="2400" dirty="0">
                <a:latin typeface="Tahoma" pitchFamily="34" charset="0"/>
                <a:ea typeface="Tahoma" pitchFamily="34" charset="0"/>
                <a:cs typeface="Tahoma" pitchFamily="34" charset="0"/>
              </a:rPr>
              <a:t>F = </a:t>
            </a:r>
            <a:r>
              <a:rPr lang="en-US" sz="2400" dirty="0">
                <a:solidFill>
                  <a:srgbClr val="FF0000"/>
                </a:solidFill>
                <a:latin typeface="Tahoma" pitchFamily="34" charset="0"/>
                <a:ea typeface="Tahoma" pitchFamily="34" charset="0"/>
                <a:cs typeface="Tahoma" pitchFamily="34" charset="0"/>
              </a:rPr>
              <a:t>ac</a:t>
            </a:r>
            <a:r>
              <a:rPr lang="en-US" sz="2400" dirty="0">
                <a:latin typeface="Tahoma" pitchFamily="34" charset="0"/>
                <a:ea typeface="Tahoma" pitchFamily="34" charset="0"/>
                <a:cs typeface="Tahoma" pitchFamily="34" charset="0"/>
              </a:rPr>
              <a:t> + </a:t>
            </a:r>
            <a:r>
              <a:rPr lang="en-US" sz="2400" dirty="0" err="1">
                <a:solidFill>
                  <a:srgbClr val="7030A0"/>
                </a:solidFill>
                <a:latin typeface="Tahoma" pitchFamily="34" charset="0"/>
                <a:ea typeface="Tahoma" pitchFamily="34" charset="0"/>
                <a:cs typeface="Tahoma" pitchFamily="34" charset="0"/>
              </a:rPr>
              <a:t>a’b</a:t>
            </a:r>
            <a:r>
              <a:rPr lang="en-US" sz="2400" dirty="0">
                <a:latin typeface="Tahoma" pitchFamily="34" charset="0"/>
                <a:ea typeface="Tahoma" pitchFamily="34" charset="0"/>
                <a:cs typeface="Tahoma" pitchFamily="34" charset="0"/>
              </a:rPr>
              <a:t> + </a:t>
            </a:r>
            <a:r>
              <a:rPr lang="en-US" sz="2400" dirty="0">
                <a:solidFill>
                  <a:srgbClr val="92D050"/>
                </a:solidFill>
                <a:latin typeface="Tahoma" pitchFamily="34" charset="0"/>
                <a:ea typeface="Tahoma" pitchFamily="34" charset="0"/>
                <a:cs typeface="Tahoma" pitchFamily="34" charset="0"/>
              </a:rPr>
              <a:t>d’</a:t>
            </a:r>
          </a:p>
        </p:txBody>
      </p:sp>
      <p:sp>
        <p:nvSpPr>
          <p:cNvPr id="15" name="Rectangle 14"/>
          <p:cNvSpPr/>
          <p:nvPr/>
        </p:nvSpPr>
        <p:spPr>
          <a:xfrm>
            <a:off x="8153400" y="1055992"/>
            <a:ext cx="190294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255F4899-7C5E-6C95-E7BE-A4D09A21FF31}"/>
              </a:ext>
            </a:extLst>
          </p:cNvPr>
          <p:cNvSpPr>
            <a:spLocks noGrp="1"/>
          </p:cNvSpPr>
          <p:nvPr>
            <p:ph type="ftr" sz="quarter" idx="11"/>
          </p:nvPr>
        </p:nvSpPr>
        <p:spPr>
          <a:xfrm>
            <a:off x="774146" y="6475620"/>
            <a:ext cx="4311788" cy="263110"/>
          </a:xfrm>
        </p:spPr>
        <p:txBody>
          <a:bodyPr/>
          <a:lstStyle/>
          <a:p>
            <a:r>
              <a:rPr lang="vi-VN"/>
              <a:t>Thực hiện bởi Trường Đại học Công nghệ Thông tin, ĐHQG-HCM</a:t>
            </a:r>
            <a:endParaRPr lang="en-V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dirty="0"/>
              <a:t>Ph</a:t>
            </a:r>
            <a:r>
              <a:rPr lang="vi-VN" sz="4000" dirty="0"/>
              <a:t>ư</a:t>
            </a:r>
            <a:r>
              <a:rPr lang="en-US" sz="4000" err="1"/>
              <a:t>ơng</a:t>
            </a:r>
            <a:r>
              <a:rPr lang="en-US" sz="4000"/>
              <a:t> pháp rút gọn dùng bìa Karnaugh</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pPr lvl="0"/>
            <a:r>
              <a:rPr lang="vi-VN"/>
              <a:t>Bước 1: Vẽ bìa Karnaugh gồm 2</a:t>
            </a:r>
            <a:r>
              <a:rPr lang="vi-VN" baseline="30000"/>
              <a:t>n</a:t>
            </a:r>
            <a:r>
              <a:rPr lang="vi-VN"/>
              <a:t> ô có hàm logic có n biến ngõ vào</a:t>
            </a:r>
          </a:p>
          <a:p>
            <a:pPr lvl="0"/>
            <a:r>
              <a:rPr lang="vi-VN"/>
              <a:t>Bước 2: Đặt giá trị ngõ vào và ngõ ra lên bìa Karnaugh</a:t>
            </a:r>
          </a:p>
          <a:p>
            <a:pPr lvl="1"/>
            <a:r>
              <a:rPr lang="vi-VN"/>
              <a:t>Giá trị ngõ vào giữa 2 ô liên tiếp chỉ được khác nhau một bit.</a:t>
            </a:r>
          </a:p>
          <a:p>
            <a:pPr lvl="1"/>
            <a:r>
              <a:rPr lang="vi-VN"/>
              <a:t>Giá trị ngõ ra đặt trong ô tương ứng với giá trị ngõ vào. Cần lưu ý trọng số của mỗi biến ngõ vào để đảm bảo giá trị ngõ ra được đặt đúng.</a:t>
            </a:r>
            <a:endParaRPr lang="vi-VN" dirty="0" err="1"/>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44</a:t>
            </a:fld>
            <a:endParaRPr lang="en-VN" dirty="0"/>
          </a:p>
        </p:txBody>
      </p:sp>
    </p:spTree>
    <p:extLst>
      <p:ext uri="{BB962C8B-B14F-4D97-AF65-F5344CB8AC3E}">
        <p14:creationId xmlns:p14="http://schemas.microsoft.com/office/powerpoint/2010/main" val="682761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dirty="0"/>
              <a:t>Ph</a:t>
            </a:r>
            <a:r>
              <a:rPr lang="vi-VN" sz="4000" dirty="0"/>
              <a:t>ư</a:t>
            </a:r>
            <a:r>
              <a:rPr lang="en-US" sz="4000" err="1"/>
              <a:t>ơng</a:t>
            </a:r>
            <a:r>
              <a:rPr lang="en-US" sz="4000"/>
              <a:t> pháp rút gọn dung bìa Karnaugh (tt)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674176" y="1195821"/>
            <a:ext cx="11174278" cy="5160527"/>
          </a:xfrm>
        </p:spPr>
        <p:txBody>
          <a:bodyPr>
            <a:noAutofit/>
          </a:bodyPr>
          <a:lstStyle/>
          <a:p>
            <a:pPr lvl="0">
              <a:lnSpc>
                <a:spcPct val="100000"/>
              </a:lnSpc>
            </a:pPr>
            <a:r>
              <a:rPr lang="vi-VN"/>
              <a:t>Bước 3: Gom nhóm</a:t>
            </a:r>
          </a:p>
          <a:p>
            <a:pPr lvl="1">
              <a:lnSpc>
                <a:spcPct val="100000"/>
              </a:lnSpc>
            </a:pPr>
            <a:r>
              <a:rPr lang="vi-VN"/>
              <a:t>Gom nhóm các ô liên kề nhau có giá trị ngõ ra giống nhau. Các ô được xem là liền kề nhau khi ngõ vào của nó chỉ khác nhau 1 bit. Có 2 phương pháp:</a:t>
            </a:r>
          </a:p>
          <a:p>
            <a:pPr lvl="2">
              <a:lnSpc>
                <a:spcPct val="100000"/>
              </a:lnSpc>
            </a:pPr>
            <a:r>
              <a:rPr lang="vi-VN"/>
              <a:t>Gom nhóm theo Minterm: gom nhóm các ô có giá trị “1”</a:t>
            </a:r>
          </a:p>
          <a:p>
            <a:pPr lvl="2">
              <a:lnSpc>
                <a:spcPct val="100000"/>
              </a:lnSpc>
            </a:pPr>
            <a:r>
              <a:rPr lang="vi-VN"/>
              <a:t>Gom nhóm theo Maxterm: gom nhóm các ô có giá trị “0”</a:t>
            </a:r>
          </a:p>
          <a:p>
            <a:pPr lvl="1">
              <a:lnSpc>
                <a:spcPct val="100000"/>
              </a:lnSpc>
            </a:pPr>
            <a:r>
              <a:rPr lang="vi-VN"/>
              <a:t>Mỗi nhóm có thể có 2</a:t>
            </a:r>
            <a:r>
              <a:rPr lang="vi-VN" baseline="30000"/>
              <a:t>i </a:t>
            </a:r>
            <a:r>
              <a:rPr lang="vi-VN"/>
              <a:t>ô (16, 8, 4, 2, 1 ô tương ứng với i là 4, 3, 2, 1, 0)</a:t>
            </a:r>
          </a:p>
          <a:p>
            <a:pPr lvl="1">
              <a:lnSpc>
                <a:spcPct val="100000"/>
              </a:lnSpc>
            </a:pPr>
            <a:r>
              <a:rPr lang="vi-VN"/>
              <a:t>Nhóm có khả năng gom nhóm lớn hơn cần được ưu tiên thực hiện trước. Một ô có thể được gom bởi nhiều nhóm khác nhau.</a:t>
            </a:r>
          </a:p>
          <a:p>
            <a:pPr lvl="1">
              <a:lnSpc>
                <a:spcPct val="100000"/>
              </a:lnSpc>
            </a:pPr>
            <a:r>
              <a:rPr lang="vi-VN"/>
              <a:t>Gom nhóm kết thúc khi tất cả các giá trị “1” trong bìa Karnaugh đã được gom (theo Minterm), hoặc các giá trị “0” trong bìa đã được gom (theo Maxterm)</a:t>
            </a:r>
            <a:endParaRPr lang="vi-VN" dirty="0" err="1"/>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45</a:t>
            </a:fld>
            <a:endParaRPr lang="en-VN" dirty="0"/>
          </a:p>
        </p:txBody>
      </p:sp>
    </p:spTree>
    <p:extLst>
      <p:ext uri="{BB962C8B-B14F-4D97-AF65-F5344CB8AC3E}">
        <p14:creationId xmlns:p14="http://schemas.microsoft.com/office/powerpoint/2010/main" val="2539945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dirty="0"/>
              <a:t>Ph</a:t>
            </a:r>
            <a:r>
              <a:rPr lang="vi-VN" sz="4000" dirty="0"/>
              <a:t>ư</a:t>
            </a:r>
            <a:r>
              <a:rPr lang="en-US" sz="4000" err="1"/>
              <a:t>ơng</a:t>
            </a:r>
            <a:r>
              <a:rPr lang="en-US" sz="4000"/>
              <a:t> pháp rút gọn dung bìa Karnaugh (tt)</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674176" y="1195821"/>
            <a:ext cx="11174278" cy="5160527"/>
          </a:xfrm>
        </p:spPr>
        <p:txBody>
          <a:bodyPr>
            <a:noAutofit/>
          </a:bodyPr>
          <a:lstStyle/>
          <a:p>
            <a:pPr lvl="0">
              <a:lnSpc>
                <a:spcPct val="100000"/>
              </a:lnSpc>
            </a:pPr>
            <a:r>
              <a:rPr lang="vi-VN"/>
              <a:t>Bước 4: Rút gọn biểu thức</a:t>
            </a:r>
          </a:p>
          <a:p>
            <a:pPr lvl="1">
              <a:lnSpc>
                <a:spcPct val="100000"/>
              </a:lnSpc>
            </a:pPr>
            <a:r>
              <a:rPr lang="vi-VN"/>
              <a:t>Nhóm có 2</a:t>
            </a:r>
            <a:r>
              <a:rPr lang="vi-VN" baseline="30000"/>
              <a:t>n</a:t>
            </a:r>
            <a:r>
              <a:rPr lang="vi-VN"/>
              <a:t> ô liền kề nhau sẽ rút gọn được n biến.</a:t>
            </a:r>
          </a:p>
          <a:p>
            <a:pPr lvl="1">
              <a:lnSpc>
                <a:spcPct val="100000"/>
              </a:lnSpc>
            </a:pPr>
            <a:r>
              <a:rPr lang="vi-VN"/>
              <a:t>Mỗi một nhóm sẽ được biểu diễn thành một term của biểu thức rút gọn (theo Minterm hoặc Maxterm)</a:t>
            </a:r>
          </a:p>
          <a:p>
            <a:pPr lvl="1">
              <a:lnSpc>
                <a:spcPct val="100000"/>
              </a:lnSpc>
            </a:pPr>
            <a:r>
              <a:rPr lang="vi-VN"/>
              <a:t>Trong một nhóm, nếu biến ngõ vào nào thay đổi thì được bỏ đi khỏi term đó, nếu biến ngõ vào nào giữ nguyên thì sẽ được giữ lại trong term đó, theo quy tắc:</a:t>
            </a:r>
          </a:p>
          <a:p>
            <a:pPr lvl="2">
              <a:lnSpc>
                <a:spcPct val="100000"/>
              </a:lnSpc>
            </a:pPr>
            <a:r>
              <a:rPr lang="vi-VN"/>
              <a:t>Nếu trong bước 3 gom nhóm theo Minterm: biến ngõ vào giữ nguyên nếu nó mang giá trị “1”, biến ngõ vào mang dấu bù nếu nó mang giá trị “0”.</a:t>
            </a:r>
          </a:p>
          <a:p>
            <a:pPr lvl="2">
              <a:lnSpc>
                <a:spcPct val="100000"/>
              </a:lnSpc>
            </a:pPr>
            <a:r>
              <a:rPr lang="vi-VN"/>
              <a:t>Nếu trong bước 3 gom nhóm theo Maxterm: biến ngõ vào giữ nguyên nếu nó mang giá trị “0”, biến ngõ vào mang dấu bù nếu nó mang giá trị “1”.</a:t>
            </a:r>
          </a:p>
          <a:p>
            <a:pPr lvl="0">
              <a:lnSpc>
                <a:spcPct val="100000"/>
              </a:lnSpc>
            </a:pPr>
            <a:endParaRPr lang="vi-VN"/>
          </a:p>
          <a:p>
            <a:pPr lvl="0">
              <a:lnSpc>
                <a:spcPct val="100000"/>
              </a:lnSpc>
            </a:pPr>
            <a:endParaRPr lang="vi-VN"/>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Tree>
    <p:extLst>
      <p:ext uri="{BB962C8B-B14F-4D97-AF65-F5344CB8AC3E}">
        <p14:creationId xmlns:p14="http://schemas.microsoft.com/office/powerpoint/2010/main" val="2185471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sz="4000" dirty="0"/>
              <a:t>Ph</a:t>
            </a:r>
            <a:r>
              <a:rPr lang="vi-VN" sz="4000" dirty="0"/>
              <a:t>ư</a:t>
            </a:r>
            <a:r>
              <a:rPr lang="en-US" sz="4000" err="1"/>
              <a:t>ơng</a:t>
            </a:r>
            <a:r>
              <a:rPr lang="en-US" sz="4000"/>
              <a:t> pháp rút gọn dung bìa Karnaugh - ví dụ</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47</a:t>
            </a:fld>
            <a:endParaRPr lang="en-VN" dirty="0"/>
          </a:p>
        </p:txBody>
      </p:sp>
      <p:pic>
        <p:nvPicPr>
          <p:cNvPr id="8" name="Picture 3">
            <a:extLst>
              <a:ext uri="{FF2B5EF4-FFF2-40B4-BE49-F238E27FC236}">
                <a16:creationId xmlns:a16="http://schemas.microsoft.com/office/drawing/2014/main" id="{E9A5F3F7-7F28-66E0-8949-5289749AE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603" y="1597233"/>
            <a:ext cx="1209675" cy="2962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5C83994E-85B0-7147-5337-033B3D621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6117" y="1173371"/>
            <a:ext cx="2563461" cy="3462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5">
            <a:extLst>
              <a:ext uri="{FF2B5EF4-FFF2-40B4-BE49-F238E27FC236}">
                <a16:creationId xmlns:a16="http://schemas.microsoft.com/office/drawing/2014/main" id="{F13C03CF-4EC2-BD16-8EED-8AF53F84F1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6278" y="4837318"/>
            <a:ext cx="3790950" cy="33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 name="Picture 6">
            <a:extLst>
              <a:ext uri="{FF2B5EF4-FFF2-40B4-BE49-F238E27FC236}">
                <a16:creationId xmlns:a16="http://schemas.microsoft.com/office/drawing/2014/main" id="{FC070D0E-7CD5-1377-A1F7-DC66BB49EE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0678" y="5448508"/>
            <a:ext cx="381000" cy="48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 name="Picture 7">
            <a:extLst>
              <a:ext uri="{FF2B5EF4-FFF2-40B4-BE49-F238E27FC236}">
                <a16:creationId xmlns:a16="http://schemas.microsoft.com/office/drawing/2014/main" id="{6191367F-5683-A39D-D9BD-1C5083450D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4079" y="5486608"/>
            <a:ext cx="2685612" cy="349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 name="Picture 8">
            <a:extLst>
              <a:ext uri="{FF2B5EF4-FFF2-40B4-BE49-F238E27FC236}">
                <a16:creationId xmlns:a16="http://schemas.microsoft.com/office/drawing/2014/main" id="{9173A726-E883-D614-38A3-8704577707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7657" y="5912058"/>
            <a:ext cx="1922821"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4" name="TextBox 13">
            <a:extLst>
              <a:ext uri="{FF2B5EF4-FFF2-40B4-BE49-F238E27FC236}">
                <a16:creationId xmlns:a16="http://schemas.microsoft.com/office/drawing/2014/main" id="{1EFA62E7-75B5-D032-BB22-F27221E5197A}"/>
              </a:ext>
            </a:extLst>
          </p:cNvPr>
          <p:cNvSpPr txBox="1"/>
          <p:nvPr/>
        </p:nvSpPr>
        <p:spPr>
          <a:xfrm>
            <a:off x="4425135" y="1198771"/>
            <a:ext cx="1186543" cy="553998"/>
          </a:xfrm>
          <a:prstGeom prst="rect">
            <a:avLst/>
          </a:prstGeom>
          <a:noFill/>
        </p:spPr>
        <p:txBody>
          <a:bodyPr wrap="square" rtlCol="0">
            <a:spAutoFit/>
          </a:bodyPr>
          <a:lstStyle/>
          <a:p>
            <a:r>
              <a:rPr lang="en-US" sz="3000" u="sng">
                <a:latin typeface="Tahoma" pitchFamily="34" charset="0"/>
                <a:ea typeface="Tahoma" pitchFamily="34" charset="0"/>
                <a:cs typeface="Tahoma" pitchFamily="34" charset="0"/>
              </a:rPr>
              <a:t>Ví dụ:</a:t>
            </a:r>
          </a:p>
        </p:txBody>
      </p:sp>
      <p:sp>
        <p:nvSpPr>
          <p:cNvPr id="15" name="TextBox 14">
            <a:extLst>
              <a:ext uri="{FF2B5EF4-FFF2-40B4-BE49-F238E27FC236}">
                <a16:creationId xmlns:a16="http://schemas.microsoft.com/office/drawing/2014/main" id="{93750EBE-4FE9-698D-3C03-DD0D2C192868}"/>
              </a:ext>
            </a:extLst>
          </p:cNvPr>
          <p:cNvSpPr txBox="1"/>
          <p:nvPr/>
        </p:nvSpPr>
        <p:spPr>
          <a:xfrm>
            <a:off x="8354878" y="5424021"/>
            <a:ext cx="1649811" cy="430887"/>
          </a:xfrm>
          <a:prstGeom prst="rect">
            <a:avLst/>
          </a:prstGeom>
          <a:noFill/>
        </p:spPr>
        <p:txBody>
          <a:bodyPr wrap="square" rtlCol="0">
            <a:spAutoFit/>
          </a:bodyPr>
          <a:lstStyle/>
          <a:p>
            <a:r>
              <a:rPr lang="en-US" sz="2200">
                <a:latin typeface="Times New Roman" pitchFamily="18" charset="0"/>
                <a:ea typeface="Tahoma" pitchFamily="34" charset="0"/>
                <a:cs typeface="Times New Roman" pitchFamily="18" charset="0"/>
              </a:rPr>
              <a:t>(chưa tối ưu)</a:t>
            </a:r>
          </a:p>
        </p:txBody>
      </p:sp>
      <p:sp>
        <p:nvSpPr>
          <p:cNvPr id="16" name="TextBox 15">
            <a:extLst>
              <a:ext uri="{FF2B5EF4-FFF2-40B4-BE49-F238E27FC236}">
                <a16:creationId xmlns:a16="http://schemas.microsoft.com/office/drawing/2014/main" id="{472B6B4D-1648-CF45-3C82-7982E0602BE1}"/>
              </a:ext>
            </a:extLst>
          </p:cNvPr>
          <p:cNvSpPr txBox="1"/>
          <p:nvPr/>
        </p:nvSpPr>
        <p:spPr>
          <a:xfrm>
            <a:off x="8354878" y="5862171"/>
            <a:ext cx="1035861" cy="430887"/>
          </a:xfrm>
          <a:prstGeom prst="rect">
            <a:avLst/>
          </a:prstGeom>
          <a:noFill/>
        </p:spPr>
        <p:txBody>
          <a:bodyPr wrap="square" rtlCol="0">
            <a:spAutoFit/>
          </a:bodyPr>
          <a:lstStyle/>
          <a:p>
            <a:r>
              <a:rPr lang="en-US" sz="2200">
                <a:latin typeface="Times New Roman" pitchFamily="18" charset="0"/>
                <a:ea typeface="Tahoma" pitchFamily="34" charset="0"/>
                <a:cs typeface="Times New Roman" pitchFamily="18" charset="0"/>
              </a:rPr>
              <a:t>(tối ưu)</a:t>
            </a:r>
          </a:p>
        </p:txBody>
      </p:sp>
      <p:sp>
        <p:nvSpPr>
          <p:cNvPr id="17" name="TextBox 16">
            <a:extLst>
              <a:ext uri="{FF2B5EF4-FFF2-40B4-BE49-F238E27FC236}">
                <a16:creationId xmlns:a16="http://schemas.microsoft.com/office/drawing/2014/main" id="{E9945489-A57D-B18E-79A4-957EC3301AF3}"/>
              </a:ext>
            </a:extLst>
          </p:cNvPr>
          <p:cNvSpPr txBox="1"/>
          <p:nvPr/>
        </p:nvSpPr>
        <p:spPr>
          <a:xfrm>
            <a:off x="8304672" y="4711908"/>
            <a:ext cx="1039067" cy="430887"/>
          </a:xfrm>
          <a:prstGeom prst="rect">
            <a:avLst/>
          </a:prstGeom>
          <a:noFill/>
        </p:spPr>
        <p:txBody>
          <a:bodyPr wrap="square" rtlCol="0">
            <a:spAutoFit/>
          </a:bodyPr>
          <a:lstStyle/>
          <a:p>
            <a:r>
              <a:rPr lang="en-US" sz="2200">
                <a:latin typeface="Times New Roman" pitchFamily="18" charset="0"/>
                <a:ea typeface="Tahoma" pitchFamily="34" charset="0"/>
                <a:cs typeface="Times New Roman" pitchFamily="18" charset="0"/>
              </a:rPr>
              <a:t>(đại số)</a:t>
            </a:r>
          </a:p>
        </p:txBody>
      </p:sp>
      <p:pic>
        <p:nvPicPr>
          <p:cNvPr id="18" name="Picture 2">
            <a:extLst>
              <a:ext uri="{FF2B5EF4-FFF2-40B4-BE49-F238E27FC236}">
                <a16:creationId xmlns:a16="http://schemas.microsoft.com/office/drawing/2014/main" id="{40F52D03-D0A4-99EE-C48B-F396B3F674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4053" y="1573420"/>
            <a:ext cx="1876425" cy="3009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19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1000"/>
                                        <p:tgtEl>
                                          <p:spTgt spid="15"/>
                                        </p:tgtEl>
                                      </p:cBhvr>
                                    </p:animEffect>
                                    <p:anim calcmode="lin" valueType="num">
                                      <p:cBhvr>
                                        <p:cTn id="49" dur="1000" fill="hold"/>
                                        <p:tgtEl>
                                          <p:spTgt spid="15"/>
                                        </p:tgtEl>
                                        <p:attrNameLst>
                                          <p:attrName>ppt_x</p:attrName>
                                        </p:attrNameLst>
                                      </p:cBhvr>
                                      <p:tavLst>
                                        <p:tav tm="0">
                                          <p:val>
                                            <p:strVal val="#ppt_x"/>
                                          </p:val>
                                        </p:tav>
                                        <p:tav tm="100000">
                                          <p:val>
                                            <p:strVal val="#ppt_x"/>
                                          </p:val>
                                        </p:tav>
                                      </p:tavLst>
                                    </p:anim>
                                    <p:anim calcmode="lin" valueType="num">
                                      <p:cBhvr>
                                        <p:cTn id="5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1000"/>
                                        <p:tgtEl>
                                          <p:spTgt spid="13"/>
                                        </p:tgtEl>
                                      </p:cBhvr>
                                    </p:animEffect>
                                    <p:anim calcmode="lin" valueType="num">
                                      <p:cBhvr>
                                        <p:cTn id="56" dur="1000" fill="hold"/>
                                        <p:tgtEl>
                                          <p:spTgt spid="13"/>
                                        </p:tgtEl>
                                        <p:attrNameLst>
                                          <p:attrName>ppt_x</p:attrName>
                                        </p:attrNameLst>
                                      </p:cBhvr>
                                      <p:tavLst>
                                        <p:tav tm="0">
                                          <p:val>
                                            <p:strVal val="#ppt_x"/>
                                          </p:val>
                                        </p:tav>
                                        <p:tav tm="100000">
                                          <p:val>
                                            <p:strVal val="#ppt_x"/>
                                          </p:val>
                                        </p:tav>
                                      </p:tavLst>
                                    </p:anim>
                                    <p:anim calcmode="lin" valueType="num">
                                      <p:cBhvr>
                                        <p:cTn id="57" dur="1000" fill="hold"/>
                                        <p:tgtEl>
                                          <p:spTgt spid="1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0"/>
                                        <p:tgtEl>
                                          <p:spTgt spid="16"/>
                                        </p:tgtEl>
                                      </p:cBhvr>
                                    </p:animEffect>
                                    <p:anim calcmode="lin" valueType="num">
                                      <p:cBhvr>
                                        <p:cTn id="61" dur="1000" fill="hold"/>
                                        <p:tgtEl>
                                          <p:spTgt spid="16"/>
                                        </p:tgtEl>
                                        <p:attrNameLst>
                                          <p:attrName>ppt_x</p:attrName>
                                        </p:attrNameLst>
                                      </p:cBhvr>
                                      <p:tavLst>
                                        <p:tav tm="0">
                                          <p:val>
                                            <p:strVal val="#ppt_x"/>
                                          </p:val>
                                        </p:tav>
                                        <p:tav tm="100000">
                                          <p:val>
                                            <p:strVal val="#ppt_x"/>
                                          </p:val>
                                        </p:tav>
                                      </p:tavLst>
                                    </p:anim>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- 3 biến (tt)</a:t>
            </a:r>
            <a:endParaRPr lang="en-US" dirty="0"/>
          </a:p>
        </p:txBody>
      </p:sp>
      <p:sp>
        <p:nvSpPr>
          <p:cNvPr id="5" name="Footer Placeholder 4"/>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8" name="Slide Number Placeholder 7"/>
          <p:cNvSpPr>
            <a:spLocks noGrp="1"/>
          </p:cNvSpPr>
          <p:nvPr>
            <p:ph type="sldNum" sz="quarter" idx="12"/>
          </p:nvPr>
        </p:nvSpPr>
        <p:spPr/>
        <p:txBody>
          <a:bodyPr/>
          <a:lstStyle/>
          <a:p>
            <a:fld id="{800C8475-47C1-49C9-BEE5-594F8CF4D71F}" type="slidenum">
              <a:rPr kumimoji="1" lang="ja-JP" altLang="en-US" smtClean="0"/>
              <a:pPr/>
              <a:t>48</a:t>
            </a:fld>
            <a:endParaRPr kumimoji="1" lang="ja-JP" altLang="en-US"/>
          </a:p>
        </p:txBody>
      </p:sp>
      <p:sp>
        <p:nvSpPr>
          <p:cNvPr id="4" name="Date Placeholder 3"/>
          <p:cNvSpPr>
            <a:spLocks noGrp="1"/>
          </p:cNvSpPr>
          <p:nvPr>
            <p:ph type="dt" sz="half" idx="4294967295"/>
          </p:nvPr>
        </p:nvSpPr>
        <p:spPr bwMode="auto">
          <a:xfrm>
            <a:off x="0" y="6524625"/>
            <a:ext cx="2133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8E3929-EB02-46DA-BB5F-26DFD1F576BD}" type="datetime1">
              <a:rPr lang="en-US" altLang="ja-JP" smtClean="0"/>
              <a:pPr/>
              <a:t>8/21/2023</a:t>
            </a:fld>
            <a:endParaRPr kumimoji="1" lang="ja-JP" altLang="en-US"/>
          </a:p>
        </p:txBody>
      </p:sp>
      <p:pic>
        <p:nvPicPr>
          <p:cNvPr id="104450" name="Picture 2"/>
          <p:cNvPicPr>
            <a:picLocks noChangeAspect="1" noChangeArrowheads="1"/>
          </p:cNvPicPr>
          <p:nvPr/>
        </p:nvPicPr>
        <p:blipFill>
          <a:blip r:embed="rId2" cstate="print"/>
          <a:srcRect/>
          <a:stretch>
            <a:fillRect/>
          </a:stretch>
        </p:blipFill>
        <p:spPr bwMode="auto">
          <a:xfrm>
            <a:off x="2249538" y="1219200"/>
            <a:ext cx="7580263" cy="5148262"/>
          </a:xfrm>
          <a:prstGeom prst="rect">
            <a:avLst/>
          </a:prstGeom>
          <a:noFill/>
          <a:ln w="9525">
            <a:noFill/>
            <a:miter lim="800000"/>
            <a:headEnd/>
            <a:tailEnd/>
          </a:ln>
        </p:spPr>
      </p:pic>
      <p:sp>
        <p:nvSpPr>
          <p:cNvPr id="6" name="Date Placeholder 3"/>
          <p:cNvSpPr txBox="1">
            <a:spLocks/>
          </p:cNvSpPr>
          <p:nvPr/>
        </p:nvSpPr>
        <p:spPr>
          <a:xfrm>
            <a:off x="2171700" y="1828800"/>
            <a:ext cx="6477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800" b="1">
                <a:latin typeface="Times New Roman" pitchFamily="18" charset="0"/>
                <a:cs typeface="Times New Roman" pitchFamily="18" charset="0"/>
              </a:rPr>
              <a:t>F</a:t>
            </a:r>
          </a:p>
        </p:txBody>
      </p:sp>
      <p:sp>
        <p:nvSpPr>
          <p:cNvPr id="7" name="Date Placeholder 3"/>
          <p:cNvSpPr txBox="1">
            <a:spLocks/>
          </p:cNvSpPr>
          <p:nvPr/>
        </p:nvSpPr>
        <p:spPr>
          <a:xfrm>
            <a:off x="7086600" y="1828800"/>
            <a:ext cx="6477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800" b="1">
                <a:latin typeface="Times New Roman" pitchFamily="18" charset="0"/>
                <a:cs typeface="Times New Roman" pitchFamily="18" charset="0"/>
              </a:rPr>
              <a:t>F</a:t>
            </a:r>
          </a:p>
        </p:txBody>
      </p:sp>
      <p:sp>
        <p:nvSpPr>
          <p:cNvPr id="3" name="Rectangle 2"/>
          <p:cNvSpPr/>
          <p:nvPr/>
        </p:nvSpPr>
        <p:spPr>
          <a:xfrm>
            <a:off x="7162800" y="1295400"/>
            <a:ext cx="3200400" cy="50720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- 3 biến (tt)</a:t>
            </a:r>
            <a:endParaRPr lang="en-US" dirty="0"/>
          </a:p>
        </p:txBody>
      </p:sp>
      <p:sp>
        <p:nvSpPr>
          <p:cNvPr id="3" name="Footer Placeholder 2"/>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49</a:t>
            </a:fld>
            <a:endParaRPr kumimoji="1" lang="ja-JP" altLang="en-US"/>
          </a:p>
        </p:txBody>
      </p:sp>
      <p:pic>
        <p:nvPicPr>
          <p:cNvPr id="105474" name="Picture 2"/>
          <p:cNvPicPr>
            <a:picLocks noChangeAspect="1" noChangeArrowheads="1"/>
          </p:cNvPicPr>
          <p:nvPr/>
        </p:nvPicPr>
        <p:blipFill>
          <a:blip r:embed="rId3" cstate="print"/>
          <a:srcRect/>
          <a:stretch>
            <a:fillRect/>
          </a:stretch>
        </p:blipFill>
        <p:spPr bwMode="auto">
          <a:xfrm>
            <a:off x="2362200" y="1219200"/>
            <a:ext cx="7368602" cy="5029200"/>
          </a:xfrm>
          <a:prstGeom prst="rect">
            <a:avLst/>
          </a:prstGeom>
          <a:noFill/>
          <a:ln w="9525">
            <a:noFill/>
            <a:miter lim="800000"/>
            <a:headEnd/>
            <a:tailEnd/>
          </a:ln>
        </p:spPr>
      </p:pic>
      <p:sp>
        <p:nvSpPr>
          <p:cNvPr id="6" name="Date Placeholder 3"/>
          <p:cNvSpPr txBox="1">
            <a:spLocks/>
          </p:cNvSpPr>
          <p:nvPr/>
        </p:nvSpPr>
        <p:spPr>
          <a:xfrm>
            <a:off x="2108200" y="1828800"/>
            <a:ext cx="6477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800" b="1">
                <a:latin typeface="Times New Roman" pitchFamily="18" charset="0"/>
                <a:cs typeface="Times New Roman" pitchFamily="18" charset="0"/>
              </a:rPr>
              <a:t>G</a:t>
            </a:r>
          </a:p>
        </p:txBody>
      </p:sp>
      <p:sp>
        <p:nvSpPr>
          <p:cNvPr id="7" name="Date Placeholder 3"/>
          <p:cNvSpPr txBox="1">
            <a:spLocks/>
          </p:cNvSpPr>
          <p:nvPr/>
        </p:nvSpPr>
        <p:spPr>
          <a:xfrm>
            <a:off x="6781800" y="1841500"/>
            <a:ext cx="647700" cy="47625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800" b="1">
                <a:latin typeface="Times New Roman" pitchFamily="18" charset="0"/>
                <a:cs typeface="Times New Roman" pitchFamily="18" charset="0"/>
              </a:rPr>
              <a:t>G</a:t>
            </a:r>
          </a:p>
        </p:txBody>
      </p:sp>
      <p:sp>
        <p:nvSpPr>
          <p:cNvPr id="9" name="Rectangle 8"/>
          <p:cNvSpPr/>
          <p:nvPr/>
        </p:nvSpPr>
        <p:spPr>
          <a:xfrm>
            <a:off x="7429500" y="2676728"/>
            <a:ext cx="2171700" cy="3581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72400" y="1282700"/>
            <a:ext cx="1600200" cy="622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sz="4000"/>
              <a:t>Ph</a:t>
            </a:r>
            <a:r>
              <a:rPr lang="vi-VN" sz="4000" dirty="0"/>
              <a:t>ư</a:t>
            </a:r>
            <a:r>
              <a:rPr lang="en-US" sz="4000" dirty="0" err="1"/>
              <a:t>ơng</a:t>
            </a:r>
            <a:r>
              <a:rPr lang="en-US" sz="4000" dirty="0"/>
              <a:t> </a:t>
            </a:r>
            <a:r>
              <a:rPr lang="en-US" sz="4000" dirty="0" err="1"/>
              <a:t>pháp</a:t>
            </a:r>
            <a:r>
              <a:rPr lang="en-US" sz="4000" dirty="0"/>
              <a:t> </a:t>
            </a:r>
            <a:r>
              <a:rPr lang="en-US" sz="4000"/>
              <a:t>Karnaugh - 3 biến</a:t>
            </a:r>
            <a:r>
              <a:rPr lang="en-US"/>
              <a:t>(</a:t>
            </a:r>
            <a:r>
              <a:rPr lang="en-US" dirty="0" err="1"/>
              <a:t>tt</a:t>
            </a:r>
            <a:r>
              <a:rPr lang="en-US" dirty="0"/>
              <a:t>)</a:t>
            </a: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50</a:t>
            </a:fld>
            <a:endParaRPr lang="en-VN" dirty="0"/>
          </a:p>
        </p:txBody>
      </p:sp>
      <p:sp>
        <p:nvSpPr>
          <p:cNvPr id="15" name="Rectangle 14">
            <a:extLst>
              <a:ext uri="{FF2B5EF4-FFF2-40B4-BE49-F238E27FC236}">
                <a16:creationId xmlns:a16="http://schemas.microsoft.com/office/drawing/2014/main" id="{F1B1CA1F-03EA-1DDD-B934-048650955922}"/>
              </a:ext>
            </a:extLst>
          </p:cNvPr>
          <p:cNvSpPr/>
          <p:nvPr/>
        </p:nvSpPr>
        <p:spPr>
          <a:xfrm>
            <a:off x="357832" y="1615788"/>
            <a:ext cx="3853684" cy="523220"/>
          </a:xfrm>
          <a:prstGeom prst="rect">
            <a:avLst/>
          </a:prstGeom>
        </p:spPr>
        <p:txBody>
          <a:bodyPr wrap="none">
            <a:spAutoFit/>
          </a:bodyPr>
          <a:lstStyle/>
          <a:p>
            <a:r>
              <a:rPr lang="vi-VN" sz="2800" i="1" spc="-20" dirty="0">
                <a:latin typeface="Times New Roman" panose="02020603050405020304" pitchFamily="18" charset="0"/>
                <a:ea typeface="Times New Roman" panose="02020603050405020304" pitchFamily="18" charset="0"/>
              </a:rPr>
              <a:t>F</a:t>
            </a:r>
            <a:r>
              <a:rPr lang="vi-VN" sz="2800" spc="-20" dirty="0">
                <a:latin typeface="Times New Roman" panose="02020603050405020304" pitchFamily="18" charset="0"/>
                <a:ea typeface="Times New Roman" panose="02020603050405020304" pitchFamily="18" charset="0"/>
              </a:rPr>
              <a:t>(</a:t>
            </a:r>
            <a:r>
              <a:rPr lang="vi-VN" sz="2800" i="1" spc="-20" dirty="0">
                <a:latin typeface="Times New Roman" panose="02020603050405020304" pitchFamily="18" charset="0"/>
                <a:ea typeface="Times New Roman" panose="02020603050405020304" pitchFamily="18" charset="0"/>
              </a:rPr>
              <a:t>x, y, z</a:t>
            </a:r>
            <a:r>
              <a:rPr lang="vi-VN" sz="2800" spc="-20" dirty="0">
                <a:latin typeface="Times New Roman" panose="02020603050405020304" pitchFamily="18" charset="0"/>
                <a:ea typeface="Times New Roman" panose="02020603050405020304" pitchFamily="18" charset="0"/>
              </a:rPr>
              <a:t>) = ∑ </a:t>
            </a:r>
            <a:r>
              <a:rPr lang="vi-VN" sz="2800" i="1" spc="-20" dirty="0">
                <a:latin typeface="Times New Roman" panose="02020603050405020304" pitchFamily="18" charset="0"/>
                <a:ea typeface="Times New Roman" panose="02020603050405020304" pitchFamily="18" charset="0"/>
              </a:rPr>
              <a:t>m</a:t>
            </a:r>
            <a:r>
              <a:rPr lang="vi-VN" sz="2800" spc="-20" dirty="0">
                <a:latin typeface="Times New Roman" panose="02020603050405020304" pitchFamily="18" charset="0"/>
                <a:ea typeface="Times New Roman" panose="02020603050405020304" pitchFamily="18" charset="0"/>
              </a:rPr>
              <a:t>(1, 3, 4, 7)</a:t>
            </a:r>
            <a:endParaRPr lang="en-US" sz="2800" dirty="0"/>
          </a:p>
        </p:txBody>
      </p:sp>
      <p:sp>
        <p:nvSpPr>
          <p:cNvPr id="16" name="Rectangle 15">
            <a:extLst>
              <a:ext uri="{FF2B5EF4-FFF2-40B4-BE49-F238E27FC236}">
                <a16:creationId xmlns:a16="http://schemas.microsoft.com/office/drawing/2014/main" id="{470C9ECA-5569-F8E6-74FA-27B9829BE832}"/>
              </a:ext>
            </a:extLst>
          </p:cNvPr>
          <p:cNvSpPr/>
          <p:nvPr/>
        </p:nvSpPr>
        <p:spPr>
          <a:xfrm>
            <a:off x="6467072" y="1615788"/>
            <a:ext cx="4012958" cy="523220"/>
          </a:xfrm>
          <a:prstGeom prst="rect">
            <a:avLst/>
          </a:prstGeom>
        </p:spPr>
        <p:txBody>
          <a:bodyPr wrap="none">
            <a:spAutoFit/>
          </a:bodyPr>
          <a:lstStyle/>
          <a:p>
            <a:r>
              <a:rPr lang="vi-VN" sz="2800" i="1" spc="-20" dirty="0">
                <a:latin typeface="Times New Roman" panose="02020603050405020304" pitchFamily="18" charset="0"/>
                <a:ea typeface="Times New Roman" panose="02020603050405020304" pitchFamily="18" charset="0"/>
              </a:rPr>
              <a:t>F</a:t>
            </a:r>
            <a:r>
              <a:rPr lang="vi-VN" sz="2800" spc="-20" dirty="0">
                <a:latin typeface="Times New Roman" panose="02020603050405020304" pitchFamily="18" charset="0"/>
                <a:ea typeface="Times New Roman" panose="02020603050405020304" pitchFamily="18" charset="0"/>
              </a:rPr>
              <a:t>(</a:t>
            </a:r>
            <a:r>
              <a:rPr lang="vi-VN" sz="2800" i="1" spc="-20" dirty="0">
                <a:latin typeface="Times New Roman" panose="02020603050405020304" pitchFamily="18" charset="0"/>
                <a:ea typeface="Times New Roman" panose="02020603050405020304" pitchFamily="18" charset="0"/>
              </a:rPr>
              <a:t>a, b, c</a:t>
            </a:r>
            <a:r>
              <a:rPr lang="vi-VN" sz="2800" spc="-20" dirty="0">
                <a:latin typeface="Times New Roman" panose="02020603050405020304" pitchFamily="18" charset="0"/>
                <a:ea typeface="Times New Roman" panose="02020603050405020304" pitchFamily="18" charset="0"/>
              </a:rPr>
              <a:t>) = ∏ </a:t>
            </a:r>
            <a:r>
              <a:rPr lang="vi-VN" sz="2800" i="1" spc="-20" dirty="0">
                <a:latin typeface="Times New Roman" panose="02020603050405020304" pitchFamily="18" charset="0"/>
                <a:ea typeface="Times New Roman" panose="02020603050405020304" pitchFamily="18" charset="0"/>
              </a:rPr>
              <a:t>M</a:t>
            </a:r>
            <a:r>
              <a:rPr lang="vi-VN" sz="2800" spc="-20" dirty="0">
                <a:latin typeface="Times New Roman" panose="02020603050405020304" pitchFamily="18" charset="0"/>
                <a:ea typeface="Times New Roman" panose="02020603050405020304" pitchFamily="18" charset="0"/>
              </a:rPr>
              <a:t>(1, 4, </a:t>
            </a:r>
            <a:r>
              <a:rPr lang="en-US" sz="2800" spc="-20" dirty="0">
                <a:latin typeface="Times New Roman" panose="02020603050405020304" pitchFamily="18" charset="0"/>
                <a:ea typeface="Times New Roman" panose="02020603050405020304" pitchFamily="18" charset="0"/>
              </a:rPr>
              <a:t>6</a:t>
            </a:r>
            <a:r>
              <a:rPr lang="vi-VN" sz="2800" spc="-20" dirty="0">
                <a:latin typeface="Times New Roman" panose="02020603050405020304" pitchFamily="18" charset="0"/>
                <a:ea typeface="Times New Roman" panose="02020603050405020304" pitchFamily="18" charset="0"/>
              </a:rPr>
              <a:t>, </a:t>
            </a:r>
            <a:r>
              <a:rPr lang="en-US" sz="2800" spc="-20" dirty="0">
                <a:latin typeface="Times New Roman" panose="02020603050405020304" pitchFamily="18" charset="0"/>
                <a:ea typeface="Times New Roman" panose="02020603050405020304" pitchFamily="18" charset="0"/>
              </a:rPr>
              <a:t>7</a:t>
            </a:r>
            <a:r>
              <a:rPr lang="vi-VN" sz="2800" spc="-20">
                <a:latin typeface="Times New Roman" panose="02020603050405020304" pitchFamily="18" charset="0"/>
                <a:ea typeface="Times New Roman" panose="02020603050405020304" pitchFamily="18" charset="0"/>
              </a:rPr>
              <a:t>)</a:t>
            </a:r>
            <a:endParaRPr lang="en-US" sz="2800" dirty="0"/>
          </a:p>
        </p:txBody>
      </p:sp>
      <p:graphicFrame>
        <p:nvGraphicFramePr>
          <p:cNvPr id="17" name="Table 16">
            <a:extLst>
              <a:ext uri="{FF2B5EF4-FFF2-40B4-BE49-F238E27FC236}">
                <a16:creationId xmlns:a16="http://schemas.microsoft.com/office/drawing/2014/main" id="{5556C516-63F5-822E-010D-49BDE40C1948}"/>
              </a:ext>
            </a:extLst>
          </p:cNvPr>
          <p:cNvGraphicFramePr>
            <a:graphicFrameLocks noGrp="1"/>
          </p:cNvGraphicFramePr>
          <p:nvPr>
            <p:extLst>
              <p:ext uri="{D42A27DB-BD31-4B8C-83A1-F6EECF244321}">
                <p14:modId xmlns:p14="http://schemas.microsoft.com/office/powerpoint/2010/main" val="2073998464"/>
              </p:ext>
            </p:extLst>
          </p:nvPr>
        </p:nvGraphicFramePr>
        <p:xfrm>
          <a:off x="1745083" y="2521308"/>
          <a:ext cx="27432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766936681"/>
                    </a:ext>
                  </a:extLst>
                </a:gridCol>
                <a:gridCol w="457200">
                  <a:extLst>
                    <a:ext uri="{9D8B030D-6E8A-4147-A177-3AD203B41FA5}">
                      <a16:colId xmlns:a16="http://schemas.microsoft.com/office/drawing/2014/main" val="1853735494"/>
                    </a:ext>
                  </a:extLst>
                </a:gridCol>
                <a:gridCol w="457200">
                  <a:extLst>
                    <a:ext uri="{9D8B030D-6E8A-4147-A177-3AD203B41FA5}">
                      <a16:colId xmlns:a16="http://schemas.microsoft.com/office/drawing/2014/main" val="3266059422"/>
                    </a:ext>
                  </a:extLst>
                </a:gridCol>
                <a:gridCol w="457200">
                  <a:extLst>
                    <a:ext uri="{9D8B030D-6E8A-4147-A177-3AD203B41FA5}">
                      <a16:colId xmlns:a16="http://schemas.microsoft.com/office/drawing/2014/main" val="2367563649"/>
                    </a:ext>
                  </a:extLst>
                </a:gridCol>
                <a:gridCol w="457200">
                  <a:extLst>
                    <a:ext uri="{9D8B030D-6E8A-4147-A177-3AD203B41FA5}">
                      <a16:colId xmlns:a16="http://schemas.microsoft.com/office/drawing/2014/main" val="2899738817"/>
                    </a:ext>
                  </a:extLst>
                </a:gridCol>
                <a:gridCol w="457200">
                  <a:extLst>
                    <a:ext uri="{9D8B030D-6E8A-4147-A177-3AD203B41FA5}">
                      <a16:colId xmlns:a16="http://schemas.microsoft.com/office/drawing/2014/main" val="3999379534"/>
                    </a:ext>
                  </a:extLst>
                </a:gridCol>
              </a:tblGrid>
              <a:tr h="457200">
                <a:tc>
                  <a:txBody>
                    <a:bodyPr/>
                    <a:lstStyle/>
                    <a:p>
                      <a:pPr marL="0" marR="0" algn="ctr">
                        <a:lnSpc>
                          <a:spcPct val="150000"/>
                        </a:lnSpc>
                        <a:spcBef>
                          <a:spcPts val="600"/>
                        </a:spcBef>
                        <a:spcAft>
                          <a:spcPts val="0"/>
                        </a:spcAft>
                      </a:pPr>
                      <a:r>
                        <a:rPr lang="vi-VN" sz="2200" i="1" spc="-20" dirty="0">
                          <a:effectLst/>
                          <a:latin typeface="+mj-lt"/>
                        </a:rPr>
                        <a:t>F</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yz</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4920044"/>
                  </a:ext>
                </a:extLst>
              </a:tr>
              <a:tr h="457200">
                <a:tc>
                  <a:txBody>
                    <a:bodyPr/>
                    <a:lstStyle/>
                    <a:p>
                      <a:pPr marL="0" marR="0" algn="ctr">
                        <a:lnSpc>
                          <a:spcPct val="150000"/>
                        </a:lnSpc>
                        <a:spcBef>
                          <a:spcPts val="600"/>
                        </a:spcBef>
                        <a:spcAft>
                          <a:spcPts val="0"/>
                        </a:spcAft>
                      </a:pPr>
                      <a:r>
                        <a:rPr lang="vi-VN" sz="2200" i="1" spc="-20" dirty="0">
                          <a:effectLst/>
                          <a:latin typeface="+mj-lt"/>
                        </a:rPr>
                        <a:t>x</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rPr>
                        <a:t> </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9004382"/>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0</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3983914"/>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1</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6483358"/>
                  </a:ext>
                </a:extLst>
              </a:tr>
            </a:tbl>
          </a:graphicData>
        </a:graphic>
      </p:graphicFrame>
      <p:graphicFrame>
        <p:nvGraphicFramePr>
          <p:cNvPr id="18" name="Table 17">
            <a:extLst>
              <a:ext uri="{FF2B5EF4-FFF2-40B4-BE49-F238E27FC236}">
                <a16:creationId xmlns:a16="http://schemas.microsoft.com/office/drawing/2014/main" id="{F8965A56-2553-77E7-7F0B-CFD7011936E6}"/>
              </a:ext>
            </a:extLst>
          </p:cNvPr>
          <p:cNvGraphicFramePr>
            <a:graphicFrameLocks noGrp="1"/>
          </p:cNvGraphicFramePr>
          <p:nvPr>
            <p:extLst>
              <p:ext uri="{D42A27DB-BD31-4B8C-83A1-F6EECF244321}">
                <p14:modId xmlns:p14="http://schemas.microsoft.com/office/powerpoint/2010/main" val="1194489033"/>
              </p:ext>
            </p:extLst>
          </p:nvPr>
        </p:nvGraphicFramePr>
        <p:xfrm>
          <a:off x="7985348" y="2521308"/>
          <a:ext cx="27432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008596976"/>
                    </a:ext>
                  </a:extLst>
                </a:gridCol>
                <a:gridCol w="457200">
                  <a:extLst>
                    <a:ext uri="{9D8B030D-6E8A-4147-A177-3AD203B41FA5}">
                      <a16:colId xmlns:a16="http://schemas.microsoft.com/office/drawing/2014/main" val="112411324"/>
                    </a:ext>
                  </a:extLst>
                </a:gridCol>
                <a:gridCol w="457200">
                  <a:extLst>
                    <a:ext uri="{9D8B030D-6E8A-4147-A177-3AD203B41FA5}">
                      <a16:colId xmlns:a16="http://schemas.microsoft.com/office/drawing/2014/main" val="583025202"/>
                    </a:ext>
                  </a:extLst>
                </a:gridCol>
                <a:gridCol w="457200">
                  <a:extLst>
                    <a:ext uri="{9D8B030D-6E8A-4147-A177-3AD203B41FA5}">
                      <a16:colId xmlns:a16="http://schemas.microsoft.com/office/drawing/2014/main" val="2089711746"/>
                    </a:ext>
                  </a:extLst>
                </a:gridCol>
                <a:gridCol w="457200">
                  <a:extLst>
                    <a:ext uri="{9D8B030D-6E8A-4147-A177-3AD203B41FA5}">
                      <a16:colId xmlns:a16="http://schemas.microsoft.com/office/drawing/2014/main" val="2385183966"/>
                    </a:ext>
                  </a:extLst>
                </a:gridCol>
                <a:gridCol w="457200">
                  <a:extLst>
                    <a:ext uri="{9D8B030D-6E8A-4147-A177-3AD203B41FA5}">
                      <a16:colId xmlns:a16="http://schemas.microsoft.com/office/drawing/2014/main" val="303069758"/>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bc</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7278449"/>
                  </a:ext>
                </a:extLst>
              </a:tr>
              <a:tr h="457200">
                <a:tc>
                  <a:txBody>
                    <a:bodyPr/>
                    <a:lstStyle/>
                    <a:p>
                      <a:pPr marL="0" marR="0" algn="ctr">
                        <a:lnSpc>
                          <a:spcPct val="150000"/>
                        </a:lnSpc>
                        <a:spcBef>
                          <a:spcPts val="600"/>
                        </a:spcBef>
                        <a:spcAft>
                          <a:spcPts val="0"/>
                        </a:spcAft>
                      </a:pPr>
                      <a:r>
                        <a:rPr lang="vi-VN" sz="2200" i="1" spc="-20">
                          <a:effectLst/>
                          <a:latin typeface="+mj-lt"/>
                        </a:rPr>
                        <a:t>a</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3220947"/>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9890890"/>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9225305"/>
                  </a:ext>
                </a:extLst>
              </a:tr>
            </a:tbl>
          </a:graphicData>
        </a:graphic>
      </p:graphicFrame>
      <p:graphicFrame>
        <p:nvGraphicFramePr>
          <p:cNvPr id="19" name="Table 18">
            <a:extLst>
              <a:ext uri="{FF2B5EF4-FFF2-40B4-BE49-F238E27FC236}">
                <a16:creationId xmlns:a16="http://schemas.microsoft.com/office/drawing/2014/main" id="{B4FE810E-FB5E-8B99-11F6-CC3553D11B41}"/>
              </a:ext>
            </a:extLst>
          </p:cNvPr>
          <p:cNvGraphicFramePr>
            <a:graphicFrameLocks noGrp="1"/>
          </p:cNvGraphicFramePr>
          <p:nvPr>
            <p:extLst>
              <p:ext uri="{D42A27DB-BD31-4B8C-83A1-F6EECF244321}">
                <p14:modId xmlns:p14="http://schemas.microsoft.com/office/powerpoint/2010/main" val="4287232339"/>
              </p:ext>
            </p:extLst>
          </p:nvPr>
        </p:nvGraphicFramePr>
        <p:xfrm>
          <a:off x="2659483" y="3435708"/>
          <a:ext cx="1828800" cy="9144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629775210"/>
                    </a:ext>
                  </a:extLst>
                </a:gridCol>
                <a:gridCol w="457200">
                  <a:extLst>
                    <a:ext uri="{9D8B030D-6E8A-4147-A177-3AD203B41FA5}">
                      <a16:colId xmlns:a16="http://schemas.microsoft.com/office/drawing/2014/main" val="3093123830"/>
                    </a:ext>
                  </a:extLst>
                </a:gridCol>
                <a:gridCol w="457200">
                  <a:extLst>
                    <a:ext uri="{9D8B030D-6E8A-4147-A177-3AD203B41FA5}">
                      <a16:colId xmlns:a16="http://schemas.microsoft.com/office/drawing/2014/main" val="2971965772"/>
                    </a:ext>
                  </a:extLst>
                </a:gridCol>
                <a:gridCol w="457200">
                  <a:extLst>
                    <a:ext uri="{9D8B030D-6E8A-4147-A177-3AD203B41FA5}">
                      <a16:colId xmlns:a16="http://schemas.microsoft.com/office/drawing/2014/main" val="4001545351"/>
                    </a:ext>
                  </a:extLst>
                </a:gridCol>
              </a:tblGrid>
              <a:tr h="457200">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1053263"/>
                  </a:ext>
                </a:extLst>
              </a:tr>
              <a:tr h="457200">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97547840"/>
                  </a:ext>
                </a:extLst>
              </a:tr>
            </a:tbl>
          </a:graphicData>
        </a:graphic>
      </p:graphicFrame>
      <p:sp>
        <p:nvSpPr>
          <p:cNvPr id="20" name="Rectangle 19">
            <a:extLst>
              <a:ext uri="{FF2B5EF4-FFF2-40B4-BE49-F238E27FC236}">
                <a16:creationId xmlns:a16="http://schemas.microsoft.com/office/drawing/2014/main" id="{0D859593-4C1D-5669-E9EF-F64D3A8123A0}"/>
              </a:ext>
            </a:extLst>
          </p:cNvPr>
          <p:cNvSpPr/>
          <p:nvPr/>
        </p:nvSpPr>
        <p:spPr>
          <a:xfrm>
            <a:off x="3218283" y="3496678"/>
            <a:ext cx="637951" cy="3581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488E24A-6C0E-E01D-E3EC-E99624B39E29}"/>
              </a:ext>
            </a:extLst>
          </p:cNvPr>
          <p:cNvSpPr/>
          <p:nvPr/>
        </p:nvSpPr>
        <p:spPr>
          <a:xfrm>
            <a:off x="3662784" y="3561767"/>
            <a:ext cx="317500" cy="75241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B3F7F6-9318-3062-BD0F-FDBFBFC94E4A}"/>
              </a:ext>
            </a:extLst>
          </p:cNvPr>
          <p:cNvSpPr/>
          <p:nvPr/>
        </p:nvSpPr>
        <p:spPr>
          <a:xfrm>
            <a:off x="2756321" y="3937972"/>
            <a:ext cx="276226" cy="3581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2023D661-1FCE-465C-E5B3-8D470BAF2BA0}"/>
                  </a:ext>
                </a:extLst>
              </p:cNvPr>
              <p:cNvSpPr/>
              <p:nvPr/>
            </p:nvSpPr>
            <p:spPr>
              <a:xfrm>
                <a:off x="1189841" y="4470409"/>
                <a:ext cx="3858236" cy="523220"/>
              </a:xfrm>
              <a:prstGeom prst="rect">
                <a:avLst/>
              </a:prstGeom>
            </p:spPr>
            <p:txBody>
              <a:bodyPr wrap="none">
                <a:spAutoFit/>
              </a:bodyPr>
              <a:lstStyle/>
              <a:p>
                <a:r>
                  <a:rPr lang="vi-VN" sz="2800" i="1" spc="-20" dirty="0">
                    <a:latin typeface="Times New Roman" panose="02020603050405020304" pitchFamily="18" charset="0"/>
                    <a:ea typeface="Times New Roman" panose="02020603050405020304" pitchFamily="18" charset="0"/>
                  </a:rPr>
                  <a:t>F</a:t>
                </a:r>
                <a:r>
                  <a:rPr lang="vi-VN" sz="2800" spc="-20" dirty="0">
                    <a:latin typeface="Times New Roman" panose="02020603050405020304" pitchFamily="18" charset="0"/>
                    <a:ea typeface="Times New Roman" panose="02020603050405020304" pitchFamily="18" charset="0"/>
                  </a:rPr>
                  <a:t>(</a:t>
                </a:r>
                <a:r>
                  <a:rPr lang="vi-VN" sz="2800" i="1" spc="-20" dirty="0">
                    <a:latin typeface="Times New Roman" panose="02020603050405020304" pitchFamily="18" charset="0"/>
                    <a:ea typeface="Times New Roman" panose="02020603050405020304" pitchFamily="18" charset="0"/>
                  </a:rPr>
                  <a:t>x, y, z</a:t>
                </a:r>
                <a:r>
                  <a:rPr lang="vi-VN" sz="2800" spc="-20" dirty="0">
                    <a:latin typeface="Times New Roman" panose="02020603050405020304" pitchFamily="18" charset="0"/>
                    <a:ea typeface="Times New Roman" panose="02020603050405020304" pitchFamily="18" charset="0"/>
                  </a:rPr>
                  <a:t>) =</a:t>
                </a:r>
                <a:r>
                  <a:rPr lang="en-US" sz="2800" spc="-20" dirty="0">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US" sz="2800" i="1" spc="-20" smtClean="0">
                            <a:solidFill>
                              <a:srgbClr val="0070C0"/>
                            </a:solidFill>
                            <a:effectLst/>
                            <a:latin typeface="Cambria Math" panose="02040503050406030204" pitchFamily="18" charset="0"/>
                          </a:rPr>
                        </m:ctrlPr>
                      </m:accPr>
                      <m:e>
                        <m:r>
                          <m:rPr>
                            <m:nor/>
                          </m:rPr>
                          <a:rPr lang="vi-VN" sz="2800" i="1" spc="-20">
                            <a:solidFill>
                              <a:srgbClr val="0070C0"/>
                            </a:solidFill>
                            <a:latin typeface="+mj-lt"/>
                            <a:ea typeface="Times New Roman" panose="02020603050405020304" pitchFamily="18" charset="0"/>
                          </a:rPr>
                          <m:t>x</m:t>
                        </m:r>
                      </m:e>
                    </m:acc>
                  </m:oMath>
                </a14:m>
                <a:r>
                  <a:rPr lang="en-US" sz="2800" i="1" spc="-20" dirty="0">
                    <a:solidFill>
                      <a:srgbClr val="0070C0"/>
                    </a:solidFill>
                    <a:latin typeface="Times New Roman" panose="02020603050405020304" pitchFamily="18" charset="0"/>
                    <a:ea typeface="Times New Roman" panose="02020603050405020304" pitchFamily="18" charset="0"/>
                  </a:rPr>
                  <a:t>z </a:t>
                </a:r>
                <a:r>
                  <a:rPr lang="en-US" sz="2800" i="1" spc="-20" dirty="0">
                    <a:latin typeface="Times New Roman" panose="02020603050405020304" pitchFamily="18" charset="0"/>
                    <a:ea typeface="Times New Roman" panose="02020603050405020304" pitchFamily="18" charset="0"/>
                  </a:rPr>
                  <a:t>+ </a:t>
                </a:r>
                <a:r>
                  <a:rPr lang="en-US" sz="2800" i="1" spc="-20" dirty="0" err="1">
                    <a:solidFill>
                      <a:srgbClr val="7030A0"/>
                    </a:solidFill>
                    <a:latin typeface="Times New Roman" panose="02020603050405020304" pitchFamily="18" charset="0"/>
                    <a:ea typeface="Times New Roman" panose="02020603050405020304" pitchFamily="18" charset="0"/>
                  </a:rPr>
                  <a:t>yz</a:t>
                </a:r>
                <a:r>
                  <a:rPr lang="en-US" sz="2800" i="1" spc="-20" dirty="0">
                    <a:latin typeface="Times New Roman" panose="02020603050405020304" pitchFamily="18" charset="0"/>
                    <a:ea typeface="Times New Roman" panose="02020603050405020304" pitchFamily="18" charset="0"/>
                  </a:rPr>
                  <a:t> + </a:t>
                </a:r>
                <a:r>
                  <a:rPr lang="en-US" sz="2800" i="1" spc="-20" dirty="0">
                    <a:solidFill>
                      <a:srgbClr val="FFC000"/>
                    </a:solidFill>
                    <a:latin typeface="Times New Roman" panose="02020603050405020304" pitchFamily="18" charset="0"/>
                    <a:ea typeface="Times New Roman" panose="02020603050405020304" pitchFamily="18" charset="0"/>
                  </a:rPr>
                  <a:t>x</a:t>
                </a:r>
                <a14:m>
                  <m:oMath xmlns:m="http://schemas.openxmlformats.org/officeDocument/2006/math">
                    <m:acc>
                      <m:accPr>
                        <m:chr m:val="̅"/>
                        <m:ctrlPr>
                          <a:rPr lang="en-US" sz="2800" i="1" spc="-20">
                            <a:solidFill>
                              <a:srgbClr val="FFC000"/>
                            </a:solidFill>
                            <a:latin typeface="Cambria Math" panose="02040503050406030204" pitchFamily="18" charset="0"/>
                          </a:rPr>
                        </m:ctrlPr>
                      </m:accPr>
                      <m:e>
                        <m:r>
                          <m:rPr>
                            <m:nor/>
                          </m:rPr>
                          <a:rPr lang="en-US" sz="2800" b="0" i="1" spc="-20" smtClean="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m:t>y</m:t>
                        </m:r>
                      </m:e>
                    </m:acc>
                  </m:oMath>
                </a14:m>
                <a:r>
                  <a:rPr lang="en-US" sz="2800" spc="-20" dirty="0">
                    <a:solidFill>
                      <a:srgbClr val="FFC000"/>
                    </a:solidFill>
                  </a:rPr>
                  <a:t> </a:t>
                </a:r>
                <a14:m>
                  <m:oMath xmlns:m="http://schemas.openxmlformats.org/officeDocument/2006/math">
                    <m:acc>
                      <m:accPr>
                        <m:chr m:val="̅"/>
                        <m:ctrlPr>
                          <a:rPr lang="en-US" sz="2800" i="1" spc="-20">
                            <a:solidFill>
                              <a:srgbClr val="FFC000"/>
                            </a:solidFill>
                            <a:latin typeface="Cambria Math" panose="02040503050406030204" pitchFamily="18" charset="0"/>
                          </a:rPr>
                        </m:ctrlPr>
                      </m:accPr>
                      <m:e>
                        <m:r>
                          <m:rPr>
                            <m:nor/>
                          </m:rPr>
                          <a:rPr lang="en-US" sz="2800" b="0" i="0" spc="-20" smtClean="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m:t>z</m:t>
                        </m:r>
                      </m:e>
                    </m:acc>
                  </m:oMath>
                </a14:m>
                <a:r>
                  <a:rPr lang="en-US" sz="2800" spc="-20" dirty="0">
                    <a:solidFill>
                      <a:srgbClr val="FFC000"/>
                    </a:solidFill>
                    <a:latin typeface="Times New Roman" panose="02020603050405020304" pitchFamily="18" charset="0"/>
                    <a:ea typeface="Times New Roman" panose="02020603050405020304" pitchFamily="18" charset="0"/>
                  </a:rPr>
                  <a:t> </a:t>
                </a:r>
                <a:endParaRPr lang="en-US" sz="2800" dirty="0"/>
              </a:p>
            </p:txBody>
          </p:sp>
        </mc:Choice>
        <mc:Fallback xmlns="">
          <p:sp>
            <p:nvSpPr>
              <p:cNvPr id="23" name="Rectangle 22">
                <a:extLst>
                  <a:ext uri="{FF2B5EF4-FFF2-40B4-BE49-F238E27FC236}">
                    <a16:creationId xmlns:a16="http://schemas.microsoft.com/office/drawing/2014/main" id="{2023D661-1FCE-465C-E5B3-8D470BAF2BA0}"/>
                  </a:ext>
                </a:extLst>
              </p:cNvPr>
              <p:cNvSpPr>
                <a:spLocks noRot="1" noChangeAspect="1" noMove="1" noResize="1" noEditPoints="1" noAdjustHandles="1" noChangeArrowheads="1" noChangeShapeType="1" noTextEdit="1"/>
              </p:cNvSpPr>
              <p:nvPr/>
            </p:nvSpPr>
            <p:spPr>
              <a:xfrm>
                <a:off x="1189841" y="4470409"/>
                <a:ext cx="3858236" cy="523220"/>
              </a:xfrm>
              <a:prstGeom prst="rect">
                <a:avLst/>
              </a:prstGeom>
              <a:blipFill>
                <a:blip r:embed="rId2"/>
                <a:stretch>
                  <a:fillRect l="-3279" t="-11628" b="-30233"/>
                </a:stretch>
              </a:blipFill>
            </p:spPr>
            <p:txBody>
              <a:bodyPr/>
              <a:lstStyle/>
              <a:p>
                <a:r>
                  <a:rPr lang="en-VN">
                    <a:noFill/>
                  </a:rPr>
                  <a:t> </a:t>
                </a:r>
              </a:p>
            </p:txBody>
          </p:sp>
        </mc:Fallback>
      </mc:AlternateContent>
      <p:graphicFrame>
        <p:nvGraphicFramePr>
          <p:cNvPr id="24" name="Table 23">
            <a:extLst>
              <a:ext uri="{FF2B5EF4-FFF2-40B4-BE49-F238E27FC236}">
                <a16:creationId xmlns:a16="http://schemas.microsoft.com/office/drawing/2014/main" id="{AF0E07D4-7BC1-1E1E-3A48-0EEB484980E8}"/>
              </a:ext>
            </a:extLst>
          </p:cNvPr>
          <p:cNvGraphicFramePr>
            <a:graphicFrameLocks noGrp="1"/>
          </p:cNvGraphicFramePr>
          <p:nvPr>
            <p:extLst>
              <p:ext uri="{D42A27DB-BD31-4B8C-83A1-F6EECF244321}">
                <p14:modId xmlns:p14="http://schemas.microsoft.com/office/powerpoint/2010/main" val="80200756"/>
              </p:ext>
            </p:extLst>
          </p:nvPr>
        </p:nvGraphicFramePr>
        <p:xfrm>
          <a:off x="8892772" y="3435708"/>
          <a:ext cx="1828800" cy="9144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742966582"/>
                    </a:ext>
                  </a:extLst>
                </a:gridCol>
                <a:gridCol w="457200">
                  <a:extLst>
                    <a:ext uri="{9D8B030D-6E8A-4147-A177-3AD203B41FA5}">
                      <a16:colId xmlns:a16="http://schemas.microsoft.com/office/drawing/2014/main" val="585733360"/>
                    </a:ext>
                  </a:extLst>
                </a:gridCol>
                <a:gridCol w="457200">
                  <a:extLst>
                    <a:ext uri="{9D8B030D-6E8A-4147-A177-3AD203B41FA5}">
                      <a16:colId xmlns:a16="http://schemas.microsoft.com/office/drawing/2014/main" val="3604513224"/>
                    </a:ext>
                  </a:extLst>
                </a:gridCol>
                <a:gridCol w="457200">
                  <a:extLst>
                    <a:ext uri="{9D8B030D-6E8A-4147-A177-3AD203B41FA5}">
                      <a16:colId xmlns:a16="http://schemas.microsoft.com/office/drawing/2014/main" val="2452104364"/>
                    </a:ext>
                  </a:extLst>
                </a:gridCol>
              </a:tblGrid>
              <a:tr h="457200">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8820257"/>
                  </a:ext>
                </a:extLst>
              </a:tr>
              <a:tr h="457200">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99888"/>
                  </a:ext>
                </a:extLst>
              </a:tr>
            </a:tbl>
          </a:graphicData>
        </a:graphic>
      </p:graphicFrame>
      <p:sp>
        <p:nvSpPr>
          <p:cNvPr id="25" name="Rectangle 24">
            <a:extLst>
              <a:ext uri="{FF2B5EF4-FFF2-40B4-BE49-F238E27FC236}">
                <a16:creationId xmlns:a16="http://schemas.microsoft.com/office/drawing/2014/main" id="{5B5C0439-AF6E-C33B-0E53-BB86923DDBAE}"/>
              </a:ext>
            </a:extLst>
          </p:cNvPr>
          <p:cNvSpPr/>
          <p:nvPr/>
        </p:nvSpPr>
        <p:spPr>
          <a:xfrm>
            <a:off x="9936583" y="3941187"/>
            <a:ext cx="637951" cy="3581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C571B4B2-FEF8-13BD-9D8D-B39F4D734443}"/>
              </a:ext>
            </a:extLst>
          </p:cNvPr>
          <p:cNvSpPr/>
          <p:nvPr/>
        </p:nvSpPr>
        <p:spPr>
          <a:xfrm>
            <a:off x="8142392" y="3911609"/>
            <a:ext cx="1156245" cy="523220"/>
          </a:xfrm>
          <a:prstGeom prst="arc">
            <a:avLst>
              <a:gd name="adj1" fmla="val 16200000"/>
              <a:gd name="adj2" fmla="val 5372477"/>
            </a:avLst>
          </a:prstGeom>
          <a:ln w="190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E20A05CF-5BFB-A4C8-9B39-FF9A9709951F}"/>
              </a:ext>
            </a:extLst>
          </p:cNvPr>
          <p:cNvSpPr/>
          <p:nvPr/>
        </p:nvSpPr>
        <p:spPr>
          <a:xfrm rot="10800000">
            <a:off x="10321128" y="3892908"/>
            <a:ext cx="1156245" cy="523220"/>
          </a:xfrm>
          <a:prstGeom prst="arc">
            <a:avLst>
              <a:gd name="adj1" fmla="val 16200000"/>
              <a:gd name="adj2" fmla="val 5372477"/>
            </a:avLst>
          </a:prstGeom>
          <a:ln w="190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ctangle 27">
            <a:extLst>
              <a:ext uri="{FF2B5EF4-FFF2-40B4-BE49-F238E27FC236}">
                <a16:creationId xmlns:a16="http://schemas.microsoft.com/office/drawing/2014/main" id="{BE8CEA1E-615F-477A-E4A4-9526F982B86E}"/>
              </a:ext>
            </a:extLst>
          </p:cNvPr>
          <p:cNvSpPr/>
          <p:nvPr/>
        </p:nvSpPr>
        <p:spPr>
          <a:xfrm>
            <a:off x="9468837" y="3493333"/>
            <a:ext cx="276226" cy="3581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8DB78DA4-6051-6FA0-81E6-EE6A292AB7AE}"/>
                  </a:ext>
                </a:extLst>
              </p:cNvPr>
              <p:cNvSpPr/>
              <p:nvPr/>
            </p:nvSpPr>
            <p:spPr>
              <a:xfrm>
                <a:off x="6467072" y="4483108"/>
                <a:ext cx="5428409" cy="531299"/>
              </a:xfrm>
              <a:prstGeom prst="rect">
                <a:avLst/>
              </a:prstGeom>
            </p:spPr>
            <p:txBody>
              <a:bodyPr wrap="none">
                <a:spAutoFit/>
              </a:bodyPr>
              <a:lstStyle/>
              <a:p>
                <a:r>
                  <a:rPr lang="vi-VN" sz="2800" i="1" spc="-20" dirty="0">
                    <a:latin typeface="Times New Roman" panose="02020603050405020304" pitchFamily="18" charset="0"/>
                    <a:ea typeface="Times New Roman" panose="02020603050405020304" pitchFamily="18" charset="0"/>
                  </a:rPr>
                  <a:t>F</a:t>
                </a:r>
                <a:r>
                  <a:rPr lang="vi-VN" sz="2800" spc="-20" dirty="0">
                    <a:latin typeface="Times New Roman" panose="02020603050405020304" pitchFamily="18" charset="0"/>
                    <a:ea typeface="Times New Roman" panose="02020603050405020304" pitchFamily="18" charset="0"/>
                  </a:rPr>
                  <a:t>(</a:t>
                </a:r>
                <a:r>
                  <a:rPr lang="en-US" sz="2800" i="1" spc="-20" dirty="0">
                    <a:latin typeface="Times New Roman" panose="02020603050405020304" pitchFamily="18" charset="0"/>
                    <a:ea typeface="Times New Roman" panose="02020603050405020304" pitchFamily="18" charset="0"/>
                  </a:rPr>
                  <a:t>a</a:t>
                </a:r>
                <a:r>
                  <a:rPr lang="vi-VN" sz="2800" i="1" spc="-20" dirty="0">
                    <a:latin typeface="Times New Roman" panose="02020603050405020304" pitchFamily="18" charset="0"/>
                    <a:ea typeface="Times New Roman" panose="02020603050405020304" pitchFamily="18" charset="0"/>
                  </a:rPr>
                  <a:t>, </a:t>
                </a:r>
                <a:r>
                  <a:rPr lang="en-US" sz="2800" i="1" spc="-20" dirty="0">
                    <a:latin typeface="Times New Roman" panose="02020603050405020304" pitchFamily="18" charset="0"/>
                    <a:ea typeface="Times New Roman" panose="02020603050405020304" pitchFamily="18" charset="0"/>
                  </a:rPr>
                  <a:t>b</a:t>
                </a:r>
                <a:r>
                  <a:rPr lang="vi-VN" sz="2800" i="1" spc="-20" dirty="0">
                    <a:latin typeface="Times New Roman" panose="02020603050405020304" pitchFamily="18" charset="0"/>
                    <a:ea typeface="Times New Roman" panose="02020603050405020304" pitchFamily="18" charset="0"/>
                  </a:rPr>
                  <a:t>, </a:t>
                </a:r>
                <a:r>
                  <a:rPr lang="en-US" sz="2800" i="1" spc="-20" dirty="0">
                    <a:latin typeface="Times New Roman" panose="02020603050405020304" pitchFamily="18" charset="0"/>
                    <a:ea typeface="Times New Roman" panose="02020603050405020304" pitchFamily="18" charset="0"/>
                  </a:rPr>
                  <a:t>c</a:t>
                </a:r>
                <a:r>
                  <a:rPr lang="vi-VN" sz="2800" spc="-20" dirty="0">
                    <a:latin typeface="Times New Roman" panose="02020603050405020304" pitchFamily="18" charset="0"/>
                    <a:ea typeface="Times New Roman" panose="02020603050405020304" pitchFamily="18" charset="0"/>
                  </a:rPr>
                  <a:t>) =</a:t>
                </a:r>
                <a:r>
                  <a:rPr lang="en-US" sz="2800" spc="-20" dirty="0">
                    <a:latin typeface="Times New Roman" panose="02020603050405020304" pitchFamily="18" charset="0"/>
                    <a:ea typeface="Times New Roman" panose="02020603050405020304" pitchFamily="18" charset="0"/>
                  </a:rPr>
                  <a:t> </a:t>
                </a:r>
                <a:r>
                  <a:rPr lang="en-US" sz="2800" i="1" spc="-20" dirty="0">
                    <a:solidFill>
                      <a:srgbClr val="0070C0"/>
                    </a:solidFill>
                    <a:latin typeface="Times New Roman" panose="02020603050405020304" pitchFamily="18" charset="0"/>
                    <a:ea typeface="Times New Roman" panose="02020603050405020304" pitchFamily="18" charset="0"/>
                  </a:rPr>
                  <a:t>(</a:t>
                </a:r>
                <a14:m>
                  <m:oMath xmlns:m="http://schemas.openxmlformats.org/officeDocument/2006/math">
                    <m:acc>
                      <m:accPr>
                        <m:chr m:val="̅"/>
                        <m:ctrlPr>
                          <a:rPr lang="en-US" sz="2800" i="1" spc="-20" smtClean="0">
                            <a:solidFill>
                              <a:srgbClr val="0070C0"/>
                            </a:solidFill>
                            <a:effectLst/>
                            <a:latin typeface="Cambria Math" panose="02040503050406030204" pitchFamily="18" charset="0"/>
                          </a:rPr>
                        </m:ctrlPr>
                      </m:accPr>
                      <m:e>
                        <m:r>
                          <m:rPr>
                            <m:nor/>
                          </m:rPr>
                          <a:rPr lang="en-US" sz="2800" b="0" i="1" spc="-2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m:t>a</m:t>
                        </m:r>
                      </m:e>
                    </m:acc>
                  </m:oMath>
                </a14:m>
                <a:r>
                  <a:rPr lang="en-US" sz="2800" i="1" spc="-20" dirty="0">
                    <a:solidFill>
                      <a:srgbClr val="0070C0"/>
                    </a:solidFill>
                    <a:latin typeface="Times New Roman" panose="02020603050405020304" pitchFamily="18" charset="0"/>
                    <a:ea typeface="Times New Roman" panose="02020603050405020304" pitchFamily="18" charset="0"/>
                  </a:rPr>
                  <a:t> + </a:t>
                </a:r>
                <a14:m>
                  <m:oMath xmlns:m="http://schemas.openxmlformats.org/officeDocument/2006/math">
                    <m:acc>
                      <m:accPr>
                        <m:chr m:val="̅"/>
                        <m:ctrlPr>
                          <a:rPr lang="en-US" sz="2800" i="1" spc="-20">
                            <a:solidFill>
                              <a:srgbClr val="0070C0"/>
                            </a:solidFill>
                            <a:latin typeface="Cambria Math" panose="02040503050406030204" pitchFamily="18" charset="0"/>
                          </a:rPr>
                        </m:ctrlPr>
                      </m:accPr>
                      <m:e>
                        <m:r>
                          <m:rPr>
                            <m:nor/>
                          </m:rPr>
                          <a:rPr lang="en-US" sz="2800" b="0" i="1" spc="-20" smtClean="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m:t>b</m:t>
                        </m:r>
                      </m:e>
                    </m:acc>
                  </m:oMath>
                </a14:m>
                <a:r>
                  <a:rPr lang="en-US" sz="2800" i="1" spc="-20" dirty="0">
                    <a:solidFill>
                      <a:srgbClr val="0070C0"/>
                    </a:solidFill>
                    <a:latin typeface="Times New Roman" panose="02020603050405020304" pitchFamily="18" charset="0"/>
                    <a:ea typeface="Times New Roman" panose="02020603050405020304" pitchFamily="18" charset="0"/>
                  </a:rPr>
                  <a:t>)</a:t>
                </a:r>
                <a:r>
                  <a:rPr lang="en-US" sz="2800" i="1" spc="-20" dirty="0">
                    <a:solidFill>
                      <a:srgbClr val="7030A0"/>
                    </a:solidFill>
                    <a:latin typeface="Times New Roman" panose="02020603050405020304" pitchFamily="18" charset="0"/>
                    <a:ea typeface="Times New Roman" panose="02020603050405020304" pitchFamily="18" charset="0"/>
                  </a:rPr>
                  <a:t>(</a:t>
                </a:r>
                <a14:m>
                  <m:oMath xmlns:m="http://schemas.openxmlformats.org/officeDocument/2006/math">
                    <m:acc>
                      <m:accPr>
                        <m:chr m:val="̅"/>
                        <m:ctrlPr>
                          <a:rPr lang="en-US" sz="2800" i="1" spc="-20">
                            <a:solidFill>
                              <a:srgbClr val="7030A0"/>
                            </a:solidFill>
                            <a:latin typeface="Cambria Math" panose="02040503050406030204" pitchFamily="18" charset="0"/>
                          </a:rPr>
                        </m:ctrlPr>
                      </m:accPr>
                      <m:e>
                        <m:r>
                          <m:rPr>
                            <m:nor/>
                          </m:rPr>
                          <a:rPr lang="en-US" sz="2800" b="0" i="1" spc="-20" smtClean="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m:t>a</m:t>
                        </m:r>
                      </m:e>
                    </m:acc>
                  </m:oMath>
                </a14:m>
                <a:r>
                  <a:rPr lang="en-US" sz="2800" i="1" spc="-20" dirty="0">
                    <a:solidFill>
                      <a:srgbClr val="7030A0"/>
                    </a:solidFill>
                    <a:latin typeface="Times New Roman" panose="02020603050405020304" pitchFamily="18" charset="0"/>
                    <a:ea typeface="Times New Roman" panose="02020603050405020304" pitchFamily="18" charset="0"/>
                  </a:rPr>
                  <a:t> + c)</a:t>
                </a:r>
                <a:r>
                  <a:rPr lang="en-US" sz="2800" i="1" spc="-20" dirty="0">
                    <a:solidFill>
                      <a:srgbClr val="FFC000"/>
                    </a:solidFill>
                    <a:latin typeface="Times New Roman" panose="02020603050405020304" pitchFamily="18" charset="0"/>
                    <a:ea typeface="Times New Roman" panose="02020603050405020304" pitchFamily="18" charset="0"/>
                  </a:rPr>
                  <a:t>(a + b + </a:t>
                </a:r>
                <a14:m>
                  <m:oMath xmlns:m="http://schemas.openxmlformats.org/officeDocument/2006/math">
                    <m:acc>
                      <m:accPr>
                        <m:chr m:val="̅"/>
                        <m:ctrlPr>
                          <a:rPr lang="en-US" sz="2800" i="1" spc="-20">
                            <a:solidFill>
                              <a:srgbClr val="FFC000"/>
                            </a:solidFill>
                            <a:latin typeface="Cambria Math" panose="02040503050406030204" pitchFamily="18" charset="0"/>
                          </a:rPr>
                        </m:ctrlPr>
                      </m:accPr>
                      <m:e>
                        <m:r>
                          <m:rPr>
                            <m:nor/>
                          </m:rPr>
                          <a:rPr lang="en-US" sz="2800" b="0" i="1" spc="-20" smtClean="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m:t>c</m:t>
                        </m:r>
                      </m:e>
                    </m:acc>
                  </m:oMath>
                </a14:m>
                <a:r>
                  <a:rPr lang="en-US" sz="2800" i="1" spc="-20" dirty="0">
                    <a:solidFill>
                      <a:srgbClr val="FFC000"/>
                    </a:solidFill>
                    <a:latin typeface="Times New Roman" panose="02020603050405020304" pitchFamily="18" charset="0"/>
                    <a:ea typeface="Times New Roman" panose="02020603050405020304" pitchFamily="18" charset="0"/>
                  </a:rPr>
                  <a:t>)</a:t>
                </a:r>
                <a:endParaRPr lang="en-US" sz="2800" i="1" dirty="0"/>
              </a:p>
            </p:txBody>
          </p:sp>
        </mc:Choice>
        <mc:Fallback xmlns="">
          <p:sp>
            <p:nvSpPr>
              <p:cNvPr id="29" name="Rectangle 28">
                <a:extLst>
                  <a:ext uri="{FF2B5EF4-FFF2-40B4-BE49-F238E27FC236}">
                    <a16:creationId xmlns:a16="http://schemas.microsoft.com/office/drawing/2014/main" id="{8DB78DA4-6051-6FA0-81E6-EE6A292AB7AE}"/>
                  </a:ext>
                </a:extLst>
              </p:cNvPr>
              <p:cNvSpPr>
                <a:spLocks noRot="1" noChangeAspect="1" noMove="1" noResize="1" noEditPoints="1" noAdjustHandles="1" noChangeArrowheads="1" noChangeShapeType="1" noTextEdit="1"/>
              </p:cNvSpPr>
              <p:nvPr/>
            </p:nvSpPr>
            <p:spPr>
              <a:xfrm>
                <a:off x="6467072" y="4483108"/>
                <a:ext cx="5428409" cy="531299"/>
              </a:xfrm>
              <a:prstGeom prst="rect">
                <a:avLst/>
              </a:prstGeom>
              <a:blipFill>
                <a:blip r:embed="rId3"/>
                <a:stretch>
                  <a:fillRect l="-2336" t="-9091" r="-1402" b="-29545"/>
                </a:stretch>
              </a:blipFill>
            </p:spPr>
            <p:txBody>
              <a:bodyPr/>
              <a:lstStyle/>
              <a:p>
                <a:r>
                  <a:rPr lang="en-VN">
                    <a:noFill/>
                  </a:rPr>
                  <a:t> </a:t>
                </a:r>
              </a:p>
            </p:txBody>
          </p:sp>
        </mc:Fallback>
      </mc:AlternateContent>
    </p:spTree>
    <p:extLst>
      <p:ext uri="{BB962C8B-B14F-4D97-AF65-F5344CB8AC3E}">
        <p14:creationId xmlns:p14="http://schemas.microsoft.com/office/powerpoint/2010/main" val="293877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ppt_x"/>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5" grpId="0" animBg="1"/>
      <p:bldP spid="26" grpId="0" animBg="1"/>
      <p:bldP spid="27" grpId="0" animBg="1"/>
      <p:bldP spid="28" grpId="0" animBg="1"/>
      <p:bldP spid="2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gn="just" eaLnBrk="1" hangingPunct="1">
              <a:lnSpc>
                <a:spcPct val="90000"/>
              </a:lnSpc>
              <a:spcAft>
                <a:spcPts val="1000"/>
              </a:spcAft>
              <a:defRPr/>
            </a:pPr>
            <a:r>
              <a:rPr lang="en-US" sz="4000" dirty="0"/>
              <a:t>Ph</a:t>
            </a:r>
            <a:r>
              <a:rPr lang="vi-VN" sz="4000" dirty="0"/>
              <a:t>ư</a:t>
            </a:r>
            <a:r>
              <a:rPr lang="en-US" sz="4000" dirty="0" err="1"/>
              <a:t>ơng</a:t>
            </a:r>
            <a:r>
              <a:rPr lang="en-US" sz="4000" dirty="0"/>
              <a:t> </a:t>
            </a:r>
            <a:r>
              <a:rPr lang="en-US" sz="4000" dirty="0" err="1"/>
              <a:t>pháp</a:t>
            </a:r>
            <a:r>
              <a:rPr lang="en-US" sz="4000" dirty="0"/>
              <a:t> Karnaugh </a:t>
            </a:r>
            <a:r>
              <a:rPr lang="en-US" dirty="0"/>
              <a:t>(</a:t>
            </a:r>
            <a:r>
              <a:rPr lang="en-US" dirty="0" err="1"/>
              <a:t>tt</a:t>
            </a:r>
            <a:r>
              <a:rPr lang="en-US" dirty="0"/>
              <a:t>)</a:t>
            </a:r>
            <a:endParaRPr lang="en-US" b="1" dirty="0"/>
          </a:p>
        </p:txBody>
      </p:sp>
      <p:graphicFrame>
        <p:nvGraphicFramePr>
          <p:cNvPr id="3" name="Content Placeholder 4">
            <a:extLst>
              <a:ext uri="{FF2B5EF4-FFF2-40B4-BE49-F238E27FC236}">
                <a16:creationId xmlns:a16="http://schemas.microsoft.com/office/drawing/2014/main" id="{41A8061B-09A8-7EC9-53BF-5AF11A075D9F}"/>
              </a:ext>
            </a:extLst>
          </p:cNvPr>
          <p:cNvGraphicFramePr>
            <a:graphicFrameLocks noGrp="1"/>
          </p:cNvGraphicFramePr>
          <p:nvPr>
            <p:ph idx="1"/>
            <p:extLst>
              <p:ext uri="{D42A27DB-BD31-4B8C-83A1-F6EECF244321}">
                <p14:modId xmlns:p14="http://schemas.microsoft.com/office/powerpoint/2010/main" val="3396152509"/>
              </p:ext>
            </p:extLst>
          </p:nvPr>
        </p:nvGraphicFramePr>
        <p:xfrm>
          <a:off x="1457077" y="2385391"/>
          <a:ext cx="27432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455843401"/>
                    </a:ext>
                  </a:extLst>
                </a:gridCol>
                <a:gridCol w="457200">
                  <a:extLst>
                    <a:ext uri="{9D8B030D-6E8A-4147-A177-3AD203B41FA5}">
                      <a16:colId xmlns:a16="http://schemas.microsoft.com/office/drawing/2014/main" val="3764293794"/>
                    </a:ext>
                  </a:extLst>
                </a:gridCol>
                <a:gridCol w="457200">
                  <a:extLst>
                    <a:ext uri="{9D8B030D-6E8A-4147-A177-3AD203B41FA5}">
                      <a16:colId xmlns:a16="http://schemas.microsoft.com/office/drawing/2014/main" val="3768131836"/>
                    </a:ext>
                  </a:extLst>
                </a:gridCol>
                <a:gridCol w="457200">
                  <a:extLst>
                    <a:ext uri="{9D8B030D-6E8A-4147-A177-3AD203B41FA5}">
                      <a16:colId xmlns:a16="http://schemas.microsoft.com/office/drawing/2014/main" val="3579832772"/>
                    </a:ext>
                  </a:extLst>
                </a:gridCol>
                <a:gridCol w="457200">
                  <a:extLst>
                    <a:ext uri="{9D8B030D-6E8A-4147-A177-3AD203B41FA5}">
                      <a16:colId xmlns:a16="http://schemas.microsoft.com/office/drawing/2014/main" val="3540773619"/>
                    </a:ext>
                  </a:extLst>
                </a:gridCol>
                <a:gridCol w="457200">
                  <a:extLst>
                    <a:ext uri="{9D8B030D-6E8A-4147-A177-3AD203B41FA5}">
                      <a16:colId xmlns:a16="http://schemas.microsoft.com/office/drawing/2014/main" val="2416611903"/>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yz</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34712243"/>
                  </a:ext>
                </a:extLst>
              </a:tr>
              <a:tr h="457200">
                <a:tc>
                  <a:txBody>
                    <a:bodyPr/>
                    <a:lstStyle/>
                    <a:p>
                      <a:pPr marL="0" marR="0" algn="ctr">
                        <a:lnSpc>
                          <a:spcPct val="150000"/>
                        </a:lnSpc>
                        <a:spcBef>
                          <a:spcPts val="600"/>
                        </a:spcBef>
                        <a:spcAft>
                          <a:spcPts val="0"/>
                        </a:spcAft>
                      </a:pPr>
                      <a:r>
                        <a:rPr lang="vi-VN" sz="2200" i="1" spc="-20">
                          <a:effectLst/>
                          <a:latin typeface="+mj-lt"/>
                        </a:rPr>
                        <a:t>x</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8710832"/>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3114257"/>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36941"/>
                  </a:ext>
                </a:extLst>
              </a:tr>
            </a:tbl>
          </a:graphicData>
        </a:graphic>
      </p:graphicFrame>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51</a:t>
            </a:fld>
            <a:endParaRPr lang="en-VN"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D24B758-9ED2-E168-2179-F38E67292C9C}"/>
                  </a:ext>
                </a:extLst>
              </p:cNvPr>
              <p:cNvSpPr/>
              <p:nvPr/>
            </p:nvSpPr>
            <p:spPr>
              <a:xfrm>
                <a:off x="1457077" y="1862171"/>
                <a:ext cx="2754921" cy="523220"/>
              </a:xfrm>
              <a:prstGeom prst="rect">
                <a:avLst/>
              </a:prstGeom>
            </p:spPr>
            <p:txBody>
              <a:bodyPr wrap="none">
                <a:spAutoFit/>
              </a:bodyPr>
              <a:lstStyle/>
              <a:p>
                <a:r>
                  <a:rPr lang="vi-VN" sz="2800" i="1" spc="-20" dirty="0">
                    <a:latin typeface="+mj-lt"/>
                    <a:ea typeface="Times New Roman" panose="02020603050405020304" pitchFamily="18" charset="0"/>
                  </a:rPr>
                  <a:t>f</a:t>
                </a:r>
                <a:r>
                  <a:rPr lang="vi-VN" sz="2800" spc="-20" dirty="0">
                    <a:latin typeface="+mj-lt"/>
                    <a:ea typeface="Times New Roman" panose="02020603050405020304" pitchFamily="18" charset="0"/>
                  </a:rPr>
                  <a:t>(</a:t>
                </a:r>
                <a:r>
                  <a:rPr lang="vi-VN" sz="2800" i="1" spc="-20" dirty="0">
                    <a:latin typeface="+mj-lt"/>
                    <a:ea typeface="Times New Roman" panose="02020603050405020304" pitchFamily="18" charset="0"/>
                  </a:rPr>
                  <a:t>x</a:t>
                </a:r>
                <a:r>
                  <a:rPr lang="vi-VN" sz="2800" spc="-20" dirty="0">
                    <a:latin typeface="+mj-lt"/>
                    <a:ea typeface="Times New Roman" panose="02020603050405020304" pitchFamily="18" charset="0"/>
                  </a:rPr>
                  <a:t>, </a:t>
                </a:r>
                <a:r>
                  <a:rPr lang="vi-VN" sz="2800" i="1" spc="-20" dirty="0">
                    <a:latin typeface="+mj-lt"/>
                    <a:ea typeface="Times New Roman" panose="02020603050405020304" pitchFamily="18" charset="0"/>
                  </a:rPr>
                  <a:t>y</a:t>
                </a:r>
                <a:r>
                  <a:rPr lang="vi-VN" sz="2800" spc="-20" dirty="0">
                    <a:latin typeface="+mj-lt"/>
                    <a:ea typeface="Times New Roman" panose="02020603050405020304" pitchFamily="18" charset="0"/>
                  </a:rPr>
                  <a:t>, </a:t>
                </a:r>
                <a:r>
                  <a:rPr lang="vi-VN" sz="2800" i="1" spc="-20" dirty="0">
                    <a:latin typeface="+mj-lt"/>
                    <a:ea typeface="Times New Roman" panose="02020603050405020304" pitchFamily="18" charset="0"/>
                  </a:rPr>
                  <a:t>z</a:t>
                </a:r>
                <a:r>
                  <a:rPr lang="vi-VN" sz="2800" spc="-20" dirty="0">
                    <a:latin typeface="+mj-lt"/>
                    <a:ea typeface="Times New Roman" panose="02020603050405020304" pitchFamily="18" charset="0"/>
                  </a:rPr>
                  <a:t>) = </a:t>
                </a:r>
                <a:r>
                  <a:rPr lang="vi-VN" sz="2800" i="1" spc="-20" dirty="0">
                    <a:solidFill>
                      <a:schemeClr val="accent1"/>
                    </a:solidFill>
                    <a:latin typeface="+mj-lt"/>
                    <a:ea typeface="Times New Roman" panose="02020603050405020304" pitchFamily="18" charset="0"/>
                  </a:rPr>
                  <a:t>x</a:t>
                </a:r>
                <a:r>
                  <a:rPr lang="vi-VN" sz="2800" spc="-20" dirty="0">
                    <a:latin typeface="+mj-lt"/>
                    <a:ea typeface="Times New Roman" panose="02020603050405020304" pitchFamily="18" charset="0"/>
                  </a:rPr>
                  <a:t> + </a:t>
                </a:r>
                <a14:m>
                  <m:oMath xmlns:m="http://schemas.openxmlformats.org/officeDocument/2006/math">
                    <m:acc>
                      <m:accPr>
                        <m:chr m:val="̅"/>
                        <m:ctrlPr>
                          <a:rPr lang="en-US" sz="2800" i="1" spc="-20" smtClean="0">
                            <a:solidFill>
                              <a:schemeClr val="accent5"/>
                            </a:solidFill>
                            <a:effectLst/>
                            <a:latin typeface="Cambria Math" panose="02040503050406030204" pitchFamily="18" charset="0"/>
                          </a:rPr>
                        </m:ctrlPr>
                      </m:accPr>
                      <m:e>
                        <m:r>
                          <m:rPr>
                            <m:nor/>
                          </m:rPr>
                          <a:rPr lang="vi-VN" sz="2800" i="1" spc="-20">
                            <a:solidFill>
                              <a:schemeClr val="accent5"/>
                            </a:solidFill>
                            <a:latin typeface="+mj-lt"/>
                            <a:ea typeface="Times New Roman" panose="02020603050405020304" pitchFamily="18" charset="0"/>
                          </a:rPr>
                          <m:t>x</m:t>
                        </m:r>
                      </m:e>
                    </m:acc>
                  </m:oMath>
                </a14:m>
                <a:r>
                  <a:rPr lang="vi-VN" sz="2800" i="1" spc="-20" dirty="0">
                    <a:solidFill>
                      <a:schemeClr val="accent5"/>
                    </a:solidFill>
                    <a:latin typeface="+mj-lt"/>
                    <a:ea typeface="Times New Roman" panose="02020603050405020304" pitchFamily="18" charset="0"/>
                  </a:rPr>
                  <a:t>yz</a:t>
                </a:r>
                <a:r>
                  <a:rPr lang="vi-VN" sz="2800" spc="-20" dirty="0">
                    <a:solidFill>
                      <a:schemeClr val="accent5"/>
                    </a:solidFill>
                    <a:latin typeface="+mj-lt"/>
                    <a:ea typeface="Times New Roman" panose="02020603050405020304" pitchFamily="18" charset="0"/>
                  </a:rPr>
                  <a:t> </a:t>
                </a:r>
                <a:endParaRPr lang="en-US" sz="2800" dirty="0">
                  <a:latin typeface="+mj-lt"/>
                </a:endParaRPr>
              </a:p>
            </p:txBody>
          </p:sp>
        </mc:Choice>
        <mc:Fallback xmlns="">
          <p:sp>
            <p:nvSpPr>
              <p:cNvPr id="6" name="Rectangle 5">
                <a:extLst>
                  <a:ext uri="{FF2B5EF4-FFF2-40B4-BE49-F238E27FC236}">
                    <a16:creationId xmlns:a16="http://schemas.microsoft.com/office/drawing/2014/main" id="{ED24B758-9ED2-E168-2179-F38E67292C9C}"/>
                  </a:ext>
                </a:extLst>
              </p:cNvPr>
              <p:cNvSpPr>
                <a:spLocks noRot="1" noChangeAspect="1" noMove="1" noResize="1" noEditPoints="1" noAdjustHandles="1" noChangeArrowheads="1" noChangeShapeType="1" noTextEdit="1"/>
              </p:cNvSpPr>
              <p:nvPr/>
            </p:nvSpPr>
            <p:spPr>
              <a:xfrm>
                <a:off x="1457077" y="1862171"/>
                <a:ext cx="2754921" cy="523220"/>
              </a:xfrm>
              <a:prstGeom prst="rect">
                <a:avLst/>
              </a:prstGeom>
              <a:blipFill>
                <a:blip r:embed="rId2"/>
                <a:stretch>
                  <a:fillRect l="-4425" t="-12791" r="-664" b="-30233"/>
                </a:stretch>
              </a:blipFill>
            </p:spPr>
            <p:txBody>
              <a:bodyPr/>
              <a:lstStyle/>
              <a:p>
                <a:r>
                  <a:rPr lang="en-US">
                    <a:noFill/>
                  </a:rPr>
                  <a:t> </a:t>
                </a:r>
              </a:p>
            </p:txBody>
          </p:sp>
        </mc:Fallback>
      </mc:AlternateContent>
      <p:graphicFrame>
        <p:nvGraphicFramePr>
          <p:cNvPr id="7" name="Content Placeholder 4">
            <a:extLst>
              <a:ext uri="{FF2B5EF4-FFF2-40B4-BE49-F238E27FC236}">
                <a16:creationId xmlns:a16="http://schemas.microsoft.com/office/drawing/2014/main" id="{7F942250-7DCF-C598-D112-2F1155F08FB3}"/>
              </a:ext>
            </a:extLst>
          </p:cNvPr>
          <p:cNvGraphicFramePr>
            <a:graphicFrameLocks/>
          </p:cNvGraphicFramePr>
          <p:nvPr>
            <p:extLst>
              <p:ext uri="{D42A27DB-BD31-4B8C-83A1-F6EECF244321}">
                <p14:modId xmlns:p14="http://schemas.microsoft.com/office/powerpoint/2010/main" val="1488641040"/>
              </p:ext>
            </p:extLst>
          </p:nvPr>
        </p:nvGraphicFramePr>
        <p:xfrm>
          <a:off x="7343900" y="2385391"/>
          <a:ext cx="2743200" cy="18288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455843401"/>
                    </a:ext>
                  </a:extLst>
                </a:gridCol>
                <a:gridCol w="457200">
                  <a:extLst>
                    <a:ext uri="{9D8B030D-6E8A-4147-A177-3AD203B41FA5}">
                      <a16:colId xmlns:a16="http://schemas.microsoft.com/office/drawing/2014/main" val="3764293794"/>
                    </a:ext>
                  </a:extLst>
                </a:gridCol>
                <a:gridCol w="457200">
                  <a:extLst>
                    <a:ext uri="{9D8B030D-6E8A-4147-A177-3AD203B41FA5}">
                      <a16:colId xmlns:a16="http://schemas.microsoft.com/office/drawing/2014/main" val="3768131836"/>
                    </a:ext>
                  </a:extLst>
                </a:gridCol>
                <a:gridCol w="457200">
                  <a:extLst>
                    <a:ext uri="{9D8B030D-6E8A-4147-A177-3AD203B41FA5}">
                      <a16:colId xmlns:a16="http://schemas.microsoft.com/office/drawing/2014/main" val="3579832772"/>
                    </a:ext>
                  </a:extLst>
                </a:gridCol>
                <a:gridCol w="457200">
                  <a:extLst>
                    <a:ext uri="{9D8B030D-6E8A-4147-A177-3AD203B41FA5}">
                      <a16:colId xmlns:a16="http://schemas.microsoft.com/office/drawing/2014/main" val="3540773619"/>
                    </a:ext>
                  </a:extLst>
                </a:gridCol>
                <a:gridCol w="457200">
                  <a:extLst>
                    <a:ext uri="{9D8B030D-6E8A-4147-A177-3AD203B41FA5}">
                      <a16:colId xmlns:a16="http://schemas.microsoft.com/office/drawing/2014/main" val="2416611903"/>
                    </a:ext>
                  </a:extLst>
                </a:gridCol>
              </a:tblGrid>
              <a:tr h="457200">
                <a:tc>
                  <a:txBody>
                    <a:bodyPr/>
                    <a:lstStyle/>
                    <a:p>
                      <a:pPr marL="0" marR="0" algn="ctr">
                        <a:lnSpc>
                          <a:spcPct val="150000"/>
                        </a:lnSpc>
                        <a:spcBef>
                          <a:spcPts val="600"/>
                        </a:spcBef>
                        <a:spcAft>
                          <a:spcPts val="0"/>
                        </a:spcAft>
                      </a:pPr>
                      <a:r>
                        <a:rPr lang="vi-VN" sz="2200" i="1" spc="-20">
                          <a:effectLst/>
                          <a:latin typeface="+mj-lt"/>
                        </a:rPr>
                        <a:t>f</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yz</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34712243"/>
                  </a:ext>
                </a:extLst>
              </a:tr>
              <a:tr h="457200">
                <a:tc>
                  <a:txBody>
                    <a:bodyPr/>
                    <a:lstStyle/>
                    <a:p>
                      <a:pPr marL="0" marR="0" algn="ctr">
                        <a:lnSpc>
                          <a:spcPct val="150000"/>
                        </a:lnSpc>
                        <a:spcBef>
                          <a:spcPts val="600"/>
                        </a:spcBef>
                        <a:spcAft>
                          <a:spcPts val="0"/>
                        </a:spcAft>
                      </a:pPr>
                      <a:r>
                        <a:rPr lang="vi-VN" sz="2200" i="1" spc="-20">
                          <a:effectLst/>
                          <a:latin typeface="+mj-lt"/>
                        </a:rPr>
                        <a:t>x</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a:effectLst/>
                          <a:latin typeface="+mj-lt"/>
                        </a:rPr>
                        <a:t> </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8710832"/>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3114257"/>
                  </a:ext>
                </a:extLst>
              </a:tr>
              <a:tr h="457200">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a:t>
                      </a:r>
                      <a:endParaRPr lang="en-US" sz="22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36941"/>
                  </a:ext>
                </a:extLst>
              </a:tr>
            </a:tbl>
          </a:graphicData>
        </a:graphic>
      </p:graphicFrame>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5A82B65-724E-2AA9-1979-DB26D135A483}"/>
                  </a:ext>
                </a:extLst>
              </p:cNvPr>
              <p:cNvSpPr/>
              <p:nvPr/>
            </p:nvSpPr>
            <p:spPr>
              <a:xfrm>
                <a:off x="7343900" y="1862171"/>
                <a:ext cx="3229730" cy="523220"/>
              </a:xfrm>
              <a:prstGeom prst="rect">
                <a:avLst/>
              </a:prstGeom>
            </p:spPr>
            <p:txBody>
              <a:bodyPr wrap="none">
                <a:spAutoFit/>
              </a:bodyPr>
              <a:lstStyle/>
              <a:p>
                <a:r>
                  <a:rPr lang="vi-VN" sz="2800" i="1" spc="-20" dirty="0">
                    <a:latin typeface="+mj-lt"/>
                    <a:ea typeface="Times New Roman" panose="02020603050405020304" pitchFamily="18" charset="0"/>
                  </a:rPr>
                  <a:t>f</a:t>
                </a:r>
                <a:r>
                  <a:rPr lang="vi-VN" sz="2800" spc="-20" dirty="0">
                    <a:latin typeface="+mj-lt"/>
                    <a:ea typeface="Times New Roman" panose="02020603050405020304" pitchFamily="18" charset="0"/>
                  </a:rPr>
                  <a:t>(</a:t>
                </a:r>
                <a:r>
                  <a:rPr lang="vi-VN" sz="2800" i="1" spc="-20" dirty="0">
                    <a:latin typeface="+mj-lt"/>
                    <a:ea typeface="Times New Roman" panose="02020603050405020304" pitchFamily="18" charset="0"/>
                  </a:rPr>
                  <a:t>x</a:t>
                </a:r>
                <a:r>
                  <a:rPr lang="vi-VN" sz="2800" spc="-20" dirty="0">
                    <a:latin typeface="+mj-lt"/>
                    <a:ea typeface="Times New Roman" panose="02020603050405020304" pitchFamily="18" charset="0"/>
                  </a:rPr>
                  <a:t>, </a:t>
                </a:r>
                <a:r>
                  <a:rPr lang="vi-VN" sz="2800" i="1" spc="-20" dirty="0">
                    <a:latin typeface="+mj-lt"/>
                    <a:ea typeface="Times New Roman" panose="02020603050405020304" pitchFamily="18" charset="0"/>
                  </a:rPr>
                  <a:t>y</a:t>
                </a:r>
                <a:r>
                  <a:rPr lang="vi-VN" sz="2800" spc="-20" dirty="0">
                    <a:latin typeface="+mj-lt"/>
                    <a:ea typeface="Times New Roman" panose="02020603050405020304" pitchFamily="18" charset="0"/>
                  </a:rPr>
                  <a:t>, </a:t>
                </a:r>
                <a:r>
                  <a:rPr lang="vi-VN" sz="2800" i="1" spc="-20" dirty="0">
                    <a:latin typeface="+mj-lt"/>
                    <a:ea typeface="Times New Roman" panose="02020603050405020304" pitchFamily="18" charset="0"/>
                  </a:rPr>
                  <a:t>z</a:t>
                </a:r>
                <a:r>
                  <a:rPr lang="vi-VN" sz="2800" spc="-20" dirty="0">
                    <a:latin typeface="+mj-lt"/>
                    <a:ea typeface="Times New Roman" panose="02020603050405020304" pitchFamily="18" charset="0"/>
                  </a:rPr>
                  <a:t>) = </a:t>
                </a:r>
                <a14:m>
                  <m:oMath xmlns:m="http://schemas.openxmlformats.org/officeDocument/2006/math">
                    <m:acc>
                      <m:accPr>
                        <m:chr m:val="̅"/>
                        <m:ctrlPr>
                          <a:rPr lang="en-US" sz="2800" i="1" spc="-20" smtClean="0">
                            <a:solidFill>
                              <a:schemeClr val="accent1"/>
                            </a:solidFill>
                            <a:effectLst/>
                            <a:latin typeface="Cambria Math" panose="02040503050406030204" pitchFamily="18" charset="0"/>
                          </a:rPr>
                        </m:ctrlPr>
                      </m:accPr>
                      <m:e>
                        <m:r>
                          <m:rPr>
                            <m:nor/>
                          </m:rPr>
                          <a:rPr lang="vi-VN" sz="2800" i="1" spc="-20">
                            <a:solidFill>
                              <a:schemeClr val="accent1"/>
                            </a:solidFill>
                            <a:latin typeface="+mj-lt"/>
                            <a:ea typeface="Times New Roman" panose="02020603050405020304" pitchFamily="18" charset="0"/>
                          </a:rPr>
                          <m:t>x</m:t>
                        </m:r>
                      </m:e>
                    </m:acc>
                  </m:oMath>
                </a14:m>
                <a:r>
                  <a:rPr lang="vi-VN" sz="2800" spc="-20" dirty="0">
                    <a:solidFill>
                      <a:srgbClr val="7030A0"/>
                    </a:solidFill>
                    <a:latin typeface="+mj-lt"/>
                    <a:ea typeface="Times New Roman" panose="02020603050405020304" pitchFamily="18" charset="0"/>
                  </a:rPr>
                  <a:t>(</a:t>
                </a:r>
                <a:r>
                  <a:rPr lang="vi-VN" sz="2800" i="1" spc="-20" dirty="0">
                    <a:solidFill>
                      <a:srgbClr val="7030A0"/>
                    </a:solidFill>
                    <a:latin typeface="+mj-lt"/>
                    <a:ea typeface="Times New Roman" panose="02020603050405020304" pitchFamily="18" charset="0"/>
                  </a:rPr>
                  <a:t>x</a:t>
                </a:r>
                <a:r>
                  <a:rPr lang="vi-VN" sz="2800" spc="-20" dirty="0">
                    <a:solidFill>
                      <a:srgbClr val="7030A0"/>
                    </a:solidFill>
                    <a:latin typeface="+mj-lt"/>
                    <a:ea typeface="Times New Roman" panose="02020603050405020304" pitchFamily="18" charset="0"/>
                  </a:rPr>
                  <a:t> + </a:t>
                </a:r>
                <a:r>
                  <a:rPr lang="en-US" sz="2800" i="1" spc="-2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y</a:t>
                </a:r>
                <a:r>
                  <a:rPr lang="vi-VN" sz="2800" i="1" spc="-20" dirty="0">
                    <a:solidFill>
                      <a:srgbClr val="7030A0"/>
                    </a:solidFill>
                    <a:latin typeface="+mj-lt"/>
                    <a:ea typeface="Times New Roman" panose="02020603050405020304" pitchFamily="18" charset="0"/>
                  </a:rPr>
                  <a:t>+ </a:t>
                </a:r>
                <a14:m>
                  <m:oMath xmlns:m="http://schemas.openxmlformats.org/officeDocument/2006/math">
                    <m:acc>
                      <m:accPr>
                        <m:chr m:val="̅"/>
                        <m:ctrlPr>
                          <a:rPr lang="en-US" sz="2800" i="1" spc="-20">
                            <a:solidFill>
                              <a:srgbClr val="7030A0"/>
                            </a:solidFill>
                            <a:effectLst/>
                            <a:latin typeface="Cambria Math" panose="02040503050406030204" pitchFamily="18" charset="0"/>
                          </a:rPr>
                        </m:ctrlPr>
                      </m:accPr>
                      <m:e>
                        <m:r>
                          <m:rPr>
                            <m:nor/>
                          </m:rPr>
                          <a:rPr lang="vi-VN" sz="2800" i="1" spc="-20">
                            <a:solidFill>
                              <a:srgbClr val="7030A0"/>
                            </a:solidFill>
                            <a:latin typeface="+mj-lt"/>
                            <a:ea typeface="Times New Roman" panose="02020603050405020304" pitchFamily="18" charset="0"/>
                          </a:rPr>
                          <m:t>z</m:t>
                        </m:r>
                      </m:e>
                    </m:acc>
                  </m:oMath>
                </a14:m>
                <a:r>
                  <a:rPr lang="vi-VN" sz="2800" spc="-20" dirty="0">
                    <a:solidFill>
                      <a:srgbClr val="7030A0"/>
                    </a:solidFill>
                    <a:latin typeface="+mj-lt"/>
                    <a:ea typeface="Times New Roman" panose="02020603050405020304" pitchFamily="18" charset="0"/>
                  </a:rPr>
                  <a:t>)</a:t>
                </a:r>
                <a:endParaRPr lang="en-US" sz="2800" dirty="0">
                  <a:latin typeface="+mj-lt"/>
                </a:endParaRPr>
              </a:p>
            </p:txBody>
          </p:sp>
        </mc:Choice>
        <mc:Fallback xmlns="">
          <p:sp>
            <p:nvSpPr>
              <p:cNvPr id="8" name="Rectangle 7">
                <a:extLst>
                  <a:ext uri="{FF2B5EF4-FFF2-40B4-BE49-F238E27FC236}">
                    <a16:creationId xmlns:a16="http://schemas.microsoft.com/office/drawing/2014/main" id="{55A82B65-724E-2AA9-1979-DB26D135A483}"/>
                  </a:ext>
                </a:extLst>
              </p:cNvPr>
              <p:cNvSpPr>
                <a:spLocks noRot="1" noChangeAspect="1" noMove="1" noResize="1" noEditPoints="1" noAdjustHandles="1" noChangeArrowheads="1" noChangeShapeType="1" noTextEdit="1"/>
              </p:cNvSpPr>
              <p:nvPr/>
            </p:nvSpPr>
            <p:spPr>
              <a:xfrm>
                <a:off x="7343900" y="1862171"/>
                <a:ext cx="3229730" cy="523220"/>
              </a:xfrm>
              <a:prstGeom prst="rect">
                <a:avLst/>
              </a:prstGeom>
              <a:blipFill>
                <a:blip r:embed="rId3"/>
                <a:stretch>
                  <a:fillRect l="-3962" t="-12791" r="-2642" b="-30233"/>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331C8C67-8894-62E8-7CF0-AF57EC3762C2}"/>
              </a:ext>
            </a:extLst>
          </p:cNvPr>
          <p:cNvGraphicFramePr>
            <a:graphicFrameLocks noGrp="1"/>
          </p:cNvGraphicFramePr>
          <p:nvPr>
            <p:extLst>
              <p:ext uri="{D42A27DB-BD31-4B8C-83A1-F6EECF244321}">
                <p14:modId xmlns:p14="http://schemas.microsoft.com/office/powerpoint/2010/main" val="3330454433"/>
              </p:ext>
            </p:extLst>
          </p:nvPr>
        </p:nvGraphicFramePr>
        <p:xfrm>
          <a:off x="2365735" y="3295648"/>
          <a:ext cx="1828800" cy="9144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081750690"/>
                    </a:ext>
                  </a:extLst>
                </a:gridCol>
                <a:gridCol w="457200">
                  <a:extLst>
                    <a:ext uri="{9D8B030D-6E8A-4147-A177-3AD203B41FA5}">
                      <a16:colId xmlns:a16="http://schemas.microsoft.com/office/drawing/2014/main" val="3814168870"/>
                    </a:ext>
                  </a:extLst>
                </a:gridCol>
                <a:gridCol w="457200">
                  <a:extLst>
                    <a:ext uri="{9D8B030D-6E8A-4147-A177-3AD203B41FA5}">
                      <a16:colId xmlns:a16="http://schemas.microsoft.com/office/drawing/2014/main" val="371581310"/>
                    </a:ext>
                  </a:extLst>
                </a:gridCol>
                <a:gridCol w="457200">
                  <a:extLst>
                    <a:ext uri="{9D8B030D-6E8A-4147-A177-3AD203B41FA5}">
                      <a16:colId xmlns:a16="http://schemas.microsoft.com/office/drawing/2014/main" val="1243259685"/>
                    </a:ext>
                  </a:extLst>
                </a:gridCol>
              </a:tblGrid>
              <a:tr h="457200">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0485581"/>
                  </a:ext>
                </a:extLst>
              </a:tr>
              <a:tr h="457200">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41613"/>
                  </a:ext>
                </a:extLst>
              </a:tr>
            </a:tbl>
          </a:graphicData>
        </a:graphic>
      </p:graphicFrame>
      <p:sp>
        <p:nvSpPr>
          <p:cNvPr id="10" name="Rectangle 9">
            <a:extLst>
              <a:ext uri="{FF2B5EF4-FFF2-40B4-BE49-F238E27FC236}">
                <a16:creationId xmlns:a16="http://schemas.microsoft.com/office/drawing/2014/main" id="{1F260297-70E4-E569-B47C-435F8DF454E4}"/>
              </a:ext>
            </a:extLst>
          </p:cNvPr>
          <p:cNvSpPr/>
          <p:nvPr/>
        </p:nvSpPr>
        <p:spPr>
          <a:xfrm>
            <a:off x="2468730" y="3824930"/>
            <a:ext cx="1604547" cy="3581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D60B68A-F9DF-62BF-3E55-DFDFD7475E64}"/>
              </a:ext>
            </a:extLst>
          </p:cNvPr>
          <p:cNvSpPr/>
          <p:nvPr/>
        </p:nvSpPr>
        <p:spPr>
          <a:xfrm>
            <a:off x="3320578" y="3421736"/>
            <a:ext cx="317500" cy="75241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2798E62-B3F4-390D-1797-E44F8A9C4339}"/>
              </a:ext>
            </a:extLst>
          </p:cNvPr>
          <p:cNvSpPr/>
          <p:nvPr/>
        </p:nvSpPr>
        <p:spPr>
          <a:xfrm>
            <a:off x="1502640" y="4277355"/>
            <a:ext cx="2652073" cy="523220"/>
          </a:xfrm>
          <a:prstGeom prst="rect">
            <a:avLst/>
          </a:prstGeom>
        </p:spPr>
        <p:txBody>
          <a:bodyPr wrap="none">
            <a:spAutoFit/>
          </a:bodyPr>
          <a:lstStyle/>
          <a:p>
            <a:r>
              <a:rPr lang="vi-VN" sz="2800" i="1" spc="-20" dirty="0">
                <a:latin typeface="Times New Roman" panose="02020603050405020304" pitchFamily="18" charset="0"/>
                <a:ea typeface="Times New Roman" panose="02020603050405020304" pitchFamily="18" charset="0"/>
              </a:rPr>
              <a:t>F</a:t>
            </a:r>
            <a:r>
              <a:rPr lang="vi-VN" sz="2800" spc="-20" dirty="0">
                <a:latin typeface="Times New Roman" panose="02020603050405020304" pitchFamily="18" charset="0"/>
                <a:ea typeface="Times New Roman" panose="02020603050405020304" pitchFamily="18" charset="0"/>
              </a:rPr>
              <a:t>(</a:t>
            </a:r>
            <a:r>
              <a:rPr lang="vi-VN" sz="2800" i="1" spc="-20" dirty="0">
                <a:latin typeface="Times New Roman" panose="02020603050405020304" pitchFamily="18" charset="0"/>
                <a:ea typeface="Times New Roman" panose="02020603050405020304" pitchFamily="18" charset="0"/>
              </a:rPr>
              <a:t>x, y, z</a:t>
            </a:r>
            <a:r>
              <a:rPr lang="vi-VN" sz="2800" spc="-20" dirty="0">
                <a:latin typeface="Times New Roman" panose="02020603050405020304" pitchFamily="18" charset="0"/>
                <a:ea typeface="Times New Roman" panose="02020603050405020304" pitchFamily="18" charset="0"/>
              </a:rPr>
              <a:t>) =</a:t>
            </a:r>
            <a:r>
              <a:rPr lang="en-US" sz="2800" spc="-20" dirty="0">
                <a:latin typeface="Times New Roman" panose="02020603050405020304" pitchFamily="18" charset="0"/>
                <a:ea typeface="Times New Roman" panose="02020603050405020304" pitchFamily="18" charset="0"/>
              </a:rPr>
              <a:t> </a:t>
            </a:r>
            <a:r>
              <a:rPr lang="en-US" sz="2800" i="1" spc="-20" dirty="0">
                <a:solidFill>
                  <a:srgbClr val="0070C0"/>
                </a:solidFill>
                <a:latin typeface="Times New Roman" panose="02020603050405020304" pitchFamily="18" charset="0"/>
                <a:ea typeface="Times New Roman" panose="02020603050405020304" pitchFamily="18" charset="0"/>
              </a:rPr>
              <a:t>x </a:t>
            </a:r>
            <a:r>
              <a:rPr lang="en-US" sz="2800" i="1" spc="-20" dirty="0">
                <a:latin typeface="Times New Roman" panose="02020603050405020304" pitchFamily="18" charset="0"/>
                <a:ea typeface="Times New Roman" panose="02020603050405020304" pitchFamily="18" charset="0"/>
              </a:rPr>
              <a:t>+ </a:t>
            </a:r>
            <a:r>
              <a:rPr lang="en-US" sz="2800" i="1" spc="-20" dirty="0" err="1">
                <a:solidFill>
                  <a:srgbClr val="7030A0"/>
                </a:solidFill>
                <a:latin typeface="Times New Roman" panose="02020603050405020304" pitchFamily="18" charset="0"/>
                <a:ea typeface="Times New Roman" panose="02020603050405020304" pitchFamily="18" charset="0"/>
              </a:rPr>
              <a:t>yz</a:t>
            </a:r>
            <a:endParaRPr lang="en-US" sz="2800" dirty="0"/>
          </a:p>
        </p:txBody>
      </p:sp>
      <p:graphicFrame>
        <p:nvGraphicFramePr>
          <p:cNvPr id="13" name="Table 12">
            <a:extLst>
              <a:ext uri="{FF2B5EF4-FFF2-40B4-BE49-F238E27FC236}">
                <a16:creationId xmlns:a16="http://schemas.microsoft.com/office/drawing/2014/main" id="{61C8FE6B-AF8D-A743-7FAC-B2AD00803C9D}"/>
              </a:ext>
            </a:extLst>
          </p:cNvPr>
          <p:cNvGraphicFramePr>
            <a:graphicFrameLocks noGrp="1"/>
          </p:cNvGraphicFramePr>
          <p:nvPr>
            <p:extLst>
              <p:ext uri="{D42A27DB-BD31-4B8C-83A1-F6EECF244321}">
                <p14:modId xmlns:p14="http://schemas.microsoft.com/office/powerpoint/2010/main" val="1179436440"/>
              </p:ext>
            </p:extLst>
          </p:nvPr>
        </p:nvGraphicFramePr>
        <p:xfrm>
          <a:off x="8258300" y="3296580"/>
          <a:ext cx="1828800" cy="91440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457465345"/>
                    </a:ext>
                  </a:extLst>
                </a:gridCol>
                <a:gridCol w="457200">
                  <a:extLst>
                    <a:ext uri="{9D8B030D-6E8A-4147-A177-3AD203B41FA5}">
                      <a16:colId xmlns:a16="http://schemas.microsoft.com/office/drawing/2014/main" val="3787033803"/>
                    </a:ext>
                  </a:extLst>
                </a:gridCol>
                <a:gridCol w="457200">
                  <a:extLst>
                    <a:ext uri="{9D8B030D-6E8A-4147-A177-3AD203B41FA5}">
                      <a16:colId xmlns:a16="http://schemas.microsoft.com/office/drawing/2014/main" val="2310832804"/>
                    </a:ext>
                  </a:extLst>
                </a:gridCol>
                <a:gridCol w="457200">
                  <a:extLst>
                    <a:ext uri="{9D8B030D-6E8A-4147-A177-3AD203B41FA5}">
                      <a16:colId xmlns:a16="http://schemas.microsoft.com/office/drawing/2014/main" val="3394411818"/>
                    </a:ext>
                  </a:extLst>
                </a:gridCol>
              </a:tblGrid>
              <a:tr h="457200">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7672203"/>
                  </a:ext>
                </a:extLst>
              </a:tr>
              <a:tr h="457200">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1815495"/>
                  </a:ext>
                </a:extLst>
              </a:tr>
            </a:tbl>
          </a:graphicData>
        </a:graphic>
      </p:graphicFrame>
      <p:sp>
        <p:nvSpPr>
          <p:cNvPr id="14" name="Rectangle 13">
            <a:extLst>
              <a:ext uri="{FF2B5EF4-FFF2-40B4-BE49-F238E27FC236}">
                <a16:creationId xmlns:a16="http://schemas.microsoft.com/office/drawing/2014/main" id="{6F03EF55-7156-1794-7AD4-9056B871D077}"/>
              </a:ext>
            </a:extLst>
          </p:cNvPr>
          <p:cNvSpPr/>
          <p:nvPr/>
        </p:nvSpPr>
        <p:spPr>
          <a:xfrm>
            <a:off x="8370426" y="3814414"/>
            <a:ext cx="1604547" cy="3581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C59895C-291E-A5D7-63FC-EE936F96EC2F}"/>
              </a:ext>
            </a:extLst>
          </p:cNvPr>
          <p:cNvSpPr/>
          <p:nvPr/>
        </p:nvSpPr>
        <p:spPr>
          <a:xfrm>
            <a:off x="8790608" y="3402974"/>
            <a:ext cx="317500" cy="75241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10F26F9C-C616-4FB6-96CE-7135455840E7}"/>
                  </a:ext>
                </a:extLst>
              </p:cNvPr>
              <p:cNvSpPr/>
              <p:nvPr/>
            </p:nvSpPr>
            <p:spPr>
              <a:xfrm>
                <a:off x="7554873" y="4277355"/>
                <a:ext cx="2788969" cy="523220"/>
              </a:xfrm>
              <a:prstGeom prst="rect">
                <a:avLst/>
              </a:prstGeom>
            </p:spPr>
            <p:txBody>
              <a:bodyPr wrap="none">
                <a:spAutoFit/>
              </a:bodyPr>
              <a:lstStyle/>
              <a:p>
                <a:r>
                  <a:rPr lang="vi-VN" sz="2800" i="1" spc="-20" dirty="0">
                    <a:latin typeface="+mj-lt"/>
                    <a:ea typeface="Times New Roman" panose="02020603050405020304" pitchFamily="18" charset="0"/>
                  </a:rPr>
                  <a:t>F</a:t>
                </a:r>
                <a:r>
                  <a:rPr lang="vi-VN" sz="2800" spc="-20" dirty="0">
                    <a:latin typeface="+mj-lt"/>
                    <a:ea typeface="Times New Roman" panose="02020603050405020304" pitchFamily="18" charset="0"/>
                  </a:rPr>
                  <a:t>(</a:t>
                </a:r>
                <a:r>
                  <a:rPr lang="vi-VN" sz="2800" i="1" spc="-20" dirty="0">
                    <a:latin typeface="+mj-lt"/>
                    <a:ea typeface="Times New Roman" panose="02020603050405020304" pitchFamily="18" charset="0"/>
                  </a:rPr>
                  <a:t>x, y, z</a:t>
                </a:r>
                <a:r>
                  <a:rPr lang="vi-VN" sz="2800" spc="-20" dirty="0">
                    <a:latin typeface="+mj-lt"/>
                    <a:ea typeface="Times New Roman" panose="02020603050405020304" pitchFamily="18" charset="0"/>
                  </a:rPr>
                  <a:t>) =</a:t>
                </a:r>
                <a:r>
                  <a:rPr lang="en-US" sz="2800" spc="-20" dirty="0">
                    <a:latin typeface="+mj-lt"/>
                    <a:ea typeface="Times New Roman" panose="02020603050405020304" pitchFamily="18" charset="0"/>
                  </a:rPr>
                  <a:t> </a:t>
                </a:r>
                <a14:m>
                  <m:oMath xmlns:m="http://schemas.openxmlformats.org/officeDocument/2006/math">
                    <m:acc>
                      <m:accPr>
                        <m:chr m:val="̅"/>
                        <m:ctrlPr>
                          <a:rPr lang="en-US" sz="2800" i="1" spc="-20">
                            <a:latin typeface="Cambria Math" panose="02040503050406030204" pitchFamily="18" charset="0"/>
                          </a:rPr>
                        </m:ctrlPr>
                      </m:accPr>
                      <m:e>
                        <m:r>
                          <m:rPr>
                            <m:nor/>
                          </m:rPr>
                          <a:rPr lang="vi-VN" sz="2800" i="1" spc="-20">
                            <a:latin typeface="+mj-lt"/>
                            <a:ea typeface="Times New Roman" panose="02020603050405020304" pitchFamily="18" charset="0"/>
                          </a:rPr>
                          <m:t>x</m:t>
                        </m:r>
                      </m:e>
                    </m:acc>
                  </m:oMath>
                </a14:m>
                <a:r>
                  <a:rPr lang="vi-VN" sz="2800" spc="-20" dirty="0">
                    <a:latin typeface="+mj-lt"/>
                    <a:ea typeface="Times New Roman" panose="02020603050405020304" pitchFamily="18" charset="0"/>
                  </a:rPr>
                  <a:t>(</a:t>
                </a:r>
                <a:r>
                  <a:rPr lang="en-US" sz="2800" i="1" spc="-20" dirty="0">
                    <a:latin typeface="Times New Roman" panose="02020603050405020304" pitchFamily="18" charset="0"/>
                    <a:ea typeface="Times New Roman" panose="02020603050405020304" pitchFamily="18" charset="0"/>
                    <a:cs typeface="Times New Roman" panose="02020603050405020304" pitchFamily="18" charset="0"/>
                  </a:rPr>
                  <a:t>y</a:t>
                </a:r>
                <a:r>
                  <a:rPr lang="vi-VN" sz="2800" i="1" spc="-20" dirty="0">
                    <a:latin typeface="+mj-lt"/>
                    <a:ea typeface="Times New Roman" panose="02020603050405020304" pitchFamily="18" charset="0"/>
                  </a:rPr>
                  <a:t>+ </a:t>
                </a:r>
                <a14:m>
                  <m:oMath xmlns:m="http://schemas.openxmlformats.org/officeDocument/2006/math">
                    <m:acc>
                      <m:accPr>
                        <m:chr m:val="̅"/>
                        <m:ctrlPr>
                          <a:rPr lang="en-US" sz="2800" i="1" spc="-20">
                            <a:latin typeface="Cambria Math" panose="02040503050406030204" pitchFamily="18" charset="0"/>
                          </a:rPr>
                        </m:ctrlPr>
                      </m:accPr>
                      <m:e>
                        <m:r>
                          <m:rPr>
                            <m:nor/>
                          </m:rPr>
                          <a:rPr lang="vi-VN" sz="2800" i="1" spc="-20">
                            <a:latin typeface="+mj-lt"/>
                            <a:ea typeface="Times New Roman" panose="02020603050405020304" pitchFamily="18" charset="0"/>
                          </a:rPr>
                          <m:t>z</m:t>
                        </m:r>
                      </m:e>
                    </m:acc>
                  </m:oMath>
                </a14:m>
                <a:r>
                  <a:rPr lang="vi-VN" sz="2800" spc="-20" dirty="0">
                    <a:latin typeface="+mj-lt"/>
                    <a:ea typeface="Times New Roman" panose="02020603050405020304" pitchFamily="18" charset="0"/>
                  </a:rPr>
                  <a:t>)</a:t>
                </a:r>
                <a:endParaRPr lang="en-US" sz="2800" dirty="0">
                  <a:latin typeface="+mj-lt"/>
                </a:endParaRPr>
              </a:p>
            </p:txBody>
          </p:sp>
        </mc:Choice>
        <mc:Fallback xmlns="">
          <p:sp>
            <p:nvSpPr>
              <p:cNvPr id="31" name="Rectangle 30">
                <a:extLst>
                  <a:ext uri="{FF2B5EF4-FFF2-40B4-BE49-F238E27FC236}">
                    <a16:creationId xmlns:a16="http://schemas.microsoft.com/office/drawing/2014/main" id="{10F26F9C-C616-4FB6-96CE-7135455840E7}"/>
                  </a:ext>
                </a:extLst>
              </p:cNvPr>
              <p:cNvSpPr>
                <a:spLocks noRot="1" noChangeAspect="1" noMove="1" noResize="1" noEditPoints="1" noAdjustHandles="1" noChangeArrowheads="1" noChangeShapeType="1" noTextEdit="1"/>
              </p:cNvSpPr>
              <p:nvPr/>
            </p:nvSpPr>
            <p:spPr>
              <a:xfrm>
                <a:off x="7554873" y="4277355"/>
                <a:ext cx="2788969" cy="523220"/>
              </a:xfrm>
              <a:prstGeom prst="rect">
                <a:avLst/>
              </a:prstGeom>
              <a:blipFill>
                <a:blip r:embed="rId4"/>
                <a:stretch>
                  <a:fillRect l="-4525" t="-14286" r="-3620" b="-30952"/>
                </a:stretch>
              </a:blipFill>
            </p:spPr>
            <p:txBody>
              <a:bodyPr/>
              <a:lstStyle/>
              <a:p>
                <a:r>
                  <a:rPr lang="en-VN">
                    <a:noFill/>
                  </a:rPr>
                  <a:t> </a:t>
                </a:r>
              </a:p>
            </p:txBody>
          </p:sp>
        </mc:Fallback>
      </mc:AlternateContent>
    </p:spTree>
    <p:extLst>
      <p:ext uri="{BB962C8B-B14F-4D97-AF65-F5344CB8AC3E}">
        <p14:creationId xmlns:p14="http://schemas.microsoft.com/office/powerpoint/2010/main" val="322604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additive="base">
                                        <p:cTn id="49" dur="500" fill="hold"/>
                                        <p:tgtEl>
                                          <p:spTgt spid="31"/>
                                        </p:tgtEl>
                                        <p:attrNameLst>
                                          <p:attrName>ppt_x</p:attrName>
                                        </p:attrNameLst>
                                      </p:cBhvr>
                                      <p:tavLst>
                                        <p:tav tm="0">
                                          <p:val>
                                            <p:strVal val="#ppt_x"/>
                                          </p:val>
                                        </p:tav>
                                        <p:tav tm="100000">
                                          <p:val>
                                            <p:strVal val="#ppt_x"/>
                                          </p:val>
                                        </p:tav>
                                      </p:tavLst>
                                    </p:anim>
                                    <p:anim calcmode="lin" valueType="num">
                                      <p:cBhvr additive="base">
                                        <p:cTn id="5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4" grpId="0" animBg="1"/>
      <p:bldP spid="30" grpId="0" animBg="1"/>
      <p:bldP spid="3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- 4 biến (ví dụ 1)</a:t>
            </a:r>
            <a:endParaRPr lang="en-US" dirty="0"/>
          </a:p>
        </p:txBody>
      </p:sp>
      <p:sp>
        <p:nvSpPr>
          <p:cNvPr id="4" name="Footer Placeholder 3"/>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5" name="Slide Number Placeholder 4"/>
          <p:cNvSpPr>
            <a:spLocks noGrp="1"/>
          </p:cNvSpPr>
          <p:nvPr>
            <p:ph type="sldNum" sz="quarter" idx="12"/>
          </p:nvPr>
        </p:nvSpPr>
        <p:spPr>
          <a:prstGeom prst="rect">
            <a:avLst/>
          </a:prstGeom>
        </p:spPr>
        <p:txBody>
          <a:bodyPr/>
          <a:lstStyle/>
          <a:p>
            <a:pPr>
              <a:defRPr/>
            </a:pPr>
            <a:fld id="{FAF50031-8B8E-48B0-AA7A-20708E4E21D0}" type="slidenum">
              <a:rPr lang="en-US" smtClean="0"/>
              <a:pPr>
                <a:defRPr/>
              </a:pPr>
              <a:t>52</a:t>
            </a:fld>
            <a:endParaRPr lang="en-US"/>
          </a:p>
        </p:txBody>
      </p:sp>
      <p:sp>
        <p:nvSpPr>
          <p:cNvPr id="3" name="Date Placeholder 2"/>
          <p:cNvSpPr>
            <a:spLocks noGrp="1"/>
          </p:cNvSpPr>
          <p:nvPr>
            <p:ph type="dt" sz="half" idx="4294967295"/>
          </p:nvPr>
        </p:nvSpPr>
        <p:spPr bwMode="auto">
          <a:xfrm>
            <a:off x="0" y="6524625"/>
            <a:ext cx="2133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8E3929-EB02-46DA-BB5F-26DFD1F576BD}" type="datetime1">
              <a:rPr lang="en-US" altLang="ja-JP" smtClean="0"/>
              <a:pPr/>
              <a:t>8/21/2023</a:t>
            </a:fld>
            <a:endParaRPr kumimoji="1" lang="ja-JP" altLang="en-US"/>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447800"/>
            <a:ext cx="38100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2438400"/>
            <a:ext cx="3971925" cy="4057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1" y="1828801"/>
            <a:ext cx="3694917" cy="5179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2462440"/>
            <a:ext cx="4800600" cy="4048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Rectangle 10"/>
          <p:cNvSpPr/>
          <p:nvPr/>
        </p:nvSpPr>
        <p:spPr>
          <a:xfrm>
            <a:off x="1524000" y="2350408"/>
            <a:ext cx="3971925" cy="41601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15000" y="2462439"/>
            <a:ext cx="4800600" cy="41601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934200" y="1849210"/>
            <a:ext cx="35814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Ph</a:t>
            </a:r>
            <a:r>
              <a:rPr lang="vi-VN"/>
              <a:t>ư</a:t>
            </a:r>
            <a:r>
              <a:rPr lang="en-US"/>
              <a:t>ơng pháp Karnaugh - 4 biến (ví dụ 2)</a:t>
            </a:r>
            <a:endParaRPr lang="en-US" dirty="0"/>
          </a:p>
        </p:txBody>
      </p:sp>
      <p:sp>
        <p:nvSpPr>
          <p:cNvPr id="4" name="Footer Placeholder 3"/>
          <p:cNvSpPr>
            <a:spLocks noGrp="1"/>
          </p:cNvSpPr>
          <p:nvPr>
            <p:ph type="ftr" sz="quarter" idx="11"/>
          </p:nvPr>
        </p:nvSpPr>
        <p:spPr/>
        <p:txBody>
          <a:bodyPr/>
          <a:lstStyle/>
          <a:p>
            <a:r>
              <a:rPr kumimoji="1" lang="en-US" altLang="ja-JP"/>
              <a:t>Copyrights 2016 UIT-CE. All Rights Reserved.</a:t>
            </a:r>
            <a:endParaRPr kumimoji="1" lang="ja-JP" altLang="en-US" dirty="0"/>
          </a:p>
        </p:txBody>
      </p:sp>
      <p:sp>
        <p:nvSpPr>
          <p:cNvPr id="5" name="Slide Number Placeholder 4"/>
          <p:cNvSpPr>
            <a:spLocks noGrp="1"/>
          </p:cNvSpPr>
          <p:nvPr>
            <p:ph type="sldNum" sz="quarter" idx="12"/>
          </p:nvPr>
        </p:nvSpPr>
        <p:spPr>
          <a:prstGeom prst="rect">
            <a:avLst/>
          </a:prstGeom>
        </p:spPr>
        <p:txBody>
          <a:bodyPr/>
          <a:lstStyle/>
          <a:p>
            <a:pPr>
              <a:defRPr/>
            </a:pPr>
            <a:fld id="{FAF50031-8B8E-48B0-AA7A-20708E4E21D0}" type="slidenum">
              <a:rPr lang="en-US" smtClean="0"/>
              <a:pPr>
                <a:defRPr/>
              </a:pPr>
              <a:t>53</a:t>
            </a:fld>
            <a:endParaRPr lang="en-US"/>
          </a:p>
        </p:txBody>
      </p:sp>
      <p:sp>
        <p:nvSpPr>
          <p:cNvPr id="3" name="Date Placeholder 2"/>
          <p:cNvSpPr>
            <a:spLocks noGrp="1"/>
          </p:cNvSpPr>
          <p:nvPr>
            <p:ph type="dt" sz="half" idx="4294967295"/>
          </p:nvPr>
        </p:nvSpPr>
        <p:spPr bwMode="auto">
          <a:xfrm>
            <a:off x="0" y="6524625"/>
            <a:ext cx="2133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ja-JP"/>
            </a:defPPr>
            <a:lvl1pPr marL="0" algn="l" defTabSz="914400" rtl="0" eaLnBrk="1" latinLnBrk="0" hangingPunct="1">
              <a:defRPr kumimoji="1" sz="1000" kern="1200">
                <a:solidFill>
                  <a:schemeClr val="tx1"/>
                </a:solidFill>
                <a:latin typeface="Times New Roman" pitchFamily="18" charset="0"/>
                <a:ea typeface="+mn-ea"/>
                <a:cs typeface="Times New Roman" pitchFamily="18"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8E3929-EB02-46DA-BB5F-26DFD1F576BD}" type="datetime1">
              <a:rPr lang="en-US" altLang="ja-JP" smtClean="0"/>
              <a:pPr/>
              <a:t>8/21/2023</a:t>
            </a:fld>
            <a:endParaRPr kumimoji="1" lang="ja-JP" altLang="en-US"/>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295401"/>
            <a:ext cx="5048250" cy="466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6" y="2181226"/>
            <a:ext cx="3990975" cy="414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2371726"/>
            <a:ext cx="4857750" cy="4181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1" y="1765755"/>
            <a:ext cx="2447925" cy="428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Rectangle 10"/>
          <p:cNvSpPr/>
          <p:nvPr/>
        </p:nvSpPr>
        <p:spPr>
          <a:xfrm>
            <a:off x="1524000" y="2061482"/>
            <a:ext cx="4038600" cy="44917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581650" y="2366282"/>
            <a:ext cx="4857750" cy="44917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620001" y="1762125"/>
            <a:ext cx="2447925"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47599617-31AC-B284-F2D7-CC131642B7CE}"/>
              </a:ext>
            </a:extLst>
          </p:cNvPr>
          <p:cNvSpPr>
            <a:spLocks noGrp="1"/>
          </p:cNvSpPr>
          <p:nvPr>
            <p:ph type="body" sz="quarter" idx="16"/>
          </p:nvPr>
        </p:nvSpPr>
        <p:spPr/>
        <p:txBody>
          <a:bodyPr>
            <a:normAutofit lnSpcReduction="10000"/>
          </a:bodyPr>
          <a:lstStyle/>
          <a:p>
            <a:r>
              <a:rPr lang="en-US"/>
              <a:t>5</a:t>
            </a:r>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p:txBody>
          <a:bodyPr>
            <a:normAutofit fontScale="92500" lnSpcReduction="10000"/>
          </a:bodyPr>
          <a:lstStyle/>
          <a:p>
            <a:pPr>
              <a:lnSpc>
                <a:spcPct val="150000"/>
              </a:lnSpc>
            </a:pPr>
            <a:r>
              <a:rPr lang="en-US" sz="4400"/>
              <a:t>Bài </a:t>
            </a:r>
            <a:r>
              <a:rPr lang="en-US" sz="4400" dirty="0" err="1"/>
              <a:t>tập</a:t>
            </a:r>
            <a:endParaRPr lang="en-US" sz="4400" dirty="0"/>
          </a:p>
        </p:txBody>
      </p:sp>
      <p:sp>
        <p:nvSpPr>
          <p:cNvPr id="5" name="Text Placeholder 4">
            <a:extLst>
              <a:ext uri="{FF2B5EF4-FFF2-40B4-BE49-F238E27FC236}">
                <a16:creationId xmlns:a16="http://schemas.microsoft.com/office/drawing/2014/main" id="{FDAE9DBA-C2D5-BD42-FD95-F112A4521438}"/>
              </a:ext>
            </a:extLst>
          </p:cNvPr>
          <p:cNvSpPr>
            <a:spLocks noGrp="1"/>
          </p:cNvSpPr>
          <p:nvPr>
            <p:ph type="body" sz="quarter" idx="15"/>
          </p:nvPr>
        </p:nvSpPr>
        <p:spPr/>
        <p:txBody>
          <a:bodyPr/>
          <a:lstStyle/>
          <a:p>
            <a:endParaRPr lang="en-US"/>
          </a:p>
        </p:txBody>
      </p:sp>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54</a:t>
            </a:fld>
            <a:endParaRPr lang="en-VN" dirty="0"/>
          </a:p>
        </p:txBody>
      </p:sp>
      <p:sp>
        <p:nvSpPr>
          <p:cNvPr id="13" name="Text Placeholder 12">
            <a:extLst>
              <a:ext uri="{FF2B5EF4-FFF2-40B4-BE49-F238E27FC236}">
                <a16:creationId xmlns:a16="http://schemas.microsoft.com/office/drawing/2014/main" id="{98FDFFB6-545D-6353-7292-153E54F60105}"/>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4469468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tập 1</a:t>
            </a:r>
            <a:endParaRPr lang="en-US"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67C80964-F9EA-67F2-3321-78D70BA1A356}"/>
                  </a:ext>
                </a:extLst>
              </p:cNvPr>
              <p:cNvSpPr>
                <a:spLocks noGrp="1"/>
              </p:cNvSpPr>
              <p:nvPr>
                <p:ph idx="1"/>
              </p:nvPr>
            </p:nvSpPr>
            <p:spPr>
              <a:xfrm>
                <a:off x="838200" y="1642532"/>
                <a:ext cx="10515600" cy="3845737"/>
              </a:xfrm>
            </p:spPr>
            <p:txBody>
              <a:bodyPr/>
              <a:lstStyle/>
              <a:p>
                <a:r>
                  <a:rPr lang="vi-VN" dirty="0"/>
                  <a:t>F(A, B, C, D) = A</a:t>
                </a:r>
                <a14:m>
                  <m:oMath xmlns:m="http://schemas.openxmlformats.org/officeDocument/2006/math">
                    <m:acc>
                      <m:accPr>
                        <m:chr m:val="̅"/>
                        <m:ctrlPr>
                          <a:rPr lang="en-US" i="1">
                            <a:latin typeface="Cambria Math" panose="02040503050406030204" pitchFamily="18" charset="0"/>
                          </a:rPr>
                        </m:ctrlPr>
                      </m:accPr>
                      <m:e>
                        <m:r>
                          <m:rPr>
                            <m:nor/>
                          </m:rPr>
                          <a:rPr lang="vi-VN"/>
                          <m:t>B</m:t>
                        </m:r>
                      </m:e>
                    </m:acc>
                  </m:oMath>
                </a14:m>
                <a:r>
                  <a:rPr lang="vi-VN" dirty="0"/>
                  <a:t>C + </a:t>
                </a:r>
                <a14:m>
                  <m:oMath xmlns:m="http://schemas.openxmlformats.org/officeDocument/2006/math">
                    <m:acc>
                      <m:accPr>
                        <m:chr m:val="̅"/>
                        <m:ctrlPr>
                          <a:rPr lang="en-US" i="1">
                            <a:latin typeface="Cambria Math" panose="02040503050406030204" pitchFamily="18" charset="0"/>
                          </a:rPr>
                        </m:ctrlPr>
                      </m:accPr>
                      <m:e>
                        <m:r>
                          <m:rPr>
                            <m:nor/>
                          </m:rPr>
                          <a:rPr lang="vi-VN"/>
                          <m:t>A</m:t>
                        </m:r>
                      </m:e>
                    </m:acc>
                  </m:oMath>
                </a14:m>
                <a:r>
                  <a:rPr lang="vi-VN" dirty="0"/>
                  <a:t>B</a:t>
                </a:r>
                <a:r>
                  <a:rPr lang="en-US" dirty="0"/>
                  <a:t>C</a:t>
                </a:r>
                <a:r>
                  <a:rPr lang="vi-VN" dirty="0"/>
                  <a:t> + </a:t>
                </a:r>
                <a14:m>
                  <m:oMath xmlns:m="http://schemas.openxmlformats.org/officeDocument/2006/math">
                    <m:acc>
                      <m:accPr>
                        <m:chr m:val="̅"/>
                        <m:ctrlPr>
                          <a:rPr lang="en-US" i="1">
                            <a:latin typeface="Cambria Math" panose="02040503050406030204" pitchFamily="18" charset="0"/>
                          </a:rPr>
                        </m:ctrlPr>
                      </m:accPr>
                      <m:e>
                        <m:r>
                          <m:rPr>
                            <m:nor/>
                          </m:rPr>
                          <a:rPr lang="vi-VN"/>
                          <m:t>A</m:t>
                        </m:r>
                      </m:e>
                    </m:acc>
                  </m:oMath>
                </a14:m>
                <a:r>
                  <a:rPr lang="en-US" dirty="0"/>
                  <a:t>B</a:t>
                </a:r>
                <a:r>
                  <a:rPr lang="vi-VN" dirty="0"/>
                  <a:t>C</a:t>
                </a:r>
                <a:r>
                  <a:rPr lang="en-US" dirty="0"/>
                  <a:t>D</a:t>
                </a:r>
                <a:r>
                  <a:rPr lang="vi-VN" dirty="0"/>
                  <a:t> + CD</a:t>
                </a:r>
                <a:endParaRPr lang="en-US" dirty="0"/>
              </a:p>
            </p:txBody>
          </p:sp>
        </mc:Choice>
        <mc:Fallback xmlns="">
          <p:sp>
            <p:nvSpPr>
              <p:cNvPr id="8" name="Content Placeholder 2">
                <a:extLst>
                  <a:ext uri="{FF2B5EF4-FFF2-40B4-BE49-F238E27FC236}">
                    <a16:creationId xmlns:a16="http://schemas.microsoft.com/office/drawing/2014/main" id="{67C80964-F9EA-67F2-3321-78D70BA1A356}"/>
                  </a:ext>
                </a:extLst>
              </p:cNvPr>
              <p:cNvSpPr>
                <a:spLocks noGrp="1" noRot="1" noChangeAspect="1" noMove="1" noResize="1" noEditPoints="1" noAdjustHandles="1" noChangeArrowheads="1" noChangeShapeType="1" noTextEdit="1"/>
              </p:cNvSpPr>
              <p:nvPr>
                <p:ph idx="1"/>
              </p:nvPr>
            </p:nvSpPr>
            <p:spPr>
              <a:xfrm>
                <a:off x="838200" y="1642532"/>
                <a:ext cx="10515600" cy="3845737"/>
              </a:xfrm>
              <a:blipFill>
                <a:blip r:embed="rId2"/>
                <a:stretch>
                  <a:fillRect l="-1086" t="-2303"/>
                </a:stretch>
              </a:blipFill>
            </p:spPr>
            <p:txBody>
              <a:bodyPr/>
              <a:lstStyle/>
              <a:p>
                <a:r>
                  <a:rPr lang="en-VN">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55</a:t>
            </a:fld>
            <a:endParaRPr lang="en-VN" dirty="0"/>
          </a:p>
        </p:txBody>
      </p:sp>
      <p:graphicFrame>
        <p:nvGraphicFramePr>
          <p:cNvPr id="9" name="Table 8">
            <a:extLst>
              <a:ext uri="{FF2B5EF4-FFF2-40B4-BE49-F238E27FC236}">
                <a16:creationId xmlns:a16="http://schemas.microsoft.com/office/drawing/2014/main" id="{C3C0DDFD-97B3-067A-BE7B-34C141392759}"/>
              </a:ext>
            </a:extLst>
          </p:cNvPr>
          <p:cNvGraphicFramePr>
            <a:graphicFrameLocks noGrp="1"/>
          </p:cNvGraphicFramePr>
          <p:nvPr>
            <p:extLst>
              <p:ext uri="{D42A27DB-BD31-4B8C-83A1-F6EECF244321}">
                <p14:modId xmlns:p14="http://schemas.microsoft.com/office/powerpoint/2010/main" val="2360522354"/>
              </p:ext>
            </p:extLst>
          </p:nvPr>
        </p:nvGraphicFramePr>
        <p:xfrm>
          <a:off x="3773339" y="2052885"/>
          <a:ext cx="3825949" cy="3825954"/>
        </p:xfrm>
        <a:graphic>
          <a:graphicData uri="http://schemas.openxmlformats.org/drawingml/2006/table">
            <a:tbl>
              <a:tblPr firstRow="1" firstCol="1" bandRow="1">
                <a:tableStyleId>{5940675A-B579-460E-94D1-54222C63F5DA}</a:tableStyleId>
              </a:tblPr>
              <a:tblGrid>
                <a:gridCol w="636096">
                  <a:extLst>
                    <a:ext uri="{9D8B030D-6E8A-4147-A177-3AD203B41FA5}">
                      <a16:colId xmlns:a16="http://schemas.microsoft.com/office/drawing/2014/main" val="2779724648"/>
                    </a:ext>
                  </a:extLst>
                </a:gridCol>
                <a:gridCol w="637268">
                  <a:extLst>
                    <a:ext uri="{9D8B030D-6E8A-4147-A177-3AD203B41FA5}">
                      <a16:colId xmlns:a16="http://schemas.microsoft.com/office/drawing/2014/main" val="2112277759"/>
                    </a:ext>
                  </a:extLst>
                </a:gridCol>
                <a:gridCol w="637268">
                  <a:extLst>
                    <a:ext uri="{9D8B030D-6E8A-4147-A177-3AD203B41FA5}">
                      <a16:colId xmlns:a16="http://schemas.microsoft.com/office/drawing/2014/main" val="2353685596"/>
                    </a:ext>
                  </a:extLst>
                </a:gridCol>
                <a:gridCol w="638439">
                  <a:extLst>
                    <a:ext uri="{9D8B030D-6E8A-4147-A177-3AD203B41FA5}">
                      <a16:colId xmlns:a16="http://schemas.microsoft.com/office/drawing/2014/main" val="72197876"/>
                    </a:ext>
                  </a:extLst>
                </a:gridCol>
                <a:gridCol w="638439">
                  <a:extLst>
                    <a:ext uri="{9D8B030D-6E8A-4147-A177-3AD203B41FA5}">
                      <a16:colId xmlns:a16="http://schemas.microsoft.com/office/drawing/2014/main" val="3918581522"/>
                    </a:ext>
                  </a:extLst>
                </a:gridCol>
                <a:gridCol w="638439">
                  <a:extLst>
                    <a:ext uri="{9D8B030D-6E8A-4147-A177-3AD203B41FA5}">
                      <a16:colId xmlns:a16="http://schemas.microsoft.com/office/drawing/2014/main" val="2758605262"/>
                    </a:ext>
                  </a:extLst>
                </a:gridCol>
              </a:tblGrid>
              <a:tr h="637659">
                <a:tc>
                  <a:txBody>
                    <a:bodyPr/>
                    <a:lstStyle/>
                    <a:p>
                      <a:pPr marL="0" marR="0" algn="ctr">
                        <a:lnSpc>
                          <a:spcPct val="150000"/>
                        </a:lnSpc>
                        <a:spcBef>
                          <a:spcPts val="600"/>
                        </a:spcBef>
                        <a:spcAft>
                          <a:spcPts val="0"/>
                        </a:spcAft>
                      </a:pPr>
                      <a:r>
                        <a:rPr lang="en-US" sz="3100" i="1" dirty="0">
                          <a:effectLst/>
                          <a:latin typeface="Times New Roman" panose="02020603050405020304" pitchFamily="18" charset="0"/>
                          <a:ea typeface="Times New Roman" panose="02020603050405020304" pitchFamily="18" charset="0"/>
                          <a:cs typeface="Times New Roman" panose="02020603050405020304" pitchFamily="18" charset="0"/>
                        </a:rPr>
                        <a:t>F</a:t>
                      </a: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cs typeface="Times New Roman" panose="02020603050405020304" pitchFamily="18" charset="0"/>
                        </a:rPr>
                        <a:t>CD</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637659">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ea typeface="Times New Roman" panose="02020603050405020304" pitchFamily="18" charset="0"/>
                          <a:cs typeface="Times New Roman" panose="02020603050405020304" pitchFamily="18" charset="0"/>
                        </a:rPr>
                        <a:t>AB</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i="1" spc="-20" dirty="0">
                          <a:effectLst/>
                          <a:latin typeface="+mj-lt"/>
                        </a:rPr>
                        <a:t> </a:t>
                      </a:r>
                      <a:endParaRPr lang="en-US" sz="3100" i="1" dirty="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100067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a:t>
            </a:r>
            <a:r>
              <a:rPr lang="en-US" err="1"/>
              <a:t>tập</a:t>
            </a:r>
            <a:r>
              <a:rPr lang="en-US"/>
              <a:t> 2</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r>
                  <a:rPr lang="en-US"/>
                  <a:t>Tối </a:t>
                </a:r>
                <a:r>
                  <a:rPr lang="vi-VN" dirty="0"/>
                  <a:t>ư</a:t>
                </a:r>
                <a:r>
                  <a:rPr lang="en-US" dirty="0"/>
                  <a:t>u </a:t>
                </a:r>
                <a:r>
                  <a:rPr lang="en-US" dirty="0" err="1"/>
                  <a:t>luận</a:t>
                </a:r>
                <a:r>
                  <a:rPr lang="en-US" dirty="0"/>
                  <a:t> </a:t>
                </a:r>
                <a:r>
                  <a:rPr lang="en-US" dirty="0" err="1"/>
                  <a:t>lý</a:t>
                </a:r>
                <a:r>
                  <a:rPr lang="en-US" dirty="0"/>
                  <a:t> </a:t>
                </a:r>
                <a:r>
                  <a:rPr lang="en-US" dirty="0" err="1"/>
                  <a:t>bằng</a:t>
                </a:r>
                <a:r>
                  <a:rPr lang="en-US" dirty="0"/>
                  <a:t> </a:t>
                </a:r>
                <a:r>
                  <a:rPr lang="en-US" dirty="0" err="1"/>
                  <a:t>ph</a:t>
                </a:r>
                <a:r>
                  <a:rPr lang="vi-VN" dirty="0"/>
                  <a:t>ư</a:t>
                </a:r>
                <a:r>
                  <a:rPr lang="en-US" dirty="0" err="1"/>
                  <a:t>ơng</a:t>
                </a:r>
                <a:r>
                  <a:rPr lang="en-US" dirty="0"/>
                  <a:t> </a:t>
                </a:r>
                <a:r>
                  <a:rPr lang="en-US" dirty="0" err="1"/>
                  <a:t>pháp</a:t>
                </a:r>
                <a:r>
                  <a:rPr lang="en-US" dirty="0"/>
                  <a:t> </a:t>
                </a:r>
                <a:r>
                  <a:rPr lang="en-US" dirty="0" err="1"/>
                  <a:t>đại</a:t>
                </a:r>
                <a:r>
                  <a:rPr lang="en-US" dirty="0"/>
                  <a:t> </a:t>
                </a:r>
                <a:r>
                  <a:rPr lang="en-US" err="1"/>
                  <a:t>số</a:t>
                </a:r>
                <a:r>
                  <a:rPr lang="en-US"/>
                  <a:t> Boole:</a:t>
                </a:r>
                <a:endParaRPr lang="en-US" dirty="0"/>
              </a:p>
              <a:p>
                <a:pPr lvl="1"/>
                <a:r>
                  <a:rPr lang="en-US" i="1" dirty="0"/>
                  <a:t>F</a:t>
                </a:r>
                <a:r>
                  <a:rPr lang="en-US" dirty="0"/>
                  <a:t>(</a:t>
                </a:r>
                <a:r>
                  <a:rPr lang="en-US" i="1" dirty="0"/>
                  <a:t>A, B, C</a:t>
                </a:r>
                <a:r>
                  <a:rPr lang="en-US" dirty="0"/>
                  <a:t>)</a:t>
                </a:r>
                <a:r>
                  <a:rPr lang="en-US" i="1" dirty="0"/>
                  <a:t> = AB + A</a:t>
                </a:r>
                <a14:m>
                  <m:oMath xmlns:m="http://schemas.openxmlformats.org/officeDocument/2006/math">
                    <m:acc>
                      <m:accPr>
                        <m:chr m:val="̅"/>
                        <m:ctrlPr>
                          <a:rPr lang="en-US" i="1">
                            <a:latin typeface="Cambria Math" panose="02040503050406030204" pitchFamily="18" charset="0"/>
                          </a:rPr>
                        </m:ctrlPr>
                      </m:accPr>
                      <m:e>
                        <m:r>
                          <m:rPr>
                            <m:nor/>
                          </m:rPr>
                          <a:rPr lang="en-US" i="1"/>
                          <m:t>B</m:t>
                        </m:r>
                      </m:e>
                    </m:acc>
                  </m:oMath>
                </a14:m>
                <a:r>
                  <a:rPr lang="en-US" i="1" dirty="0"/>
                  <a:t>C + AB</a:t>
                </a:r>
                <a14:m>
                  <m:oMath xmlns:m="http://schemas.openxmlformats.org/officeDocument/2006/math">
                    <m:acc>
                      <m:accPr>
                        <m:chr m:val="̅"/>
                        <m:ctrlPr>
                          <a:rPr lang="en-US" i="1">
                            <a:latin typeface="Cambria Math" panose="02040503050406030204" pitchFamily="18" charset="0"/>
                          </a:rPr>
                        </m:ctrlPr>
                      </m:accPr>
                      <m:e>
                        <m:r>
                          <m:rPr>
                            <m:nor/>
                          </m:rPr>
                          <a:rPr lang="en-US" i="1"/>
                          <m:t>C</m:t>
                        </m:r>
                      </m:e>
                    </m:acc>
                  </m:oMath>
                </a14:m>
                <a:endParaRPr lang="en-US" sz="2000" dirty="0"/>
              </a:p>
              <a:p>
                <a:pPr lvl="1"/>
                <a:r>
                  <a:rPr lang="en-US" i="1" dirty="0"/>
                  <a:t>F(X, Y, Z) </a:t>
                </a:r>
                <a:r>
                  <a:rPr lang="en-US" i="1"/>
                  <a:t>= m1 + m2 + m3 + m4 + m6 + m7</a:t>
                </a:r>
                <a:endParaRPr lang="en-US" sz="2000"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xfrm>
                <a:off x="1142797" y="1195821"/>
                <a:ext cx="10068128" cy="5160527"/>
              </a:xfrm>
              <a:blipFill>
                <a:blip r:embed="rId2"/>
                <a:stretch>
                  <a:fillRect l="-109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56</a:t>
            </a:fld>
            <a:endParaRPr lang="en-VN" dirty="0"/>
          </a:p>
        </p:txBody>
      </p:sp>
      <p:graphicFrame>
        <p:nvGraphicFramePr>
          <p:cNvPr id="7" name="Table 6">
            <a:extLst>
              <a:ext uri="{FF2B5EF4-FFF2-40B4-BE49-F238E27FC236}">
                <a16:creationId xmlns:a16="http://schemas.microsoft.com/office/drawing/2014/main" id="{581ADCFF-645D-CE69-AB3B-4F3D16D61F8C}"/>
              </a:ext>
            </a:extLst>
          </p:cNvPr>
          <p:cNvGraphicFramePr>
            <a:graphicFrameLocks noGrp="1"/>
          </p:cNvGraphicFramePr>
          <p:nvPr>
            <p:extLst>
              <p:ext uri="{D42A27DB-BD31-4B8C-83A1-F6EECF244321}">
                <p14:modId xmlns:p14="http://schemas.microsoft.com/office/powerpoint/2010/main" val="2309159235"/>
              </p:ext>
            </p:extLst>
          </p:nvPr>
        </p:nvGraphicFramePr>
        <p:xfrm>
          <a:off x="6986037" y="3574007"/>
          <a:ext cx="3625818" cy="2088172"/>
        </p:xfrm>
        <a:graphic>
          <a:graphicData uri="http://schemas.openxmlformats.org/drawingml/2006/table">
            <a:tbl>
              <a:tblPr firstRow="1" firstCol="1" bandRow="1">
                <a:tableStyleId>{5940675A-B579-460E-94D1-54222C63F5DA}</a:tableStyleId>
              </a:tblPr>
              <a:tblGrid>
                <a:gridCol w="604303">
                  <a:extLst>
                    <a:ext uri="{9D8B030D-6E8A-4147-A177-3AD203B41FA5}">
                      <a16:colId xmlns:a16="http://schemas.microsoft.com/office/drawing/2014/main" val="3766936681"/>
                    </a:ext>
                  </a:extLst>
                </a:gridCol>
                <a:gridCol w="604303">
                  <a:extLst>
                    <a:ext uri="{9D8B030D-6E8A-4147-A177-3AD203B41FA5}">
                      <a16:colId xmlns:a16="http://schemas.microsoft.com/office/drawing/2014/main" val="1853735494"/>
                    </a:ext>
                  </a:extLst>
                </a:gridCol>
                <a:gridCol w="604303">
                  <a:extLst>
                    <a:ext uri="{9D8B030D-6E8A-4147-A177-3AD203B41FA5}">
                      <a16:colId xmlns:a16="http://schemas.microsoft.com/office/drawing/2014/main" val="3266059422"/>
                    </a:ext>
                  </a:extLst>
                </a:gridCol>
                <a:gridCol w="604303">
                  <a:extLst>
                    <a:ext uri="{9D8B030D-6E8A-4147-A177-3AD203B41FA5}">
                      <a16:colId xmlns:a16="http://schemas.microsoft.com/office/drawing/2014/main" val="2367563649"/>
                    </a:ext>
                  </a:extLst>
                </a:gridCol>
                <a:gridCol w="604303">
                  <a:extLst>
                    <a:ext uri="{9D8B030D-6E8A-4147-A177-3AD203B41FA5}">
                      <a16:colId xmlns:a16="http://schemas.microsoft.com/office/drawing/2014/main" val="2899738817"/>
                    </a:ext>
                  </a:extLst>
                </a:gridCol>
                <a:gridCol w="604303">
                  <a:extLst>
                    <a:ext uri="{9D8B030D-6E8A-4147-A177-3AD203B41FA5}">
                      <a16:colId xmlns:a16="http://schemas.microsoft.com/office/drawing/2014/main" val="3999379534"/>
                    </a:ext>
                  </a:extLst>
                </a:gridCol>
              </a:tblGrid>
              <a:tr h="522043">
                <a:tc>
                  <a:txBody>
                    <a:bodyPr/>
                    <a:lstStyle/>
                    <a:p>
                      <a:pPr marL="0" marR="0" algn="ctr">
                        <a:lnSpc>
                          <a:spcPct val="150000"/>
                        </a:lnSpc>
                        <a:spcBef>
                          <a:spcPts val="600"/>
                        </a:spcBef>
                        <a:spcAft>
                          <a:spcPts val="0"/>
                        </a:spcAft>
                      </a:pPr>
                      <a:r>
                        <a:rPr lang="vi-VN" sz="2200" i="1" spc="-20" dirty="0">
                          <a:effectLst/>
                          <a:latin typeface="+mj-lt"/>
                        </a:rPr>
                        <a:t>F</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a:effectLst/>
                          <a:latin typeface="+mj-lt"/>
                          <a:ea typeface="Times New Roman" panose="02020603050405020304" pitchFamily="18" charset="0"/>
                        </a:rPr>
                        <a:t>YZ</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4920044"/>
                  </a:ext>
                </a:extLst>
              </a:tr>
              <a:tr h="522043">
                <a:tc>
                  <a:txBody>
                    <a:bodyPr/>
                    <a:lstStyle/>
                    <a:p>
                      <a:pPr marL="0" marR="0" algn="ctr">
                        <a:lnSpc>
                          <a:spcPct val="150000"/>
                        </a:lnSpc>
                        <a:spcBef>
                          <a:spcPts val="600"/>
                        </a:spcBef>
                        <a:spcAft>
                          <a:spcPts val="0"/>
                        </a:spcAft>
                      </a:pPr>
                      <a:r>
                        <a:rPr lang="en-US" sz="2200" i="1">
                          <a:effectLst/>
                          <a:latin typeface="+mj-lt"/>
                          <a:ea typeface="Times New Roman" panose="02020603050405020304" pitchFamily="18" charset="0"/>
                        </a:rPr>
                        <a:t>X</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rPr>
                        <a:t> </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9004382"/>
                  </a:ext>
                </a:extLst>
              </a:tr>
              <a:tr h="522043">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0</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3983914"/>
                  </a:ext>
                </a:extLst>
              </a:tr>
              <a:tr h="522043">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1</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6483358"/>
                  </a:ext>
                </a:extLst>
              </a:tr>
            </a:tbl>
          </a:graphicData>
        </a:graphic>
      </p:graphicFrame>
      <p:graphicFrame>
        <p:nvGraphicFramePr>
          <p:cNvPr id="8" name="Table 7">
            <a:extLst>
              <a:ext uri="{FF2B5EF4-FFF2-40B4-BE49-F238E27FC236}">
                <a16:creationId xmlns:a16="http://schemas.microsoft.com/office/drawing/2014/main" id="{42FA3C9A-B8FE-C3FF-57AF-5966DF15EAED}"/>
              </a:ext>
            </a:extLst>
          </p:cNvPr>
          <p:cNvGraphicFramePr>
            <a:graphicFrameLocks noGrp="1"/>
          </p:cNvGraphicFramePr>
          <p:nvPr>
            <p:extLst>
              <p:ext uri="{D42A27DB-BD31-4B8C-83A1-F6EECF244321}">
                <p14:modId xmlns:p14="http://schemas.microsoft.com/office/powerpoint/2010/main" val="869113894"/>
              </p:ext>
            </p:extLst>
          </p:nvPr>
        </p:nvGraphicFramePr>
        <p:xfrm>
          <a:off x="1363280" y="3574007"/>
          <a:ext cx="3625818" cy="2088172"/>
        </p:xfrm>
        <a:graphic>
          <a:graphicData uri="http://schemas.openxmlformats.org/drawingml/2006/table">
            <a:tbl>
              <a:tblPr firstRow="1" firstCol="1" bandRow="1">
                <a:tableStyleId>{5940675A-B579-460E-94D1-54222C63F5DA}</a:tableStyleId>
              </a:tblPr>
              <a:tblGrid>
                <a:gridCol w="604303">
                  <a:extLst>
                    <a:ext uri="{9D8B030D-6E8A-4147-A177-3AD203B41FA5}">
                      <a16:colId xmlns:a16="http://schemas.microsoft.com/office/drawing/2014/main" val="3766936681"/>
                    </a:ext>
                  </a:extLst>
                </a:gridCol>
                <a:gridCol w="604303">
                  <a:extLst>
                    <a:ext uri="{9D8B030D-6E8A-4147-A177-3AD203B41FA5}">
                      <a16:colId xmlns:a16="http://schemas.microsoft.com/office/drawing/2014/main" val="1853735494"/>
                    </a:ext>
                  </a:extLst>
                </a:gridCol>
                <a:gridCol w="604303">
                  <a:extLst>
                    <a:ext uri="{9D8B030D-6E8A-4147-A177-3AD203B41FA5}">
                      <a16:colId xmlns:a16="http://schemas.microsoft.com/office/drawing/2014/main" val="3266059422"/>
                    </a:ext>
                  </a:extLst>
                </a:gridCol>
                <a:gridCol w="604303">
                  <a:extLst>
                    <a:ext uri="{9D8B030D-6E8A-4147-A177-3AD203B41FA5}">
                      <a16:colId xmlns:a16="http://schemas.microsoft.com/office/drawing/2014/main" val="2367563649"/>
                    </a:ext>
                  </a:extLst>
                </a:gridCol>
                <a:gridCol w="604303">
                  <a:extLst>
                    <a:ext uri="{9D8B030D-6E8A-4147-A177-3AD203B41FA5}">
                      <a16:colId xmlns:a16="http://schemas.microsoft.com/office/drawing/2014/main" val="2899738817"/>
                    </a:ext>
                  </a:extLst>
                </a:gridCol>
                <a:gridCol w="604303">
                  <a:extLst>
                    <a:ext uri="{9D8B030D-6E8A-4147-A177-3AD203B41FA5}">
                      <a16:colId xmlns:a16="http://schemas.microsoft.com/office/drawing/2014/main" val="3999379534"/>
                    </a:ext>
                  </a:extLst>
                </a:gridCol>
              </a:tblGrid>
              <a:tr h="522043">
                <a:tc>
                  <a:txBody>
                    <a:bodyPr/>
                    <a:lstStyle/>
                    <a:p>
                      <a:pPr marL="0" marR="0" algn="ctr">
                        <a:lnSpc>
                          <a:spcPct val="150000"/>
                        </a:lnSpc>
                        <a:spcBef>
                          <a:spcPts val="600"/>
                        </a:spcBef>
                        <a:spcAft>
                          <a:spcPts val="0"/>
                        </a:spcAft>
                      </a:pPr>
                      <a:r>
                        <a:rPr lang="vi-VN" sz="2200" i="1" spc="-20" dirty="0">
                          <a:effectLst/>
                          <a:latin typeface="+mj-lt"/>
                        </a:rPr>
                        <a:t>F</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a:effectLst/>
                          <a:latin typeface="+mj-lt"/>
                          <a:ea typeface="Times New Roman" panose="02020603050405020304" pitchFamily="18" charset="0"/>
                        </a:rPr>
                        <a:t>BC</a:t>
                      </a:r>
                      <a:endParaRPr lang="en-US" sz="2200" i="1">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4920044"/>
                  </a:ext>
                </a:extLst>
              </a:tr>
              <a:tr h="522043">
                <a:tc>
                  <a:txBody>
                    <a:bodyPr/>
                    <a:lstStyle/>
                    <a:p>
                      <a:pPr marL="0" marR="0" algn="ctr">
                        <a:lnSpc>
                          <a:spcPct val="150000"/>
                        </a:lnSpc>
                        <a:spcBef>
                          <a:spcPts val="600"/>
                        </a:spcBef>
                        <a:spcAft>
                          <a:spcPts val="0"/>
                        </a:spcAft>
                      </a:pPr>
                      <a:r>
                        <a:rPr lang="en-US" sz="2200" i="1" spc="-20" dirty="0">
                          <a:effectLst/>
                          <a:latin typeface="+mj-lt"/>
                          <a:ea typeface="Times New Roman" panose="02020603050405020304" pitchFamily="18" charset="0"/>
                        </a:rPr>
                        <a:t>A</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i="1" spc="-20" dirty="0">
                          <a:effectLst/>
                          <a:latin typeface="+mj-lt"/>
                        </a:rPr>
                        <a:t> </a:t>
                      </a:r>
                      <a:endParaRPr lang="en-US" sz="2200" i="1" dirty="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01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11</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a:effectLst/>
                          <a:latin typeface="+mj-lt"/>
                        </a:rPr>
                        <a:t>10</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9004382"/>
                  </a:ext>
                </a:extLst>
              </a:tr>
              <a:tr h="522043">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0</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3983914"/>
                  </a:ext>
                </a:extLst>
              </a:tr>
              <a:tr h="522043">
                <a:tc>
                  <a:txBody>
                    <a:bodyPr/>
                    <a:lstStyle/>
                    <a:p>
                      <a:pPr marL="0" marR="0" algn="ctr">
                        <a:lnSpc>
                          <a:spcPct val="150000"/>
                        </a:lnSpc>
                        <a:spcBef>
                          <a:spcPts val="600"/>
                        </a:spcBef>
                        <a:spcAft>
                          <a:spcPts val="0"/>
                        </a:spcAft>
                      </a:pPr>
                      <a:r>
                        <a:rPr lang="vi-VN" sz="2200" spc="-20">
                          <a:effectLst/>
                          <a:latin typeface="+mj-lt"/>
                        </a:rPr>
                        <a:t> </a:t>
                      </a:r>
                      <a:endParaRPr lang="en-US" sz="2200">
                        <a:effectLst/>
                        <a:latin typeface="+mj-lt"/>
                        <a:ea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200" spc="-20" dirty="0">
                          <a:effectLst/>
                          <a:latin typeface="+mj-lt"/>
                        </a:rPr>
                        <a:t>1</a:t>
                      </a:r>
                      <a:endParaRPr lang="en-US" sz="22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2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6483358"/>
                  </a:ext>
                </a:extLst>
              </a:tr>
            </a:tbl>
          </a:graphicData>
        </a:graphic>
      </p:graphicFrame>
    </p:spTree>
    <p:extLst>
      <p:ext uri="{BB962C8B-B14F-4D97-AF65-F5344CB8AC3E}">
        <p14:creationId xmlns:p14="http://schemas.microsoft.com/office/powerpoint/2010/main" val="4274243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a:t>
            </a:r>
            <a:r>
              <a:rPr lang="en-US" err="1"/>
              <a:t>tập</a:t>
            </a:r>
            <a:r>
              <a:rPr lang="en-US"/>
              <a:t> 3</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37984" y="1051441"/>
                <a:ext cx="10068128" cy="5160527"/>
              </a:xfrm>
            </p:spPr>
            <p:txBody>
              <a:bodyPr>
                <a:noAutofit/>
              </a:bodyPr>
              <a:lstStyle/>
              <a:p>
                <a:r>
                  <a:rPr lang="en-US" dirty="0"/>
                  <a:t>Lập </a:t>
                </a:r>
                <a:r>
                  <a:rPr lang="en-US" dirty="0" err="1"/>
                  <a:t>bảng</a:t>
                </a:r>
                <a:r>
                  <a:rPr lang="en-US" dirty="0"/>
                  <a:t> </a:t>
                </a:r>
                <a:r>
                  <a:rPr lang="en-US" dirty="0" err="1"/>
                  <a:t>chân</a:t>
                </a:r>
                <a:r>
                  <a:rPr lang="en-US" dirty="0"/>
                  <a:t> </a:t>
                </a:r>
                <a:r>
                  <a:rPr lang="en-US" dirty="0" err="1"/>
                  <a:t>trị</a:t>
                </a:r>
                <a:r>
                  <a:rPr lang="en-US" dirty="0"/>
                  <a:t> </a:t>
                </a:r>
                <a:r>
                  <a:rPr lang="en-US" dirty="0" err="1"/>
                  <a:t>và</a:t>
                </a:r>
                <a:r>
                  <a:rPr lang="en-US" dirty="0"/>
                  <a:t> </a:t>
                </a:r>
                <a:r>
                  <a:rPr lang="en-US" dirty="0" err="1"/>
                  <a:t>sau</a:t>
                </a:r>
                <a:r>
                  <a:rPr lang="en-US" dirty="0"/>
                  <a:t> </a:t>
                </a:r>
                <a:r>
                  <a:rPr lang="en-US" dirty="0" err="1"/>
                  <a:t>đó</a:t>
                </a:r>
                <a:r>
                  <a:rPr lang="en-US" dirty="0"/>
                  <a:t> </a:t>
                </a:r>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bằng</a:t>
                </a:r>
                <a:r>
                  <a:rPr lang="en-US" dirty="0"/>
                  <a:t> </a:t>
                </a:r>
                <a:r>
                  <a:rPr lang="en-US" dirty="0" err="1"/>
                  <a:t>ph</a:t>
                </a:r>
                <a:r>
                  <a:rPr lang="vi-VN" dirty="0"/>
                  <a:t>ư</a:t>
                </a:r>
                <a:r>
                  <a:rPr lang="en-US" dirty="0" err="1"/>
                  <a:t>ơng</a:t>
                </a:r>
                <a:r>
                  <a:rPr lang="en-US" dirty="0"/>
                  <a:t> </a:t>
                </a:r>
                <a:r>
                  <a:rPr lang="en-US" err="1"/>
                  <a:t>pháp</a:t>
                </a:r>
                <a:r>
                  <a:rPr lang="en-US"/>
                  <a:t> bìa Karnaugh cho </a:t>
                </a:r>
                <a:r>
                  <a:rPr lang="en-US" dirty="0" err="1"/>
                  <a:t>các</a:t>
                </a:r>
                <a:r>
                  <a:rPr lang="en-US" dirty="0"/>
                  <a:t> </a:t>
                </a:r>
                <a:r>
                  <a:rPr lang="en-US" dirty="0" err="1"/>
                  <a:t>hàm</a:t>
                </a:r>
                <a:r>
                  <a:rPr lang="en-US" dirty="0"/>
                  <a:t> </a:t>
                </a:r>
                <a:r>
                  <a:rPr lang="en-US" dirty="0" err="1"/>
                  <a:t>luận</a:t>
                </a:r>
                <a:r>
                  <a:rPr lang="en-US" dirty="0"/>
                  <a:t> </a:t>
                </a:r>
                <a:r>
                  <a:rPr lang="en-US" dirty="0" err="1"/>
                  <a:t>lý</a:t>
                </a:r>
                <a:r>
                  <a:rPr lang="en-US" dirty="0"/>
                  <a:t> </a:t>
                </a:r>
                <a:r>
                  <a:rPr lang="en-US" dirty="0" err="1"/>
                  <a:t>sau</a:t>
                </a:r>
                <a:r>
                  <a:rPr lang="en-US" dirty="0"/>
                  <a:t>:</a:t>
                </a:r>
              </a:p>
              <a:p>
                <a:pPr lvl="1"/>
                <a14:m>
                  <m:oMath xmlns:m="http://schemas.openxmlformats.org/officeDocument/2006/math">
                    <m:r>
                      <m:rPr>
                        <m:nor/>
                      </m:rPr>
                      <a:rPr lang="vi-VN">
                        <a:latin typeface="+mj-lt"/>
                      </a:rPr>
                      <m:t>F</m:t>
                    </m:r>
                    <m:d>
                      <m:dPr>
                        <m:ctrlPr>
                          <a:rPr lang="en-US" i="1">
                            <a:latin typeface="Cambria Math" panose="02040503050406030204" pitchFamily="18" charset="0"/>
                          </a:rPr>
                        </m:ctrlPr>
                      </m:dPr>
                      <m:e>
                        <m:r>
                          <m:rPr>
                            <m:nor/>
                          </m:rPr>
                          <a:rPr lang="vi-VN"/>
                          <m:t>A</m:t>
                        </m:r>
                        <m:r>
                          <m:rPr>
                            <m:nor/>
                          </m:rPr>
                          <a:rPr lang="vi-VN"/>
                          <m:t>,</m:t>
                        </m:r>
                        <m:r>
                          <m:rPr>
                            <m:nor/>
                          </m:rPr>
                          <a:rPr lang="vi-VN"/>
                          <m:t>B</m:t>
                        </m:r>
                        <m:r>
                          <m:rPr>
                            <m:nor/>
                          </m:rPr>
                          <a:rPr lang="vi-VN"/>
                          <m:t>,</m:t>
                        </m:r>
                        <m:r>
                          <m:rPr>
                            <m:nor/>
                          </m:rPr>
                          <a:rPr lang="vi-VN"/>
                          <m:t>C</m:t>
                        </m:r>
                        <m:r>
                          <m:rPr>
                            <m:nor/>
                          </m:rPr>
                          <a:rPr lang="vi-VN"/>
                          <m:t>,</m:t>
                        </m:r>
                        <m:r>
                          <m:rPr>
                            <m:nor/>
                          </m:rPr>
                          <a:rPr lang="vi-VN"/>
                          <m:t>D</m:t>
                        </m:r>
                      </m:e>
                    </m:d>
                    <m:r>
                      <a:rPr lang="en-US" b="0" i="0" smtClean="0">
                        <a:latin typeface="Cambria Math" panose="02040503050406030204" pitchFamily="18" charset="0"/>
                      </a:rPr>
                      <m:t> </m:t>
                    </m:r>
                    <m:r>
                      <m:rPr>
                        <m:nor/>
                      </m:rPr>
                      <a:rPr lang="vi-VN">
                        <a:latin typeface="+mj-lt"/>
                      </a:rPr>
                      <m:t>=</m:t>
                    </m:r>
                    <m:r>
                      <m:rPr>
                        <m:nor/>
                      </m:rPr>
                      <a:rPr lang="en-US" b="0" i="0" smtClean="0">
                        <a:latin typeface="+mj-lt"/>
                      </a:rPr>
                      <m:t> </m:t>
                    </m:r>
                    <m:r>
                      <m:rPr>
                        <m:nor/>
                      </m:rPr>
                      <a:rPr lang="vi-VN">
                        <a:latin typeface="+mj-lt"/>
                      </a:rPr>
                      <m:t>∑</m:t>
                    </m:r>
                    <m:r>
                      <m:rPr>
                        <m:nor/>
                      </m:rPr>
                      <a:rPr lang="vi-VN">
                        <a:latin typeface="+mj-lt"/>
                      </a:rPr>
                      <m:t>m</m:t>
                    </m:r>
                    <m:d>
                      <m:dPr>
                        <m:ctrlPr>
                          <a:rPr lang="en-US" i="1">
                            <a:latin typeface="Cambria Math" panose="02040503050406030204" pitchFamily="18" charset="0"/>
                          </a:rPr>
                        </m:ctrlPr>
                      </m:dPr>
                      <m:e>
                        <m:r>
                          <m:rPr>
                            <m:nor/>
                          </m:rPr>
                          <a:rPr lang="vi-VN">
                            <a:latin typeface="+mj-lt"/>
                          </a:rPr>
                          <m:t>1,</m:t>
                        </m:r>
                        <m:r>
                          <m:rPr>
                            <m:nor/>
                          </m:rPr>
                          <a:rPr lang="en-US" b="0" i="0" smtClean="0">
                            <a:latin typeface="+mj-lt"/>
                          </a:rPr>
                          <m:t> </m:t>
                        </m:r>
                        <m:r>
                          <m:rPr>
                            <m:nor/>
                          </m:rPr>
                          <a:rPr lang="vi-VN">
                            <a:latin typeface="+mj-lt"/>
                          </a:rPr>
                          <m:t>3,</m:t>
                        </m:r>
                        <m:r>
                          <m:rPr>
                            <m:nor/>
                          </m:rPr>
                          <a:rPr lang="en-US" b="0" i="0" smtClean="0">
                            <a:latin typeface="+mj-lt"/>
                          </a:rPr>
                          <m:t> </m:t>
                        </m:r>
                        <m:r>
                          <m:rPr>
                            <m:nor/>
                          </m:rPr>
                          <a:rPr lang="vi-VN">
                            <a:latin typeface="+mj-lt"/>
                          </a:rPr>
                          <m:t>5,</m:t>
                        </m:r>
                        <m:r>
                          <m:rPr>
                            <m:nor/>
                          </m:rPr>
                          <a:rPr lang="en-US" b="0" i="0" smtClean="0">
                            <a:latin typeface="+mj-lt"/>
                          </a:rPr>
                          <m:t> </m:t>
                        </m:r>
                        <m:r>
                          <m:rPr>
                            <m:nor/>
                          </m:rPr>
                          <a:rPr lang="vi-VN">
                            <a:latin typeface="+mj-lt"/>
                          </a:rPr>
                          <m:t>7,</m:t>
                        </m:r>
                        <m:r>
                          <m:rPr>
                            <m:nor/>
                          </m:rPr>
                          <a:rPr lang="en-US" b="0" i="0" smtClean="0">
                            <a:latin typeface="+mj-lt"/>
                          </a:rPr>
                          <m:t> </m:t>
                        </m:r>
                        <m:r>
                          <m:rPr>
                            <m:nor/>
                          </m:rPr>
                          <a:rPr lang="vi-VN">
                            <a:latin typeface="+mj-lt"/>
                          </a:rPr>
                          <m:t>9,10,11,15</m:t>
                        </m:r>
                      </m:e>
                    </m:d>
                  </m:oMath>
                </a14:m>
                <a:endParaRPr lang="en-US" dirty="0">
                  <a:latin typeface="+mj-lt"/>
                </a:endParaRPr>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xfrm>
                <a:off x="1137984" y="1051441"/>
                <a:ext cx="10068128" cy="5160527"/>
              </a:xfrm>
              <a:blipFill>
                <a:blip r:embed="rId2"/>
                <a:stretch>
                  <a:fillRect l="-1090" r="-121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57</a:t>
            </a:fld>
            <a:endParaRPr lang="en-VN" dirty="0"/>
          </a:p>
        </p:txBody>
      </p:sp>
      <p:graphicFrame>
        <p:nvGraphicFramePr>
          <p:cNvPr id="6" name="Table 5">
            <a:extLst>
              <a:ext uri="{FF2B5EF4-FFF2-40B4-BE49-F238E27FC236}">
                <a16:creationId xmlns:a16="http://schemas.microsoft.com/office/drawing/2014/main" id="{C036F3BF-5932-99EA-F5CF-0F8308DA805A}"/>
              </a:ext>
            </a:extLst>
          </p:cNvPr>
          <p:cNvGraphicFramePr>
            <a:graphicFrameLocks noGrp="1"/>
          </p:cNvGraphicFramePr>
          <p:nvPr>
            <p:extLst>
              <p:ext uri="{D42A27DB-BD31-4B8C-83A1-F6EECF244321}">
                <p14:modId xmlns:p14="http://schemas.microsoft.com/office/powerpoint/2010/main" val="1338421839"/>
              </p:ext>
            </p:extLst>
          </p:nvPr>
        </p:nvGraphicFramePr>
        <p:xfrm>
          <a:off x="7380163" y="2288704"/>
          <a:ext cx="3825949" cy="3825954"/>
        </p:xfrm>
        <a:graphic>
          <a:graphicData uri="http://schemas.openxmlformats.org/drawingml/2006/table">
            <a:tbl>
              <a:tblPr firstRow="1" firstCol="1" bandRow="1">
                <a:tableStyleId>{5940675A-B579-460E-94D1-54222C63F5DA}</a:tableStyleId>
              </a:tblPr>
              <a:tblGrid>
                <a:gridCol w="636096">
                  <a:extLst>
                    <a:ext uri="{9D8B030D-6E8A-4147-A177-3AD203B41FA5}">
                      <a16:colId xmlns:a16="http://schemas.microsoft.com/office/drawing/2014/main" val="2779724648"/>
                    </a:ext>
                  </a:extLst>
                </a:gridCol>
                <a:gridCol w="637268">
                  <a:extLst>
                    <a:ext uri="{9D8B030D-6E8A-4147-A177-3AD203B41FA5}">
                      <a16:colId xmlns:a16="http://schemas.microsoft.com/office/drawing/2014/main" val="2112277759"/>
                    </a:ext>
                  </a:extLst>
                </a:gridCol>
                <a:gridCol w="637268">
                  <a:extLst>
                    <a:ext uri="{9D8B030D-6E8A-4147-A177-3AD203B41FA5}">
                      <a16:colId xmlns:a16="http://schemas.microsoft.com/office/drawing/2014/main" val="2353685596"/>
                    </a:ext>
                  </a:extLst>
                </a:gridCol>
                <a:gridCol w="638439">
                  <a:extLst>
                    <a:ext uri="{9D8B030D-6E8A-4147-A177-3AD203B41FA5}">
                      <a16:colId xmlns:a16="http://schemas.microsoft.com/office/drawing/2014/main" val="72197876"/>
                    </a:ext>
                  </a:extLst>
                </a:gridCol>
                <a:gridCol w="638439">
                  <a:extLst>
                    <a:ext uri="{9D8B030D-6E8A-4147-A177-3AD203B41FA5}">
                      <a16:colId xmlns:a16="http://schemas.microsoft.com/office/drawing/2014/main" val="3918581522"/>
                    </a:ext>
                  </a:extLst>
                </a:gridCol>
                <a:gridCol w="638439">
                  <a:extLst>
                    <a:ext uri="{9D8B030D-6E8A-4147-A177-3AD203B41FA5}">
                      <a16:colId xmlns:a16="http://schemas.microsoft.com/office/drawing/2014/main" val="2758605262"/>
                    </a:ext>
                  </a:extLst>
                </a:gridCol>
              </a:tblGrid>
              <a:tr h="637659">
                <a:tc>
                  <a:txBody>
                    <a:bodyPr/>
                    <a:lstStyle/>
                    <a:p>
                      <a:pPr marL="0" marR="0" algn="ctr">
                        <a:lnSpc>
                          <a:spcPct val="150000"/>
                        </a:lnSpc>
                        <a:spcBef>
                          <a:spcPts val="600"/>
                        </a:spcBef>
                        <a:spcAft>
                          <a:spcPts val="0"/>
                        </a:spcAft>
                      </a:pPr>
                      <a:r>
                        <a:rPr lang="en-US" sz="3100" i="1" dirty="0">
                          <a:effectLst/>
                          <a:latin typeface="Times New Roman" panose="02020603050405020304" pitchFamily="18" charset="0"/>
                          <a:ea typeface="Times New Roman" panose="02020603050405020304" pitchFamily="18" charset="0"/>
                          <a:cs typeface="Times New Roman" panose="02020603050405020304" pitchFamily="18" charset="0"/>
                        </a:rPr>
                        <a:t>F</a:t>
                      </a: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cs typeface="Times New Roman" panose="02020603050405020304" pitchFamily="18" charset="0"/>
                        </a:rPr>
                        <a:t>CD</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637659">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ea typeface="Times New Roman" panose="02020603050405020304" pitchFamily="18" charset="0"/>
                          <a:cs typeface="Times New Roman" panose="02020603050405020304" pitchFamily="18" charset="0"/>
                        </a:rPr>
                        <a:t>AB</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i="1" spc="-20" dirty="0">
                          <a:effectLst/>
                          <a:latin typeface="+mj-lt"/>
                        </a:rPr>
                        <a:t> </a:t>
                      </a:r>
                      <a:endParaRPr lang="en-US" sz="3100" i="1" dirty="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347080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a:t>
            </a:r>
            <a:r>
              <a:rPr lang="en-US" err="1"/>
              <a:t>tập</a:t>
            </a:r>
            <a:r>
              <a:rPr lang="en-US"/>
              <a:t> 4</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37984" y="1051441"/>
                <a:ext cx="10068128" cy="5160527"/>
              </a:xfrm>
            </p:spPr>
            <p:txBody>
              <a:bodyPr>
                <a:noAutofit/>
              </a:bodyPr>
              <a:lstStyle/>
              <a:p>
                <a:r>
                  <a:rPr lang="en-US" dirty="0"/>
                  <a:t>Lập </a:t>
                </a:r>
                <a:r>
                  <a:rPr lang="en-US" dirty="0" err="1"/>
                  <a:t>bảng</a:t>
                </a:r>
                <a:r>
                  <a:rPr lang="en-US" dirty="0"/>
                  <a:t> </a:t>
                </a:r>
                <a:r>
                  <a:rPr lang="en-US" dirty="0" err="1"/>
                  <a:t>chân</a:t>
                </a:r>
                <a:r>
                  <a:rPr lang="en-US" dirty="0"/>
                  <a:t> </a:t>
                </a:r>
                <a:r>
                  <a:rPr lang="en-US" dirty="0" err="1"/>
                  <a:t>trị</a:t>
                </a:r>
                <a:r>
                  <a:rPr lang="en-US" dirty="0"/>
                  <a:t> </a:t>
                </a:r>
                <a:r>
                  <a:rPr lang="en-US" dirty="0" err="1"/>
                  <a:t>và</a:t>
                </a:r>
                <a:r>
                  <a:rPr lang="en-US" dirty="0"/>
                  <a:t> </a:t>
                </a:r>
                <a:r>
                  <a:rPr lang="en-US" dirty="0" err="1"/>
                  <a:t>sau</a:t>
                </a:r>
                <a:r>
                  <a:rPr lang="en-US" dirty="0"/>
                  <a:t> </a:t>
                </a:r>
                <a:r>
                  <a:rPr lang="en-US" dirty="0" err="1"/>
                  <a:t>đó</a:t>
                </a:r>
                <a:r>
                  <a:rPr lang="en-US" dirty="0"/>
                  <a:t> </a:t>
                </a:r>
                <a:r>
                  <a:rPr lang="en-US" dirty="0" err="1"/>
                  <a:t>tối</a:t>
                </a:r>
                <a:r>
                  <a:rPr lang="en-US" dirty="0"/>
                  <a:t> </a:t>
                </a:r>
                <a:r>
                  <a:rPr lang="vi-VN" dirty="0"/>
                  <a:t>ư</a:t>
                </a:r>
                <a:r>
                  <a:rPr lang="en-US" dirty="0"/>
                  <a:t>u </a:t>
                </a:r>
                <a:r>
                  <a:rPr lang="en-US" dirty="0" err="1"/>
                  <a:t>luận</a:t>
                </a:r>
                <a:r>
                  <a:rPr lang="en-US" dirty="0"/>
                  <a:t> </a:t>
                </a:r>
                <a:r>
                  <a:rPr lang="en-US" dirty="0" err="1"/>
                  <a:t>lý</a:t>
                </a:r>
                <a:r>
                  <a:rPr lang="en-US" dirty="0"/>
                  <a:t> </a:t>
                </a:r>
                <a:r>
                  <a:rPr lang="en-US" dirty="0" err="1"/>
                  <a:t>bằng</a:t>
                </a:r>
                <a:r>
                  <a:rPr lang="en-US" dirty="0"/>
                  <a:t> </a:t>
                </a:r>
                <a:r>
                  <a:rPr lang="en-US" dirty="0" err="1"/>
                  <a:t>ph</a:t>
                </a:r>
                <a:r>
                  <a:rPr lang="vi-VN" dirty="0"/>
                  <a:t>ư</a:t>
                </a:r>
                <a:r>
                  <a:rPr lang="en-US" dirty="0" err="1"/>
                  <a:t>ơng</a:t>
                </a:r>
                <a:r>
                  <a:rPr lang="en-US" dirty="0"/>
                  <a:t> </a:t>
                </a:r>
                <a:r>
                  <a:rPr lang="en-US" err="1"/>
                  <a:t>pháp</a:t>
                </a:r>
                <a:r>
                  <a:rPr lang="en-US"/>
                  <a:t> bìa Karnaugh cho </a:t>
                </a:r>
                <a:r>
                  <a:rPr lang="en-US" dirty="0" err="1"/>
                  <a:t>các</a:t>
                </a:r>
                <a:r>
                  <a:rPr lang="en-US" dirty="0"/>
                  <a:t> </a:t>
                </a:r>
                <a:r>
                  <a:rPr lang="en-US" dirty="0" err="1"/>
                  <a:t>hàm</a:t>
                </a:r>
                <a:r>
                  <a:rPr lang="en-US" dirty="0"/>
                  <a:t> </a:t>
                </a:r>
                <a:r>
                  <a:rPr lang="en-US" dirty="0" err="1"/>
                  <a:t>luận</a:t>
                </a:r>
                <a:r>
                  <a:rPr lang="en-US" dirty="0"/>
                  <a:t> </a:t>
                </a:r>
                <a:r>
                  <a:rPr lang="en-US" dirty="0" err="1"/>
                  <a:t>lý</a:t>
                </a:r>
                <a:r>
                  <a:rPr lang="en-US" dirty="0"/>
                  <a:t> </a:t>
                </a:r>
                <a:r>
                  <a:rPr lang="en-US" dirty="0" err="1"/>
                  <a:t>sau</a:t>
                </a:r>
                <a:r>
                  <a:rPr lang="en-US" dirty="0"/>
                  <a:t>:</a:t>
                </a:r>
              </a:p>
              <a:p>
                <a:pPr lvl="1"/>
                <a14:m>
                  <m:oMath xmlns:m="http://schemas.openxmlformats.org/officeDocument/2006/math">
                    <m:r>
                      <m:rPr>
                        <m:nor/>
                      </m:rPr>
                      <a:rPr lang="en-US"/>
                      <m:t>K</m:t>
                    </m:r>
                    <m:d>
                      <m:dPr>
                        <m:ctrlPr>
                          <a:rPr lang="en-US" i="1">
                            <a:latin typeface="Cambria Math" panose="02040503050406030204" pitchFamily="18" charset="0"/>
                          </a:rPr>
                        </m:ctrlPr>
                      </m:dPr>
                      <m:e>
                        <m:r>
                          <m:rPr>
                            <m:nor/>
                          </m:rPr>
                          <a:rPr lang="vi-VN"/>
                          <m:t>W</m:t>
                        </m:r>
                        <m:r>
                          <m:rPr>
                            <m:nor/>
                          </m:rPr>
                          <a:rPr lang="vi-VN"/>
                          <m:t>,</m:t>
                        </m:r>
                        <m:r>
                          <m:rPr>
                            <m:nor/>
                          </m:rPr>
                          <a:rPr lang="vi-VN"/>
                          <m:t>X</m:t>
                        </m:r>
                        <m:r>
                          <m:rPr>
                            <m:nor/>
                          </m:rPr>
                          <a:rPr lang="vi-VN"/>
                          <m:t>,</m:t>
                        </m:r>
                        <m:r>
                          <m:rPr>
                            <m:nor/>
                          </m:rPr>
                          <a:rPr lang="vi-VN"/>
                          <m:t>Y</m:t>
                        </m:r>
                        <m:r>
                          <m:rPr>
                            <m:nor/>
                          </m:rPr>
                          <a:rPr lang="vi-VN"/>
                          <m:t>,</m:t>
                        </m:r>
                        <m:r>
                          <m:rPr>
                            <m:nor/>
                          </m:rPr>
                          <a:rPr lang="vi-VN"/>
                          <m:t>Z</m:t>
                        </m:r>
                      </m:e>
                    </m:d>
                    <m:r>
                      <m:rPr>
                        <m:nor/>
                      </m:rPr>
                      <a:rPr lang="en-US" b="0" smtClean="0"/>
                      <m:t> </m:t>
                    </m:r>
                    <m:r>
                      <m:rPr>
                        <m:nor/>
                      </m:rPr>
                      <a:rPr lang="vi-VN"/>
                      <m:t>=</m:t>
                    </m:r>
                    <m:r>
                      <m:rPr>
                        <m:nor/>
                      </m:rPr>
                      <a:rPr lang="en-US" b="0" smtClean="0"/>
                      <m:t> </m:t>
                    </m:r>
                    <m:r>
                      <m:rPr>
                        <m:nor/>
                      </m:rPr>
                      <a:rPr lang="vi-VN"/>
                      <m:t>(</m:t>
                    </m:r>
                    <m:r>
                      <m:rPr>
                        <m:nor/>
                      </m:rPr>
                      <a:rPr lang="vi-VN"/>
                      <m:t>W</m:t>
                    </m:r>
                    <m:r>
                      <m:rPr>
                        <m:nor/>
                      </m:rPr>
                      <a:rPr lang="en-US" b="0" i="0" smtClean="0"/>
                      <m:t> </m:t>
                    </m:r>
                    <m:r>
                      <m:rPr>
                        <m:nor/>
                      </m:rPr>
                      <a:rPr lang="vi-VN"/>
                      <m:t>+</m:t>
                    </m:r>
                    <m:r>
                      <m:rPr>
                        <m:nor/>
                      </m:rPr>
                      <a:rPr lang="en-US" b="0" i="0" smtClean="0"/>
                      <m:t> </m:t>
                    </m:r>
                    <m:r>
                      <m:rPr>
                        <m:nor/>
                      </m:rPr>
                      <a:rPr lang="vi-VN"/>
                      <m:t>X</m:t>
                    </m:r>
                    <m:r>
                      <m:rPr>
                        <m:nor/>
                      </m:rPr>
                      <a:rPr lang="vi-VN"/>
                      <m:t>)(</m:t>
                    </m:r>
                    <m:acc>
                      <m:accPr>
                        <m:chr m:val="̅"/>
                        <m:ctrlPr>
                          <a:rPr lang="en-US" i="1">
                            <a:latin typeface="Cambria Math" panose="02040503050406030204" pitchFamily="18" charset="0"/>
                          </a:rPr>
                        </m:ctrlPr>
                      </m:accPr>
                      <m:e>
                        <m:r>
                          <m:rPr>
                            <m:nor/>
                          </m:rPr>
                          <a:rPr lang="vi-VN"/>
                          <m:t>W</m:t>
                        </m:r>
                      </m:e>
                    </m:acc>
                    <m:r>
                      <m:rPr>
                        <m:nor/>
                      </m:rPr>
                      <a:rPr lang="en-US" b="0" i="0" smtClean="0"/>
                      <m:t> </m:t>
                    </m:r>
                    <m:r>
                      <m:rPr>
                        <m:nor/>
                      </m:rPr>
                      <a:rPr lang="vi-VN"/>
                      <m:t>+</m:t>
                    </m:r>
                    <m:r>
                      <m:rPr>
                        <m:nor/>
                      </m:rPr>
                      <a:rPr lang="en-US" b="0" i="0" smtClean="0"/>
                      <m:t> </m:t>
                    </m:r>
                    <m:r>
                      <m:rPr>
                        <m:nor/>
                      </m:rPr>
                      <a:rPr lang="vi-VN"/>
                      <m:t>X</m:t>
                    </m:r>
                    <m:r>
                      <m:rPr>
                        <m:nor/>
                      </m:rPr>
                      <a:rPr lang="en-US" b="0" i="0" smtClean="0"/>
                      <m:t> </m:t>
                    </m:r>
                    <m:r>
                      <m:rPr>
                        <m:nor/>
                      </m:rPr>
                      <a:rPr lang="vi-VN"/>
                      <m:t>+</m:t>
                    </m:r>
                    <m:r>
                      <m:rPr>
                        <m:nor/>
                      </m:rPr>
                      <a:rPr lang="en-US" b="0" i="0" smtClean="0"/>
                      <m:t> </m:t>
                    </m:r>
                    <m:r>
                      <m:rPr>
                        <m:nor/>
                      </m:rPr>
                      <a:rPr lang="vi-VN"/>
                      <m:t>Y</m:t>
                    </m:r>
                    <m:r>
                      <m:rPr>
                        <m:nor/>
                      </m:rPr>
                      <a:rPr lang="vi-VN"/>
                      <m:t>)(</m:t>
                    </m:r>
                    <m:r>
                      <m:rPr>
                        <m:nor/>
                      </m:rPr>
                      <a:rPr lang="vi-VN"/>
                      <m:t>W</m:t>
                    </m:r>
                    <m:r>
                      <m:rPr>
                        <m:nor/>
                      </m:rPr>
                      <a:rPr lang="en-US" b="0" i="0" smtClean="0"/>
                      <m:t> </m:t>
                    </m:r>
                    <m:r>
                      <m:rPr>
                        <m:nor/>
                      </m:rPr>
                      <a:rPr lang="vi-VN"/>
                      <m:t>+</m:t>
                    </m:r>
                    <m:acc>
                      <m:accPr>
                        <m:chr m:val="̅"/>
                        <m:ctrlPr>
                          <a:rPr lang="en-US" i="1">
                            <a:latin typeface="Cambria Math" panose="02040503050406030204" pitchFamily="18" charset="0"/>
                          </a:rPr>
                        </m:ctrlPr>
                      </m:accPr>
                      <m:e>
                        <m:r>
                          <m:rPr>
                            <m:nor/>
                          </m:rPr>
                          <a:rPr lang="en-US" b="0" i="0" smtClean="0"/>
                          <m:t> </m:t>
                        </m:r>
                        <m:r>
                          <m:rPr>
                            <m:nor/>
                          </m:rPr>
                          <a:rPr lang="vi-VN"/>
                          <m:t>X</m:t>
                        </m:r>
                      </m:e>
                    </m:acc>
                    <m:r>
                      <m:rPr>
                        <m:nor/>
                      </m:rPr>
                      <a:rPr lang="en-US" b="0" i="0" smtClean="0"/>
                      <m:t> </m:t>
                    </m:r>
                    <m:r>
                      <m:rPr>
                        <m:nor/>
                      </m:rPr>
                      <a:rPr lang="vi-VN"/>
                      <m:t>+</m:t>
                    </m:r>
                    <m:r>
                      <m:rPr>
                        <m:nor/>
                      </m:rPr>
                      <a:rPr lang="en-US" b="0" i="0" smtClean="0"/>
                      <m:t> </m:t>
                    </m:r>
                    <m:acc>
                      <m:accPr>
                        <m:chr m:val="̅"/>
                        <m:ctrlPr>
                          <a:rPr lang="en-US" i="1">
                            <a:latin typeface="Cambria Math" panose="02040503050406030204" pitchFamily="18" charset="0"/>
                          </a:rPr>
                        </m:ctrlPr>
                      </m:accPr>
                      <m:e>
                        <m:r>
                          <m:rPr>
                            <m:nor/>
                          </m:rPr>
                          <a:rPr lang="vi-VN"/>
                          <m:t>Y</m:t>
                        </m:r>
                      </m:e>
                    </m:acc>
                    <m:r>
                      <m:rPr>
                        <m:nor/>
                      </m:rPr>
                      <a:rPr lang="en-US" b="0" i="0" smtClean="0"/>
                      <m:t> </m:t>
                    </m:r>
                    <m:r>
                      <m:rPr>
                        <m:nor/>
                      </m:rPr>
                      <a:rPr lang="vi-VN"/>
                      <m:t>+</m:t>
                    </m:r>
                    <m:r>
                      <m:rPr>
                        <m:nor/>
                      </m:rPr>
                      <a:rPr lang="en-US" b="0" i="0" smtClean="0"/>
                      <m:t> </m:t>
                    </m:r>
                    <m:acc>
                      <m:accPr>
                        <m:chr m:val="̅"/>
                        <m:ctrlPr>
                          <a:rPr lang="en-US" i="1">
                            <a:latin typeface="Cambria Math" panose="02040503050406030204" pitchFamily="18" charset="0"/>
                          </a:rPr>
                        </m:ctrlPr>
                      </m:accPr>
                      <m:e>
                        <m:r>
                          <m:rPr>
                            <m:nor/>
                          </m:rPr>
                          <a:rPr lang="vi-VN"/>
                          <m:t>Z</m:t>
                        </m:r>
                      </m:e>
                    </m:acc>
                    <m:r>
                      <m:rPr>
                        <m:nor/>
                      </m:rPr>
                      <a:rPr lang="vi-VN"/>
                      <m:t>)(</m:t>
                    </m:r>
                    <m:r>
                      <m:rPr>
                        <m:nor/>
                      </m:rPr>
                      <a:rPr lang="vi-VN"/>
                      <m:t>X</m:t>
                    </m:r>
                    <m:r>
                      <m:rPr>
                        <m:nor/>
                      </m:rPr>
                      <a:rPr lang="en-US" b="0" i="0" smtClean="0"/>
                      <m:t> </m:t>
                    </m:r>
                    <m:r>
                      <m:rPr>
                        <m:nor/>
                      </m:rPr>
                      <a:rPr lang="vi-VN"/>
                      <m:t>+</m:t>
                    </m:r>
                    <m:r>
                      <m:rPr>
                        <m:nor/>
                      </m:rPr>
                      <a:rPr lang="en-US" b="0" i="0" smtClean="0"/>
                      <m:t> </m:t>
                    </m:r>
                    <m:acc>
                      <m:accPr>
                        <m:chr m:val="̅"/>
                        <m:ctrlPr>
                          <a:rPr lang="en-US" i="1">
                            <a:latin typeface="Cambria Math" panose="02040503050406030204" pitchFamily="18" charset="0"/>
                          </a:rPr>
                        </m:ctrlPr>
                      </m:accPr>
                      <m:e>
                        <m:r>
                          <m:rPr>
                            <m:nor/>
                          </m:rPr>
                          <a:rPr lang="vi-VN"/>
                          <m:t>Y</m:t>
                        </m:r>
                      </m:e>
                    </m:acc>
                    <m:r>
                      <m:rPr>
                        <m:nor/>
                      </m:rPr>
                      <a:rPr lang="en-US" b="0" i="0" smtClean="0"/>
                      <m:t> </m:t>
                    </m:r>
                    <m:r>
                      <m:rPr>
                        <m:nor/>
                      </m:rPr>
                      <a:rPr lang="vi-VN"/>
                      <m:t>+</m:t>
                    </m:r>
                    <m:r>
                      <m:rPr>
                        <m:nor/>
                      </m:rPr>
                      <a:rPr lang="en-US" b="0" i="0" smtClean="0"/>
                      <m:t> </m:t>
                    </m:r>
                    <m:r>
                      <m:rPr>
                        <m:nor/>
                      </m:rPr>
                      <a:rPr lang="vi-VN"/>
                      <m:t>Z</m:t>
                    </m:r>
                    <m:r>
                      <m:rPr>
                        <m:nor/>
                      </m:rPr>
                      <a:rPr lang="vi-VN"/>
                      <m:t>)</m:t>
                    </m:r>
                  </m:oMath>
                </a14:m>
                <a:endParaRPr lang="en-US" dirty="0">
                  <a:latin typeface="+mj-lt"/>
                </a:endParaRPr>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xfrm>
                <a:off x="1137984" y="1051441"/>
                <a:ext cx="10068128" cy="5160527"/>
              </a:xfrm>
              <a:blipFill>
                <a:blip r:embed="rId2"/>
                <a:stretch>
                  <a:fillRect l="-1090" r="-121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58</a:t>
            </a:fld>
            <a:endParaRPr lang="en-VN" dirty="0"/>
          </a:p>
        </p:txBody>
      </p:sp>
      <p:graphicFrame>
        <p:nvGraphicFramePr>
          <p:cNvPr id="6" name="Table 5">
            <a:extLst>
              <a:ext uri="{FF2B5EF4-FFF2-40B4-BE49-F238E27FC236}">
                <a16:creationId xmlns:a16="http://schemas.microsoft.com/office/drawing/2014/main" id="{C036F3BF-5932-99EA-F5CF-0F8308DA805A}"/>
              </a:ext>
            </a:extLst>
          </p:cNvPr>
          <p:cNvGraphicFramePr>
            <a:graphicFrameLocks noGrp="1"/>
          </p:cNvGraphicFramePr>
          <p:nvPr>
            <p:extLst>
              <p:ext uri="{D42A27DB-BD31-4B8C-83A1-F6EECF244321}">
                <p14:modId xmlns:p14="http://schemas.microsoft.com/office/powerpoint/2010/main" val="2246864095"/>
              </p:ext>
            </p:extLst>
          </p:nvPr>
        </p:nvGraphicFramePr>
        <p:xfrm>
          <a:off x="4495248" y="2717032"/>
          <a:ext cx="3825949" cy="3825954"/>
        </p:xfrm>
        <a:graphic>
          <a:graphicData uri="http://schemas.openxmlformats.org/drawingml/2006/table">
            <a:tbl>
              <a:tblPr firstRow="1" firstCol="1" bandRow="1">
                <a:tableStyleId>{5940675A-B579-460E-94D1-54222C63F5DA}</a:tableStyleId>
              </a:tblPr>
              <a:tblGrid>
                <a:gridCol w="636096">
                  <a:extLst>
                    <a:ext uri="{9D8B030D-6E8A-4147-A177-3AD203B41FA5}">
                      <a16:colId xmlns:a16="http://schemas.microsoft.com/office/drawing/2014/main" val="2779724648"/>
                    </a:ext>
                  </a:extLst>
                </a:gridCol>
                <a:gridCol w="637268">
                  <a:extLst>
                    <a:ext uri="{9D8B030D-6E8A-4147-A177-3AD203B41FA5}">
                      <a16:colId xmlns:a16="http://schemas.microsoft.com/office/drawing/2014/main" val="2112277759"/>
                    </a:ext>
                  </a:extLst>
                </a:gridCol>
                <a:gridCol w="637268">
                  <a:extLst>
                    <a:ext uri="{9D8B030D-6E8A-4147-A177-3AD203B41FA5}">
                      <a16:colId xmlns:a16="http://schemas.microsoft.com/office/drawing/2014/main" val="2353685596"/>
                    </a:ext>
                  </a:extLst>
                </a:gridCol>
                <a:gridCol w="638439">
                  <a:extLst>
                    <a:ext uri="{9D8B030D-6E8A-4147-A177-3AD203B41FA5}">
                      <a16:colId xmlns:a16="http://schemas.microsoft.com/office/drawing/2014/main" val="72197876"/>
                    </a:ext>
                  </a:extLst>
                </a:gridCol>
                <a:gridCol w="638439">
                  <a:extLst>
                    <a:ext uri="{9D8B030D-6E8A-4147-A177-3AD203B41FA5}">
                      <a16:colId xmlns:a16="http://schemas.microsoft.com/office/drawing/2014/main" val="3918581522"/>
                    </a:ext>
                  </a:extLst>
                </a:gridCol>
                <a:gridCol w="638439">
                  <a:extLst>
                    <a:ext uri="{9D8B030D-6E8A-4147-A177-3AD203B41FA5}">
                      <a16:colId xmlns:a16="http://schemas.microsoft.com/office/drawing/2014/main" val="2758605262"/>
                    </a:ext>
                  </a:extLst>
                </a:gridCol>
              </a:tblGrid>
              <a:tr h="637659">
                <a:tc>
                  <a:txBody>
                    <a:bodyPr/>
                    <a:lstStyle/>
                    <a:p>
                      <a:pPr marL="0" marR="0" algn="ctr">
                        <a:lnSpc>
                          <a:spcPct val="150000"/>
                        </a:lnSpc>
                        <a:spcBef>
                          <a:spcPts val="600"/>
                        </a:spcBef>
                        <a:spcAft>
                          <a:spcPts val="0"/>
                        </a:spcAft>
                      </a:pPr>
                      <a:r>
                        <a:rPr lang="en-US" sz="3100" i="1" dirty="0">
                          <a:effectLst/>
                          <a:latin typeface="Times New Roman" panose="02020603050405020304" pitchFamily="18" charset="0"/>
                          <a:ea typeface="Times New Roman" panose="02020603050405020304" pitchFamily="18" charset="0"/>
                          <a:cs typeface="Times New Roman" panose="02020603050405020304" pitchFamily="18" charset="0"/>
                        </a:rPr>
                        <a:t>F</a:t>
                      </a: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a:effectLst/>
                          <a:latin typeface="Times New Roman" panose="02020603050405020304" pitchFamily="18" charset="0"/>
                          <a:ea typeface="Times New Roman" panose="02020603050405020304" pitchFamily="18" charset="0"/>
                          <a:cs typeface="Times New Roman" panose="02020603050405020304" pitchFamily="18" charset="0"/>
                        </a:rPr>
                        <a:t>WX</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637659">
                <a:tc>
                  <a:txBody>
                    <a:bodyPr/>
                    <a:lstStyle/>
                    <a:p>
                      <a:pPr marL="0" marR="0" algn="ctr">
                        <a:lnSpc>
                          <a:spcPct val="150000"/>
                        </a:lnSpc>
                        <a:spcBef>
                          <a:spcPts val="600"/>
                        </a:spcBef>
                        <a:spcAft>
                          <a:spcPts val="0"/>
                        </a:spcAft>
                      </a:pPr>
                      <a:r>
                        <a:rPr lang="en-US" sz="2200" i="1" spc="-20">
                          <a:effectLst/>
                          <a:latin typeface="Times New Roman" panose="02020603050405020304" pitchFamily="18" charset="0"/>
                          <a:ea typeface="Times New Roman" panose="02020603050405020304" pitchFamily="18" charset="0"/>
                          <a:cs typeface="Times New Roman" panose="02020603050405020304" pitchFamily="18" charset="0"/>
                        </a:rPr>
                        <a:t>YZ</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i="1" spc="-20" dirty="0">
                          <a:effectLst/>
                          <a:latin typeface="+mj-lt"/>
                        </a:rPr>
                        <a:t> </a:t>
                      </a:r>
                      <a:endParaRPr lang="en-US" sz="3100" i="1" dirty="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30682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a:t>
            </a:r>
            <a:r>
              <a:rPr lang="en-US" err="1"/>
              <a:t>tập</a:t>
            </a:r>
            <a:r>
              <a:rPr lang="en-US"/>
              <a:t> 5</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pPr lvl="0"/>
                <a:r>
                  <a:rPr lang="vi-VN"/>
                  <a:t>Sử dụng </a:t>
                </a:r>
                <a:r>
                  <a:rPr lang="en-US"/>
                  <a:t>bìa Karnaugh</a:t>
                </a:r>
                <a:r>
                  <a:rPr lang="vi-VN"/>
                  <a:t> </a:t>
                </a:r>
                <a:r>
                  <a:rPr lang="vi-VN" dirty="0"/>
                  <a:t>để tìm </a:t>
                </a:r>
                <a:r>
                  <a:rPr lang="vi-VN"/>
                  <a:t>các 1-minterm</a:t>
                </a:r>
                <a:r>
                  <a:rPr lang="en-US"/>
                  <a:t> và</a:t>
                </a:r>
                <a:r>
                  <a:rPr lang="vi-VN"/>
                  <a:t> </a:t>
                </a:r>
                <a:r>
                  <a:rPr lang="vi-VN" dirty="0"/>
                  <a:t>0-maxterm và sau đó </a:t>
                </a:r>
                <a:r>
                  <a:rPr lang="en-US" dirty="0" err="1"/>
                  <a:t>tối</a:t>
                </a:r>
                <a:r>
                  <a:rPr lang="en-US" dirty="0"/>
                  <a:t> </a:t>
                </a:r>
                <a:r>
                  <a:rPr lang="vi-VN" dirty="0"/>
                  <a:t>ư</a:t>
                </a:r>
                <a:r>
                  <a:rPr lang="en-US" dirty="0"/>
                  <a:t>u</a:t>
                </a:r>
                <a:r>
                  <a:rPr lang="vi-VN" dirty="0"/>
                  <a:t> luận lý các </a:t>
                </a:r>
                <a:r>
                  <a:rPr lang="vi-VN"/>
                  <a:t>hàm Boole </a:t>
                </a:r>
                <a:r>
                  <a:rPr lang="vi-VN" dirty="0"/>
                  <a:t>sau:</a:t>
                </a:r>
                <a:endParaRPr lang="en-US" dirty="0"/>
              </a:p>
              <a:p>
                <a:pPr lvl="1"/>
                <a:r>
                  <a:rPr lang="vi-VN" dirty="0"/>
                  <a:t>F(A, B, C, D) = A</a:t>
                </a:r>
                <a14:m>
                  <m:oMath xmlns:m="http://schemas.openxmlformats.org/officeDocument/2006/math">
                    <m:acc>
                      <m:accPr>
                        <m:chr m:val="̅"/>
                        <m:ctrlPr>
                          <a:rPr lang="en-US" i="1">
                            <a:latin typeface="Cambria Math" panose="02040503050406030204" pitchFamily="18" charset="0"/>
                          </a:rPr>
                        </m:ctrlPr>
                      </m:accPr>
                      <m:e>
                        <m:r>
                          <m:rPr>
                            <m:nor/>
                          </m:rPr>
                          <a:rPr lang="vi-VN"/>
                          <m:t>B</m:t>
                        </m:r>
                      </m:e>
                    </m:acc>
                  </m:oMath>
                </a14:m>
                <a:r>
                  <a:rPr lang="vi-VN" dirty="0"/>
                  <a:t>C + </a:t>
                </a:r>
                <a14:m>
                  <m:oMath xmlns:m="http://schemas.openxmlformats.org/officeDocument/2006/math">
                    <m:acc>
                      <m:accPr>
                        <m:chr m:val="̅"/>
                        <m:ctrlPr>
                          <a:rPr lang="en-US" i="1">
                            <a:latin typeface="Cambria Math" panose="02040503050406030204" pitchFamily="18" charset="0"/>
                          </a:rPr>
                        </m:ctrlPr>
                      </m:accPr>
                      <m:e>
                        <m:r>
                          <m:rPr>
                            <m:nor/>
                          </m:rPr>
                          <a:rPr lang="vi-VN"/>
                          <m:t>A</m:t>
                        </m:r>
                      </m:e>
                    </m:acc>
                  </m:oMath>
                </a14:m>
                <a:r>
                  <a:rPr lang="vi-VN" dirty="0"/>
                  <a:t>B + </a:t>
                </a:r>
                <a14:m>
                  <m:oMath xmlns:m="http://schemas.openxmlformats.org/officeDocument/2006/math">
                    <m:acc>
                      <m:accPr>
                        <m:chr m:val="̅"/>
                        <m:ctrlPr>
                          <a:rPr lang="en-US" i="1">
                            <a:latin typeface="Cambria Math" panose="02040503050406030204" pitchFamily="18" charset="0"/>
                          </a:rPr>
                        </m:ctrlPr>
                      </m:accPr>
                      <m:e>
                        <m:r>
                          <m:rPr>
                            <m:nor/>
                          </m:rPr>
                          <a:rPr lang="vi-VN"/>
                          <m:t>A</m:t>
                        </m:r>
                      </m:e>
                    </m:acc>
                  </m:oMath>
                </a14:m>
                <a:r>
                  <a:rPr lang="vi-VN" dirty="0"/>
                  <a:t>C </a:t>
                </a:r>
                <a:r>
                  <a:rPr lang="vi-VN"/>
                  <a:t>+ CD</a:t>
                </a:r>
                <a:endParaRPr lang="en-US"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xfrm>
                <a:off x="1142797" y="1195821"/>
                <a:ext cx="10068128" cy="5160527"/>
              </a:xfrm>
              <a:blipFill>
                <a:blip r:embed="rId2"/>
                <a:stretch>
                  <a:fillRect l="-1090" r="-121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59</a:t>
            </a:fld>
            <a:endParaRPr lang="en-VN" dirty="0"/>
          </a:p>
        </p:txBody>
      </p:sp>
      <p:graphicFrame>
        <p:nvGraphicFramePr>
          <p:cNvPr id="6" name="Table 5">
            <a:extLst>
              <a:ext uri="{FF2B5EF4-FFF2-40B4-BE49-F238E27FC236}">
                <a16:creationId xmlns:a16="http://schemas.microsoft.com/office/drawing/2014/main" id="{BD6ADB28-9F83-8008-99D3-5C442F8E54EC}"/>
              </a:ext>
            </a:extLst>
          </p:cNvPr>
          <p:cNvGraphicFramePr>
            <a:graphicFrameLocks noGrp="1"/>
          </p:cNvGraphicFramePr>
          <p:nvPr>
            <p:extLst>
              <p:ext uri="{D42A27DB-BD31-4B8C-83A1-F6EECF244321}">
                <p14:modId xmlns:p14="http://schemas.microsoft.com/office/powerpoint/2010/main" val="3308225637"/>
              </p:ext>
            </p:extLst>
          </p:nvPr>
        </p:nvGraphicFramePr>
        <p:xfrm>
          <a:off x="5070096" y="2851785"/>
          <a:ext cx="3825949" cy="3825954"/>
        </p:xfrm>
        <a:graphic>
          <a:graphicData uri="http://schemas.openxmlformats.org/drawingml/2006/table">
            <a:tbl>
              <a:tblPr firstRow="1" firstCol="1" bandRow="1">
                <a:tableStyleId>{5940675A-B579-460E-94D1-54222C63F5DA}</a:tableStyleId>
              </a:tblPr>
              <a:tblGrid>
                <a:gridCol w="636096">
                  <a:extLst>
                    <a:ext uri="{9D8B030D-6E8A-4147-A177-3AD203B41FA5}">
                      <a16:colId xmlns:a16="http://schemas.microsoft.com/office/drawing/2014/main" val="2779724648"/>
                    </a:ext>
                  </a:extLst>
                </a:gridCol>
                <a:gridCol w="637268">
                  <a:extLst>
                    <a:ext uri="{9D8B030D-6E8A-4147-A177-3AD203B41FA5}">
                      <a16:colId xmlns:a16="http://schemas.microsoft.com/office/drawing/2014/main" val="2112277759"/>
                    </a:ext>
                  </a:extLst>
                </a:gridCol>
                <a:gridCol w="637268">
                  <a:extLst>
                    <a:ext uri="{9D8B030D-6E8A-4147-A177-3AD203B41FA5}">
                      <a16:colId xmlns:a16="http://schemas.microsoft.com/office/drawing/2014/main" val="2353685596"/>
                    </a:ext>
                  </a:extLst>
                </a:gridCol>
                <a:gridCol w="638439">
                  <a:extLst>
                    <a:ext uri="{9D8B030D-6E8A-4147-A177-3AD203B41FA5}">
                      <a16:colId xmlns:a16="http://schemas.microsoft.com/office/drawing/2014/main" val="72197876"/>
                    </a:ext>
                  </a:extLst>
                </a:gridCol>
                <a:gridCol w="638439">
                  <a:extLst>
                    <a:ext uri="{9D8B030D-6E8A-4147-A177-3AD203B41FA5}">
                      <a16:colId xmlns:a16="http://schemas.microsoft.com/office/drawing/2014/main" val="3918581522"/>
                    </a:ext>
                  </a:extLst>
                </a:gridCol>
                <a:gridCol w="638439">
                  <a:extLst>
                    <a:ext uri="{9D8B030D-6E8A-4147-A177-3AD203B41FA5}">
                      <a16:colId xmlns:a16="http://schemas.microsoft.com/office/drawing/2014/main" val="2758605262"/>
                    </a:ext>
                  </a:extLst>
                </a:gridCol>
              </a:tblGrid>
              <a:tr h="637659">
                <a:tc>
                  <a:txBody>
                    <a:bodyPr/>
                    <a:lstStyle/>
                    <a:p>
                      <a:pPr marL="0" marR="0" algn="ctr">
                        <a:lnSpc>
                          <a:spcPct val="150000"/>
                        </a:lnSpc>
                        <a:spcBef>
                          <a:spcPts val="600"/>
                        </a:spcBef>
                        <a:spcAft>
                          <a:spcPts val="0"/>
                        </a:spcAft>
                      </a:pPr>
                      <a:r>
                        <a:rPr lang="en-US" sz="3100" i="1" dirty="0">
                          <a:effectLst/>
                          <a:latin typeface="Times New Roman" panose="02020603050405020304" pitchFamily="18" charset="0"/>
                          <a:ea typeface="Times New Roman" panose="02020603050405020304" pitchFamily="18" charset="0"/>
                          <a:cs typeface="Times New Roman" panose="02020603050405020304" pitchFamily="18" charset="0"/>
                        </a:rPr>
                        <a:t>F</a:t>
                      </a: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cs typeface="Times New Roman" panose="02020603050405020304" pitchFamily="18" charset="0"/>
                        </a:rPr>
                        <a:t>CD</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637659">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ea typeface="Times New Roman" panose="02020603050405020304" pitchFamily="18" charset="0"/>
                          <a:cs typeface="Times New Roman" panose="02020603050405020304" pitchFamily="18" charset="0"/>
                        </a:rPr>
                        <a:t>AB</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i="1" spc="-20" dirty="0">
                          <a:effectLst/>
                          <a:latin typeface="+mj-lt"/>
                        </a:rPr>
                        <a:t> </a:t>
                      </a:r>
                      <a:endParaRPr lang="en-US" sz="3100" i="1" dirty="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207712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a:t>
            </a:r>
            <a:r>
              <a:rPr lang="en-US" err="1"/>
              <a:t>tập</a:t>
            </a:r>
            <a:r>
              <a:rPr lang="en-US"/>
              <a:t> 6</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pPr lvl="0"/>
                <a:r>
                  <a:rPr lang="vi-VN"/>
                  <a:t>Sử dụng </a:t>
                </a:r>
                <a:r>
                  <a:rPr lang="en-US"/>
                  <a:t>bìa Karnaugh</a:t>
                </a:r>
                <a:r>
                  <a:rPr lang="vi-VN"/>
                  <a:t> </a:t>
                </a:r>
                <a:r>
                  <a:rPr lang="vi-VN" dirty="0"/>
                  <a:t>để tìm </a:t>
                </a:r>
                <a:r>
                  <a:rPr lang="vi-VN"/>
                  <a:t>các 1-minterm</a:t>
                </a:r>
                <a:r>
                  <a:rPr lang="en-US"/>
                  <a:t> và</a:t>
                </a:r>
                <a:r>
                  <a:rPr lang="vi-VN"/>
                  <a:t> </a:t>
                </a:r>
                <a:r>
                  <a:rPr lang="vi-VN" dirty="0"/>
                  <a:t>0-maxterm và sau đó </a:t>
                </a:r>
                <a:r>
                  <a:rPr lang="en-US" dirty="0" err="1"/>
                  <a:t>tối</a:t>
                </a:r>
                <a:r>
                  <a:rPr lang="en-US" dirty="0"/>
                  <a:t> </a:t>
                </a:r>
                <a:r>
                  <a:rPr lang="vi-VN" dirty="0"/>
                  <a:t>ư</a:t>
                </a:r>
                <a:r>
                  <a:rPr lang="en-US" dirty="0"/>
                  <a:t>u</a:t>
                </a:r>
                <a:r>
                  <a:rPr lang="vi-VN" dirty="0"/>
                  <a:t> luận lý các </a:t>
                </a:r>
                <a:r>
                  <a:rPr lang="vi-VN"/>
                  <a:t>hàm Boole </a:t>
                </a:r>
                <a:r>
                  <a:rPr lang="vi-VN" dirty="0"/>
                  <a:t>sau:</a:t>
                </a:r>
                <a:endParaRPr lang="en-US" dirty="0"/>
              </a:p>
              <a:p>
                <a:pPr lvl="1"/>
                <a:r>
                  <a:rPr lang="vi-VN"/>
                  <a:t>F</a:t>
                </a:r>
                <a:r>
                  <a:rPr lang="vi-VN" dirty="0"/>
                  <a:t>(A, B, C, D) = (A + B + C)(</a:t>
                </a:r>
                <a14:m>
                  <m:oMath xmlns:m="http://schemas.openxmlformats.org/officeDocument/2006/math">
                    <m:acc>
                      <m:accPr>
                        <m:chr m:val="̅"/>
                        <m:ctrlPr>
                          <a:rPr lang="en-US" i="1">
                            <a:latin typeface="Cambria Math" panose="02040503050406030204" pitchFamily="18" charset="0"/>
                          </a:rPr>
                        </m:ctrlPr>
                      </m:accPr>
                      <m:e>
                        <m:r>
                          <m:rPr>
                            <m:nor/>
                          </m:rPr>
                          <a:rPr lang="vi-VN"/>
                          <m:t>A</m:t>
                        </m:r>
                      </m:e>
                    </m:acc>
                  </m:oMath>
                </a14:m>
                <a:r>
                  <a:rPr lang="vi-VN" dirty="0"/>
                  <a:t> + B)(B + C + D)</a:t>
                </a:r>
                <a:endParaRPr lang="en-US" dirty="0"/>
              </a:p>
            </p:txBody>
          </p:sp>
        </mc:Choice>
        <mc:Fallback xmlns="">
          <p:sp>
            <p:nvSpPr>
              <p:cNvPr id="3" name="Content Placeholder 2">
                <a:extLst>
                  <a:ext uri="{FF2B5EF4-FFF2-40B4-BE49-F238E27FC236}">
                    <a16:creationId xmlns:a16="http://schemas.microsoft.com/office/drawing/2014/main" id="{75A01CFC-41FA-4D7B-A058-603D95BA37C2}"/>
                  </a:ext>
                </a:extLst>
              </p:cNvPr>
              <p:cNvSpPr>
                <a:spLocks noGrp="1" noRot="1" noChangeAspect="1" noMove="1" noResize="1" noEditPoints="1" noAdjustHandles="1" noChangeArrowheads="1" noChangeShapeType="1" noTextEdit="1"/>
              </p:cNvSpPr>
              <p:nvPr>
                <p:ph idx="1"/>
              </p:nvPr>
            </p:nvSpPr>
            <p:spPr>
              <a:xfrm>
                <a:off x="1142797" y="1195821"/>
                <a:ext cx="10068128" cy="5160527"/>
              </a:xfrm>
              <a:blipFill>
                <a:blip r:embed="rId2"/>
                <a:stretch>
                  <a:fillRect l="-1090" r="-1211"/>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60</a:t>
            </a:fld>
            <a:endParaRPr lang="en-VN" dirty="0"/>
          </a:p>
        </p:txBody>
      </p:sp>
      <p:graphicFrame>
        <p:nvGraphicFramePr>
          <p:cNvPr id="6" name="Table 5">
            <a:extLst>
              <a:ext uri="{FF2B5EF4-FFF2-40B4-BE49-F238E27FC236}">
                <a16:creationId xmlns:a16="http://schemas.microsoft.com/office/drawing/2014/main" id="{BD6ADB28-9F83-8008-99D3-5C442F8E54EC}"/>
              </a:ext>
            </a:extLst>
          </p:cNvPr>
          <p:cNvGraphicFramePr>
            <a:graphicFrameLocks noGrp="1"/>
          </p:cNvGraphicFramePr>
          <p:nvPr>
            <p:extLst>
              <p:ext uri="{D42A27DB-BD31-4B8C-83A1-F6EECF244321}">
                <p14:modId xmlns:p14="http://schemas.microsoft.com/office/powerpoint/2010/main" val="3325827857"/>
              </p:ext>
            </p:extLst>
          </p:nvPr>
        </p:nvGraphicFramePr>
        <p:xfrm>
          <a:off x="5180798" y="2813282"/>
          <a:ext cx="3825949" cy="3825954"/>
        </p:xfrm>
        <a:graphic>
          <a:graphicData uri="http://schemas.openxmlformats.org/drawingml/2006/table">
            <a:tbl>
              <a:tblPr firstRow="1" firstCol="1" bandRow="1">
                <a:tableStyleId>{5940675A-B579-460E-94D1-54222C63F5DA}</a:tableStyleId>
              </a:tblPr>
              <a:tblGrid>
                <a:gridCol w="636096">
                  <a:extLst>
                    <a:ext uri="{9D8B030D-6E8A-4147-A177-3AD203B41FA5}">
                      <a16:colId xmlns:a16="http://schemas.microsoft.com/office/drawing/2014/main" val="2779724648"/>
                    </a:ext>
                  </a:extLst>
                </a:gridCol>
                <a:gridCol w="637268">
                  <a:extLst>
                    <a:ext uri="{9D8B030D-6E8A-4147-A177-3AD203B41FA5}">
                      <a16:colId xmlns:a16="http://schemas.microsoft.com/office/drawing/2014/main" val="2112277759"/>
                    </a:ext>
                  </a:extLst>
                </a:gridCol>
                <a:gridCol w="637268">
                  <a:extLst>
                    <a:ext uri="{9D8B030D-6E8A-4147-A177-3AD203B41FA5}">
                      <a16:colId xmlns:a16="http://schemas.microsoft.com/office/drawing/2014/main" val="2353685596"/>
                    </a:ext>
                  </a:extLst>
                </a:gridCol>
                <a:gridCol w="638439">
                  <a:extLst>
                    <a:ext uri="{9D8B030D-6E8A-4147-A177-3AD203B41FA5}">
                      <a16:colId xmlns:a16="http://schemas.microsoft.com/office/drawing/2014/main" val="72197876"/>
                    </a:ext>
                  </a:extLst>
                </a:gridCol>
                <a:gridCol w="638439">
                  <a:extLst>
                    <a:ext uri="{9D8B030D-6E8A-4147-A177-3AD203B41FA5}">
                      <a16:colId xmlns:a16="http://schemas.microsoft.com/office/drawing/2014/main" val="3918581522"/>
                    </a:ext>
                  </a:extLst>
                </a:gridCol>
                <a:gridCol w="638439">
                  <a:extLst>
                    <a:ext uri="{9D8B030D-6E8A-4147-A177-3AD203B41FA5}">
                      <a16:colId xmlns:a16="http://schemas.microsoft.com/office/drawing/2014/main" val="2758605262"/>
                    </a:ext>
                  </a:extLst>
                </a:gridCol>
              </a:tblGrid>
              <a:tr h="637659">
                <a:tc>
                  <a:txBody>
                    <a:bodyPr/>
                    <a:lstStyle/>
                    <a:p>
                      <a:pPr marL="0" marR="0" algn="ctr">
                        <a:lnSpc>
                          <a:spcPct val="150000"/>
                        </a:lnSpc>
                        <a:spcBef>
                          <a:spcPts val="600"/>
                        </a:spcBef>
                        <a:spcAft>
                          <a:spcPts val="0"/>
                        </a:spcAft>
                      </a:pPr>
                      <a:r>
                        <a:rPr lang="en-US" sz="3100" i="1" dirty="0">
                          <a:effectLst/>
                          <a:latin typeface="Times New Roman" panose="02020603050405020304" pitchFamily="18" charset="0"/>
                          <a:ea typeface="Times New Roman" panose="02020603050405020304" pitchFamily="18" charset="0"/>
                          <a:cs typeface="Times New Roman" panose="02020603050405020304" pitchFamily="18" charset="0"/>
                        </a:rPr>
                        <a:t>F</a:t>
                      </a: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cs typeface="Times New Roman" panose="02020603050405020304" pitchFamily="18" charset="0"/>
                        </a:rPr>
                        <a:t>CD</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64701"/>
                  </a:ext>
                </a:extLst>
              </a:tr>
              <a:tr h="637659">
                <a:tc>
                  <a:txBody>
                    <a:bodyPr/>
                    <a:lstStyle/>
                    <a:p>
                      <a:pPr marL="0" marR="0" algn="ctr">
                        <a:lnSpc>
                          <a:spcPct val="150000"/>
                        </a:lnSpc>
                        <a:spcBef>
                          <a:spcPts val="600"/>
                        </a:spcBef>
                        <a:spcAft>
                          <a:spcPts val="0"/>
                        </a:spcAft>
                      </a:pPr>
                      <a:r>
                        <a:rPr lang="en-US" sz="2200" i="1" spc="-20" dirty="0">
                          <a:effectLst/>
                          <a:latin typeface="Times New Roman" panose="02020603050405020304" pitchFamily="18" charset="0"/>
                          <a:ea typeface="Times New Roman" panose="02020603050405020304" pitchFamily="18" charset="0"/>
                          <a:cs typeface="Times New Roman" panose="02020603050405020304" pitchFamily="18" charset="0"/>
                        </a:rPr>
                        <a:t>AB</a:t>
                      </a:r>
                      <a:endParaRPr lang="en-US" sz="2200" i="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i="1" spc="-20" dirty="0">
                          <a:effectLst/>
                          <a:latin typeface="+mj-lt"/>
                        </a:rPr>
                        <a:t> </a:t>
                      </a:r>
                      <a:endParaRPr lang="en-US" sz="3100" i="1" dirty="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1026856"/>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00</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527299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01</a:t>
                      </a:r>
                      <a:endParaRPr lang="en-US" sz="3100">
                        <a:effectLst/>
                        <a:latin typeface="+mj-lt"/>
                        <a:ea typeface="Times New Roman" panose="02020603050405020304" pitchFamily="18" charset="0"/>
                      </a:endParaRPr>
                    </a:p>
                  </a:txBody>
                  <a:tcPr marL="109634" marR="109634"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829157"/>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11</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3831464"/>
                  </a:ext>
                </a:extLst>
              </a:tr>
              <a:tr h="637659">
                <a:tc>
                  <a:txBody>
                    <a:bodyPr/>
                    <a:lstStyle/>
                    <a:p>
                      <a:pPr marL="0" marR="0" algn="ctr">
                        <a:lnSpc>
                          <a:spcPct val="150000"/>
                        </a:lnSpc>
                        <a:spcBef>
                          <a:spcPts val="600"/>
                        </a:spcBef>
                        <a:spcAft>
                          <a:spcPts val="0"/>
                        </a:spcAft>
                      </a:pPr>
                      <a:r>
                        <a:rPr lang="vi-VN" sz="3100" spc="-20">
                          <a:effectLst/>
                          <a:latin typeface="+mj-lt"/>
                        </a:rPr>
                        <a:t> </a:t>
                      </a:r>
                      <a:endParaRPr lang="en-US" sz="3100">
                        <a:effectLst/>
                        <a:latin typeface="+mj-lt"/>
                        <a:ea typeface="Times New Roman" panose="02020603050405020304" pitchFamily="18" charset="0"/>
                      </a:endParaRPr>
                    </a:p>
                  </a:txBody>
                  <a:tcPr marL="109634" marR="109634"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3100" spc="-20">
                          <a:effectLst/>
                          <a:latin typeface="+mj-lt"/>
                        </a:rPr>
                        <a:t>10</a:t>
                      </a:r>
                      <a:endParaRPr lang="en-US" sz="3100">
                        <a:effectLst/>
                        <a:latin typeface="+mj-lt"/>
                        <a:ea typeface="Times New Roman" panose="02020603050405020304" pitchFamily="18" charset="0"/>
                      </a:endParaRPr>
                    </a:p>
                  </a:txBody>
                  <a:tcPr marL="109634" marR="109634"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endParaRPr lang="en-US" sz="3100" dirty="0">
                        <a:effectLst/>
                        <a:latin typeface="+mj-lt"/>
                        <a:ea typeface="Times New Roman" panose="02020603050405020304" pitchFamily="18" charset="0"/>
                      </a:endParaRPr>
                    </a:p>
                  </a:txBody>
                  <a:tcPr marL="109634" marR="10963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0975768"/>
                  </a:ext>
                </a:extLst>
              </a:tr>
            </a:tbl>
          </a:graphicData>
        </a:graphic>
      </p:graphicFrame>
    </p:spTree>
    <p:extLst>
      <p:ext uri="{BB962C8B-B14F-4D97-AF65-F5344CB8AC3E}">
        <p14:creationId xmlns:p14="http://schemas.microsoft.com/office/powerpoint/2010/main" val="17097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lnSpc>
                <a:spcPct val="150000"/>
              </a:lnSpc>
            </a:pPr>
            <a:r>
              <a:rPr lang="en-US" sz="2800" dirty="0" err="1"/>
              <a:t>Đại</a:t>
            </a:r>
            <a:r>
              <a:rPr lang="en-US" sz="2800" dirty="0"/>
              <a:t> </a:t>
            </a:r>
            <a:r>
              <a:rPr lang="en-US" sz="2800" err="1"/>
              <a:t>số</a:t>
            </a:r>
            <a:r>
              <a:rPr lang="en-US" sz="2800"/>
              <a:t> Boole</a:t>
            </a:r>
            <a:endParaRPr lang="en-US" sz="2800" dirty="0"/>
          </a:p>
          <a:p>
            <a:pPr>
              <a:lnSpc>
                <a:spcPct val="150000"/>
              </a:lnSpc>
            </a:pPr>
            <a:r>
              <a:rPr lang="en-US" sz="2800" dirty="0" err="1"/>
              <a:t>Cổng</a:t>
            </a:r>
            <a:r>
              <a:rPr lang="en-US" sz="2800" dirty="0"/>
              <a:t> </a:t>
            </a:r>
            <a:r>
              <a:rPr lang="en-US" sz="2800" dirty="0" err="1"/>
              <a:t>luận</a:t>
            </a:r>
            <a:r>
              <a:rPr lang="en-US" sz="2800" dirty="0"/>
              <a:t> </a:t>
            </a:r>
            <a:r>
              <a:rPr lang="en-US" sz="2800" dirty="0" err="1"/>
              <a:t>lý</a:t>
            </a:r>
            <a:endParaRPr lang="en-US" sz="2800" dirty="0"/>
          </a:p>
          <a:p>
            <a:pPr>
              <a:lnSpc>
                <a:spcPct val="150000"/>
              </a:lnSpc>
            </a:pPr>
            <a:r>
              <a:rPr lang="en-US" sz="2800" dirty="0" err="1"/>
              <a:t>Tối</a:t>
            </a:r>
            <a:r>
              <a:rPr lang="en-US" sz="2800" dirty="0"/>
              <a:t> </a:t>
            </a:r>
            <a:r>
              <a:rPr lang="en-US" sz="2800" dirty="0" err="1"/>
              <a:t>ưu</a:t>
            </a:r>
            <a:r>
              <a:rPr lang="en-US" sz="2800" dirty="0"/>
              <a:t> </a:t>
            </a:r>
            <a:r>
              <a:rPr lang="en-US" sz="2800" dirty="0" err="1"/>
              <a:t>luận</a:t>
            </a:r>
            <a:r>
              <a:rPr lang="en-US" sz="2800" dirty="0"/>
              <a:t> </a:t>
            </a:r>
            <a:r>
              <a:rPr lang="en-US" sz="2800" dirty="0" err="1"/>
              <a:t>lý</a:t>
            </a:r>
            <a:endParaRPr lang="en-US" sz="2800" dirty="0"/>
          </a:p>
          <a:p>
            <a:pPr>
              <a:lnSpc>
                <a:spcPct val="150000"/>
              </a:lnSpc>
            </a:pPr>
            <a:r>
              <a:rPr lang="en-US" sz="2800" dirty="0" err="1"/>
              <a:t>Phương</a:t>
            </a:r>
            <a:r>
              <a:rPr lang="en-US" sz="2800" dirty="0"/>
              <a:t> </a:t>
            </a:r>
            <a:r>
              <a:rPr lang="en-US" sz="2800" dirty="0" err="1"/>
              <a:t>pháp</a:t>
            </a:r>
            <a:r>
              <a:rPr lang="en-US" sz="2800" dirty="0"/>
              <a:t> Karnaugh</a:t>
            </a:r>
          </a:p>
          <a:p>
            <a:pPr>
              <a:lnSpc>
                <a:spcPct val="150000"/>
              </a:lnSpc>
            </a:pPr>
            <a:r>
              <a:rPr lang="en-US" sz="2800"/>
              <a:t>Bài </a:t>
            </a:r>
            <a:r>
              <a:rPr lang="en-US" sz="2800" dirty="0" err="1"/>
              <a:t>tập</a:t>
            </a:r>
            <a:endParaRPr lang="en-US" sz="28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61</a:t>
            </a:fld>
            <a:endParaRPr lang="en-VN" dirty="0"/>
          </a:p>
        </p:txBody>
      </p:sp>
    </p:spTree>
    <p:extLst>
      <p:ext uri="{BB962C8B-B14F-4D97-AF65-F5344CB8AC3E}">
        <p14:creationId xmlns:p14="http://schemas.microsoft.com/office/powerpoint/2010/main" val="20647904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62</a:t>
            </a:fld>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2.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 week 4 Chuong 3 Dai so Boolean 1</Template>
  <TotalTime>1501</TotalTime>
  <Words>4913</Words>
  <Application>Microsoft Office PowerPoint</Application>
  <PresentationFormat>Widescreen</PresentationFormat>
  <Paragraphs>918</Paragraphs>
  <Slides>62</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굴림</vt:lpstr>
      <vt:lpstr>Arial</vt:lpstr>
      <vt:lpstr>Calibri</vt:lpstr>
      <vt:lpstr>Calibri Light</vt:lpstr>
      <vt:lpstr>Cambria Math</vt:lpstr>
      <vt:lpstr>Tahoma</vt:lpstr>
      <vt:lpstr>Times New Roman</vt:lpstr>
      <vt:lpstr>Times New Roman (Headings)</vt:lpstr>
      <vt:lpstr>Wingdings</vt:lpstr>
      <vt:lpstr>Office Theme</vt:lpstr>
      <vt:lpstr>PowerPoint Presentation</vt:lpstr>
      <vt:lpstr>PowerPoint Presentation</vt:lpstr>
      <vt:lpstr>PowerPoint Presentation</vt:lpstr>
      <vt:lpstr>PowerPoint Presentation</vt:lpstr>
      <vt:lpstr>Đại số Boole - Định nghĩa</vt:lpstr>
      <vt:lpstr>Đại số Boole - Định nghĩa (tt)</vt:lpstr>
      <vt:lpstr>Đại số Boole - Định nghĩa (tt)</vt:lpstr>
      <vt:lpstr>Đại số Boole - Định lý Boole</vt:lpstr>
      <vt:lpstr>Đại số Boole - Biểu thức Boole</vt:lpstr>
      <vt:lpstr>Đại số Boole - Hàm Boole dạng chuẩn</vt:lpstr>
      <vt:lpstr>Đại số Boole - Bảng chân trị</vt:lpstr>
      <vt:lpstr>Đại số Boole - Dạng chính tắc</vt:lpstr>
      <vt:lpstr>Đại số Boole - Tính đối ngẫu</vt:lpstr>
      <vt:lpstr>PowerPoint Presentation</vt:lpstr>
      <vt:lpstr>Cổng luận lý</vt:lpstr>
      <vt:lpstr>Cổng luận lý AND</vt:lpstr>
      <vt:lpstr>Cổng luận lý OR</vt:lpstr>
      <vt:lpstr>OR và AND</vt:lpstr>
      <vt:lpstr>Cổng luận lý NOT</vt:lpstr>
      <vt:lpstr>Cổng luận lý NOT</vt:lpstr>
      <vt:lpstr>Cổng luận lý NOT</vt:lpstr>
      <vt:lpstr>OR vs AND vs NOT</vt:lpstr>
      <vt:lpstr>Một số cổng luận lý khác</vt:lpstr>
      <vt:lpstr>PowerPoint Presentation</vt:lpstr>
      <vt:lpstr>Tối ưu luận lý</vt:lpstr>
      <vt:lpstr>Tối ưu luận lý (tt)</vt:lpstr>
      <vt:lpstr>Tối ưu luận lý (tt)</vt:lpstr>
      <vt:lpstr>Tối ưu luận lý (tt)</vt:lpstr>
      <vt:lpstr>Tối ưu luận lý (tt)</vt:lpstr>
      <vt:lpstr>Tối ưu luận lý (tt)</vt:lpstr>
      <vt:lpstr>Tối ưu luận lý - Bài tập</vt:lpstr>
      <vt:lpstr>PowerPoint Presentation</vt:lpstr>
      <vt:lpstr>Phương pháp Karnaugh</vt:lpstr>
      <vt:lpstr>Phương pháp Karnaugh (tt)</vt:lpstr>
      <vt:lpstr>Phương pháp Karnaugh - 2 biến</vt:lpstr>
      <vt:lpstr>Phương pháp Karnaugh (tt)</vt:lpstr>
      <vt:lpstr>Phương pháp Karnaugh - 3 biến</vt:lpstr>
      <vt:lpstr>Phương pháp Karnaugh - 3 biến (tt)</vt:lpstr>
      <vt:lpstr>Phương pháp Karnaugh - 3 biến (tt)</vt:lpstr>
      <vt:lpstr>Phương pháp Karnaugh - 3 biến (tt)</vt:lpstr>
      <vt:lpstr>Phương pháp Karnaugh - 3 biến (tt)</vt:lpstr>
      <vt:lpstr>Phương pháp Karnaugh - 3 biến (tt)</vt:lpstr>
      <vt:lpstr>Phương pháp Karnaugh - 4 biến</vt:lpstr>
      <vt:lpstr>Phương pháp rút gọn dùng bìa Karnaugh</vt:lpstr>
      <vt:lpstr>Phương pháp rút gọn dung bìa Karnaugh (tt)</vt:lpstr>
      <vt:lpstr>Phương pháp rút gọn dung bìa Karnaugh (tt)</vt:lpstr>
      <vt:lpstr>Phương pháp rút gọn dung bìa Karnaugh - ví dụ</vt:lpstr>
      <vt:lpstr>Phương pháp Karnaugh - 3 biến (tt)</vt:lpstr>
      <vt:lpstr>Phương pháp Karnaugh - 3 biến (tt)</vt:lpstr>
      <vt:lpstr>Phương pháp Karnaugh - 3 biến(tt)</vt:lpstr>
      <vt:lpstr>Phương pháp Karnaugh (tt)</vt:lpstr>
      <vt:lpstr>Phương pháp Karnaugh - 4 biến (ví dụ 1)</vt:lpstr>
      <vt:lpstr>Phương pháp Karnaugh - 4 biến (ví dụ 2)</vt:lpstr>
      <vt:lpstr>PowerPoint Presentation</vt:lpstr>
      <vt:lpstr>Bài tập 1</vt:lpstr>
      <vt:lpstr>Bài tập 2</vt:lpstr>
      <vt:lpstr>Bài tập 3</vt:lpstr>
      <vt:lpstr>Bài tập 4</vt:lpstr>
      <vt:lpstr>Bài tập 5</vt:lpstr>
      <vt:lpstr>Bài tập 6</vt:lpstr>
      <vt:lpstr>Tóm tắt lại nội dung buổi học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129</cp:revision>
  <dcterms:created xsi:type="dcterms:W3CDTF">2023-03-03T01:55:04Z</dcterms:created>
  <dcterms:modified xsi:type="dcterms:W3CDTF">2023-08-21T07:44:25Z</dcterms:modified>
</cp:coreProperties>
</file>