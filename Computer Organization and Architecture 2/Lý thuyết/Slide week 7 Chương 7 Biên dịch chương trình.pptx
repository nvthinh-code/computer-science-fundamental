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314" r:id="rId2"/>
    <p:sldId id="262" r:id="rId3"/>
    <p:sldId id="269" r:id="rId4"/>
    <p:sldId id="261" r:id="rId5"/>
    <p:sldId id="263" r:id="rId6"/>
    <p:sldId id="345" r:id="rId7"/>
    <p:sldId id="346" r:id="rId8"/>
    <p:sldId id="376" r:id="rId9"/>
    <p:sldId id="372" r:id="rId10"/>
    <p:sldId id="295" r:id="rId11"/>
    <p:sldId id="350" r:id="rId12"/>
    <p:sldId id="351" r:id="rId13"/>
    <p:sldId id="377" r:id="rId14"/>
    <p:sldId id="378" r:id="rId15"/>
    <p:sldId id="379" r:id="rId16"/>
    <p:sldId id="352" r:id="rId17"/>
    <p:sldId id="353" r:id="rId18"/>
    <p:sldId id="271" r:id="rId19"/>
    <p:sldId id="301" r:id="rId20"/>
    <p:sldId id="273" r:id="rId21"/>
    <p:sldId id="359" r:id="rId22"/>
    <p:sldId id="380" r:id="rId23"/>
    <p:sldId id="381" r:id="rId24"/>
    <p:sldId id="365" r:id="rId25"/>
    <p:sldId id="302" r:id="rId26"/>
    <p:sldId id="344" r:id="rId27"/>
    <p:sldId id="383" r:id="rId28"/>
    <p:sldId id="384" r:id="rId29"/>
    <p:sldId id="385" r:id="rId30"/>
    <p:sldId id="386" r:id="rId31"/>
    <p:sldId id="392" r:id="rId32"/>
    <p:sldId id="387" r:id="rId33"/>
    <p:sldId id="389" r:id="rId34"/>
    <p:sldId id="388" r:id="rId35"/>
    <p:sldId id="391" r:id="rId36"/>
    <p:sldId id="390" r:id="rId37"/>
    <p:sldId id="276" r:id="rId38"/>
    <p:sldId id="268" r:id="rId39"/>
    <p:sldId id="382" r:id="rId40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2FF"/>
    <a:srgbClr val="00C6FF"/>
    <a:srgbClr val="1CB5E0"/>
    <a:srgbClr val="000046"/>
    <a:srgbClr val="00F7FF"/>
    <a:srgbClr val="0A4671"/>
    <a:srgbClr val="114F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77"/>
    <p:restoredTop sz="77687" autoAdjust="0"/>
  </p:normalViewPr>
  <p:slideViewPr>
    <p:cSldViewPr snapToGrid="0">
      <p:cViewPr varScale="1">
        <p:scale>
          <a:sx n="53" d="100"/>
          <a:sy n="53" d="100"/>
        </p:scale>
        <p:origin x="790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1B713-64C2-0949-8ADC-A04FFD1F6467}" type="datetimeFigureOut">
              <a:rPr lang="en-VN" smtClean="0"/>
              <a:t>06/27/2023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19F204-C7F4-F140-967F-D2FA889DA617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89964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9F204-C7F4-F140-967F-D2FA889DA617}" type="slidenum">
              <a:rPr lang="en-VN" smtClean="0"/>
              <a:t>6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2174220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/>
              <a:t> </a:t>
            </a:r>
            <a:r>
              <a:rPr lang="vi-VN" dirty="0"/>
              <a:t>Lưu ý là bộ nhớ được định địa chỉ theo byte</a:t>
            </a:r>
            <a:endParaRPr lang="en-US" dirty="0"/>
          </a:p>
          <a:p>
            <a:pPr marL="228600" indent="-228600">
              <a:buAutoNum type="arabicPeriod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9F204-C7F4-F140-967F-D2FA889DA617}" type="slidenum">
              <a:rPr lang="en-VN" smtClean="0"/>
              <a:t>7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2468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/>
              <a:t> </a:t>
            </a:r>
            <a:r>
              <a:rPr lang="vi-VN" dirty="0"/>
              <a:t>Lưu ý là bộ nhớ được định địa chỉ theo byte</a:t>
            </a:r>
            <a:endParaRPr lang="en-US" dirty="0"/>
          </a:p>
          <a:p>
            <a:pPr marL="228600" indent="-228600">
              <a:buAutoNum type="arabicPeriod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9F204-C7F4-F140-967F-D2FA889DA617}" type="slidenum">
              <a:rPr lang="en-VN" smtClean="0"/>
              <a:t>8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420863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/>
              <a:t> </a:t>
            </a:r>
            <a:r>
              <a:rPr lang="vi-VN" dirty="0"/>
              <a:t>Lưu ý là bộ nhớ được định địa chỉ theo byte</a:t>
            </a:r>
            <a:endParaRPr lang="en-US" dirty="0"/>
          </a:p>
          <a:p>
            <a:pPr marL="228600" indent="-228600">
              <a:buAutoNum type="arabicPeriod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9F204-C7F4-F140-967F-D2FA889DA617}" type="slidenum">
              <a:rPr lang="en-VN" smtClean="0"/>
              <a:t>9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75736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9F204-C7F4-F140-967F-D2FA889DA617}" type="slidenum">
              <a:rPr lang="en-VN" smtClean="0"/>
              <a:t>12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733948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Cho sinh viên xem bản MIPS reference data và hướng dẫn cách sử dụng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9F204-C7F4-F140-967F-D2FA889DA617}" type="slidenum">
              <a:rPr lang="en-VN" smtClean="0"/>
              <a:t>13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0886481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Cho sinh viên xem bản MIPS reference data và hướng dẫn cách sử dụng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9F204-C7F4-F140-967F-D2FA889DA617}" type="slidenum">
              <a:rPr lang="en-VN" smtClean="0"/>
              <a:t>14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0015670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Cho sinh viên xem bản MIPS reference data và hướng dẫn cách sử dụng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9F204-C7F4-F140-967F-D2FA889DA617}" type="slidenum">
              <a:rPr lang="en-VN" smtClean="0"/>
              <a:t>15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7586428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9F204-C7F4-F140-967F-D2FA889DA617}" type="slidenum">
              <a:rPr lang="en-VN" smtClean="0"/>
              <a:t>16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6685581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9F204-C7F4-F140-967F-D2FA889DA617}" type="slidenum">
              <a:rPr lang="en-VN" smtClean="0"/>
              <a:t>17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5685231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9F204-C7F4-F140-967F-D2FA889DA617}" type="slidenum">
              <a:rPr lang="en-VN" smtClean="0"/>
              <a:t>20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963064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Trường shamt chỉ được sử dụng cho các lệnh dịch, xoay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9F204-C7F4-F140-967F-D2FA889DA617}" type="slidenum">
              <a:rPr lang="en-VN" smtClean="0"/>
              <a:t>21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428441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Trường shamt chỉ được sử dụng cho các lệnh dịch, xoay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9F204-C7F4-F140-967F-D2FA889DA617}" type="slidenum">
              <a:rPr lang="en-VN" smtClean="0"/>
              <a:t>22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2217786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Trường shamt chỉ được sử dụng cho các lệnh dịch, xoay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9F204-C7F4-F140-967F-D2FA889DA617}" type="slidenum">
              <a:rPr lang="en-VN" smtClean="0"/>
              <a:t>23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7472485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Trường shamt chỉ được sử dụng cho các lệnh dịch, xoay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9F204-C7F4-F140-967F-D2FA889DA617}" type="slidenum">
              <a:rPr lang="en-VN" smtClean="0"/>
              <a:t>24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0059671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9F204-C7F4-F140-967F-D2FA889DA617}" type="slidenum">
              <a:rPr lang="en-VN" smtClean="0"/>
              <a:t>26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302100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Trường shamt chỉ được sử dụng cho các lệnh dịch, xoay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9F204-C7F4-F140-967F-D2FA889DA617}" type="slidenum">
              <a:rPr lang="en-VN" smtClean="0"/>
              <a:t>39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32239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êu đ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F319A-62FB-D9AB-91DD-E1478E7A5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3680" y="6480629"/>
            <a:ext cx="4288103" cy="236770"/>
          </a:xfrm>
        </p:spPr>
        <p:txBody>
          <a:bodyPr/>
          <a:lstStyle>
            <a:lvl1pPr algn="l"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8E55FBA-E532-BB1F-9AD4-40205F001925}"/>
              </a:ext>
            </a:extLst>
          </p:cNvPr>
          <p:cNvSpPr/>
          <p:nvPr userDrawn="1"/>
        </p:nvSpPr>
        <p:spPr>
          <a:xfrm rot="10800000">
            <a:off x="-1" y="0"/>
            <a:ext cx="12192000" cy="6858000"/>
          </a:xfrm>
          <a:custGeom>
            <a:avLst/>
            <a:gdLst>
              <a:gd name="connsiteX0" fmla="*/ 12192000 w 12192000"/>
              <a:gd name="connsiteY0" fmla="*/ 304800 h 6858000"/>
              <a:gd name="connsiteX1" fmla="*/ 9909279 w 12192000"/>
              <a:gd name="connsiteY1" fmla="*/ 304800 h 6858000"/>
              <a:gd name="connsiteX2" fmla="*/ 9732789 w 12192000"/>
              <a:gd name="connsiteY2" fmla="*/ 152400 h 6858000"/>
              <a:gd name="connsiteX3" fmla="*/ 5617499 w 12192000"/>
              <a:gd name="connsiteY3" fmla="*/ 152400 h 6858000"/>
              <a:gd name="connsiteX4" fmla="*/ 5441009 w 12192000"/>
              <a:gd name="connsiteY4" fmla="*/ 0 h 6858000"/>
              <a:gd name="connsiteX5" fmla="*/ 12192000 w 12192000"/>
              <a:gd name="connsiteY5" fmla="*/ 0 h 6858000"/>
              <a:gd name="connsiteX6" fmla="*/ 0 w 12192000"/>
              <a:gd name="connsiteY6" fmla="*/ 616911 h 6858000"/>
              <a:gd name="connsiteX7" fmla="*/ 0 w 12192000"/>
              <a:gd name="connsiteY7" fmla="*/ 0 h 6858000"/>
              <a:gd name="connsiteX8" fmla="*/ 715617 w 12192000"/>
              <a:gd name="connsiteY8" fmla="*/ 0 h 6858000"/>
              <a:gd name="connsiteX9" fmla="*/ 12191999 w 12192000"/>
              <a:gd name="connsiteY9" fmla="*/ 6858000 h 6858000"/>
              <a:gd name="connsiteX10" fmla="*/ 11476382 w 12192000"/>
              <a:gd name="connsiteY10" fmla="*/ 6858000 h 6858000"/>
              <a:gd name="connsiteX11" fmla="*/ 12191999 w 12192000"/>
              <a:gd name="connsiteY11" fmla="*/ 6241089 h 6858000"/>
              <a:gd name="connsiteX12" fmla="*/ 6750991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6553200 h 6858000"/>
              <a:gd name="connsiteX15" fmla="*/ 2282721 w 12192000"/>
              <a:gd name="connsiteY15" fmla="*/ 6553200 h 6858000"/>
              <a:gd name="connsiteX16" fmla="*/ 2459211 w 12192000"/>
              <a:gd name="connsiteY16" fmla="*/ 6705600 h 6858000"/>
              <a:gd name="connsiteX17" fmla="*/ 6574500 w 12192000"/>
              <a:gd name="connsiteY17" fmla="*/ 67056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2192000" h="6858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Isosceles Triangle 12">
            <a:extLst>
              <a:ext uri="{FF2B5EF4-FFF2-40B4-BE49-F238E27FC236}">
                <a16:creationId xmlns:a16="http://schemas.microsoft.com/office/drawing/2014/main" id="{BF14C68C-3577-C657-9E87-056612AF8E42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B88E437-A7E4-9E4B-E374-2DBE3AB8DADD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A3AA59-2194-A31F-AA96-7C29184658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1C352A7-0B18-D7E9-465D-F3B1274BB0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01A6BB9-0E9C-8F74-60DB-2DA463D47F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1DA43496-358A-E9F0-8CFC-6A952BD4F3E7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93DC9D-C96B-54B0-5413-508E29245B5C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1C856C5-8D5F-4945-AAA3-959D25DF2A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8FA7FF3-8245-17A0-DB3A-F0257D5166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31A1CF5-6C4E-34E9-65C0-4B4D785757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Freeform 17">
            <a:extLst>
              <a:ext uri="{FF2B5EF4-FFF2-40B4-BE49-F238E27FC236}">
                <a16:creationId xmlns:a16="http://schemas.microsoft.com/office/drawing/2014/main" id="{3366D05A-8A62-ADE1-F4B2-73F9CA085276}"/>
              </a:ext>
            </a:extLst>
          </p:cNvPr>
          <p:cNvSpPr/>
          <p:nvPr userDrawn="1"/>
        </p:nvSpPr>
        <p:spPr>
          <a:xfrm flipH="1">
            <a:off x="5441009" y="0"/>
            <a:ext cx="6750991" cy="304800"/>
          </a:xfrm>
          <a:custGeom>
            <a:avLst/>
            <a:gdLst>
              <a:gd name="connsiteX0" fmla="*/ 0 w 6750991"/>
              <a:gd name="connsiteY0" fmla="*/ 0 h 304800"/>
              <a:gd name="connsiteX1" fmla="*/ 6750991 w 6750991"/>
              <a:gd name="connsiteY1" fmla="*/ 0 h 304800"/>
              <a:gd name="connsiteX2" fmla="*/ 6574501 w 6750991"/>
              <a:gd name="connsiteY2" fmla="*/ 152400 h 304800"/>
              <a:gd name="connsiteX3" fmla="*/ 2459211 w 6750991"/>
              <a:gd name="connsiteY3" fmla="*/ 152400 h 304800"/>
              <a:gd name="connsiteX4" fmla="*/ 2282721 w 6750991"/>
              <a:gd name="connsiteY4" fmla="*/ 304800 h 304800"/>
              <a:gd name="connsiteX5" fmla="*/ 0 w 6750991"/>
              <a:gd name="connsiteY5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991" h="30480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E7E6E6A9-35CE-D953-F678-DB52C8ED6EC1}"/>
              </a:ext>
            </a:extLst>
          </p:cNvPr>
          <p:cNvSpPr/>
          <p:nvPr userDrawn="1"/>
        </p:nvSpPr>
        <p:spPr>
          <a:xfrm flipV="1">
            <a:off x="0" y="6553200"/>
            <a:ext cx="6750991" cy="304800"/>
          </a:xfrm>
          <a:custGeom>
            <a:avLst/>
            <a:gdLst>
              <a:gd name="connsiteX0" fmla="*/ 0 w 6750991"/>
              <a:gd name="connsiteY0" fmla="*/ 0 h 304800"/>
              <a:gd name="connsiteX1" fmla="*/ 6750991 w 6750991"/>
              <a:gd name="connsiteY1" fmla="*/ 0 h 304800"/>
              <a:gd name="connsiteX2" fmla="*/ 6574501 w 6750991"/>
              <a:gd name="connsiteY2" fmla="*/ 152400 h 304800"/>
              <a:gd name="connsiteX3" fmla="*/ 2459211 w 6750991"/>
              <a:gd name="connsiteY3" fmla="*/ 152400 h 304800"/>
              <a:gd name="connsiteX4" fmla="*/ 2282721 w 6750991"/>
              <a:gd name="connsiteY4" fmla="*/ 304800 h 304800"/>
              <a:gd name="connsiteX5" fmla="*/ 0 w 6750991"/>
              <a:gd name="connsiteY5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991" h="30480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pic>
        <p:nvPicPr>
          <p:cNvPr id="23" name="Picture 22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314FA3D3-A61E-753A-BCC3-7785EC3F2C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638" y="362637"/>
            <a:ext cx="544288" cy="45021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272C38A-5DF7-B873-F169-2EA590FF1122}"/>
              </a:ext>
            </a:extLst>
          </p:cNvPr>
          <p:cNvSpPr txBox="1"/>
          <p:nvPr userDrawn="1"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VN" sz="1400" dirty="0">
                <a:gradFill flip="none" rotWithShape="1"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ĐẠI HỌC QUỐC GIA TP. HỒ CHÍ MINH</a:t>
            </a:r>
          </a:p>
          <a:p>
            <a:r>
              <a:rPr lang="en-VN" sz="1400" b="1" dirty="0">
                <a:gradFill flip="none" rotWithShape="1"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TRƯỜNG ĐẠI HỌC CÔNG NGHỆ THÔNG TIN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90A5A10-F9AF-733C-8C7D-94D87B311EF5}"/>
              </a:ext>
            </a:extLst>
          </p:cNvPr>
          <p:cNvSpPr/>
          <p:nvPr/>
        </p:nvSpPr>
        <p:spPr>
          <a:xfrm>
            <a:off x="11924591" y="6583140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1DEB9-E93C-A8E4-074F-F195EB1D8ABF}"/>
              </a:ext>
            </a:extLst>
          </p:cNvPr>
          <p:cNvSpPr>
            <a:spLocks noGrp="1" noChangeAspect="1"/>
          </p:cNvSpPr>
          <p:nvPr>
            <p:ph type="sldNum" sz="quarter" idx="12"/>
          </p:nvPr>
        </p:nvSpPr>
        <p:spPr>
          <a:xfrm>
            <a:off x="11894359" y="6566401"/>
            <a:ext cx="291600" cy="29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VN" sz="7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D8B0B3AC-44A8-D142-AAF6-9A453466E1A4}" type="slidenum">
              <a:rPr lang="en-VN" smtClean="0"/>
              <a:pPr algn="ctr"/>
              <a:t>‹#›</a:t>
            </a:fld>
            <a:endParaRPr lang="en-VN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C4981174-E1E5-D0CF-F74E-4BBA287A5C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0807" y="2208158"/>
            <a:ext cx="8490387" cy="696165"/>
          </a:xfr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buNone/>
              <a:defRPr lang="en-VN" sz="4400" b="1" kern="1200" dirty="0">
                <a:ln>
                  <a:gradFill>
                    <a:gsLst>
                      <a:gs pos="0">
                        <a:srgbClr val="000046"/>
                      </a:gs>
                      <a:gs pos="100000">
                        <a:srgbClr val="1CB5E0"/>
                      </a:gs>
                    </a:gsLst>
                    <a:lin ang="5400000" scaled="1"/>
                  </a:gradFill>
                </a:ln>
                <a:noFill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TÊN MÔN HỌC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F1F814F0-EAC8-84E1-83C4-B5C359387C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991" y="3039455"/>
            <a:ext cx="10438019" cy="459447"/>
          </a:xfr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buNone/>
              <a:defRPr lang="en-VN" sz="2000" b="1" kern="1200" dirty="0">
                <a:gradFill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</a:gradFill>
                <a:effectLst>
                  <a:innerShdw blurRad="114300">
                    <a:schemeClr val="bg1"/>
                  </a:inn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CHƯƠNG X: TÊN CHƯƠNG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2B8543E7-0085-7DF3-5351-E097219BEE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80970" y="4963048"/>
            <a:ext cx="2830058" cy="345005"/>
          </a:xfr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Trình bày: Tên Giảng viên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18BC0B81-9708-34C0-3CBB-EA50270B910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50807" y="3630811"/>
            <a:ext cx="8490387" cy="64421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spc="150" baseline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(</a:t>
            </a:r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): Lorem ipsum dolor sit amet, consectetuer adipiscing elit. Maecenas porttitor congue massa. Fusce posuere, magna sed pulvinar ultricies, purus lectus malesuada libero, sit amet commodo magna eros quis </a:t>
            </a:r>
            <a:r>
              <a:rPr lang="en-US" dirty="0" err="1"/>
              <a:t>urna</a:t>
            </a:r>
            <a:r>
              <a:rPr lang="en-US" dirty="0"/>
              <a:t>.</a:t>
            </a:r>
            <a:endParaRPr lang="en-V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B28119-6BAB-C115-873B-3333E0D709F1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767806" y="6476999"/>
            <a:ext cx="2495896" cy="236763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pPr/>
              <a:t>June 27, 2023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234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ục lụ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Isosceles Triangle 12">
            <a:extLst>
              <a:ext uri="{FF2B5EF4-FFF2-40B4-BE49-F238E27FC236}">
                <a16:creationId xmlns:a16="http://schemas.microsoft.com/office/drawing/2014/main" id="{72826670-EA95-0D41-31A4-F445474455F7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C178CED-135F-0B63-CD69-F01713607F73}"/>
              </a:ext>
            </a:extLst>
          </p:cNvPr>
          <p:cNvGrpSpPr/>
          <p:nvPr userDrawn="1"/>
        </p:nvGrpSpPr>
        <p:grpSpPr>
          <a:xfrm flipH="1" flipV="1">
            <a:off x="9263702" y="5930537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0441D2A-FC76-0844-7EA5-B632F99E2E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0C48DFD-25B4-6AF8-8C94-3C8B50B23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CA6305E-4BEE-7CC0-EE96-38938F7643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14" y="654128"/>
              <a:ext cx="0" cy="25968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5F02F9-19CB-F108-6F35-1A02C9BEC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65443" y="6466114"/>
            <a:ext cx="5261114" cy="255361"/>
          </a:xfr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1E5AAB4-F14E-4F9C-E123-7635A7EF6275}"/>
              </a:ext>
            </a:extLst>
          </p:cNvPr>
          <p:cNvGrpSpPr/>
          <p:nvPr userDrawn="1"/>
        </p:nvGrpSpPr>
        <p:grpSpPr>
          <a:xfrm>
            <a:off x="-1259888" y="1121391"/>
            <a:ext cx="4841288" cy="5054000"/>
            <a:chOff x="-1259888" y="901609"/>
            <a:chExt cx="4841288" cy="505400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2E31223-939B-D84C-4ACC-CDC6CEB64FEF}"/>
                </a:ext>
              </a:extLst>
            </p:cNvPr>
            <p:cNvGrpSpPr/>
            <p:nvPr userDrawn="1"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DB06BED-50E6-B29E-B929-6D7717DB8E5E}"/>
                  </a:ext>
                </a:extLst>
              </p:cNvPr>
              <p:cNvCxnSpPr/>
              <p:nvPr/>
            </p:nvCxnSpPr>
            <p:spPr>
              <a:xfrm>
                <a:off x="0" y="1566123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E58C69F9-0B5B-5D9E-7034-C823717706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059987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5F5F07FD-916F-9286-7ADA-4A2252FCBB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059987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3A8BE15-FC97-76D3-BF6B-29B7114D4716}"/>
                  </a:ext>
                </a:extLst>
              </p:cNvPr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4AB711F-106D-5EA6-AAFA-CF1A979FF6F9}"/>
                </a:ext>
              </a:extLst>
            </p:cNvPr>
            <p:cNvGrpSpPr/>
            <p:nvPr userDrawn="1"/>
          </p:nvGrpSpPr>
          <p:grpSpPr>
            <a:xfrm flipV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660A401-E892-4348-0DC3-086E4EF0B6E4}"/>
                  </a:ext>
                </a:extLst>
              </p:cNvPr>
              <p:cNvCxnSpPr/>
              <p:nvPr/>
            </p:nvCxnSpPr>
            <p:spPr>
              <a:xfrm>
                <a:off x="0" y="1897039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AFDB122-E638-017C-654A-F8EC6AB0B2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390903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C676F38-72FE-4F76-7E67-580148C08A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390903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7E06E3C-C182-FD6B-BB7B-4847F4323944}"/>
                  </a:ext>
                </a:extLst>
              </p:cNvPr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21F68F9-560D-A608-4130-5D9040FE3F01}"/>
                </a:ext>
              </a:extLst>
            </p:cNvPr>
            <p:cNvGrpSpPr/>
            <p:nvPr userDrawn="1"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6A5574E-F30D-A49F-E874-231C445514E4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1AABF66E-DE89-B1F6-062E-2BC96ADE0530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EB0E2531-6E1E-6A7F-6704-D0334B1AB6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4F6A1DDC-0D65-0297-E1E5-DC4B2441C5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25C9018-B01E-F47F-3802-C002B3E7B2AF}"/>
                </a:ext>
              </a:extLst>
            </p:cNvPr>
            <p:cNvGrpSpPr/>
            <p:nvPr userDrawn="1"/>
          </p:nvGrpSpPr>
          <p:grpSpPr>
            <a:xfrm flipV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7C82ECD-21F2-F43B-6992-AE7FB9F2798F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99F69DC7-3AE7-E60B-2377-4B4F72314B92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0E27743B-09AF-DFA3-B333-99F4D9A43D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9F40737-164C-459C-2ABE-C4DE4A29E3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4A28006-5F76-1896-7905-6715849C97AC}"/>
                </a:ext>
              </a:extLst>
            </p:cNvPr>
            <p:cNvGrpSpPr/>
            <p:nvPr userDrawn="1"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02985FB7-4D54-A096-221C-AB21916398BD}"/>
                  </a:ext>
                </a:extLst>
              </p:cNvPr>
              <p:cNvCxnSpPr/>
              <p:nvPr/>
            </p:nvCxnSpPr>
            <p:spPr>
              <a:xfrm>
                <a:off x="-26865" y="3151921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FDDEC85B-E1F4-38FE-0E5C-E5850D2C99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303" y="2877197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E6622AE-52DB-9FD4-5FA6-F8C5F26067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690" y="2877197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9264108-0C61-CCC7-04EF-695A004F44BA}"/>
                  </a:ext>
                </a:extLst>
              </p:cNvPr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1F8E5A4-A013-ABE4-F3E5-36BBEE45994B}"/>
                </a:ext>
              </a:extLst>
            </p:cNvPr>
            <p:cNvGrpSpPr/>
            <p:nvPr userDrawn="1"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92CA967D-77D2-F89E-9996-2B247282DA6A}"/>
                  </a:ext>
                </a:extLst>
              </p:cNvPr>
              <p:cNvCxnSpPr/>
              <p:nvPr/>
            </p:nvCxnSpPr>
            <p:spPr>
              <a:xfrm flipV="1">
                <a:off x="-34420" y="3843718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8D106A27-9FB0-65D0-E42B-5A9345BBE7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0748" y="3843718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BDA310D0-0781-F61D-3188-05A327C3E3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8135" y="4118442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74C60948-61FC-2116-FCE6-F05185B2432A}"/>
                  </a:ext>
                </a:extLst>
              </p:cNvPr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9D55038-C512-E74F-0316-32FA44AC85DA}"/>
              </a:ext>
            </a:extLst>
          </p:cNvPr>
          <p:cNvGrpSpPr/>
          <p:nvPr userDrawn="1"/>
        </p:nvGrpSpPr>
        <p:grpSpPr>
          <a:xfrm flipH="1">
            <a:off x="8607643" y="1121391"/>
            <a:ext cx="4841288" cy="5054000"/>
            <a:chOff x="-1259888" y="901609"/>
            <a:chExt cx="4841288" cy="505400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C8D5E8A-34C2-98F5-01F2-D2CAA76A0A9E}"/>
                </a:ext>
              </a:extLst>
            </p:cNvPr>
            <p:cNvGrpSpPr/>
            <p:nvPr userDrawn="1"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E6EEF1F3-D1D1-DEB4-E491-3B5E510B766B}"/>
                  </a:ext>
                </a:extLst>
              </p:cNvPr>
              <p:cNvCxnSpPr/>
              <p:nvPr/>
            </p:nvCxnSpPr>
            <p:spPr>
              <a:xfrm>
                <a:off x="0" y="1566123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6BAF104D-64C5-1843-2B4A-2AEDAF0D61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059987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591F5277-EE93-31FB-AAD8-F64F97837D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059987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36A6A4EA-512C-BD8D-6200-C1B6D161AF96}"/>
                  </a:ext>
                </a:extLst>
              </p:cNvPr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8417325-5CBC-9245-EBBF-5495BB114BB9}"/>
                </a:ext>
              </a:extLst>
            </p:cNvPr>
            <p:cNvGrpSpPr/>
            <p:nvPr userDrawn="1"/>
          </p:nvGrpSpPr>
          <p:grpSpPr>
            <a:xfrm flipV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2ABA872F-CF9E-97F0-0BEB-43E95F81970F}"/>
                  </a:ext>
                </a:extLst>
              </p:cNvPr>
              <p:cNvCxnSpPr/>
              <p:nvPr/>
            </p:nvCxnSpPr>
            <p:spPr>
              <a:xfrm>
                <a:off x="0" y="1897039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CE558871-BCDE-178B-024F-81DBE95811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390903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13BB9F5-0BB8-705B-E8A1-5FA6735325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390903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2DF72871-077F-48BE-91AF-DE72A1841D14}"/>
                  </a:ext>
                </a:extLst>
              </p:cNvPr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917CABE-75B7-599D-4246-DCB5968A10A9}"/>
                </a:ext>
              </a:extLst>
            </p:cNvPr>
            <p:cNvGrpSpPr/>
            <p:nvPr userDrawn="1"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98A88CE2-C346-6A1C-2ECA-F96ED3759F52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5A2C42DA-B857-1726-C8D9-FE4710E5AF27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22A1339-07A9-9E34-F0B5-0FC956E053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39CB6646-AD5A-592F-1BBF-6F86BE47C2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2335E1C-3065-23F6-E27F-3F0198899BD3}"/>
                </a:ext>
              </a:extLst>
            </p:cNvPr>
            <p:cNvGrpSpPr/>
            <p:nvPr userDrawn="1"/>
          </p:nvGrpSpPr>
          <p:grpSpPr>
            <a:xfrm flipV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0054D5F9-BD76-DFA5-747D-63210423AF11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CCE92875-704E-A1B5-07E6-FAEFE45DBA51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5465DD13-4162-48B0-8660-1DA77169F8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85D16174-2600-C069-974A-6FEA86E036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73999E9-4737-2309-371C-9E0670D1FA16}"/>
                </a:ext>
              </a:extLst>
            </p:cNvPr>
            <p:cNvGrpSpPr/>
            <p:nvPr userDrawn="1"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8BEE6AC-D79B-8E2A-ABF5-4EEEA5212958}"/>
                  </a:ext>
                </a:extLst>
              </p:cNvPr>
              <p:cNvCxnSpPr/>
              <p:nvPr/>
            </p:nvCxnSpPr>
            <p:spPr>
              <a:xfrm>
                <a:off x="-26865" y="3151921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D71D58E6-0CF0-201A-6AC4-AC76E73B91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303" y="2877197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03F8ECCF-CC37-3AD1-B56C-A8D4EAB0F4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690" y="2877197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31674892-B2C7-136E-8594-C11B8E269F87}"/>
                  </a:ext>
                </a:extLst>
              </p:cNvPr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31C3464-516C-C4D2-7CEC-A8FAE9B21FCD}"/>
                </a:ext>
              </a:extLst>
            </p:cNvPr>
            <p:cNvGrpSpPr/>
            <p:nvPr userDrawn="1"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408CCADE-8B1D-0E30-0A68-1F46B13BC757}"/>
                  </a:ext>
                </a:extLst>
              </p:cNvPr>
              <p:cNvCxnSpPr/>
              <p:nvPr/>
            </p:nvCxnSpPr>
            <p:spPr>
              <a:xfrm flipV="1">
                <a:off x="-34420" y="3843718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F817E267-84D9-FC0C-E5D5-1DD3288DCC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0748" y="3843718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CA383401-6B48-1369-8E23-310FBDF1E0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8135" y="4118442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15E2EA8-3EC1-AFA6-AC3A-1F5D01C1902E}"/>
                  </a:ext>
                </a:extLst>
              </p:cNvPr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18EDBFE5-F6A7-D377-B524-2A5E293A8580}"/>
              </a:ext>
            </a:extLst>
          </p:cNvPr>
          <p:cNvSpPr/>
          <p:nvPr userDrawn="1"/>
        </p:nvSpPr>
        <p:spPr>
          <a:xfrm>
            <a:off x="11924591" y="6583140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298E1-B4F3-31E6-9C4D-5AE100CD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00400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3E32705-3D72-A324-09E4-62DB4F73E8B8}"/>
              </a:ext>
            </a:extLst>
          </p:cNvPr>
          <p:cNvSpPr txBox="1"/>
          <p:nvPr userDrawn="1"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shape">
              <a:fillToRect l="50000" t="50000" r="50000" b="50000"/>
            </a:path>
          </a:gra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 TIÊU</a:t>
            </a:r>
            <a:endParaRPr lang="en-V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76C3F59F-1B16-EF53-7B37-4235433DF4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35144" y="1286346"/>
            <a:ext cx="6721714" cy="4699000"/>
          </a:xfrm>
        </p:spPr>
        <p:txBody>
          <a:bodyPr anchor="ctr">
            <a:normAutofit/>
          </a:bodyPr>
          <a:lstStyle>
            <a:lvl1pPr marL="514350" indent="-514350" algn="just">
              <a:buFont typeface="+mj-lt"/>
              <a:buAutoNum type="arabicPeriod"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indent="-4572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-4572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Mục</a:t>
            </a:r>
            <a:r>
              <a:rPr lang="en-US" dirty="0"/>
              <a:t> 1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2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3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4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5</a:t>
            </a:r>
          </a:p>
        </p:txBody>
      </p:sp>
      <p:sp>
        <p:nvSpPr>
          <p:cNvPr id="75" name="Isosceles Triangle 12">
            <a:extLst>
              <a:ext uri="{FF2B5EF4-FFF2-40B4-BE49-F238E27FC236}">
                <a16:creationId xmlns:a16="http://schemas.microsoft.com/office/drawing/2014/main" id="{A388E1C1-619D-B3DE-405E-FEBD285E8A4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C853EEA-59DB-F0D6-265D-88168C2394BB}"/>
              </a:ext>
            </a:extLst>
          </p:cNvPr>
          <p:cNvGrpSpPr/>
          <p:nvPr userDrawn="1"/>
        </p:nvGrpSpPr>
        <p:grpSpPr>
          <a:xfrm>
            <a:off x="58527" y="40944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437A5D6-1DC7-D389-82D2-23162AC05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96068C2-8F0E-EB5D-CA9A-7015104FFB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8D9F136-81C9-C695-8C54-BACD26A69D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25968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6" name="Picture 85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59A81B3C-3C09-2267-567B-AD3F47296C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638" y="362637"/>
            <a:ext cx="544288" cy="450213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B4C13D-5A18-5AEA-36B7-4E32F182BE3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96022" y="6454635"/>
            <a:ext cx="2132276" cy="266840"/>
          </a:xfrm>
        </p:spPr>
        <p:txBody>
          <a:bodyPr/>
          <a:lstStyle>
            <a:lvl1pPr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pPr/>
              <a:t>June 27, 2023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669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ục lụ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Isosceles Triangle 12">
            <a:extLst>
              <a:ext uri="{FF2B5EF4-FFF2-40B4-BE49-F238E27FC236}">
                <a16:creationId xmlns:a16="http://schemas.microsoft.com/office/drawing/2014/main" id="{72826670-EA95-0D41-31A4-F445474455F7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C178CED-135F-0B63-CD69-F01713607F73}"/>
              </a:ext>
            </a:extLst>
          </p:cNvPr>
          <p:cNvGrpSpPr/>
          <p:nvPr userDrawn="1"/>
        </p:nvGrpSpPr>
        <p:grpSpPr>
          <a:xfrm flipH="1" flipV="1">
            <a:off x="9263702" y="5930537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0441D2A-FC76-0844-7EA5-B632F99E2E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0C48DFD-25B4-6AF8-8C94-3C8B50B23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CA6305E-4BEE-7CC0-EE96-38938F7643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14" y="654128"/>
              <a:ext cx="0" cy="25968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5F02F9-19CB-F108-6F35-1A02C9BEC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65443" y="6466114"/>
            <a:ext cx="5261114" cy="255361"/>
          </a:xfr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1E5AAB4-F14E-4F9C-E123-7635A7EF6275}"/>
              </a:ext>
            </a:extLst>
          </p:cNvPr>
          <p:cNvGrpSpPr/>
          <p:nvPr userDrawn="1"/>
        </p:nvGrpSpPr>
        <p:grpSpPr>
          <a:xfrm>
            <a:off x="-1259888" y="1121391"/>
            <a:ext cx="4841288" cy="5054000"/>
            <a:chOff x="-1259888" y="901609"/>
            <a:chExt cx="4841288" cy="505400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2E31223-939B-D84C-4ACC-CDC6CEB64FEF}"/>
                </a:ext>
              </a:extLst>
            </p:cNvPr>
            <p:cNvGrpSpPr/>
            <p:nvPr userDrawn="1"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DB06BED-50E6-B29E-B929-6D7717DB8E5E}"/>
                  </a:ext>
                </a:extLst>
              </p:cNvPr>
              <p:cNvCxnSpPr/>
              <p:nvPr/>
            </p:nvCxnSpPr>
            <p:spPr>
              <a:xfrm>
                <a:off x="0" y="1566123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E58C69F9-0B5B-5D9E-7034-C823717706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059987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5F5F07FD-916F-9286-7ADA-4A2252FCBB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059987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3A8BE15-FC97-76D3-BF6B-29B7114D4716}"/>
                  </a:ext>
                </a:extLst>
              </p:cNvPr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4AB711F-106D-5EA6-AAFA-CF1A979FF6F9}"/>
                </a:ext>
              </a:extLst>
            </p:cNvPr>
            <p:cNvGrpSpPr/>
            <p:nvPr userDrawn="1"/>
          </p:nvGrpSpPr>
          <p:grpSpPr>
            <a:xfrm flipV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660A401-E892-4348-0DC3-086E4EF0B6E4}"/>
                  </a:ext>
                </a:extLst>
              </p:cNvPr>
              <p:cNvCxnSpPr/>
              <p:nvPr/>
            </p:nvCxnSpPr>
            <p:spPr>
              <a:xfrm>
                <a:off x="0" y="1897039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AFDB122-E638-017C-654A-F8EC6AB0B2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390903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C676F38-72FE-4F76-7E67-580148C08A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390903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7E06E3C-C182-FD6B-BB7B-4847F4323944}"/>
                  </a:ext>
                </a:extLst>
              </p:cNvPr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21F68F9-560D-A608-4130-5D9040FE3F01}"/>
                </a:ext>
              </a:extLst>
            </p:cNvPr>
            <p:cNvGrpSpPr/>
            <p:nvPr userDrawn="1"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6A5574E-F30D-A49F-E874-231C445514E4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1AABF66E-DE89-B1F6-062E-2BC96ADE0530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EB0E2531-6E1E-6A7F-6704-D0334B1AB6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4F6A1DDC-0D65-0297-E1E5-DC4B2441C5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25C9018-B01E-F47F-3802-C002B3E7B2AF}"/>
                </a:ext>
              </a:extLst>
            </p:cNvPr>
            <p:cNvGrpSpPr/>
            <p:nvPr userDrawn="1"/>
          </p:nvGrpSpPr>
          <p:grpSpPr>
            <a:xfrm flipV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7C82ECD-21F2-F43B-6992-AE7FB9F2798F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99F69DC7-3AE7-E60B-2377-4B4F72314B92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0E27743B-09AF-DFA3-B333-99F4D9A43D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9F40737-164C-459C-2ABE-C4DE4A29E3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4A28006-5F76-1896-7905-6715849C97AC}"/>
                </a:ext>
              </a:extLst>
            </p:cNvPr>
            <p:cNvGrpSpPr/>
            <p:nvPr userDrawn="1"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02985FB7-4D54-A096-221C-AB21916398BD}"/>
                  </a:ext>
                </a:extLst>
              </p:cNvPr>
              <p:cNvCxnSpPr/>
              <p:nvPr/>
            </p:nvCxnSpPr>
            <p:spPr>
              <a:xfrm>
                <a:off x="-26865" y="3151921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FDDEC85B-E1F4-38FE-0E5C-E5850D2C99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303" y="2877197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E6622AE-52DB-9FD4-5FA6-F8C5F26067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690" y="2877197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9264108-0C61-CCC7-04EF-695A004F44BA}"/>
                  </a:ext>
                </a:extLst>
              </p:cNvPr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1F8E5A4-A013-ABE4-F3E5-36BBEE45994B}"/>
                </a:ext>
              </a:extLst>
            </p:cNvPr>
            <p:cNvGrpSpPr/>
            <p:nvPr userDrawn="1"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92CA967D-77D2-F89E-9996-2B247282DA6A}"/>
                  </a:ext>
                </a:extLst>
              </p:cNvPr>
              <p:cNvCxnSpPr/>
              <p:nvPr/>
            </p:nvCxnSpPr>
            <p:spPr>
              <a:xfrm flipV="1">
                <a:off x="-34420" y="3843718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8D106A27-9FB0-65D0-E42B-5A9345BBE7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0748" y="3843718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BDA310D0-0781-F61D-3188-05A327C3E3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8135" y="4118442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74C60948-61FC-2116-FCE6-F05185B2432A}"/>
                  </a:ext>
                </a:extLst>
              </p:cNvPr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9D55038-C512-E74F-0316-32FA44AC85DA}"/>
              </a:ext>
            </a:extLst>
          </p:cNvPr>
          <p:cNvGrpSpPr/>
          <p:nvPr userDrawn="1"/>
        </p:nvGrpSpPr>
        <p:grpSpPr>
          <a:xfrm flipH="1">
            <a:off x="8607643" y="1121391"/>
            <a:ext cx="4841288" cy="5054000"/>
            <a:chOff x="-1259888" y="901609"/>
            <a:chExt cx="4841288" cy="505400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C8D5E8A-34C2-98F5-01F2-D2CAA76A0A9E}"/>
                </a:ext>
              </a:extLst>
            </p:cNvPr>
            <p:cNvGrpSpPr/>
            <p:nvPr userDrawn="1"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E6EEF1F3-D1D1-DEB4-E491-3B5E510B766B}"/>
                  </a:ext>
                </a:extLst>
              </p:cNvPr>
              <p:cNvCxnSpPr/>
              <p:nvPr/>
            </p:nvCxnSpPr>
            <p:spPr>
              <a:xfrm>
                <a:off x="0" y="1566123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6BAF104D-64C5-1843-2B4A-2AEDAF0D61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059987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591F5277-EE93-31FB-AAD8-F64F97837D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059987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36A6A4EA-512C-BD8D-6200-C1B6D161AF96}"/>
                  </a:ext>
                </a:extLst>
              </p:cNvPr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8417325-5CBC-9245-EBBF-5495BB114BB9}"/>
                </a:ext>
              </a:extLst>
            </p:cNvPr>
            <p:cNvGrpSpPr/>
            <p:nvPr userDrawn="1"/>
          </p:nvGrpSpPr>
          <p:grpSpPr>
            <a:xfrm flipV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2ABA872F-CF9E-97F0-0BEB-43E95F81970F}"/>
                  </a:ext>
                </a:extLst>
              </p:cNvPr>
              <p:cNvCxnSpPr/>
              <p:nvPr/>
            </p:nvCxnSpPr>
            <p:spPr>
              <a:xfrm>
                <a:off x="0" y="1897039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CE558871-BCDE-178B-024F-81DBE95811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390903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13BB9F5-0BB8-705B-E8A1-5FA6735325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390903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2DF72871-077F-48BE-91AF-DE72A1841D14}"/>
                  </a:ext>
                </a:extLst>
              </p:cNvPr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917CABE-75B7-599D-4246-DCB5968A10A9}"/>
                </a:ext>
              </a:extLst>
            </p:cNvPr>
            <p:cNvGrpSpPr/>
            <p:nvPr userDrawn="1"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98A88CE2-C346-6A1C-2ECA-F96ED3759F52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5A2C42DA-B857-1726-C8D9-FE4710E5AF27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22A1339-07A9-9E34-F0B5-0FC956E053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39CB6646-AD5A-592F-1BBF-6F86BE47C2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2335E1C-3065-23F6-E27F-3F0198899BD3}"/>
                </a:ext>
              </a:extLst>
            </p:cNvPr>
            <p:cNvGrpSpPr/>
            <p:nvPr userDrawn="1"/>
          </p:nvGrpSpPr>
          <p:grpSpPr>
            <a:xfrm flipV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0054D5F9-BD76-DFA5-747D-63210423AF11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CCE92875-704E-A1B5-07E6-FAEFE45DBA51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5465DD13-4162-48B0-8660-1DA77169F8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85D16174-2600-C069-974A-6FEA86E036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73999E9-4737-2309-371C-9E0670D1FA16}"/>
                </a:ext>
              </a:extLst>
            </p:cNvPr>
            <p:cNvGrpSpPr/>
            <p:nvPr userDrawn="1"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8BEE6AC-D79B-8E2A-ABF5-4EEEA5212958}"/>
                  </a:ext>
                </a:extLst>
              </p:cNvPr>
              <p:cNvCxnSpPr/>
              <p:nvPr/>
            </p:nvCxnSpPr>
            <p:spPr>
              <a:xfrm>
                <a:off x="-26865" y="3151921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D71D58E6-0CF0-201A-6AC4-AC76E73B91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303" y="2877197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03F8ECCF-CC37-3AD1-B56C-A8D4EAB0F4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690" y="2877197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31674892-B2C7-136E-8594-C11B8E269F87}"/>
                  </a:ext>
                </a:extLst>
              </p:cNvPr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31C3464-516C-C4D2-7CEC-A8FAE9B21FCD}"/>
                </a:ext>
              </a:extLst>
            </p:cNvPr>
            <p:cNvGrpSpPr/>
            <p:nvPr userDrawn="1"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408CCADE-8B1D-0E30-0A68-1F46B13BC757}"/>
                  </a:ext>
                </a:extLst>
              </p:cNvPr>
              <p:cNvCxnSpPr/>
              <p:nvPr/>
            </p:nvCxnSpPr>
            <p:spPr>
              <a:xfrm flipV="1">
                <a:off x="-34420" y="3843718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F817E267-84D9-FC0C-E5D5-1DD3288DCC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0748" y="3843718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CA383401-6B48-1369-8E23-310FBDF1E0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8135" y="4118442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15E2EA8-3EC1-AFA6-AC3A-1F5D01C1902E}"/>
                  </a:ext>
                </a:extLst>
              </p:cNvPr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18EDBFE5-F6A7-D377-B524-2A5E293A8580}"/>
              </a:ext>
            </a:extLst>
          </p:cNvPr>
          <p:cNvSpPr/>
          <p:nvPr userDrawn="1"/>
        </p:nvSpPr>
        <p:spPr>
          <a:xfrm>
            <a:off x="11924591" y="6583140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298E1-B4F3-31E6-9C4D-5AE100CD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00400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3E32705-3D72-A324-09E4-62DB4F73E8B8}"/>
              </a:ext>
            </a:extLst>
          </p:cNvPr>
          <p:cNvSpPr txBox="1"/>
          <p:nvPr userDrawn="1"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shape">
              <a:fillToRect l="50000" t="50000" r="50000" b="50000"/>
            </a:path>
          </a:gradFill>
        </p:spPr>
        <p:txBody>
          <a:bodyPr wrap="square" rtlCol="0" anchor="ctr">
            <a:spAutoFit/>
          </a:bodyPr>
          <a:lstStyle/>
          <a:p>
            <a:pPr algn="ctr"/>
            <a:r>
              <a:rPr lang="en-V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 DUNG</a:t>
            </a:r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76C3F59F-1B16-EF53-7B37-4235433DF4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35144" y="1286346"/>
            <a:ext cx="6721714" cy="4699000"/>
          </a:xfrm>
        </p:spPr>
        <p:txBody>
          <a:bodyPr anchor="ctr">
            <a:normAutofit/>
          </a:bodyPr>
          <a:lstStyle>
            <a:lvl1pPr marL="514350" indent="-514350" algn="just">
              <a:buFont typeface="+mj-lt"/>
              <a:buAutoNum type="arabicPeriod"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indent="-4572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-4572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Mục</a:t>
            </a:r>
            <a:r>
              <a:rPr lang="en-US" dirty="0"/>
              <a:t> 1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2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3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4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5</a:t>
            </a:r>
          </a:p>
        </p:txBody>
      </p:sp>
      <p:sp>
        <p:nvSpPr>
          <p:cNvPr id="75" name="Isosceles Triangle 12">
            <a:extLst>
              <a:ext uri="{FF2B5EF4-FFF2-40B4-BE49-F238E27FC236}">
                <a16:creationId xmlns:a16="http://schemas.microsoft.com/office/drawing/2014/main" id="{A388E1C1-619D-B3DE-405E-FEBD285E8A4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C853EEA-59DB-F0D6-265D-88168C2394BB}"/>
              </a:ext>
            </a:extLst>
          </p:cNvPr>
          <p:cNvGrpSpPr/>
          <p:nvPr userDrawn="1"/>
        </p:nvGrpSpPr>
        <p:grpSpPr>
          <a:xfrm>
            <a:off x="58527" y="40944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437A5D6-1DC7-D389-82D2-23162AC05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96068C2-8F0E-EB5D-CA9A-7015104FFB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8D9F136-81C9-C695-8C54-BACD26A69D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25968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6" name="Picture 85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59A81B3C-3C09-2267-567B-AD3F47296C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638" y="362637"/>
            <a:ext cx="544288" cy="450213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B4C13D-5A18-5AEA-36B7-4E32F182BE3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96022" y="6454635"/>
            <a:ext cx="2132276" cy="266840"/>
          </a:xfrm>
        </p:spPr>
        <p:txBody>
          <a:bodyPr/>
          <a:lstStyle>
            <a:lvl1pPr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pPr/>
              <a:t>June 27, 2023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483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êu đề chươ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76021CEA-9826-5DD2-8F9F-FCB0E58DFF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A8EA08-4ACD-C298-69F2-2D88060DD06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A4671">
                  <a:alpha val="75000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0A66F8-E091-9C03-CD6B-317D0180ADDD}"/>
              </a:ext>
            </a:extLst>
          </p:cNvPr>
          <p:cNvSpPr/>
          <p:nvPr userDrawn="1"/>
        </p:nvSpPr>
        <p:spPr>
          <a:xfrm>
            <a:off x="16026" y="4629289"/>
            <a:ext cx="434350" cy="346950"/>
          </a:xfrm>
          <a:prstGeom prst="rect">
            <a:avLst/>
          </a:prstGeom>
          <a:solidFill>
            <a:srgbClr val="00F7FF"/>
          </a:solidFill>
          <a:ln>
            <a:solidFill>
              <a:srgbClr val="00F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A5F01B-1418-7515-A2D9-40BE42BE32BD}"/>
              </a:ext>
            </a:extLst>
          </p:cNvPr>
          <p:cNvSpPr/>
          <p:nvPr userDrawn="1"/>
        </p:nvSpPr>
        <p:spPr>
          <a:xfrm>
            <a:off x="16026" y="5005641"/>
            <a:ext cx="434350" cy="346950"/>
          </a:xfrm>
          <a:prstGeom prst="rect">
            <a:avLst/>
          </a:prstGeom>
          <a:solidFill>
            <a:srgbClr val="00F7FF"/>
          </a:solidFill>
          <a:ln>
            <a:solidFill>
              <a:srgbClr val="00F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A161D7-9C70-83EF-EE51-E59464E9FF79}"/>
              </a:ext>
            </a:extLst>
          </p:cNvPr>
          <p:cNvSpPr/>
          <p:nvPr userDrawn="1"/>
        </p:nvSpPr>
        <p:spPr>
          <a:xfrm>
            <a:off x="16026" y="5381993"/>
            <a:ext cx="434350" cy="346950"/>
          </a:xfrm>
          <a:prstGeom prst="rect">
            <a:avLst/>
          </a:prstGeom>
          <a:solidFill>
            <a:srgbClr val="00F7FF"/>
          </a:solidFill>
          <a:ln>
            <a:solidFill>
              <a:srgbClr val="00F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94F566-E8F9-197C-FC4C-0E96F2163AA2}"/>
              </a:ext>
            </a:extLst>
          </p:cNvPr>
          <p:cNvSpPr/>
          <p:nvPr userDrawn="1"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>
            <a:solidFill>
              <a:srgbClr val="00F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20CF87-B708-06C0-11BA-20052748E49F}"/>
              </a:ext>
            </a:extLst>
          </p:cNvPr>
          <p:cNvSpPr/>
          <p:nvPr userDrawn="1"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>
            <a:solidFill>
              <a:srgbClr val="00F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2E2ADF-9658-9B1B-7EA8-E37B1FC3CB44}"/>
              </a:ext>
            </a:extLst>
          </p:cNvPr>
          <p:cNvSpPr/>
          <p:nvPr userDrawn="1"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>
            <a:solidFill>
              <a:srgbClr val="00F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2">
            <a:extLst>
              <a:ext uri="{FF2B5EF4-FFF2-40B4-BE49-F238E27FC236}">
                <a16:creationId xmlns:a16="http://schemas.microsoft.com/office/drawing/2014/main" id="{A49F0DD3-DC56-8398-42AE-9819F17BDE3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33CAF6-1926-D8C9-805D-C62294874052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0625E9E-73EA-1C70-6330-DACC8A9A20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225C7FE-6858-40F1-0A49-2AD56C0D49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8FBED07-28E7-32D7-F629-E505191735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Isosceles Triangle 12">
            <a:extLst>
              <a:ext uri="{FF2B5EF4-FFF2-40B4-BE49-F238E27FC236}">
                <a16:creationId xmlns:a16="http://schemas.microsoft.com/office/drawing/2014/main" id="{5DB9FA21-5387-C238-85F9-516A2379F6C0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FCC0B98-57DA-D911-8CE1-C15A09E2C7EC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160133-C90F-5924-8C1C-D5FAECA895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892685-43A4-5ED1-12EC-FAE1547CC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92B5B59-89DB-8D47-B8D4-6475631C5C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D48BE0DC-C12B-7B32-5521-E1BCC5CB89B7}"/>
              </a:ext>
            </a:extLst>
          </p:cNvPr>
          <p:cNvSpPr/>
          <p:nvPr/>
        </p:nvSpPr>
        <p:spPr>
          <a:xfrm>
            <a:off x="11928738" y="6583150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F5D728B6-8658-2A5A-4406-097B8D68238B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bg1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2E132-2B15-1D22-000B-D9DC548D1B2D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11899392" y="6542216"/>
            <a:ext cx="292608" cy="315784"/>
          </a:xfrm>
        </p:spPr>
        <p:txBody>
          <a:bodyPr/>
          <a:lstStyle>
            <a:lvl1pPr marL="0" algn="ctr" defTabSz="914400" rtl="0" eaLnBrk="1" latinLnBrk="0" hangingPunct="1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6FB8E2A-4378-29FE-41E3-42BAD72ADA63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470930" y="2095027"/>
            <a:ext cx="6264164" cy="884656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buNone/>
              <a:defRPr lang="en-VN" sz="44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TÊN MỤC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5224296A-39BF-05BD-6DFB-8046C021F7C6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70930" y="3169159"/>
            <a:ext cx="8913813" cy="695175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buNone/>
              <a:defRPr lang="en-VN" sz="2800" b="1" kern="1200" spc="1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1.x. TÊN MỤC CON (NẾU CÓ)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BE1131F0-02AD-0F75-0384-22C665D9450D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470930" y="4137397"/>
            <a:ext cx="7147030" cy="916698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buNone/>
              <a:defRPr lang="en-US" sz="1000" kern="1200" spc="100" dirty="0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(Tóm tắt mục nếu có) </a:t>
            </a:r>
            <a:r>
              <a:rPr lang="en-US" dirty="0"/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dirty="0" err="1"/>
              <a:t>urna</a:t>
            </a:r>
            <a:r>
              <a:rPr lang="en-US" dirty="0"/>
              <a:t>.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E2EB23E-8F15-CEEB-55D8-12309376C6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96576" y="5231902"/>
            <a:ext cx="2521280" cy="1577819"/>
          </a:xfrm>
        </p:spPr>
        <p:txBody>
          <a:bodyPr>
            <a:normAutofit/>
          </a:bodyPr>
          <a:lstStyle>
            <a:lvl1pPr marL="0" indent="0" algn="r" defTabSz="914400" rtl="0" eaLnBrk="1" latinLnBrk="0" hangingPunct="1">
              <a:buNone/>
              <a:defRPr lang="en-VN" sz="120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01.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8382EF5-131E-F7DD-C939-044C31C113C7}"/>
              </a:ext>
            </a:extLst>
          </p:cNvPr>
          <p:cNvCxnSpPr/>
          <p:nvPr userDrawn="1"/>
        </p:nvCxnSpPr>
        <p:spPr>
          <a:xfrm>
            <a:off x="1574156" y="2979683"/>
            <a:ext cx="3565003" cy="0"/>
          </a:xfrm>
          <a:prstGeom prst="line">
            <a:avLst/>
          </a:prstGeom>
          <a:ln w="25400" cap="rnd">
            <a:solidFill>
              <a:srgbClr val="00F7FF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C15ADC-6970-920B-F52B-57201C4697F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838200" y="6481647"/>
            <a:ext cx="2090098" cy="239828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pPr/>
              <a:t>June 27, 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DDEB0-1D95-2535-D22B-34266EA304C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7478" y="6481647"/>
            <a:ext cx="4475922" cy="239828"/>
          </a:xfrm>
        </p:spPr>
        <p:txBody>
          <a:bodyPr/>
          <a:lstStyle>
            <a:lvl1pPr marL="0" algn="ctr" defTabSz="914400" rtl="0" eaLnBrk="1" latinLnBrk="0" hangingPunct="1">
              <a:defRPr lang="vi-VN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755912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Mẫu nội du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00BFBF3-F42E-C38E-AF17-FD619F663C49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2E22F67-0343-EE26-97E1-B065633E3F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269246E-D1BA-1A1E-722A-214AD903B1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5B20816-E2A4-5501-1802-D77B2C2341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11924323" y="6588855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E735-40A7-63BD-ABCF-0C393CEC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797" y="150069"/>
            <a:ext cx="10515600" cy="89568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797" y="1195821"/>
            <a:ext cx="10515600" cy="5160527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44348" y="6475620"/>
            <a:ext cx="4903304" cy="263110"/>
          </a:xfrm>
        </p:spPr>
        <p:txBody>
          <a:bodyPr/>
          <a:lstStyle>
            <a:lvl1pPr marL="0" algn="ctr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95481" y="6560013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13CBF57-2F7D-2F8B-E033-48DD98A5DC35}"/>
              </a:ext>
            </a:extLst>
          </p:cNvPr>
          <p:cNvSpPr/>
          <p:nvPr userDrawn="1"/>
        </p:nvSpPr>
        <p:spPr>
          <a:xfrm>
            <a:off x="16026" y="4629289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D65719-8246-A233-C1B4-DB819BF7BDF6}"/>
              </a:ext>
            </a:extLst>
          </p:cNvPr>
          <p:cNvSpPr/>
          <p:nvPr userDrawn="1"/>
        </p:nvSpPr>
        <p:spPr>
          <a:xfrm>
            <a:off x="16026" y="5005641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1304AFD-95A6-09D5-127B-FE511B7DAAFF}"/>
              </a:ext>
            </a:extLst>
          </p:cNvPr>
          <p:cNvSpPr/>
          <p:nvPr userDrawn="1"/>
        </p:nvSpPr>
        <p:spPr>
          <a:xfrm>
            <a:off x="16026" y="5381993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90A148C-3EA2-CE72-6D2A-813DD2AE8F6A}"/>
              </a:ext>
            </a:extLst>
          </p:cNvPr>
          <p:cNvSpPr/>
          <p:nvPr userDrawn="1"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847E55-C751-3276-D97D-327FE6F09B70}"/>
              </a:ext>
            </a:extLst>
          </p:cNvPr>
          <p:cNvSpPr/>
          <p:nvPr userDrawn="1"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BC8C50-583B-E3C0-3421-61D6D2869653}"/>
              </a:ext>
            </a:extLst>
          </p:cNvPr>
          <p:cNvSpPr/>
          <p:nvPr userDrawn="1"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EDF99A97-3339-5B0A-DF0C-FBEE526390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638" y="362637"/>
            <a:ext cx="544288" cy="45021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458365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pPr/>
              <a:t>June 27, 2023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650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Mẫu nội du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75E2B-3264-B7AA-B33F-4F514D441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804"/>
            <a:ext cx="10515600" cy="97861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3BF43-5431-28A4-4A9C-84A3FDAFF0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2835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V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B97936-93F6-FD89-211F-FC49B02B57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2835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F69EC-AF21-6413-B0C6-09E3D2808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35017" y="6481647"/>
            <a:ext cx="5121966" cy="239828"/>
          </a:xfrm>
        </p:spPr>
        <p:txBody>
          <a:bodyPr/>
          <a:lstStyle>
            <a:lvl1pPr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43873188-0611-6A2D-B3B7-E844F601E758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Isosceles Triangle 12">
            <a:extLst>
              <a:ext uri="{FF2B5EF4-FFF2-40B4-BE49-F238E27FC236}">
                <a16:creationId xmlns:a16="http://schemas.microsoft.com/office/drawing/2014/main" id="{400BFBC5-D436-63D0-74FC-6A07673AEE42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739C28B-61DE-71CF-E56C-5EDD4BA30029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58FC900-2C32-ED18-13F9-130B2DF503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D4FACA0-AFAE-D152-410A-170D637D33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C5F4754-527C-AE63-2C13-4F23BF8755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Isosceles Triangle 12">
            <a:extLst>
              <a:ext uri="{FF2B5EF4-FFF2-40B4-BE49-F238E27FC236}">
                <a16:creationId xmlns:a16="http://schemas.microsoft.com/office/drawing/2014/main" id="{07F91C74-ED4C-0A16-32E0-004F48F54DEB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C5ACEEF-4425-1088-FA6F-A273B4DE887C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D3CB0EA-66BA-01B6-70C4-D5330A4D25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E5A466E-AA55-B549-D160-0442C43CF5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68CFF73-AB26-6C8F-FB32-54601A35AB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Oval 20">
            <a:extLst>
              <a:ext uri="{FF2B5EF4-FFF2-40B4-BE49-F238E27FC236}">
                <a16:creationId xmlns:a16="http://schemas.microsoft.com/office/drawing/2014/main" id="{318E1593-E5CD-3AE1-93DE-5F387C82F4F6}"/>
              </a:ext>
            </a:extLst>
          </p:cNvPr>
          <p:cNvSpPr/>
          <p:nvPr userDrawn="1"/>
        </p:nvSpPr>
        <p:spPr>
          <a:xfrm>
            <a:off x="11928288" y="6592262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C202E4-A0E1-2253-7874-62B7B89FFCA9}"/>
              </a:ext>
            </a:extLst>
          </p:cNvPr>
          <p:cNvSpPr/>
          <p:nvPr userDrawn="1"/>
        </p:nvSpPr>
        <p:spPr>
          <a:xfrm>
            <a:off x="16026" y="4629289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8EC501-80CF-6C51-5383-56852B541437}"/>
              </a:ext>
            </a:extLst>
          </p:cNvPr>
          <p:cNvSpPr/>
          <p:nvPr userDrawn="1"/>
        </p:nvSpPr>
        <p:spPr>
          <a:xfrm>
            <a:off x="16026" y="5005641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BF5FA64-88FB-ECEF-001B-760404721A90}"/>
              </a:ext>
            </a:extLst>
          </p:cNvPr>
          <p:cNvSpPr/>
          <p:nvPr userDrawn="1"/>
        </p:nvSpPr>
        <p:spPr>
          <a:xfrm>
            <a:off x="16026" y="5381993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08B137-1E4C-27A2-6C24-2EBFE5E125B6}"/>
              </a:ext>
            </a:extLst>
          </p:cNvPr>
          <p:cNvSpPr/>
          <p:nvPr userDrawn="1"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1EE92B3-2829-E731-1ABB-AE81C101058A}"/>
              </a:ext>
            </a:extLst>
          </p:cNvPr>
          <p:cNvSpPr/>
          <p:nvPr userDrawn="1"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13D946B-F6D0-FA25-B029-CFF45E1960C8}"/>
              </a:ext>
            </a:extLst>
          </p:cNvPr>
          <p:cNvSpPr/>
          <p:nvPr userDrawn="1"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0CAA0DB2-C26C-AB0D-0115-266290CA10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638" y="362637"/>
            <a:ext cx="544288" cy="450213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060A1-174E-8F45-E778-6645800D6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99446" y="6563420"/>
            <a:ext cx="291600" cy="291600"/>
          </a:xfrm>
        </p:spPr>
        <p:txBody>
          <a:bodyPr/>
          <a:lstStyle>
            <a:lvl1pPr marL="0" algn="ctr" defTabSz="914400" rtl="0" eaLnBrk="1" latinLnBrk="0" hangingPunct="1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5DB78F-AE91-A123-68A6-7B8F206075C0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481647"/>
            <a:ext cx="2090098" cy="239828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pPr/>
              <a:t>June 27, 2023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975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Mẫu nội dung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C37E1-287C-992F-926C-6BE139038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12850"/>
            <a:ext cx="10515600" cy="1045464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453A4A-EE94-A702-F0E2-603C1150F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48789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B8F5AF-E6EF-4CF4-8B05-BF3FDB4C68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72701"/>
            <a:ext cx="5157787" cy="368458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FCC438-C0ED-1F8F-4BB6-689F30C8CC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48789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689F5A-2C2F-0B8F-615C-B41C7F2B19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72701"/>
            <a:ext cx="5183188" cy="368458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D7DFAC-60B5-9BD1-8D23-4494639CC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33429" y="6481647"/>
            <a:ext cx="5125142" cy="239828"/>
          </a:xfrm>
        </p:spPr>
        <p:txBody>
          <a:bodyPr/>
          <a:lstStyle>
            <a:lvl1pPr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B75C2D9D-4765-3FD3-75BD-4E4DFF9C7F0D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Isosceles Triangle 12">
            <a:extLst>
              <a:ext uri="{FF2B5EF4-FFF2-40B4-BE49-F238E27FC236}">
                <a16:creationId xmlns:a16="http://schemas.microsoft.com/office/drawing/2014/main" id="{3AD591D0-42C1-C83D-D97B-315279CAEE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C49EA05-357C-0347-C6CD-EE67C566EBD0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63A430E-1EF6-53ED-B258-E65C14BBC4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2BC14D-AC20-6673-4A8D-7DE3FE988F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61FFA6F-2FC8-1174-B8D5-60E8BE001C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Isosceles Triangle 12">
            <a:extLst>
              <a:ext uri="{FF2B5EF4-FFF2-40B4-BE49-F238E27FC236}">
                <a16:creationId xmlns:a16="http://schemas.microsoft.com/office/drawing/2014/main" id="{39240330-79C3-21F6-446A-3E039AFD3A3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BDA796D-C2B0-5287-F4C3-E9C3DEA3FFEF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01CD2C9-117E-7A90-F02C-95AB5B3772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3E69259-DC90-479A-D797-34F04F6424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57EE3B6-EE34-8496-104E-9B1F8F51B2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Oval 20">
            <a:extLst>
              <a:ext uri="{FF2B5EF4-FFF2-40B4-BE49-F238E27FC236}">
                <a16:creationId xmlns:a16="http://schemas.microsoft.com/office/drawing/2014/main" id="{C6B6596A-8077-EEBC-4221-61CB055E23C4}"/>
              </a:ext>
            </a:extLst>
          </p:cNvPr>
          <p:cNvSpPr/>
          <p:nvPr userDrawn="1"/>
        </p:nvSpPr>
        <p:spPr>
          <a:xfrm>
            <a:off x="11920781" y="6595999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E0195D6-5215-7209-4E44-3598DDF6BF73}"/>
              </a:ext>
            </a:extLst>
          </p:cNvPr>
          <p:cNvSpPr/>
          <p:nvPr userDrawn="1"/>
        </p:nvSpPr>
        <p:spPr>
          <a:xfrm>
            <a:off x="16026" y="4629289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4F9F4C-59B6-44A2-8089-C9632F72F016}"/>
              </a:ext>
            </a:extLst>
          </p:cNvPr>
          <p:cNvSpPr/>
          <p:nvPr userDrawn="1"/>
        </p:nvSpPr>
        <p:spPr>
          <a:xfrm>
            <a:off x="16026" y="5005641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39E34E-2D5A-7F18-3D5E-F38434C35041}"/>
              </a:ext>
            </a:extLst>
          </p:cNvPr>
          <p:cNvSpPr/>
          <p:nvPr userDrawn="1"/>
        </p:nvSpPr>
        <p:spPr>
          <a:xfrm>
            <a:off x="16026" y="5381993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6B4D7BA-684B-4CA9-75B2-7C633D5F5824}"/>
              </a:ext>
            </a:extLst>
          </p:cNvPr>
          <p:cNvSpPr/>
          <p:nvPr userDrawn="1"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EEF9AF2-8C75-A883-C6CC-39115A1F8615}"/>
              </a:ext>
            </a:extLst>
          </p:cNvPr>
          <p:cNvSpPr/>
          <p:nvPr userDrawn="1"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E365D23-7485-954D-5E3D-2DB7FDD1011D}"/>
              </a:ext>
            </a:extLst>
          </p:cNvPr>
          <p:cNvSpPr/>
          <p:nvPr userDrawn="1"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9491656A-A1BE-90F8-B747-D9FA28F4494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638" y="362637"/>
            <a:ext cx="544288" cy="450213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CFCA39-DA8E-D2BC-F038-9C53D5D95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91939" y="6567157"/>
            <a:ext cx="291600" cy="291600"/>
          </a:xfrm>
        </p:spPr>
        <p:txBody>
          <a:bodyPr/>
          <a:lstStyle>
            <a:lvl1pPr marL="0" algn="ctr" defTabSz="914400" rtl="0" eaLnBrk="1" latinLnBrk="0" hangingPunct="1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C1AA4D-B13B-AA0A-E780-09B8CC67066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481647"/>
            <a:ext cx="2090098" cy="239828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pPr/>
              <a:t>June 27, 2023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627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Mẫu nội dung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51A8-C849-9E82-96FE-C28448A63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9405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510C4-25DA-E657-8490-3BBA6C9F1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332222"/>
            <a:ext cx="6172200" cy="4873625"/>
          </a:xfrm>
        </p:spPr>
        <p:txBody>
          <a:bodyPr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AD4FDC-90BC-2A18-9D26-88E9016BD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94259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25D253-E1CB-6DD3-1298-626DE84CC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4835" y="6481647"/>
            <a:ext cx="5062330" cy="239828"/>
          </a:xfrm>
        </p:spPr>
        <p:txBody>
          <a:bodyPr/>
          <a:lstStyle>
            <a:lvl1pPr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9D2646A9-20B2-4E9D-002E-A164C93A765E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Isosceles Triangle 12">
            <a:extLst>
              <a:ext uri="{FF2B5EF4-FFF2-40B4-BE49-F238E27FC236}">
                <a16:creationId xmlns:a16="http://schemas.microsoft.com/office/drawing/2014/main" id="{E3DA3820-010F-54E6-12EE-340FD2FE0CB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9C01C7F-55E1-F2CB-795D-14ADA6F747EF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7EFB461-265B-447E-AE53-F0AB83B500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A811A0C-899E-BD2A-2B6B-F76A3CDCA1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4B5CB31-1B06-6224-B8E2-D0F08CE590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Isosceles Triangle 12">
            <a:extLst>
              <a:ext uri="{FF2B5EF4-FFF2-40B4-BE49-F238E27FC236}">
                <a16:creationId xmlns:a16="http://schemas.microsoft.com/office/drawing/2014/main" id="{EBCAC4CC-6B14-0AD9-B30D-7B94535D4473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ABFA2BC-06E9-F841-D06E-DEBB7129CD94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C8E81B6-D5AC-F9AA-7729-98A69A809F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EFB5E89-FF82-2441-3C96-2E40FFE648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62BEED6-4AFE-006D-2D1B-6B7FF1399D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F3765DC4-E546-6CB3-C32B-5002168C1885}"/>
              </a:ext>
            </a:extLst>
          </p:cNvPr>
          <p:cNvSpPr/>
          <p:nvPr userDrawn="1"/>
        </p:nvSpPr>
        <p:spPr>
          <a:xfrm>
            <a:off x="11928288" y="6594127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4CF68F-86DE-9DE4-02A9-28AFB5A5AAFF}"/>
              </a:ext>
            </a:extLst>
          </p:cNvPr>
          <p:cNvSpPr/>
          <p:nvPr userDrawn="1"/>
        </p:nvSpPr>
        <p:spPr>
          <a:xfrm>
            <a:off x="16026" y="4629289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0D253A-5ACF-E7B4-CB94-7CE385706947}"/>
              </a:ext>
            </a:extLst>
          </p:cNvPr>
          <p:cNvSpPr/>
          <p:nvPr userDrawn="1"/>
        </p:nvSpPr>
        <p:spPr>
          <a:xfrm>
            <a:off x="16026" y="5005641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12634D-8462-7774-CD62-1BCCD3C66D98}"/>
              </a:ext>
            </a:extLst>
          </p:cNvPr>
          <p:cNvSpPr/>
          <p:nvPr userDrawn="1"/>
        </p:nvSpPr>
        <p:spPr>
          <a:xfrm>
            <a:off x="16026" y="5381993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E8F499-81C5-DFD9-74F8-F76C0953643C}"/>
              </a:ext>
            </a:extLst>
          </p:cNvPr>
          <p:cNvSpPr/>
          <p:nvPr userDrawn="1"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323D2CF-0CBB-FBC2-6960-BFB0F1C90BFA}"/>
              </a:ext>
            </a:extLst>
          </p:cNvPr>
          <p:cNvSpPr/>
          <p:nvPr userDrawn="1"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AADE3BD-9DA6-DD92-09E2-110656AC1B47}"/>
              </a:ext>
            </a:extLst>
          </p:cNvPr>
          <p:cNvSpPr/>
          <p:nvPr userDrawn="1"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1B5C196E-D0AE-CCC2-7ED7-5FD1F3D44B4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638" y="362637"/>
            <a:ext cx="544288" cy="450213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365E8-16C7-CA1B-5178-544D2DD77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99446" y="6565285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A2DD06-FBE3-7873-A44C-AF7E41B47032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481647"/>
            <a:ext cx="2090098" cy="239828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pPr/>
              <a:t>June 27, 2023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022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Mẫu nội dung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29DC-55F0-F47B-3718-A35859CDD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8E4A4A-E817-C827-E00E-45BE2297F8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1CBCD9-BF05-A0CA-F591-8757A370E5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EB012B-14DB-4805-E51C-850F87610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85322" y="6481647"/>
            <a:ext cx="5221356" cy="239828"/>
          </a:xfrm>
        </p:spPr>
        <p:txBody>
          <a:bodyPr/>
          <a:lstStyle>
            <a:lvl1pPr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91CF413-55DD-58D0-694A-0DD1DC5F0CC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Isosceles Triangle 12">
            <a:extLst>
              <a:ext uri="{FF2B5EF4-FFF2-40B4-BE49-F238E27FC236}">
                <a16:creationId xmlns:a16="http://schemas.microsoft.com/office/drawing/2014/main" id="{D0838B7F-C9B8-5774-F077-530355943B43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BB0766C-1141-EF46-A49F-1355FBAABD0F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ABF3C35-2161-E4C8-E673-CCF35A0B48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348080-E29C-4997-A409-76FA41D3C4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D9E9411-6A6B-5C7F-F0EE-071A0DBF0D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Isosceles Triangle 12">
            <a:extLst>
              <a:ext uri="{FF2B5EF4-FFF2-40B4-BE49-F238E27FC236}">
                <a16:creationId xmlns:a16="http://schemas.microsoft.com/office/drawing/2014/main" id="{DC674C23-BC8F-9996-69A1-8E7ABD8C60C2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7C409ED-36BC-003F-845E-497279365061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7C05C62-5535-F81F-976D-9A335041D1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F420A0D-917B-C624-28A3-C0C824C2B2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6367E11-6F4E-99ED-4B0B-7522FA43F7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3CB33257-2B8E-6873-E8FD-C4F8FF8DCD25}"/>
              </a:ext>
            </a:extLst>
          </p:cNvPr>
          <p:cNvSpPr/>
          <p:nvPr userDrawn="1"/>
        </p:nvSpPr>
        <p:spPr>
          <a:xfrm>
            <a:off x="11929297" y="6593855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AFF6BE-7E65-931F-E1CD-6187FEE7D4EE}"/>
              </a:ext>
            </a:extLst>
          </p:cNvPr>
          <p:cNvSpPr/>
          <p:nvPr userDrawn="1"/>
        </p:nvSpPr>
        <p:spPr>
          <a:xfrm>
            <a:off x="16026" y="4629289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94812A-A981-DB3F-4202-2EDAAEB9815A}"/>
              </a:ext>
            </a:extLst>
          </p:cNvPr>
          <p:cNvSpPr/>
          <p:nvPr userDrawn="1"/>
        </p:nvSpPr>
        <p:spPr>
          <a:xfrm>
            <a:off x="16026" y="5005641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A980ED-F1D8-2698-18CD-9DC6DEFF348A}"/>
              </a:ext>
            </a:extLst>
          </p:cNvPr>
          <p:cNvSpPr/>
          <p:nvPr userDrawn="1"/>
        </p:nvSpPr>
        <p:spPr>
          <a:xfrm>
            <a:off x="16026" y="5381993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7A1BEE-0967-806A-FED8-28BE6225F412}"/>
              </a:ext>
            </a:extLst>
          </p:cNvPr>
          <p:cNvSpPr/>
          <p:nvPr userDrawn="1"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B33D227-3B6F-CC84-F43C-7FBDC74D7027}"/>
              </a:ext>
            </a:extLst>
          </p:cNvPr>
          <p:cNvSpPr/>
          <p:nvPr userDrawn="1"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5F350F5-BC8F-5B4F-FA94-F5A886F3859E}"/>
              </a:ext>
            </a:extLst>
          </p:cNvPr>
          <p:cNvSpPr/>
          <p:nvPr userDrawn="1"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1159E91D-76B6-E388-6E9A-90AF563278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638" y="362637"/>
            <a:ext cx="544288" cy="450213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01E60B-49E0-F1AF-2056-D979BF688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00455" y="6565013"/>
            <a:ext cx="291600" cy="291600"/>
          </a:xfrm>
        </p:spPr>
        <p:txBody>
          <a:bodyPr/>
          <a:lstStyle>
            <a:lvl1pPr marL="0" algn="ctr" defTabSz="914400" rtl="0" eaLnBrk="1" latinLnBrk="0" hangingPunct="1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42D31F-1378-BD90-39BE-0040CC48E6CF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481647"/>
            <a:ext cx="2090098" cy="239828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pPr/>
              <a:t>June 27, 2023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423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ang trố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CF4205-FE69-B110-BFEC-96C243E84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4104" y="6481647"/>
            <a:ext cx="4823792" cy="239828"/>
          </a:xfrm>
        </p:spPr>
        <p:txBody>
          <a:bodyPr/>
          <a:lstStyle>
            <a:lvl1pPr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7B001B7A-ACFD-E95F-12D9-19AAE5D26050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Isosceles Triangle 12">
            <a:extLst>
              <a:ext uri="{FF2B5EF4-FFF2-40B4-BE49-F238E27FC236}">
                <a16:creationId xmlns:a16="http://schemas.microsoft.com/office/drawing/2014/main" id="{EC54FC6D-4EA2-05B8-622E-978CA44EE451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86BFCC2-A4FC-FD21-E540-274D8A5E86A6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E02FF7A-C97B-6315-EE50-502DD70172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FBB8E8B-5D54-0BE8-2B45-A52136DC7C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26865F1-6407-106A-3054-46BDFFCABB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Isosceles Triangle 12">
            <a:extLst>
              <a:ext uri="{FF2B5EF4-FFF2-40B4-BE49-F238E27FC236}">
                <a16:creationId xmlns:a16="http://schemas.microsoft.com/office/drawing/2014/main" id="{F7A0C3F8-4035-744F-55A7-EA06C1D5C7EA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C9E4668-1010-687F-A942-6C4D5A705103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C38CE8D-69BB-4124-0995-8FFFD3591C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67A915F-DF8B-DE38-6935-2EF2855BD4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9EE0435-0ACC-2AB8-1B9F-A6029A49FC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193E2330-6133-BE87-4D2E-C83A58844D20}"/>
              </a:ext>
            </a:extLst>
          </p:cNvPr>
          <p:cNvSpPr/>
          <p:nvPr userDrawn="1"/>
        </p:nvSpPr>
        <p:spPr>
          <a:xfrm>
            <a:off x="11926541" y="6589084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37ACE3-8FB7-24F0-3868-FE9125A2AECB}"/>
              </a:ext>
            </a:extLst>
          </p:cNvPr>
          <p:cNvSpPr/>
          <p:nvPr userDrawn="1"/>
        </p:nvSpPr>
        <p:spPr>
          <a:xfrm>
            <a:off x="16026" y="4629289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A5D02D-0007-4DC9-960D-BEF3BFABF7BF}"/>
              </a:ext>
            </a:extLst>
          </p:cNvPr>
          <p:cNvSpPr/>
          <p:nvPr userDrawn="1"/>
        </p:nvSpPr>
        <p:spPr>
          <a:xfrm>
            <a:off x="16026" y="5005641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0C732A1-B62D-CEEA-BA05-6809BA51F8BD}"/>
              </a:ext>
            </a:extLst>
          </p:cNvPr>
          <p:cNvSpPr/>
          <p:nvPr userDrawn="1"/>
        </p:nvSpPr>
        <p:spPr>
          <a:xfrm>
            <a:off x="16026" y="5381993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4BF2B8-4151-6AB5-64CB-17CA8871FA1F}"/>
              </a:ext>
            </a:extLst>
          </p:cNvPr>
          <p:cNvSpPr/>
          <p:nvPr userDrawn="1"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AEE115-474E-0C83-1F8A-40C90DC3E1A5}"/>
              </a:ext>
            </a:extLst>
          </p:cNvPr>
          <p:cNvSpPr/>
          <p:nvPr userDrawn="1"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BB15EA-009D-0AD0-1DD5-9E5E43B737E1}"/>
              </a:ext>
            </a:extLst>
          </p:cNvPr>
          <p:cNvSpPr/>
          <p:nvPr userDrawn="1"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0750E473-BE75-9843-7989-024278E0E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638" y="362637"/>
            <a:ext cx="544288" cy="45021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543E0-8536-7E05-8D77-79C6CEA07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97699" y="6560242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AD0C70-2015-36A0-DCB1-0E2322D0D36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481647"/>
            <a:ext cx="2148299" cy="239828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pPr/>
              <a:t>June 27, 2023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5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BCB126-07C1-993D-D40F-CC928946B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1. TÊN MỤC</a:t>
            </a:r>
            <a:endParaRPr lang="en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BBD58-B33F-3C47-5551-9A2A2CE27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5A01D-3EDB-1F54-F4EE-AFD1EF9962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CDDB1B-AAE9-1649-A755-11FADEB7E97E}" type="datetime4">
              <a:rPr lang="en-US" smtClean="0"/>
              <a:t>June 27, 2023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D1C7E-53C3-CE2D-B996-7F97021382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1A76A-6303-F16B-A578-8E129753AC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0B3AC-44A8-D142-AAF6-9A453466E1A4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04367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4" r:id="rId3"/>
    <p:sldLayoutId id="2147483663" r:id="rId4"/>
    <p:sldLayoutId id="2147483650" r:id="rId5"/>
    <p:sldLayoutId id="2147483652" r:id="rId6"/>
    <p:sldLayoutId id="2147483653" r:id="rId7"/>
    <p:sldLayoutId id="2147483656" r:id="rId8"/>
    <p:sldLayoutId id="2147483657" r:id="rId9"/>
    <p:sldLayoutId id="2147483655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effectLst>
            <a:innerShdw blurRad="114300">
              <a:schemeClr val="bg1"/>
            </a:innerShdw>
          </a:effectLst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8DCF8-0D88-9852-95C4-4F568F0A7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</a:t>
            </a:fld>
            <a:endParaRPr lang="en-V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F55CA5-843C-3510-DCA9-291216FC76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TỔ CHỨC VÀ CẤU TRÚC MÁY TÍNH II</a:t>
            </a:r>
            <a:endParaRPr lang="en-V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2113BCF-E52A-540A-4540-2833CA1A0E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CHƯƠNG 7: </a:t>
            </a:r>
            <a:r>
              <a:rPr lang="en-US" sz="2000" dirty="0"/>
              <a:t>BIÊN DỊCH CHƯƠNG TRÌNH</a:t>
            </a:r>
            <a:endParaRPr lang="en-V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F41A4B7-48D3-1CAE-C056-FDAD586D04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PHAN ĐÌNH DUY</a:t>
            </a:r>
            <a:endParaRPr lang="en-V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673612D-1002-64DC-D3C2-F4E546D7928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,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ngược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ASM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cao</a:t>
            </a:r>
            <a:endParaRPr lang="en-VN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D72110C-D077-8C1D-3057-3378C02C4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980657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9BD337-3CBD-0719-2FDF-03E1A4688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</a:t>
            </a:fld>
            <a:endParaRPr lang="en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4CC069-E19E-B22C-6D85-1188A3E8F0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dịch</a:t>
            </a:r>
            <a:endParaRPr lang="en-US" dirty="0"/>
          </a:p>
          <a:p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sang ASM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máy</a:t>
            </a:r>
            <a:endParaRPr lang="en-US" dirty="0"/>
          </a:p>
          <a:p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ngược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sang ASM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cao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B6FCBF-4D71-BDAD-8392-99213DE0C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759920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B6FCBF-4D71-BDAD-8392-99213DE0C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9BD337-3CBD-0719-2FDF-03E1A4688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</a:t>
            </a:fld>
            <a:endParaRPr lang="en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BD77E0-7814-E542-0144-95AEF5C06A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Aft>
                <a:spcPts val="3600"/>
              </a:spcAft>
            </a:pPr>
            <a:r>
              <a:rPr lang="en-US" sz="2800" b="1" dirty="0" err="1"/>
              <a:t>Trình</a:t>
            </a:r>
            <a:r>
              <a:rPr lang="en-US" sz="2800" b="1" dirty="0"/>
              <a:t> </a:t>
            </a:r>
            <a:r>
              <a:rPr lang="en-US" sz="2800" b="1" dirty="0" err="1"/>
              <a:t>biên</a:t>
            </a:r>
            <a:r>
              <a:rPr lang="en-US" sz="2800" b="1" dirty="0"/>
              <a:t> </a:t>
            </a:r>
            <a:r>
              <a:rPr lang="en-US" sz="2800" b="1" dirty="0" err="1"/>
              <a:t>dịch</a:t>
            </a:r>
            <a:endParaRPr lang="en-US" sz="2800" b="1" dirty="0"/>
          </a:p>
          <a:p>
            <a:pPr>
              <a:spcAft>
                <a:spcPts val="3600"/>
              </a:spcAft>
            </a:pPr>
            <a:r>
              <a:rPr lang="en-US" sz="2800" b="1" dirty="0" err="1"/>
              <a:t>Trình</a:t>
            </a:r>
            <a:r>
              <a:rPr lang="en-US" sz="2800" b="1" dirty="0"/>
              <a:t> </a:t>
            </a:r>
            <a:r>
              <a:rPr lang="en-US" sz="2800" b="1" dirty="0" err="1"/>
              <a:t>biên</a:t>
            </a:r>
            <a:r>
              <a:rPr lang="en-US" sz="2800" b="1" dirty="0"/>
              <a:t> </a:t>
            </a:r>
            <a:r>
              <a:rPr lang="en-US" sz="2800" b="1" dirty="0" err="1"/>
              <a:t>dịch</a:t>
            </a:r>
            <a:r>
              <a:rPr lang="en-US" sz="2800" b="1" dirty="0"/>
              <a:t> </a:t>
            </a:r>
            <a:r>
              <a:rPr lang="en-US" sz="2800" b="1" dirty="0" err="1"/>
              <a:t>hợp</a:t>
            </a:r>
            <a:r>
              <a:rPr lang="en-US" sz="2800" b="1" dirty="0"/>
              <a:t> </a:t>
            </a:r>
            <a:r>
              <a:rPr lang="en-US" sz="2800" b="1" dirty="0" err="1"/>
              <a:t>ngữ</a:t>
            </a:r>
            <a:endParaRPr lang="en-US" sz="2800" b="1" dirty="0"/>
          </a:p>
          <a:p>
            <a:pPr>
              <a:spcAft>
                <a:spcPts val="3600"/>
              </a:spcAft>
            </a:pPr>
            <a:r>
              <a:rPr lang="en-US" sz="2800" b="1" dirty="0" err="1"/>
              <a:t>Biên</a:t>
            </a:r>
            <a:r>
              <a:rPr lang="en-US" sz="2800" b="1" dirty="0"/>
              <a:t> </a:t>
            </a:r>
            <a:r>
              <a:rPr lang="en-US" sz="2800" b="1" dirty="0" err="1"/>
              <a:t>dịch</a:t>
            </a:r>
            <a:r>
              <a:rPr lang="en-US" sz="2800" b="1" dirty="0"/>
              <a:t> </a:t>
            </a:r>
            <a:r>
              <a:rPr lang="en-US" sz="2800" b="1" dirty="0" err="1"/>
              <a:t>ngược</a:t>
            </a:r>
            <a:endParaRPr lang="en-US" sz="2800" b="1" dirty="0"/>
          </a:p>
          <a:p>
            <a:pPr>
              <a:spcAft>
                <a:spcPts val="3600"/>
              </a:spcAft>
            </a:pPr>
            <a:r>
              <a:rPr lang="en-US" sz="2800" b="1" dirty="0" err="1"/>
              <a:t>Ôn</a:t>
            </a:r>
            <a:r>
              <a:rPr lang="en-US" sz="2800" b="1" dirty="0"/>
              <a:t> </a:t>
            </a:r>
            <a:r>
              <a:rPr lang="en-US" sz="2800" b="1" dirty="0" err="1"/>
              <a:t>tập</a:t>
            </a:r>
            <a:r>
              <a:rPr lang="en-US" sz="2800" b="1" dirty="0"/>
              <a:t> </a:t>
            </a:r>
            <a:r>
              <a:rPr lang="en-US" sz="2800" b="1" dirty="0" err="1"/>
              <a:t>kiến</a:t>
            </a:r>
            <a:r>
              <a:rPr lang="en-US" sz="2800" b="1" dirty="0"/>
              <a:t> </a:t>
            </a:r>
            <a:r>
              <a:rPr lang="en-US" sz="2800" b="1" dirty="0" err="1"/>
              <a:t>trúc</a:t>
            </a:r>
            <a:r>
              <a:rPr lang="en-US" sz="2800" b="1" dirty="0"/>
              <a:t> </a:t>
            </a:r>
            <a:r>
              <a:rPr lang="en-US" sz="2800" b="1" dirty="0" err="1"/>
              <a:t>tập</a:t>
            </a:r>
            <a:r>
              <a:rPr lang="en-US" sz="2800" b="1" dirty="0"/>
              <a:t> </a:t>
            </a:r>
            <a:r>
              <a:rPr lang="en-US" sz="2800" b="1" dirty="0" err="1"/>
              <a:t>lệnh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219057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2138E7-0BF8-4FBE-AB49-4184E532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4</a:t>
            </a:fld>
            <a:endParaRPr lang="en-V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02C380-9011-23F7-8E4B-E195C0DFFB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70929" y="2095027"/>
            <a:ext cx="7918398" cy="884656"/>
          </a:xfrm>
        </p:spPr>
        <p:txBody>
          <a:bodyPr>
            <a:normAutofit/>
          </a:bodyPr>
          <a:lstStyle/>
          <a:p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dịch</a:t>
            </a:r>
            <a:endParaRPr lang="en-V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3EE24F-70E8-C3FA-399B-07DCA2C415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vi-VN" sz="28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04BBE0-C7C7-D804-DD85-D99BEB36007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2CDC7B-AFE9-6C1F-2CD6-AA61695C23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r>
              <a:rPr lang="en-V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04568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dịch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5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7D79214-C4BC-9EB6-30D9-42A6E5E69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797" y="1195821"/>
            <a:ext cx="6421785" cy="5160527"/>
          </a:xfrm>
        </p:spPr>
        <p:txBody>
          <a:bodyPr/>
          <a:lstStyle/>
          <a:p>
            <a:r>
              <a:rPr lang="vi-VN" dirty="0"/>
              <a:t>Trình biên dịch có chức năng chuyển chương trình được viết bởi ngôn ngữ lập trình cấp cao thành chương trình hợp ngữ:</a:t>
            </a:r>
          </a:p>
          <a:p>
            <a:pPr lvl="1"/>
            <a:r>
              <a:rPr lang="vi-VN" dirty="0"/>
              <a:t>Ngôn ngữ lập trình cấp cao (C, Java, …) gần với suy nghĩ con người và độc lập phần cứng</a:t>
            </a:r>
          </a:p>
          <a:p>
            <a:pPr lvl="1"/>
            <a:r>
              <a:rPr lang="vi-VN" dirty="0"/>
              <a:t>Hợp ngữ (MIPS, ARM, ...) là một ngôn ngữ gợi nhớ của mã máy, phụ thuộc phần cứng</a:t>
            </a:r>
          </a:p>
          <a:p>
            <a:endParaRPr lang="vi-VN" dirty="0"/>
          </a:p>
          <a:p>
            <a:endParaRPr lang="en-V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B98D6E-BF30-87F7-A61B-F492D277F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2324" y="718131"/>
            <a:ext cx="3186073" cy="559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640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(2) -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6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6DFDDB-D95A-462F-4E26-6DD66E105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2324" y="1045751"/>
            <a:ext cx="2576879" cy="4522687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58CD7D3-C757-A5C8-CBF3-707B03306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483" y="1797248"/>
            <a:ext cx="1887416" cy="3263504"/>
          </a:xfrm>
        </p:spPr>
        <p:txBody>
          <a:bodyPr/>
          <a:lstStyle/>
          <a:p>
            <a:pPr marL="0" indent="0">
              <a:buNone/>
            </a:pPr>
            <a:r>
              <a:rPr lang="vi-VN" dirty="0">
                <a:latin typeface="+mj-lt"/>
              </a:rPr>
              <a:t>if(a == b)</a:t>
            </a:r>
          </a:p>
          <a:p>
            <a:pPr marL="0" indent="0">
              <a:buNone/>
            </a:pPr>
            <a:r>
              <a:rPr lang="vi-VN" dirty="0">
                <a:latin typeface="+mj-lt"/>
              </a:rPr>
              <a:t>  c = 2;</a:t>
            </a:r>
          </a:p>
          <a:p>
            <a:pPr marL="0" indent="0">
              <a:buNone/>
            </a:pPr>
            <a:r>
              <a:rPr lang="vi-VN" dirty="0">
                <a:latin typeface="+mj-lt"/>
              </a:rPr>
              <a:t>else</a:t>
            </a:r>
          </a:p>
          <a:p>
            <a:pPr marL="0" indent="0">
              <a:buNone/>
            </a:pPr>
            <a:r>
              <a:rPr lang="vi-VN" dirty="0">
                <a:latin typeface="+mj-lt"/>
              </a:rPr>
              <a:t>  c = -1;</a:t>
            </a:r>
          </a:p>
          <a:p>
            <a:pPr marL="0" indent="0">
              <a:buNone/>
            </a:pPr>
            <a:r>
              <a:rPr lang="vi-VN" dirty="0">
                <a:latin typeface="+mj-lt"/>
              </a:rPr>
              <a:t>d = a + c;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B84CFF3-B2DB-E5BB-336B-78224B6E4345}"/>
              </a:ext>
            </a:extLst>
          </p:cNvPr>
          <p:cNvSpPr txBox="1">
            <a:spLocks/>
          </p:cNvSpPr>
          <p:nvPr/>
        </p:nvSpPr>
        <p:spPr>
          <a:xfrm>
            <a:off x="3996231" y="1506894"/>
            <a:ext cx="3076575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vi-VN" sz="2400" dirty="0"/>
              <a:t>bne  $a0, $a1, ELSE</a:t>
            </a:r>
          </a:p>
          <a:p>
            <a:pPr marL="0" indent="0" algn="just">
              <a:buNone/>
            </a:pPr>
            <a:r>
              <a:rPr lang="vi-VN" sz="2400" dirty="0"/>
              <a:t>addi  $s0, $0, 2</a:t>
            </a:r>
          </a:p>
          <a:p>
            <a:pPr marL="0" indent="0" algn="just">
              <a:buNone/>
            </a:pPr>
            <a:r>
              <a:rPr lang="vi-VN" sz="2400" dirty="0"/>
              <a:t>j        ENDIF</a:t>
            </a:r>
          </a:p>
          <a:p>
            <a:pPr marL="0" indent="0" algn="just">
              <a:buNone/>
            </a:pPr>
            <a:r>
              <a:rPr lang="vi-VN" sz="2400" dirty="0"/>
              <a:t>ELSE:</a:t>
            </a:r>
          </a:p>
          <a:p>
            <a:pPr marL="0" indent="0" algn="just">
              <a:buNone/>
            </a:pPr>
            <a:r>
              <a:rPr lang="vi-VN" sz="2400" dirty="0"/>
              <a:t>         addi  $s0, $0, -1</a:t>
            </a:r>
          </a:p>
          <a:p>
            <a:pPr marL="0" indent="0" algn="just">
              <a:buNone/>
            </a:pPr>
            <a:r>
              <a:rPr lang="vi-VN" sz="2400" dirty="0"/>
              <a:t>ENDIF:</a:t>
            </a:r>
          </a:p>
          <a:p>
            <a:pPr marL="0" indent="0" algn="just">
              <a:buNone/>
            </a:pPr>
            <a:r>
              <a:rPr lang="vi-VN" sz="2400" dirty="0"/>
              <a:t>         add  $s1, $a0, $s0</a:t>
            </a:r>
          </a:p>
        </p:txBody>
      </p:sp>
    </p:spTree>
    <p:extLst>
      <p:ext uri="{BB962C8B-B14F-4D97-AF65-F5344CB8AC3E}">
        <p14:creationId xmlns:p14="http://schemas.microsoft.com/office/powerpoint/2010/main" val="30611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(3) - Quiz 1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7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907FD81-558F-CBF6-D445-95542AD91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dirty="0"/>
              <a:t>Biên dịch chương trình được viết bằng ngôn ngữ C sau sang hợp ngữ MIPS. Với arraylength và i tưng ứng với thanh ghi $s0 và $s1; mảng arrayvalue có địa chỉ base nằm trong thanh ghi $s5:</a:t>
            </a:r>
          </a:p>
          <a:p>
            <a:endParaRPr lang="vi-VN" dirty="0"/>
          </a:p>
          <a:p>
            <a:pPr marL="1296988" indent="0">
              <a:buNone/>
            </a:pPr>
            <a:r>
              <a:rPr lang="vi-VN" dirty="0"/>
              <a:t>int arraylength = 5;</a:t>
            </a:r>
          </a:p>
          <a:p>
            <a:pPr marL="1296988" indent="0">
              <a:buNone/>
            </a:pPr>
            <a:r>
              <a:rPr lang="vi-VN" dirty="0"/>
              <a:t>for(int i = 0; i &lt; arraylength; i++)</a:t>
            </a:r>
          </a:p>
          <a:p>
            <a:pPr marL="1296988" indent="0">
              <a:buNone/>
            </a:pPr>
            <a:r>
              <a:rPr lang="vi-VN" dirty="0"/>
              <a:t>{</a:t>
            </a:r>
          </a:p>
          <a:p>
            <a:pPr marL="1296988" indent="0">
              <a:buNone/>
            </a:pPr>
            <a:r>
              <a:rPr lang="vi-VN" dirty="0"/>
              <a:t>     arrayvalue[i] = i;</a:t>
            </a:r>
          </a:p>
          <a:p>
            <a:pPr marL="1296988" indent="0">
              <a:buNone/>
            </a:pPr>
            <a:r>
              <a:rPr lang="vi-VN" dirty="0"/>
              <a:t>}</a:t>
            </a:r>
          </a:p>
          <a:p>
            <a:endParaRPr lang="vi-VN" dirty="0"/>
          </a:p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181941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(3) - Quiz 1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8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907FD81-558F-CBF6-D445-95542AD91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dirty="0"/>
              <a:t>Biên dịch chương trình được viết bằng ngôn ngữ C sau sang hợp ngữ MIPS. Với arraylength và i tưng ứng với thanh ghi $s0 và $s1; mảng arrayvalue có địa chỉ base nằm trong thanh ghi $s5:</a:t>
            </a:r>
          </a:p>
          <a:p>
            <a:endParaRPr lang="vi-VN" dirty="0"/>
          </a:p>
          <a:p>
            <a:pPr marL="1296988" indent="0">
              <a:buNone/>
            </a:pPr>
            <a:r>
              <a:rPr lang="vi-VN" dirty="0"/>
              <a:t>int arraylength = 5;</a:t>
            </a:r>
          </a:p>
          <a:p>
            <a:pPr marL="1296988" indent="0">
              <a:buNone/>
            </a:pPr>
            <a:r>
              <a:rPr lang="vi-VN" dirty="0"/>
              <a:t>for(int i = 0; i &lt; arraylength; i++)</a:t>
            </a:r>
          </a:p>
          <a:p>
            <a:pPr marL="1296988" indent="0">
              <a:buNone/>
            </a:pPr>
            <a:r>
              <a:rPr lang="vi-VN" dirty="0"/>
              <a:t>{</a:t>
            </a:r>
          </a:p>
          <a:p>
            <a:pPr marL="1296988" indent="0">
              <a:buNone/>
            </a:pPr>
            <a:r>
              <a:rPr lang="vi-VN" dirty="0"/>
              <a:t>     arrayvalue[i] = i;</a:t>
            </a:r>
          </a:p>
          <a:p>
            <a:pPr marL="1296988" indent="0">
              <a:buNone/>
            </a:pPr>
            <a:r>
              <a:rPr lang="vi-VN" dirty="0"/>
              <a:t>}</a:t>
            </a:r>
          </a:p>
          <a:p>
            <a:endParaRPr lang="vi-VN" dirty="0"/>
          </a:p>
          <a:p>
            <a:endParaRPr lang="en-V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701A40-A2FF-ECD3-0335-0ADFDE035F69}"/>
              </a:ext>
            </a:extLst>
          </p:cNvPr>
          <p:cNvSpPr txBox="1"/>
          <p:nvPr/>
        </p:nvSpPr>
        <p:spPr>
          <a:xfrm>
            <a:off x="5612015" y="3309787"/>
            <a:ext cx="23631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+mj-lt"/>
              </a:rPr>
              <a:t>addi</a:t>
            </a:r>
            <a:r>
              <a:rPr lang="en-US" sz="2400" dirty="0">
                <a:latin typeface="+mj-lt"/>
              </a:rPr>
              <a:t> $s0, $zero, 5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8B86CD-5380-6FFD-B9C3-6252382B4FCA}"/>
              </a:ext>
            </a:extLst>
          </p:cNvPr>
          <p:cNvSpPr txBox="1"/>
          <p:nvPr/>
        </p:nvSpPr>
        <p:spPr>
          <a:xfrm>
            <a:off x="8869122" y="3164475"/>
            <a:ext cx="273023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+mj-lt"/>
              </a:rPr>
              <a:t>i</a:t>
            </a:r>
            <a:r>
              <a:rPr lang="en-US" sz="2400" dirty="0">
                <a:latin typeface="+mj-lt"/>
              </a:rPr>
              <a:t> = 0</a:t>
            </a:r>
          </a:p>
          <a:p>
            <a:r>
              <a:rPr lang="en-US" sz="2400" dirty="0">
                <a:latin typeface="+mj-lt"/>
              </a:rPr>
              <a:t>if (</a:t>
            </a:r>
            <a:r>
              <a:rPr lang="en-US" sz="2400" dirty="0" err="1">
                <a:latin typeface="+mj-lt"/>
              </a:rPr>
              <a:t>i</a:t>
            </a:r>
            <a:r>
              <a:rPr lang="en-US" sz="2400" dirty="0">
                <a:latin typeface="+mj-lt"/>
              </a:rPr>
              <a:t> &lt; </a:t>
            </a:r>
            <a:r>
              <a:rPr lang="en-US" sz="2400" dirty="0" err="1">
                <a:latin typeface="+mj-lt"/>
              </a:rPr>
              <a:t>arraylength</a:t>
            </a:r>
            <a:r>
              <a:rPr lang="en-US" sz="2400" dirty="0">
                <a:latin typeface="+mj-lt"/>
              </a:rPr>
              <a:t>)</a:t>
            </a:r>
          </a:p>
          <a:p>
            <a:r>
              <a:rPr lang="en-US" sz="2400" dirty="0">
                <a:latin typeface="+mj-lt"/>
              </a:rPr>
              <a:t> {</a:t>
            </a:r>
          </a:p>
          <a:p>
            <a:r>
              <a:rPr lang="en-US" sz="2400" dirty="0">
                <a:latin typeface="+mj-lt"/>
              </a:rPr>
              <a:t>	</a:t>
            </a:r>
            <a:r>
              <a:rPr lang="en-US" sz="2400" dirty="0" err="1">
                <a:latin typeface="+mj-lt"/>
              </a:rPr>
              <a:t>arrayvalue</a:t>
            </a:r>
            <a:r>
              <a:rPr lang="en-US" sz="2400" dirty="0">
                <a:latin typeface="+mj-lt"/>
              </a:rPr>
              <a:t>[</a:t>
            </a:r>
            <a:r>
              <a:rPr lang="en-US" sz="2400" dirty="0" err="1">
                <a:latin typeface="+mj-lt"/>
              </a:rPr>
              <a:t>i</a:t>
            </a:r>
            <a:r>
              <a:rPr lang="en-US" sz="2400" dirty="0">
                <a:latin typeface="+mj-lt"/>
              </a:rPr>
              <a:t>] = </a:t>
            </a:r>
            <a:r>
              <a:rPr lang="en-US" sz="2400" dirty="0" err="1">
                <a:latin typeface="+mj-lt"/>
              </a:rPr>
              <a:t>i</a:t>
            </a:r>
            <a:r>
              <a:rPr lang="en-US" sz="2400" dirty="0">
                <a:latin typeface="+mj-lt"/>
              </a:rPr>
              <a:t>;</a:t>
            </a:r>
          </a:p>
          <a:p>
            <a:r>
              <a:rPr lang="en-US" sz="2400" dirty="0">
                <a:latin typeface="+mj-lt"/>
              </a:rPr>
              <a:t>	</a:t>
            </a:r>
            <a:r>
              <a:rPr lang="en-US" sz="2400" dirty="0" err="1">
                <a:latin typeface="+mj-lt"/>
              </a:rPr>
              <a:t>i</a:t>
            </a:r>
            <a:r>
              <a:rPr lang="en-US" sz="2400" dirty="0">
                <a:latin typeface="+mj-lt"/>
              </a:rPr>
              <a:t> = </a:t>
            </a:r>
            <a:r>
              <a:rPr lang="en-US" sz="2400" dirty="0" err="1">
                <a:latin typeface="+mj-lt"/>
              </a:rPr>
              <a:t>i</a:t>
            </a:r>
            <a:r>
              <a:rPr lang="en-US" sz="2400" dirty="0">
                <a:latin typeface="+mj-lt"/>
              </a:rPr>
              <a:t> + 1;</a:t>
            </a:r>
          </a:p>
          <a:p>
            <a:r>
              <a:rPr lang="en-US" sz="2400" dirty="0">
                <a:latin typeface="+mj-lt"/>
              </a:rPr>
              <a:t>	jump loop</a:t>
            </a:r>
          </a:p>
          <a:p>
            <a:r>
              <a:rPr lang="en-US" sz="2400" dirty="0">
                <a:latin typeface="+mj-lt"/>
              </a:rPr>
              <a:t>}</a:t>
            </a:r>
          </a:p>
          <a:p>
            <a:r>
              <a:rPr lang="en-US" sz="2400" dirty="0">
                <a:latin typeface="+mj-lt"/>
              </a:rPr>
              <a:t>else</a:t>
            </a:r>
          </a:p>
          <a:p>
            <a:r>
              <a:rPr lang="en-US" sz="2400" dirty="0">
                <a:latin typeface="+mj-lt"/>
              </a:rPr>
              <a:t>	End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AA856D64-580A-2F70-8401-58C1285B4F66}"/>
              </a:ext>
            </a:extLst>
          </p:cNvPr>
          <p:cNvSpPr/>
          <p:nvPr/>
        </p:nvSpPr>
        <p:spPr>
          <a:xfrm>
            <a:off x="7095257" y="3836099"/>
            <a:ext cx="1562986" cy="2083427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B3A26A-DA4A-1637-F151-5F8486B73002}"/>
              </a:ext>
            </a:extLst>
          </p:cNvPr>
          <p:cNvSpPr/>
          <p:nvPr/>
        </p:nvSpPr>
        <p:spPr>
          <a:xfrm>
            <a:off x="8679509" y="3490541"/>
            <a:ext cx="2978888" cy="547577"/>
          </a:xfrm>
          <a:prstGeom prst="ellipse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29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(3) - Quiz 1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9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907FD81-558F-CBF6-D445-95542AD91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dirty="0"/>
              <a:t>Biên dịch chương trình được viết bằng ngôn ngữ C sau sang hợp ngữ MIPS. Với arraylength và i tưng ứng với thanh ghi $s0 và $s1; mảng arrayvalue có địa chỉ base nằm trong thanh ghi $s5:</a:t>
            </a:r>
          </a:p>
          <a:p>
            <a:endParaRPr lang="vi-VN" dirty="0"/>
          </a:p>
          <a:p>
            <a:endParaRPr lang="vi-VN" dirty="0"/>
          </a:p>
          <a:p>
            <a:endParaRPr lang="en-V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1A3555-7B72-1D08-7E1F-A7567ADCED37}"/>
              </a:ext>
            </a:extLst>
          </p:cNvPr>
          <p:cNvSpPr txBox="1"/>
          <p:nvPr/>
        </p:nvSpPr>
        <p:spPr>
          <a:xfrm>
            <a:off x="9036225" y="2729184"/>
            <a:ext cx="273023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+mj-lt"/>
              </a:rPr>
              <a:t>i = 0</a:t>
            </a:r>
          </a:p>
          <a:p>
            <a:r>
              <a:rPr lang="en-US" sz="2400">
                <a:latin typeface="+mj-lt"/>
              </a:rPr>
              <a:t>if (i &lt; arraylength)</a:t>
            </a:r>
          </a:p>
          <a:p>
            <a:r>
              <a:rPr lang="en-US" sz="2400">
                <a:latin typeface="+mj-lt"/>
              </a:rPr>
              <a:t> {</a:t>
            </a:r>
          </a:p>
          <a:p>
            <a:r>
              <a:rPr lang="en-US" sz="2400">
                <a:latin typeface="+mj-lt"/>
              </a:rPr>
              <a:t>	arrayvalue[i] = i;</a:t>
            </a:r>
          </a:p>
          <a:p>
            <a:r>
              <a:rPr lang="en-US" sz="2400">
                <a:latin typeface="+mj-lt"/>
              </a:rPr>
              <a:t>	i = i + 1;</a:t>
            </a:r>
          </a:p>
          <a:p>
            <a:r>
              <a:rPr lang="en-US" sz="2400">
                <a:latin typeface="+mj-lt"/>
              </a:rPr>
              <a:t>	jump loop</a:t>
            </a:r>
          </a:p>
          <a:p>
            <a:r>
              <a:rPr lang="en-US" sz="2400">
                <a:latin typeface="+mj-lt"/>
              </a:rPr>
              <a:t>}</a:t>
            </a:r>
          </a:p>
          <a:p>
            <a:r>
              <a:rPr lang="en-US" sz="2400">
                <a:latin typeface="+mj-lt"/>
              </a:rPr>
              <a:t>else</a:t>
            </a:r>
          </a:p>
          <a:p>
            <a:r>
              <a:rPr lang="en-US" sz="2400">
                <a:latin typeface="+mj-lt"/>
              </a:rPr>
              <a:t>	End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9BFD47D-3412-A012-0465-4196D32A9CD3}"/>
              </a:ext>
            </a:extLst>
          </p:cNvPr>
          <p:cNvSpPr/>
          <p:nvPr/>
        </p:nvSpPr>
        <p:spPr>
          <a:xfrm>
            <a:off x="8846612" y="3055250"/>
            <a:ext cx="2978888" cy="547577"/>
          </a:xfrm>
          <a:prstGeom prst="ellipse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D39379-FF0D-35E5-C31A-24212D933729}"/>
              </a:ext>
            </a:extLst>
          </p:cNvPr>
          <p:cNvSpPr txBox="1"/>
          <p:nvPr/>
        </p:nvSpPr>
        <p:spPr>
          <a:xfrm>
            <a:off x="5316602" y="2913539"/>
            <a:ext cx="25843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+mj-lt"/>
              </a:rPr>
              <a:t>slt $t0, $s1, $s0</a:t>
            </a:r>
          </a:p>
          <a:p>
            <a:r>
              <a:rPr lang="en-US" sz="2400">
                <a:latin typeface="+mj-lt"/>
              </a:rPr>
              <a:t>beq $t0, $zero, End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68F56FA-56FB-FEAA-7BE8-55CFA94C3906}"/>
              </a:ext>
            </a:extLst>
          </p:cNvPr>
          <p:cNvSpPr/>
          <p:nvPr/>
        </p:nvSpPr>
        <p:spPr>
          <a:xfrm>
            <a:off x="9072046" y="3807164"/>
            <a:ext cx="2978888" cy="547577"/>
          </a:xfrm>
          <a:prstGeom prst="ellipse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174BD5-DA46-128E-8A04-AA242CDE8FC2}"/>
              </a:ext>
            </a:extLst>
          </p:cNvPr>
          <p:cNvSpPr txBox="1"/>
          <p:nvPr/>
        </p:nvSpPr>
        <p:spPr>
          <a:xfrm>
            <a:off x="5463686" y="3879332"/>
            <a:ext cx="29097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+mj-lt"/>
              </a:rPr>
              <a:t>sw $s1, </a:t>
            </a:r>
            <a:r>
              <a:rPr lang="en-US" sz="2400" b="1">
                <a:solidFill>
                  <a:srgbClr val="FF0000"/>
                </a:solidFill>
                <a:latin typeface="+mj-lt"/>
              </a:rPr>
              <a:t>$s1*4 </a:t>
            </a:r>
            <a:r>
              <a:rPr lang="en-US" sz="2400">
                <a:latin typeface="+mj-lt"/>
              </a:rPr>
              <a:t>($s5)</a:t>
            </a:r>
          </a:p>
          <a:p>
            <a:endParaRPr lang="en-US" sz="2400">
              <a:latin typeface="+mj-lt"/>
            </a:endParaRPr>
          </a:p>
          <a:p>
            <a:r>
              <a:rPr lang="en-US" sz="2400">
                <a:latin typeface="+mj-lt"/>
              </a:rPr>
              <a:t>M[$s1*4 + $s5] = $s1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C17518-40D4-EB2D-067E-23FFBA2502EB}"/>
              </a:ext>
            </a:extLst>
          </p:cNvPr>
          <p:cNvSpPr txBox="1"/>
          <p:nvPr/>
        </p:nvSpPr>
        <p:spPr>
          <a:xfrm>
            <a:off x="3112114" y="3879331"/>
            <a:ext cx="248978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+mj-lt"/>
              </a:rPr>
              <a:t>sll $t1, $s1, 2</a:t>
            </a:r>
          </a:p>
          <a:p>
            <a:r>
              <a:rPr lang="en-US" sz="2400">
                <a:latin typeface="+mj-lt"/>
              </a:rPr>
              <a:t>sw $s1, </a:t>
            </a:r>
            <a:r>
              <a:rPr lang="en-US" sz="2400" b="1">
                <a:solidFill>
                  <a:srgbClr val="FF0000"/>
                </a:solidFill>
                <a:latin typeface="+mj-lt"/>
              </a:rPr>
              <a:t>$t1 </a:t>
            </a:r>
            <a:r>
              <a:rPr lang="en-US" sz="2400">
                <a:latin typeface="+mj-lt"/>
              </a:rPr>
              <a:t>($s5)</a:t>
            </a:r>
          </a:p>
          <a:p>
            <a:endParaRPr lang="en-US" sz="2400">
              <a:latin typeface="+mj-lt"/>
            </a:endParaRPr>
          </a:p>
          <a:p>
            <a:r>
              <a:rPr lang="en-US" sz="2400">
                <a:latin typeface="+mj-lt"/>
              </a:rPr>
              <a:t>M[$t1+ $s5] = $s1</a:t>
            </a:r>
          </a:p>
          <a:p>
            <a:endParaRPr lang="en-US" sz="2400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8CB88C-F53C-36C4-F4C8-07A9C24D406D}"/>
              </a:ext>
            </a:extLst>
          </p:cNvPr>
          <p:cNvSpPr txBox="1"/>
          <p:nvPr/>
        </p:nvSpPr>
        <p:spPr>
          <a:xfrm>
            <a:off x="672931" y="3874365"/>
            <a:ext cx="229261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+mj-lt"/>
              </a:rPr>
              <a:t>sll</a:t>
            </a:r>
            <a:r>
              <a:rPr lang="en-US" sz="2400" dirty="0">
                <a:latin typeface="+mj-lt"/>
              </a:rPr>
              <a:t> $t1, $s1, 2</a:t>
            </a:r>
          </a:p>
          <a:p>
            <a:r>
              <a:rPr lang="en-US" sz="2400" dirty="0">
                <a:latin typeface="+mj-lt"/>
              </a:rPr>
              <a:t>add $t2, $t1, $s5</a:t>
            </a:r>
          </a:p>
          <a:p>
            <a:r>
              <a:rPr lang="en-US" sz="2400" dirty="0" err="1">
                <a:latin typeface="+mj-lt"/>
              </a:rPr>
              <a:t>sw</a:t>
            </a:r>
            <a:r>
              <a:rPr lang="en-US" sz="2400" dirty="0">
                <a:latin typeface="+mj-lt"/>
              </a:rPr>
              <a:t> $s1,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0</a:t>
            </a:r>
            <a:r>
              <a:rPr lang="en-US" sz="2400" dirty="0">
                <a:latin typeface="+mj-lt"/>
              </a:rPr>
              <a:t> ($t2)</a:t>
            </a:r>
          </a:p>
          <a:p>
            <a:endParaRPr lang="en-US" sz="2400" dirty="0">
              <a:latin typeface="+mj-lt"/>
            </a:endParaRPr>
          </a:p>
          <a:p>
            <a:r>
              <a:rPr lang="en-US" sz="2400" dirty="0">
                <a:latin typeface="+mj-lt"/>
              </a:rPr>
              <a:t>M[0 + $t2] = $s1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4B96E7-1CEB-B47D-E913-68E138797691}"/>
              </a:ext>
            </a:extLst>
          </p:cNvPr>
          <p:cNvSpPr txBox="1"/>
          <p:nvPr/>
        </p:nvSpPr>
        <p:spPr>
          <a:xfrm>
            <a:off x="3121508" y="5334276"/>
            <a:ext cx="29706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+mj-lt"/>
              </a:rPr>
              <a:t>M[0 + $t1+ $s5] = $s1</a:t>
            </a:r>
          </a:p>
        </p:txBody>
      </p:sp>
    </p:spTree>
    <p:extLst>
      <p:ext uri="{BB962C8B-B14F-4D97-AF65-F5344CB8AC3E}">
        <p14:creationId xmlns:p14="http://schemas.microsoft.com/office/powerpoint/2010/main" val="27876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  <p:bldP spid="10" grpId="0"/>
      <p:bldP spid="11" grpId="0"/>
      <p:bldP spid="12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2138E7-0BF8-4FBE-AB49-4184E532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10</a:t>
            </a:fld>
            <a:endParaRPr lang="en-V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02C380-9011-23F7-8E4B-E195C0DFFB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70928" y="2095027"/>
            <a:ext cx="9946927" cy="884656"/>
          </a:xfrm>
        </p:spPr>
        <p:txBody>
          <a:bodyPr>
            <a:normAutofit fontScale="77500" lnSpcReduction="20000"/>
          </a:bodyPr>
          <a:lstStyle/>
          <a:p>
            <a:r>
              <a:rPr lang="en-US" sz="4400" dirty="0" err="1"/>
              <a:t>Trình</a:t>
            </a:r>
            <a:r>
              <a:rPr lang="en-US" sz="4400" dirty="0"/>
              <a:t> </a:t>
            </a:r>
            <a:r>
              <a:rPr lang="en-US" sz="4400" dirty="0" err="1"/>
              <a:t>biên</a:t>
            </a:r>
            <a:r>
              <a:rPr lang="en-US" sz="4400" dirty="0"/>
              <a:t> </a:t>
            </a:r>
            <a:r>
              <a:rPr lang="en-US" sz="4400" dirty="0" err="1"/>
              <a:t>dịch</a:t>
            </a:r>
            <a:r>
              <a:rPr lang="en-US" sz="4400" dirty="0"/>
              <a:t> </a:t>
            </a:r>
            <a:r>
              <a:rPr lang="en-US" sz="4400" dirty="0" err="1"/>
              <a:t>hợp</a:t>
            </a:r>
            <a:r>
              <a:rPr lang="en-US" sz="4400" dirty="0"/>
              <a:t> </a:t>
            </a:r>
            <a:r>
              <a:rPr lang="en-US" sz="4400" dirty="0" err="1"/>
              <a:t>ngữ</a:t>
            </a:r>
            <a:r>
              <a:rPr lang="en-US" sz="4400" dirty="0"/>
              <a:t> (</a:t>
            </a:r>
            <a:r>
              <a:rPr lang="en-US" sz="4400" dirty="0" err="1"/>
              <a:t>trình</a:t>
            </a:r>
            <a:r>
              <a:rPr lang="en-US" sz="4400" dirty="0"/>
              <a:t> </a:t>
            </a:r>
            <a:r>
              <a:rPr lang="en-US" sz="4400" dirty="0" err="1"/>
              <a:t>thông</a:t>
            </a:r>
            <a:r>
              <a:rPr lang="en-US" sz="4400" dirty="0"/>
              <a:t> </a:t>
            </a:r>
            <a:r>
              <a:rPr lang="en-US" sz="4400" dirty="0" err="1"/>
              <a:t>dịch</a:t>
            </a:r>
            <a:r>
              <a:rPr lang="en-US" sz="4400" dirty="0"/>
              <a:t>)</a:t>
            </a:r>
            <a:endParaRPr lang="en-V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3EE24F-70E8-C3FA-399B-07DCA2C415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vi-VN" sz="28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04BBE0-C7C7-D804-DD85-D99BEB36007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2CDC7B-AFE9-6C1F-2CD6-AA61695C23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r>
              <a:rPr lang="en-V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05844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Trình</a:t>
            </a:r>
            <a:r>
              <a:rPr lang="en-US" sz="4000" dirty="0"/>
              <a:t> </a:t>
            </a:r>
            <a:r>
              <a:rPr lang="en-US" sz="4000" dirty="0" err="1"/>
              <a:t>biên</a:t>
            </a:r>
            <a:r>
              <a:rPr lang="en-US" sz="4000" dirty="0"/>
              <a:t> </a:t>
            </a:r>
            <a:r>
              <a:rPr lang="en-US" sz="4000" dirty="0" err="1"/>
              <a:t>dịch</a:t>
            </a:r>
            <a:r>
              <a:rPr lang="en-US" sz="4000" dirty="0"/>
              <a:t> </a:t>
            </a:r>
            <a:r>
              <a:rPr lang="en-US" sz="4000" dirty="0" err="1"/>
              <a:t>hợp</a:t>
            </a:r>
            <a:r>
              <a:rPr lang="en-US" sz="4000" dirty="0"/>
              <a:t> </a:t>
            </a:r>
            <a:r>
              <a:rPr lang="en-US" sz="4000" dirty="0" err="1"/>
              <a:t>ngữ</a:t>
            </a:r>
            <a:r>
              <a:rPr lang="en-US" sz="4000" dirty="0"/>
              <a:t> (</a:t>
            </a:r>
            <a:r>
              <a:rPr lang="en-US" sz="4000" dirty="0" err="1"/>
              <a:t>trình</a:t>
            </a:r>
            <a:r>
              <a:rPr lang="en-US" sz="4000" dirty="0"/>
              <a:t> </a:t>
            </a:r>
            <a:r>
              <a:rPr lang="en-US" sz="4000" dirty="0" err="1"/>
              <a:t>thông</a:t>
            </a:r>
            <a:r>
              <a:rPr lang="en-US" sz="4000" dirty="0"/>
              <a:t> </a:t>
            </a:r>
            <a:r>
              <a:rPr lang="en-US" sz="4000" dirty="0" err="1"/>
              <a:t>dịch</a:t>
            </a:r>
            <a:r>
              <a:rPr lang="en-US" sz="4000" dirty="0"/>
              <a:t>)</a:t>
            </a:r>
            <a:endParaRPr lang="en-V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11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7939D2F-5893-186B-8EF8-EEA06FF8D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797" y="1195821"/>
            <a:ext cx="8042767" cy="5160527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vi-VN" dirty="0"/>
              <a:t>Trình biên dịch hợp ngữ có chức năng chuyển chương trình được viết bởi hợp ngữ thành mã máy:</a:t>
            </a:r>
          </a:p>
          <a:p>
            <a:pPr lvl="1">
              <a:lnSpc>
                <a:spcPct val="120000"/>
              </a:lnSpc>
            </a:pPr>
            <a:r>
              <a:rPr lang="vi-VN" dirty="0"/>
              <a:t>Mã máy là các chuỗi bit (0, 1) có thể được thực thi trên máy tính</a:t>
            </a:r>
          </a:p>
          <a:p>
            <a:pPr>
              <a:lnSpc>
                <a:spcPct val="120000"/>
              </a:lnSpc>
            </a:pPr>
            <a:r>
              <a:rPr lang="vi-VN" dirty="0"/>
              <a:t>Có thể sử dụng lệnh giả (psudo instruction) để viết chương trình hợp ngữ nhằm đơn giản hơn cho lập trình viên</a:t>
            </a:r>
          </a:p>
          <a:p>
            <a:pPr lvl="1">
              <a:lnSpc>
                <a:spcPct val="120000"/>
              </a:lnSpc>
            </a:pPr>
            <a:r>
              <a:rPr lang="vi-VN" dirty="0"/>
              <a:t>Lệnh giả: Không phải lệnh thực sự của máy nhưng trình biên dịch có thể chuyển thành lệnh thực sự</a:t>
            </a:r>
          </a:p>
          <a:p>
            <a:pPr>
              <a:lnSpc>
                <a:spcPct val="150000"/>
              </a:lnSpc>
            </a:pP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1A2F65-2AEB-BC31-446B-B6CBADFC9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8602" y="1514740"/>
            <a:ext cx="2576879" cy="452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44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Chuyển</a:t>
            </a:r>
            <a:r>
              <a:rPr lang="en-US" sz="4000" dirty="0"/>
              <a:t> </a:t>
            </a:r>
            <a:r>
              <a:rPr lang="en-US" sz="4000" dirty="0" err="1"/>
              <a:t>đổi</a:t>
            </a:r>
            <a:r>
              <a:rPr lang="en-US" sz="4000" dirty="0"/>
              <a:t> </a:t>
            </a:r>
            <a:r>
              <a:rPr lang="en-US" sz="4000" dirty="0" err="1"/>
              <a:t>lệnh</a:t>
            </a:r>
            <a:r>
              <a:rPr lang="en-US" sz="4000" dirty="0"/>
              <a:t> ASM MIPS sang </a:t>
            </a:r>
            <a:r>
              <a:rPr lang="en-US" sz="4000" dirty="0" err="1"/>
              <a:t>mã</a:t>
            </a:r>
            <a:r>
              <a:rPr lang="en-US" sz="4000" dirty="0"/>
              <a:t> </a:t>
            </a:r>
            <a:r>
              <a:rPr lang="en-US" sz="4000" dirty="0" err="1"/>
              <a:t>máy</a:t>
            </a:r>
            <a:endParaRPr lang="en-V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12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7939D2F-5893-186B-8EF8-EEA06FF8D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vi-VN" dirty="0"/>
              <a:t>Chuyển câu lệnh assembly (ASM) MIPS sau sang mã máy: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vi-VN" dirty="0"/>
              <a:t>sll $t1, $t5, 7</a:t>
            </a:r>
          </a:p>
          <a:p>
            <a:pPr>
              <a:lnSpc>
                <a:spcPct val="150000"/>
              </a:lnSpc>
            </a:pPr>
            <a:r>
              <a:rPr lang="vi-VN" dirty="0"/>
              <a:t>Thực hiện việc chuyển đổi theo các bước sau:</a:t>
            </a:r>
          </a:p>
          <a:p>
            <a:pPr lvl="1">
              <a:lnSpc>
                <a:spcPct val="150000"/>
              </a:lnSpc>
            </a:pPr>
            <a:r>
              <a:rPr lang="vi-VN" dirty="0"/>
              <a:t>Bước 1: Tra bảng “MIPS reference data” xem </a:t>
            </a:r>
            <a:r>
              <a:rPr lang="vi-VN"/>
              <a:t>lệnh </a:t>
            </a:r>
            <a:r>
              <a:rPr lang="en-US"/>
              <a:t>sll</a:t>
            </a:r>
            <a:r>
              <a:rPr lang="vi-VN"/>
              <a:t> </a:t>
            </a:r>
            <a:r>
              <a:rPr lang="vi-VN" dirty="0"/>
              <a:t>thuộc định dạng nào =&gt; R type</a:t>
            </a:r>
          </a:p>
          <a:p>
            <a:pPr>
              <a:lnSpc>
                <a:spcPct val="150000"/>
              </a:lnSpc>
            </a:pPr>
            <a:endParaRPr lang="vi-VN" dirty="0"/>
          </a:p>
        </p:txBody>
      </p:sp>
      <p:graphicFrame>
        <p:nvGraphicFramePr>
          <p:cNvPr id="3" name="Table 8">
            <a:extLst>
              <a:ext uri="{FF2B5EF4-FFF2-40B4-BE49-F238E27FC236}">
                <a16:creationId xmlns:a16="http://schemas.microsoft.com/office/drawing/2014/main" id="{6F731216-A740-8099-3815-42EA343E6824}"/>
              </a:ext>
            </a:extLst>
          </p:cNvPr>
          <p:cNvGraphicFramePr>
            <a:graphicFrameLocks noGrp="1"/>
          </p:cNvGraphicFramePr>
          <p:nvPr/>
        </p:nvGraphicFramePr>
        <p:xfrm>
          <a:off x="3211286" y="5435598"/>
          <a:ext cx="6719886" cy="741364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119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9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99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99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99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99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latin typeface="Times New Roman" pitchFamily="18"/>
                          <a:cs typeface="Times New Roman" pitchFamily="18"/>
                        </a:rPr>
                        <a:t>op</a:t>
                      </a: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latin typeface="Times New Roman" pitchFamily="18"/>
                          <a:cs typeface="Times New Roman" pitchFamily="18"/>
                        </a:rPr>
                        <a:t>rs</a:t>
                      </a: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latin typeface="Times New Roman" pitchFamily="18"/>
                          <a:cs typeface="Times New Roman" pitchFamily="18"/>
                        </a:rPr>
                        <a:t>rt</a:t>
                      </a: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latin typeface="Times New Roman" pitchFamily="18"/>
                          <a:cs typeface="Times New Roman" pitchFamily="18"/>
                        </a:rPr>
                        <a:t>rd</a:t>
                      </a: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latin typeface="Times New Roman" pitchFamily="18"/>
                          <a:cs typeface="Times New Roman" pitchFamily="18"/>
                        </a:rPr>
                        <a:t>shamt</a:t>
                      </a: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latin typeface="Times New Roman" pitchFamily="18"/>
                          <a:cs typeface="Times New Roman" pitchFamily="18"/>
                        </a:rPr>
                        <a:t>funct</a:t>
                      </a:r>
                    </a:p>
                  </a:txBody>
                  <a:tcPr marL="91433" marR="91433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lvl="0" algn="ctr"/>
                      <a:endParaRPr lang="en-US" sz="1800">
                        <a:latin typeface="Times New Roman" pitchFamily="18"/>
                        <a:cs typeface="Times New Roman" pitchFamily="18"/>
                      </a:endParaRP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endParaRPr lang="en-US" sz="1800">
                        <a:latin typeface="Times New Roman" pitchFamily="18"/>
                        <a:cs typeface="Times New Roman" pitchFamily="18"/>
                      </a:endParaRP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endParaRPr lang="en-US" sz="1800">
                        <a:latin typeface="Times New Roman" pitchFamily="18"/>
                        <a:cs typeface="Times New Roman" pitchFamily="18"/>
                      </a:endParaRP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endParaRPr lang="en-US" sz="1800">
                        <a:latin typeface="Times New Roman" pitchFamily="18"/>
                        <a:cs typeface="Times New Roman" pitchFamily="18"/>
                      </a:endParaRP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endParaRPr lang="en-US" sz="1800">
                        <a:latin typeface="Times New Roman" pitchFamily="18"/>
                        <a:cs typeface="Times New Roman" pitchFamily="18"/>
                      </a:endParaRP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endParaRPr lang="en-US" sz="1800">
                        <a:latin typeface="Times New Roman" pitchFamily="18"/>
                        <a:cs typeface="Times New Roman" pitchFamily="18"/>
                      </a:endParaRPr>
                    </a:p>
                  </a:txBody>
                  <a:tcPr marL="91433" marR="91433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" name="Picture 7">
            <a:extLst>
              <a:ext uri="{FF2B5EF4-FFF2-40B4-BE49-F238E27FC236}">
                <a16:creationId xmlns:a16="http://schemas.microsoft.com/office/drawing/2014/main" id="{7DF0CDE2-708B-EE24-7D7C-E8EC38AB42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2129" y="4627138"/>
            <a:ext cx="59182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4566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Chuyển đổi lệnh ASM MIPS sang mã máy (tt)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13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EF1E0E-0000-E07F-C060-67E339C6B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altLang="en-US" dirty="0"/>
              <a:t>Chuyển câu lệnh assembly (ASM) MIPS sau sang mã máy:</a:t>
            </a:r>
          </a:p>
          <a:p>
            <a:pPr marL="0" indent="0" algn="ctr">
              <a:buNone/>
            </a:pPr>
            <a:r>
              <a:rPr lang="vi-VN" altLang="en-US" dirty="0"/>
              <a:t>sll $t1, $t5, 7</a:t>
            </a:r>
          </a:p>
          <a:p>
            <a:r>
              <a:rPr lang="vi-VN" altLang="en-US" dirty="0"/>
              <a:t>Thực hiện việc chuyển đổi theo các bước sau:</a:t>
            </a:r>
          </a:p>
          <a:p>
            <a:pPr lvl="1"/>
            <a:r>
              <a:rPr lang="vi-VN" altLang="en-US" dirty="0"/>
              <a:t>Bước 1: Tra bảng “MIPS reference data” xem </a:t>
            </a:r>
            <a:r>
              <a:rPr lang="vi-VN" altLang="en-US"/>
              <a:t>lệnh </a:t>
            </a:r>
            <a:r>
              <a:rPr lang="en-US" altLang="en-US"/>
              <a:t>sll</a:t>
            </a:r>
            <a:r>
              <a:rPr lang="vi-VN" altLang="en-US"/>
              <a:t> </a:t>
            </a:r>
            <a:r>
              <a:rPr lang="vi-VN" altLang="en-US" dirty="0"/>
              <a:t>thuộc định dạng nào =&gt; R type</a:t>
            </a:r>
            <a:endParaRPr lang="en-US" altLang="en-US" dirty="0"/>
          </a:p>
          <a:p>
            <a:pPr lvl="1"/>
            <a:r>
              <a:rPr lang="vi-VN" altLang="en-US" dirty="0"/>
              <a:t>Bước 2: Tra các trường opcode và function</a:t>
            </a:r>
          </a:p>
          <a:p>
            <a:pPr marL="457200" lvl="1" indent="0">
              <a:buNone/>
            </a:pPr>
            <a:endParaRPr lang="vi-VN" alt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ECA7719-CD0E-9014-C7A1-CD54B10517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758802"/>
              </p:ext>
            </p:extLst>
          </p:nvPr>
        </p:nvGraphicFramePr>
        <p:xfrm>
          <a:off x="2218373" y="5118734"/>
          <a:ext cx="6719886" cy="741364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119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9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99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99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99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99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latin typeface="Times New Roman" pitchFamily="18"/>
                          <a:cs typeface="Times New Roman" pitchFamily="18"/>
                        </a:rPr>
                        <a:t>op</a:t>
                      </a: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latin typeface="Times New Roman" pitchFamily="18"/>
                          <a:cs typeface="Times New Roman" pitchFamily="18"/>
                        </a:rPr>
                        <a:t>rs</a:t>
                      </a: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latin typeface="Times New Roman" pitchFamily="18"/>
                          <a:cs typeface="Times New Roman" pitchFamily="18"/>
                        </a:rPr>
                        <a:t>rt</a:t>
                      </a: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latin typeface="Times New Roman" pitchFamily="18"/>
                          <a:cs typeface="Times New Roman" pitchFamily="18"/>
                        </a:rPr>
                        <a:t>rd</a:t>
                      </a: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latin typeface="Times New Roman" pitchFamily="18"/>
                          <a:cs typeface="Times New Roman" pitchFamily="18"/>
                        </a:rPr>
                        <a:t>shamt</a:t>
                      </a: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latin typeface="Times New Roman" pitchFamily="18"/>
                          <a:cs typeface="Times New Roman" pitchFamily="18"/>
                        </a:rPr>
                        <a:t>funct</a:t>
                      </a:r>
                    </a:p>
                  </a:txBody>
                  <a:tcPr marL="91433" marR="91433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latin typeface="Times New Roman" pitchFamily="18"/>
                          <a:cs typeface="Times New Roman" pitchFamily="18"/>
                        </a:rPr>
                        <a:t>000000</a:t>
                      </a: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endParaRPr lang="en-US" sz="1800">
                        <a:latin typeface="Times New Roman" pitchFamily="18"/>
                        <a:cs typeface="Times New Roman" pitchFamily="18"/>
                      </a:endParaRP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endParaRPr lang="en-US" sz="1800">
                        <a:latin typeface="Times New Roman" pitchFamily="18"/>
                        <a:cs typeface="Times New Roman" pitchFamily="18"/>
                      </a:endParaRP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endParaRPr lang="en-US" sz="1800">
                        <a:latin typeface="Times New Roman" pitchFamily="18"/>
                        <a:cs typeface="Times New Roman" pitchFamily="18"/>
                      </a:endParaRP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endParaRPr lang="en-US" sz="1800">
                        <a:latin typeface="Times New Roman" pitchFamily="18"/>
                        <a:cs typeface="Times New Roman" pitchFamily="18"/>
                      </a:endParaRP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 dirty="0">
                          <a:latin typeface="Times New Roman" pitchFamily="18"/>
                          <a:cs typeface="Times New Roman" pitchFamily="18"/>
                        </a:rPr>
                        <a:t>000000</a:t>
                      </a:r>
                    </a:p>
                  </a:txBody>
                  <a:tcPr marL="91433" marR="91433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63CB3B30-232A-F6AD-8E28-79B3952390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5886" y="4023340"/>
            <a:ext cx="6719886" cy="643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1754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Chuyển đổi lệnh ASM MIPS sang mã máy (tt)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14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EF1E0E-0000-E07F-C060-67E339C6B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altLang="en-US" dirty="0"/>
              <a:t>Chuyển câu lệnh assembly (ASM) MIPS sau sang mã máy:</a:t>
            </a:r>
          </a:p>
          <a:p>
            <a:pPr marL="0" indent="0" algn="ctr">
              <a:buNone/>
            </a:pPr>
            <a:r>
              <a:rPr lang="vi-VN" altLang="en-US" dirty="0"/>
              <a:t>sll $t1, $t5, 7</a:t>
            </a:r>
          </a:p>
          <a:p>
            <a:r>
              <a:rPr lang="vi-VN" altLang="en-US" dirty="0"/>
              <a:t>Thực hiện việc chuyển đổi theo các bước sau:</a:t>
            </a:r>
          </a:p>
          <a:p>
            <a:pPr lvl="1"/>
            <a:r>
              <a:rPr lang="vi-VN" altLang="en-US" dirty="0"/>
              <a:t>Bước 1: Tra bảng “MIPS reference data” xem </a:t>
            </a:r>
            <a:r>
              <a:rPr lang="vi-VN" altLang="en-US"/>
              <a:t>lệnh </a:t>
            </a:r>
            <a:r>
              <a:rPr lang="en-US" altLang="en-US"/>
              <a:t>sll</a:t>
            </a:r>
            <a:r>
              <a:rPr lang="vi-VN" altLang="en-US"/>
              <a:t> </a:t>
            </a:r>
            <a:r>
              <a:rPr lang="vi-VN" altLang="en-US" dirty="0"/>
              <a:t>thuộc định dạng nào =&gt; R type</a:t>
            </a:r>
            <a:endParaRPr lang="en-US" altLang="en-US" dirty="0"/>
          </a:p>
          <a:p>
            <a:pPr lvl="1"/>
            <a:r>
              <a:rPr lang="vi-VN" altLang="en-US" dirty="0"/>
              <a:t>Bước 2: Tra các trường opcode và function</a:t>
            </a:r>
            <a:endParaRPr lang="en-US" altLang="en-US" dirty="0"/>
          </a:p>
          <a:p>
            <a:pPr lvl="1"/>
            <a:r>
              <a:rPr lang="en-US" altLang="en-US" dirty="0" err="1"/>
              <a:t>Bướ</a:t>
            </a:r>
            <a:r>
              <a:rPr lang="vi-VN" altLang="en-US" dirty="0"/>
              <a:t>c 3: Tra vị trí và chỉ số các thanh ghi</a:t>
            </a:r>
          </a:p>
          <a:p>
            <a:pPr lvl="1"/>
            <a:endParaRPr lang="vi-VN" altLang="en-US" dirty="0"/>
          </a:p>
          <a:p>
            <a:pPr marL="457200" lvl="1" indent="0">
              <a:buNone/>
            </a:pPr>
            <a:endParaRPr lang="vi-VN" altLang="en-US" dirty="0"/>
          </a:p>
        </p:txBody>
      </p:sp>
      <p:graphicFrame>
        <p:nvGraphicFramePr>
          <p:cNvPr id="3" name="Table 8">
            <a:extLst>
              <a:ext uri="{FF2B5EF4-FFF2-40B4-BE49-F238E27FC236}">
                <a16:creationId xmlns:a16="http://schemas.microsoft.com/office/drawing/2014/main" id="{E305020B-482A-F62A-A665-1C158E97AB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917970"/>
              </p:ext>
            </p:extLst>
          </p:nvPr>
        </p:nvGraphicFramePr>
        <p:xfrm>
          <a:off x="2177733" y="5307488"/>
          <a:ext cx="6719886" cy="741364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119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9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99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99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99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99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latin typeface="Times New Roman" pitchFamily="18"/>
                          <a:cs typeface="Times New Roman" pitchFamily="18"/>
                        </a:rPr>
                        <a:t>op</a:t>
                      </a: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latin typeface="Times New Roman" pitchFamily="18"/>
                          <a:cs typeface="Times New Roman" pitchFamily="18"/>
                        </a:rPr>
                        <a:t>rs</a:t>
                      </a: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latin typeface="Times New Roman" pitchFamily="18"/>
                          <a:cs typeface="Times New Roman" pitchFamily="18"/>
                        </a:rPr>
                        <a:t>rt</a:t>
                      </a: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latin typeface="Times New Roman" pitchFamily="18"/>
                          <a:cs typeface="Times New Roman" pitchFamily="18"/>
                        </a:rPr>
                        <a:t>rd</a:t>
                      </a: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latin typeface="Times New Roman" pitchFamily="18"/>
                          <a:cs typeface="Times New Roman" pitchFamily="18"/>
                        </a:rPr>
                        <a:t>shamt</a:t>
                      </a: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latin typeface="Times New Roman" pitchFamily="18"/>
                          <a:cs typeface="Times New Roman" pitchFamily="18"/>
                        </a:rPr>
                        <a:t>funct</a:t>
                      </a:r>
                    </a:p>
                  </a:txBody>
                  <a:tcPr marL="91433" marR="91433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lvl="0" algn="ctr"/>
                      <a:r>
                        <a:rPr lang="en-US" sz="1800" dirty="0">
                          <a:latin typeface="Times New Roman" pitchFamily="18"/>
                          <a:cs typeface="Times New Roman" pitchFamily="18"/>
                        </a:rPr>
                        <a:t>000000</a:t>
                      </a: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 dirty="0">
                          <a:latin typeface="Times New Roman" pitchFamily="18"/>
                          <a:cs typeface="Times New Roman" pitchFamily="18"/>
                        </a:rPr>
                        <a:t>00000</a:t>
                      </a: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 dirty="0">
                          <a:latin typeface="Times New Roman" pitchFamily="18"/>
                          <a:cs typeface="Times New Roman" pitchFamily="18"/>
                        </a:rPr>
                        <a:t>01101</a:t>
                      </a: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 dirty="0">
                          <a:latin typeface="Times New Roman" pitchFamily="18"/>
                          <a:cs typeface="Times New Roman" pitchFamily="18"/>
                        </a:rPr>
                        <a:t>01001</a:t>
                      </a: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endParaRPr lang="en-US" sz="1800" dirty="0">
                        <a:solidFill>
                          <a:srgbClr val="FF0000"/>
                        </a:solidFill>
                        <a:latin typeface="Times New Roman" pitchFamily="18"/>
                        <a:cs typeface="Times New Roman" pitchFamily="18"/>
                      </a:endParaRP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 dirty="0">
                          <a:latin typeface="Times New Roman" pitchFamily="18"/>
                          <a:cs typeface="Times New Roman" pitchFamily="18"/>
                        </a:rPr>
                        <a:t>000000</a:t>
                      </a:r>
                    </a:p>
                  </a:txBody>
                  <a:tcPr marL="91433" marR="91433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" name="Picture 2">
            <a:extLst>
              <a:ext uri="{FF2B5EF4-FFF2-40B4-BE49-F238E27FC236}">
                <a16:creationId xmlns:a16="http://schemas.microsoft.com/office/drawing/2014/main" id="{2B878673-FE97-68A3-71DC-2799985C50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022"/>
          <a:stretch/>
        </p:blipFill>
        <p:spPr bwMode="auto">
          <a:xfrm>
            <a:off x="9643313" y="3680179"/>
            <a:ext cx="1483361" cy="3058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74C52C-A6CB-4B68-FA2A-28B50BEB9A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6017" y="4453785"/>
            <a:ext cx="6471635" cy="604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7058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Chuyển đổi lệnh ASM MIPS sang mã máy (tt)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15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EF1E0E-0000-E07F-C060-67E339C6B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altLang="en-US" dirty="0"/>
              <a:t>Chuyển câu lệnh assembly (ASM) MIPS sau sang mã máy:</a:t>
            </a:r>
          </a:p>
          <a:p>
            <a:pPr marL="0" indent="0" algn="ctr">
              <a:buNone/>
            </a:pPr>
            <a:r>
              <a:rPr lang="vi-VN" altLang="en-US" dirty="0"/>
              <a:t>sll $t1, $t5, 7</a:t>
            </a:r>
          </a:p>
          <a:p>
            <a:r>
              <a:rPr lang="vi-VN" altLang="en-US" dirty="0"/>
              <a:t>Thực hiện việc chuyển đổi theo các bước sau:</a:t>
            </a:r>
          </a:p>
          <a:p>
            <a:pPr lvl="1"/>
            <a:r>
              <a:rPr lang="vi-VN" altLang="en-US" dirty="0"/>
              <a:t>Bước 1: Tra bảng “MIPS reference data” xem </a:t>
            </a:r>
            <a:r>
              <a:rPr lang="vi-VN" altLang="en-US"/>
              <a:t>lệnh </a:t>
            </a:r>
            <a:r>
              <a:rPr lang="en-US" altLang="en-US"/>
              <a:t>sll</a:t>
            </a:r>
            <a:r>
              <a:rPr lang="vi-VN" altLang="en-US"/>
              <a:t> </a:t>
            </a:r>
            <a:r>
              <a:rPr lang="vi-VN" altLang="en-US" dirty="0"/>
              <a:t>thuộc định dạng nào =&gt; R type</a:t>
            </a:r>
            <a:endParaRPr lang="en-US" altLang="en-US" dirty="0"/>
          </a:p>
          <a:p>
            <a:pPr lvl="1"/>
            <a:r>
              <a:rPr lang="vi-VN" altLang="en-US" dirty="0"/>
              <a:t>Bước 2: Tra các trường opcode và function</a:t>
            </a:r>
            <a:endParaRPr lang="en-US" altLang="en-US" dirty="0"/>
          </a:p>
          <a:p>
            <a:pPr lvl="1"/>
            <a:r>
              <a:rPr lang="en-US" altLang="en-US" dirty="0" err="1"/>
              <a:t>Bướ</a:t>
            </a:r>
            <a:r>
              <a:rPr lang="vi-VN" altLang="en-US" dirty="0"/>
              <a:t>c 3: Tra vị trí và chỉ số các thanh ghi</a:t>
            </a:r>
            <a:endParaRPr lang="en-US" altLang="en-US" dirty="0"/>
          </a:p>
          <a:p>
            <a:pPr lvl="1"/>
            <a:r>
              <a:rPr lang="vi-VN" altLang="en-US" dirty="0"/>
              <a:t>Bước 4: Điền trường shamt và hoàn thành mã máy của lệnh</a:t>
            </a:r>
          </a:p>
          <a:p>
            <a:pPr lvl="1"/>
            <a:endParaRPr lang="vi-VN" altLang="en-US" dirty="0"/>
          </a:p>
          <a:p>
            <a:pPr lvl="1"/>
            <a:endParaRPr lang="vi-VN" altLang="en-US" dirty="0"/>
          </a:p>
          <a:p>
            <a:pPr marL="457200" lvl="1" indent="0">
              <a:buNone/>
            </a:pPr>
            <a:endParaRPr lang="vi-VN" alt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18C951D-14A3-FB97-EC82-16A5A89922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8756359"/>
              </p:ext>
            </p:extLst>
          </p:nvPr>
        </p:nvGraphicFramePr>
        <p:xfrm>
          <a:off x="3040654" y="5019674"/>
          <a:ext cx="6719886" cy="741364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119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9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99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99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99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99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latin typeface="Times New Roman" pitchFamily="18"/>
                          <a:cs typeface="Times New Roman" pitchFamily="18"/>
                        </a:rPr>
                        <a:t>op</a:t>
                      </a: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latin typeface="Times New Roman" pitchFamily="18"/>
                          <a:cs typeface="Times New Roman" pitchFamily="18"/>
                        </a:rPr>
                        <a:t>rs</a:t>
                      </a: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latin typeface="Times New Roman" pitchFamily="18"/>
                          <a:cs typeface="Times New Roman" pitchFamily="18"/>
                        </a:rPr>
                        <a:t>rt</a:t>
                      </a: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latin typeface="Times New Roman" pitchFamily="18"/>
                          <a:cs typeface="Times New Roman" pitchFamily="18"/>
                        </a:rPr>
                        <a:t>rd</a:t>
                      </a: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latin typeface="Times New Roman" pitchFamily="18"/>
                          <a:cs typeface="Times New Roman" pitchFamily="18"/>
                        </a:rPr>
                        <a:t>shamt</a:t>
                      </a: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latin typeface="Times New Roman" pitchFamily="18"/>
                          <a:cs typeface="Times New Roman" pitchFamily="18"/>
                        </a:rPr>
                        <a:t>funct</a:t>
                      </a:r>
                    </a:p>
                  </a:txBody>
                  <a:tcPr marL="91433" marR="91433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latin typeface="Times New Roman" pitchFamily="18"/>
                          <a:cs typeface="Times New Roman" pitchFamily="18"/>
                        </a:rPr>
                        <a:t>000000</a:t>
                      </a: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latin typeface="Times New Roman" pitchFamily="18"/>
                          <a:cs typeface="Times New Roman" pitchFamily="18"/>
                        </a:rPr>
                        <a:t>00000</a:t>
                      </a: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latin typeface="Times New Roman" pitchFamily="18"/>
                          <a:cs typeface="Times New Roman" pitchFamily="18"/>
                        </a:rPr>
                        <a:t>01101</a:t>
                      </a: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latin typeface="Times New Roman" pitchFamily="18"/>
                          <a:cs typeface="Times New Roman" pitchFamily="18"/>
                        </a:rPr>
                        <a:t>01001</a:t>
                      </a: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  <a:latin typeface="Times New Roman" pitchFamily="18"/>
                          <a:cs typeface="Times New Roman" pitchFamily="18"/>
                        </a:rPr>
                        <a:t>00111</a:t>
                      </a: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 dirty="0">
                          <a:latin typeface="Times New Roman" pitchFamily="18"/>
                          <a:cs typeface="Times New Roman" pitchFamily="18"/>
                        </a:rPr>
                        <a:t>000000</a:t>
                      </a:r>
                    </a:p>
                  </a:txBody>
                  <a:tcPr marL="91433" marR="91433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30962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Trình</a:t>
            </a:r>
            <a:r>
              <a:rPr lang="en-US" sz="4000" dirty="0"/>
              <a:t> </a:t>
            </a:r>
            <a:r>
              <a:rPr lang="en-US" sz="4000" dirty="0" err="1"/>
              <a:t>biên</a:t>
            </a:r>
            <a:r>
              <a:rPr lang="en-US" sz="4000" dirty="0"/>
              <a:t> </a:t>
            </a:r>
            <a:r>
              <a:rPr lang="en-US" sz="4000" dirty="0" err="1"/>
              <a:t>dịch</a:t>
            </a:r>
            <a:r>
              <a:rPr lang="en-US" sz="4000" dirty="0"/>
              <a:t> </a:t>
            </a:r>
            <a:r>
              <a:rPr lang="en-US" sz="4000" dirty="0" err="1"/>
              <a:t>hợp</a:t>
            </a:r>
            <a:r>
              <a:rPr lang="en-US" sz="4000" dirty="0"/>
              <a:t> </a:t>
            </a:r>
            <a:r>
              <a:rPr lang="en-US" sz="4000" dirty="0" err="1"/>
              <a:t>ngữ</a:t>
            </a:r>
            <a:r>
              <a:rPr lang="en-US" sz="4000" dirty="0"/>
              <a:t> (2)</a:t>
            </a:r>
            <a:endParaRPr lang="en-V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16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F128A7-E8D6-2A80-A510-E90A73BC9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955" y="1161476"/>
            <a:ext cx="2576879" cy="452268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F7C7235-301F-94DF-6E37-B1892AE9F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2654" y="1516750"/>
            <a:ext cx="4081096" cy="4100512"/>
          </a:xfrm>
        </p:spPr>
        <p:txBody>
          <a:bodyPr/>
          <a:lstStyle/>
          <a:p>
            <a:pPr marL="0" indent="0">
              <a:buNone/>
            </a:pPr>
            <a:r>
              <a:rPr lang="it-IT" dirty="0" err="1">
                <a:latin typeface="+mj-lt"/>
                <a:cs typeface="Courier New" panose="02070309020205020404" pitchFamily="49" charset="0"/>
              </a:rPr>
              <a:t>add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  $t1, $t2, $t1</a:t>
            </a:r>
          </a:p>
          <a:p>
            <a:pPr marL="0" indent="0">
              <a:buNone/>
            </a:pPr>
            <a:r>
              <a:rPr lang="it-IT" dirty="0">
                <a:latin typeface="+mj-lt"/>
                <a:cs typeface="Courier New" panose="02070309020205020404" pitchFamily="49" charset="0"/>
              </a:rPr>
              <a:t>addi $t1, $a0, 0</a:t>
            </a:r>
          </a:p>
          <a:p>
            <a:pPr marL="0" indent="0">
              <a:buNone/>
            </a:pPr>
            <a:r>
              <a:rPr lang="it-IT" dirty="0" err="1">
                <a:latin typeface="+mj-lt"/>
                <a:cs typeface="Courier New" panose="02070309020205020404" pitchFamily="49" charset="0"/>
              </a:rPr>
              <a:t>bne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  $a1, $t1, exit</a:t>
            </a:r>
          </a:p>
          <a:p>
            <a:pPr marL="0" indent="0">
              <a:buNone/>
            </a:pPr>
            <a:r>
              <a:rPr lang="it-IT" dirty="0">
                <a:latin typeface="+mj-lt"/>
                <a:cs typeface="Courier New" panose="02070309020205020404" pitchFamily="49" charset="0"/>
              </a:rPr>
              <a:t>lw   $a3, 4($t1)</a:t>
            </a:r>
          </a:p>
          <a:p>
            <a:pPr marL="0" indent="0">
              <a:buNone/>
            </a:pPr>
            <a:r>
              <a:rPr lang="it-IT" dirty="0">
                <a:latin typeface="+mj-lt"/>
                <a:cs typeface="Courier New" panose="02070309020205020404" pitchFamily="49" charset="0"/>
              </a:rPr>
              <a:t>exit:</a:t>
            </a:r>
          </a:p>
        </p:txBody>
      </p:sp>
    </p:spTree>
    <p:extLst>
      <p:ext uri="{BB962C8B-B14F-4D97-AF65-F5344CB8AC3E}">
        <p14:creationId xmlns:p14="http://schemas.microsoft.com/office/powerpoint/2010/main" val="1553562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Trình</a:t>
            </a:r>
            <a:r>
              <a:rPr lang="en-US" sz="4000" dirty="0"/>
              <a:t> </a:t>
            </a:r>
            <a:r>
              <a:rPr lang="en-US" sz="4000" dirty="0" err="1"/>
              <a:t>biên</a:t>
            </a:r>
            <a:r>
              <a:rPr lang="en-US" sz="4000" dirty="0"/>
              <a:t> </a:t>
            </a:r>
            <a:r>
              <a:rPr lang="en-US" sz="4000" dirty="0" err="1"/>
              <a:t>dịch</a:t>
            </a:r>
            <a:r>
              <a:rPr lang="en-US" sz="4000" dirty="0"/>
              <a:t> </a:t>
            </a:r>
            <a:r>
              <a:rPr lang="en-US" sz="4000" dirty="0" err="1"/>
              <a:t>hợp</a:t>
            </a:r>
            <a:r>
              <a:rPr lang="en-US" sz="4000" dirty="0"/>
              <a:t> </a:t>
            </a:r>
            <a:r>
              <a:rPr lang="en-US" sz="4000" dirty="0" err="1"/>
              <a:t>ngữ</a:t>
            </a:r>
            <a:r>
              <a:rPr lang="en-US" sz="4000" dirty="0"/>
              <a:t> (2)</a:t>
            </a:r>
            <a:endParaRPr lang="en-V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17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4AB2D-34C5-9309-BEED-1B061822F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736" y="3429000"/>
            <a:ext cx="4081096" cy="241536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dirty="0" err="1">
                <a:latin typeface="+mj-lt"/>
                <a:cs typeface="Courier New" panose="02070309020205020404" pitchFamily="49" charset="0"/>
              </a:rPr>
              <a:t>add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  $t1, $t2, $t1</a:t>
            </a:r>
          </a:p>
          <a:p>
            <a:pPr marL="0" indent="0">
              <a:buNone/>
            </a:pPr>
            <a:r>
              <a:rPr lang="it-IT" dirty="0">
                <a:latin typeface="+mj-lt"/>
                <a:cs typeface="Courier New" panose="02070309020205020404" pitchFamily="49" charset="0"/>
              </a:rPr>
              <a:t>addi $t1, $a0, 0</a:t>
            </a:r>
          </a:p>
          <a:p>
            <a:pPr marL="0" indent="0">
              <a:buNone/>
            </a:pPr>
            <a:r>
              <a:rPr lang="it-IT" dirty="0" err="1">
                <a:latin typeface="+mj-lt"/>
                <a:cs typeface="Courier New" panose="02070309020205020404" pitchFamily="49" charset="0"/>
              </a:rPr>
              <a:t>bne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  $a1, $t1, exit</a:t>
            </a:r>
          </a:p>
          <a:p>
            <a:pPr marL="0" indent="0">
              <a:buNone/>
            </a:pPr>
            <a:r>
              <a:rPr lang="it-IT" dirty="0">
                <a:latin typeface="+mj-lt"/>
                <a:cs typeface="Courier New" panose="02070309020205020404" pitchFamily="49" charset="0"/>
              </a:rPr>
              <a:t>lw   $a3, 4($t1)</a:t>
            </a:r>
          </a:p>
          <a:p>
            <a:pPr marL="0" indent="0">
              <a:buNone/>
            </a:pPr>
            <a:r>
              <a:rPr lang="it-IT" dirty="0">
                <a:latin typeface="+mj-lt"/>
                <a:cs typeface="Courier New" panose="02070309020205020404" pitchFamily="49" charset="0"/>
              </a:rPr>
              <a:t>exit: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BD9F828-15FA-9800-60CA-C241A5D8380B}"/>
              </a:ext>
            </a:extLst>
          </p:cNvPr>
          <p:cNvSpPr txBox="1">
            <a:spLocks/>
          </p:cNvSpPr>
          <p:nvPr/>
        </p:nvSpPr>
        <p:spPr>
          <a:xfrm>
            <a:off x="4294544" y="3429000"/>
            <a:ext cx="2637288" cy="2249729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0x01494820</a:t>
            </a:r>
          </a:p>
          <a:p>
            <a:pPr marL="0" indent="0">
              <a:buNone/>
            </a:pPr>
            <a:r>
              <a:rPr lang="en-US" sz="2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0x20890000</a:t>
            </a:r>
          </a:p>
          <a:p>
            <a:pPr marL="0" indent="0">
              <a:buNone/>
            </a:pPr>
            <a:r>
              <a:rPr lang="en-US" sz="2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0x14a90001</a:t>
            </a:r>
          </a:p>
          <a:p>
            <a:pPr marL="0" indent="0">
              <a:buNone/>
            </a:pPr>
            <a:r>
              <a:rPr lang="en-US" sz="2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0x8d270004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452796-DDEC-4216-00E5-94F0E1A96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129" y="1110110"/>
            <a:ext cx="4266268" cy="441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637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(3) - Quiz 2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18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1F9F4-6445-95C4-B469-895008F1D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vi-VN" dirty="0"/>
              <a:t>Biên dịch chương trình được viết bằng hợp ngữ MIPS bên cạnh sang mã máy, biết rằng chương trình bắt đầu ở địa chỉ 0x000C0:</a:t>
            </a:r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r>
              <a:rPr lang="vi-VN" dirty="0"/>
              <a:t>bne   $s0, $s1, FAIL</a:t>
            </a:r>
          </a:p>
          <a:p>
            <a:pPr marL="0" indent="0">
              <a:buNone/>
            </a:pPr>
            <a:r>
              <a:rPr lang="vi-VN" dirty="0"/>
              <a:t>add   $s2, $0, $0</a:t>
            </a:r>
          </a:p>
          <a:p>
            <a:pPr marL="0" indent="0">
              <a:buNone/>
            </a:pPr>
            <a:r>
              <a:rPr lang="vi-VN" dirty="0"/>
              <a:t>j       END</a:t>
            </a:r>
          </a:p>
          <a:p>
            <a:pPr marL="0" indent="0">
              <a:buNone/>
            </a:pPr>
            <a:r>
              <a:rPr lang="vi-VN" dirty="0"/>
              <a:t>FAIL: addi  $s2, $0, -1</a:t>
            </a:r>
          </a:p>
          <a:p>
            <a:pPr marL="0" indent="0">
              <a:buNone/>
            </a:pPr>
            <a:r>
              <a:rPr lang="vi-VN" dirty="0"/>
              <a:t>END:</a:t>
            </a:r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en-V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D02930-274D-2340-258D-DDA827683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2042" y="2136809"/>
            <a:ext cx="4075327" cy="4219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7750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2138E7-0BF8-4FBE-AB49-4184E532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19</a:t>
            </a:fld>
            <a:endParaRPr lang="en-V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02C380-9011-23F7-8E4B-E195C0DFFB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70928" y="2095027"/>
            <a:ext cx="8831311" cy="884656"/>
          </a:xfrm>
        </p:spPr>
        <p:txBody>
          <a:bodyPr>
            <a:normAutofit/>
          </a:bodyPr>
          <a:lstStyle/>
          <a:p>
            <a:r>
              <a:rPr lang="en-US" sz="4400" dirty="0" err="1"/>
              <a:t>Biên</a:t>
            </a:r>
            <a:r>
              <a:rPr lang="en-US" sz="4400" dirty="0"/>
              <a:t> </a:t>
            </a:r>
            <a:r>
              <a:rPr lang="en-US" sz="4400" dirty="0" err="1"/>
              <a:t>dịch</a:t>
            </a:r>
            <a:r>
              <a:rPr lang="en-US" sz="4400" dirty="0"/>
              <a:t> </a:t>
            </a:r>
            <a:r>
              <a:rPr lang="en-US" sz="4400" dirty="0" err="1"/>
              <a:t>ngược</a:t>
            </a:r>
            <a:endParaRPr lang="en-V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3EE24F-70E8-C3FA-399B-07DCA2C415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vi-VN" sz="28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04BBE0-C7C7-D804-DD85-D99BEB36007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2CDC7B-AFE9-6C1F-2CD6-AA61695C23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r>
              <a:rPr lang="en-VN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088766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/>
              <a:t>Biên</a:t>
            </a:r>
            <a:r>
              <a:rPr lang="en-US" sz="4000" dirty="0"/>
              <a:t> </a:t>
            </a:r>
            <a:r>
              <a:rPr lang="en-US" sz="4000" dirty="0" err="1"/>
              <a:t>dịch</a:t>
            </a:r>
            <a:r>
              <a:rPr lang="en-US" sz="4000" dirty="0"/>
              <a:t> </a:t>
            </a:r>
            <a:r>
              <a:rPr lang="en-US" sz="4000" dirty="0" err="1"/>
              <a:t>ngược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20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EF1E0E-0000-E07F-C060-67E339C6B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altLang="en-US" dirty="0"/>
              <a:t>Biên dịch ngược là quá trình khôi phục mã máy thành chương trình hợp ngữ</a:t>
            </a:r>
          </a:p>
          <a:p>
            <a:pPr marL="0" indent="0">
              <a:buNone/>
            </a:pPr>
            <a:endParaRPr lang="vi-VN" altLang="en-US" dirty="0"/>
          </a:p>
          <a:p>
            <a:pPr marL="0" indent="0">
              <a:buNone/>
            </a:pPr>
            <a:r>
              <a:rPr lang="vi-VN" altLang="en-US" dirty="0"/>
              <a:t>0x00af8020</a:t>
            </a:r>
          </a:p>
          <a:p>
            <a:pPr marL="0" indent="0">
              <a:buNone/>
            </a:pPr>
            <a:endParaRPr lang="vi-VN" altLang="en-US" dirty="0"/>
          </a:p>
          <a:p>
            <a:pPr marL="0" indent="0">
              <a:buNone/>
            </a:pPr>
            <a:r>
              <a:rPr lang="vi-VN" altLang="en-US" dirty="0"/>
              <a:t>0000 0000 1010 1111 1000 0000 0010 0000</a:t>
            </a:r>
          </a:p>
          <a:p>
            <a:pPr marL="0" indent="0">
              <a:buNone/>
            </a:pPr>
            <a:endParaRPr lang="vi-VN" altLang="en-US" dirty="0"/>
          </a:p>
          <a:p>
            <a:pPr marL="0" indent="0">
              <a:buNone/>
            </a:pPr>
            <a:r>
              <a:rPr lang="vi-VN" altLang="en-US" dirty="0"/>
              <a:t>000000 00101 01111 10000 00000 100000</a:t>
            </a:r>
          </a:p>
          <a:p>
            <a:pPr marL="0" indent="0">
              <a:buNone/>
            </a:pPr>
            <a:endParaRPr lang="vi-VN" altLang="en-US" dirty="0"/>
          </a:p>
          <a:p>
            <a:pPr marL="0" indent="0">
              <a:buNone/>
            </a:pPr>
            <a:r>
              <a:rPr lang="vi-VN" altLang="en-US" dirty="0"/>
              <a:t>add $16, $5, $15 hoặc add $s0, $a1, $t7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594EBE-C9BF-675F-2FE9-B97B4ECF7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7557" y="1940655"/>
            <a:ext cx="2316041" cy="460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3015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 err="1"/>
              <a:t>Chuyển</a:t>
            </a:r>
            <a:r>
              <a:rPr lang="en-US" sz="4000" dirty="0"/>
              <a:t> </a:t>
            </a:r>
            <a:r>
              <a:rPr lang="en-US" sz="4000" dirty="0" err="1"/>
              <a:t>mã</a:t>
            </a:r>
            <a:r>
              <a:rPr lang="en-US" sz="4000" dirty="0"/>
              <a:t> </a:t>
            </a:r>
            <a:r>
              <a:rPr lang="en-US" sz="4000" dirty="0" err="1"/>
              <a:t>máy</a:t>
            </a:r>
            <a:r>
              <a:rPr lang="en-US" sz="4000" dirty="0"/>
              <a:t> sang </a:t>
            </a:r>
            <a:r>
              <a:rPr lang="en-US" sz="4000" dirty="0" err="1"/>
              <a:t>ngôn</a:t>
            </a:r>
            <a:r>
              <a:rPr lang="en-US" sz="4000" dirty="0"/>
              <a:t> </a:t>
            </a:r>
            <a:r>
              <a:rPr lang="en-US" sz="4000" dirty="0" err="1"/>
              <a:t>ngữ</a:t>
            </a:r>
            <a:r>
              <a:rPr lang="en-US" sz="4000" dirty="0"/>
              <a:t> Assembly (ASM) MIPS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21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C06D0B0-3864-3884-180D-B509AAEE3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Chuyển mã máy sau sang câu lệnh assembly MIPS:</a:t>
            </a:r>
          </a:p>
          <a:p>
            <a:pPr marL="0" indent="0" algn="ctr">
              <a:buNone/>
            </a:pPr>
            <a:r>
              <a:rPr lang="vi-VN" dirty="0"/>
              <a:t>0x01304024</a:t>
            </a:r>
          </a:p>
          <a:p>
            <a:r>
              <a:rPr lang="vi-VN" dirty="0"/>
              <a:t>Đáp án: Thực hiện việc chuyển đổi theo các bước sau:</a:t>
            </a:r>
          </a:p>
          <a:p>
            <a:pPr lvl="1"/>
            <a:r>
              <a:rPr lang="vi-VN" dirty="0"/>
              <a:t>Bước 1: Chuyển mã máy sang hệ nhị phân</a:t>
            </a:r>
          </a:p>
          <a:p>
            <a:pPr lvl="1"/>
            <a:r>
              <a:rPr lang="vi-VN" dirty="0"/>
              <a:t>Bước 2: Chọn 6bit đầu và tra opcode, nếu opcode bằng 000000 thì tra tiếp function 6bit cuối trong bảng MIPS</a:t>
            </a:r>
          </a:p>
          <a:p>
            <a:endParaRPr lang="vi-VN" dirty="0"/>
          </a:p>
          <a:p>
            <a:endParaRPr lang="en-V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6851D3B-478E-6BE0-5926-DD5071DC40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167777"/>
              </p:ext>
            </p:extLst>
          </p:nvPr>
        </p:nvGraphicFramePr>
        <p:xfrm>
          <a:off x="602876" y="5306487"/>
          <a:ext cx="6719887" cy="74136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119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9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99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  <a:latin typeface="Times New Roman" pitchFamily="18"/>
                          <a:cs typeface="Times New Roman" pitchFamily="18"/>
                        </a:rPr>
                        <a:t>op</a:t>
                      </a: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endParaRPr lang="en-US" sz="1800">
                        <a:solidFill>
                          <a:schemeClr val="tx1"/>
                        </a:solidFill>
                        <a:latin typeface="Times New Roman" pitchFamily="18"/>
                        <a:cs typeface="Times New Roman" pitchFamily="18"/>
                      </a:endParaRP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00B050"/>
                          </a:solidFill>
                          <a:latin typeface="Times New Roman" pitchFamily="18"/>
                          <a:cs typeface="Times New Roman" pitchFamily="18"/>
                        </a:rPr>
                        <a:t>funct</a:t>
                      </a:r>
                    </a:p>
                  </a:txBody>
                  <a:tcPr marL="91433" marR="91433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  <a:latin typeface="Times New Roman" pitchFamily="18"/>
                          <a:cs typeface="Times New Roman" pitchFamily="18"/>
                        </a:rPr>
                        <a:t>000000</a:t>
                      </a: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</a:rPr>
                        <a:t>01 0011 0000 0100 0000 00</a:t>
                      </a: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 dirty="0">
                          <a:solidFill>
                            <a:srgbClr val="00B050"/>
                          </a:solidFill>
                          <a:latin typeface="Times New Roman" pitchFamily="18"/>
                          <a:cs typeface="Times New Roman" pitchFamily="18"/>
                        </a:rPr>
                        <a:t>100100</a:t>
                      </a:r>
                    </a:p>
                  </a:txBody>
                  <a:tcPr marL="91433" marR="91433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Table 8">
            <a:extLst>
              <a:ext uri="{FF2B5EF4-FFF2-40B4-BE49-F238E27FC236}">
                <a16:creationId xmlns:a16="http://schemas.microsoft.com/office/drawing/2014/main" id="{68D6667B-14DB-99C5-6EE1-3D5F5BCA7F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760031"/>
              </p:ext>
            </p:extLst>
          </p:nvPr>
        </p:nvGraphicFramePr>
        <p:xfrm>
          <a:off x="1989344" y="4415055"/>
          <a:ext cx="9059859" cy="74136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006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6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66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6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66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66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66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66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066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</a:rPr>
                        <a:t>0x</a:t>
                      </a:r>
                    </a:p>
                  </a:txBody>
                  <a:tcPr marL="91436" marR="91436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</a:rPr>
                        <a:t>0</a:t>
                      </a:r>
                    </a:p>
                  </a:txBody>
                  <a:tcPr marL="91436" marR="91436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</a:rPr>
                        <a:t>1</a:t>
                      </a:r>
                    </a:p>
                  </a:txBody>
                  <a:tcPr marL="91436" marR="91436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</a:rPr>
                        <a:t>3</a:t>
                      </a:r>
                    </a:p>
                  </a:txBody>
                  <a:tcPr marL="91436" marR="91436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</a:rPr>
                        <a:t>0</a:t>
                      </a:r>
                    </a:p>
                  </a:txBody>
                  <a:tcPr marL="91436" marR="91436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</a:rPr>
                        <a:t>4</a:t>
                      </a:r>
                    </a:p>
                  </a:txBody>
                  <a:tcPr marL="91436" marR="91436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</a:rPr>
                        <a:t>0</a:t>
                      </a:r>
                    </a:p>
                  </a:txBody>
                  <a:tcPr marL="91436" marR="91436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</a:rPr>
                        <a:t>2</a:t>
                      </a:r>
                    </a:p>
                  </a:txBody>
                  <a:tcPr marL="91436" marR="91436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</a:rPr>
                        <a:t>4</a:t>
                      </a:r>
                    </a:p>
                  </a:txBody>
                  <a:tcPr marL="91436" marR="91436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lvl="0" algn="ctr"/>
                      <a:endParaRPr lang="en-US" sz="1800">
                        <a:latin typeface="Times New Roman" pitchFamily="18"/>
                        <a:cs typeface="Times New Roman" pitchFamily="18"/>
                      </a:endParaRPr>
                    </a:p>
                  </a:txBody>
                  <a:tcPr marL="91436" marR="91436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  <a:latin typeface="Times New Roman" pitchFamily="18"/>
                          <a:cs typeface="Times New Roman" pitchFamily="18"/>
                        </a:rPr>
                        <a:t>0000</a:t>
                      </a:r>
                    </a:p>
                  </a:txBody>
                  <a:tcPr marL="91436" marR="91436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  <a:latin typeface="Times New Roman" pitchFamily="18"/>
                          <a:cs typeface="Times New Roman" pitchFamily="18"/>
                        </a:rPr>
                        <a:t>00</a:t>
                      </a:r>
                      <a:r>
                        <a:rPr lang="en-US" sz="1800">
                          <a:latin typeface="Times New Roman" pitchFamily="18"/>
                          <a:cs typeface="Times New Roman" pitchFamily="18"/>
                        </a:rPr>
                        <a:t>01</a:t>
                      </a:r>
                    </a:p>
                  </a:txBody>
                  <a:tcPr marL="91436" marR="91436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latin typeface="Times New Roman" pitchFamily="18"/>
                          <a:cs typeface="Times New Roman" pitchFamily="18"/>
                        </a:rPr>
                        <a:t>0011</a:t>
                      </a:r>
                    </a:p>
                  </a:txBody>
                  <a:tcPr marL="91436" marR="91436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</a:rPr>
                        <a:t>0000</a:t>
                      </a:r>
                    </a:p>
                  </a:txBody>
                  <a:tcPr marL="91436" marR="91436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latin typeface="Times New Roman" pitchFamily="18"/>
                          <a:cs typeface="Times New Roman" pitchFamily="18"/>
                        </a:rPr>
                        <a:t>0100</a:t>
                      </a:r>
                    </a:p>
                  </a:txBody>
                  <a:tcPr marL="91436" marR="91436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latin typeface="Times New Roman" pitchFamily="18"/>
                          <a:cs typeface="Times New Roman" pitchFamily="18"/>
                        </a:rPr>
                        <a:t>0000</a:t>
                      </a:r>
                    </a:p>
                  </a:txBody>
                  <a:tcPr marL="91436" marR="91436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latin typeface="Times New Roman" pitchFamily="18"/>
                          <a:cs typeface="Times New Roman" pitchFamily="18"/>
                        </a:rPr>
                        <a:t>00</a:t>
                      </a:r>
                      <a:r>
                        <a:rPr lang="en-US" sz="1800">
                          <a:solidFill>
                            <a:srgbClr val="00B050"/>
                          </a:solidFill>
                          <a:latin typeface="Times New Roman" pitchFamily="18"/>
                          <a:cs typeface="Times New Roman" pitchFamily="18"/>
                        </a:rPr>
                        <a:t>10</a:t>
                      </a:r>
                    </a:p>
                  </a:txBody>
                  <a:tcPr marL="91436" marR="91436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 dirty="0">
                          <a:solidFill>
                            <a:srgbClr val="00B050"/>
                          </a:solidFill>
                          <a:latin typeface="Times New Roman" pitchFamily="18"/>
                          <a:cs typeface="Times New Roman" pitchFamily="18"/>
                        </a:rPr>
                        <a:t>0100</a:t>
                      </a:r>
                    </a:p>
                  </a:txBody>
                  <a:tcPr marL="91436" marR="91436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1" name="Picture 9">
            <a:extLst>
              <a:ext uri="{FF2B5EF4-FFF2-40B4-BE49-F238E27FC236}">
                <a16:creationId xmlns:a16="http://schemas.microsoft.com/office/drawing/2014/main" id="{568565F8-B58F-5996-7A38-6F0120DB4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1390" y="5401601"/>
            <a:ext cx="4089400" cy="1370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1171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 err="1"/>
              <a:t>Chuyển</a:t>
            </a:r>
            <a:r>
              <a:rPr lang="en-US" sz="4000" dirty="0"/>
              <a:t> </a:t>
            </a:r>
            <a:r>
              <a:rPr lang="en-US" sz="4000" dirty="0" err="1"/>
              <a:t>mã</a:t>
            </a:r>
            <a:r>
              <a:rPr lang="en-US" sz="4000" dirty="0"/>
              <a:t> </a:t>
            </a:r>
            <a:r>
              <a:rPr lang="en-US" sz="4000" dirty="0" err="1"/>
              <a:t>máy</a:t>
            </a:r>
            <a:r>
              <a:rPr lang="en-US" sz="4000" dirty="0"/>
              <a:t> sang </a:t>
            </a:r>
            <a:r>
              <a:rPr lang="en-US" sz="4000" dirty="0" err="1"/>
              <a:t>ngôn</a:t>
            </a:r>
            <a:r>
              <a:rPr lang="en-US" sz="4000" dirty="0"/>
              <a:t> </a:t>
            </a:r>
            <a:r>
              <a:rPr lang="en-US" sz="4000" dirty="0" err="1"/>
              <a:t>ngữ</a:t>
            </a:r>
            <a:r>
              <a:rPr lang="en-US" sz="4000" dirty="0"/>
              <a:t> Assembly (ASM) MIPS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22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C06D0B0-3864-3884-180D-B509AAEE3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Chuyển mã máy sau sang câu lệnh assembly MIPS:</a:t>
            </a:r>
          </a:p>
          <a:p>
            <a:pPr marL="0" indent="0" algn="ctr">
              <a:buNone/>
            </a:pPr>
            <a:r>
              <a:rPr lang="vi-VN" dirty="0"/>
              <a:t>0x01304024</a:t>
            </a:r>
          </a:p>
          <a:p>
            <a:r>
              <a:rPr lang="vi-VN" dirty="0"/>
              <a:t>Đáp án: Thực hiện việc chuyển đổi theo các bước sau:</a:t>
            </a:r>
          </a:p>
          <a:p>
            <a:pPr lvl="1"/>
            <a:r>
              <a:rPr lang="vi-VN" dirty="0"/>
              <a:t>Bước 1: Chuyển mã máy sang hệ nhị phân</a:t>
            </a:r>
          </a:p>
          <a:p>
            <a:pPr lvl="1"/>
            <a:r>
              <a:rPr lang="vi-VN" dirty="0"/>
              <a:t>Bước 2: Chọn 6bit đầu và tra opcode, nếu opcode bằng 000000 thì tra tiếp function 6bit cuối trong bảng MIPS</a:t>
            </a:r>
          </a:p>
          <a:p>
            <a:pPr lvl="1"/>
            <a:r>
              <a:rPr lang="vi-VN" dirty="0"/>
              <a:t>Bước 3: Tìm các thanh ghi tương ứng với các trường trong format R</a:t>
            </a:r>
          </a:p>
          <a:p>
            <a:endParaRPr lang="vi-VN" dirty="0"/>
          </a:p>
          <a:p>
            <a:endParaRPr lang="en-VN" dirty="0"/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568565F8-B58F-5996-7A38-6F0120DB4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1390" y="5401601"/>
            <a:ext cx="4089400" cy="1370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B9BC30EF-22C7-0F92-1C86-176850FF61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144075"/>
              </p:ext>
            </p:extLst>
          </p:nvPr>
        </p:nvGraphicFramePr>
        <p:xfrm>
          <a:off x="696847" y="5134080"/>
          <a:ext cx="6719886" cy="111283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119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9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99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99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99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99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  <a:latin typeface="Times New Roman" pitchFamily="18"/>
                          <a:cs typeface="Times New Roman" pitchFamily="18"/>
                        </a:rPr>
                        <a:t>op</a:t>
                      </a:r>
                    </a:p>
                  </a:txBody>
                  <a:tcPr marL="91433" marR="91433" marT="45733" marB="45733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</a:rPr>
                        <a:t>rs</a:t>
                      </a:r>
                    </a:p>
                  </a:txBody>
                  <a:tcPr marL="91433" marR="91433" marT="45733" marB="45733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</a:rPr>
                        <a:t>rt</a:t>
                      </a:r>
                    </a:p>
                  </a:txBody>
                  <a:tcPr marL="91433" marR="91433" marT="45733" marB="45733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</a:rPr>
                        <a:t>rd</a:t>
                      </a:r>
                    </a:p>
                  </a:txBody>
                  <a:tcPr marL="91433" marR="91433" marT="45733" marB="45733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</a:rPr>
                        <a:t>shamt</a:t>
                      </a:r>
                    </a:p>
                  </a:txBody>
                  <a:tcPr marL="91433" marR="91433" marT="45733" marB="45733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00B050"/>
                          </a:solidFill>
                          <a:latin typeface="Times New Roman" pitchFamily="18"/>
                          <a:cs typeface="Times New Roman" pitchFamily="18"/>
                        </a:rPr>
                        <a:t>funct</a:t>
                      </a:r>
                    </a:p>
                  </a:txBody>
                  <a:tcPr marL="91433" marR="91433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  <a:latin typeface="Times New Roman" pitchFamily="18"/>
                          <a:cs typeface="Times New Roman" pitchFamily="18"/>
                        </a:rPr>
                        <a:t>000000</a:t>
                      </a:r>
                    </a:p>
                  </a:txBody>
                  <a:tcPr marL="91433" marR="91433" marT="45733" marB="45733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</a:rPr>
                        <a:t>01001</a:t>
                      </a:r>
                    </a:p>
                  </a:txBody>
                  <a:tcPr marL="91433" marR="91433" marT="45733" marB="45733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</a:rPr>
                        <a:t>10000</a:t>
                      </a:r>
                    </a:p>
                  </a:txBody>
                  <a:tcPr marL="91433" marR="91433" marT="45733" marB="45733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</a:rPr>
                        <a:t>01000</a:t>
                      </a:r>
                    </a:p>
                  </a:txBody>
                  <a:tcPr marL="91433" marR="91433" marT="45733" marB="45733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</a:rPr>
                        <a:t>00000</a:t>
                      </a:r>
                    </a:p>
                  </a:txBody>
                  <a:tcPr marL="91433" marR="91433" marT="45733" marB="45733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00B050"/>
                          </a:solidFill>
                          <a:latin typeface="Times New Roman" pitchFamily="18"/>
                          <a:cs typeface="Times New Roman" pitchFamily="18"/>
                        </a:rPr>
                        <a:t>100100</a:t>
                      </a:r>
                    </a:p>
                  </a:txBody>
                  <a:tcPr marL="91433" marR="91433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lvl="0" algn="ctr"/>
                      <a:endParaRPr lang="en-US" sz="1800">
                        <a:solidFill>
                          <a:srgbClr val="FF0000"/>
                        </a:solidFill>
                        <a:latin typeface="Times New Roman" pitchFamily="18"/>
                        <a:cs typeface="Times New Roman" pitchFamily="18"/>
                      </a:endParaRPr>
                    </a:p>
                  </a:txBody>
                  <a:tcPr marL="91433" marR="91433" marT="45733" marB="45733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</a:rPr>
                        <a:t>9 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  <a:sym typeface="Wingdings" panose="05000000000000000000" pitchFamily="2" charset="2"/>
                        </a:rPr>
                        <a:t>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</a:rPr>
                        <a:t> t1</a:t>
                      </a:r>
                    </a:p>
                  </a:txBody>
                  <a:tcPr marL="91433" marR="91433" marT="45733" marB="45733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</a:rPr>
                        <a:t>16 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  <a:sym typeface="Wingdings" panose="05000000000000000000" pitchFamily="2" charset="2"/>
                        </a:rPr>
                        <a:t>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</a:rPr>
                        <a:t> s0</a:t>
                      </a:r>
                    </a:p>
                  </a:txBody>
                  <a:tcPr marL="91433" marR="91433" marT="45733" marB="45733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</a:rPr>
                        <a:t>8 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  <a:sym typeface="Wingdings" panose="05000000000000000000" pitchFamily="2" charset="2"/>
                        </a:rPr>
                        <a:t>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</a:rPr>
                        <a:t> t0</a:t>
                      </a:r>
                    </a:p>
                  </a:txBody>
                  <a:tcPr marL="91433" marR="91433" marT="45733" marB="45733"/>
                </a:tc>
                <a:tc>
                  <a:txBody>
                    <a:bodyPr/>
                    <a:lstStyle/>
                    <a:p>
                      <a:pPr lvl="0" algn="ctr"/>
                      <a:endParaRPr lang="en-US" sz="1800">
                        <a:solidFill>
                          <a:schemeClr val="tx1"/>
                        </a:solidFill>
                        <a:latin typeface="Times New Roman" pitchFamily="18"/>
                        <a:cs typeface="Times New Roman" pitchFamily="18"/>
                      </a:endParaRPr>
                    </a:p>
                  </a:txBody>
                  <a:tcPr marL="91433" marR="91433" marT="45733" marB="45733"/>
                </a:tc>
                <a:tc>
                  <a:txBody>
                    <a:bodyPr/>
                    <a:lstStyle/>
                    <a:p>
                      <a:pPr lvl="0" algn="ctr"/>
                      <a:endParaRPr lang="en-US" sz="1800" dirty="0">
                        <a:solidFill>
                          <a:srgbClr val="00B050"/>
                        </a:solidFill>
                        <a:latin typeface="Times New Roman" pitchFamily="18"/>
                        <a:cs typeface="Times New Roman" pitchFamily="18"/>
                      </a:endParaRPr>
                    </a:p>
                  </a:txBody>
                  <a:tcPr marL="91433" marR="91433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8">
            <a:extLst>
              <a:ext uri="{FF2B5EF4-FFF2-40B4-BE49-F238E27FC236}">
                <a16:creationId xmlns:a16="http://schemas.microsoft.com/office/drawing/2014/main" id="{6EDEF096-AABF-BBD2-9A10-9C9C3319F9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066232"/>
              </p:ext>
            </p:extLst>
          </p:nvPr>
        </p:nvGraphicFramePr>
        <p:xfrm>
          <a:off x="696847" y="4294292"/>
          <a:ext cx="6719887" cy="741364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119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9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99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  <a:latin typeface="Times New Roman" pitchFamily="18"/>
                          <a:cs typeface="Times New Roman" pitchFamily="18"/>
                        </a:rPr>
                        <a:t>op</a:t>
                      </a: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endParaRPr lang="en-US" sz="1800">
                        <a:solidFill>
                          <a:schemeClr val="tx1"/>
                        </a:solidFill>
                        <a:latin typeface="Times New Roman" pitchFamily="18"/>
                        <a:cs typeface="Times New Roman" pitchFamily="18"/>
                      </a:endParaRP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00B050"/>
                          </a:solidFill>
                          <a:latin typeface="Times New Roman" pitchFamily="18"/>
                          <a:cs typeface="Times New Roman" pitchFamily="18"/>
                        </a:rPr>
                        <a:t>funct</a:t>
                      </a:r>
                    </a:p>
                  </a:txBody>
                  <a:tcPr marL="91433" marR="91433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  <a:latin typeface="Times New Roman" pitchFamily="18"/>
                          <a:cs typeface="Times New Roman" pitchFamily="18"/>
                        </a:rPr>
                        <a:t>000000</a:t>
                      </a: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</a:rPr>
                        <a:t>01 0011 0000 0100 0000 00</a:t>
                      </a:r>
                    </a:p>
                  </a:txBody>
                  <a:tcPr marL="91433" marR="91433" marT="45700" marB="45700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00B050"/>
                          </a:solidFill>
                          <a:latin typeface="Times New Roman" pitchFamily="18"/>
                          <a:cs typeface="Times New Roman" pitchFamily="18"/>
                        </a:rPr>
                        <a:t>100100</a:t>
                      </a:r>
                    </a:p>
                  </a:txBody>
                  <a:tcPr marL="91433" marR="91433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4942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 err="1"/>
              <a:t>Chuyển</a:t>
            </a:r>
            <a:r>
              <a:rPr lang="en-US" sz="4000" dirty="0"/>
              <a:t> </a:t>
            </a:r>
            <a:r>
              <a:rPr lang="en-US" sz="4000" dirty="0" err="1"/>
              <a:t>mã</a:t>
            </a:r>
            <a:r>
              <a:rPr lang="en-US" sz="4000" dirty="0"/>
              <a:t> </a:t>
            </a:r>
            <a:r>
              <a:rPr lang="en-US" sz="4000" dirty="0" err="1"/>
              <a:t>máy</a:t>
            </a:r>
            <a:r>
              <a:rPr lang="en-US" sz="4000" dirty="0"/>
              <a:t> sang </a:t>
            </a:r>
            <a:r>
              <a:rPr lang="en-US" sz="4000" dirty="0" err="1"/>
              <a:t>ngôn</a:t>
            </a:r>
            <a:r>
              <a:rPr lang="en-US" sz="4000" dirty="0"/>
              <a:t> </a:t>
            </a:r>
            <a:r>
              <a:rPr lang="en-US" sz="4000" dirty="0" err="1"/>
              <a:t>ngữ</a:t>
            </a:r>
            <a:r>
              <a:rPr lang="en-US" sz="4000" dirty="0"/>
              <a:t> Assembly (ASM) MIPS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23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C06D0B0-3864-3884-180D-B509AAEE3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Chuyển mã máy sau sang câu lệnh assembly MIPS:</a:t>
            </a:r>
          </a:p>
          <a:p>
            <a:pPr marL="0" indent="0" algn="ctr">
              <a:buNone/>
            </a:pPr>
            <a:r>
              <a:rPr lang="vi-VN" dirty="0"/>
              <a:t>0x01304024</a:t>
            </a:r>
          </a:p>
          <a:p>
            <a:r>
              <a:rPr lang="vi-VN" dirty="0"/>
              <a:t>Đáp án: Thực hiện việc chuyển đổi theo các bước sau:</a:t>
            </a:r>
          </a:p>
          <a:p>
            <a:pPr lvl="1"/>
            <a:r>
              <a:rPr lang="vi-VN" dirty="0"/>
              <a:t>Bước 1: Chuyển mã máy sang hệ nhị phân</a:t>
            </a:r>
          </a:p>
          <a:p>
            <a:pPr lvl="1"/>
            <a:r>
              <a:rPr lang="vi-VN" dirty="0"/>
              <a:t>Bước 2: Chọn 6bit đầu và tra opcode, nếu opcode bằng 000000 thì tra tiếp function 6bit cuối trong bảng MIPS</a:t>
            </a:r>
          </a:p>
          <a:p>
            <a:pPr lvl="1"/>
            <a:r>
              <a:rPr lang="vi-VN" dirty="0"/>
              <a:t>Bước 3: Tìm các thanh ghi tương ứng với các trường trong format R</a:t>
            </a:r>
          </a:p>
          <a:p>
            <a:pPr lvl="1"/>
            <a:r>
              <a:rPr lang="vi-VN" dirty="0"/>
              <a:t>Bước 4: Hoàn thành lệnh: and $t0, $t1, $s0</a:t>
            </a:r>
          </a:p>
          <a:p>
            <a:endParaRPr lang="vi-VN" dirty="0"/>
          </a:p>
          <a:p>
            <a:endParaRPr lang="en-VN" dirty="0"/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568565F8-B58F-5996-7A38-6F0120DB4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1390" y="4847792"/>
            <a:ext cx="4089400" cy="1370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Table 8">
            <a:extLst>
              <a:ext uri="{FF2B5EF4-FFF2-40B4-BE49-F238E27FC236}">
                <a16:creationId xmlns:a16="http://schemas.microsoft.com/office/drawing/2014/main" id="{5B363657-E0EF-E676-7703-05B14E65E6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59222"/>
              </p:ext>
            </p:extLst>
          </p:nvPr>
        </p:nvGraphicFramePr>
        <p:xfrm>
          <a:off x="733738" y="5106553"/>
          <a:ext cx="6719886" cy="1111251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119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9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99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99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99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99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417"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  <a:latin typeface="Times New Roman" pitchFamily="18"/>
                          <a:cs typeface="Times New Roman" pitchFamily="18"/>
                        </a:rPr>
                        <a:t>op</a:t>
                      </a:r>
                    </a:p>
                  </a:txBody>
                  <a:tcPr marL="91433" marR="91433" marT="45667" marB="45667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</a:rPr>
                        <a:t>rs</a:t>
                      </a:r>
                    </a:p>
                  </a:txBody>
                  <a:tcPr marL="91433" marR="91433" marT="45667" marB="45667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</a:rPr>
                        <a:t>rt</a:t>
                      </a:r>
                    </a:p>
                  </a:txBody>
                  <a:tcPr marL="91433" marR="91433" marT="45667" marB="45667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</a:rPr>
                        <a:t>rd</a:t>
                      </a:r>
                    </a:p>
                  </a:txBody>
                  <a:tcPr marL="91433" marR="91433" marT="45667" marB="45667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</a:rPr>
                        <a:t>shamt</a:t>
                      </a:r>
                    </a:p>
                  </a:txBody>
                  <a:tcPr marL="91433" marR="91433" marT="45667" marB="45667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00B050"/>
                          </a:solidFill>
                          <a:latin typeface="Times New Roman" pitchFamily="18"/>
                          <a:cs typeface="Times New Roman" pitchFamily="18"/>
                        </a:rPr>
                        <a:t>funct</a:t>
                      </a:r>
                    </a:p>
                  </a:txBody>
                  <a:tcPr marL="91433" marR="91433" marT="45667" marB="4566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417"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  <a:latin typeface="Times New Roman" pitchFamily="18"/>
                          <a:cs typeface="Times New Roman" pitchFamily="18"/>
                        </a:rPr>
                        <a:t>000000</a:t>
                      </a:r>
                    </a:p>
                  </a:txBody>
                  <a:tcPr marL="91433" marR="91433" marT="45667" marB="45667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</a:rPr>
                        <a:t>01001</a:t>
                      </a:r>
                    </a:p>
                  </a:txBody>
                  <a:tcPr marL="91433" marR="91433" marT="45667" marB="45667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</a:rPr>
                        <a:t>10000</a:t>
                      </a:r>
                    </a:p>
                  </a:txBody>
                  <a:tcPr marL="91433" marR="91433" marT="45667" marB="45667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</a:rPr>
                        <a:t>01000</a:t>
                      </a:r>
                    </a:p>
                  </a:txBody>
                  <a:tcPr marL="91433" marR="91433" marT="45667" marB="45667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</a:rPr>
                        <a:t>00000</a:t>
                      </a:r>
                    </a:p>
                  </a:txBody>
                  <a:tcPr marL="91433" marR="91433" marT="45667" marB="45667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00B050"/>
                          </a:solidFill>
                          <a:latin typeface="Times New Roman" pitchFamily="18"/>
                          <a:cs typeface="Times New Roman" pitchFamily="18"/>
                        </a:rPr>
                        <a:t>100100</a:t>
                      </a:r>
                    </a:p>
                  </a:txBody>
                  <a:tcPr marL="91433" marR="91433" marT="45667" marB="4566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417">
                <a:tc>
                  <a:txBody>
                    <a:bodyPr/>
                    <a:lstStyle/>
                    <a:p>
                      <a:pPr lvl="0" algn="ctr"/>
                      <a:endParaRPr lang="en-US" sz="1800">
                        <a:solidFill>
                          <a:srgbClr val="FF0000"/>
                        </a:solidFill>
                        <a:latin typeface="Times New Roman" pitchFamily="18"/>
                        <a:cs typeface="Times New Roman" pitchFamily="18"/>
                      </a:endParaRPr>
                    </a:p>
                  </a:txBody>
                  <a:tcPr marL="91433" marR="91433" marT="45667" marB="45667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</a:rPr>
                        <a:t>9 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  <a:sym typeface="Wingdings" panose="05000000000000000000" pitchFamily="2" charset="2"/>
                        </a:rPr>
                        <a:t>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</a:rPr>
                        <a:t> t1</a:t>
                      </a:r>
                    </a:p>
                  </a:txBody>
                  <a:tcPr marL="91433" marR="91433" marT="45667" marB="45667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</a:rPr>
                        <a:t>16 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  <a:sym typeface="Wingdings" panose="05000000000000000000" pitchFamily="2" charset="2"/>
                        </a:rPr>
                        <a:t>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</a:rPr>
                        <a:t> s0</a:t>
                      </a:r>
                    </a:p>
                  </a:txBody>
                  <a:tcPr marL="91433" marR="91433" marT="45667" marB="45667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</a:rPr>
                        <a:t>8 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  <a:sym typeface="Wingdings" panose="05000000000000000000" pitchFamily="2" charset="2"/>
                        </a:rPr>
                        <a:t>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itchFamily="18"/>
                          <a:cs typeface="Times New Roman" pitchFamily="18"/>
                        </a:rPr>
                        <a:t> t0</a:t>
                      </a:r>
                    </a:p>
                  </a:txBody>
                  <a:tcPr marL="91433" marR="91433" marT="45667" marB="45667"/>
                </a:tc>
                <a:tc>
                  <a:txBody>
                    <a:bodyPr/>
                    <a:lstStyle/>
                    <a:p>
                      <a:pPr lvl="0" algn="ctr"/>
                      <a:endParaRPr lang="en-US" sz="1800">
                        <a:solidFill>
                          <a:schemeClr val="tx1"/>
                        </a:solidFill>
                        <a:latin typeface="Times New Roman" pitchFamily="18"/>
                        <a:cs typeface="Times New Roman" pitchFamily="18"/>
                      </a:endParaRPr>
                    </a:p>
                  </a:txBody>
                  <a:tcPr marL="91433" marR="91433" marT="45667" marB="45667"/>
                </a:tc>
                <a:tc>
                  <a:txBody>
                    <a:bodyPr/>
                    <a:lstStyle/>
                    <a:p>
                      <a:pPr lvl="0" algn="ctr"/>
                      <a:endParaRPr lang="en-US" sz="1800" dirty="0">
                        <a:solidFill>
                          <a:srgbClr val="00B050"/>
                        </a:solidFill>
                        <a:latin typeface="Times New Roman" pitchFamily="18"/>
                        <a:cs typeface="Times New Roman" pitchFamily="18"/>
                      </a:endParaRPr>
                    </a:p>
                  </a:txBody>
                  <a:tcPr marL="91433" marR="91433" marT="45667" marB="4566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6406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1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24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EF1E0E-0000-E07F-C060-67E339C6B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altLang="en-US" dirty="0" err="1"/>
              <a:t>Chuyển</a:t>
            </a:r>
            <a:r>
              <a:rPr lang="fr-FR" altLang="en-US" dirty="0"/>
              <a:t> </a:t>
            </a:r>
            <a:r>
              <a:rPr lang="fr-FR" altLang="en-US" dirty="0" err="1"/>
              <a:t>mã</a:t>
            </a:r>
            <a:r>
              <a:rPr lang="fr-FR" altLang="en-US" dirty="0"/>
              <a:t> </a:t>
            </a:r>
            <a:r>
              <a:rPr lang="fr-FR" altLang="en-US" dirty="0" err="1"/>
              <a:t>máy</a:t>
            </a:r>
            <a:r>
              <a:rPr lang="fr-FR" altLang="en-US" dirty="0"/>
              <a:t> </a:t>
            </a:r>
            <a:r>
              <a:rPr lang="fr-FR" altLang="en-US" dirty="0" err="1"/>
              <a:t>sau</a:t>
            </a:r>
            <a:r>
              <a:rPr lang="fr-FR" altLang="en-US" dirty="0"/>
              <a:t> sang </a:t>
            </a:r>
            <a:r>
              <a:rPr lang="fr-FR" altLang="en-US" dirty="0" err="1"/>
              <a:t>câu</a:t>
            </a:r>
            <a:r>
              <a:rPr lang="fr-FR" altLang="en-US" dirty="0"/>
              <a:t> </a:t>
            </a:r>
            <a:r>
              <a:rPr lang="fr-FR" altLang="en-US" dirty="0" err="1"/>
              <a:t>lệnh</a:t>
            </a:r>
            <a:r>
              <a:rPr lang="fr-FR" altLang="en-US" dirty="0"/>
              <a:t> </a:t>
            </a:r>
            <a:r>
              <a:rPr lang="fr-FR" altLang="en-US" dirty="0" err="1"/>
              <a:t>assembly</a:t>
            </a:r>
            <a:r>
              <a:rPr lang="fr-FR" altLang="en-US" dirty="0"/>
              <a:t> MIPS:</a:t>
            </a:r>
          </a:p>
          <a:p>
            <a:pPr marL="0" indent="0">
              <a:buNone/>
            </a:pPr>
            <a:endParaRPr lang="fr-FR" altLang="en-US" dirty="0"/>
          </a:p>
          <a:p>
            <a:pPr marL="0" indent="0">
              <a:buNone/>
            </a:pPr>
            <a:r>
              <a:rPr lang="fr-FR" altLang="en-US" dirty="0"/>
              <a:t>	0x2128fff3</a:t>
            </a:r>
          </a:p>
          <a:p>
            <a:pPr marL="0" indent="0">
              <a:buNone/>
            </a:pPr>
            <a:endParaRPr lang="fr-FR" altLang="en-US" dirty="0"/>
          </a:p>
          <a:p>
            <a:pPr marL="0" indent="0">
              <a:buNone/>
            </a:pPr>
            <a:endParaRPr lang="fr-FR" altLang="en-US" dirty="0"/>
          </a:p>
          <a:p>
            <a:pPr marL="0" indent="0">
              <a:buNone/>
            </a:pPr>
            <a:endParaRPr lang="fr-FR" altLang="en-US" dirty="0"/>
          </a:p>
          <a:p>
            <a:pPr marL="0" indent="0">
              <a:buNone/>
            </a:pPr>
            <a:r>
              <a:rPr lang="fr-FR" altLang="en-US" dirty="0"/>
              <a:t>	0xad28fffc</a:t>
            </a:r>
          </a:p>
          <a:p>
            <a:pPr marL="0" indent="0">
              <a:buNone/>
            </a:pPr>
            <a:endParaRPr lang="fr-FR" altLang="en-US" dirty="0" err="1"/>
          </a:p>
        </p:txBody>
      </p:sp>
    </p:spTree>
    <p:extLst>
      <p:ext uri="{BB962C8B-B14F-4D97-AF65-F5344CB8AC3E}">
        <p14:creationId xmlns:p14="http://schemas.microsoft.com/office/powerpoint/2010/main" val="20764966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2138E7-0BF8-4FBE-AB49-4184E532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25</a:t>
            </a:fld>
            <a:endParaRPr lang="en-V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02C380-9011-23F7-8E4B-E195C0DFFB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70928" y="2095027"/>
            <a:ext cx="8526511" cy="884656"/>
          </a:xfrm>
        </p:spPr>
        <p:txBody>
          <a:bodyPr>
            <a:normAutofit fontScale="92500"/>
          </a:bodyPr>
          <a:lstStyle/>
          <a:p>
            <a:r>
              <a:rPr lang="en-US" sz="4400" dirty="0"/>
              <a:t>ÔN TẬP KIẾN TRÚC TẬP LỆNH</a:t>
            </a:r>
            <a:endParaRPr lang="en-V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3EE24F-70E8-C3FA-399B-07DCA2C415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vi-VN" sz="28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04BBE0-C7C7-D804-DD85-D99BEB36007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2CDC7B-AFE9-6C1F-2CD6-AA61695C23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r>
              <a:rPr lang="en-VN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297138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ÔN TẬP KIẾN TRÚC TẬP LỆNH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26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734DA11-0BBF-F4EC-58E9-B4EF9A51D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dirty="0"/>
              <a:t>Thực thi chương trình</a:t>
            </a:r>
          </a:p>
          <a:p>
            <a:endParaRPr lang="vi-VN" dirty="0"/>
          </a:p>
          <a:p>
            <a:r>
              <a:rPr lang="vi-VN" dirty="0"/>
              <a:t>Chuyển từ C sang MIPS</a:t>
            </a:r>
          </a:p>
          <a:p>
            <a:endParaRPr lang="vi-VN" dirty="0"/>
          </a:p>
          <a:p>
            <a:r>
              <a:rPr lang="vi-VN" dirty="0"/>
              <a:t>Chuyển từ MIPS sang C</a:t>
            </a:r>
          </a:p>
          <a:p>
            <a:endParaRPr lang="vi-VN" dirty="0"/>
          </a:p>
          <a:p>
            <a:r>
              <a:rPr lang="vi-VN" dirty="0"/>
              <a:t>Chuyển từ MIPS sang mã máy</a:t>
            </a:r>
          </a:p>
          <a:p>
            <a:endParaRPr lang="vi-VN" dirty="0"/>
          </a:p>
          <a:p>
            <a:r>
              <a:rPr lang="vi-VN" dirty="0"/>
              <a:t>Chuyển từ mã máy sang MIPS</a:t>
            </a:r>
          </a:p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5830481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Thực thi chương trình (tt)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27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734DA11-0BBF-F4EC-58E9-B4EF9A51D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$v0 </a:t>
            </a:r>
            <a:r>
              <a:rPr lang="en-US" dirty="0" err="1"/>
              <a:t>và</a:t>
            </a:r>
            <a:r>
              <a:rPr lang="en-US" dirty="0"/>
              <a:t> $v1 </a:t>
            </a:r>
            <a:r>
              <a:rPr lang="en-US" dirty="0" err="1"/>
              <a:t>là</a:t>
            </a:r>
            <a:r>
              <a:rPr lang="en-US" dirty="0"/>
              <a:t> bao </a:t>
            </a:r>
            <a:r>
              <a:rPr lang="en-US" dirty="0" err="1"/>
              <a:t>nhiêu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dưới</a:t>
            </a:r>
            <a:endParaRPr lang="en-US" dirty="0"/>
          </a:p>
          <a:p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0E561-4928-98A6-A7A4-72DDA3205158}"/>
              </a:ext>
            </a:extLst>
          </p:cNvPr>
          <p:cNvSpPr txBox="1">
            <a:spLocks/>
          </p:cNvSpPr>
          <p:nvPr/>
        </p:nvSpPr>
        <p:spPr bwMode="auto">
          <a:xfrm>
            <a:off x="1142797" y="2275814"/>
            <a:ext cx="4347796" cy="3000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n"/>
              <a:defRPr kumimoji="1" sz="2600" baseline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p"/>
              <a:defRPr kumimoji="1" sz="2400" baseline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n"/>
              <a:defRPr kumimoji="1" sz="2200" baseline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p"/>
              <a:defRPr kumimoji="1" sz="2000" baseline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n"/>
              <a:defRPr kumimoji="1" sz="1800" baseline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it-IT" kern="0" dirty="0">
                <a:latin typeface="Courier New" panose="02070309020205020404" pitchFamily="49" charset="0"/>
                <a:cs typeface="Courier New" panose="02070309020205020404" pitchFamily="49" charset="0"/>
              </a:rPr>
              <a:t>lui  $t0, 0x5678</a:t>
            </a:r>
          </a:p>
          <a:p>
            <a:pPr marL="0" indent="0">
              <a:buFont typeface="Wingdings" pitchFamily="2" charset="2"/>
              <a:buNone/>
            </a:pPr>
            <a:r>
              <a:rPr lang="it-IT" kern="0" dirty="0">
                <a:latin typeface="Courier New" panose="02070309020205020404" pitchFamily="49" charset="0"/>
                <a:cs typeface="Courier New" panose="02070309020205020404" pitchFamily="49" charset="0"/>
              </a:rPr>
              <a:t>addi $t1, $0, 0x4321</a:t>
            </a:r>
          </a:p>
          <a:p>
            <a:pPr marL="0" indent="0">
              <a:buFont typeface="Wingdings" pitchFamily="2" charset="2"/>
              <a:buNone/>
            </a:pPr>
            <a:r>
              <a:rPr lang="it-IT" kern="0" dirty="0">
                <a:latin typeface="Courier New" panose="02070309020205020404" pitchFamily="49" charset="0"/>
                <a:cs typeface="Courier New" panose="02070309020205020404" pitchFamily="49" charset="0"/>
              </a:rPr>
              <a:t>or   $a0, $t0, $t1</a:t>
            </a:r>
          </a:p>
          <a:p>
            <a:pPr marL="0" indent="0">
              <a:buFont typeface="Wingdings" pitchFamily="2" charset="2"/>
              <a:buNone/>
            </a:pPr>
            <a:r>
              <a:rPr lang="it-IT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nor</a:t>
            </a:r>
            <a:r>
              <a:rPr lang="it-IT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$a1, $a0, $0</a:t>
            </a:r>
          </a:p>
          <a:p>
            <a:pPr marL="0" indent="0">
              <a:buFont typeface="Wingdings" pitchFamily="2" charset="2"/>
              <a:buNone/>
            </a:pPr>
            <a:r>
              <a:rPr lang="it-IT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slt</a:t>
            </a:r>
            <a:r>
              <a:rPr lang="it-IT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$v0, $t0, $a0</a:t>
            </a:r>
          </a:p>
          <a:p>
            <a:pPr marL="0" indent="0">
              <a:buFont typeface="Wingdings" pitchFamily="2" charset="2"/>
              <a:buNone/>
            </a:pPr>
            <a:r>
              <a:rPr lang="it-IT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sltu</a:t>
            </a:r>
            <a:r>
              <a:rPr lang="it-IT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$v1, $t1, $a1</a:t>
            </a:r>
          </a:p>
        </p:txBody>
      </p:sp>
    </p:spTree>
    <p:extLst>
      <p:ext uri="{BB962C8B-B14F-4D97-AF65-F5344CB8AC3E}">
        <p14:creationId xmlns:p14="http://schemas.microsoft.com/office/powerpoint/2010/main" val="7344391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Thực thi chương trình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28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734DA11-0BBF-F4EC-58E9-B4EF9A51D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$v0 </a:t>
            </a:r>
            <a:r>
              <a:rPr lang="en-US" dirty="0" err="1"/>
              <a:t>và</a:t>
            </a:r>
            <a:r>
              <a:rPr lang="en-US" dirty="0"/>
              <a:t> $v1 </a:t>
            </a:r>
            <a:r>
              <a:rPr lang="en-US" dirty="0" err="1"/>
              <a:t>là</a:t>
            </a:r>
            <a:r>
              <a:rPr lang="en-US" dirty="0"/>
              <a:t> bao </a:t>
            </a:r>
            <a:r>
              <a:rPr lang="en-US" dirty="0" err="1"/>
              <a:t>nhiêu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dưới</a:t>
            </a:r>
            <a:endParaRPr lang="en-US" dirty="0"/>
          </a:p>
          <a:p>
            <a:endParaRPr lang="en-V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A5AD2A4-FE45-5461-BDA0-415689465EEA}"/>
              </a:ext>
            </a:extLst>
          </p:cNvPr>
          <p:cNvSpPr txBox="1">
            <a:spLocks/>
          </p:cNvSpPr>
          <p:nvPr/>
        </p:nvSpPr>
        <p:spPr bwMode="auto">
          <a:xfrm>
            <a:off x="1142797" y="2306139"/>
            <a:ext cx="5490796" cy="3727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n"/>
              <a:defRPr kumimoji="1" sz="2600" baseline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p"/>
              <a:defRPr kumimoji="1" sz="2400" baseline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n"/>
              <a:defRPr kumimoji="1" sz="2200" baseline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p"/>
              <a:defRPr kumimoji="1" sz="2000" baseline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n"/>
              <a:defRPr kumimoji="1" sz="1800" baseline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it-IT" kern="0" dirty="0">
                <a:latin typeface="Courier New" panose="02070309020205020404" pitchFamily="49" charset="0"/>
                <a:cs typeface="Courier New" panose="02070309020205020404" pitchFamily="49" charset="0"/>
              </a:rPr>
              <a:t>addi $a0, $0, 0x1234</a:t>
            </a:r>
          </a:p>
          <a:p>
            <a:pPr marL="0" indent="0">
              <a:buNone/>
            </a:pPr>
            <a:r>
              <a:rPr lang="it-IT" kern="0" dirty="0">
                <a:latin typeface="Courier New" panose="02070309020205020404" pitchFamily="49" charset="0"/>
                <a:cs typeface="Courier New" panose="02070309020205020404" pitchFamily="49" charset="0"/>
              </a:rPr>
              <a:t>addi $a1, $0, 0xCAFE</a:t>
            </a:r>
          </a:p>
          <a:p>
            <a:pPr marL="0" indent="0">
              <a:buFont typeface="Wingdings" pitchFamily="2" charset="2"/>
              <a:buNone/>
            </a:pPr>
            <a:r>
              <a:rPr lang="it-IT" kern="0" dirty="0">
                <a:latin typeface="Courier New" panose="02070309020205020404" pitchFamily="49" charset="0"/>
                <a:cs typeface="Courier New" panose="02070309020205020404" pitchFamily="49" charset="0"/>
              </a:rPr>
              <a:t>addi $t1, $0, 0x432C</a:t>
            </a:r>
          </a:p>
          <a:p>
            <a:pPr marL="0" indent="0">
              <a:buFont typeface="Wingdings" pitchFamily="2" charset="2"/>
              <a:buNone/>
            </a:pPr>
            <a:r>
              <a:rPr lang="it-IT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it-IT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$a0, 0($t1)</a:t>
            </a:r>
          </a:p>
          <a:p>
            <a:pPr marL="0" indent="0">
              <a:buFont typeface="Wingdings" pitchFamily="2" charset="2"/>
              <a:buNone/>
            </a:pPr>
            <a:r>
              <a:rPr lang="it-IT" kern="0" dirty="0">
                <a:latin typeface="Courier New" panose="02070309020205020404" pitchFamily="49" charset="0"/>
                <a:cs typeface="Courier New" panose="02070309020205020404" pitchFamily="49" charset="0"/>
              </a:rPr>
              <a:t>addi $t1, $t1, 4</a:t>
            </a:r>
          </a:p>
          <a:p>
            <a:pPr marL="0" indent="0">
              <a:buNone/>
            </a:pPr>
            <a:r>
              <a:rPr lang="it-IT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it-IT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$a1, 4($t1)</a:t>
            </a:r>
          </a:p>
          <a:p>
            <a:pPr marL="0" indent="0">
              <a:buNone/>
            </a:pPr>
            <a:r>
              <a:rPr lang="it-IT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it-IT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$v0, -8($t1)</a:t>
            </a:r>
          </a:p>
          <a:p>
            <a:pPr marL="0" indent="0">
              <a:buNone/>
            </a:pPr>
            <a:r>
              <a:rPr lang="it-IT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it-IT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$v1, 0($t1)</a:t>
            </a:r>
          </a:p>
        </p:txBody>
      </p:sp>
    </p:spTree>
    <p:extLst>
      <p:ext uri="{BB962C8B-B14F-4D97-AF65-F5344CB8AC3E}">
        <p14:creationId xmlns:p14="http://schemas.microsoft.com/office/powerpoint/2010/main" val="22413961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8E6DC-1005-75E0-236F-72F29DCB3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/>
              <a:t>Chuyển từ C sang MIPS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8AC2D-AAE9-45C3-B16C-4BD30E1C0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Cho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C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.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rằng</a:t>
            </a:r>
            <a:r>
              <a:rPr lang="en-US" dirty="0"/>
              <a:t> f, </a:t>
            </a:r>
            <a:r>
              <a:rPr lang="en-US" i="1" dirty="0"/>
              <a:t>g, h, </a:t>
            </a:r>
            <a:r>
              <a:rPr lang="en-US" i="1" dirty="0" err="1"/>
              <a:t>i</a:t>
            </a:r>
            <a:r>
              <a:rPr lang="en-US" i="1" dirty="0"/>
              <a:t>, j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32-bit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$s0 </a:t>
            </a:r>
            <a:r>
              <a:rPr lang="en-US" dirty="0" err="1"/>
              <a:t>đến</a:t>
            </a:r>
            <a:r>
              <a:rPr lang="en-US" dirty="0"/>
              <a:t> $s5, </a:t>
            </a:r>
            <a:r>
              <a:rPr lang="en-US" dirty="0" err="1"/>
              <a:t>t</a:t>
            </a:r>
            <a:r>
              <a:rPr lang="en-US" sz="2800" dirty="0" err="1"/>
              <a:t>ìm</a:t>
            </a:r>
            <a:r>
              <a:rPr lang="en-US" sz="2800" dirty="0"/>
              <a:t> </a:t>
            </a:r>
            <a:r>
              <a:rPr lang="en-US" sz="2800" dirty="0" err="1"/>
              <a:t>mã</a:t>
            </a:r>
            <a:r>
              <a:rPr lang="en-US" sz="2800" dirty="0"/>
              <a:t> </a:t>
            </a:r>
            <a:r>
              <a:rPr lang="en-US" sz="2800" dirty="0" err="1"/>
              <a:t>hợp</a:t>
            </a:r>
            <a:r>
              <a:rPr lang="en-US" sz="2800" dirty="0"/>
              <a:t> </a:t>
            </a:r>
            <a:r>
              <a:rPr lang="en-US" sz="2800" dirty="0" err="1"/>
              <a:t>ngữ</a:t>
            </a:r>
            <a:r>
              <a:rPr lang="en-US" sz="2800" dirty="0"/>
              <a:t> MIPS </a:t>
            </a:r>
            <a:r>
              <a:rPr lang="en-US" sz="2800" dirty="0" err="1"/>
              <a:t>tương</a:t>
            </a:r>
            <a:r>
              <a:rPr lang="en-US" sz="2800" dirty="0"/>
              <a:t> </a:t>
            </a:r>
            <a:r>
              <a:rPr lang="en-US" sz="2800" dirty="0" err="1"/>
              <a:t>đương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chương</a:t>
            </a:r>
            <a:r>
              <a:rPr lang="en-US" sz="2800" dirty="0"/>
              <a:t> </a:t>
            </a:r>
            <a:r>
              <a:rPr lang="en-US" sz="2800" dirty="0" err="1"/>
              <a:t>trình</a:t>
            </a:r>
            <a:r>
              <a:rPr lang="en-US" sz="2800" dirty="0"/>
              <a:t>.</a:t>
            </a:r>
          </a:p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i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ctr" eaLnBrk="1" hangingPunct="1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Tx/>
              <a:buNone/>
            </a:pPr>
            <a:r>
              <a:rPr lang="pt-BR" altLang="en-US" i="1" dirty="0"/>
              <a:t>f</a:t>
            </a:r>
            <a:r>
              <a:rPr lang="pt-BR" altLang="en-US" sz="2800" i="1"/>
              <a:t> </a:t>
            </a:r>
            <a:r>
              <a:rPr lang="pt-BR" altLang="en-US" sz="2800" i="1" dirty="0"/>
              <a:t>= </a:t>
            </a:r>
            <a:r>
              <a:rPr lang="pt-BR" altLang="en-US" sz="2800" i="1" dirty="0" err="1"/>
              <a:t>g</a:t>
            </a:r>
            <a:r>
              <a:rPr lang="pt-BR" altLang="en-US" sz="2800" i="1" dirty="0"/>
              <a:t> + (</a:t>
            </a:r>
            <a:r>
              <a:rPr lang="pt-BR" altLang="en-US" sz="2800" i="1" dirty="0" err="1"/>
              <a:t>h</a:t>
            </a:r>
            <a:r>
              <a:rPr lang="pt-BR" altLang="en-US" sz="2800" i="1" dirty="0"/>
              <a:t> + 5)</a:t>
            </a:r>
          </a:p>
          <a:p>
            <a:pPr marL="0" indent="0" algn="ctr" eaLnBrk="1" hangingPunct="1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Tx/>
              <a:buNone/>
            </a:pPr>
            <a:endParaRPr lang="pt-BR" altLang="en-US" sz="2800" i="1" dirty="0"/>
          </a:p>
          <a:p>
            <a:pPr marL="0" indent="0" algn="ctr" eaLnBrk="1" hangingPunct="1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Tx/>
              <a:buNone/>
            </a:pPr>
            <a:endParaRPr lang="pt-BR" altLang="en-US" i="1" dirty="0"/>
          </a:p>
          <a:p>
            <a:pPr marL="0" indent="0" algn="ctr" eaLnBrk="1" hangingPunct="1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Tx/>
              <a:buNone/>
            </a:pPr>
            <a:r>
              <a:rPr lang="pt-BR" altLang="en-US" sz="2800" i="1" dirty="0" err="1"/>
              <a:t>f</a:t>
            </a:r>
            <a:r>
              <a:rPr lang="pt-BR" altLang="en-US" sz="2800" i="1" dirty="0"/>
              <a:t> = </a:t>
            </a:r>
            <a:r>
              <a:rPr lang="pt-BR" altLang="en-US" sz="2800" i="1" dirty="0" err="1"/>
              <a:t>g</a:t>
            </a:r>
            <a:r>
              <a:rPr lang="pt-BR" altLang="en-US" sz="2800" i="1" dirty="0"/>
              <a:t> + </a:t>
            </a:r>
            <a:r>
              <a:rPr lang="pt-BR" altLang="en-US" sz="2800" i="1" dirty="0" err="1"/>
              <a:t>h</a:t>
            </a:r>
            <a:r>
              <a:rPr lang="pt-BR" altLang="en-US" sz="2800" i="1" dirty="0"/>
              <a:t> + </a:t>
            </a:r>
            <a:r>
              <a:rPr lang="pt-BR" altLang="en-US" sz="2800" i="1" dirty="0" err="1"/>
              <a:t>B</a:t>
            </a:r>
            <a:r>
              <a:rPr lang="pt-BR" altLang="en-US" sz="2800" i="1" dirty="0"/>
              <a:t>[4]</a:t>
            </a:r>
            <a:r>
              <a:rPr lang="en-US" altLang="en-US" sz="2800" i="1" dirty="0"/>
              <a:t>;</a:t>
            </a:r>
          </a:p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C0EBE-ACC8-4C78-CBEF-AACCA6D46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46AB2-8028-B179-1A85-FBC781167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29</a:t>
            </a:fld>
            <a:endParaRPr lang="en-V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E1A5603-7DB0-7ACA-69BA-15B206FFC3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6CDDB1B-AAE9-1649-A755-11FADEB7E97E}" type="datetime4">
              <a:rPr lang="en-US" smtClean="0"/>
              <a:pPr/>
              <a:t>June 27, 2023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6543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8E6DC-1005-75E0-236F-72F29DCB3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/>
              <a:t>Chuyển từ C sang MIPS (tt)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8AC2D-AAE9-45C3-B16C-4BD30E1C0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dirty="0"/>
              <a:t>Cho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C: </a:t>
            </a:r>
            <a:r>
              <a:rPr lang="pt-BR" altLang="en-US" sz="2800" i="1" dirty="0" err="1"/>
              <a:t>f</a:t>
            </a:r>
            <a:r>
              <a:rPr lang="pt-BR" altLang="en-US" sz="2800" i="1" dirty="0"/>
              <a:t> = A[</a:t>
            </a:r>
            <a:r>
              <a:rPr lang="pt-BR" altLang="en-US" sz="2800" i="1" dirty="0" err="1">
                <a:solidFill>
                  <a:srgbClr val="FF0000"/>
                </a:solidFill>
              </a:rPr>
              <a:t>i</a:t>
            </a:r>
            <a:r>
              <a:rPr lang="pt-BR" altLang="en-US" sz="2800" i="1" dirty="0"/>
              <a:t>]</a:t>
            </a:r>
            <a:r>
              <a:rPr lang="en-US" altLang="en-US" sz="2800" i="1" dirty="0"/>
              <a:t>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400" i="1" dirty="0">
              <a:latin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/>
              <a:t>Tìm</a:t>
            </a:r>
            <a:r>
              <a:rPr lang="en-US" sz="2800" dirty="0"/>
              <a:t> </a:t>
            </a:r>
            <a:r>
              <a:rPr lang="en-US" sz="2800" dirty="0" err="1"/>
              <a:t>mã</a:t>
            </a:r>
            <a:r>
              <a:rPr lang="en-US" sz="2800" dirty="0"/>
              <a:t> MIPS </a:t>
            </a:r>
            <a:r>
              <a:rPr lang="en-US" sz="2800" dirty="0" err="1"/>
              <a:t>tương</a:t>
            </a:r>
            <a:r>
              <a:rPr lang="en-US" sz="2800" dirty="0"/>
              <a:t> </a:t>
            </a:r>
            <a:r>
              <a:rPr lang="en-US" sz="2800" dirty="0" err="1"/>
              <a:t>đương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chương</a:t>
            </a:r>
            <a:r>
              <a:rPr lang="en-US" sz="2800" dirty="0"/>
              <a:t> </a:t>
            </a:r>
            <a:r>
              <a:rPr lang="en-US" sz="2800" dirty="0" err="1"/>
              <a:t>trình</a:t>
            </a:r>
            <a:r>
              <a:rPr lang="en-US" sz="2800" dirty="0"/>
              <a:t> </a:t>
            </a:r>
            <a:r>
              <a:rPr lang="en-US" sz="2800" dirty="0" err="1"/>
              <a:t>nếu</a:t>
            </a:r>
            <a:r>
              <a:rPr lang="en-US" sz="2800" dirty="0"/>
              <a:t> </a:t>
            </a:r>
            <a:r>
              <a:rPr lang="en-US" sz="2800" dirty="0" err="1"/>
              <a:t>địa</a:t>
            </a:r>
            <a:r>
              <a:rPr lang="en-US" sz="2800" dirty="0"/>
              <a:t> </a:t>
            </a:r>
            <a:r>
              <a:rPr lang="en-US" sz="2800" dirty="0" err="1"/>
              <a:t>chỉ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mảng</a:t>
            </a:r>
            <a:r>
              <a:rPr lang="en-US" sz="2800" dirty="0"/>
              <a:t> A </a:t>
            </a:r>
            <a:r>
              <a:rPr lang="en-US" sz="2800" dirty="0" err="1"/>
              <a:t>nằm</a:t>
            </a:r>
            <a:r>
              <a:rPr lang="en-US" sz="2800" dirty="0"/>
              <a:t> </a:t>
            </a:r>
            <a:r>
              <a:rPr lang="en-US" sz="2800" dirty="0" err="1"/>
              <a:t>trong</a:t>
            </a:r>
            <a:r>
              <a:rPr lang="en-US" sz="2800" dirty="0"/>
              <a:t> </a:t>
            </a:r>
            <a:r>
              <a:rPr lang="en-US" sz="2800" dirty="0" err="1"/>
              <a:t>thanh</a:t>
            </a:r>
            <a:r>
              <a:rPr lang="en-US" sz="2800" dirty="0"/>
              <a:t> </a:t>
            </a:r>
            <a:r>
              <a:rPr lang="en-US" sz="2800" dirty="0" err="1"/>
              <a:t>ghi</a:t>
            </a:r>
            <a:r>
              <a:rPr lang="en-US" sz="2800" dirty="0"/>
              <a:t> $s6. </a:t>
            </a:r>
            <a:r>
              <a:rPr lang="en-US" sz="2800" dirty="0" err="1"/>
              <a:t>Biến</a:t>
            </a:r>
            <a:r>
              <a:rPr lang="en-US" sz="2800" dirty="0"/>
              <a:t> f </a:t>
            </a:r>
            <a:r>
              <a:rPr lang="en-US" sz="2800" dirty="0" err="1"/>
              <a:t>là</a:t>
            </a:r>
            <a:r>
              <a:rPr lang="en-US" sz="2800" dirty="0"/>
              <a:t> </a:t>
            </a:r>
            <a:r>
              <a:rPr lang="en-US" sz="2800" dirty="0" err="1"/>
              <a:t>biến</a:t>
            </a:r>
            <a:r>
              <a:rPr lang="en-US" sz="2800" dirty="0"/>
              <a:t> </a:t>
            </a:r>
            <a:r>
              <a:rPr lang="en-US" sz="2800" dirty="0" err="1"/>
              <a:t>nguyên</a:t>
            </a:r>
            <a:r>
              <a:rPr lang="en-US" sz="2800" dirty="0"/>
              <a:t> 32-bit </a:t>
            </a:r>
            <a:r>
              <a:rPr lang="en-US" sz="2800" dirty="0" err="1"/>
              <a:t>tương</a:t>
            </a:r>
            <a:r>
              <a:rPr lang="en-US" sz="2800" dirty="0"/>
              <a:t> </a:t>
            </a:r>
            <a:r>
              <a:rPr lang="en-US" sz="2800" dirty="0" err="1"/>
              <a:t>ứng</a:t>
            </a:r>
            <a:r>
              <a:rPr lang="en-US" sz="2800" dirty="0"/>
              <a:t> </a:t>
            </a:r>
            <a:r>
              <a:rPr lang="en-US" sz="2800" dirty="0" err="1"/>
              <a:t>với</a:t>
            </a:r>
            <a:r>
              <a:rPr lang="en-US" sz="2800" dirty="0"/>
              <a:t> </a:t>
            </a:r>
            <a:r>
              <a:rPr lang="en-US" sz="2800" dirty="0" err="1"/>
              <a:t>thanh</a:t>
            </a:r>
            <a:r>
              <a:rPr lang="en-US" sz="2800" dirty="0"/>
              <a:t> </a:t>
            </a:r>
            <a:r>
              <a:rPr lang="en-US" sz="2800" dirty="0" err="1"/>
              <a:t>ghi</a:t>
            </a:r>
            <a:r>
              <a:rPr lang="en-US" sz="2800" dirty="0"/>
              <a:t> $s0.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C0EBE-ACC8-4C78-CBEF-AACCA6D46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46AB2-8028-B179-1A85-FBC781167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30</a:t>
            </a:fld>
            <a:endParaRPr lang="en-V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E1A5603-7DB0-7ACA-69BA-15B206FFC3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6CDDB1B-AAE9-1649-A755-11FADEB7E97E}" type="datetime4">
              <a:rPr lang="en-US" smtClean="0"/>
              <a:pPr/>
              <a:t>June 27, 2023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FCD478-7BE5-CBEE-7C54-65FE9FC82565}"/>
              </a:ext>
            </a:extLst>
          </p:cNvPr>
          <p:cNvSpPr txBox="1"/>
          <p:nvPr/>
        </p:nvSpPr>
        <p:spPr>
          <a:xfrm>
            <a:off x="1256419" y="3192723"/>
            <a:ext cx="10639062" cy="3770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Tx/>
            </a:pP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Biên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spcBef>
                <a:spcPts val="500"/>
              </a:spcBef>
              <a:spcAft>
                <a:spcPts val="1000"/>
              </a:spcAft>
            </a:pPr>
            <a:r>
              <a:rPr lang="en-US" altLang="en-US" sz="2800" b="1" i="1" dirty="0" err="1"/>
              <a:t>lw</a:t>
            </a:r>
            <a:r>
              <a:rPr lang="en-US" altLang="en-US" sz="2800" i="1" dirty="0"/>
              <a:t>  $s0, </a:t>
            </a:r>
            <a:r>
              <a:rPr lang="en-US" altLang="en-US" sz="2800" b="1" i="1" dirty="0">
                <a:solidFill>
                  <a:srgbClr val="FF0000"/>
                </a:solidFill>
              </a:rPr>
              <a:t>$s3*4</a:t>
            </a:r>
            <a:r>
              <a:rPr lang="en-US" altLang="en-US" sz="2800" i="1" dirty="0"/>
              <a:t>($s6)	# $s0 </a:t>
            </a:r>
            <a:r>
              <a:rPr lang="en-US" altLang="en-US" sz="2800" i="1" dirty="0" err="1"/>
              <a:t>nhận</a:t>
            </a:r>
            <a:r>
              <a:rPr lang="en-US" altLang="en-US" sz="2800" i="1" dirty="0"/>
              <a:t> A[</a:t>
            </a:r>
            <a:r>
              <a:rPr lang="en-US" altLang="en-US" sz="2800" i="1" dirty="0" err="1"/>
              <a:t>i</a:t>
            </a:r>
            <a:r>
              <a:rPr lang="en-US" altLang="en-US" sz="2800" i="1" dirty="0"/>
              <a:t>] $t0 = M [$s6+$s3*4]</a:t>
            </a:r>
          </a:p>
          <a:p>
            <a:pPr>
              <a:spcBef>
                <a:spcPts val="500"/>
              </a:spcBef>
              <a:spcAft>
                <a:spcPts val="1000"/>
              </a:spcAft>
            </a:pPr>
            <a:r>
              <a:rPr lang="pt-BR" altLang="en-US" sz="2800" b="1" i="1" dirty="0" err="1">
                <a:solidFill>
                  <a:srgbClr val="FF0000"/>
                </a:solidFill>
              </a:rPr>
              <a:t>sll</a:t>
            </a:r>
            <a:r>
              <a:rPr lang="pt-BR" altLang="en-US" sz="2800" b="1" i="1" dirty="0">
                <a:solidFill>
                  <a:srgbClr val="FF0000"/>
                </a:solidFill>
              </a:rPr>
              <a:t> </a:t>
            </a:r>
            <a:r>
              <a:rPr lang="pt-BR" altLang="en-US" sz="2800" i="1" dirty="0">
                <a:solidFill>
                  <a:srgbClr val="FF0000"/>
                </a:solidFill>
              </a:rPr>
              <a:t>$t1, $s3, 2</a:t>
            </a:r>
            <a:r>
              <a:rPr lang="pt-BR" altLang="en-US" sz="2800" i="1" dirty="0"/>
              <a:t>		# $t1 = $s3*4</a:t>
            </a:r>
          </a:p>
          <a:p>
            <a:pPr>
              <a:spcBef>
                <a:spcPts val="500"/>
              </a:spcBef>
              <a:spcAft>
                <a:spcPts val="1000"/>
              </a:spcAft>
            </a:pPr>
            <a:r>
              <a:rPr lang="en-US" altLang="en-US" sz="2800" b="1" i="1" dirty="0" err="1"/>
              <a:t>lw</a:t>
            </a:r>
            <a:r>
              <a:rPr lang="en-US" altLang="en-US" sz="2800" i="1" dirty="0"/>
              <a:t>  $s0, </a:t>
            </a:r>
            <a:r>
              <a:rPr lang="en-US" altLang="en-US" sz="2800" b="1" i="1" dirty="0">
                <a:solidFill>
                  <a:srgbClr val="FF0000"/>
                </a:solidFill>
              </a:rPr>
              <a:t>$t1</a:t>
            </a:r>
            <a:r>
              <a:rPr lang="en-US" altLang="en-US" sz="2800" i="1" dirty="0"/>
              <a:t>($s6) </a:t>
            </a:r>
            <a:r>
              <a:rPr lang="pt-BR" altLang="en-US" sz="2800" i="1" dirty="0"/>
              <a:t>	# </a:t>
            </a:r>
            <a:r>
              <a:rPr lang="en-US" altLang="en-US" sz="2800" i="1" dirty="0"/>
              <a:t>$s0 </a:t>
            </a:r>
            <a:r>
              <a:rPr lang="en-US" altLang="en-US" sz="2800" i="1" dirty="0" err="1"/>
              <a:t>nhận</a:t>
            </a:r>
            <a:r>
              <a:rPr lang="en-US" altLang="en-US" sz="2800" i="1" dirty="0"/>
              <a:t> A[</a:t>
            </a:r>
            <a:r>
              <a:rPr lang="en-US" altLang="en-US" sz="2800" i="1" dirty="0" err="1"/>
              <a:t>i</a:t>
            </a:r>
            <a:r>
              <a:rPr lang="en-US" altLang="en-US" sz="2800" i="1" dirty="0"/>
              <a:t>] $s0 = M [$s6+$s3*4]</a:t>
            </a:r>
          </a:p>
          <a:p>
            <a:pPr>
              <a:spcBef>
                <a:spcPct val="0"/>
              </a:spcBef>
            </a:pPr>
            <a:r>
              <a:rPr lang="pt-BR" altLang="en-US" sz="2800" b="1" i="1" dirty="0" err="1">
                <a:solidFill>
                  <a:srgbClr val="FF0000"/>
                </a:solidFill>
              </a:rPr>
              <a:t>sll</a:t>
            </a:r>
            <a:r>
              <a:rPr lang="pt-BR" altLang="en-US" sz="2800" b="1" i="1" dirty="0">
                <a:solidFill>
                  <a:srgbClr val="FF0000"/>
                </a:solidFill>
              </a:rPr>
              <a:t> </a:t>
            </a:r>
            <a:r>
              <a:rPr lang="pt-BR" altLang="en-US" sz="2800" i="1" dirty="0">
                <a:solidFill>
                  <a:srgbClr val="FF0000"/>
                </a:solidFill>
              </a:rPr>
              <a:t>$t1, $s3, 2</a:t>
            </a:r>
            <a:r>
              <a:rPr lang="pt-BR" altLang="en-US" sz="2800" i="1" dirty="0"/>
              <a:t>		# $t1 = $s3*4</a:t>
            </a:r>
          </a:p>
          <a:p>
            <a:pPr>
              <a:spcBef>
                <a:spcPct val="0"/>
              </a:spcBef>
            </a:pPr>
            <a:r>
              <a:rPr lang="pt-BR" altLang="en-US" sz="2800" b="1" i="1" dirty="0" err="1">
                <a:solidFill>
                  <a:srgbClr val="FF0000"/>
                </a:solidFill>
              </a:rPr>
              <a:t>add</a:t>
            </a:r>
            <a:r>
              <a:rPr lang="pt-BR" altLang="en-US" sz="2800" b="1" i="1" dirty="0">
                <a:solidFill>
                  <a:srgbClr val="FF0000"/>
                </a:solidFill>
              </a:rPr>
              <a:t>  </a:t>
            </a:r>
            <a:r>
              <a:rPr lang="pt-BR" altLang="en-US" sz="2800" i="1" dirty="0">
                <a:solidFill>
                  <a:srgbClr val="FF0000"/>
                </a:solidFill>
              </a:rPr>
              <a:t>$t2,$s6,$t1</a:t>
            </a:r>
            <a:r>
              <a:rPr lang="pt-BR" altLang="en-US" sz="2800" i="1" dirty="0"/>
              <a:t>	# $t2 = </a:t>
            </a:r>
            <a:r>
              <a:rPr lang="en-US" altLang="en-US" sz="2800" i="1" dirty="0"/>
              <a:t>$s6+$s3*4</a:t>
            </a:r>
          </a:p>
          <a:p>
            <a:pPr>
              <a:spcBef>
                <a:spcPct val="0"/>
              </a:spcBef>
            </a:pPr>
            <a:r>
              <a:rPr lang="en-US" altLang="en-US" sz="2800" b="1" i="1" dirty="0" err="1"/>
              <a:t>lw</a:t>
            </a:r>
            <a:r>
              <a:rPr lang="en-US" altLang="en-US" sz="2800" i="1" dirty="0"/>
              <a:t>  $s0, </a:t>
            </a:r>
            <a:r>
              <a:rPr lang="en-US" altLang="en-US" sz="2800" b="1" i="1" dirty="0">
                <a:solidFill>
                  <a:srgbClr val="FF0000"/>
                </a:solidFill>
              </a:rPr>
              <a:t>0</a:t>
            </a:r>
            <a:r>
              <a:rPr lang="en-US" altLang="en-US" sz="2800" i="1" dirty="0"/>
              <a:t>(</a:t>
            </a:r>
            <a:r>
              <a:rPr lang="en-US" altLang="en-US" sz="2800" i="1" dirty="0">
                <a:solidFill>
                  <a:srgbClr val="FF0000"/>
                </a:solidFill>
              </a:rPr>
              <a:t>$t2</a:t>
            </a:r>
            <a:r>
              <a:rPr lang="en-US" altLang="en-US" sz="2800" i="1" dirty="0"/>
              <a:t>) </a:t>
            </a:r>
            <a:r>
              <a:rPr lang="pt-BR" altLang="en-US" sz="2800" i="1" dirty="0"/>
              <a:t>	# </a:t>
            </a:r>
            <a:r>
              <a:rPr lang="en-US" altLang="en-US" sz="2800" i="1" dirty="0"/>
              <a:t>$s0 </a:t>
            </a:r>
            <a:r>
              <a:rPr lang="en-US" altLang="en-US" sz="2800" i="1" dirty="0" err="1"/>
              <a:t>nhận</a:t>
            </a:r>
            <a:r>
              <a:rPr lang="en-US" altLang="en-US" sz="2800" i="1" dirty="0"/>
              <a:t> A[</a:t>
            </a:r>
            <a:r>
              <a:rPr lang="en-US" altLang="en-US" sz="2800" i="1" dirty="0" err="1"/>
              <a:t>i</a:t>
            </a:r>
            <a:r>
              <a:rPr lang="en-US" altLang="en-US" sz="2800" i="1" dirty="0"/>
              <a:t>] $s0 = M [0 + t2] = M [0 + $s6+$s3*4]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534581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8E6DC-1005-75E0-236F-72F29DCB3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/>
              <a:t>Chuyển từ C sang MIPS (tt)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8AC2D-AAE9-45C3-B16C-4BD30E1C0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Cho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C: </a:t>
            </a:r>
            <a:r>
              <a:rPr lang="en-US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 = g – A[B[4]];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400" i="1" dirty="0">
              <a:latin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/>
              <a:t>Tìm</a:t>
            </a:r>
            <a:r>
              <a:rPr lang="en-US" sz="2800" dirty="0"/>
              <a:t> </a:t>
            </a:r>
            <a:r>
              <a:rPr lang="en-US" sz="2800" dirty="0" err="1"/>
              <a:t>mã</a:t>
            </a:r>
            <a:r>
              <a:rPr lang="en-US" sz="2800" dirty="0"/>
              <a:t> MIPS </a:t>
            </a:r>
            <a:r>
              <a:rPr lang="en-US" sz="2800" dirty="0" err="1"/>
              <a:t>tương</a:t>
            </a:r>
            <a:r>
              <a:rPr lang="en-US" sz="2800" dirty="0"/>
              <a:t> </a:t>
            </a:r>
            <a:r>
              <a:rPr lang="en-US" sz="2800" dirty="0" err="1"/>
              <a:t>đương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chương</a:t>
            </a:r>
            <a:r>
              <a:rPr lang="en-US" sz="2800" dirty="0"/>
              <a:t> </a:t>
            </a:r>
            <a:r>
              <a:rPr lang="en-US" sz="2800" dirty="0" err="1"/>
              <a:t>trình</a:t>
            </a:r>
            <a:r>
              <a:rPr lang="en-US" sz="2800" dirty="0"/>
              <a:t> </a:t>
            </a:r>
            <a:r>
              <a:rPr lang="en-US" sz="2800" dirty="0" err="1"/>
              <a:t>nếu</a:t>
            </a:r>
            <a:r>
              <a:rPr lang="en-US" sz="2800" dirty="0"/>
              <a:t> </a:t>
            </a:r>
            <a:r>
              <a:rPr lang="en-US" sz="2800" dirty="0" err="1"/>
              <a:t>địa</a:t>
            </a:r>
            <a:r>
              <a:rPr lang="en-US" sz="2800" dirty="0"/>
              <a:t> </a:t>
            </a:r>
            <a:r>
              <a:rPr lang="en-US" sz="2800" dirty="0" err="1"/>
              <a:t>chỉ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mảng</a:t>
            </a:r>
            <a:r>
              <a:rPr lang="en-US" sz="2800" dirty="0"/>
              <a:t> A </a:t>
            </a:r>
            <a:r>
              <a:rPr lang="en-US" sz="2800" dirty="0" err="1"/>
              <a:t>và</a:t>
            </a:r>
            <a:r>
              <a:rPr lang="en-US" sz="2800" dirty="0"/>
              <a:t> B </a:t>
            </a:r>
            <a:r>
              <a:rPr lang="en-US" sz="2800" dirty="0" err="1"/>
              <a:t>lần</a:t>
            </a:r>
            <a:r>
              <a:rPr lang="en-US" sz="2800" dirty="0"/>
              <a:t> </a:t>
            </a:r>
            <a:r>
              <a:rPr lang="en-US" sz="2800" dirty="0" err="1"/>
              <a:t>lượt</a:t>
            </a:r>
            <a:r>
              <a:rPr lang="en-US" sz="2800" dirty="0"/>
              <a:t> </a:t>
            </a:r>
            <a:r>
              <a:rPr lang="en-US" sz="2800" dirty="0" err="1"/>
              <a:t>nằm</a:t>
            </a:r>
            <a:r>
              <a:rPr lang="en-US" sz="2800" dirty="0"/>
              <a:t> </a:t>
            </a:r>
            <a:r>
              <a:rPr lang="en-US" sz="2800" dirty="0" err="1"/>
              <a:t>trong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thanh</a:t>
            </a:r>
            <a:r>
              <a:rPr lang="en-US" sz="2800" dirty="0"/>
              <a:t> </a:t>
            </a:r>
            <a:r>
              <a:rPr lang="en-US" sz="2800" dirty="0" err="1"/>
              <a:t>ghi</a:t>
            </a:r>
            <a:r>
              <a:rPr lang="en-US" sz="2800" dirty="0"/>
              <a:t> $s6 </a:t>
            </a:r>
            <a:r>
              <a:rPr lang="en-US" sz="2800" dirty="0" err="1"/>
              <a:t>và</a:t>
            </a:r>
            <a:r>
              <a:rPr lang="en-US" sz="2800" dirty="0"/>
              <a:t> $s7. </a:t>
            </a:r>
            <a:r>
              <a:rPr lang="en-US" sz="2800" dirty="0" err="1"/>
              <a:t>Biến</a:t>
            </a:r>
            <a:r>
              <a:rPr lang="en-US" sz="2800" dirty="0"/>
              <a:t> f </a:t>
            </a:r>
            <a:r>
              <a:rPr lang="en-US" sz="2800" dirty="0" err="1"/>
              <a:t>và</a:t>
            </a:r>
            <a:r>
              <a:rPr lang="en-US" sz="2800" dirty="0"/>
              <a:t> g </a:t>
            </a:r>
            <a:r>
              <a:rPr lang="en-US" sz="2800" dirty="0" err="1"/>
              <a:t>là</a:t>
            </a:r>
            <a:r>
              <a:rPr lang="en-US" sz="2800" dirty="0"/>
              <a:t> </a:t>
            </a:r>
            <a:r>
              <a:rPr lang="en-US" sz="2800" dirty="0" err="1"/>
              <a:t>biến</a:t>
            </a:r>
            <a:r>
              <a:rPr lang="en-US" sz="2800" dirty="0"/>
              <a:t> </a:t>
            </a:r>
            <a:r>
              <a:rPr lang="en-US" sz="2800" dirty="0" err="1"/>
              <a:t>nguyên</a:t>
            </a:r>
            <a:r>
              <a:rPr lang="en-US" sz="2800" dirty="0"/>
              <a:t> 32-bit </a:t>
            </a:r>
            <a:r>
              <a:rPr lang="en-US" sz="2800" dirty="0" err="1"/>
              <a:t>tương</a:t>
            </a:r>
            <a:r>
              <a:rPr lang="en-US" sz="2800" dirty="0"/>
              <a:t> </a:t>
            </a:r>
            <a:r>
              <a:rPr lang="en-US" sz="2800" dirty="0" err="1"/>
              <a:t>ứng</a:t>
            </a:r>
            <a:r>
              <a:rPr lang="en-US" sz="2800" dirty="0"/>
              <a:t> </a:t>
            </a:r>
            <a:r>
              <a:rPr lang="en-US" sz="2800" dirty="0" err="1"/>
              <a:t>với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thanh</a:t>
            </a:r>
            <a:r>
              <a:rPr lang="en-US" sz="2800" dirty="0"/>
              <a:t> </a:t>
            </a:r>
            <a:r>
              <a:rPr lang="en-US" sz="2800" dirty="0" err="1"/>
              <a:t>ghi</a:t>
            </a:r>
            <a:r>
              <a:rPr lang="en-US" sz="2800" dirty="0"/>
              <a:t> $s0 </a:t>
            </a:r>
            <a:r>
              <a:rPr lang="en-US" sz="2800" dirty="0" err="1"/>
              <a:t>và</a:t>
            </a:r>
            <a:r>
              <a:rPr lang="en-US" sz="2800" dirty="0"/>
              <a:t> $s1.</a:t>
            </a:r>
          </a:p>
          <a:p>
            <a:endParaRPr lang="en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C0EBE-ACC8-4C78-CBEF-AACCA6D46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46AB2-8028-B179-1A85-FBC781167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31</a:t>
            </a:fld>
            <a:endParaRPr lang="en-V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E1A5603-7DB0-7ACA-69BA-15B206FFC3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6CDDB1B-AAE9-1649-A755-11FADEB7E97E}" type="datetime4">
              <a:rPr lang="en-US" smtClean="0"/>
              <a:pPr/>
              <a:t>June 27, 2023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FCD478-7BE5-CBEE-7C54-65FE9FC82565}"/>
              </a:ext>
            </a:extLst>
          </p:cNvPr>
          <p:cNvSpPr txBox="1"/>
          <p:nvPr/>
        </p:nvSpPr>
        <p:spPr>
          <a:xfrm>
            <a:off x="1256419" y="3605855"/>
            <a:ext cx="10639062" cy="2824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Tx/>
            </a:pP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Biên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lw</a:t>
            </a:r>
            <a:r>
              <a:rPr lang="en-US" alt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 $t0, </a:t>
            </a:r>
            <a:r>
              <a:rPr lang="en-US" altLang="en-US" sz="28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  <a:r>
              <a:rPr lang="en-US" alt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($s7)		# $t0 </a:t>
            </a:r>
            <a:r>
              <a:rPr lang="en-US" alt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lang="en-US" alt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B[4] = M[</a:t>
            </a:r>
            <a:r>
              <a:rPr lang="en-US" altLang="en-US" sz="2800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US" altLang="en-US" sz="2800" i="1" dirty="0">
                <a:solidFill>
                  <a:srgbClr val="E07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altLang="en-US" sz="2800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s7</a:t>
            </a:r>
            <a:r>
              <a:rPr lang="en-US" alt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sll</a:t>
            </a:r>
            <a:r>
              <a:rPr lang="en-US" alt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$t1, $t0, 2		# $t1 = B[4]*4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add</a:t>
            </a:r>
            <a:r>
              <a:rPr lang="en-US" alt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$t2, $t1, $s6		# $t2 = (B[4]*4) + s6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pt-BR" altLang="en-US" sz="28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lw</a:t>
            </a:r>
            <a:r>
              <a:rPr lang="pt-BR" altLang="en-US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pt-BR" alt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$t3, </a:t>
            </a:r>
            <a:r>
              <a:rPr lang="pt-BR" altLang="en-US" sz="28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pt-BR" alt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($t2)	 	#  $t3 = A[</a:t>
            </a:r>
            <a:r>
              <a:rPr lang="pt-BR" alt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pt-BR" alt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[4]] = M [0 + </a:t>
            </a:r>
            <a:r>
              <a:rPr lang="en-US" alt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(B[4]*4) + s6]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pt-BR" altLang="en-US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sub</a:t>
            </a:r>
            <a:r>
              <a:rPr lang="pt-BR" alt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$s0, $s1, $t3	# </a:t>
            </a:r>
            <a:r>
              <a:rPr lang="en-US" alt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f = g – A[B[4]]</a:t>
            </a:r>
          </a:p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50012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8E6DC-1005-75E0-236F-72F29DCB3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/>
              <a:t>Chuyển từ MIPS sang C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8AC2D-AAE9-45C3-B16C-4BD30E1C0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C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MIPS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dưới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add  $t0, $a0, $a1</a:t>
            </a:r>
          </a:p>
          <a:p>
            <a:pPr marL="0" indent="0">
              <a:buNone/>
            </a:pPr>
            <a:r>
              <a:rPr lang="en-US" dirty="0" err="1"/>
              <a:t>addi</a:t>
            </a:r>
            <a:r>
              <a:rPr lang="en-US" dirty="0"/>
              <a:t> $t1, $a0, 5</a:t>
            </a:r>
          </a:p>
          <a:p>
            <a:pPr marL="0" indent="0">
              <a:buNone/>
            </a:pPr>
            <a:r>
              <a:rPr lang="en-US" dirty="0"/>
              <a:t>sub  $t2, $t0, $a1</a:t>
            </a:r>
          </a:p>
          <a:p>
            <a:pPr marL="0" indent="0">
              <a:buNone/>
            </a:pPr>
            <a:r>
              <a:rPr lang="en-US" dirty="0"/>
              <a:t>add  $s0, $t2, $a2</a:t>
            </a:r>
          </a:p>
          <a:p>
            <a:endParaRPr lang="en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C0EBE-ACC8-4C78-CBEF-AACCA6D46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46AB2-8028-B179-1A85-FBC781167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32</a:t>
            </a:fld>
            <a:endParaRPr lang="en-V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E1A5603-7DB0-7ACA-69BA-15B206FFC3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6CDDB1B-AAE9-1649-A755-11FADEB7E97E}" type="datetime4">
              <a:rPr lang="en-US" smtClean="0"/>
              <a:pPr/>
              <a:t>June 27, 2023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143774-D3F5-340C-10DE-7CB3B0C3011A}"/>
              </a:ext>
            </a:extLst>
          </p:cNvPr>
          <p:cNvSpPr txBox="1"/>
          <p:nvPr/>
        </p:nvSpPr>
        <p:spPr>
          <a:xfrm>
            <a:off x="4862946" y="2631471"/>
            <a:ext cx="23407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dirty="0">
                <a:latin typeface="Arial" panose="020B0604020202020204" pitchFamily="34" charset="0"/>
                <a:cs typeface="Arial" panose="020B0604020202020204" pitchFamily="34" charset="0"/>
              </a:rPr>
              <a:t>$t0 = $a0 + $a1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B27EEA-B23C-C63B-5DB5-88B02EEAFF75}"/>
              </a:ext>
            </a:extLst>
          </p:cNvPr>
          <p:cNvSpPr txBox="1"/>
          <p:nvPr/>
        </p:nvSpPr>
        <p:spPr>
          <a:xfrm>
            <a:off x="4821382" y="3074817"/>
            <a:ext cx="1997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dirty="0">
                <a:latin typeface="Arial" panose="020B0604020202020204" pitchFamily="34" charset="0"/>
                <a:cs typeface="Arial" panose="020B0604020202020204" pitchFamily="34" charset="0"/>
              </a:rPr>
              <a:t>$t1 = $a0 + 5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E0D271-B138-9209-EC42-4C89699E9E98}"/>
              </a:ext>
            </a:extLst>
          </p:cNvPr>
          <p:cNvSpPr txBox="1"/>
          <p:nvPr/>
        </p:nvSpPr>
        <p:spPr>
          <a:xfrm>
            <a:off x="4862946" y="3534032"/>
            <a:ext cx="22541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dirty="0">
                <a:latin typeface="Arial" panose="020B0604020202020204" pitchFamily="34" charset="0"/>
                <a:cs typeface="Arial" panose="020B0604020202020204" pitchFamily="34" charset="0"/>
              </a:rPr>
              <a:t>$t2 = $t0 + $a1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1641F9-CD51-7325-08B1-2CDB3C2AAB09}"/>
              </a:ext>
            </a:extLst>
          </p:cNvPr>
          <p:cNvSpPr txBox="1"/>
          <p:nvPr/>
        </p:nvSpPr>
        <p:spPr>
          <a:xfrm>
            <a:off x="4862946" y="3973576"/>
            <a:ext cx="2323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dirty="0">
                <a:latin typeface="Arial" panose="020B0604020202020204" pitchFamily="34" charset="0"/>
                <a:cs typeface="Arial" panose="020B0604020202020204" pitchFamily="34" charset="0"/>
              </a:rPr>
              <a:t>$s0 = $t2 + $a2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A9B564-55CF-B78F-8821-CAB80CAE8880}"/>
              </a:ext>
            </a:extLst>
          </p:cNvPr>
          <p:cNvSpPr txBox="1"/>
          <p:nvPr/>
        </p:nvSpPr>
        <p:spPr>
          <a:xfrm>
            <a:off x="3497141" y="5000965"/>
            <a:ext cx="41376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dirty="0">
                <a:latin typeface="Arial" panose="020B0604020202020204" pitchFamily="34" charset="0"/>
                <a:cs typeface="Arial" panose="020B0604020202020204" pitchFamily="34" charset="0"/>
              </a:rPr>
              <a:t>$s0 = $a0 + $a1 + $a1 + $a2</a:t>
            </a:r>
          </a:p>
        </p:txBody>
      </p:sp>
    </p:spTree>
    <p:extLst>
      <p:ext uri="{BB962C8B-B14F-4D97-AF65-F5344CB8AC3E}">
        <p14:creationId xmlns:p14="http://schemas.microsoft.com/office/powerpoint/2010/main" val="3442896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8E6DC-1005-75E0-236F-72F29DCB3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/>
              <a:t>Chuyển từ MIPS sang C (tt)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8AC2D-AAE9-45C3-B16C-4BD30E1C0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C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MIPS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dưới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 $t0, $t0, $zero</a:t>
            </a:r>
            <a:endParaRPr lang="it-IT" sz="28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Loop: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lw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$t1, 4($s3)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addi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$s3, $s3, 4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kern="0" dirty="0">
                <a:latin typeface="Times New Roman" panose="02020603050405020304" pitchFamily="18" charset="0"/>
                <a:cs typeface="Courier New" panose="02070309020205020404" pitchFamily="49" charset="0"/>
              </a:rPr>
              <a:t>	</a:t>
            </a:r>
            <a:r>
              <a:rPr lang="en-US" sz="2800" kern="0" dirty="0" err="1">
                <a:latin typeface="Times New Roman" panose="02020603050405020304" pitchFamily="18" charset="0"/>
                <a:cs typeface="Courier New" panose="02070309020205020404" pitchFamily="49" charset="0"/>
              </a:rPr>
              <a:t>bne</a:t>
            </a:r>
            <a:r>
              <a:rPr lang="en-US" sz="2800" kern="0" dirty="0">
                <a:latin typeface="Times New Roman" panose="02020603050405020304" pitchFamily="18" charset="0"/>
                <a:cs typeface="Courier New" panose="02070309020205020404" pitchFamily="49" charset="0"/>
              </a:rPr>
              <a:t>     $t1, $t0, Loop</a:t>
            </a:r>
          </a:p>
          <a:p>
            <a:endParaRPr lang="en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C0EBE-ACC8-4C78-CBEF-AACCA6D46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46AB2-8028-B179-1A85-FBC781167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33</a:t>
            </a:fld>
            <a:endParaRPr lang="en-V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E1A5603-7DB0-7ACA-69BA-15B206FFC3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6CDDB1B-AAE9-1649-A755-11FADEB7E97E}" type="datetime4">
              <a:rPr lang="en-US" smtClean="0"/>
              <a:pPr/>
              <a:t>June 27, 2023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C3BF3F-CC5E-967C-FE5A-6C75582CF438}"/>
              </a:ext>
            </a:extLst>
          </p:cNvPr>
          <p:cNvSpPr txBox="1"/>
          <p:nvPr/>
        </p:nvSpPr>
        <p:spPr>
          <a:xfrm>
            <a:off x="5320146" y="2617616"/>
            <a:ext cx="41681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dirty="0">
                <a:latin typeface="Arial" panose="020B0604020202020204" pitchFamily="34" charset="0"/>
                <a:cs typeface="Arial" panose="020B0604020202020204" pitchFamily="34" charset="0"/>
              </a:rPr>
              <a:t>$t0 = $t0 + $zero -&gt; $t0 = $t0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50161F-FE92-59A5-BC1B-46313EE7761A}"/>
              </a:ext>
            </a:extLst>
          </p:cNvPr>
          <p:cNvSpPr txBox="1"/>
          <p:nvPr/>
        </p:nvSpPr>
        <p:spPr>
          <a:xfrm>
            <a:off x="5320146" y="3079281"/>
            <a:ext cx="2236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dirty="0">
                <a:latin typeface="Arial" panose="020B0604020202020204" pitchFamily="34" charset="0"/>
                <a:cs typeface="Arial" panose="020B0604020202020204" pitchFamily="34" charset="0"/>
              </a:rPr>
              <a:t>$t1 = M[$s3+4]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590554-511C-8B97-DFEE-A10F69ED4A38}"/>
              </a:ext>
            </a:extLst>
          </p:cNvPr>
          <p:cNvSpPr txBox="1"/>
          <p:nvPr/>
        </p:nvSpPr>
        <p:spPr>
          <a:xfrm>
            <a:off x="5320146" y="3635311"/>
            <a:ext cx="20489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dirty="0">
                <a:latin typeface="Arial" panose="020B0604020202020204" pitchFamily="34" charset="0"/>
                <a:cs typeface="Arial" panose="020B0604020202020204" pitchFamily="34" charset="0"/>
              </a:rPr>
              <a:t>$s3 = $s3 + 4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2F7202-0120-7A93-F95F-81895549FEAF}"/>
              </a:ext>
            </a:extLst>
          </p:cNvPr>
          <p:cNvSpPr txBox="1"/>
          <p:nvPr/>
        </p:nvSpPr>
        <p:spPr>
          <a:xfrm>
            <a:off x="5320146" y="4165754"/>
            <a:ext cx="4397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VN" sz="2400" dirty="0">
                <a:latin typeface="Arial" panose="020B0604020202020204" pitchFamily="34" charset="0"/>
                <a:cs typeface="Arial" panose="020B0604020202020204" pitchFamily="34" charset="0"/>
              </a:rPr>
              <a:t>f ($t1!=$t0) PC = PC + 4 - 3*4 </a:t>
            </a:r>
          </a:p>
        </p:txBody>
      </p:sp>
    </p:spTree>
    <p:extLst>
      <p:ext uri="{BB962C8B-B14F-4D97-AF65-F5344CB8AC3E}">
        <p14:creationId xmlns:p14="http://schemas.microsoft.com/office/powerpoint/2010/main" val="327321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8E6DC-1005-75E0-236F-72F29DCB3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/>
              <a:t>Chuyển từ MIPS sang C (tt)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8AC2D-AAE9-45C3-B16C-4BD30E1C0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C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MIPS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dưới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</a:t>
            </a:r>
            <a:r>
              <a:rPr lang="en-US" dirty="0" err="1"/>
              <a:t>bne</a:t>
            </a:r>
            <a:r>
              <a:rPr lang="en-US" dirty="0"/>
              <a:t>  $a0, $a1, another</a:t>
            </a:r>
          </a:p>
          <a:p>
            <a:pPr marL="0" indent="0">
              <a:buNone/>
            </a:pPr>
            <a:r>
              <a:rPr lang="en-US" dirty="0"/>
              <a:t>              add  $s0, $0, $0</a:t>
            </a:r>
          </a:p>
          <a:p>
            <a:pPr marL="0" indent="0">
              <a:buNone/>
            </a:pPr>
            <a:r>
              <a:rPr lang="en-US" dirty="0"/>
              <a:t>              j exit</a:t>
            </a:r>
          </a:p>
          <a:p>
            <a:pPr marL="0" indent="0">
              <a:buNone/>
            </a:pPr>
            <a:r>
              <a:rPr lang="en-US" dirty="0"/>
              <a:t>another: </a:t>
            </a:r>
            <a:r>
              <a:rPr lang="en-US" dirty="0" err="1"/>
              <a:t>addi</a:t>
            </a:r>
            <a:r>
              <a:rPr lang="en-US" dirty="0"/>
              <a:t>  $s0, $s0, -1</a:t>
            </a:r>
          </a:p>
          <a:p>
            <a:pPr marL="0" indent="0">
              <a:buNone/>
            </a:pPr>
            <a:r>
              <a:rPr lang="en-US" dirty="0"/>
              <a:t>      exit:</a:t>
            </a:r>
          </a:p>
          <a:p>
            <a:endParaRPr lang="en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C0EBE-ACC8-4C78-CBEF-AACCA6D46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46AB2-8028-B179-1A85-FBC781167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34</a:t>
            </a:fld>
            <a:endParaRPr lang="en-V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E1A5603-7DB0-7ACA-69BA-15B206FFC3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6CDDB1B-AAE9-1649-A755-11FADEB7E97E}" type="datetime4">
              <a:rPr lang="en-US" smtClean="0"/>
              <a:pPr/>
              <a:t>June 27, 2023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2665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8E6DC-1005-75E0-236F-72F29DCB3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/>
              <a:t>Chuyển từ MIPS sang mã máy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8AC2D-AAE9-45C3-B16C-4BD30E1C0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MIPS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 sang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máy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 $t0, $t0, $zero</a:t>
            </a:r>
            <a:endParaRPr lang="it-IT" sz="28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Loop: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lw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$t1, 4($s3)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addi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$s3, $s3, 4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kern="0" dirty="0">
                <a:latin typeface="Times New Roman" panose="02020603050405020304" pitchFamily="18" charset="0"/>
                <a:cs typeface="Courier New" panose="02070309020205020404" pitchFamily="49" charset="0"/>
              </a:rPr>
              <a:t>	</a:t>
            </a:r>
            <a:r>
              <a:rPr lang="en-US" sz="2800" kern="0" dirty="0" err="1">
                <a:latin typeface="Times New Roman" panose="02020603050405020304" pitchFamily="18" charset="0"/>
                <a:cs typeface="Courier New" panose="02070309020205020404" pitchFamily="49" charset="0"/>
              </a:rPr>
              <a:t>bne</a:t>
            </a:r>
            <a:r>
              <a:rPr lang="en-US" sz="2800" kern="0" dirty="0">
                <a:latin typeface="Times New Roman" panose="02020603050405020304" pitchFamily="18" charset="0"/>
                <a:cs typeface="Courier New" panose="02070309020205020404" pitchFamily="49" charset="0"/>
              </a:rPr>
              <a:t>     $t1, $t0, Loop</a:t>
            </a:r>
          </a:p>
          <a:p>
            <a:endParaRPr lang="en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C0EBE-ACC8-4C78-CBEF-AACCA6D46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46AB2-8028-B179-1A85-FBC781167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35</a:t>
            </a:fld>
            <a:endParaRPr lang="en-V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E1A5603-7DB0-7ACA-69BA-15B206FFC3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6CDDB1B-AAE9-1649-A755-11FADEB7E97E}" type="datetime4">
              <a:rPr lang="en-US" smtClean="0"/>
              <a:pPr/>
              <a:t>June 27, 2023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2F7202-0120-7A93-F95F-81895549FEAF}"/>
              </a:ext>
            </a:extLst>
          </p:cNvPr>
          <p:cNvSpPr txBox="1"/>
          <p:nvPr/>
        </p:nvSpPr>
        <p:spPr>
          <a:xfrm>
            <a:off x="1883249" y="4479945"/>
            <a:ext cx="47323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400" dirty="0">
                <a:latin typeface="Arial" panose="020B0604020202020204" pitchFamily="34" charset="0"/>
                <a:cs typeface="Arial" panose="020B0604020202020204" pitchFamily="34" charset="0"/>
              </a:rPr>
              <a:t>bne -&gt; I-type -&gt; op rs rt imme (-3)</a:t>
            </a:r>
            <a:endParaRPr lang="en-V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E0EBC0-6E40-243E-F586-0FB3FAD23A40}"/>
              </a:ext>
            </a:extLst>
          </p:cNvPr>
          <p:cNvSpPr txBox="1"/>
          <p:nvPr/>
        </p:nvSpPr>
        <p:spPr>
          <a:xfrm>
            <a:off x="1883249" y="5200514"/>
            <a:ext cx="59548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400" dirty="0">
                <a:latin typeface="Arial" panose="020B0604020202020204" pitchFamily="34" charset="0"/>
                <a:cs typeface="Arial" panose="020B0604020202020204" pitchFamily="34" charset="0"/>
              </a:rPr>
              <a:t>000101 01001 01000 1111 1111 1111 1101</a:t>
            </a:r>
            <a:endParaRPr lang="en-V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786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8E6DC-1005-75E0-236F-72F29DCB3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/>
              <a:t>Chuyển từ mã máy sang MIPS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8AC2D-AAE9-45C3-B16C-4BD30E1C0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bộ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 sang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MIPS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US" sz="2800" kern="0" dirty="0"/>
              <a:t>0x00a6202a</a:t>
            </a:r>
          </a:p>
          <a:p>
            <a:pPr marL="0" indent="0">
              <a:buNone/>
            </a:pPr>
            <a:r>
              <a:rPr lang="en-US" sz="2800" kern="0" dirty="0" err="1">
                <a:latin typeface="Times New Roman" panose="02020603050405020304" pitchFamily="18" charset="0"/>
                <a:cs typeface="Courier New" panose="02070309020205020404" pitchFamily="49" charset="0"/>
              </a:rPr>
              <a:t>Chuyển</a:t>
            </a:r>
            <a:r>
              <a:rPr lang="en-US" sz="2800" kern="0" dirty="0">
                <a:latin typeface="Times New Roman" panose="02020603050405020304" pitchFamily="18" charset="0"/>
                <a:cs typeface="Courier New" panose="02070309020205020404" pitchFamily="49" charset="0"/>
              </a:rPr>
              <a:t> sang </a:t>
            </a:r>
            <a:r>
              <a:rPr lang="en-US" sz="2800" kern="0" dirty="0" err="1">
                <a:latin typeface="Times New Roman" panose="02020603050405020304" pitchFamily="18" charset="0"/>
                <a:cs typeface="Courier New" panose="02070309020205020404" pitchFamily="49" charset="0"/>
              </a:rPr>
              <a:t>nhị</a:t>
            </a:r>
            <a:r>
              <a:rPr lang="en-US" sz="2800" kern="0" dirty="0">
                <a:latin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800" kern="0" dirty="0" err="1">
                <a:latin typeface="Times New Roman" panose="02020603050405020304" pitchFamily="18" charset="0"/>
                <a:cs typeface="Courier New" panose="02070309020205020404" pitchFamily="49" charset="0"/>
              </a:rPr>
              <a:t>phân</a:t>
            </a:r>
            <a:r>
              <a:rPr lang="en-US" sz="2800" kern="0" dirty="0">
                <a:latin typeface="Times New Roman" panose="02020603050405020304" pitchFamily="18" charset="0"/>
                <a:cs typeface="Courier New" panose="02070309020205020404" pitchFamily="49" charset="0"/>
              </a:rPr>
              <a:t>: </a:t>
            </a:r>
          </a:p>
          <a:p>
            <a:pPr marL="0" indent="0">
              <a:buNone/>
            </a:pPr>
            <a:r>
              <a:rPr lang="en-US" sz="2800" kern="0" dirty="0">
                <a:latin typeface="Times New Roman" panose="02020603050405020304" pitchFamily="18" charset="0"/>
                <a:cs typeface="Courier New" panose="02070309020205020404" pitchFamily="49" charset="0"/>
              </a:rPr>
              <a:t> 	</a:t>
            </a:r>
          </a:p>
          <a:p>
            <a:pPr marL="0" indent="0">
              <a:buNone/>
            </a:pPr>
            <a:endParaRPr lang="en-US" kern="0" dirty="0">
              <a:latin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800" kern="0" dirty="0">
                <a:latin typeface="Times New Roman" panose="02020603050405020304" pitchFamily="18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endParaRPr lang="en-US" kern="0" dirty="0">
              <a:latin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800" kern="0" dirty="0">
                <a:latin typeface="Times New Roman" panose="02020603050405020304" pitchFamily="18" charset="0"/>
                <a:cs typeface="Courier New" panose="02070309020205020404" pitchFamily="49" charset="0"/>
              </a:rPr>
              <a:t>	</a:t>
            </a:r>
            <a:r>
              <a:rPr lang="en-US" sz="2800" kern="0" dirty="0"/>
              <a:t>0x2149ff90</a:t>
            </a:r>
          </a:p>
          <a:p>
            <a:endParaRPr lang="en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C0EBE-ACC8-4C78-CBEF-AACCA6D46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46AB2-8028-B179-1A85-FBC781167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36</a:t>
            </a:fld>
            <a:endParaRPr lang="en-V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E1A5603-7DB0-7ACA-69BA-15B206FFC3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6CDDB1B-AAE9-1649-A755-11FADEB7E97E}" type="datetime4">
              <a:rPr lang="en-US" smtClean="0"/>
              <a:pPr/>
              <a:t>June 27, 2023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AD48C0-B702-A06E-66BD-016B01660AC9}"/>
              </a:ext>
            </a:extLst>
          </p:cNvPr>
          <p:cNvSpPr txBox="1"/>
          <p:nvPr/>
        </p:nvSpPr>
        <p:spPr>
          <a:xfrm>
            <a:off x="2563090" y="3105778"/>
            <a:ext cx="72657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800" dirty="0">
                <a:latin typeface="Arial" panose="020B0604020202020204" pitchFamily="34" charset="0"/>
                <a:cs typeface="Arial" panose="020B0604020202020204" pitchFamily="34" charset="0"/>
              </a:rPr>
              <a:t>0000 0000 1010 0110 0010 0000 0010 1010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2532D8-877F-43DA-4403-FD74ED2B915C}"/>
              </a:ext>
            </a:extLst>
          </p:cNvPr>
          <p:cNvSpPr txBox="1"/>
          <p:nvPr/>
        </p:nvSpPr>
        <p:spPr>
          <a:xfrm>
            <a:off x="2576945" y="3646102"/>
            <a:ext cx="72657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0000 00</a:t>
            </a:r>
            <a:r>
              <a:rPr lang="en-V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00 101</a:t>
            </a:r>
            <a:r>
              <a:rPr lang="en-VN" sz="2800" dirty="0">
                <a:solidFill>
                  <a:srgbClr val="0072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0 0110</a:t>
            </a:r>
            <a:r>
              <a:rPr lang="en-VN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VN" sz="2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0010 0</a:t>
            </a:r>
            <a:r>
              <a:rPr lang="en-VN" sz="2800" dirty="0">
                <a:latin typeface="Arial" panose="020B0604020202020204" pitchFamily="34" charset="0"/>
                <a:cs typeface="Arial" panose="020B0604020202020204" pitchFamily="34" charset="0"/>
              </a:rPr>
              <a:t>000 00</a:t>
            </a:r>
            <a:r>
              <a:rPr lang="en-VN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10 1010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7BF6B0-8443-CFA3-EFF2-C243F6529A6A}"/>
              </a:ext>
            </a:extLst>
          </p:cNvPr>
          <p:cNvSpPr txBox="1"/>
          <p:nvPr/>
        </p:nvSpPr>
        <p:spPr>
          <a:xfrm>
            <a:off x="3990107" y="4319392"/>
            <a:ext cx="29033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VN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 </a:t>
            </a:r>
            <a:r>
              <a:rPr lang="en-VN" sz="2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$a0</a:t>
            </a:r>
            <a:r>
              <a:rPr lang="en-VN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V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$a1</a:t>
            </a:r>
            <a:r>
              <a:rPr lang="en-VN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VN" sz="2800" dirty="0">
                <a:solidFill>
                  <a:srgbClr val="0072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$a2</a:t>
            </a:r>
          </a:p>
        </p:txBody>
      </p:sp>
    </p:spTree>
    <p:extLst>
      <p:ext uri="{BB962C8B-B14F-4D97-AF65-F5344CB8AC3E}">
        <p14:creationId xmlns:p14="http://schemas.microsoft.com/office/powerpoint/2010/main" val="3543341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Tóm</a:t>
            </a:r>
            <a:r>
              <a:rPr lang="en-US" altLang="ja-JP" dirty="0"/>
              <a:t> </a:t>
            </a:r>
            <a:r>
              <a:rPr lang="en-US" altLang="ja-JP" dirty="0" err="1"/>
              <a:t>tắt</a:t>
            </a:r>
            <a:r>
              <a:rPr lang="en-US" altLang="ja-JP" dirty="0"/>
              <a:t> </a:t>
            </a:r>
            <a:r>
              <a:rPr lang="en-US" altLang="ja-JP" dirty="0" err="1"/>
              <a:t>lại</a:t>
            </a:r>
            <a:r>
              <a:rPr lang="en-US" altLang="ja-JP" dirty="0"/>
              <a:t> </a:t>
            </a:r>
            <a:r>
              <a:rPr lang="en-US" altLang="ja-JP" dirty="0" err="1"/>
              <a:t>nội</a:t>
            </a:r>
            <a:r>
              <a:rPr lang="en-US" altLang="ja-JP" dirty="0"/>
              <a:t> dung </a:t>
            </a:r>
            <a:r>
              <a:rPr lang="en-US" altLang="ja-JP" dirty="0" err="1"/>
              <a:t>buổi</a:t>
            </a:r>
            <a:r>
              <a:rPr lang="en-US" altLang="ja-JP" dirty="0"/>
              <a:t> </a:t>
            </a:r>
            <a:r>
              <a:rPr lang="en-US" altLang="ja-JP" dirty="0" err="1"/>
              <a:t>học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01CFC-41FA-4D7B-A058-603D95BA3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3600"/>
              </a:spcAft>
            </a:pPr>
            <a:r>
              <a:rPr lang="en-US" sz="2800" b="1" dirty="0" err="1"/>
              <a:t>Trình</a:t>
            </a:r>
            <a:r>
              <a:rPr lang="en-US" sz="2800" b="1" dirty="0"/>
              <a:t> </a:t>
            </a:r>
            <a:r>
              <a:rPr lang="en-US" sz="2800" b="1" dirty="0" err="1"/>
              <a:t>biên</a:t>
            </a:r>
            <a:r>
              <a:rPr lang="en-US" sz="2800" b="1" dirty="0"/>
              <a:t> </a:t>
            </a:r>
            <a:r>
              <a:rPr lang="en-US" sz="2800" b="1" dirty="0" err="1"/>
              <a:t>dịch</a:t>
            </a:r>
            <a:endParaRPr lang="en-US" sz="2800" b="1" dirty="0"/>
          </a:p>
          <a:p>
            <a:pPr>
              <a:spcAft>
                <a:spcPts val="3600"/>
              </a:spcAft>
            </a:pPr>
            <a:r>
              <a:rPr lang="en-US" sz="2800" b="1" dirty="0" err="1"/>
              <a:t>Trình</a:t>
            </a:r>
            <a:r>
              <a:rPr lang="en-US" sz="2800" b="1" dirty="0"/>
              <a:t> </a:t>
            </a:r>
            <a:r>
              <a:rPr lang="en-US" sz="2800" b="1" dirty="0" err="1"/>
              <a:t>biên</a:t>
            </a:r>
            <a:r>
              <a:rPr lang="en-US" sz="2800" b="1" dirty="0"/>
              <a:t> </a:t>
            </a:r>
            <a:r>
              <a:rPr lang="en-US" sz="2800" b="1" dirty="0" err="1"/>
              <a:t>dịch</a:t>
            </a:r>
            <a:r>
              <a:rPr lang="en-US" sz="2800" b="1" dirty="0"/>
              <a:t> </a:t>
            </a:r>
            <a:r>
              <a:rPr lang="en-US" sz="2800" b="1" dirty="0" err="1"/>
              <a:t>hợp</a:t>
            </a:r>
            <a:r>
              <a:rPr lang="en-US" sz="2800" b="1" dirty="0"/>
              <a:t> </a:t>
            </a:r>
            <a:r>
              <a:rPr lang="en-US" sz="2800" b="1" dirty="0" err="1"/>
              <a:t>ngữ</a:t>
            </a:r>
            <a:endParaRPr lang="en-US" sz="2800" b="1" dirty="0"/>
          </a:p>
          <a:p>
            <a:pPr>
              <a:spcAft>
                <a:spcPts val="3600"/>
              </a:spcAft>
            </a:pPr>
            <a:r>
              <a:rPr lang="en-US" sz="2800" b="1" dirty="0" err="1"/>
              <a:t>Biên</a:t>
            </a:r>
            <a:r>
              <a:rPr lang="en-US" sz="2800" b="1" dirty="0"/>
              <a:t> </a:t>
            </a:r>
            <a:r>
              <a:rPr lang="en-US" sz="2800" b="1" dirty="0" err="1"/>
              <a:t>dịch</a:t>
            </a:r>
            <a:r>
              <a:rPr lang="en-US" sz="2800" b="1" dirty="0"/>
              <a:t> </a:t>
            </a:r>
            <a:r>
              <a:rPr lang="en-US" sz="2800" b="1" dirty="0" err="1"/>
              <a:t>ngược</a:t>
            </a:r>
            <a:endParaRPr lang="en-US" sz="2800" b="1" dirty="0"/>
          </a:p>
          <a:p>
            <a:r>
              <a:rPr lang="en-VN" b="1" dirty="0"/>
              <a:t>Bài tập kiến trúc tập lệnh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37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6712348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8756CC-FF80-6915-444D-795BAF1CD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38</a:t>
            </a:fld>
            <a:endParaRPr lang="en-V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1000C4-9A2E-05A2-1818-684E7F995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A14E97F-0DB8-D467-8B0C-A879824FD45F}"/>
              </a:ext>
            </a:extLst>
          </p:cNvPr>
          <p:cNvSpPr txBox="1">
            <a:spLocks/>
          </p:cNvSpPr>
          <p:nvPr/>
        </p:nvSpPr>
        <p:spPr>
          <a:xfrm>
            <a:off x="4684910" y="1918010"/>
            <a:ext cx="4012558" cy="11009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lin ang="2700000" scaled="1"/>
                  <a:tileRect/>
                </a:gradFill>
                <a:effectLst>
                  <a:innerShdw blurRad="114300">
                    <a:schemeClr val="bg1"/>
                  </a:inn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THẢO LUẬN</a:t>
            </a:r>
          </a:p>
        </p:txBody>
      </p:sp>
      <p:pic>
        <p:nvPicPr>
          <p:cNvPr id="5" name="Picture 4" descr="http://data.sinhvienit.net/2013/T09/img/SinhVienIT.Net---suy-nghi.jpg">
            <a:extLst>
              <a:ext uri="{FF2B5EF4-FFF2-40B4-BE49-F238E27FC236}">
                <a16:creationId xmlns:a16="http://schemas.microsoft.com/office/drawing/2014/main" id="{91D62A03-02AF-AB7F-80A0-89E3D2490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842" y="3018931"/>
            <a:ext cx="3211551" cy="2408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65609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2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39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EF1E0E-0000-E07F-C060-67E339C6B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altLang="en-US" dirty="0"/>
              <a:t>Biên dịch chương trình chương trình được viết bằng ngôn ngữ lập trình C sau sang hợp ngữ MIPS, sau đó biên dịch sang mã máy với $s0 = count và địa chỉ base của arrayA và arrayB lần lượt là $s5 và $s6:</a:t>
            </a:r>
          </a:p>
          <a:p>
            <a:pPr marL="546100" indent="0">
              <a:buNone/>
            </a:pPr>
            <a:r>
              <a:rPr lang="vi-VN" dirty="0">
                <a:latin typeface="+mn-lt"/>
              </a:rPr>
              <a:t>int count = 1;</a:t>
            </a:r>
          </a:p>
          <a:p>
            <a:pPr marL="546100" indent="0">
              <a:buNone/>
            </a:pPr>
            <a:r>
              <a:rPr lang="vi-VN" dirty="0">
                <a:latin typeface="+mn-lt"/>
              </a:rPr>
              <a:t>while(count &lt;= 20){</a:t>
            </a:r>
          </a:p>
          <a:p>
            <a:pPr marL="546100" indent="0">
              <a:buNone/>
            </a:pPr>
            <a:r>
              <a:rPr lang="vi-VN" dirty="0">
                <a:latin typeface="+mn-lt"/>
              </a:rPr>
              <a:t>   </a:t>
            </a:r>
            <a:r>
              <a:rPr lang="en-US" dirty="0">
                <a:latin typeface="+mn-lt"/>
              </a:rPr>
              <a:t> </a:t>
            </a:r>
            <a:r>
              <a:rPr lang="vi-VN" dirty="0">
                <a:latin typeface="+mn-lt"/>
              </a:rPr>
              <a:t>arrayA[count - 1] = arrayB[count + 2];</a:t>
            </a:r>
          </a:p>
          <a:p>
            <a:pPr marL="546100" indent="0">
              <a:buNone/>
            </a:pPr>
            <a:r>
              <a:rPr lang="vi-VN" dirty="0">
                <a:latin typeface="+mn-lt"/>
              </a:rPr>
              <a:t>    count++;</a:t>
            </a:r>
          </a:p>
          <a:p>
            <a:pPr marL="546100" indent="0">
              <a:buNone/>
            </a:pPr>
            <a:r>
              <a:rPr lang="vi-VN" dirty="0">
                <a:latin typeface="+mn-lt"/>
              </a:rPr>
              <a:t>}</a:t>
            </a:r>
          </a:p>
          <a:p>
            <a:pPr marL="0" indent="0">
              <a:buNone/>
            </a:pPr>
            <a:endParaRPr lang="vi-VN" altLang="en-US" dirty="0"/>
          </a:p>
          <a:p>
            <a:pPr marL="0" indent="0">
              <a:buNone/>
            </a:pPr>
            <a:endParaRPr lang="fr-FR" altLang="en-US" dirty="0" err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D97A72-3697-BCA7-DCEB-A5BF12252DA2}"/>
              </a:ext>
            </a:extLst>
          </p:cNvPr>
          <p:cNvSpPr txBox="1"/>
          <p:nvPr/>
        </p:nvSpPr>
        <p:spPr>
          <a:xfrm>
            <a:off x="7161493" y="2453744"/>
            <a:ext cx="4733988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+mj-lt"/>
              </a:rPr>
              <a:t>count = 1</a:t>
            </a:r>
          </a:p>
          <a:p>
            <a:r>
              <a:rPr lang="en-US" sz="2400" dirty="0">
                <a:latin typeface="+mj-lt"/>
              </a:rPr>
              <a:t>if (count &lt; 21)</a:t>
            </a:r>
          </a:p>
          <a:p>
            <a:r>
              <a:rPr lang="en-US" sz="2400" dirty="0">
                <a:latin typeface="+mj-lt"/>
              </a:rPr>
              <a:t> {</a:t>
            </a:r>
          </a:p>
          <a:p>
            <a:r>
              <a:rPr lang="en-US" sz="2400" dirty="0">
                <a:latin typeface="+mj-lt"/>
              </a:rPr>
              <a:t>	</a:t>
            </a:r>
            <a:r>
              <a:rPr lang="vi-VN" sz="1600" dirty="0">
                <a:latin typeface="+mj-lt"/>
              </a:rPr>
              <a:t> </a:t>
            </a:r>
            <a:r>
              <a:rPr lang="vi-VN" sz="2000" dirty="0">
                <a:latin typeface="+mj-lt"/>
              </a:rPr>
              <a:t>arrayA[count - 1] = arrayB[count + 2]; </a:t>
            </a:r>
          </a:p>
          <a:p>
            <a:r>
              <a:rPr lang="en-US" sz="2400" dirty="0">
                <a:latin typeface="+mj-lt"/>
              </a:rPr>
              <a:t>	 count = count + 1;</a:t>
            </a:r>
          </a:p>
          <a:p>
            <a:r>
              <a:rPr lang="en-US" sz="2400" dirty="0">
                <a:latin typeface="+mj-lt"/>
              </a:rPr>
              <a:t>	jump if</a:t>
            </a:r>
          </a:p>
          <a:p>
            <a:r>
              <a:rPr lang="en-US" sz="2400" dirty="0">
                <a:latin typeface="+mj-lt"/>
              </a:rPr>
              <a:t>}</a:t>
            </a:r>
          </a:p>
          <a:p>
            <a:r>
              <a:rPr lang="en-US" sz="2400" dirty="0">
                <a:latin typeface="+mj-lt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975797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1187</TotalTime>
  <Words>3505</Words>
  <Application>Microsoft Office PowerPoint</Application>
  <PresentationFormat>Widescreen</PresentationFormat>
  <Paragraphs>522</Paragraphs>
  <Slides>39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Calibri</vt:lpstr>
      <vt:lpstr>Calibri Light</vt:lpstr>
      <vt:lpstr>Courier New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Trình biên dịch</vt:lpstr>
      <vt:lpstr>Trình biên dịch (2) - ví dụ</vt:lpstr>
      <vt:lpstr>Trình biên dịch (3) - Quiz 1</vt:lpstr>
      <vt:lpstr>Trình biên dịch (3) - Quiz 1</vt:lpstr>
      <vt:lpstr>Trình biên dịch (3) - Quiz 1</vt:lpstr>
      <vt:lpstr>PowerPoint Presentation</vt:lpstr>
      <vt:lpstr>Trình biên dịch hợp ngữ (trình thông dịch)</vt:lpstr>
      <vt:lpstr>Chuyển đổi lệnh ASM MIPS sang mã máy</vt:lpstr>
      <vt:lpstr>Chuyển đổi lệnh ASM MIPS sang mã máy (tt)</vt:lpstr>
      <vt:lpstr>Chuyển đổi lệnh ASM MIPS sang mã máy (tt)</vt:lpstr>
      <vt:lpstr>Chuyển đổi lệnh ASM MIPS sang mã máy (tt)</vt:lpstr>
      <vt:lpstr>Trình biên dịch hợp ngữ (2)</vt:lpstr>
      <vt:lpstr>Trình biên dịch hợp ngữ (2)</vt:lpstr>
      <vt:lpstr>Trình biên dịch hợp ngữ (3) - Quiz 2</vt:lpstr>
      <vt:lpstr>PowerPoint Presentation</vt:lpstr>
      <vt:lpstr>Biên dịch ngược</vt:lpstr>
      <vt:lpstr>Chuyển mã máy sang ngôn ngữ Assembly (ASM) MIPS</vt:lpstr>
      <vt:lpstr>Chuyển mã máy sang ngôn ngữ Assembly (ASM) MIPS</vt:lpstr>
      <vt:lpstr>Chuyển mã máy sang ngôn ngữ Assembly (ASM) MIPS</vt:lpstr>
      <vt:lpstr>Bài tập 1</vt:lpstr>
      <vt:lpstr>PowerPoint Presentation</vt:lpstr>
      <vt:lpstr>ÔN TẬP KIẾN TRÚC TẬP LỆNH</vt:lpstr>
      <vt:lpstr>Thực thi chương trình (tt)</vt:lpstr>
      <vt:lpstr>Thực thi chương trình</vt:lpstr>
      <vt:lpstr>Chuyển từ C sang MIPS</vt:lpstr>
      <vt:lpstr>Chuyển từ C sang MIPS (tt)</vt:lpstr>
      <vt:lpstr>Chuyển từ C sang MIPS (tt)</vt:lpstr>
      <vt:lpstr>Chuyển từ MIPS sang C</vt:lpstr>
      <vt:lpstr>Chuyển từ MIPS sang C (tt)</vt:lpstr>
      <vt:lpstr>Chuyển từ MIPS sang C (tt)</vt:lpstr>
      <vt:lpstr>Chuyển từ MIPS sang mã máy</vt:lpstr>
      <vt:lpstr>Chuyển từ mã máy sang MIPS</vt:lpstr>
      <vt:lpstr>Tóm tắt lại nội dung buổi học</vt:lpstr>
      <vt:lpstr>PowerPoint Presentation</vt:lpstr>
      <vt:lpstr>Bài tập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Trần Hoàng Lộc</dc:creator>
  <cp:lastModifiedBy>Phan Đình Duy</cp:lastModifiedBy>
  <cp:revision>105</cp:revision>
  <cp:lastPrinted>2023-06-18T12:54:13Z</cp:lastPrinted>
  <dcterms:created xsi:type="dcterms:W3CDTF">2023-03-03T01:55:04Z</dcterms:created>
  <dcterms:modified xsi:type="dcterms:W3CDTF">2023-06-27T02:39:53Z</dcterms:modified>
</cp:coreProperties>
</file>